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Default Extension="png" ContentType="image/png"/>
  <Default Extension="jpg" ContentType="image/jpg"/>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625600" y="211327"/>
            <a:ext cx="4730750" cy="330834"/>
          </a:xfrm>
          <a:prstGeom prst="rect">
            <a:avLst/>
          </a:prstGeom>
        </p:spPr>
        <p:txBody>
          <a:bodyPr wrap="square" lIns="0" tIns="0" rIns="0" bIns="0">
            <a:spAutoFit/>
          </a:bodyPr>
          <a:lstStyle>
            <a:lvl1pPr>
              <a:defRPr sz="2800" b="0" i="0" u="heavy">
                <a:solidFill>
                  <a:srgbClr val="4F55AC"/>
                </a:solidFill>
                <a:latin typeface="黑体"/>
                <a:cs typeface="黑体"/>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40458B"/>
                </a:solidFill>
                <a:latin typeface="黑体"/>
                <a:cs typeface="黑体"/>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u="heavy">
                <a:solidFill>
                  <a:srgbClr val="4F55AC"/>
                </a:solidFill>
                <a:latin typeface="黑体"/>
                <a:cs typeface="黑体"/>
              </a:defRPr>
            </a:lvl1pPr>
          </a:lstStyle>
          <a:p/>
        </p:txBody>
      </p:sp>
      <p:sp>
        <p:nvSpPr>
          <p:cNvPr id="3" name="Holder 3"/>
          <p:cNvSpPr>
            <a:spLocks noGrp="1"/>
          </p:cNvSpPr>
          <p:nvPr>
            <p:ph type="body" idx="1"/>
          </p:nvPr>
        </p:nvSpPr>
        <p:spPr/>
        <p:txBody>
          <a:bodyPr lIns="0" tIns="0" rIns="0" bIns="0"/>
          <a:lstStyle>
            <a:lvl1pPr>
              <a:defRPr sz="2400" b="0" i="0">
                <a:solidFill>
                  <a:srgbClr val="40458B"/>
                </a:solidFill>
                <a:latin typeface="黑体"/>
                <a:cs typeface="黑体"/>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u="heavy">
                <a:solidFill>
                  <a:srgbClr val="4F55AC"/>
                </a:solidFill>
                <a:latin typeface="黑体"/>
                <a:cs typeface="黑体"/>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u="heavy">
                <a:solidFill>
                  <a:srgbClr val="4F55AC"/>
                </a:solidFill>
                <a:latin typeface="黑体"/>
                <a:cs typeface="黑体"/>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43050" y="69291"/>
            <a:ext cx="10661650" cy="514350"/>
          </a:xfrm>
          <a:prstGeom prst="rect">
            <a:avLst/>
          </a:prstGeom>
        </p:spPr>
        <p:txBody>
          <a:bodyPr wrap="square" lIns="0" tIns="0" rIns="0" bIns="0">
            <a:spAutoFit/>
          </a:bodyPr>
          <a:lstStyle>
            <a:lvl1pPr>
              <a:defRPr sz="2800" b="0" i="0" u="heavy">
                <a:solidFill>
                  <a:srgbClr val="4F55AC"/>
                </a:solidFill>
                <a:latin typeface="黑体"/>
                <a:cs typeface="黑体"/>
              </a:defRPr>
            </a:lvl1pPr>
          </a:lstStyle>
          <a:p/>
        </p:txBody>
      </p:sp>
      <p:sp>
        <p:nvSpPr>
          <p:cNvPr id="3" name="Holder 3"/>
          <p:cNvSpPr>
            <a:spLocks noGrp="1"/>
          </p:cNvSpPr>
          <p:nvPr>
            <p:ph type="body" idx="1"/>
          </p:nvPr>
        </p:nvSpPr>
        <p:spPr>
          <a:xfrm>
            <a:off x="1273555" y="1290559"/>
            <a:ext cx="10956290" cy="2175510"/>
          </a:xfrm>
          <a:prstGeom prst="rect">
            <a:avLst/>
          </a:prstGeom>
        </p:spPr>
        <p:txBody>
          <a:bodyPr wrap="square" lIns="0" tIns="0" rIns="0" bIns="0">
            <a:spAutoFit/>
          </a:bodyPr>
          <a:lstStyle>
            <a:lvl1pPr>
              <a:defRPr sz="2400" b="0" i="0">
                <a:solidFill>
                  <a:srgbClr val="40458B"/>
                </a:solidFill>
                <a:latin typeface="黑体"/>
                <a:cs typeface="黑体"/>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14.xml"/><Relationship Id="rId5" Type="http://schemas.openxmlformats.org/officeDocument/2006/relationships/slide" Target="slide59.xml"/><Relationship Id="rId6" Type="http://schemas.openxmlformats.org/officeDocument/2006/relationships/slide" Target="slide90.xml"/><Relationship Id="rId7" Type="http://schemas.openxmlformats.org/officeDocument/2006/relationships/slide" Target="slide108.xml"/><Relationship Id="rId8" Type="http://schemas.openxmlformats.org/officeDocument/2006/relationships/slide" Target="slide120.xml"/><Relationship Id="rId9" Type="http://schemas.openxmlformats.org/officeDocument/2006/relationships/slide" Target="slide145.xml"/><Relationship Id="rId10" Type="http://schemas.openxmlformats.org/officeDocument/2006/relationships/slide" Target="slide1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pn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 Target="slide1.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8.jp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2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2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25.png"/><Relationship Id="rId4" Type="http://schemas.openxmlformats.org/officeDocument/2006/relationships/image" Target="../media/image2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2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hyperlink" Target="7-2-14%20AlphaAXP21064&#28051;&#57695;&#26271;&#37817;&#29945;ache&#37928;&#21230;&#57840;&#29825;&#22359;&#26870;&#26473;&#22249;&#9660;.ex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hyperlink" Target="7-2-15%20AlphaAXP21064&#28051;&#57695;&#26271;&#37817;&#29945;ache&#37928;&#21227;&#21843;&#29825;&#22359;&#26870;&#26473;&#22249;&#9660;.ex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39.png"/><Relationship Id="rId13" Type="http://schemas.openxmlformats.org/officeDocument/2006/relationships/image" Target="../media/image40.png"/><Relationship Id="rId1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3.png"/><Relationship Id="rId4" Type="http://schemas.openxmlformats.org/officeDocument/2006/relationships/image" Target="../media/image19.png"/><Relationship Id="rId5"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 Id="rId9" Type="http://schemas.openxmlformats.org/officeDocument/2006/relationships/image" Target="../media/image53.png"/><Relationship Id="rId10" Type="http://schemas.openxmlformats.org/officeDocument/2006/relationships/image" Target="../media/image54.png"/><Relationship Id="rId11" Type="http://schemas.openxmlformats.org/officeDocument/2006/relationships/image" Target="../media/image55.png"/><Relationship Id="rId12" Type="http://schemas.openxmlformats.org/officeDocument/2006/relationships/image" Target="../media/image56.png"/><Relationship Id="rId13" Type="http://schemas.openxmlformats.org/officeDocument/2006/relationships/image" Target="../media/image57.png"/><Relationship Id="rId14" Type="http://schemas.openxmlformats.org/officeDocument/2006/relationships/image" Target="../media/image58.png"/><Relationship Id="rId15" Type="http://schemas.openxmlformats.org/officeDocument/2006/relationships/image" Target="../media/image59.png"/><Relationship Id="rId16" Type="http://schemas.openxmlformats.org/officeDocument/2006/relationships/image" Target="../media/image60.png"/><Relationship Id="rId17" Type="http://schemas.openxmlformats.org/officeDocument/2006/relationships/image" Target="../media/image61.png"/><Relationship Id="rId18" Type="http://schemas.openxmlformats.org/officeDocument/2006/relationships/image" Target="../media/image62.png"/><Relationship Id="rId19" Type="http://schemas.openxmlformats.org/officeDocument/2006/relationships/image" Target="../media/image63.png"/><Relationship Id="rId20" Type="http://schemas.openxmlformats.org/officeDocument/2006/relationships/image" Target="../media/image64.png"/><Relationship Id="rId21" Type="http://schemas.openxmlformats.org/officeDocument/2006/relationships/image" Target="../media/image65.png"/><Relationship Id="rId22" Type="http://schemas.openxmlformats.org/officeDocument/2006/relationships/image" Target="../media/image66.png"/><Relationship Id="rId23" Type="http://schemas.openxmlformats.org/officeDocument/2006/relationships/image" Target="../media/image6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 Id="rId3" Type="http://schemas.openxmlformats.org/officeDocument/2006/relationships/image" Target="../media/image77.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hyperlink" Target="https://marketing.csdn.net/p/3127db09a98e0723b83b2914d9256174?pId=2782&amp;utm_source=glcblog&amp;spm=1001.2101.3001.7020"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hyperlink" Target="https://marketing.csdn.net/p/3127db09a98e0723b83b2914d9256174?pId=2782&amp;utm_source=glcblog&amp;spm=1001.2101.3001.7020"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hyperlink" Target="https://marketing.csdn.net/p/3127db09a98e0723b83b2914d9256174?pId=2782&amp;utm_source=glcblog&amp;spm=1001.2101.3001.7020"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78.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 Id="rId3" Type="http://schemas.openxmlformats.org/officeDocument/2006/relationships/image" Target="../media/image7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3.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9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 Id="rId3" Type="http://schemas.openxmlformats.org/officeDocument/2006/relationships/image" Target="../media/image8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 Target="slide1.xml"/><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104.png"/><Relationship Id="rId10" Type="http://schemas.openxmlformats.org/officeDocument/2006/relationships/image" Target="../media/image105.png"/><Relationship Id="rId11" Type="http://schemas.openxmlformats.org/officeDocument/2006/relationships/image" Target="../media/image106.png"/><Relationship Id="rId12" Type="http://schemas.openxmlformats.org/officeDocument/2006/relationships/image" Target="../media/image107.png"/><Relationship Id="rId13" Type="http://schemas.openxmlformats.org/officeDocument/2006/relationships/image" Target="../media/image108.png"/><Relationship Id="rId14" Type="http://schemas.openxmlformats.org/officeDocument/2006/relationships/image" Target="../media/image109.png"/><Relationship Id="rId15" Type="http://schemas.openxmlformats.org/officeDocument/2006/relationships/image" Target="../media/image110.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image" Target="../media/image118.png"/><Relationship Id="rId10" Type="http://schemas.openxmlformats.org/officeDocument/2006/relationships/image" Target="../media/image119.png"/><Relationship Id="rId11" Type="http://schemas.openxmlformats.org/officeDocument/2006/relationships/image" Target="../media/image120.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xml"/><Relationship Id="rId3"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511422" y="1832355"/>
            <a:ext cx="5969635" cy="3537585"/>
          </a:xfrm>
          <a:prstGeom prst="rect">
            <a:avLst/>
          </a:prstGeom>
        </p:spPr>
        <p:txBody>
          <a:bodyPr wrap="square" lIns="0" tIns="85725" rIns="0" bIns="0" rtlCol="0" vert="horz">
            <a:spAutoFit/>
          </a:bodyPr>
          <a:lstStyle/>
          <a:p>
            <a:pPr lvl="1" marL="926465" indent="-913765">
              <a:lnSpc>
                <a:spcPct val="100000"/>
              </a:lnSpc>
              <a:spcBef>
                <a:spcPts val="67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3" action="ppaction://hlinksldjump"/>
              </a:rPr>
              <a:t>存储系统的层次结构</a:t>
            </a:r>
            <a:endParaRPr sz="2400">
              <a:latin typeface="黑体"/>
              <a:cs typeface="黑体"/>
            </a:endParaRPr>
          </a:p>
          <a:p>
            <a:pPr lvl="1" marL="926465" indent="-913765">
              <a:lnSpc>
                <a:spcPct val="100000"/>
              </a:lnSpc>
              <a:spcBef>
                <a:spcPts val="580"/>
              </a:spcBef>
              <a:buClr>
                <a:srgbClr val="40458B"/>
              </a:buClr>
              <a:buAutoNum type="arabicPeriod"/>
              <a:tabLst>
                <a:tab pos="926465" algn="l"/>
              </a:tabLst>
            </a:pPr>
            <a:r>
              <a:rPr dirty="0" u="sng" sz="2400">
                <a:solidFill>
                  <a:srgbClr val="4668F5"/>
                </a:solidFill>
                <a:uFill>
                  <a:solidFill>
                    <a:srgbClr val="4668F5"/>
                  </a:solidFill>
                </a:uFill>
                <a:latin typeface="黑体"/>
                <a:cs typeface="黑体"/>
                <a:hlinkClick r:id="rId4" action="ppaction://hlinksldjump"/>
              </a:rPr>
              <a:t>Cache</a:t>
            </a:r>
            <a:r>
              <a:rPr dirty="0" u="sng" sz="2400" spc="-15">
                <a:solidFill>
                  <a:srgbClr val="4668F5"/>
                </a:solidFill>
                <a:uFill>
                  <a:solidFill>
                    <a:srgbClr val="4668F5"/>
                  </a:solidFill>
                </a:uFill>
                <a:latin typeface="黑体"/>
                <a:cs typeface="黑体"/>
                <a:hlinkClick r:id="rId4" action="ppaction://hlinksldjump"/>
              </a:rPr>
              <a:t>基本知识</a:t>
            </a:r>
            <a:endParaRPr sz="2400">
              <a:latin typeface="黑体"/>
              <a:cs typeface="黑体"/>
            </a:endParaRPr>
          </a:p>
          <a:p>
            <a:pPr lvl="1" marL="926465" indent="-913765">
              <a:lnSpc>
                <a:spcPct val="100000"/>
              </a:lnSpc>
              <a:spcBef>
                <a:spcPts val="575"/>
              </a:spcBef>
              <a:buClr>
                <a:srgbClr val="40458B"/>
              </a:buClr>
              <a:buAutoNum type="arabicPeriod"/>
              <a:tabLst>
                <a:tab pos="926465" algn="l"/>
              </a:tabLst>
            </a:pPr>
            <a:r>
              <a:rPr dirty="0" u="sng" sz="2400">
                <a:solidFill>
                  <a:srgbClr val="4668F5"/>
                </a:solidFill>
                <a:uFill>
                  <a:solidFill>
                    <a:srgbClr val="4668F5"/>
                  </a:solidFill>
                </a:uFill>
                <a:latin typeface="黑体"/>
                <a:cs typeface="黑体"/>
                <a:hlinkClick r:id="rId5" action="ppaction://hlinksldjump"/>
              </a:rPr>
              <a:t>降低</a:t>
            </a:r>
            <a:r>
              <a:rPr dirty="0" u="sng" sz="2400" spc="-10">
                <a:solidFill>
                  <a:srgbClr val="4668F5"/>
                </a:solidFill>
                <a:uFill>
                  <a:solidFill>
                    <a:srgbClr val="4668F5"/>
                  </a:solidFill>
                </a:uFill>
                <a:latin typeface="黑体"/>
                <a:cs typeface="黑体"/>
                <a:hlinkClick r:id="rId5" action="ppaction://hlinksldjump"/>
              </a:rPr>
              <a:t>Cache</a:t>
            </a:r>
            <a:r>
              <a:rPr dirty="0" u="sng" sz="2400" spc="-15">
                <a:solidFill>
                  <a:srgbClr val="4668F5"/>
                </a:solidFill>
                <a:uFill>
                  <a:solidFill>
                    <a:srgbClr val="4668F5"/>
                  </a:solidFill>
                </a:uFill>
                <a:latin typeface="黑体"/>
                <a:cs typeface="黑体"/>
                <a:hlinkClick r:id="rId5" action="ppaction://hlinksldjump"/>
              </a:rPr>
              <a:t>不命中率</a:t>
            </a:r>
            <a:endParaRPr sz="2400">
              <a:latin typeface="黑体"/>
              <a:cs typeface="黑体"/>
            </a:endParaRPr>
          </a:p>
          <a:p>
            <a:pPr lvl="1" marL="926465" indent="-913765">
              <a:lnSpc>
                <a:spcPct val="100000"/>
              </a:lnSpc>
              <a:spcBef>
                <a:spcPts val="575"/>
              </a:spcBef>
              <a:buClr>
                <a:srgbClr val="40458B"/>
              </a:buClr>
              <a:buAutoNum type="arabicPeriod"/>
              <a:tabLst>
                <a:tab pos="926465" algn="l"/>
              </a:tabLst>
            </a:pPr>
            <a:r>
              <a:rPr dirty="0" u="sng" sz="2400">
                <a:solidFill>
                  <a:srgbClr val="4668F5"/>
                </a:solidFill>
                <a:uFill>
                  <a:solidFill>
                    <a:srgbClr val="4668F5"/>
                  </a:solidFill>
                </a:uFill>
                <a:latin typeface="黑体"/>
                <a:cs typeface="黑体"/>
                <a:hlinkClick r:id="rId6" action="ppaction://hlinksldjump"/>
              </a:rPr>
              <a:t>减少</a:t>
            </a:r>
            <a:r>
              <a:rPr dirty="0" u="sng" sz="2400" spc="-10">
                <a:solidFill>
                  <a:srgbClr val="4668F5"/>
                </a:solidFill>
                <a:uFill>
                  <a:solidFill>
                    <a:srgbClr val="4668F5"/>
                  </a:solidFill>
                </a:uFill>
                <a:latin typeface="黑体"/>
                <a:cs typeface="黑体"/>
                <a:hlinkClick r:id="rId6" action="ppaction://hlinksldjump"/>
              </a:rPr>
              <a:t>Cache不命中开销</a:t>
            </a:r>
            <a:endParaRPr sz="2400">
              <a:latin typeface="黑体"/>
              <a:cs typeface="黑体"/>
            </a:endParaRPr>
          </a:p>
          <a:p>
            <a:pPr lvl="1" marL="926465" indent="-913765">
              <a:lnSpc>
                <a:spcPct val="100000"/>
              </a:lnSpc>
              <a:spcBef>
                <a:spcPts val="580"/>
              </a:spcBef>
              <a:buClr>
                <a:srgbClr val="40458B"/>
              </a:buClr>
              <a:buAutoNum type="arabicPeriod"/>
              <a:tabLst>
                <a:tab pos="926465" algn="l"/>
              </a:tabLst>
            </a:pPr>
            <a:r>
              <a:rPr dirty="0" u="sng" sz="2400" spc="-20">
                <a:solidFill>
                  <a:srgbClr val="4668F5"/>
                </a:solidFill>
                <a:uFill>
                  <a:solidFill>
                    <a:srgbClr val="4668F5"/>
                  </a:solidFill>
                </a:uFill>
                <a:latin typeface="黑体"/>
                <a:cs typeface="黑体"/>
                <a:hlinkClick r:id="rId7" action="ppaction://hlinksldjump"/>
              </a:rPr>
              <a:t>减少命中时间</a:t>
            </a:r>
            <a:endParaRPr sz="2400">
              <a:latin typeface="黑体"/>
              <a:cs typeface="黑体"/>
            </a:endParaRPr>
          </a:p>
          <a:p>
            <a:pPr lvl="1" marL="926465" indent="-913765">
              <a:lnSpc>
                <a:spcPct val="100000"/>
              </a:lnSpc>
              <a:spcBef>
                <a:spcPts val="57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8" action="ppaction://hlinksldjump"/>
              </a:rPr>
              <a:t>并行主存系统</a:t>
            </a:r>
            <a:endParaRPr sz="2400">
              <a:latin typeface="黑体"/>
              <a:cs typeface="黑体"/>
            </a:endParaRPr>
          </a:p>
          <a:p>
            <a:pPr lvl="1" marL="926465" indent="-913765">
              <a:lnSpc>
                <a:spcPct val="100000"/>
              </a:lnSpc>
              <a:spcBef>
                <a:spcPts val="575"/>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9" action="ppaction://hlinksldjump"/>
              </a:rPr>
              <a:t>虚拟存储器</a:t>
            </a:r>
            <a:endParaRPr sz="2400">
              <a:latin typeface="黑体"/>
              <a:cs typeface="黑体"/>
            </a:endParaRPr>
          </a:p>
          <a:p>
            <a:pPr lvl="1" marL="926465" indent="-913765">
              <a:lnSpc>
                <a:spcPct val="100000"/>
              </a:lnSpc>
              <a:spcBef>
                <a:spcPts val="580"/>
              </a:spcBef>
              <a:buClr>
                <a:srgbClr val="40458B"/>
              </a:buClr>
              <a:buAutoNum type="arabicPeriod"/>
              <a:tabLst>
                <a:tab pos="926465" algn="l"/>
              </a:tabLst>
            </a:pPr>
            <a:r>
              <a:rPr dirty="0" u="sng" sz="2400" spc="-10">
                <a:solidFill>
                  <a:srgbClr val="4668F5"/>
                </a:solidFill>
                <a:uFill>
                  <a:solidFill>
                    <a:srgbClr val="4668F5"/>
                  </a:solidFill>
                </a:uFill>
                <a:latin typeface="黑体"/>
                <a:cs typeface="黑体"/>
                <a:hlinkClick r:id="rId10" action="ppaction://hlinksldjump"/>
              </a:rPr>
              <a:t>实例</a:t>
            </a:r>
            <a:r>
              <a:rPr dirty="0" u="sng" sz="2400">
                <a:solidFill>
                  <a:srgbClr val="4668F5"/>
                </a:solidFill>
                <a:uFill>
                  <a:solidFill>
                    <a:srgbClr val="4668F5"/>
                  </a:solidFill>
                </a:uFill>
                <a:latin typeface="黑体"/>
                <a:cs typeface="黑体"/>
                <a:hlinkClick r:id="rId10" action="ppaction://hlinksldjump"/>
              </a:rPr>
              <a:t>：AMD</a:t>
            </a:r>
            <a:r>
              <a:rPr dirty="0" u="sng" sz="2400" spc="60">
                <a:solidFill>
                  <a:srgbClr val="4668F5"/>
                </a:solidFill>
                <a:uFill>
                  <a:solidFill>
                    <a:srgbClr val="4668F5"/>
                  </a:solidFill>
                </a:uFill>
                <a:latin typeface="黑体"/>
                <a:cs typeface="黑体"/>
                <a:hlinkClick r:id="rId10" action="ppaction://hlinksldjump"/>
              </a:rPr>
              <a:t> </a:t>
            </a:r>
            <a:r>
              <a:rPr dirty="0" u="sng" sz="2400" spc="-10">
                <a:solidFill>
                  <a:srgbClr val="4668F5"/>
                </a:solidFill>
                <a:uFill>
                  <a:solidFill>
                    <a:srgbClr val="4668F5"/>
                  </a:solidFill>
                </a:uFill>
                <a:latin typeface="黑体"/>
                <a:cs typeface="黑体"/>
                <a:hlinkClick r:id="rId10" action="ppaction://hlinksldjump"/>
              </a:rPr>
              <a:t>Opteron</a:t>
            </a:r>
            <a:r>
              <a:rPr dirty="0" u="sng" sz="2400" spc="-20">
                <a:solidFill>
                  <a:srgbClr val="4668F5"/>
                </a:solidFill>
                <a:uFill>
                  <a:solidFill>
                    <a:srgbClr val="4668F5"/>
                  </a:solidFill>
                </a:uFill>
                <a:latin typeface="黑体"/>
                <a:cs typeface="黑体"/>
                <a:hlinkClick r:id="rId10" action="ppaction://hlinksldjump"/>
              </a:rPr>
              <a:t>的存储器层次结构</a:t>
            </a:r>
            <a:endParaRPr sz="2400">
              <a:latin typeface="黑体"/>
              <a:cs typeface="黑体"/>
            </a:endParaRPr>
          </a:p>
        </p:txBody>
      </p:sp>
      <p:sp>
        <p:nvSpPr>
          <p:cNvPr id="10" name="object 10"/>
          <p:cNvSpPr txBox="1">
            <a:spLocks noGrp="1"/>
          </p:cNvSpPr>
          <p:nvPr>
            <p:ph type="title"/>
          </p:nvPr>
        </p:nvSpPr>
        <p:spPr>
          <a:xfrm>
            <a:off x="3866515" y="807796"/>
            <a:ext cx="2871470" cy="514350"/>
          </a:xfrm>
          <a:prstGeom prst="rect"/>
        </p:spPr>
        <p:txBody>
          <a:bodyPr wrap="square" lIns="0" tIns="13335" rIns="0" bIns="0" rtlCol="0" vert="horz">
            <a:spAutoFit/>
          </a:bodyPr>
          <a:lstStyle/>
          <a:p>
            <a:pPr marL="12700">
              <a:lnSpc>
                <a:spcPct val="100000"/>
              </a:lnSpc>
              <a:spcBef>
                <a:spcPts val="105"/>
              </a:spcBef>
            </a:pPr>
            <a:r>
              <a:rPr dirty="0" u="none" sz="3200" spc="-10">
                <a:solidFill>
                  <a:srgbClr val="D50092"/>
                </a:solidFill>
              </a:rPr>
              <a:t>第7</a:t>
            </a:r>
            <a:r>
              <a:rPr dirty="0" u="none" sz="3200" spc="-20">
                <a:solidFill>
                  <a:srgbClr val="D50092"/>
                </a:solidFill>
              </a:rPr>
              <a:t>章 存储系统</a:t>
            </a:r>
            <a:endParaRP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702665" y="724611"/>
            <a:ext cx="9810115" cy="4404995"/>
          </a:xfrm>
          <a:prstGeom prst="rect">
            <a:avLst/>
          </a:prstGeom>
        </p:spPr>
        <p:txBody>
          <a:bodyPr wrap="square" lIns="0" tIns="13335" rIns="0" bIns="0" rtlCol="0" vert="horz">
            <a:spAutoFit/>
          </a:bodyPr>
          <a:lstStyle/>
          <a:p>
            <a:pPr algn="r" marR="3804285">
              <a:lnSpc>
                <a:spcPct val="100000"/>
              </a:lnSpc>
              <a:spcBef>
                <a:spcPts val="105"/>
              </a:spcBef>
            </a:pPr>
            <a:r>
              <a:rPr dirty="0" sz="2600">
                <a:solidFill>
                  <a:srgbClr val="0000CC"/>
                </a:solidFill>
                <a:latin typeface="黑体"/>
                <a:cs typeface="黑体"/>
              </a:rPr>
              <a:t>7.1.1</a:t>
            </a:r>
            <a:r>
              <a:rPr dirty="0" sz="2600" spc="-25">
                <a:solidFill>
                  <a:srgbClr val="0000CC"/>
                </a:solidFill>
                <a:latin typeface="黑体"/>
                <a:cs typeface="黑体"/>
              </a:rPr>
              <a:t> 存储系统的层次结构</a:t>
            </a:r>
            <a:endParaRPr sz="2600">
              <a:latin typeface="黑体"/>
              <a:cs typeface="黑体"/>
            </a:endParaRPr>
          </a:p>
          <a:p>
            <a:pPr algn="r" marL="456565" marR="3748404" indent="-456565">
              <a:lnSpc>
                <a:spcPct val="100000"/>
              </a:lnSpc>
              <a:spcBef>
                <a:spcPts val="3120"/>
              </a:spcBef>
              <a:buClr>
                <a:srgbClr val="40458B"/>
              </a:buClr>
              <a:buFont typeface="Tahoma"/>
              <a:buAutoNum type="arabicPeriod"/>
              <a:tabLst>
                <a:tab pos="456565" algn="l"/>
              </a:tabLst>
            </a:pPr>
            <a:r>
              <a:rPr dirty="0" sz="2400" spc="-5">
                <a:solidFill>
                  <a:srgbClr val="E14B04"/>
                </a:solidFill>
                <a:latin typeface="黑体"/>
                <a:cs typeface="黑体"/>
              </a:rPr>
              <a:t>计算机系统结构设计中</a:t>
            </a:r>
            <a:r>
              <a:rPr dirty="0" sz="2400" spc="-60">
                <a:solidFill>
                  <a:srgbClr val="D50092"/>
                </a:solidFill>
                <a:latin typeface="黑体"/>
                <a:cs typeface="黑体"/>
              </a:rPr>
              <a:t>关键的问题之一 ：</a:t>
            </a:r>
            <a:endParaRPr sz="2400">
              <a:latin typeface="黑体"/>
              <a:cs typeface="黑体"/>
            </a:endParaRPr>
          </a:p>
          <a:p>
            <a:pPr marL="624840" marR="5080" indent="17780">
              <a:lnSpc>
                <a:spcPct val="100000"/>
              </a:lnSpc>
              <a:spcBef>
                <a:spcPts val="575"/>
              </a:spcBef>
            </a:pPr>
            <a:r>
              <a:rPr dirty="0" sz="2400" spc="-5">
                <a:solidFill>
                  <a:srgbClr val="40458B"/>
                </a:solidFill>
                <a:latin typeface="黑体"/>
                <a:cs typeface="黑体"/>
              </a:rPr>
              <a:t>如何以合理的价格，设计容量和速度都满足计算机系统要求的存储器</a:t>
            </a:r>
            <a:r>
              <a:rPr dirty="0" sz="2400" spc="-20">
                <a:solidFill>
                  <a:srgbClr val="40458B"/>
                </a:solidFill>
                <a:latin typeface="黑体"/>
                <a:cs typeface="黑体"/>
              </a:rPr>
              <a:t>系统？</a:t>
            </a:r>
            <a:endParaRPr sz="2400">
              <a:latin typeface="黑体"/>
              <a:cs typeface="黑体"/>
            </a:endParaRPr>
          </a:p>
          <a:p>
            <a:pPr marL="469265" indent="-456565">
              <a:lnSpc>
                <a:spcPct val="100000"/>
              </a:lnSpc>
              <a:spcBef>
                <a:spcPts val="580"/>
              </a:spcBef>
              <a:buClr>
                <a:srgbClr val="40458B"/>
              </a:buClr>
              <a:buFont typeface="Tahoma"/>
              <a:buAutoNum type="arabicPeriod" startAt="2"/>
              <a:tabLst>
                <a:tab pos="469265" algn="l"/>
              </a:tabLst>
            </a:pPr>
            <a:r>
              <a:rPr dirty="0" sz="2400" spc="-10">
                <a:solidFill>
                  <a:srgbClr val="E14B04"/>
                </a:solidFill>
                <a:latin typeface="黑体"/>
                <a:cs typeface="黑体"/>
              </a:rPr>
              <a:t>这三个指标的要求</a:t>
            </a:r>
            <a:endParaRPr sz="2400">
              <a:latin typeface="黑体"/>
              <a:cs typeface="黑体"/>
            </a:endParaRPr>
          </a:p>
          <a:p>
            <a:pPr marL="1213485">
              <a:lnSpc>
                <a:spcPct val="100000"/>
              </a:lnSpc>
              <a:spcBef>
                <a:spcPts val="575"/>
              </a:spcBef>
            </a:pPr>
            <a:r>
              <a:rPr dirty="0" sz="2400" spc="-15">
                <a:solidFill>
                  <a:srgbClr val="40458B"/>
                </a:solidFill>
                <a:latin typeface="黑体"/>
                <a:cs typeface="黑体"/>
              </a:rPr>
              <a:t>容量大、速度快、价格低</a:t>
            </a:r>
            <a:endParaRPr sz="2400">
              <a:latin typeface="黑体"/>
              <a:cs typeface="黑体"/>
            </a:endParaRPr>
          </a:p>
          <a:p>
            <a:pPr marL="469265" indent="-456565">
              <a:lnSpc>
                <a:spcPct val="100000"/>
              </a:lnSpc>
              <a:spcBef>
                <a:spcPts val="575"/>
              </a:spcBef>
              <a:buClr>
                <a:srgbClr val="40458B"/>
              </a:buClr>
              <a:buFont typeface="Tahoma"/>
              <a:buAutoNum type="arabicPeriod" startAt="3"/>
              <a:tabLst>
                <a:tab pos="469265" algn="l"/>
              </a:tabLst>
            </a:pPr>
            <a:r>
              <a:rPr dirty="0" sz="2400" spc="-5">
                <a:solidFill>
                  <a:srgbClr val="E14B04"/>
                </a:solidFill>
                <a:latin typeface="黑体"/>
                <a:cs typeface="黑体"/>
              </a:rPr>
              <a:t>三个要求是相互矛盾的</a:t>
            </a:r>
            <a:endParaRPr sz="2400">
              <a:latin typeface="黑体"/>
              <a:cs typeface="黑体"/>
            </a:endParaRPr>
          </a:p>
          <a:p>
            <a:pPr lvl="1" marL="1727200" indent="-457200">
              <a:lnSpc>
                <a:spcPct val="100000"/>
              </a:lnSpc>
              <a:spcBef>
                <a:spcPts val="484"/>
              </a:spcBef>
              <a:buClr>
                <a:srgbClr val="4668F5"/>
              </a:buClr>
              <a:buSzPct val="60000"/>
              <a:buFont typeface="Wingdings"/>
              <a:buChar char=""/>
              <a:tabLst>
                <a:tab pos="1727200" algn="l"/>
              </a:tabLst>
            </a:pPr>
            <a:r>
              <a:rPr dirty="0" sz="2000" spc="-15" b="1">
                <a:solidFill>
                  <a:srgbClr val="006FC0"/>
                </a:solidFill>
                <a:latin typeface="宋体"/>
                <a:cs typeface="宋体"/>
              </a:rPr>
              <a:t>速度越快，每位价格就越高；</a:t>
            </a:r>
            <a:endParaRPr sz="2000">
              <a:latin typeface="宋体"/>
              <a:cs typeface="宋体"/>
            </a:endParaRPr>
          </a:p>
          <a:p>
            <a:pPr lvl="1" marL="1727200" indent="-457200">
              <a:lnSpc>
                <a:spcPct val="100000"/>
              </a:lnSpc>
              <a:spcBef>
                <a:spcPts val="480"/>
              </a:spcBef>
              <a:buClr>
                <a:srgbClr val="4668F5"/>
              </a:buClr>
              <a:buSzPct val="60000"/>
              <a:buFont typeface="Wingdings"/>
              <a:buChar char=""/>
              <a:tabLst>
                <a:tab pos="1727200" algn="l"/>
              </a:tabLst>
            </a:pPr>
            <a:r>
              <a:rPr dirty="0" sz="2000" spc="-20" b="1">
                <a:solidFill>
                  <a:srgbClr val="006FC0"/>
                </a:solidFill>
                <a:latin typeface="宋体"/>
                <a:cs typeface="宋体"/>
              </a:rPr>
              <a:t>容量越大，每位价格就越低；</a:t>
            </a:r>
            <a:endParaRPr sz="2000">
              <a:latin typeface="宋体"/>
              <a:cs typeface="宋体"/>
            </a:endParaRPr>
          </a:p>
          <a:p>
            <a:pPr lvl="1" marL="1727200" indent="-457200">
              <a:lnSpc>
                <a:spcPct val="100000"/>
              </a:lnSpc>
              <a:spcBef>
                <a:spcPts val="484"/>
              </a:spcBef>
              <a:buClr>
                <a:srgbClr val="4668F5"/>
              </a:buClr>
              <a:buSzPct val="60000"/>
              <a:buFont typeface="Wingdings"/>
              <a:buChar char=""/>
              <a:tabLst>
                <a:tab pos="1727200" algn="l"/>
              </a:tabLst>
            </a:pPr>
            <a:r>
              <a:rPr dirty="0" sz="2000" spc="-15" b="1">
                <a:solidFill>
                  <a:srgbClr val="006FC0"/>
                </a:solidFill>
                <a:latin typeface="宋体"/>
                <a:cs typeface="宋体"/>
              </a:rPr>
              <a:t>容量越大，速度越慢。</a:t>
            </a:r>
            <a:endParaRPr sz="2000">
              <a:latin typeface="宋体"/>
              <a:cs typeface="宋体"/>
            </a:endParaRPr>
          </a:p>
        </p:txBody>
      </p:sp>
      <p:sp>
        <p:nvSpPr>
          <p:cNvPr id="9" name="object 9"/>
          <p:cNvSpPr txBox="1">
            <a:spLocks noGrp="1"/>
          </p:cNvSpPr>
          <p:nvPr>
            <p:ph type="title"/>
          </p:nvPr>
        </p:nvSpPr>
        <p:spPr>
          <a:prstGeom prst="rect"/>
        </p:spPr>
        <p:txBody>
          <a:bodyPr wrap="square" lIns="0" tIns="84886" rIns="0" bIns="0" rtlCol="0" vert="horz">
            <a:spAutoFit/>
          </a:bodyPr>
          <a:lstStyle/>
          <a:p>
            <a:pPr marL="12700">
              <a:lnSpc>
                <a:spcPct val="100000"/>
              </a:lnSpc>
              <a:spcBef>
                <a:spcPts val="95"/>
              </a:spcBef>
              <a:tabLst>
                <a:tab pos="1436370" algn="l"/>
                <a:tab pos="10648315" algn="l"/>
              </a:tabLst>
            </a:pPr>
            <a:r>
              <a:rPr dirty="0">
                <a:solidFill>
                  <a:srgbClr val="006FC0"/>
                </a:solidFill>
              </a:rPr>
              <a:t>	7.1</a:t>
            </a:r>
            <a:r>
              <a:rPr dirty="0" spc="15">
                <a:solidFill>
                  <a:srgbClr val="006FC0"/>
                </a:solidFill>
              </a:rPr>
              <a:t> </a:t>
            </a:r>
            <a:r>
              <a:rPr dirty="0" spc="-35">
                <a:solidFill>
                  <a:srgbClr val="006FC0"/>
                </a:solidFill>
              </a:rPr>
              <a:t>存储</a:t>
            </a:r>
            <a:r>
              <a:rPr dirty="0" spc="-30">
                <a:solidFill>
                  <a:srgbClr val="006FC0"/>
                </a:solidFill>
              </a:rPr>
              <a:t>系</a:t>
            </a:r>
            <a:r>
              <a:rPr dirty="0" spc="-35">
                <a:solidFill>
                  <a:srgbClr val="006FC0"/>
                </a:solidFill>
              </a:rPr>
              <a:t>统的层</a:t>
            </a:r>
            <a:r>
              <a:rPr dirty="0" spc="-30">
                <a:solidFill>
                  <a:srgbClr val="006FC0"/>
                </a:solidFill>
              </a:rPr>
              <a:t>次</a:t>
            </a:r>
            <a:r>
              <a:rPr dirty="0" spc="-35">
                <a:solidFill>
                  <a:srgbClr val="006FC0"/>
                </a:solidFill>
              </a:rPr>
              <a:t>结</a:t>
            </a:r>
            <a:r>
              <a:rPr dirty="0" spc="-50">
                <a:solidFill>
                  <a:srgbClr val="006FC0"/>
                </a:solidFill>
              </a:rPr>
              <a:t>构</a:t>
            </a:r>
            <a:r>
              <a:rPr dirty="0">
                <a:solidFill>
                  <a:srgbClr val="006FC0"/>
                </a:solidFill>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413715" y="1056512"/>
            <a:ext cx="9952355" cy="3468370"/>
          </a:xfrm>
          <a:prstGeom prst="rect">
            <a:avLst/>
          </a:prstGeom>
        </p:spPr>
        <p:txBody>
          <a:bodyPr wrap="square" lIns="0" tIns="195580" rIns="0" bIns="0" rtlCol="0" vert="horz">
            <a:spAutoFit/>
          </a:bodyPr>
          <a:lstStyle/>
          <a:p>
            <a:pPr marL="469265" indent="-456565">
              <a:lnSpc>
                <a:spcPct val="100000"/>
              </a:lnSpc>
              <a:spcBef>
                <a:spcPts val="1540"/>
              </a:spcBef>
              <a:buClr>
                <a:srgbClr val="40458B"/>
              </a:buClr>
              <a:buFont typeface="Tahoma"/>
              <a:buAutoNum type="arabicPeriod" startAt="4"/>
              <a:tabLst>
                <a:tab pos="469265" algn="l"/>
              </a:tabLst>
            </a:pPr>
            <a:r>
              <a:rPr dirty="0" sz="2400">
                <a:solidFill>
                  <a:srgbClr val="D50092"/>
                </a:solidFill>
                <a:latin typeface="黑体"/>
                <a:cs typeface="黑体"/>
              </a:rPr>
              <a:t>解决方法</a:t>
            </a:r>
            <a:r>
              <a:rPr dirty="0" sz="2400" spc="-5">
                <a:solidFill>
                  <a:srgbClr val="E14B04"/>
                </a:solidFill>
                <a:latin typeface="黑体"/>
                <a:cs typeface="黑体"/>
              </a:rPr>
              <a:t>：采用多种存储器技术，构成多级存储层次结构。</a:t>
            </a:r>
            <a:endParaRPr sz="2400">
              <a:latin typeface="黑体"/>
              <a:cs typeface="黑体"/>
            </a:endParaRPr>
          </a:p>
          <a:p>
            <a:pPr lvl="1" marL="1099185" marR="5080" indent="-457834">
              <a:lnSpc>
                <a:spcPct val="130000"/>
              </a:lnSpc>
              <a:spcBef>
                <a:spcPts val="575"/>
              </a:spcBef>
              <a:buSzPct val="89583"/>
              <a:buFont typeface="Wingdings"/>
              <a:buChar char=""/>
              <a:tabLst>
                <a:tab pos="1099185" algn="l"/>
              </a:tabLst>
            </a:pPr>
            <a:r>
              <a:rPr dirty="0" sz="2400">
                <a:solidFill>
                  <a:srgbClr val="40458B"/>
                </a:solidFill>
                <a:latin typeface="黑体"/>
                <a:cs typeface="黑体"/>
              </a:rPr>
              <a:t>程序访问的</a:t>
            </a:r>
            <a:r>
              <a:rPr dirty="0" sz="2400">
                <a:solidFill>
                  <a:srgbClr val="FF3300"/>
                </a:solidFill>
                <a:latin typeface="黑体"/>
                <a:cs typeface="黑体"/>
              </a:rPr>
              <a:t>局部性原理：</a:t>
            </a:r>
            <a:r>
              <a:rPr dirty="0" sz="2400" spc="-5">
                <a:solidFill>
                  <a:srgbClr val="40458B"/>
                </a:solidFill>
                <a:latin typeface="黑体"/>
                <a:cs typeface="黑体"/>
              </a:rPr>
              <a:t>对于绝大多数程序来说，程序所访问的指</a:t>
            </a:r>
            <a:r>
              <a:rPr dirty="0" sz="2400" spc="-15">
                <a:solidFill>
                  <a:srgbClr val="40458B"/>
                </a:solidFill>
                <a:latin typeface="黑体"/>
                <a:cs typeface="黑体"/>
              </a:rPr>
              <a:t>令和数据在地址上不是均匀分布的，而是相对簇聚的。</a:t>
            </a:r>
            <a:endParaRPr sz="2400">
              <a:latin typeface="黑体"/>
              <a:cs typeface="黑体"/>
            </a:endParaRPr>
          </a:p>
          <a:p>
            <a:pPr lvl="1" marL="1099185" indent="-457200">
              <a:lnSpc>
                <a:spcPct val="100000"/>
              </a:lnSpc>
              <a:spcBef>
                <a:spcPts val="1445"/>
              </a:spcBef>
              <a:buSzPct val="89583"/>
              <a:buFont typeface="Wingdings"/>
              <a:buChar char=""/>
              <a:tabLst>
                <a:tab pos="1099185" algn="l"/>
              </a:tabLst>
            </a:pPr>
            <a:r>
              <a:rPr dirty="0" sz="2400" spc="-5">
                <a:solidFill>
                  <a:srgbClr val="40458B"/>
                </a:solidFill>
                <a:latin typeface="黑体"/>
                <a:cs typeface="黑体"/>
              </a:rPr>
              <a:t>程序访问的局部性包含两个方面</a:t>
            </a:r>
            <a:endParaRPr sz="2400">
              <a:latin typeface="黑体"/>
              <a:cs typeface="黑体"/>
            </a:endParaRPr>
          </a:p>
          <a:p>
            <a:pPr lvl="2" marL="1727200" indent="-457200">
              <a:lnSpc>
                <a:spcPct val="100000"/>
              </a:lnSpc>
              <a:spcBef>
                <a:spcPts val="1275"/>
              </a:spcBef>
              <a:buClr>
                <a:srgbClr val="4668F5"/>
              </a:buClr>
              <a:buSzPct val="60000"/>
              <a:buFont typeface="Wingdings"/>
              <a:buChar char=""/>
              <a:tabLst>
                <a:tab pos="1727200" algn="l"/>
              </a:tabLst>
            </a:pPr>
            <a:r>
              <a:rPr dirty="0" sz="2000" spc="-10" b="1">
                <a:solidFill>
                  <a:srgbClr val="FF3300"/>
                </a:solidFill>
                <a:latin typeface="宋体"/>
                <a:cs typeface="宋体"/>
              </a:rPr>
              <a:t>时间局部性</a:t>
            </a:r>
            <a:r>
              <a:rPr dirty="0" sz="2000" spc="-25" b="1">
                <a:solidFill>
                  <a:srgbClr val="00AFEF"/>
                </a:solidFill>
                <a:latin typeface="宋体"/>
                <a:cs typeface="宋体"/>
              </a:rPr>
              <a:t>：程序马上将要用到的信息很可能就是现在正在使用的信息。</a:t>
            </a:r>
            <a:endParaRPr sz="2000">
              <a:latin typeface="宋体"/>
              <a:cs typeface="宋体"/>
            </a:endParaRPr>
          </a:p>
          <a:p>
            <a:pPr lvl="2" marL="1727200" marR="32384" indent="-457200">
              <a:lnSpc>
                <a:spcPct val="130000"/>
              </a:lnSpc>
              <a:spcBef>
                <a:spcPts val="480"/>
              </a:spcBef>
              <a:buClr>
                <a:srgbClr val="4668F5"/>
              </a:buClr>
              <a:buSzPct val="60000"/>
              <a:buFont typeface="Wingdings"/>
              <a:buChar char=""/>
              <a:tabLst>
                <a:tab pos="1727200" algn="l"/>
              </a:tabLst>
            </a:pPr>
            <a:r>
              <a:rPr dirty="0" sz="2000" spc="-10" b="1">
                <a:solidFill>
                  <a:srgbClr val="FF3300"/>
                </a:solidFill>
                <a:latin typeface="宋体"/>
                <a:cs typeface="宋体"/>
              </a:rPr>
              <a:t>空间局部性</a:t>
            </a:r>
            <a:r>
              <a:rPr dirty="0" sz="2000" spc="-25" b="1">
                <a:solidFill>
                  <a:srgbClr val="00AFEF"/>
                </a:solidFill>
                <a:latin typeface="宋体"/>
                <a:cs typeface="宋体"/>
              </a:rPr>
              <a:t>：程序马上将要用到的信息很可能与现在正在使用的信息在存</a:t>
            </a:r>
            <a:r>
              <a:rPr dirty="0" sz="2000" spc="-15" b="1">
                <a:solidFill>
                  <a:srgbClr val="00AFEF"/>
                </a:solidFill>
                <a:latin typeface="宋体"/>
                <a:cs typeface="宋体"/>
              </a:rPr>
              <a:t>储空间上是相邻的。</a:t>
            </a:r>
            <a:endParaRPr sz="2000">
              <a:latin typeface="宋体"/>
              <a:cs typeface="宋体"/>
            </a:endParaRPr>
          </a:p>
        </p:txBody>
      </p:sp>
      <p:sp>
        <p:nvSpPr>
          <p:cNvPr id="9" name="object 9"/>
          <p:cNvSpPr txBox="1">
            <a:spLocks noGrp="1"/>
          </p:cNvSpPr>
          <p:nvPr>
            <p:ph type="title"/>
          </p:nvPr>
        </p:nvSpPr>
        <p:spPr>
          <a:prstGeom prst="rect"/>
        </p:spPr>
        <p:txBody>
          <a:bodyPr wrap="square" lIns="0" tIns="101650" rIns="0" bIns="0" rtlCol="0" vert="horz">
            <a:spAutoFit/>
          </a:bodyPr>
          <a:lstStyle/>
          <a:p>
            <a:pPr marL="12700">
              <a:lnSpc>
                <a:spcPct val="100000"/>
              </a:lnSpc>
              <a:spcBef>
                <a:spcPts val="100"/>
              </a:spcBef>
              <a:tabLst>
                <a:tab pos="10648315" algn="l"/>
              </a:tabLst>
            </a:pPr>
            <a:r>
              <a:rPr dirty="0" sz="2600" spc="580">
                <a:solidFill>
                  <a:srgbClr val="0000CC"/>
                </a:solidFill>
              </a:rPr>
              <a:t> </a:t>
            </a:r>
            <a:r>
              <a:rPr dirty="0" sz="2600">
                <a:solidFill>
                  <a:srgbClr val="0000CC"/>
                </a:solidFill>
              </a:rPr>
              <a:t>7.1.1</a:t>
            </a:r>
            <a:r>
              <a:rPr dirty="0" sz="2600" spc="-10">
                <a:solidFill>
                  <a:srgbClr val="0000CC"/>
                </a:solidFill>
              </a:rPr>
              <a:t> </a:t>
            </a:r>
            <a:r>
              <a:rPr dirty="0" sz="2600">
                <a:solidFill>
                  <a:srgbClr val="0000CC"/>
                </a:solidFill>
              </a:rPr>
              <a:t>存储系统</a:t>
            </a:r>
            <a:r>
              <a:rPr dirty="0" sz="2600" spc="-15">
                <a:solidFill>
                  <a:srgbClr val="0000CC"/>
                </a:solidFill>
              </a:rPr>
              <a:t>的</a:t>
            </a:r>
            <a:r>
              <a:rPr dirty="0" sz="2600">
                <a:solidFill>
                  <a:srgbClr val="0000CC"/>
                </a:solidFill>
              </a:rPr>
              <a:t>层次结</a:t>
            </a:r>
            <a:r>
              <a:rPr dirty="0" sz="2600" spc="-50">
                <a:solidFill>
                  <a:srgbClr val="0000CC"/>
                </a:solidFill>
              </a:rPr>
              <a:t>构</a:t>
            </a:r>
            <a:r>
              <a:rPr dirty="0" sz="2600">
                <a:solidFill>
                  <a:srgbClr val="0000CC"/>
                </a:solidFill>
              </a:rPr>
              <a:t>	</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9" name="object 9"/>
          <p:cNvGrpSpPr/>
          <p:nvPr/>
        </p:nvGrpSpPr>
        <p:grpSpPr>
          <a:xfrm>
            <a:off x="0" y="2190750"/>
            <a:ext cx="6816725" cy="3771900"/>
            <a:chOff x="0" y="2190750"/>
            <a:chExt cx="6816725" cy="3771900"/>
          </a:xfrm>
        </p:grpSpPr>
        <p:pic>
          <p:nvPicPr>
            <p:cNvPr id="10" name="object 10"/>
            <p:cNvPicPr/>
            <p:nvPr/>
          </p:nvPicPr>
          <p:blipFill>
            <a:blip r:embed="rId3" cstate="print"/>
            <a:stretch>
              <a:fillRect/>
            </a:stretch>
          </p:blipFill>
          <p:spPr>
            <a:xfrm>
              <a:off x="0" y="2190750"/>
              <a:ext cx="6816724" cy="3771900"/>
            </a:xfrm>
            <a:prstGeom prst="rect">
              <a:avLst/>
            </a:prstGeom>
          </p:spPr>
        </p:pic>
        <p:sp>
          <p:nvSpPr>
            <p:cNvPr id="11" name="object 11" descr=""/>
            <p:cNvSpPr/>
            <p:nvPr/>
          </p:nvSpPr>
          <p:spPr>
            <a:xfrm>
              <a:off x="1976501" y="3166999"/>
              <a:ext cx="3240405" cy="120650"/>
            </a:xfrm>
            <a:custGeom>
              <a:avLst/>
              <a:gdLst/>
              <a:ahLst/>
              <a:cxnLst/>
              <a:rect l="l" t="t" r="r" b="b"/>
              <a:pathLst>
                <a:path w="3240404" h="120650">
                  <a:moveTo>
                    <a:pt x="60071" y="0"/>
                  </a:moveTo>
                  <a:lnTo>
                    <a:pt x="0" y="60451"/>
                  </a:lnTo>
                  <a:lnTo>
                    <a:pt x="60071" y="120650"/>
                  </a:lnTo>
                  <a:lnTo>
                    <a:pt x="60071" y="90550"/>
                  </a:lnTo>
                  <a:lnTo>
                    <a:pt x="3240024" y="90550"/>
                  </a:lnTo>
                  <a:lnTo>
                    <a:pt x="3240024" y="30225"/>
                  </a:lnTo>
                  <a:lnTo>
                    <a:pt x="60071" y="30225"/>
                  </a:lnTo>
                  <a:lnTo>
                    <a:pt x="60071" y="0"/>
                  </a:lnTo>
                  <a:close/>
                </a:path>
              </a:pathLst>
            </a:custGeom>
            <a:solidFill>
              <a:srgbClr val="EBD782"/>
            </a:solidFill>
          </p:spPr>
          <p:txBody>
            <a:bodyPr wrap="square" lIns="0" tIns="0" rIns="0" bIns="0" rtlCol="0"/>
            <a:lstStyle/>
            <a:p/>
          </p:txBody>
        </p:sp>
        <p:sp>
          <p:nvSpPr>
            <p:cNvPr id="12" name="object 12" descr=""/>
            <p:cNvSpPr/>
            <p:nvPr/>
          </p:nvSpPr>
          <p:spPr>
            <a:xfrm>
              <a:off x="1976501" y="3166999"/>
              <a:ext cx="3240405" cy="120650"/>
            </a:xfrm>
            <a:custGeom>
              <a:avLst/>
              <a:gdLst/>
              <a:ahLst/>
              <a:cxnLst/>
              <a:rect l="l" t="t" r="r" b="b"/>
              <a:pathLst>
                <a:path w="3240404" h="120650">
                  <a:moveTo>
                    <a:pt x="0" y="60451"/>
                  </a:moveTo>
                  <a:lnTo>
                    <a:pt x="60071" y="0"/>
                  </a:lnTo>
                  <a:lnTo>
                    <a:pt x="60071" y="30225"/>
                  </a:lnTo>
                  <a:lnTo>
                    <a:pt x="3240024" y="30225"/>
                  </a:lnTo>
                  <a:lnTo>
                    <a:pt x="3240024" y="90550"/>
                  </a:lnTo>
                  <a:lnTo>
                    <a:pt x="60071" y="90550"/>
                  </a:lnTo>
                  <a:lnTo>
                    <a:pt x="60071" y="120650"/>
                  </a:lnTo>
                  <a:lnTo>
                    <a:pt x="0" y="60451"/>
                  </a:lnTo>
                  <a:close/>
                </a:path>
              </a:pathLst>
            </a:custGeom>
            <a:ln w="9525">
              <a:solidFill>
                <a:srgbClr val="40458B"/>
              </a:solidFill>
            </a:ln>
          </p:spPr>
          <p:txBody>
            <a:bodyPr wrap="square" lIns="0" tIns="0" rIns="0" bIns="0" rtlCol="0"/>
            <a:lstStyle/>
            <a:p/>
          </p:txBody>
        </p:sp>
        <p:sp>
          <p:nvSpPr>
            <p:cNvPr id="13" name="object 13" descr=""/>
            <p:cNvSpPr/>
            <p:nvPr/>
          </p:nvSpPr>
          <p:spPr>
            <a:xfrm>
              <a:off x="2354326" y="5534025"/>
              <a:ext cx="3240405" cy="120650"/>
            </a:xfrm>
            <a:custGeom>
              <a:avLst/>
              <a:gdLst/>
              <a:ahLst/>
              <a:cxnLst/>
              <a:rect l="l" t="t" r="r" b="b"/>
              <a:pathLst>
                <a:path w="3240404" h="120650">
                  <a:moveTo>
                    <a:pt x="3179826" y="0"/>
                  </a:moveTo>
                  <a:lnTo>
                    <a:pt x="3179826" y="30099"/>
                  </a:lnTo>
                  <a:lnTo>
                    <a:pt x="0" y="30099"/>
                  </a:lnTo>
                  <a:lnTo>
                    <a:pt x="0" y="90487"/>
                  </a:lnTo>
                  <a:lnTo>
                    <a:pt x="3179826" y="90487"/>
                  </a:lnTo>
                  <a:lnTo>
                    <a:pt x="3179826" y="120650"/>
                  </a:lnTo>
                  <a:lnTo>
                    <a:pt x="3240024" y="60325"/>
                  </a:lnTo>
                  <a:lnTo>
                    <a:pt x="3179826" y="0"/>
                  </a:lnTo>
                  <a:close/>
                </a:path>
              </a:pathLst>
            </a:custGeom>
            <a:solidFill>
              <a:srgbClr val="EBD782"/>
            </a:solidFill>
          </p:spPr>
          <p:txBody>
            <a:bodyPr wrap="square" lIns="0" tIns="0" rIns="0" bIns="0" rtlCol="0"/>
            <a:lstStyle/>
            <a:p/>
          </p:txBody>
        </p:sp>
        <p:sp>
          <p:nvSpPr>
            <p:cNvPr id="14" name="object 14" descr=""/>
            <p:cNvSpPr/>
            <p:nvPr/>
          </p:nvSpPr>
          <p:spPr>
            <a:xfrm>
              <a:off x="2354326" y="5534025"/>
              <a:ext cx="3240405" cy="120650"/>
            </a:xfrm>
            <a:custGeom>
              <a:avLst/>
              <a:gdLst/>
              <a:ahLst/>
              <a:cxnLst/>
              <a:rect l="l" t="t" r="r" b="b"/>
              <a:pathLst>
                <a:path w="3240404" h="120650">
                  <a:moveTo>
                    <a:pt x="3240024" y="60325"/>
                  </a:moveTo>
                  <a:lnTo>
                    <a:pt x="3179826" y="120650"/>
                  </a:lnTo>
                  <a:lnTo>
                    <a:pt x="3179826" y="90487"/>
                  </a:lnTo>
                  <a:lnTo>
                    <a:pt x="0" y="90487"/>
                  </a:lnTo>
                  <a:lnTo>
                    <a:pt x="0" y="30099"/>
                  </a:lnTo>
                  <a:lnTo>
                    <a:pt x="3179826" y="30099"/>
                  </a:lnTo>
                  <a:lnTo>
                    <a:pt x="3179826" y="0"/>
                  </a:lnTo>
                  <a:lnTo>
                    <a:pt x="3240024" y="60325"/>
                  </a:lnTo>
                  <a:close/>
                </a:path>
              </a:pathLst>
            </a:custGeom>
            <a:ln w="9525">
              <a:solidFill>
                <a:srgbClr val="40458B"/>
              </a:solidFill>
            </a:ln>
          </p:spPr>
          <p:txBody>
            <a:bodyPr wrap="square" lIns="0" tIns="0" rIns="0" bIns="0" rtlCol="0"/>
            <a:lstStyle/>
            <a:p/>
          </p:txBody>
        </p:sp>
      </p:grpSp>
      <p:sp>
        <p:nvSpPr>
          <p:cNvPr id="15" name="object 15" descr=""/>
          <p:cNvSpPr txBox="1"/>
          <p:nvPr/>
        </p:nvSpPr>
        <p:spPr>
          <a:xfrm>
            <a:off x="308863" y="995934"/>
            <a:ext cx="3836035" cy="391160"/>
          </a:xfrm>
          <a:prstGeom prst="rect">
            <a:avLst/>
          </a:prstGeom>
        </p:spPr>
        <p:txBody>
          <a:bodyPr wrap="square" lIns="0" tIns="12700" rIns="0" bIns="0" rtlCol="0" vert="horz">
            <a:spAutoFit/>
          </a:bodyPr>
          <a:lstStyle/>
          <a:p>
            <a:pPr marL="12700">
              <a:lnSpc>
                <a:spcPct val="100000"/>
              </a:lnSpc>
              <a:spcBef>
                <a:spcPts val="100"/>
              </a:spcBef>
              <a:tabLst>
                <a:tab pos="469900" algn="l"/>
              </a:tabLst>
            </a:pPr>
            <a:r>
              <a:rPr dirty="0" sz="2400" spc="-25">
                <a:solidFill>
                  <a:srgbClr val="40458B"/>
                </a:solidFill>
                <a:latin typeface="Tahoma"/>
                <a:cs typeface="Tahoma"/>
              </a:rPr>
              <a:t>5.</a:t>
            </a:r>
            <a:r>
              <a:rPr dirty="0" sz="2400">
                <a:solidFill>
                  <a:srgbClr val="40458B"/>
                </a:solidFill>
                <a:latin typeface="Tahoma"/>
                <a:cs typeface="Tahoma"/>
              </a:rPr>
              <a:t>	</a:t>
            </a:r>
            <a:r>
              <a:rPr dirty="0" sz="2400" spc="-5">
                <a:solidFill>
                  <a:srgbClr val="E14B04"/>
                </a:solidFill>
                <a:latin typeface="黑体"/>
                <a:cs typeface="黑体"/>
              </a:rPr>
              <a:t>存储系统的多级层次结构</a:t>
            </a:r>
            <a:endParaRPr sz="2400">
              <a:latin typeface="黑体"/>
              <a:cs typeface="黑体"/>
            </a:endParaRPr>
          </a:p>
        </p:txBody>
      </p:sp>
      <p:sp>
        <p:nvSpPr>
          <p:cNvPr id="16" name="object 16" descr=""/>
          <p:cNvSpPr txBox="1"/>
          <p:nvPr/>
        </p:nvSpPr>
        <p:spPr>
          <a:xfrm>
            <a:off x="3652520" y="2805430"/>
            <a:ext cx="535305" cy="330835"/>
          </a:xfrm>
          <a:prstGeom prst="rect">
            <a:avLst/>
          </a:prstGeom>
        </p:spPr>
        <p:txBody>
          <a:bodyPr wrap="square" lIns="0" tIns="13335" rIns="0" bIns="0" rtlCol="0" vert="horz">
            <a:spAutoFit/>
          </a:bodyPr>
          <a:lstStyle/>
          <a:p>
            <a:pPr marL="12700">
              <a:lnSpc>
                <a:spcPct val="100000"/>
              </a:lnSpc>
              <a:spcBef>
                <a:spcPts val="105"/>
              </a:spcBef>
            </a:pPr>
            <a:r>
              <a:rPr dirty="0" sz="2000" spc="-25">
                <a:solidFill>
                  <a:srgbClr val="FF3399"/>
                </a:solidFill>
                <a:latin typeface="黑体"/>
                <a:cs typeface="黑体"/>
              </a:rPr>
              <a:t>速度</a:t>
            </a:r>
            <a:endParaRPr sz="2000">
              <a:latin typeface="黑体"/>
              <a:cs typeface="黑体"/>
            </a:endParaRPr>
          </a:p>
        </p:txBody>
      </p:sp>
      <p:sp>
        <p:nvSpPr>
          <p:cNvPr id="17" name="object 17" descr=""/>
          <p:cNvSpPr txBox="1"/>
          <p:nvPr/>
        </p:nvSpPr>
        <p:spPr>
          <a:xfrm>
            <a:off x="2719197" y="5296916"/>
            <a:ext cx="1562100" cy="1183640"/>
          </a:xfrm>
          <a:prstGeom prst="rect">
            <a:avLst/>
          </a:prstGeom>
        </p:spPr>
        <p:txBody>
          <a:bodyPr wrap="square" lIns="0" tIns="12700" rIns="0" bIns="0" rtlCol="0" vert="horz">
            <a:spAutoFit/>
          </a:bodyPr>
          <a:lstStyle/>
          <a:p>
            <a:pPr marL="808990">
              <a:lnSpc>
                <a:spcPct val="100000"/>
              </a:lnSpc>
              <a:spcBef>
                <a:spcPts val="100"/>
              </a:spcBef>
            </a:pPr>
            <a:r>
              <a:rPr dirty="0" sz="2000" spc="-25">
                <a:solidFill>
                  <a:srgbClr val="FF3399"/>
                </a:solidFill>
                <a:latin typeface="黑体"/>
                <a:cs typeface="黑体"/>
              </a:rPr>
              <a:t>容量</a:t>
            </a:r>
            <a:endParaRPr sz="2000">
              <a:latin typeface="黑体"/>
              <a:cs typeface="黑体"/>
            </a:endParaRPr>
          </a:p>
          <a:p>
            <a:pPr>
              <a:lnSpc>
                <a:spcPct val="100000"/>
              </a:lnSpc>
              <a:spcBef>
                <a:spcPts val="1710"/>
              </a:spcBef>
            </a:pPr>
            <a:endParaRPr sz="2000">
              <a:latin typeface="黑体"/>
              <a:cs typeface="黑体"/>
            </a:endParaRPr>
          </a:p>
          <a:p>
            <a:pPr marL="12700">
              <a:lnSpc>
                <a:spcPct val="100000"/>
              </a:lnSpc>
              <a:spcBef>
                <a:spcPts val="5"/>
              </a:spcBef>
            </a:pPr>
            <a:r>
              <a:rPr dirty="0" sz="2000" spc="-20" b="1">
                <a:latin typeface="宋体"/>
                <a:cs typeface="宋体"/>
              </a:rPr>
              <a:t>多级存储层次</a:t>
            </a:r>
            <a:endParaRPr sz="2000">
              <a:latin typeface="宋体"/>
              <a:cs typeface="宋体"/>
            </a:endParaRPr>
          </a:p>
        </p:txBody>
      </p:sp>
      <p:sp>
        <p:nvSpPr>
          <p:cNvPr id="18" name="object 18"/>
          <p:cNvSpPr txBox="1">
            <a:spLocks noGrp="1"/>
          </p:cNvSpPr>
          <p:nvPr>
            <p:ph type="title"/>
          </p:nvPr>
        </p:nvSpPr>
        <p:spPr>
          <a:xfrm>
            <a:off x="1782317" y="94614"/>
            <a:ext cx="399097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7.1.1</a:t>
            </a:r>
            <a:r>
              <a:rPr dirty="0" u="none" sz="2600" spc="-15">
                <a:solidFill>
                  <a:srgbClr val="0000CC"/>
                </a:solidFill>
              </a:rPr>
              <a:t> 存储系统的层次结构</a:t>
            </a:r>
            <a:endParaRPr sz="2600"/>
          </a:p>
        </p:txBody>
      </p:sp>
      <p:grpSp>
        <p:nvGrpSpPr>
          <p:cNvPr id="19" name="object 19" descr=""/>
          <p:cNvGrpSpPr/>
          <p:nvPr/>
        </p:nvGrpSpPr>
        <p:grpSpPr>
          <a:xfrm>
            <a:off x="6865937" y="2154301"/>
            <a:ext cx="5229225" cy="3818254"/>
            <a:chOff x="6865937" y="2154301"/>
            <a:chExt cx="5229225" cy="3818254"/>
          </a:xfrm>
        </p:grpSpPr>
        <p:pic>
          <p:nvPicPr>
            <p:cNvPr id="20" name="object 20" descr=""/>
            <p:cNvPicPr/>
            <p:nvPr/>
          </p:nvPicPr>
          <p:blipFill>
            <a:blip r:embed="rId4" cstate="print"/>
            <a:stretch>
              <a:fillRect/>
            </a:stretch>
          </p:blipFill>
          <p:spPr>
            <a:xfrm>
              <a:off x="6915657" y="2176526"/>
              <a:ext cx="5129784" cy="3728840"/>
            </a:xfrm>
            <a:prstGeom prst="rect">
              <a:avLst/>
            </a:prstGeom>
          </p:spPr>
        </p:pic>
        <p:sp>
          <p:nvSpPr>
            <p:cNvPr id="21" name="object 21" descr=""/>
            <p:cNvSpPr/>
            <p:nvPr/>
          </p:nvSpPr>
          <p:spPr>
            <a:xfrm>
              <a:off x="6877050" y="2165413"/>
              <a:ext cx="5207000" cy="3796029"/>
            </a:xfrm>
            <a:custGeom>
              <a:avLst/>
              <a:gdLst/>
              <a:ahLst/>
              <a:cxnLst/>
              <a:rect l="l" t="t" r="r" b="b"/>
              <a:pathLst>
                <a:path w="5207000" h="3796029">
                  <a:moveTo>
                    <a:pt x="0" y="3795649"/>
                  </a:moveTo>
                  <a:lnTo>
                    <a:pt x="5207000" y="3795649"/>
                  </a:lnTo>
                  <a:lnTo>
                    <a:pt x="5207000" y="0"/>
                  </a:lnTo>
                  <a:lnTo>
                    <a:pt x="0" y="0"/>
                  </a:lnTo>
                  <a:lnTo>
                    <a:pt x="0" y="3795649"/>
                  </a:lnTo>
                  <a:close/>
                </a:path>
              </a:pathLst>
            </a:custGeom>
            <a:ln w="22225">
              <a:solidFill>
                <a:srgbClr val="FF0000"/>
              </a:solidFill>
            </a:ln>
          </p:spPr>
          <p:txBody>
            <a:bodyPr wrap="square" lIns="0" tIns="0" rIns="0" bIns="0" rtlCol="0"/>
            <a:lstStyle/>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579623" y="214376"/>
            <a:ext cx="2820670" cy="330835"/>
          </a:xfrm>
          <a:prstGeom prst="rect"/>
        </p:spPr>
        <p:txBody>
          <a:bodyPr wrap="square" lIns="0" tIns="12700" rIns="0" bIns="0" rtlCol="0" vert="horz">
            <a:spAutoFit/>
          </a:bodyPr>
          <a:lstStyle/>
          <a:p>
            <a:pPr marL="12700">
              <a:lnSpc>
                <a:spcPct val="100000"/>
              </a:lnSpc>
              <a:spcBef>
                <a:spcPts val="100"/>
              </a:spcBef>
            </a:pPr>
            <a:r>
              <a:rPr dirty="0" u="none" sz="2000"/>
              <a:t>7.1</a:t>
            </a:r>
            <a:r>
              <a:rPr dirty="0" u="none" sz="2000" spc="-20"/>
              <a:t> 存储系统的层次结构</a:t>
            </a:r>
            <a:endParaRPr sz="2000"/>
          </a:p>
        </p:txBody>
      </p:sp>
      <p:sp>
        <p:nvSpPr>
          <p:cNvPr id="10" name="object 10" descr=""/>
          <p:cNvSpPr txBox="1"/>
          <p:nvPr/>
        </p:nvSpPr>
        <p:spPr>
          <a:xfrm>
            <a:off x="875080" y="822401"/>
            <a:ext cx="9904095" cy="391795"/>
          </a:xfrm>
          <a:prstGeom prst="rect">
            <a:avLst/>
          </a:prstGeom>
        </p:spPr>
        <p:txBody>
          <a:bodyPr wrap="square" lIns="0" tIns="12700" rIns="0" bIns="0" rtlCol="0" vert="horz">
            <a:spAutoFit/>
          </a:bodyPr>
          <a:lstStyle/>
          <a:p>
            <a:pPr marL="494665" indent="-456565">
              <a:lnSpc>
                <a:spcPct val="100000"/>
              </a:lnSpc>
              <a:spcBef>
                <a:spcPts val="100"/>
              </a:spcBef>
              <a:buSzPct val="89583"/>
              <a:buFont typeface="Wingdings"/>
              <a:buChar char=""/>
              <a:tabLst>
                <a:tab pos="494665" algn="l"/>
              </a:tabLst>
            </a:pPr>
            <a:r>
              <a:rPr dirty="0" sz="2400" spc="-10">
                <a:solidFill>
                  <a:srgbClr val="40458B"/>
                </a:solidFill>
                <a:latin typeface="黑体"/>
                <a:cs typeface="黑体"/>
              </a:rPr>
              <a:t>假设第</a:t>
            </a:r>
            <a:r>
              <a:rPr dirty="0" sz="2400">
                <a:solidFill>
                  <a:srgbClr val="9933FF"/>
                </a:solidFill>
                <a:latin typeface="Times New Roman"/>
                <a:cs typeface="Times New Roman"/>
              </a:rPr>
              <a:t>i</a:t>
            </a:r>
            <a:r>
              <a:rPr dirty="0" sz="2400" spc="-10">
                <a:solidFill>
                  <a:srgbClr val="40458B"/>
                </a:solidFill>
                <a:latin typeface="黑体"/>
                <a:cs typeface="黑体"/>
              </a:rPr>
              <a:t>个存储器</a:t>
            </a:r>
            <a:r>
              <a:rPr dirty="0" sz="2400" spc="-25">
                <a:solidFill>
                  <a:srgbClr val="9933FF"/>
                </a:solidFill>
                <a:latin typeface="Times New Roman"/>
                <a:cs typeface="Times New Roman"/>
              </a:rPr>
              <a:t>M</a:t>
            </a:r>
            <a:r>
              <a:rPr dirty="0" baseline="-20833" sz="2400" spc="-37">
                <a:solidFill>
                  <a:srgbClr val="9933FF"/>
                </a:solidFill>
                <a:latin typeface="Times New Roman"/>
                <a:cs typeface="Times New Roman"/>
              </a:rPr>
              <a:t>i</a:t>
            </a:r>
            <a:r>
              <a:rPr dirty="0" sz="2400" spc="-10">
                <a:solidFill>
                  <a:srgbClr val="40458B"/>
                </a:solidFill>
                <a:latin typeface="黑体"/>
                <a:cs typeface="黑体"/>
              </a:rPr>
              <a:t>的访问时间为</a:t>
            </a:r>
            <a:r>
              <a:rPr dirty="0" sz="2400" spc="-10">
                <a:solidFill>
                  <a:srgbClr val="9933FF"/>
                </a:solidFill>
                <a:latin typeface="Times New Roman"/>
                <a:cs typeface="Times New Roman"/>
              </a:rPr>
              <a:t>T</a:t>
            </a:r>
            <a:r>
              <a:rPr dirty="0" baseline="-20833" sz="2400" spc="-15">
                <a:solidFill>
                  <a:srgbClr val="9933FF"/>
                </a:solidFill>
                <a:latin typeface="Times New Roman"/>
                <a:cs typeface="Times New Roman"/>
              </a:rPr>
              <a:t>i</a:t>
            </a:r>
            <a:r>
              <a:rPr dirty="0" sz="2400" spc="-10">
                <a:solidFill>
                  <a:srgbClr val="40458B"/>
                </a:solidFill>
                <a:latin typeface="黑体"/>
                <a:cs typeface="黑体"/>
              </a:rPr>
              <a:t>，容量为</a:t>
            </a:r>
            <a:r>
              <a:rPr dirty="0" sz="2400" spc="-20">
                <a:solidFill>
                  <a:srgbClr val="9933FF"/>
                </a:solidFill>
                <a:latin typeface="Times New Roman"/>
                <a:cs typeface="Times New Roman"/>
              </a:rPr>
              <a:t>S</a:t>
            </a:r>
            <a:r>
              <a:rPr dirty="0" baseline="-20833" sz="2400" spc="-30">
                <a:solidFill>
                  <a:srgbClr val="9933FF"/>
                </a:solidFill>
                <a:latin typeface="Times New Roman"/>
                <a:cs typeface="Times New Roman"/>
              </a:rPr>
              <a:t>i</a:t>
            </a:r>
            <a:r>
              <a:rPr dirty="0" sz="2400" spc="-15">
                <a:solidFill>
                  <a:srgbClr val="40458B"/>
                </a:solidFill>
                <a:latin typeface="黑体"/>
                <a:cs typeface="黑体"/>
              </a:rPr>
              <a:t>，平均每位价格为</a:t>
            </a:r>
            <a:r>
              <a:rPr dirty="0" sz="2400" spc="-10">
                <a:solidFill>
                  <a:srgbClr val="9933FF"/>
                </a:solidFill>
                <a:latin typeface="Times New Roman"/>
                <a:cs typeface="Times New Roman"/>
              </a:rPr>
              <a:t>C</a:t>
            </a:r>
            <a:r>
              <a:rPr dirty="0" baseline="-20833" sz="2400" spc="-15">
                <a:solidFill>
                  <a:srgbClr val="9933FF"/>
                </a:solidFill>
                <a:latin typeface="Times New Roman"/>
                <a:cs typeface="Times New Roman"/>
              </a:rPr>
              <a:t>i</a:t>
            </a:r>
            <a:r>
              <a:rPr dirty="0" sz="2400" spc="-30">
                <a:solidFill>
                  <a:srgbClr val="40458B"/>
                </a:solidFill>
                <a:latin typeface="黑体"/>
                <a:cs typeface="黑体"/>
              </a:rPr>
              <a:t>，则</a:t>
            </a:r>
            <a:endParaRPr sz="2400">
              <a:latin typeface="黑体"/>
              <a:cs typeface="黑体"/>
            </a:endParaRPr>
          </a:p>
        </p:txBody>
      </p:sp>
      <p:sp>
        <p:nvSpPr>
          <p:cNvPr id="11" name="object 11" descr=""/>
          <p:cNvSpPr txBox="1"/>
          <p:nvPr/>
        </p:nvSpPr>
        <p:spPr>
          <a:xfrm>
            <a:off x="1528317" y="1197076"/>
            <a:ext cx="1762760" cy="878840"/>
          </a:xfrm>
          <a:prstGeom prst="rect">
            <a:avLst/>
          </a:prstGeom>
        </p:spPr>
        <p:txBody>
          <a:bodyPr wrap="square" lIns="0" tIns="134620" rIns="0" bIns="0" rtlCol="0" vert="horz">
            <a:spAutoFit/>
          </a:bodyPr>
          <a:lstStyle/>
          <a:p>
            <a:pPr marL="469265" indent="-456565">
              <a:lnSpc>
                <a:spcPct val="100000"/>
              </a:lnSpc>
              <a:spcBef>
                <a:spcPts val="1060"/>
              </a:spcBef>
              <a:buClr>
                <a:srgbClr val="4668F5"/>
              </a:buClr>
              <a:buSzPct val="60000"/>
              <a:buFont typeface="Wingdings"/>
              <a:buChar char=""/>
              <a:tabLst>
                <a:tab pos="469265" algn="l"/>
              </a:tabLst>
            </a:pPr>
            <a:r>
              <a:rPr dirty="0" sz="2000" spc="-20" b="1">
                <a:solidFill>
                  <a:srgbClr val="00AFEF"/>
                </a:solidFill>
                <a:latin typeface="宋体"/>
                <a:cs typeface="宋体"/>
              </a:rPr>
              <a:t>访问时间：</a:t>
            </a:r>
            <a:endParaRPr sz="2000">
              <a:latin typeface="宋体"/>
              <a:cs typeface="宋体"/>
            </a:endParaRPr>
          </a:p>
          <a:p>
            <a:pPr marL="469265" indent="-456565">
              <a:lnSpc>
                <a:spcPct val="100000"/>
              </a:lnSpc>
              <a:spcBef>
                <a:spcPts val="960"/>
              </a:spcBef>
              <a:buClr>
                <a:srgbClr val="4668F5"/>
              </a:buClr>
              <a:buSzPct val="60000"/>
              <a:buFont typeface="Wingdings"/>
              <a:buChar char=""/>
              <a:tabLst>
                <a:tab pos="469265" algn="l"/>
              </a:tabLst>
            </a:pPr>
            <a:r>
              <a:rPr dirty="0" sz="2000" spc="-25" b="1">
                <a:solidFill>
                  <a:srgbClr val="00AFEF"/>
                </a:solidFill>
                <a:latin typeface="宋体"/>
                <a:cs typeface="宋体"/>
              </a:rPr>
              <a:t>容量：</a:t>
            </a:r>
            <a:endParaRPr sz="2000">
              <a:latin typeface="宋体"/>
              <a:cs typeface="宋体"/>
            </a:endParaRPr>
          </a:p>
        </p:txBody>
      </p:sp>
      <p:sp>
        <p:nvSpPr>
          <p:cNvPr id="12" name="object 12" descr=""/>
          <p:cNvSpPr txBox="1"/>
          <p:nvPr/>
        </p:nvSpPr>
        <p:spPr>
          <a:xfrm>
            <a:off x="3492119" y="1197076"/>
            <a:ext cx="1895475" cy="878840"/>
          </a:xfrm>
          <a:prstGeom prst="rect">
            <a:avLst/>
          </a:prstGeom>
        </p:spPr>
        <p:txBody>
          <a:bodyPr wrap="square" lIns="0" tIns="12700" rIns="0" bIns="0" rtlCol="0" vert="horz">
            <a:spAutoFit/>
          </a:bodyPr>
          <a:lstStyle/>
          <a:p>
            <a:pPr marL="98425" marR="30480" indent="-60960">
              <a:lnSpc>
                <a:spcPct val="140000"/>
              </a:lnSpc>
              <a:spcBef>
                <a:spcPts val="100"/>
              </a:spcBef>
            </a:pPr>
            <a:r>
              <a:rPr dirty="0" sz="2000" b="1">
                <a:solidFill>
                  <a:srgbClr val="D50092"/>
                </a:solidFill>
                <a:latin typeface="Times New Roman"/>
                <a:cs typeface="Times New Roman"/>
              </a:rPr>
              <a:t>T</a:t>
            </a:r>
            <a:r>
              <a:rPr dirty="0" baseline="-21367" sz="1950" b="1">
                <a:solidFill>
                  <a:srgbClr val="D50092"/>
                </a:solidFill>
                <a:latin typeface="Times New Roman"/>
                <a:cs typeface="Times New Roman"/>
              </a:rPr>
              <a:t>1</a:t>
            </a:r>
            <a:r>
              <a:rPr dirty="0" baseline="-21367" sz="1950" spc="270" b="1">
                <a:solidFill>
                  <a:srgbClr val="D50092"/>
                </a:solidFill>
                <a:latin typeface="Times New Roman"/>
                <a:cs typeface="Times New Roman"/>
              </a:rPr>
              <a:t> </a:t>
            </a:r>
            <a:r>
              <a:rPr dirty="0" sz="2000" b="1">
                <a:solidFill>
                  <a:srgbClr val="D50092"/>
                </a:solidFill>
                <a:latin typeface="Times New Roman"/>
                <a:cs typeface="Times New Roman"/>
              </a:rPr>
              <a:t>&lt;</a:t>
            </a:r>
            <a:r>
              <a:rPr dirty="0" sz="2000" spc="-15" b="1">
                <a:solidFill>
                  <a:srgbClr val="D50092"/>
                </a:solidFill>
                <a:latin typeface="Times New Roman"/>
                <a:cs typeface="Times New Roman"/>
              </a:rPr>
              <a:t> </a:t>
            </a:r>
            <a:r>
              <a:rPr dirty="0" sz="2000" b="1">
                <a:solidFill>
                  <a:srgbClr val="D50092"/>
                </a:solidFill>
                <a:latin typeface="Times New Roman"/>
                <a:cs typeface="Times New Roman"/>
              </a:rPr>
              <a:t>T</a:t>
            </a:r>
            <a:r>
              <a:rPr dirty="0" baseline="-21367" sz="1950" b="1">
                <a:solidFill>
                  <a:srgbClr val="D50092"/>
                </a:solidFill>
                <a:latin typeface="Times New Roman"/>
                <a:cs typeface="Times New Roman"/>
              </a:rPr>
              <a:t>2</a:t>
            </a:r>
            <a:r>
              <a:rPr dirty="0" baseline="-21367" sz="1950" spc="15" b="1">
                <a:solidFill>
                  <a:srgbClr val="D50092"/>
                </a:solidFill>
                <a:latin typeface="Times New Roman"/>
                <a:cs typeface="Times New Roman"/>
              </a:rPr>
              <a:t> </a:t>
            </a:r>
            <a:r>
              <a:rPr dirty="0" sz="2000" b="1">
                <a:solidFill>
                  <a:srgbClr val="D50092"/>
                </a:solidFill>
                <a:latin typeface="Times New Roman"/>
                <a:cs typeface="Times New Roman"/>
              </a:rPr>
              <a:t>&lt;</a:t>
            </a:r>
            <a:r>
              <a:rPr dirty="0" sz="2000" spc="-15" b="1">
                <a:solidFill>
                  <a:srgbClr val="D50092"/>
                </a:solidFill>
                <a:latin typeface="Times New Roman"/>
                <a:cs typeface="Times New Roman"/>
              </a:rPr>
              <a:t> </a:t>
            </a:r>
            <a:r>
              <a:rPr dirty="0" sz="2000" b="1">
                <a:solidFill>
                  <a:srgbClr val="D50092"/>
                </a:solidFill>
                <a:latin typeface="Times New Roman"/>
                <a:cs typeface="Times New Roman"/>
              </a:rPr>
              <a:t>… &lt;</a:t>
            </a:r>
            <a:r>
              <a:rPr dirty="0" sz="2000" spc="-15" b="1">
                <a:solidFill>
                  <a:srgbClr val="D50092"/>
                </a:solidFill>
                <a:latin typeface="Times New Roman"/>
                <a:cs typeface="Times New Roman"/>
              </a:rPr>
              <a:t> </a:t>
            </a:r>
            <a:r>
              <a:rPr dirty="0" sz="2000" spc="-25" b="1">
                <a:solidFill>
                  <a:srgbClr val="D50092"/>
                </a:solidFill>
                <a:latin typeface="Times New Roman"/>
                <a:cs typeface="Times New Roman"/>
              </a:rPr>
              <a:t>T</a:t>
            </a:r>
            <a:r>
              <a:rPr dirty="0" baseline="-21367" sz="1950" spc="-37" b="1">
                <a:solidFill>
                  <a:srgbClr val="D50092"/>
                </a:solidFill>
                <a:latin typeface="Times New Roman"/>
                <a:cs typeface="Times New Roman"/>
              </a:rPr>
              <a:t>n </a:t>
            </a:r>
            <a:r>
              <a:rPr dirty="0" sz="2000" b="1">
                <a:solidFill>
                  <a:srgbClr val="D50092"/>
                </a:solidFill>
                <a:latin typeface="Times New Roman"/>
                <a:cs typeface="Times New Roman"/>
              </a:rPr>
              <a:t>S</a:t>
            </a:r>
            <a:r>
              <a:rPr dirty="0" baseline="-21367" sz="1950" b="1">
                <a:solidFill>
                  <a:srgbClr val="D50092"/>
                </a:solidFill>
                <a:latin typeface="Times New Roman"/>
                <a:cs typeface="Times New Roman"/>
              </a:rPr>
              <a:t>1</a:t>
            </a:r>
            <a:r>
              <a:rPr dirty="0" baseline="-21367" sz="1950" spc="240" b="1">
                <a:solidFill>
                  <a:srgbClr val="D50092"/>
                </a:solidFill>
                <a:latin typeface="Times New Roman"/>
                <a:cs typeface="Times New Roman"/>
              </a:rPr>
              <a:t> </a:t>
            </a:r>
            <a:r>
              <a:rPr dirty="0" sz="2000" b="1">
                <a:solidFill>
                  <a:srgbClr val="D50092"/>
                </a:solidFill>
                <a:latin typeface="Times New Roman"/>
                <a:cs typeface="Times New Roman"/>
              </a:rPr>
              <a:t>&lt;</a:t>
            </a:r>
            <a:r>
              <a:rPr dirty="0" sz="2000" spc="5" b="1">
                <a:solidFill>
                  <a:srgbClr val="D50092"/>
                </a:solidFill>
                <a:latin typeface="Times New Roman"/>
                <a:cs typeface="Times New Roman"/>
              </a:rPr>
              <a:t> </a:t>
            </a:r>
            <a:r>
              <a:rPr dirty="0" sz="2000" b="1">
                <a:solidFill>
                  <a:srgbClr val="D50092"/>
                </a:solidFill>
                <a:latin typeface="Times New Roman"/>
                <a:cs typeface="Times New Roman"/>
              </a:rPr>
              <a:t>S</a:t>
            </a:r>
            <a:r>
              <a:rPr dirty="0" baseline="-21367" sz="1950" b="1">
                <a:solidFill>
                  <a:srgbClr val="D50092"/>
                </a:solidFill>
                <a:latin typeface="Times New Roman"/>
                <a:cs typeface="Times New Roman"/>
              </a:rPr>
              <a:t>2</a:t>
            </a:r>
            <a:r>
              <a:rPr dirty="0" baseline="-21367" sz="1950" spc="15" b="1">
                <a:solidFill>
                  <a:srgbClr val="D50092"/>
                </a:solidFill>
                <a:latin typeface="Times New Roman"/>
                <a:cs typeface="Times New Roman"/>
              </a:rPr>
              <a:t> </a:t>
            </a:r>
            <a:r>
              <a:rPr dirty="0" sz="2000" b="1">
                <a:solidFill>
                  <a:srgbClr val="D50092"/>
                </a:solidFill>
                <a:latin typeface="Times New Roman"/>
                <a:cs typeface="Times New Roman"/>
              </a:rPr>
              <a:t>&lt;</a:t>
            </a:r>
            <a:r>
              <a:rPr dirty="0" sz="2000" spc="-10" b="1">
                <a:solidFill>
                  <a:srgbClr val="D50092"/>
                </a:solidFill>
                <a:latin typeface="Times New Roman"/>
                <a:cs typeface="Times New Roman"/>
              </a:rPr>
              <a:t> </a:t>
            </a:r>
            <a:r>
              <a:rPr dirty="0" sz="2000" b="1">
                <a:solidFill>
                  <a:srgbClr val="D50092"/>
                </a:solidFill>
                <a:latin typeface="Times New Roman"/>
                <a:cs typeface="Times New Roman"/>
              </a:rPr>
              <a:t>…</a:t>
            </a:r>
            <a:r>
              <a:rPr dirty="0" sz="2000" spc="5" b="1">
                <a:solidFill>
                  <a:srgbClr val="D50092"/>
                </a:solidFill>
                <a:latin typeface="Times New Roman"/>
                <a:cs typeface="Times New Roman"/>
              </a:rPr>
              <a:t> </a:t>
            </a:r>
            <a:r>
              <a:rPr dirty="0" sz="2000" b="1">
                <a:solidFill>
                  <a:srgbClr val="D50092"/>
                </a:solidFill>
                <a:latin typeface="Times New Roman"/>
                <a:cs typeface="Times New Roman"/>
              </a:rPr>
              <a:t>&lt;</a:t>
            </a:r>
            <a:r>
              <a:rPr dirty="0" sz="2000" spc="-5" b="1">
                <a:solidFill>
                  <a:srgbClr val="D50092"/>
                </a:solidFill>
                <a:latin typeface="Times New Roman"/>
                <a:cs typeface="Times New Roman"/>
              </a:rPr>
              <a:t> </a:t>
            </a:r>
            <a:r>
              <a:rPr dirty="0" sz="2000" spc="-25" b="1">
                <a:solidFill>
                  <a:srgbClr val="D50092"/>
                </a:solidFill>
                <a:latin typeface="Times New Roman"/>
                <a:cs typeface="Times New Roman"/>
              </a:rPr>
              <a:t>S</a:t>
            </a:r>
            <a:r>
              <a:rPr dirty="0" baseline="-21367" sz="1950" spc="-37" b="1">
                <a:solidFill>
                  <a:srgbClr val="D50092"/>
                </a:solidFill>
                <a:latin typeface="Times New Roman"/>
                <a:cs typeface="Times New Roman"/>
              </a:rPr>
              <a:t>n</a:t>
            </a:r>
            <a:endParaRPr baseline="-21367" sz="1950">
              <a:latin typeface="Times New Roman"/>
              <a:cs typeface="Times New Roman"/>
            </a:endParaRPr>
          </a:p>
        </p:txBody>
      </p:sp>
      <p:sp>
        <p:nvSpPr>
          <p:cNvPr id="13" name="object 13" descr=""/>
          <p:cNvSpPr txBox="1"/>
          <p:nvPr/>
        </p:nvSpPr>
        <p:spPr>
          <a:xfrm>
            <a:off x="849680" y="2171826"/>
            <a:ext cx="11273155" cy="2136140"/>
          </a:xfrm>
          <a:prstGeom prst="rect">
            <a:avLst/>
          </a:prstGeom>
        </p:spPr>
        <p:txBody>
          <a:bodyPr wrap="square" lIns="0" tIns="13335" rIns="0" bIns="0" rtlCol="0" vert="horz">
            <a:spAutoFit/>
          </a:bodyPr>
          <a:lstStyle/>
          <a:p>
            <a:pPr marL="1148080" indent="-457200">
              <a:lnSpc>
                <a:spcPct val="100000"/>
              </a:lnSpc>
              <a:spcBef>
                <a:spcPts val="105"/>
              </a:spcBef>
              <a:buClr>
                <a:srgbClr val="4668F5"/>
              </a:buClr>
              <a:buSzPct val="60000"/>
              <a:buFont typeface="Wingdings"/>
              <a:buChar char=""/>
              <a:tabLst>
                <a:tab pos="1148080" algn="l"/>
              </a:tabLst>
            </a:pPr>
            <a:r>
              <a:rPr dirty="0" sz="2000" spc="-10" b="1">
                <a:solidFill>
                  <a:srgbClr val="00AFEF"/>
                </a:solidFill>
                <a:latin typeface="宋体"/>
                <a:cs typeface="宋体"/>
              </a:rPr>
              <a:t>平均每位价格：</a:t>
            </a:r>
            <a:r>
              <a:rPr dirty="0" sz="2000" b="1">
                <a:solidFill>
                  <a:srgbClr val="D50092"/>
                </a:solidFill>
                <a:latin typeface="Times New Roman"/>
                <a:cs typeface="Times New Roman"/>
              </a:rPr>
              <a:t>C</a:t>
            </a:r>
            <a:r>
              <a:rPr dirty="0" baseline="-21367" sz="1950" b="1">
                <a:solidFill>
                  <a:srgbClr val="D50092"/>
                </a:solidFill>
                <a:latin typeface="Times New Roman"/>
                <a:cs typeface="Times New Roman"/>
              </a:rPr>
              <a:t>1</a:t>
            </a:r>
            <a:r>
              <a:rPr dirty="0" baseline="-21367" sz="1950" spc="209" b="1">
                <a:solidFill>
                  <a:srgbClr val="D50092"/>
                </a:solidFill>
                <a:latin typeface="Times New Roman"/>
                <a:cs typeface="Times New Roman"/>
              </a:rPr>
              <a:t> </a:t>
            </a:r>
            <a:r>
              <a:rPr dirty="0" sz="2000" spc="-10" b="1">
                <a:solidFill>
                  <a:srgbClr val="D50092"/>
                </a:solidFill>
                <a:latin typeface="Times New Roman"/>
                <a:cs typeface="Times New Roman"/>
              </a:rPr>
              <a:t>&gt; </a:t>
            </a:r>
            <a:r>
              <a:rPr dirty="0" sz="2000" b="1">
                <a:solidFill>
                  <a:srgbClr val="D50092"/>
                </a:solidFill>
                <a:latin typeface="Times New Roman"/>
                <a:cs typeface="Times New Roman"/>
              </a:rPr>
              <a:t>C</a:t>
            </a:r>
            <a:r>
              <a:rPr dirty="0" baseline="-21367" sz="1950" b="1">
                <a:solidFill>
                  <a:srgbClr val="D50092"/>
                </a:solidFill>
                <a:latin typeface="Times New Roman"/>
                <a:cs typeface="Times New Roman"/>
              </a:rPr>
              <a:t>2</a:t>
            </a:r>
            <a:r>
              <a:rPr dirty="0" baseline="-21367" sz="1950" spc="254" b="1">
                <a:solidFill>
                  <a:srgbClr val="D50092"/>
                </a:solidFill>
                <a:latin typeface="Times New Roman"/>
                <a:cs typeface="Times New Roman"/>
              </a:rPr>
              <a:t> </a:t>
            </a:r>
            <a:r>
              <a:rPr dirty="0" sz="2000" spc="-10" b="1">
                <a:solidFill>
                  <a:srgbClr val="D50092"/>
                </a:solidFill>
                <a:latin typeface="Times New Roman"/>
                <a:cs typeface="Times New Roman"/>
              </a:rPr>
              <a:t>&gt; … &gt; </a:t>
            </a:r>
            <a:r>
              <a:rPr dirty="0" sz="2000" spc="-25" b="1">
                <a:solidFill>
                  <a:srgbClr val="D50092"/>
                </a:solidFill>
                <a:latin typeface="Times New Roman"/>
                <a:cs typeface="Times New Roman"/>
              </a:rPr>
              <a:t>C</a:t>
            </a:r>
            <a:r>
              <a:rPr dirty="0" baseline="-21367" sz="1950" spc="-37" b="1">
                <a:solidFill>
                  <a:srgbClr val="D50092"/>
                </a:solidFill>
                <a:latin typeface="Times New Roman"/>
                <a:cs typeface="Times New Roman"/>
              </a:rPr>
              <a:t>n</a:t>
            </a:r>
            <a:endParaRPr baseline="-21367" sz="1950">
              <a:latin typeface="Times New Roman"/>
              <a:cs typeface="Times New Roman"/>
            </a:endParaRPr>
          </a:p>
          <a:p>
            <a:pPr>
              <a:lnSpc>
                <a:spcPct val="100000"/>
              </a:lnSpc>
              <a:spcBef>
                <a:spcPts val="1570"/>
              </a:spcBef>
            </a:pPr>
            <a:endParaRPr sz="2000">
              <a:latin typeface="Times New Roman"/>
              <a:cs typeface="Times New Roman"/>
            </a:endParaRPr>
          </a:p>
          <a:p>
            <a:pPr marL="520065" marR="329565" indent="-457200">
              <a:lnSpc>
                <a:spcPct val="120000"/>
              </a:lnSpc>
              <a:buSzPct val="89583"/>
              <a:buFont typeface="Wingdings"/>
              <a:buChar char=""/>
              <a:tabLst>
                <a:tab pos="520065" algn="l"/>
              </a:tabLst>
            </a:pPr>
            <a:r>
              <a:rPr dirty="0" sz="2400">
                <a:solidFill>
                  <a:srgbClr val="40458B"/>
                </a:solidFill>
                <a:latin typeface="黑体"/>
                <a:cs typeface="黑体"/>
              </a:rPr>
              <a:t>整个存储系统要</a:t>
            </a:r>
            <a:r>
              <a:rPr dirty="0" sz="2400">
                <a:solidFill>
                  <a:srgbClr val="D50092"/>
                </a:solidFill>
                <a:latin typeface="黑体"/>
                <a:cs typeface="黑体"/>
              </a:rPr>
              <a:t>达到的目标</a:t>
            </a:r>
            <a:r>
              <a:rPr dirty="0" sz="2400">
                <a:solidFill>
                  <a:srgbClr val="40458B"/>
                </a:solidFill>
                <a:latin typeface="黑体"/>
                <a:cs typeface="黑体"/>
              </a:rPr>
              <a:t>：从</a:t>
            </a:r>
            <a:r>
              <a:rPr dirty="0" sz="2400" spc="-30">
                <a:solidFill>
                  <a:srgbClr val="40458B"/>
                </a:solidFill>
                <a:latin typeface="Times New Roman"/>
                <a:cs typeface="Times New Roman"/>
              </a:rPr>
              <a:t>CPU</a:t>
            </a:r>
            <a:r>
              <a:rPr dirty="0" sz="2400">
                <a:solidFill>
                  <a:srgbClr val="40458B"/>
                </a:solidFill>
                <a:latin typeface="黑体"/>
                <a:cs typeface="黑体"/>
              </a:rPr>
              <a:t>来看，该存储系统的速度接近于</a:t>
            </a:r>
            <a:r>
              <a:rPr dirty="0" sz="2400" spc="-20">
                <a:solidFill>
                  <a:srgbClr val="9933FF"/>
                </a:solidFill>
                <a:latin typeface="Times New Roman"/>
                <a:cs typeface="Times New Roman"/>
              </a:rPr>
              <a:t>M</a:t>
            </a:r>
            <a:r>
              <a:rPr dirty="0" baseline="-20833" sz="2400" spc="-30">
                <a:solidFill>
                  <a:srgbClr val="9933FF"/>
                </a:solidFill>
                <a:latin typeface="Times New Roman"/>
                <a:cs typeface="Times New Roman"/>
              </a:rPr>
              <a:t>1</a:t>
            </a:r>
            <a:r>
              <a:rPr dirty="0" sz="2400" spc="-20">
                <a:solidFill>
                  <a:srgbClr val="40458B"/>
                </a:solidFill>
                <a:latin typeface="黑体"/>
                <a:cs typeface="黑体"/>
              </a:rPr>
              <a:t>的，而</a:t>
            </a:r>
            <a:r>
              <a:rPr dirty="0" sz="2400" spc="-10">
                <a:solidFill>
                  <a:srgbClr val="40458B"/>
                </a:solidFill>
                <a:latin typeface="黑体"/>
                <a:cs typeface="黑体"/>
              </a:rPr>
              <a:t>容量和每位价格都接近于</a:t>
            </a:r>
            <a:r>
              <a:rPr dirty="0" sz="2400" spc="-20">
                <a:solidFill>
                  <a:srgbClr val="9933FF"/>
                </a:solidFill>
                <a:latin typeface="Times New Roman"/>
                <a:cs typeface="Times New Roman"/>
              </a:rPr>
              <a:t>M</a:t>
            </a:r>
            <a:r>
              <a:rPr dirty="0" baseline="-20833" sz="2400" spc="-30" i="1">
                <a:solidFill>
                  <a:srgbClr val="9933FF"/>
                </a:solidFill>
                <a:latin typeface="Times New Roman"/>
                <a:cs typeface="Times New Roman"/>
              </a:rPr>
              <a:t>n</a:t>
            </a:r>
            <a:r>
              <a:rPr dirty="0" sz="2400" spc="-30">
                <a:solidFill>
                  <a:srgbClr val="40458B"/>
                </a:solidFill>
                <a:latin typeface="黑体"/>
                <a:cs typeface="黑体"/>
              </a:rPr>
              <a:t>的。</a:t>
            </a:r>
            <a:endParaRPr sz="2400">
              <a:latin typeface="黑体"/>
              <a:cs typeface="黑体"/>
            </a:endParaRPr>
          </a:p>
          <a:p>
            <a:pPr lvl="1" marL="1148080" indent="-457200">
              <a:lnSpc>
                <a:spcPct val="100000"/>
              </a:lnSpc>
              <a:spcBef>
                <a:spcPts val="1030"/>
              </a:spcBef>
              <a:buClr>
                <a:srgbClr val="4668F5"/>
              </a:buClr>
              <a:buSzPct val="60000"/>
              <a:buFont typeface="Wingdings"/>
              <a:buChar char=""/>
              <a:tabLst>
                <a:tab pos="1148080" algn="l"/>
              </a:tabLst>
            </a:pPr>
            <a:r>
              <a:rPr dirty="0" sz="2000" spc="-15" b="1">
                <a:solidFill>
                  <a:srgbClr val="00AFEF"/>
                </a:solidFill>
                <a:latin typeface="宋体"/>
                <a:cs typeface="宋体"/>
              </a:rPr>
              <a:t>存储器越靠近</a:t>
            </a:r>
            <a:r>
              <a:rPr dirty="0" sz="2000" spc="-20" b="1">
                <a:solidFill>
                  <a:srgbClr val="00AFEF"/>
                </a:solidFill>
                <a:latin typeface="Times New Roman"/>
                <a:cs typeface="Times New Roman"/>
              </a:rPr>
              <a:t>CPU</a:t>
            </a:r>
            <a:r>
              <a:rPr dirty="0" sz="2000" spc="-15" b="1">
                <a:solidFill>
                  <a:srgbClr val="00AFEF"/>
                </a:solidFill>
                <a:latin typeface="宋体"/>
                <a:cs typeface="宋体"/>
              </a:rPr>
              <a:t>，则</a:t>
            </a:r>
            <a:r>
              <a:rPr dirty="0" sz="2000" spc="-25" b="1">
                <a:solidFill>
                  <a:srgbClr val="00AFEF"/>
                </a:solidFill>
                <a:latin typeface="Times New Roman"/>
                <a:cs typeface="Times New Roman"/>
              </a:rPr>
              <a:t>CPU</a:t>
            </a:r>
            <a:r>
              <a:rPr dirty="0" sz="2000" spc="-20" b="1">
                <a:solidFill>
                  <a:srgbClr val="00AFEF"/>
                </a:solidFill>
                <a:latin typeface="宋体"/>
                <a:cs typeface="宋体"/>
              </a:rPr>
              <a:t>对它的访问频度越高，而且最好大多数的访问都能在</a:t>
            </a:r>
            <a:r>
              <a:rPr dirty="0" sz="2000" b="1">
                <a:solidFill>
                  <a:srgbClr val="00AFEF"/>
                </a:solidFill>
                <a:latin typeface="Times New Roman"/>
                <a:cs typeface="Times New Roman"/>
              </a:rPr>
              <a:t>M</a:t>
            </a:r>
            <a:r>
              <a:rPr dirty="0" baseline="-21367" sz="1950" b="1">
                <a:solidFill>
                  <a:srgbClr val="00AFEF"/>
                </a:solidFill>
                <a:latin typeface="Times New Roman"/>
                <a:cs typeface="Times New Roman"/>
              </a:rPr>
              <a:t>1</a:t>
            </a:r>
            <a:r>
              <a:rPr dirty="0" sz="2000" spc="-30" b="1">
                <a:solidFill>
                  <a:srgbClr val="00AFEF"/>
                </a:solidFill>
                <a:latin typeface="宋体"/>
                <a:cs typeface="宋体"/>
              </a:rPr>
              <a:t>完成。</a:t>
            </a:r>
            <a:endParaRPr sz="2000">
              <a:latin typeface="宋体"/>
              <a:cs typeface="宋体"/>
            </a:endParaRPr>
          </a:p>
        </p:txBody>
      </p:sp>
      <p:pic>
        <p:nvPicPr>
          <p:cNvPr id="14" name="object 14" descr=""/>
          <p:cNvPicPr/>
          <p:nvPr/>
        </p:nvPicPr>
        <p:blipFill>
          <a:blip r:embed="rId3" cstate="print"/>
          <a:stretch>
            <a:fillRect/>
          </a:stretch>
        </p:blipFill>
        <p:spPr>
          <a:xfrm>
            <a:off x="7967598" y="1268475"/>
            <a:ext cx="3357499" cy="17763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233805" y="829183"/>
            <a:ext cx="5765800" cy="391160"/>
          </a:xfrm>
          <a:prstGeom prst="rect">
            <a:avLst/>
          </a:prstGeom>
        </p:spPr>
        <p:txBody>
          <a:bodyPr wrap="square" lIns="0" tIns="12700" rIns="0" bIns="0" rtlCol="0" vert="horz">
            <a:spAutoFit/>
          </a:bodyPr>
          <a:lstStyle/>
          <a:p>
            <a:pPr marL="38100">
              <a:lnSpc>
                <a:spcPct val="100000"/>
              </a:lnSpc>
              <a:spcBef>
                <a:spcPts val="100"/>
              </a:spcBef>
            </a:pPr>
            <a:r>
              <a:rPr dirty="0" sz="2400">
                <a:solidFill>
                  <a:srgbClr val="40458B"/>
                </a:solidFill>
                <a:latin typeface="黑体"/>
                <a:cs typeface="黑体"/>
              </a:rPr>
              <a:t>下面仅考虑由</a:t>
            </a:r>
            <a:r>
              <a:rPr dirty="0" sz="2400" spc="-10">
                <a:solidFill>
                  <a:srgbClr val="40458B"/>
                </a:solidFill>
                <a:latin typeface="黑体"/>
                <a:cs typeface="黑体"/>
              </a:rPr>
              <a:t>M</a:t>
            </a:r>
            <a:r>
              <a:rPr dirty="0" baseline="-20833" sz="2400" spc="-15">
                <a:solidFill>
                  <a:srgbClr val="40458B"/>
                </a:solidFill>
                <a:latin typeface="黑体"/>
                <a:cs typeface="黑体"/>
              </a:rPr>
              <a:t>1</a:t>
            </a:r>
            <a:r>
              <a:rPr dirty="0" sz="2400">
                <a:solidFill>
                  <a:srgbClr val="40458B"/>
                </a:solidFill>
                <a:latin typeface="黑体"/>
                <a:cs typeface="黑体"/>
              </a:rPr>
              <a:t>和</a:t>
            </a:r>
            <a:r>
              <a:rPr dirty="0" sz="2400" spc="-10">
                <a:solidFill>
                  <a:srgbClr val="40458B"/>
                </a:solidFill>
                <a:latin typeface="黑体"/>
                <a:cs typeface="黑体"/>
              </a:rPr>
              <a:t>M</a:t>
            </a:r>
            <a:r>
              <a:rPr dirty="0" baseline="-20833" sz="2400" spc="-15">
                <a:solidFill>
                  <a:srgbClr val="40458B"/>
                </a:solidFill>
                <a:latin typeface="黑体"/>
                <a:cs typeface="黑体"/>
              </a:rPr>
              <a:t>2</a:t>
            </a:r>
            <a:r>
              <a:rPr dirty="0" sz="2400" spc="-15">
                <a:solidFill>
                  <a:srgbClr val="40458B"/>
                </a:solidFill>
                <a:latin typeface="黑体"/>
                <a:cs typeface="黑体"/>
              </a:rPr>
              <a:t>构成的两级存储层次：</a:t>
            </a:r>
            <a:endParaRPr sz="2400">
              <a:latin typeface="黑体"/>
              <a:cs typeface="黑体"/>
            </a:endParaRPr>
          </a:p>
        </p:txBody>
      </p:sp>
      <p:sp>
        <p:nvSpPr>
          <p:cNvPr id="10" name="object 10" descr=""/>
          <p:cNvSpPr txBox="1"/>
          <p:nvPr/>
        </p:nvSpPr>
        <p:spPr>
          <a:xfrm>
            <a:off x="1848992" y="1202528"/>
            <a:ext cx="2967355" cy="880110"/>
          </a:xfrm>
          <a:prstGeom prst="rect">
            <a:avLst/>
          </a:prstGeom>
        </p:spPr>
        <p:txBody>
          <a:bodyPr wrap="square" lIns="0" tIns="135255" rIns="0" bIns="0" rtlCol="0" vert="horz">
            <a:spAutoFit/>
          </a:bodyPr>
          <a:lstStyle/>
          <a:p>
            <a:pPr marL="507365" indent="-456565">
              <a:lnSpc>
                <a:spcPct val="100000"/>
              </a:lnSpc>
              <a:spcBef>
                <a:spcPts val="1065"/>
              </a:spcBef>
              <a:buClr>
                <a:srgbClr val="4668F5"/>
              </a:buClr>
              <a:buSzPct val="60000"/>
              <a:buFont typeface="Wingdings"/>
              <a:buChar char=""/>
              <a:tabLst>
                <a:tab pos="507365" algn="l"/>
              </a:tabLst>
            </a:pPr>
            <a:r>
              <a:rPr dirty="0" sz="2000" b="1">
                <a:latin typeface="宋体"/>
                <a:cs typeface="宋体"/>
              </a:rPr>
              <a:t>M</a:t>
            </a:r>
            <a:r>
              <a:rPr dirty="0" baseline="-21367" sz="1950" b="1">
                <a:latin typeface="宋体"/>
                <a:cs typeface="宋体"/>
              </a:rPr>
              <a:t>1</a:t>
            </a:r>
            <a:r>
              <a:rPr dirty="0" sz="2000" spc="-15" b="1">
                <a:latin typeface="宋体"/>
                <a:cs typeface="宋体"/>
              </a:rPr>
              <a:t>的参数：</a:t>
            </a:r>
            <a:r>
              <a:rPr dirty="0" sz="2000" spc="-10" b="1">
                <a:solidFill>
                  <a:srgbClr val="D50092"/>
                </a:solidFill>
                <a:latin typeface="黑体"/>
                <a:cs typeface="黑体"/>
              </a:rPr>
              <a:t>S</a:t>
            </a:r>
            <a:r>
              <a:rPr dirty="0" baseline="-21367" sz="1950" spc="-15" b="1">
                <a:solidFill>
                  <a:srgbClr val="D50092"/>
                </a:solidFill>
                <a:latin typeface="黑体"/>
                <a:cs typeface="黑体"/>
              </a:rPr>
              <a:t>1</a:t>
            </a:r>
            <a:r>
              <a:rPr dirty="0" sz="2000" spc="-10" b="1">
                <a:solidFill>
                  <a:srgbClr val="D50092"/>
                </a:solidFill>
                <a:latin typeface="宋体"/>
                <a:cs typeface="宋体"/>
              </a:rPr>
              <a:t>，</a:t>
            </a:r>
            <a:r>
              <a:rPr dirty="0" sz="2000" spc="-10" b="1">
                <a:solidFill>
                  <a:srgbClr val="D50092"/>
                </a:solidFill>
                <a:latin typeface="黑体"/>
                <a:cs typeface="黑体"/>
              </a:rPr>
              <a:t>T</a:t>
            </a:r>
            <a:r>
              <a:rPr dirty="0" baseline="-21367" sz="1950" spc="-15" b="1">
                <a:solidFill>
                  <a:srgbClr val="D50092"/>
                </a:solidFill>
                <a:latin typeface="黑体"/>
                <a:cs typeface="黑体"/>
              </a:rPr>
              <a:t>1</a:t>
            </a:r>
            <a:r>
              <a:rPr dirty="0" sz="2000" spc="-10" b="1">
                <a:solidFill>
                  <a:srgbClr val="D50092"/>
                </a:solidFill>
                <a:latin typeface="宋体"/>
                <a:cs typeface="宋体"/>
              </a:rPr>
              <a:t>，</a:t>
            </a:r>
            <a:r>
              <a:rPr dirty="0" sz="2000" spc="-10" b="1">
                <a:solidFill>
                  <a:srgbClr val="D50092"/>
                </a:solidFill>
                <a:latin typeface="黑体"/>
                <a:cs typeface="黑体"/>
              </a:rPr>
              <a:t>C</a:t>
            </a:r>
            <a:r>
              <a:rPr dirty="0" baseline="-21367" sz="1950" spc="-15" b="1">
                <a:solidFill>
                  <a:srgbClr val="D50092"/>
                </a:solidFill>
                <a:latin typeface="黑体"/>
                <a:cs typeface="黑体"/>
              </a:rPr>
              <a:t>1</a:t>
            </a:r>
            <a:endParaRPr baseline="-21367" sz="1950">
              <a:latin typeface="黑体"/>
              <a:cs typeface="黑体"/>
            </a:endParaRPr>
          </a:p>
          <a:p>
            <a:pPr marL="507365" indent="-456565">
              <a:lnSpc>
                <a:spcPct val="100000"/>
              </a:lnSpc>
              <a:spcBef>
                <a:spcPts val="960"/>
              </a:spcBef>
              <a:buClr>
                <a:srgbClr val="4668F5"/>
              </a:buClr>
              <a:buSzPct val="60000"/>
              <a:buFont typeface="Wingdings"/>
              <a:buChar char=""/>
              <a:tabLst>
                <a:tab pos="507365" algn="l"/>
              </a:tabLst>
            </a:pPr>
            <a:r>
              <a:rPr dirty="0" sz="2000" b="1">
                <a:latin typeface="宋体"/>
                <a:cs typeface="宋体"/>
              </a:rPr>
              <a:t>M</a:t>
            </a:r>
            <a:r>
              <a:rPr dirty="0" baseline="-21367" sz="1950" b="1">
                <a:latin typeface="宋体"/>
                <a:cs typeface="宋体"/>
              </a:rPr>
              <a:t>2</a:t>
            </a:r>
            <a:r>
              <a:rPr dirty="0" sz="2000" spc="-10" b="1">
                <a:latin typeface="宋体"/>
                <a:cs typeface="宋体"/>
              </a:rPr>
              <a:t>的参数：</a:t>
            </a:r>
            <a:r>
              <a:rPr dirty="0" sz="2000" spc="-10" b="1">
                <a:solidFill>
                  <a:srgbClr val="D50092"/>
                </a:solidFill>
                <a:latin typeface="黑体"/>
                <a:cs typeface="黑体"/>
              </a:rPr>
              <a:t>S</a:t>
            </a:r>
            <a:r>
              <a:rPr dirty="0" baseline="-21367" sz="1950" spc="-15" b="1">
                <a:solidFill>
                  <a:srgbClr val="D50092"/>
                </a:solidFill>
                <a:latin typeface="黑体"/>
                <a:cs typeface="黑体"/>
              </a:rPr>
              <a:t>2</a:t>
            </a:r>
            <a:r>
              <a:rPr dirty="0" sz="2000" spc="-10" b="1">
                <a:solidFill>
                  <a:srgbClr val="D50092"/>
                </a:solidFill>
                <a:latin typeface="宋体"/>
                <a:cs typeface="宋体"/>
              </a:rPr>
              <a:t>，</a:t>
            </a:r>
            <a:r>
              <a:rPr dirty="0" sz="2000" spc="-10" b="1">
                <a:solidFill>
                  <a:srgbClr val="D50092"/>
                </a:solidFill>
                <a:latin typeface="黑体"/>
                <a:cs typeface="黑体"/>
              </a:rPr>
              <a:t>T</a:t>
            </a:r>
            <a:r>
              <a:rPr dirty="0" baseline="-21367" sz="1950" spc="-15" b="1">
                <a:solidFill>
                  <a:srgbClr val="D50092"/>
                </a:solidFill>
                <a:latin typeface="黑体"/>
                <a:cs typeface="黑体"/>
              </a:rPr>
              <a:t>2</a:t>
            </a:r>
            <a:r>
              <a:rPr dirty="0" sz="2000" spc="-10" b="1">
                <a:solidFill>
                  <a:srgbClr val="D50092"/>
                </a:solidFill>
                <a:latin typeface="宋体"/>
                <a:cs typeface="宋体"/>
              </a:rPr>
              <a:t>，</a:t>
            </a:r>
            <a:r>
              <a:rPr dirty="0" sz="2000" spc="-10" b="1">
                <a:solidFill>
                  <a:srgbClr val="D50092"/>
                </a:solidFill>
                <a:latin typeface="黑体"/>
                <a:cs typeface="黑体"/>
              </a:rPr>
              <a:t>C</a:t>
            </a:r>
            <a:r>
              <a:rPr dirty="0" baseline="-21367" sz="1950" spc="-15" b="1">
                <a:solidFill>
                  <a:srgbClr val="D50092"/>
                </a:solidFill>
                <a:latin typeface="黑体"/>
                <a:cs typeface="黑体"/>
              </a:rPr>
              <a:t>2</a:t>
            </a:r>
            <a:endParaRPr baseline="-21367" sz="1950">
              <a:latin typeface="黑体"/>
              <a:cs typeface="黑体"/>
            </a:endParaRPr>
          </a:p>
        </p:txBody>
      </p:sp>
      <p:sp>
        <p:nvSpPr>
          <p:cNvPr id="11" name="object 11"/>
          <p:cNvSpPr txBox="1">
            <a:spLocks noGrp="1"/>
          </p:cNvSpPr>
          <p:nvPr>
            <p:ph type="title"/>
          </p:nvPr>
        </p:nvSpPr>
        <p:spPr>
          <a:xfrm>
            <a:off x="2861817" y="88772"/>
            <a:ext cx="399161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7.1.2</a:t>
            </a:r>
            <a:r>
              <a:rPr dirty="0" u="none" sz="2600" spc="-10">
                <a:solidFill>
                  <a:srgbClr val="0000CC"/>
                </a:solidFill>
              </a:rPr>
              <a:t> </a:t>
            </a:r>
            <a:r>
              <a:rPr dirty="0" u="none" sz="2600" spc="-10">
                <a:solidFill>
                  <a:srgbClr val="006FC0"/>
                </a:solidFill>
              </a:rPr>
              <a:t>存储层次的性能参数</a:t>
            </a:r>
            <a:endParaRPr sz="2600"/>
          </a:p>
        </p:txBody>
      </p:sp>
      <p:sp>
        <p:nvSpPr>
          <p:cNvPr id="12" name="object 12" descr=""/>
          <p:cNvSpPr txBox="1"/>
          <p:nvPr/>
        </p:nvSpPr>
        <p:spPr>
          <a:xfrm>
            <a:off x="7300594" y="1339291"/>
            <a:ext cx="1289050" cy="645160"/>
          </a:xfrm>
          <a:prstGeom prst="rect">
            <a:avLst/>
          </a:prstGeom>
          <a:solidFill>
            <a:srgbClr val="CCFFFF"/>
          </a:solidFill>
          <a:ln w="19835">
            <a:solidFill>
              <a:srgbClr val="000000"/>
            </a:solidFill>
          </a:ln>
        </p:spPr>
        <p:txBody>
          <a:bodyPr wrap="square" lIns="0" tIns="73025" rIns="0" bIns="0" rtlCol="0" vert="horz">
            <a:spAutoFit/>
          </a:bodyPr>
          <a:lstStyle/>
          <a:p>
            <a:pPr marL="119380" marR="78105" indent="467359">
              <a:lnSpc>
                <a:spcPts val="2030"/>
              </a:lnSpc>
              <a:spcBef>
                <a:spcPts val="575"/>
              </a:spcBef>
            </a:pPr>
            <a:r>
              <a:rPr dirty="0" sz="2000" spc="-25">
                <a:latin typeface="宋体"/>
                <a:cs typeface="宋体"/>
              </a:rPr>
              <a:t>M</a:t>
            </a:r>
            <a:r>
              <a:rPr dirty="0" baseline="-5555" sz="1500" spc="-37">
                <a:latin typeface="宋体"/>
                <a:cs typeface="宋体"/>
              </a:rPr>
              <a:t>1 </a:t>
            </a:r>
            <a:r>
              <a:rPr dirty="0" sz="2000" spc="-10">
                <a:latin typeface="宋体"/>
                <a:cs typeface="宋体"/>
              </a:rPr>
              <a:t>(T</a:t>
            </a:r>
            <a:r>
              <a:rPr dirty="0" baseline="-5555" sz="1500" spc="-15">
                <a:latin typeface="宋体"/>
                <a:cs typeface="宋体"/>
              </a:rPr>
              <a:t>1</a:t>
            </a:r>
            <a:r>
              <a:rPr dirty="0" sz="2000" spc="-10">
                <a:latin typeface="宋体"/>
                <a:cs typeface="宋体"/>
              </a:rPr>
              <a:t>,S</a:t>
            </a:r>
            <a:r>
              <a:rPr dirty="0" baseline="-5555" sz="1500" spc="-15">
                <a:latin typeface="宋体"/>
                <a:cs typeface="宋体"/>
              </a:rPr>
              <a:t>1</a:t>
            </a:r>
            <a:r>
              <a:rPr dirty="0" sz="2000" spc="-10">
                <a:latin typeface="宋体"/>
                <a:cs typeface="宋体"/>
              </a:rPr>
              <a:t>,C</a:t>
            </a:r>
            <a:r>
              <a:rPr dirty="0" baseline="-5555" sz="1500" spc="-15">
                <a:latin typeface="宋体"/>
                <a:cs typeface="宋体"/>
              </a:rPr>
              <a:t>1</a:t>
            </a:r>
            <a:r>
              <a:rPr dirty="0" sz="2000" spc="-10">
                <a:latin typeface="宋体"/>
                <a:cs typeface="宋体"/>
              </a:rPr>
              <a:t>)</a:t>
            </a:r>
            <a:endParaRPr sz="2000">
              <a:latin typeface="宋体"/>
              <a:cs typeface="宋体"/>
            </a:endParaRPr>
          </a:p>
        </p:txBody>
      </p:sp>
      <p:sp>
        <p:nvSpPr>
          <p:cNvPr id="13" name="object 13" descr=""/>
          <p:cNvSpPr txBox="1"/>
          <p:nvPr/>
        </p:nvSpPr>
        <p:spPr>
          <a:xfrm>
            <a:off x="9390870" y="1206686"/>
            <a:ext cx="1302385" cy="864235"/>
          </a:xfrm>
          <a:prstGeom prst="rect">
            <a:avLst/>
          </a:prstGeom>
          <a:solidFill>
            <a:srgbClr val="00FFFF"/>
          </a:solidFill>
          <a:ln w="19854">
            <a:solidFill>
              <a:srgbClr val="000000"/>
            </a:solidFill>
          </a:ln>
        </p:spPr>
        <p:txBody>
          <a:bodyPr wrap="square" lIns="0" tIns="70485" rIns="0" bIns="0" rtlCol="0" vert="horz">
            <a:spAutoFit/>
          </a:bodyPr>
          <a:lstStyle/>
          <a:p>
            <a:pPr marL="100330" marR="111760" indent="500380">
              <a:lnSpc>
                <a:spcPct val="113300"/>
              </a:lnSpc>
              <a:spcBef>
                <a:spcPts val="555"/>
              </a:spcBef>
            </a:pPr>
            <a:r>
              <a:rPr dirty="0" sz="2000" spc="-25">
                <a:latin typeface="宋体"/>
                <a:cs typeface="宋体"/>
              </a:rPr>
              <a:t>M</a:t>
            </a:r>
            <a:r>
              <a:rPr dirty="0" baseline="-5555" sz="1500" spc="-37">
                <a:latin typeface="宋体"/>
                <a:cs typeface="宋体"/>
              </a:rPr>
              <a:t>2 </a:t>
            </a:r>
            <a:r>
              <a:rPr dirty="0" sz="2000" spc="-10">
                <a:latin typeface="宋体"/>
                <a:cs typeface="宋体"/>
              </a:rPr>
              <a:t>(T</a:t>
            </a:r>
            <a:r>
              <a:rPr dirty="0" baseline="-5555" sz="1500" spc="-15">
                <a:latin typeface="宋体"/>
                <a:cs typeface="宋体"/>
              </a:rPr>
              <a:t>2</a:t>
            </a:r>
            <a:r>
              <a:rPr dirty="0" sz="2000" spc="-10">
                <a:latin typeface="宋体"/>
                <a:cs typeface="宋体"/>
              </a:rPr>
              <a:t>,S</a:t>
            </a:r>
            <a:r>
              <a:rPr dirty="0" baseline="-5555" sz="1500" spc="-15">
                <a:latin typeface="宋体"/>
                <a:cs typeface="宋体"/>
              </a:rPr>
              <a:t>2</a:t>
            </a:r>
            <a:r>
              <a:rPr dirty="0" sz="2000" spc="-10">
                <a:latin typeface="宋体"/>
                <a:cs typeface="宋体"/>
              </a:rPr>
              <a:t>,C</a:t>
            </a:r>
            <a:r>
              <a:rPr dirty="0" baseline="-5555" sz="1500" spc="-15">
                <a:latin typeface="宋体"/>
                <a:cs typeface="宋体"/>
              </a:rPr>
              <a:t>2</a:t>
            </a:r>
            <a:r>
              <a:rPr dirty="0" sz="2000" spc="-10">
                <a:latin typeface="宋体"/>
                <a:cs typeface="宋体"/>
              </a:rPr>
              <a:t>)</a:t>
            </a:r>
            <a:endParaRPr sz="2000">
              <a:latin typeface="宋体"/>
              <a:cs typeface="宋体"/>
            </a:endParaRPr>
          </a:p>
        </p:txBody>
      </p:sp>
      <p:grpSp>
        <p:nvGrpSpPr>
          <p:cNvPr id="14" name="object 14" descr=""/>
          <p:cNvGrpSpPr/>
          <p:nvPr/>
        </p:nvGrpSpPr>
        <p:grpSpPr>
          <a:xfrm>
            <a:off x="8589906" y="1586139"/>
            <a:ext cx="795655" cy="113030"/>
            <a:chOff x="8589906" y="1586139"/>
            <a:chExt cx="795655" cy="113030"/>
          </a:xfrm>
        </p:grpSpPr>
        <p:sp>
          <p:nvSpPr>
            <p:cNvPr id="15" name="object 15" descr=""/>
            <p:cNvSpPr/>
            <p:nvPr/>
          </p:nvSpPr>
          <p:spPr>
            <a:xfrm>
              <a:off x="8593329" y="1589561"/>
              <a:ext cx="788670" cy="106680"/>
            </a:xfrm>
            <a:custGeom>
              <a:avLst/>
              <a:gdLst/>
              <a:ahLst/>
              <a:cxnLst/>
              <a:rect l="l" t="t" r="r" b="b"/>
              <a:pathLst>
                <a:path w="788670" h="106680">
                  <a:moveTo>
                    <a:pt x="167354" y="0"/>
                  </a:moveTo>
                  <a:lnTo>
                    <a:pt x="0" y="53034"/>
                  </a:lnTo>
                  <a:lnTo>
                    <a:pt x="167354" y="106096"/>
                  </a:lnTo>
                  <a:lnTo>
                    <a:pt x="122034" y="65962"/>
                  </a:lnTo>
                  <a:lnTo>
                    <a:pt x="100540" y="65962"/>
                  </a:lnTo>
                  <a:lnTo>
                    <a:pt x="100540" y="59842"/>
                  </a:lnTo>
                  <a:lnTo>
                    <a:pt x="93672" y="53034"/>
                  </a:lnTo>
                  <a:lnTo>
                    <a:pt x="107436" y="39445"/>
                  </a:lnTo>
                  <a:lnTo>
                    <a:pt x="122789" y="39445"/>
                  </a:lnTo>
                  <a:lnTo>
                    <a:pt x="167354" y="0"/>
                  </a:lnTo>
                  <a:close/>
                </a:path>
                <a:path w="788670" h="106680">
                  <a:moveTo>
                    <a:pt x="621233" y="0"/>
                  </a:moveTo>
                  <a:lnTo>
                    <a:pt x="674951" y="53034"/>
                  </a:lnTo>
                  <a:lnTo>
                    <a:pt x="621233" y="106096"/>
                  </a:lnTo>
                  <a:lnTo>
                    <a:pt x="747814" y="65962"/>
                  </a:lnTo>
                  <a:lnTo>
                    <a:pt x="688047" y="65962"/>
                  </a:lnTo>
                  <a:lnTo>
                    <a:pt x="688047" y="46253"/>
                  </a:lnTo>
                  <a:lnTo>
                    <a:pt x="681846" y="39445"/>
                  </a:lnTo>
                  <a:lnTo>
                    <a:pt x="745705" y="39445"/>
                  </a:lnTo>
                  <a:lnTo>
                    <a:pt x="621233" y="0"/>
                  </a:lnTo>
                  <a:close/>
                </a:path>
                <a:path w="788670" h="106680">
                  <a:moveTo>
                    <a:pt x="122789" y="39445"/>
                  </a:moveTo>
                  <a:lnTo>
                    <a:pt x="107436" y="39445"/>
                  </a:lnTo>
                  <a:lnTo>
                    <a:pt x="93672" y="53034"/>
                  </a:lnTo>
                  <a:lnTo>
                    <a:pt x="100540" y="59842"/>
                  </a:lnTo>
                  <a:lnTo>
                    <a:pt x="100540" y="65962"/>
                  </a:lnTo>
                  <a:lnTo>
                    <a:pt x="122034" y="65962"/>
                  </a:lnTo>
                  <a:lnTo>
                    <a:pt x="107436" y="53034"/>
                  </a:lnTo>
                  <a:lnTo>
                    <a:pt x="122789" y="39445"/>
                  </a:lnTo>
                  <a:close/>
                </a:path>
                <a:path w="788670" h="106680">
                  <a:moveTo>
                    <a:pt x="661186" y="39445"/>
                  </a:moveTo>
                  <a:lnTo>
                    <a:pt x="122789" y="39445"/>
                  </a:lnTo>
                  <a:lnTo>
                    <a:pt x="107436" y="53034"/>
                  </a:lnTo>
                  <a:lnTo>
                    <a:pt x="122034" y="65962"/>
                  </a:lnTo>
                  <a:lnTo>
                    <a:pt x="661863" y="65962"/>
                  </a:lnTo>
                  <a:lnTo>
                    <a:pt x="674951" y="53034"/>
                  </a:lnTo>
                  <a:lnTo>
                    <a:pt x="661186" y="39445"/>
                  </a:lnTo>
                  <a:close/>
                </a:path>
                <a:path w="788670" h="106680">
                  <a:moveTo>
                    <a:pt x="745705" y="39445"/>
                  </a:moveTo>
                  <a:lnTo>
                    <a:pt x="681846" y="39445"/>
                  </a:lnTo>
                  <a:lnTo>
                    <a:pt x="688047" y="46253"/>
                  </a:lnTo>
                  <a:lnTo>
                    <a:pt x="688047" y="65962"/>
                  </a:lnTo>
                  <a:lnTo>
                    <a:pt x="747814" y="65962"/>
                  </a:lnTo>
                  <a:lnTo>
                    <a:pt x="788588" y="53034"/>
                  </a:lnTo>
                  <a:lnTo>
                    <a:pt x="745705" y="39445"/>
                  </a:lnTo>
                  <a:close/>
                </a:path>
              </a:pathLst>
            </a:custGeom>
            <a:solidFill>
              <a:srgbClr val="000000"/>
            </a:solidFill>
          </p:spPr>
          <p:txBody>
            <a:bodyPr wrap="square" lIns="0" tIns="0" rIns="0" bIns="0" rtlCol="0"/>
            <a:lstStyle/>
            <a:p/>
          </p:txBody>
        </p:sp>
        <p:sp>
          <p:nvSpPr>
            <p:cNvPr id="16" name="object 16" descr=""/>
            <p:cNvSpPr/>
            <p:nvPr/>
          </p:nvSpPr>
          <p:spPr>
            <a:xfrm>
              <a:off x="8593329" y="1589561"/>
              <a:ext cx="788670" cy="106680"/>
            </a:xfrm>
            <a:custGeom>
              <a:avLst/>
              <a:gdLst/>
              <a:ahLst/>
              <a:cxnLst/>
              <a:rect l="l" t="t" r="r" b="b"/>
              <a:pathLst>
                <a:path w="788670" h="106680">
                  <a:moveTo>
                    <a:pt x="107436" y="39445"/>
                  </a:moveTo>
                  <a:lnTo>
                    <a:pt x="674951" y="39445"/>
                  </a:lnTo>
                  <a:lnTo>
                    <a:pt x="681846" y="39445"/>
                  </a:lnTo>
                  <a:lnTo>
                    <a:pt x="688047" y="46253"/>
                  </a:lnTo>
                  <a:lnTo>
                    <a:pt x="688047" y="53034"/>
                  </a:lnTo>
                  <a:lnTo>
                    <a:pt x="688047" y="59842"/>
                  </a:lnTo>
                  <a:lnTo>
                    <a:pt x="688047" y="65962"/>
                  </a:lnTo>
                  <a:lnTo>
                    <a:pt x="681846" y="65962"/>
                  </a:lnTo>
                  <a:lnTo>
                    <a:pt x="674951" y="65962"/>
                  </a:lnTo>
                  <a:lnTo>
                    <a:pt x="107436" y="65962"/>
                  </a:lnTo>
                  <a:lnTo>
                    <a:pt x="100540" y="65962"/>
                  </a:lnTo>
                  <a:lnTo>
                    <a:pt x="100540" y="59842"/>
                  </a:lnTo>
                  <a:lnTo>
                    <a:pt x="93672" y="53034"/>
                  </a:lnTo>
                  <a:lnTo>
                    <a:pt x="100540" y="46253"/>
                  </a:lnTo>
                  <a:lnTo>
                    <a:pt x="107436" y="39445"/>
                  </a:lnTo>
                  <a:close/>
                </a:path>
                <a:path w="788670" h="106680">
                  <a:moveTo>
                    <a:pt x="107436" y="53034"/>
                  </a:moveTo>
                  <a:lnTo>
                    <a:pt x="167354" y="106096"/>
                  </a:lnTo>
                  <a:lnTo>
                    <a:pt x="0" y="53034"/>
                  </a:lnTo>
                  <a:lnTo>
                    <a:pt x="167354" y="0"/>
                  </a:lnTo>
                  <a:lnTo>
                    <a:pt x="107436" y="53034"/>
                  </a:lnTo>
                  <a:close/>
                </a:path>
                <a:path w="788670" h="106680">
                  <a:moveTo>
                    <a:pt x="674951" y="53034"/>
                  </a:moveTo>
                  <a:lnTo>
                    <a:pt x="621233" y="0"/>
                  </a:lnTo>
                  <a:lnTo>
                    <a:pt x="788588" y="53034"/>
                  </a:lnTo>
                  <a:lnTo>
                    <a:pt x="621233" y="106096"/>
                  </a:lnTo>
                  <a:lnTo>
                    <a:pt x="674951" y="53034"/>
                  </a:lnTo>
                  <a:close/>
                </a:path>
              </a:pathLst>
            </a:custGeom>
            <a:ln w="6857">
              <a:solidFill>
                <a:srgbClr val="000000"/>
              </a:solidFill>
            </a:ln>
          </p:spPr>
          <p:txBody>
            <a:bodyPr wrap="square" lIns="0" tIns="0" rIns="0" bIns="0" rtlCol="0"/>
            <a:lstStyle/>
            <a:p/>
          </p:txBody>
        </p:sp>
      </p:grpSp>
      <p:sp>
        <p:nvSpPr>
          <p:cNvPr id="17" name="object 17" descr=""/>
          <p:cNvSpPr/>
          <p:nvPr/>
        </p:nvSpPr>
        <p:spPr>
          <a:xfrm>
            <a:off x="3068540" y="4699301"/>
            <a:ext cx="1596390" cy="0"/>
          </a:xfrm>
          <a:custGeom>
            <a:avLst/>
            <a:gdLst/>
            <a:ahLst/>
            <a:cxnLst/>
            <a:rect l="l" t="t" r="r" b="b"/>
            <a:pathLst>
              <a:path w="1596389" h="0">
                <a:moveTo>
                  <a:pt x="0" y="0"/>
                </a:moveTo>
                <a:lnTo>
                  <a:pt x="1596370" y="0"/>
                </a:lnTo>
              </a:path>
            </a:pathLst>
          </a:custGeom>
          <a:ln w="15089">
            <a:solidFill>
              <a:srgbClr val="000000"/>
            </a:solidFill>
          </a:ln>
        </p:spPr>
        <p:txBody>
          <a:bodyPr wrap="square" lIns="0" tIns="0" rIns="0" bIns="0" rtlCol="0"/>
          <a:lstStyle/>
          <a:p/>
        </p:txBody>
      </p:sp>
      <p:sp>
        <p:nvSpPr>
          <p:cNvPr id="18" name="object 18" descr=""/>
          <p:cNvSpPr txBox="1"/>
          <p:nvPr/>
        </p:nvSpPr>
        <p:spPr>
          <a:xfrm>
            <a:off x="1129690" y="2332736"/>
            <a:ext cx="10799445" cy="3533775"/>
          </a:xfrm>
          <a:prstGeom prst="rect">
            <a:avLst/>
          </a:prstGeom>
        </p:spPr>
        <p:txBody>
          <a:bodyPr wrap="square" lIns="0" tIns="158750" rIns="0" bIns="0" rtlCol="0" vert="horz">
            <a:spAutoFit/>
          </a:bodyPr>
          <a:lstStyle/>
          <a:p>
            <a:pPr marL="546100" indent="-457200">
              <a:lnSpc>
                <a:spcPct val="100000"/>
              </a:lnSpc>
              <a:spcBef>
                <a:spcPts val="1250"/>
              </a:spcBef>
              <a:buClr>
                <a:srgbClr val="40458B"/>
              </a:buClr>
              <a:buFont typeface="Times New Roman"/>
              <a:buAutoNum type="arabicPeriod"/>
              <a:tabLst>
                <a:tab pos="546100" algn="l"/>
              </a:tabLst>
            </a:pPr>
            <a:r>
              <a:rPr dirty="0" sz="2400">
                <a:solidFill>
                  <a:srgbClr val="E14B04"/>
                </a:solidFill>
                <a:latin typeface="黑体"/>
                <a:cs typeface="黑体"/>
              </a:rPr>
              <a:t>存储容量</a:t>
            </a:r>
            <a:r>
              <a:rPr dirty="0" sz="2400" spc="-50">
                <a:solidFill>
                  <a:srgbClr val="E14B04"/>
                </a:solidFill>
                <a:latin typeface="Times New Roman"/>
                <a:cs typeface="Times New Roman"/>
              </a:rPr>
              <a:t>S</a:t>
            </a:r>
            <a:endParaRPr sz="2400">
              <a:latin typeface="Times New Roman"/>
              <a:cs typeface="Times New Roman"/>
            </a:endParaRPr>
          </a:p>
          <a:p>
            <a:pPr lvl="1" marL="1175385" indent="-457200">
              <a:lnSpc>
                <a:spcPct val="100000"/>
              </a:lnSpc>
              <a:spcBef>
                <a:spcPts val="1150"/>
              </a:spcBef>
              <a:buSzPct val="89583"/>
              <a:buFont typeface="Wingdings"/>
              <a:buChar char=""/>
              <a:tabLst>
                <a:tab pos="1175385" algn="l"/>
              </a:tabLst>
            </a:pPr>
            <a:r>
              <a:rPr dirty="0" sz="2400">
                <a:solidFill>
                  <a:srgbClr val="40458B"/>
                </a:solidFill>
                <a:latin typeface="黑体"/>
                <a:cs typeface="黑体"/>
              </a:rPr>
              <a:t>一般来说，整个存储系统的容量即是第二级存储器</a:t>
            </a:r>
            <a:r>
              <a:rPr dirty="0" sz="2400" spc="-20">
                <a:solidFill>
                  <a:srgbClr val="40458B"/>
                </a:solidFill>
                <a:latin typeface="Times New Roman"/>
                <a:cs typeface="Times New Roman"/>
              </a:rPr>
              <a:t>M</a:t>
            </a:r>
            <a:r>
              <a:rPr dirty="0" baseline="-20833" sz="2400" spc="-30">
                <a:solidFill>
                  <a:srgbClr val="40458B"/>
                </a:solidFill>
                <a:latin typeface="Times New Roman"/>
                <a:cs typeface="Times New Roman"/>
              </a:rPr>
              <a:t>2</a:t>
            </a:r>
            <a:r>
              <a:rPr dirty="0" sz="2400">
                <a:solidFill>
                  <a:srgbClr val="40458B"/>
                </a:solidFill>
                <a:latin typeface="黑体"/>
                <a:cs typeface="黑体"/>
              </a:rPr>
              <a:t>的容量，即</a:t>
            </a:r>
            <a:r>
              <a:rPr dirty="0" sz="2400" spc="-20">
                <a:solidFill>
                  <a:srgbClr val="9933FF"/>
                </a:solidFill>
                <a:latin typeface="Times New Roman"/>
                <a:cs typeface="Times New Roman"/>
              </a:rPr>
              <a:t>S=S</a:t>
            </a:r>
            <a:r>
              <a:rPr dirty="0" baseline="-20833" sz="2400" spc="-30">
                <a:solidFill>
                  <a:srgbClr val="9933FF"/>
                </a:solidFill>
                <a:latin typeface="Times New Roman"/>
                <a:cs typeface="Times New Roman"/>
              </a:rPr>
              <a:t>2</a:t>
            </a:r>
            <a:r>
              <a:rPr dirty="0" sz="2400" spc="-50">
                <a:solidFill>
                  <a:srgbClr val="40458B"/>
                </a:solidFill>
                <a:latin typeface="黑体"/>
                <a:cs typeface="黑体"/>
              </a:rPr>
              <a:t>。</a:t>
            </a:r>
            <a:endParaRPr sz="2400">
              <a:latin typeface="黑体"/>
              <a:cs typeface="黑体"/>
            </a:endParaRPr>
          </a:p>
          <a:p>
            <a:pPr marL="546100" indent="-457200">
              <a:lnSpc>
                <a:spcPct val="100000"/>
              </a:lnSpc>
              <a:spcBef>
                <a:spcPts val="1155"/>
              </a:spcBef>
              <a:buClr>
                <a:srgbClr val="40458B"/>
              </a:buClr>
              <a:buAutoNum type="arabicPeriod"/>
              <a:tabLst>
                <a:tab pos="546100" algn="l"/>
              </a:tabLst>
            </a:pPr>
            <a:r>
              <a:rPr dirty="0" sz="2400">
                <a:solidFill>
                  <a:srgbClr val="C00000"/>
                </a:solidFill>
                <a:latin typeface="黑体"/>
                <a:cs typeface="黑体"/>
              </a:rPr>
              <a:t>存储系统的平均每位价格</a:t>
            </a:r>
            <a:r>
              <a:rPr dirty="0" sz="2400" spc="-50">
                <a:solidFill>
                  <a:srgbClr val="C00000"/>
                </a:solidFill>
                <a:latin typeface="黑体"/>
                <a:cs typeface="黑体"/>
              </a:rPr>
              <a:t>C</a:t>
            </a:r>
            <a:endParaRPr sz="2400">
              <a:latin typeface="黑体"/>
              <a:cs typeface="黑体"/>
            </a:endParaRPr>
          </a:p>
          <a:p>
            <a:pPr marL="1411605">
              <a:lnSpc>
                <a:spcPct val="100000"/>
              </a:lnSpc>
              <a:spcBef>
                <a:spcPts val="2985"/>
              </a:spcBef>
            </a:pPr>
            <a:r>
              <a:rPr dirty="0" baseline="-38194" sz="3600" spc="-67" i="1">
                <a:latin typeface="Times New Roman"/>
                <a:cs typeface="Times New Roman"/>
              </a:rPr>
              <a:t>C</a:t>
            </a:r>
            <a:r>
              <a:rPr dirty="0" baseline="-38194" sz="3600" spc="-67">
                <a:latin typeface="宋体"/>
                <a:cs typeface="宋体"/>
              </a:rPr>
              <a:t>＝</a:t>
            </a:r>
            <a:r>
              <a:rPr dirty="0" baseline="-38194" sz="3600" spc="-1312">
                <a:latin typeface="宋体"/>
                <a:cs typeface="宋体"/>
              </a:rPr>
              <a:t> </a:t>
            </a:r>
            <a:r>
              <a:rPr dirty="0" sz="2400" spc="-30" i="1">
                <a:latin typeface="Times New Roman"/>
                <a:cs typeface="Times New Roman"/>
              </a:rPr>
              <a:t>C</a:t>
            </a:r>
            <a:r>
              <a:rPr dirty="0" baseline="-20202" sz="2475" spc="-44">
                <a:latin typeface="Times New Roman"/>
                <a:cs typeface="Times New Roman"/>
              </a:rPr>
              <a:t>1</a:t>
            </a:r>
            <a:r>
              <a:rPr dirty="0" baseline="-20202" sz="2475" spc="-382">
                <a:latin typeface="Times New Roman"/>
                <a:cs typeface="Times New Roman"/>
              </a:rPr>
              <a:t> </a:t>
            </a:r>
            <a:r>
              <a:rPr dirty="0" sz="2400" spc="-10" i="1">
                <a:latin typeface="Times New Roman"/>
                <a:cs typeface="Times New Roman"/>
              </a:rPr>
              <a:t>S</a:t>
            </a:r>
            <a:r>
              <a:rPr dirty="0" baseline="-20202" sz="2475" spc="-15">
                <a:latin typeface="Times New Roman"/>
                <a:cs typeface="Times New Roman"/>
              </a:rPr>
              <a:t>1</a:t>
            </a:r>
            <a:r>
              <a:rPr dirty="0" sz="2400" spc="-10">
                <a:latin typeface="宋体"/>
                <a:cs typeface="宋体"/>
              </a:rPr>
              <a:t>＋</a:t>
            </a:r>
            <a:r>
              <a:rPr dirty="0" sz="2400" spc="-10" i="1">
                <a:latin typeface="Times New Roman"/>
                <a:cs typeface="Times New Roman"/>
              </a:rPr>
              <a:t>C</a:t>
            </a:r>
            <a:r>
              <a:rPr dirty="0" baseline="-20202" sz="2475" spc="-15">
                <a:latin typeface="Times New Roman"/>
                <a:cs typeface="Times New Roman"/>
              </a:rPr>
              <a:t>2</a:t>
            </a:r>
            <a:r>
              <a:rPr dirty="0" baseline="-20202" sz="2475" spc="-195">
                <a:latin typeface="Times New Roman"/>
                <a:cs typeface="Times New Roman"/>
              </a:rPr>
              <a:t> </a:t>
            </a:r>
            <a:r>
              <a:rPr dirty="0" sz="2400" spc="-30" i="1">
                <a:latin typeface="Times New Roman"/>
                <a:cs typeface="Times New Roman"/>
              </a:rPr>
              <a:t>S</a:t>
            </a:r>
            <a:r>
              <a:rPr dirty="0" sz="2400" spc="-350" i="1">
                <a:latin typeface="Times New Roman"/>
                <a:cs typeface="Times New Roman"/>
              </a:rPr>
              <a:t> </a:t>
            </a:r>
            <a:r>
              <a:rPr dirty="0" baseline="-20202" sz="2475" spc="-75">
                <a:latin typeface="Times New Roman"/>
                <a:cs typeface="Times New Roman"/>
              </a:rPr>
              <a:t>2</a:t>
            </a:r>
            <a:endParaRPr baseline="-20202" sz="2475">
              <a:latin typeface="Times New Roman"/>
              <a:cs typeface="Times New Roman"/>
            </a:endParaRPr>
          </a:p>
          <a:p>
            <a:pPr marL="2304415">
              <a:lnSpc>
                <a:spcPct val="100000"/>
              </a:lnSpc>
              <a:spcBef>
                <a:spcPts val="670"/>
              </a:spcBef>
            </a:pPr>
            <a:r>
              <a:rPr dirty="0" sz="2400" spc="-60" i="1">
                <a:latin typeface="Times New Roman"/>
                <a:cs typeface="Times New Roman"/>
              </a:rPr>
              <a:t>S</a:t>
            </a:r>
            <a:r>
              <a:rPr dirty="0" baseline="-20202" sz="2475" spc="-89">
                <a:latin typeface="Times New Roman"/>
                <a:cs typeface="Times New Roman"/>
              </a:rPr>
              <a:t>1</a:t>
            </a:r>
            <a:r>
              <a:rPr dirty="0" sz="2400" spc="-60">
                <a:latin typeface="宋体"/>
                <a:cs typeface="宋体"/>
              </a:rPr>
              <a:t>＋</a:t>
            </a:r>
            <a:r>
              <a:rPr dirty="0" sz="2400" spc="-60" i="1">
                <a:latin typeface="Times New Roman"/>
                <a:cs typeface="Times New Roman"/>
              </a:rPr>
              <a:t>S</a:t>
            </a:r>
            <a:r>
              <a:rPr dirty="0" sz="2400" spc="-330" i="1">
                <a:latin typeface="Times New Roman"/>
                <a:cs typeface="Times New Roman"/>
              </a:rPr>
              <a:t> </a:t>
            </a:r>
            <a:r>
              <a:rPr dirty="0" baseline="-20202" sz="2475" spc="-75">
                <a:latin typeface="Times New Roman"/>
                <a:cs typeface="Times New Roman"/>
              </a:rPr>
              <a:t>2</a:t>
            </a:r>
            <a:endParaRPr baseline="-20202" sz="2475">
              <a:latin typeface="Times New Roman"/>
              <a:cs typeface="Times New Roman"/>
            </a:endParaRPr>
          </a:p>
          <a:p>
            <a:pPr>
              <a:lnSpc>
                <a:spcPct val="100000"/>
              </a:lnSpc>
              <a:spcBef>
                <a:spcPts val="950"/>
              </a:spcBef>
            </a:pPr>
            <a:endParaRPr sz="2400">
              <a:latin typeface="Times New Roman"/>
              <a:cs typeface="Times New Roman"/>
            </a:endParaRPr>
          </a:p>
          <a:p>
            <a:pPr marL="1346200">
              <a:lnSpc>
                <a:spcPct val="100000"/>
              </a:lnSpc>
            </a:pPr>
            <a:r>
              <a:rPr dirty="0" sz="2000" spc="-10" b="1">
                <a:latin typeface="宋体"/>
                <a:cs typeface="宋体"/>
              </a:rPr>
              <a:t>当</a:t>
            </a:r>
            <a:r>
              <a:rPr dirty="0" sz="2000" b="1" i="1">
                <a:latin typeface="Times New Roman"/>
                <a:cs typeface="Times New Roman"/>
              </a:rPr>
              <a:t>S</a:t>
            </a:r>
            <a:r>
              <a:rPr dirty="0" baseline="-21367" sz="1950" b="1">
                <a:latin typeface="Times New Roman"/>
                <a:cs typeface="Times New Roman"/>
              </a:rPr>
              <a:t>1</a:t>
            </a:r>
            <a:r>
              <a:rPr dirty="0" sz="2000" b="1">
                <a:latin typeface="Times New Roman"/>
                <a:cs typeface="Times New Roman"/>
              </a:rPr>
              <a:t>&lt;&lt;</a:t>
            </a:r>
            <a:r>
              <a:rPr dirty="0" sz="2000" b="1" i="1">
                <a:latin typeface="Times New Roman"/>
                <a:cs typeface="Times New Roman"/>
              </a:rPr>
              <a:t>S</a:t>
            </a:r>
            <a:r>
              <a:rPr dirty="0" baseline="-21367" sz="1950" b="1">
                <a:latin typeface="Times New Roman"/>
                <a:cs typeface="Times New Roman"/>
              </a:rPr>
              <a:t>2</a:t>
            </a:r>
            <a:r>
              <a:rPr dirty="0" sz="2000" spc="-20" b="1">
                <a:latin typeface="宋体"/>
                <a:cs typeface="宋体"/>
              </a:rPr>
              <a:t>时，</a:t>
            </a:r>
            <a:r>
              <a:rPr dirty="0" sz="2000" spc="-20" b="1" i="1">
                <a:latin typeface="Times New Roman"/>
                <a:cs typeface="Times New Roman"/>
              </a:rPr>
              <a:t>C</a:t>
            </a:r>
            <a:r>
              <a:rPr dirty="0" sz="2000" spc="-20" b="1">
                <a:latin typeface="Times New Roman"/>
                <a:cs typeface="Times New Roman"/>
              </a:rPr>
              <a:t>≈</a:t>
            </a:r>
            <a:r>
              <a:rPr dirty="0" sz="2000" spc="-20" b="1" i="1">
                <a:latin typeface="Times New Roman"/>
                <a:cs typeface="Times New Roman"/>
              </a:rPr>
              <a:t>C</a:t>
            </a:r>
            <a:r>
              <a:rPr dirty="0" baseline="-21367" sz="1950" spc="-30" b="1">
                <a:latin typeface="Times New Roman"/>
                <a:cs typeface="Times New Roman"/>
              </a:rPr>
              <a:t>2</a:t>
            </a:r>
            <a:r>
              <a:rPr dirty="0" sz="2000" spc="-50" b="1">
                <a:latin typeface="宋体"/>
                <a:cs typeface="宋体"/>
              </a:rPr>
              <a:t>。</a:t>
            </a:r>
            <a:endParaRPr sz="2000">
              <a:latin typeface="宋体"/>
              <a:cs typeface="宋体"/>
            </a:endParaRPr>
          </a:p>
        </p:txBody>
      </p:sp>
      <p:pic>
        <p:nvPicPr>
          <p:cNvPr id="19" name="object 19" descr=""/>
          <p:cNvPicPr/>
          <p:nvPr/>
        </p:nvPicPr>
        <p:blipFill>
          <a:blip r:embed="rId3" cstate="print"/>
          <a:stretch>
            <a:fillRect/>
          </a:stretch>
        </p:blipFill>
        <p:spPr>
          <a:xfrm>
            <a:off x="7945501" y="3965511"/>
            <a:ext cx="3357372" cy="17764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579623" y="214376"/>
            <a:ext cx="282067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F55AC"/>
                </a:solidFill>
                <a:latin typeface="黑体"/>
                <a:cs typeface="黑体"/>
              </a:rPr>
              <a:t>7.1</a:t>
            </a:r>
            <a:r>
              <a:rPr dirty="0" sz="2000" spc="-20">
                <a:solidFill>
                  <a:srgbClr val="4F55AC"/>
                </a:solidFill>
                <a:latin typeface="黑体"/>
                <a:cs typeface="黑体"/>
              </a:rPr>
              <a:t> 存储系统的层次结构</a:t>
            </a:r>
            <a:endParaRPr sz="2000">
              <a:latin typeface="黑体"/>
              <a:cs typeface="黑体"/>
            </a:endParaRPr>
          </a:p>
        </p:txBody>
      </p:sp>
      <p:sp>
        <p:nvSpPr>
          <p:cNvPr id="10" name="object 10"/>
          <p:cNvSpPr txBox="1">
            <a:spLocks noGrp="1"/>
          </p:cNvSpPr>
          <p:nvPr>
            <p:ph type="title"/>
          </p:nvPr>
        </p:nvSpPr>
        <p:spPr>
          <a:xfrm>
            <a:off x="-18186" y="965708"/>
            <a:ext cx="1550035" cy="391160"/>
          </a:xfrm>
          <a:prstGeom prst="rect"/>
        </p:spPr>
        <p:txBody>
          <a:bodyPr wrap="square" lIns="0" tIns="12700" rIns="0" bIns="0" rtlCol="0" vert="horz">
            <a:spAutoFit/>
          </a:bodyPr>
          <a:lstStyle/>
          <a:p>
            <a:pPr marL="12700">
              <a:lnSpc>
                <a:spcPct val="100000"/>
              </a:lnSpc>
              <a:spcBef>
                <a:spcPts val="100"/>
              </a:spcBef>
            </a:pPr>
            <a:r>
              <a:rPr dirty="0" u="none" sz="2400">
                <a:solidFill>
                  <a:srgbClr val="40458B"/>
                </a:solidFill>
              </a:rPr>
              <a:t>3.</a:t>
            </a:r>
            <a:r>
              <a:rPr dirty="0" u="none" sz="2400" spc="5">
                <a:solidFill>
                  <a:srgbClr val="40458B"/>
                </a:solidFill>
              </a:rPr>
              <a:t> </a:t>
            </a:r>
            <a:r>
              <a:rPr dirty="0" u="none" sz="2400" spc="-5">
                <a:solidFill>
                  <a:srgbClr val="C00000"/>
                </a:solidFill>
              </a:rPr>
              <a:t>命中率</a:t>
            </a:r>
            <a:r>
              <a:rPr dirty="0" u="none" sz="2400" spc="-50">
                <a:solidFill>
                  <a:srgbClr val="C00000"/>
                </a:solidFill>
              </a:rPr>
              <a:t>H</a:t>
            </a:r>
            <a:endParaRPr sz="2400"/>
          </a:p>
        </p:txBody>
      </p:sp>
      <p:sp>
        <p:nvSpPr>
          <p:cNvPr id="11" name="object 11" descr=""/>
          <p:cNvSpPr txBox="1"/>
          <p:nvPr/>
        </p:nvSpPr>
        <p:spPr>
          <a:xfrm>
            <a:off x="586130" y="1478026"/>
            <a:ext cx="8561070" cy="391160"/>
          </a:xfrm>
          <a:prstGeom prst="rect">
            <a:avLst/>
          </a:prstGeom>
        </p:spPr>
        <p:txBody>
          <a:bodyPr wrap="square" lIns="0" tIns="12700" rIns="0" bIns="0" rtlCol="0" vert="horz">
            <a:spAutoFit/>
          </a:bodyPr>
          <a:lstStyle/>
          <a:p>
            <a:pPr marL="494665" indent="-456565">
              <a:lnSpc>
                <a:spcPct val="100000"/>
              </a:lnSpc>
              <a:spcBef>
                <a:spcPts val="100"/>
              </a:spcBef>
              <a:buClr>
                <a:srgbClr val="40458B"/>
              </a:buClr>
              <a:buSzPct val="89583"/>
              <a:buFont typeface="Wingdings"/>
              <a:buChar char=""/>
              <a:tabLst>
                <a:tab pos="494665" algn="l"/>
              </a:tabLst>
            </a:pPr>
            <a:r>
              <a:rPr dirty="0" sz="2400" spc="-5">
                <a:solidFill>
                  <a:srgbClr val="FF0000"/>
                </a:solidFill>
                <a:latin typeface="黑体"/>
                <a:cs typeface="黑体"/>
              </a:rPr>
              <a:t>命中率：</a:t>
            </a:r>
            <a:r>
              <a:rPr dirty="0" sz="2400" spc="-10">
                <a:solidFill>
                  <a:srgbClr val="40458B"/>
                </a:solidFill>
                <a:latin typeface="黑体"/>
                <a:cs typeface="黑体"/>
              </a:rPr>
              <a:t>CPU</a:t>
            </a:r>
            <a:r>
              <a:rPr dirty="0" sz="2400" spc="-5">
                <a:solidFill>
                  <a:srgbClr val="40458B"/>
                </a:solidFill>
                <a:latin typeface="黑体"/>
                <a:cs typeface="黑体"/>
              </a:rPr>
              <a:t>访问存储系统时，在</a:t>
            </a:r>
            <a:r>
              <a:rPr dirty="0" sz="2400" spc="-10">
                <a:solidFill>
                  <a:srgbClr val="40458B"/>
                </a:solidFill>
                <a:latin typeface="黑体"/>
                <a:cs typeface="黑体"/>
              </a:rPr>
              <a:t>M</a:t>
            </a:r>
            <a:r>
              <a:rPr dirty="0" baseline="-20833" sz="2400" spc="-15">
                <a:solidFill>
                  <a:srgbClr val="40458B"/>
                </a:solidFill>
                <a:latin typeface="黑体"/>
                <a:cs typeface="黑体"/>
              </a:rPr>
              <a:t>1</a:t>
            </a:r>
            <a:r>
              <a:rPr dirty="0" sz="2400" spc="-5">
                <a:solidFill>
                  <a:srgbClr val="40458B"/>
                </a:solidFill>
                <a:latin typeface="黑体"/>
                <a:cs typeface="黑体"/>
              </a:rPr>
              <a:t>中找到所需信息的概率。</a:t>
            </a:r>
            <a:endParaRPr sz="2400">
              <a:latin typeface="黑体"/>
              <a:cs typeface="黑体"/>
            </a:endParaRPr>
          </a:p>
        </p:txBody>
      </p:sp>
      <p:sp>
        <p:nvSpPr>
          <p:cNvPr id="12" name="object 12" descr=""/>
          <p:cNvSpPr txBox="1"/>
          <p:nvPr/>
        </p:nvSpPr>
        <p:spPr>
          <a:xfrm>
            <a:off x="598830" y="2876524"/>
            <a:ext cx="3667125" cy="1383030"/>
          </a:xfrm>
          <a:prstGeom prst="rect">
            <a:avLst/>
          </a:prstGeom>
        </p:spPr>
        <p:txBody>
          <a:bodyPr wrap="square" lIns="0" tIns="134620" rIns="0" bIns="0" rtlCol="0" vert="horz">
            <a:spAutoFit/>
          </a:bodyPr>
          <a:lstStyle/>
          <a:p>
            <a:pPr marL="1109980" indent="-457200">
              <a:lnSpc>
                <a:spcPct val="100000"/>
              </a:lnSpc>
              <a:spcBef>
                <a:spcPts val="1060"/>
              </a:spcBef>
              <a:buClr>
                <a:srgbClr val="4668F5"/>
              </a:buClr>
              <a:buSzPct val="60000"/>
              <a:buFont typeface="Wingdings"/>
              <a:buChar char=""/>
              <a:tabLst>
                <a:tab pos="1109980" algn="l"/>
                <a:tab pos="1452880" algn="l"/>
              </a:tabLst>
            </a:pPr>
            <a:r>
              <a:rPr dirty="0" sz="2000" spc="-25" b="1">
                <a:solidFill>
                  <a:srgbClr val="9933FF"/>
                </a:solidFill>
                <a:latin typeface="宋体"/>
                <a:cs typeface="宋体"/>
              </a:rPr>
              <a:t>N</a:t>
            </a:r>
            <a:r>
              <a:rPr dirty="0" baseline="-21367" sz="1950" spc="-37" b="1">
                <a:solidFill>
                  <a:srgbClr val="9933FF"/>
                </a:solidFill>
                <a:latin typeface="宋体"/>
                <a:cs typeface="宋体"/>
              </a:rPr>
              <a:t>1</a:t>
            </a:r>
            <a:r>
              <a:rPr dirty="0" baseline="-21367" sz="1950" b="1">
                <a:solidFill>
                  <a:srgbClr val="9933FF"/>
                </a:solidFill>
                <a:latin typeface="宋体"/>
                <a:cs typeface="宋体"/>
              </a:rPr>
              <a:t>	</a:t>
            </a:r>
            <a:r>
              <a:rPr dirty="0" sz="2000" spc="-10" b="1">
                <a:solidFill>
                  <a:srgbClr val="00AFEF"/>
                </a:solidFill>
                <a:latin typeface="宋体"/>
                <a:cs typeface="宋体"/>
              </a:rPr>
              <a:t>── 访问</a:t>
            </a:r>
            <a:r>
              <a:rPr dirty="0" sz="2000" b="1">
                <a:solidFill>
                  <a:srgbClr val="00AFEF"/>
                </a:solidFill>
                <a:latin typeface="宋体"/>
                <a:cs typeface="宋体"/>
              </a:rPr>
              <a:t>M</a:t>
            </a:r>
            <a:r>
              <a:rPr dirty="0" baseline="-21367" sz="1950" b="1">
                <a:solidFill>
                  <a:srgbClr val="00AFEF"/>
                </a:solidFill>
                <a:latin typeface="宋体"/>
                <a:cs typeface="宋体"/>
              </a:rPr>
              <a:t>1</a:t>
            </a:r>
            <a:r>
              <a:rPr dirty="0" sz="2000" spc="-25" b="1">
                <a:solidFill>
                  <a:srgbClr val="00AFEF"/>
                </a:solidFill>
                <a:latin typeface="宋体"/>
                <a:cs typeface="宋体"/>
              </a:rPr>
              <a:t>的次数</a:t>
            </a:r>
            <a:endParaRPr sz="2000">
              <a:latin typeface="宋体"/>
              <a:cs typeface="宋体"/>
            </a:endParaRPr>
          </a:p>
          <a:p>
            <a:pPr marL="1109980" indent="-457200">
              <a:lnSpc>
                <a:spcPct val="100000"/>
              </a:lnSpc>
              <a:spcBef>
                <a:spcPts val="960"/>
              </a:spcBef>
              <a:buClr>
                <a:srgbClr val="4668F5"/>
              </a:buClr>
              <a:buSzPct val="60000"/>
              <a:buFont typeface="Wingdings"/>
              <a:buChar char=""/>
              <a:tabLst>
                <a:tab pos="1109980" algn="l"/>
              </a:tabLst>
            </a:pPr>
            <a:r>
              <a:rPr dirty="0" sz="2000" b="1">
                <a:solidFill>
                  <a:srgbClr val="9933FF"/>
                </a:solidFill>
                <a:latin typeface="宋体"/>
                <a:cs typeface="宋体"/>
              </a:rPr>
              <a:t>N</a:t>
            </a:r>
            <a:r>
              <a:rPr dirty="0" baseline="-21367" sz="1950" b="1">
                <a:solidFill>
                  <a:srgbClr val="9933FF"/>
                </a:solidFill>
                <a:latin typeface="宋体"/>
                <a:cs typeface="宋体"/>
              </a:rPr>
              <a:t>2</a:t>
            </a:r>
            <a:r>
              <a:rPr dirty="0" baseline="-21367" sz="1950" spc="30" b="1">
                <a:solidFill>
                  <a:srgbClr val="9933FF"/>
                </a:solidFill>
                <a:latin typeface="宋体"/>
                <a:cs typeface="宋体"/>
              </a:rPr>
              <a:t> </a:t>
            </a:r>
            <a:r>
              <a:rPr dirty="0" sz="2000" spc="-10" b="1">
                <a:solidFill>
                  <a:srgbClr val="00AFEF"/>
                </a:solidFill>
                <a:latin typeface="宋体"/>
                <a:cs typeface="宋体"/>
              </a:rPr>
              <a:t>── 访问</a:t>
            </a:r>
            <a:r>
              <a:rPr dirty="0" sz="2000" b="1">
                <a:solidFill>
                  <a:srgbClr val="00AFEF"/>
                </a:solidFill>
                <a:latin typeface="宋体"/>
                <a:cs typeface="宋体"/>
              </a:rPr>
              <a:t>M</a:t>
            </a:r>
            <a:r>
              <a:rPr dirty="0" baseline="-21367" sz="1950" b="1">
                <a:solidFill>
                  <a:srgbClr val="00AFEF"/>
                </a:solidFill>
                <a:latin typeface="宋体"/>
                <a:cs typeface="宋体"/>
              </a:rPr>
              <a:t>2</a:t>
            </a:r>
            <a:r>
              <a:rPr dirty="0" sz="2000" spc="-25" b="1">
                <a:solidFill>
                  <a:srgbClr val="00AFEF"/>
                </a:solidFill>
                <a:latin typeface="宋体"/>
                <a:cs typeface="宋体"/>
              </a:rPr>
              <a:t>的次数</a:t>
            </a:r>
            <a:endParaRPr sz="2000">
              <a:latin typeface="宋体"/>
              <a:cs typeface="宋体"/>
            </a:endParaRPr>
          </a:p>
          <a:p>
            <a:pPr marL="576580" indent="-551180">
              <a:lnSpc>
                <a:spcPct val="100000"/>
              </a:lnSpc>
              <a:spcBef>
                <a:spcPts val="1085"/>
              </a:spcBef>
              <a:buClr>
                <a:srgbClr val="40458B"/>
              </a:buClr>
              <a:buSzPct val="89583"/>
              <a:buFont typeface="Wingdings"/>
              <a:buChar char=""/>
              <a:tabLst>
                <a:tab pos="576580" algn="l"/>
              </a:tabLst>
            </a:pPr>
            <a:r>
              <a:rPr dirty="0" sz="2400" spc="-85">
                <a:solidFill>
                  <a:srgbClr val="FF0000"/>
                </a:solidFill>
                <a:latin typeface="黑体"/>
                <a:cs typeface="黑体"/>
              </a:rPr>
              <a:t>不命中率 ：</a:t>
            </a:r>
            <a:r>
              <a:rPr dirty="0" sz="2400" spc="-10">
                <a:latin typeface="黑体"/>
                <a:cs typeface="黑体"/>
              </a:rPr>
              <a:t>F＝1－H</a:t>
            </a:r>
            <a:endParaRPr sz="2400">
              <a:latin typeface="黑体"/>
              <a:cs typeface="黑体"/>
            </a:endParaRPr>
          </a:p>
        </p:txBody>
      </p:sp>
      <p:sp>
        <p:nvSpPr>
          <p:cNvPr id="13" name="object 13" descr=""/>
          <p:cNvSpPr/>
          <p:nvPr/>
        </p:nvSpPr>
        <p:spPr>
          <a:xfrm>
            <a:off x="3153174" y="2270140"/>
            <a:ext cx="1005840" cy="0"/>
          </a:xfrm>
          <a:custGeom>
            <a:avLst/>
            <a:gdLst/>
            <a:ahLst/>
            <a:cxnLst/>
            <a:rect l="l" t="t" r="r" b="b"/>
            <a:pathLst>
              <a:path w="1005839" h="0">
                <a:moveTo>
                  <a:pt x="0" y="0"/>
                </a:moveTo>
                <a:lnTo>
                  <a:pt x="1005270" y="0"/>
                </a:lnTo>
              </a:path>
            </a:pathLst>
          </a:custGeom>
          <a:ln w="14479">
            <a:solidFill>
              <a:srgbClr val="000000"/>
            </a:solidFill>
          </a:ln>
        </p:spPr>
        <p:txBody>
          <a:bodyPr wrap="square" lIns="0" tIns="0" rIns="0" bIns="0" rtlCol="0"/>
          <a:lstStyle/>
          <a:p/>
        </p:txBody>
      </p:sp>
      <p:sp>
        <p:nvSpPr>
          <p:cNvPr id="14" name="object 14" descr=""/>
          <p:cNvSpPr txBox="1"/>
          <p:nvPr/>
        </p:nvSpPr>
        <p:spPr>
          <a:xfrm>
            <a:off x="3153743" y="2267073"/>
            <a:ext cx="985519" cy="379095"/>
          </a:xfrm>
          <a:prstGeom prst="rect">
            <a:avLst/>
          </a:prstGeom>
        </p:spPr>
        <p:txBody>
          <a:bodyPr wrap="square" lIns="0" tIns="15240" rIns="0" bIns="0" rtlCol="0" vert="horz">
            <a:spAutoFit/>
          </a:bodyPr>
          <a:lstStyle/>
          <a:p>
            <a:pPr marL="38100">
              <a:lnSpc>
                <a:spcPct val="100000"/>
              </a:lnSpc>
              <a:spcBef>
                <a:spcPts val="120"/>
              </a:spcBef>
            </a:pPr>
            <a:r>
              <a:rPr dirty="0" sz="2300" spc="-35" i="1">
                <a:latin typeface="Times New Roman"/>
                <a:cs typeface="Times New Roman"/>
              </a:rPr>
              <a:t>N</a:t>
            </a:r>
            <a:r>
              <a:rPr dirty="0" baseline="-19097" sz="2400" spc="-52">
                <a:latin typeface="Times New Roman"/>
                <a:cs typeface="Times New Roman"/>
              </a:rPr>
              <a:t>1</a:t>
            </a:r>
            <a:r>
              <a:rPr dirty="0" sz="2300" spc="-35">
                <a:latin typeface="宋体"/>
                <a:cs typeface="宋体"/>
              </a:rPr>
              <a:t>＋</a:t>
            </a:r>
            <a:r>
              <a:rPr dirty="0" sz="2300" spc="-35" i="1">
                <a:latin typeface="Times New Roman"/>
                <a:cs typeface="Times New Roman"/>
              </a:rPr>
              <a:t>N</a:t>
            </a:r>
            <a:r>
              <a:rPr dirty="0" sz="2300" spc="-320" i="1">
                <a:latin typeface="Times New Roman"/>
                <a:cs typeface="Times New Roman"/>
              </a:rPr>
              <a:t> </a:t>
            </a:r>
            <a:r>
              <a:rPr dirty="0" baseline="-19097" sz="2400" spc="-75">
                <a:latin typeface="Times New Roman"/>
                <a:cs typeface="Times New Roman"/>
              </a:rPr>
              <a:t>2</a:t>
            </a:r>
            <a:endParaRPr baseline="-19097" sz="2400">
              <a:latin typeface="Times New Roman"/>
              <a:cs typeface="Times New Roman"/>
            </a:endParaRPr>
          </a:p>
        </p:txBody>
      </p:sp>
      <p:sp>
        <p:nvSpPr>
          <p:cNvPr id="15" name="object 15" descr=""/>
          <p:cNvSpPr txBox="1"/>
          <p:nvPr/>
        </p:nvSpPr>
        <p:spPr>
          <a:xfrm>
            <a:off x="3462563" y="1841612"/>
            <a:ext cx="384175" cy="379095"/>
          </a:xfrm>
          <a:prstGeom prst="rect">
            <a:avLst/>
          </a:prstGeom>
        </p:spPr>
        <p:txBody>
          <a:bodyPr wrap="square" lIns="0" tIns="15240" rIns="0" bIns="0" rtlCol="0" vert="horz">
            <a:spAutoFit/>
          </a:bodyPr>
          <a:lstStyle/>
          <a:p>
            <a:pPr marL="38100">
              <a:lnSpc>
                <a:spcPct val="100000"/>
              </a:lnSpc>
              <a:spcBef>
                <a:spcPts val="120"/>
              </a:spcBef>
            </a:pPr>
            <a:r>
              <a:rPr dirty="0" sz="2300" spc="-25" i="1">
                <a:latin typeface="Times New Roman"/>
                <a:cs typeface="Times New Roman"/>
              </a:rPr>
              <a:t>N</a:t>
            </a:r>
            <a:r>
              <a:rPr dirty="0" baseline="-20833" sz="2400" spc="-37">
                <a:latin typeface="Times New Roman"/>
                <a:cs typeface="Times New Roman"/>
              </a:rPr>
              <a:t>1</a:t>
            </a:r>
            <a:endParaRPr baseline="-20833" sz="2400">
              <a:latin typeface="Times New Roman"/>
              <a:cs typeface="Times New Roman"/>
            </a:endParaRPr>
          </a:p>
        </p:txBody>
      </p:sp>
      <p:sp>
        <p:nvSpPr>
          <p:cNvPr id="16" name="object 16" descr=""/>
          <p:cNvSpPr txBox="1"/>
          <p:nvPr/>
        </p:nvSpPr>
        <p:spPr>
          <a:xfrm>
            <a:off x="2617738" y="2036329"/>
            <a:ext cx="534670" cy="379095"/>
          </a:xfrm>
          <a:prstGeom prst="rect">
            <a:avLst/>
          </a:prstGeom>
        </p:spPr>
        <p:txBody>
          <a:bodyPr wrap="square" lIns="0" tIns="15240" rIns="0" bIns="0" rtlCol="0" vert="horz">
            <a:spAutoFit/>
          </a:bodyPr>
          <a:lstStyle/>
          <a:p>
            <a:pPr marL="12700">
              <a:lnSpc>
                <a:spcPct val="100000"/>
              </a:lnSpc>
              <a:spcBef>
                <a:spcPts val="120"/>
              </a:spcBef>
            </a:pPr>
            <a:r>
              <a:rPr dirty="0" sz="2300" spc="-25" i="1">
                <a:latin typeface="Times New Roman"/>
                <a:cs typeface="Times New Roman"/>
              </a:rPr>
              <a:t>H</a:t>
            </a:r>
            <a:r>
              <a:rPr dirty="0" sz="2300" spc="-25">
                <a:latin typeface="宋体"/>
                <a:cs typeface="宋体"/>
              </a:rPr>
              <a:t>＝</a:t>
            </a:r>
            <a:endParaRPr sz="2300">
              <a:latin typeface="宋体"/>
              <a:cs typeface="宋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579623" y="214376"/>
            <a:ext cx="282067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F55AC"/>
                </a:solidFill>
                <a:latin typeface="黑体"/>
                <a:cs typeface="黑体"/>
              </a:rPr>
              <a:t>7.1</a:t>
            </a:r>
            <a:r>
              <a:rPr dirty="0" sz="2000" spc="-20">
                <a:solidFill>
                  <a:srgbClr val="4F55AC"/>
                </a:solidFill>
                <a:latin typeface="黑体"/>
                <a:cs typeface="黑体"/>
              </a:rPr>
              <a:t> 存储系统的层次结构</a:t>
            </a:r>
            <a:endParaRPr sz="2000">
              <a:latin typeface="黑体"/>
              <a:cs typeface="黑体"/>
            </a:endParaRPr>
          </a:p>
        </p:txBody>
      </p:sp>
      <p:sp>
        <p:nvSpPr>
          <p:cNvPr id="10" name="object 10"/>
          <p:cNvSpPr txBox="1">
            <a:spLocks noGrp="1"/>
          </p:cNvSpPr>
          <p:nvPr>
            <p:ph type="title"/>
          </p:nvPr>
        </p:nvSpPr>
        <p:spPr>
          <a:xfrm>
            <a:off x="545490" y="1038859"/>
            <a:ext cx="2637155" cy="391160"/>
          </a:xfrm>
          <a:prstGeom prst="rect"/>
        </p:spPr>
        <p:txBody>
          <a:bodyPr wrap="square" lIns="0" tIns="12700" rIns="0" bIns="0" rtlCol="0" vert="horz">
            <a:spAutoFit/>
          </a:bodyPr>
          <a:lstStyle/>
          <a:p>
            <a:pPr marL="25400">
              <a:lnSpc>
                <a:spcPct val="100000"/>
              </a:lnSpc>
              <a:spcBef>
                <a:spcPts val="100"/>
              </a:spcBef>
              <a:tabLst>
                <a:tab pos="481965" algn="l"/>
              </a:tabLst>
            </a:pPr>
            <a:r>
              <a:rPr dirty="0" u="none" sz="2400" spc="-25">
                <a:solidFill>
                  <a:srgbClr val="40458B"/>
                </a:solidFill>
                <a:latin typeface="Tahoma"/>
                <a:cs typeface="Tahoma"/>
              </a:rPr>
              <a:t>4.</a:t>
            </a:r>
            <a:r>
              <a:rPr dirty="0" u="none" sz="2400">
                <a:solidFill>
                  <a:srgbClr val="40458B"/>
                </a:solidFill>
                <a:latin typeface="Tahoma"/>
                <a:cs typeface="Tahoma"/>
              </a:rPr>
              <a:t>	</a:t>
            </a:r>
            <a:r>
              <a:rPr dirty="0" u="none" sz="2400">
                <a:solidFill>
                  <a:srgbClr val="C00000"/>
                </a:solidFill>
              </a:rPr>
              <a:t>平均访问时间</a:t>
            </a:r>
            <a:r>
              <a:rPr dirty="0" u="none" sz="2400" spc="-25">
                <a:solidFill>
                  <a:srgbClr val="E14B04"/>
                </a:solidFill>
                <a:latin typeface="Tahoma"/>
                <a:cs typeface="Tahoma"/>
              </a:rPr>
              <a:t>T</a:t>
            </a:r>
            <a:r>
              <a:rPr dirty="0" u="none" baseline="-20833" sz="2400" spc="-37">
                <a:solidFill>
                  <a:srgbClr val="E14B04"/>
                </a:solidFill>
                <a:latin typeface="Tahoma"/>
                <a:cs typeface="Tahoma"/>
              </a:rPr>
              <a:t>A</a:t>
            </a:r>
            <a:endParaRPr baseline="-20833" sz="2400">
              <a:latin typeface="Tahoma"/>
              <a:cs typeface="Tahoma"/>
            </a:endParaRPr>
          </a:p>
        </p:txBody>
      </p:sp>
      <p:sp>
        <p:nvSpPr>
          <p:cNvPr id="11" name="object 11" descr=""/>
          <p:cNvSpPr txBox="1"/>
          <p:nvPr/>
        </p:nvSpPr>
        <p:spPr>
          <a:xfrm>
            <a:off x="1174902" y="1489413"/>
            <a:ext cx="5009515" cy="1525905"/>
          </a:xfrm>
          <a:prstGeom prst="rect">
            <a:avLst/>
          </a:prstGeom>
        </p:spPr>
        <p:txBody>
          <a:bodyPr wrap="square" lIns="0" tIns="62230" rIns="0" bIns="0" rtlCol="0" vert="horz">
            <a:spAutoFit/>
          </a:bodyPr>
          <a:lstStyle/>
          <a:p>
            <a:pPr marL="1453515">
              <a:lnSpc>
                <a:spcPct val="100000"/>
              </a:lnSpc>
              <a:spcBef>
                <a:spcPts val="490"/>
              </a:spcBef>
            </a:pPr>
            <a:r>
              <a:rPr dirty="0" sz="2000" b="1">
                <a:solidFill>
                  <a:srgbClr val="D50092"/>
                </a:solidFill>
                <a:latin typeface="宋体"/>
                <a:cs typeface="宋体"/>
              </a:rPr>
              <a:t>T</a:t>
            </a:r>
            <a:r>
              <a:rPr dirty="0" baseline="-21367" sz="1950" b="1">
                <a:solidFill>
                  <a:srgbClr val="D50092"/>
                </a:solidFill>
                <a:latin typeface="宋体"/>
                <a:cs typeface="宋体"/>
              </a:rPr>
              <a:t>A</a:t>
            </a:r>
            <a:r>
              <a:rPr dirty="0" baseline="-21367" sz="1950" spc="300" b="1">
                <a:solidFill>
                  <a:srgbClr val="D50092"/>
                </a:solidFill>
                <a:latin typeface="宋体"/>
                <a:cs typeface="宋体"/>
              </a:rPr>
              <a:t> </a:t>
            </a:r>
            <a:r>
              <a:rPr dirty="0" sz="2000" b="1">
                <a:solidFill>
                  <a:srgbClr val="D50092"/>
                </a:solidFill>
                <a:latin typeface="宋体"/>
                <a:cs typeface="宋体"/>
              </a:rPr>
              <a:t>＝</a:t>
            </a:r>
            <a:r>
              <a:rPr dirty="0" sz="2000" spc="5" b="1">
                <a:solidFill>
                  <a:srgbClr val="D50092"/>
                </a:solidFill>
                <a:latin typeface="宋体"/>
                <a:cs typeface="宋体"/>
              </a:rPr>
              <a:t> </a:t>
            </a:r>
            <a:r>
              <a:rPr dirty="0" sz="2000" spc="-10" b="1">
                <a:solidFill>
                  <a:srgbClr val="D50092"/>
                </a:solidFill>
                <a:latin typeface="宋体"/>
                <a:cs typeface="宋体"/>
              </a:rPr>
              <a:t>HT</a:t>
            </a:r>
            <a:r>
              <a:rPr dirty="0" baseline="-21367" sz="1950" spc="-15" b="1">
                <a:solidFill>
                  <a:srgbClr val="D50092"/>
                </a:solidFill>
                <a:latin typeface="宋体"/>
                <a:cs typeface="宋体"/>
              </a:rPr>
              <a:t>1</a:t>
            </a:r>
            <a:r>
              <a:rPr dirty="0" sz="2000" spc="-10" b="1">
                <a:solidFill>
                  <a:srgbClr val="D50092"/>
                </a:solidFill>
                <a:latin typeface="宋体"/>
                <a:cs typeface="宋体"/>
              </a:rPr>
              <a:t>＋（1－H）（T</a:t>
            </a:r>
            <a:r>
              <a:rPr dirty="0" baseline="-21367" sz="1950" spc="-15" b="1">
                <a:solidFill>
                  <a:srgbClr val="D50092"/>
                </a:solidFill>
                <a:latin typeface="宋体"/>
                <a:cs typeface="宋体"/>
              </a:rPr>
              <a:t>1</a:t>
            </a:r>
            <a:r>
              <a:rPr dirty="0" sz="2000" spc="-10" b="1">
                <a:solidFill>
                  <a:srgbClr val="D50092"/>
                </a:solidFill>
                <a:latin typeface="宋体"/>
                <a:cs typeface="宋体"/>
              </a:rPr>
              <a:t>＋T</a:t>
            </a:r>
            <a:r>
              <a:rPr dirty="0" baseline="-21367" sz="1950" spc="-15" b="1">
                <a:solidFill>
                  <a:srgbClr val="D50092"/>
                </a:solidFill>
                <a:latin typeface="宋体"/>
                <a:cs typeface="宋体"/>
              </a:rPr>
              <a:t>M</a:t>
            </a:r>
            <a:r>
              <a:rPr dirty="0" sz="2000" spc="-10" b="1">
                <a:solidFill>
                  <a:srgbClr val="D50092"/>
                </a:solidFill>
                <a:latin typeface="宋体"/>
                <a:cs typeface="宋体"/>
              </a:rPr>
              <a:t>）</a:t>
            </a:r>
            <a:endParaRPr sz="2000">
              <a:latin typeface="宋体"/>
              <a:cs typeface="宋体"/>
            </a:endParaRPr>
          </a:p>
          <a:p>
            <a:pPr marL="1778000">
              <a:lnSpc>
                <a:spcPct val="100000"/>
              </a:lnSpc>
              <a:spcBef>
                <a:spcPts val="395"/>
              </a:spcBef>
            </a:pPr>
            <a:r>
              <a:rPr dirty="0" sz="2000" b="1">
                <a:solidFill>
                  <a:srgbClr val="D50092"/>
                </a:solidFill>
                <a:latin typeface="宋体"/>
                <a:cs typeface="宋体"/>
              </a:rPr>
              <a:t>＝</a:t>
            </a:r>
            <a:r>
              <a:rPr dirty="0" sz="2000" spc="-15" b="1">
                <a:solidFill>
                  <a:srgbClr val="D50092"/>
                </a:solidFill>
                <a:latin typeface="宋体"/>
                <a:cs typeface="宋体"/>
              </a:rPr>
              <a:t> </a:t>
            </a:r>
            <a:r>
              <a:rPr dirty="0" sz="2000" spc="-10" b="1">
                <a:solidFill>
                  <a:srgbClr val="D50092"/>
                </a:solidFill>
                <a:latin typeface="宋体"/>
                <a:cs typeface="宋体"/>
              </a:rPr>
              <a:t>T</a:t>
            </a:r>
            <a:r>
              <a:rPr dirty="0" baseline="-21367" sz="1950" spc="-15" b="1">
                <a:solidFill>
                  <a:srgbClr val="D50092"/>
                </a:solidFill>
                <a:latin typeface="宋体"/>
                <a:cs typeface="宋体"/>
              </a:rPr>
              <a:t>1</a:t>
            </a:r>
            <a:r>
              <a:rPr dirty="0" sz="2000" spc="-10" b="1">
                <a:solidFill>
                  <a:srgbClr val="D50092"/>
                </a:solidFill>
                <a:latin typeface="宋体"/>
                <a:cs typeface="宋体"/>
              </a:rPr>
              <a:t>＋（1－H）T</a:t>
            </a:r>
            <a:r>
              <a:rPr dirty="0" baseline="-21367" sz="1950" spc="-15" b="1">
                <a:solidFill>
                  <a:srgbClr val="D50092"/>
                </a:solidFill>
                <a:latin typeface="宋体"/>
                <a:cs typeface="宋体"/>
              </a:rPr>
              <a:t>M</a:t>
            </a:r>
            <a:endParaRPr baseline="-21367" sz="1950">
              <a:latin typeface="宋体"/>
              <a:cs typeface="宋体"/>
            </a:endParaRPr>
          </a:p>
          <a:p>
            <a:pPr marL="1055370">
              <a:lnSpc>
                <a:spcPct val="100000"/>
              </a:lnSpc>
              <a:spcBef>
                <a:spcPts val="245"/>
              </a:spcBef>
            </a:pPr>
            <a:r>
              <a:rPr dirty="0" sz="2000" spc="-10" b="1">
                <a:solidFill>
                  <a:srgbClr val="40458B"/>
                </a:solidFill>
                <a:latin typeface="宋体"/>
                <a:cs typeface="宋体"/>
              </a:rPr>
              <a:t>或 </a:t>
            </a:r>
            <a:r>
              <a:rPr dirty="0" sz="2000" b="1">
                <a:solidFill>
                  <a:srgbClr val="D50092"/>
                </a:solidFill>
                <a:latin typeface="宋体"/>
                <a:cs typeface="宋体"/>
              </a:rPr>
              <a:t>T</a:t>
            </a:r>
            <a:r>
              <a:rPr dirty="0" baseline="-21367" sz="1950" b="1">
                <a:solidFill>
                  <a:srgbClr val="D50092"/>
                </a:solidFill>
                <a:latin typeface="宋体"/>
                <a:cs typeface="宋体"/>
              </a:rPr>
              <a:t>A</a:t>
            </a:r>
            <a:r>
              <a:rPr dirty="0" baseline="-21367" sz="1950" spc="472" b="1">
                <a:solidFill>
                  <a:srgbClr val="D50092"/>
                </a:solidFill>
                <a:latin typeface="宋体"/>
                <a:cs typeface="宋体"/>
              </a:rPr>
              <a:t> </a:t>
            </a:r>
            <a:r>
              <a:rPr dirty="0" sz="2000" b="1">
                <a:solidFill>
                  <a:srgbClr val="D50092"/>
                </a:solidFill>
                <a:latin typeface="宋体"/>
                <a:cs typeface="宋体"/>
              </a:rPr>
              <a:t>＝ </a:t>
            </a:r>
            <a:r>
              <a:rPr dirty="0" sz="2000" spc="-10" b="1">
                <a:solidFill>
                  <a:srgbClr val="D50092"/>
                </a:solidFill>
                <a:latin typeface="宋体"/>
                <a:cs typeface="宋体"/>
              </a:rPr>
              <a:t>T</a:t>
            </a:r>
            <a:r>
              <a:rPr dirty="0" baseline="-21367" sz="1950" spc="-15" b="1">
                <a:solidFill>
                  <a:srgbClr val="D50092"/>
                </a:solidFill>
                <a:latin typeface="宋体"/>
                <a:cs typeface="宋体"/>
              </a:rPr>
              <a:t>1</a:t>
            </a:r>
            <a:r>
              <a:rPr dirty="0" sz="2000" spc="-10" b="1">
                <a:solidFill>
                  <a:srgbClr val="D50092"/>
                </a:solidFill>
                <a:latin typeface="宋体"/>
                <a:cs typeface="宋体"/>
              </a:rPr>
              <a:t>＋FT</a:t>
            </a:r>
            <a:r>
              <a:rPr dirty="0" baseline="-21367" sz="1950" spc="-15" b="1">
                <a:solidFill>
                  <a:srgbClr val="D50092"/>
                </a:solidFill>
                <a:latin typeface="宋体"/>
                <a:cs typeface="宋体"/>
              </a:rPr>
              <a:t>M</a:t>
            </a:r>
            <a:endParaRPr baseline="-21367" sz="1950">
              <a:latin typeface="宋体"/>
              <a:cs typeface="宋体"/>
            </a:endParaRPr>
          </a:p>
          <a:p>
            <a:pPr marL="25400">
              <a:lnSpc>
                <a:spcPct val="100000"/>
              </a:lnSpc>
              <a:spcBef>
                <a:spcPts val="705"/>
              </a:spcBef>
            </a:pPr>
            <a:r>
              <a:rPr dirty="0" sz="2400" spc="-5">
                <a:solidFill>
                  <a:srgbClr val="40458B"/>
                </a:solidFill>
                <a:latin typeface="黑体"/>
                <a:cs typeface="黑体"/>
              </a:rPr>
              <a:t>分两种情况来考虑</a:t>
            </a:r>
            <a:r>
              <a:rPr dirty="0" sz="2400">
                <a:solidFill>
                  <a:srgbClr val="40458B"/>
                </a:solidFill>
                <a:latin typeface="黑体"/>
                <a:cs typeface="黑体"/>
              </a:rPr>
              <a:t>CPU</a:t>
            </a:r>
            <a:r>
              <a:rPr dirty="0" sz="2400" spc="-10">
                <a:solidFill>
                  <a:srgbClr val="40458B"/>
                </a:solidFill>
                <a:latin typeface="黑体"/>
                <a:cs typeface="黑体"/>
              </a:rPr>
              <a:t>的一次访存：</a:t>
            </a:r>
            <a:endParaRPr sz="2400">
              <a:latin typeface="黑体"/>
              <a:cs typeface="黑体"/>
            </a:endParaRPr>
          </a:p>
        </p:txBody>
      </p:sp>
      <p:sp>
        <p:nvSpPr>
          <p:cNvPr id="12" name="object 12" descr=""/>
          <p:cNvSpPr txBox="1"/>
          <p:nvPr/>
        </p:nvSpPr>
        <p:spPr>
          <a:xfrm>
            <a:off x="1777745" y="2997682"/>
            <a:ext cx="5390515" cy="1733550"/>
          </a:xfrm>
          <a:prstGeom prst="rect">
            <a:avLst/>
          </a:prstGeom>
        </p:spPr>
        <p:txBody>
          <a:bodyPr wrap="square" lIns="0" tIns="134620" rIns="0" bIns="0" rtlCol="0" vert="horz">
            <a:spAutoFit/>
          </a:bodyPr>
          <a:lstStyle/>
          <a:p>
            <a:pPr marL="507365" indent="-456565">
              <a:lnSpc>
                <a:spcPct val="100000"/>
              </a:lnSpc>
              <a:spcBef>
                <a:spcPts val="1060"/>
              </a:spcBef>
              <a:buClr>
                <a:srgbClr val="4668F5"/>
              </a:buClr>
              <a:buSzPct val="60000"/>
              <a:buFont typeface="Wingdings"/>
              <a:buChar char=""/>
              <a:tabLst>
                <a:tab pos="507365" algn="l"/>
              </a:tabLst>
            </a:pPr>
            <a:r>
              <a:rPr dirty="0" sz="2000" spc="-10" b="1">
                <a:solidFill>
                  <a:srgbClr val="00AFEF"/>
                </a:solidFill>
                <a:latin typeface="宋体"/>
                <a:cs typeface="宋体"/>
              </a:rPr>
              <a:t>当命中时，访问时间即为T</a:t>
            </a:r>
            <a:r>
              <a:rPr dirty="0" baseline="-21367" sz="1950" spc="-15" b="1">
                <a:solidFill>
                  <a:srgbClr val="00AFEF"/>
                </a:solidFill>
                <a:latin typeface="宋体"/>
                <a:cs typeface="宋体"/>
              </a:rPr>
              <a:t>1</a:t>
            </a:r>
            <a:r>
              <a:rPr dirty="0" sz="2000" spc="-10" b="1">
                <a:solidFill>
                  <a:srgbClr val="00AFEF"/>
                </a:solidFill>
                <a:latin typeface="宋体"/>
                <a:cs typeface="宋体"/>
              </a:rPr>
              <a:t>（</a:t>
            </a:r>
            <a:r>
              <a:rPr dirty="0" sz="2000" spc="-15" b="1">
                <a:solidFill>
                  <a:srgbClr val="FF0000"/>
                </a:solidFill>
                <a:latin typeface="宋体"/>
                <a:cs typeface="宋体"/>
              </a:rPr>
              <a:t>命中时间</a:t>
            </a:r>
            <a:r>
              <a:rPr dirty="0" sz="2000" spc="-50" b="1">
                <a:solidFill>
                  <a:srgbClr val="00AFEF"/>
                </a:solidFill>
                <a:latin typeface="宋体"/>
                <a:cs typeface="宋体"/>
              </a:rPr>
              <a:t>）</a:t>
            </a:r>
            <a:endParaRPr sz="2000">
              <a:latin typeface="宋体"/>
              <a:cs typeface="宋体"/>
            </a:endParaRPr>
          </a:p>
          <a:p>
            <a:pPr marL="507365" indent="-456565">
              <a:lnSpc>
                <a:spcPct val="100000"/>
              </a:lnSpc>
              <a:spcBef>
                <a:spcPts val="965"/>
              </a:spcBef>
              <a:buClr>
                <a:srgbClr val="4668F5"/>
              </a:buClr>
              <a:buSzPct val="60000"/>
              <a:buFont typeface="Wingdings"/>
              <a:buChar char=""/>
              <a:tabLst>
                <a:tab pos="507365" algn="l"/>
              </a:tabLst>
            </a:pPr>
            <a:r>
              <a:rPr dirty="0" sz="2000" spc="-15" b="1">
                <a:solidFill>
                  <a:srgbClr val="00AFEF"/>
                </a:solidFill>
                <a:latin typeface="宋体"/>
                <a:cs typeface="宋体"/>
              </a:rPr>
              <a:t>当不命中时，情况比较复杂。</a:t>
            </a:r>
            <a:endParaRPr sz="2000">
              <a:latin typeface="宋体"/>
              <a:cs typeface="宋体"/>
            </a:endParaRPr>
          </a:p>
          <a:p>
            <a:pPr marL="498475">
              <a:lnSpc>
                <a:spcPct val="100000"/>
              </a:lnSpc>
              <a:spcBef>
                <a:spcPts val="960"/>
              </a:spcBef>
            </a:pPr>
            <a:r>
              <a:rPr dirty="0" sz="2000" spc="-10" b="1">
                <a:solidFill>
                  <a:srgbClr val="00AFEF"/>
                </a:solidFill>
                <a:latin typeface="宋体"/>
                <a:cs typeface="宋体"/>
              </a:rPr>
              <a:t>不命中时的访问时间为：T</a:t>
            </a:r>
            <a:r>
              <a:rPr dirty="0" baseline="-21367" sz="1950" spc="-15" b="1">
                <a:solidFill>
                  <a:srgbClr val="00AFEF"/>
                </a:solidFill>
                <a:latin typeface="宋体"/>
                <a:cs typeface="宋体"/>
              </a:rPr>
              <a:t>2</a:t>
            </a:r>
            <a:r>
              <a:rPr dirty="0" sz="1800" spc="-10">
                <a:solidFill>
                  <a:srgbClr val="00AFEF"/>
                </a:solidFill>
                <a:latin typeface="宋体"/>
                <a:cs typeface="宋体"/>
              </a:rPr>
              <a:t>＋</a:t>
            </a:r>
            <a:r>
              <a:rPr dirty="0" sz="2000" spc="-10" b="1">
                <a:solidFill>
                  <a:srgbClr val="00AFEF"/>
                </a:solidFill>
                <a:latin typeface="宋体"/>
                <a:cs typeface="宋体"/>
              </a:rPr>
              <a:t>T</a:t>
            </a:r>
            <a:r>
              <a:rPr dirty="0" baseline="-21367" sz="1950" spc="-15" b="1">
                <a:solidFill>
                  <a:srgbClr val="00AFEF"/>
                </a:solidFill>
                <a:latin typeface="宋体"/>
                <a:cs typeface="宋体"/>
              </a:rPr>
              <a:t>B</a:t>
            </a:r>
            <a:r>
              <a:rPr dirty="0" sz="1800" spc="-10">
                <a:solidFill>
                  <a:srgbClr val="00AFEF"/>
                </a:solidFill>
                <a:latin typeface="宋体"/>
                <a:cs typeface="宋体"/>
              </a:rPr>
              <a:t>＋</a:t>
            </a:r>
            <a:r>
              <a:rPr dirty="0" sz="2000" spc="-10" b="1">
                <a:solidFill>
                  <a:srgbClr val="00AFEF"/>
                </a:solidFill>
                <a:latin typeface="宋体"/>
                <a:cs typeface="宋体"/>
              </a:rPr>
              <a:t>T</a:t>
            </a:r>
            <a:r>
              <a:rPr dirty="0" baseline="-21367" sz="1950" spc="-15" b="1">
                <a:solidFill>
                  <a:srgbClr val="00AFEF"/>
                </a:solidFill>
                <a:latin typeface="宋体"/>
                <a:cs typeface="宋体"/>
              </a:rPr>
              <a:t>1</a:t>
            </a:r>
            <a:r>
              <a:rPr dirty="0" sz="2000" spc="-10" b="1">
                <a:solidFill>
                  <a:srgbClr val="00AFEF"/>
                </a:solidFill>
                <a:latin typeface="宋体"/>
                <a:cs typeface="宋体"/>
              </a:rPr>
              <a:t>＝T</a:t>
            </a:r>
            <a:r>
              <a:rPr dirty="0" baseline="-21367" sz="1950" spc="-15" b="1">
                <a:solidFill>
                  <a:srgbClr val="00AFEF"/>
                </a:solidFill>
                <a:latin typeface="宋体"/>
                <a:cs typeface="宋体"/>
              </a:rPr>
              <a:t>1</a:t>
            </a:r>
            <a:r>
              <a:rPr dirty="0" sz="1800" spc="-10">
                <a:solidFill>
                  <a:srgbClr val="00AFEF"/>
                </a:solidFill>
                <a:latin typeface="宋体"/>
                <a:cs typeface="宋体"/>
              </a:rPr>
              <a:t>＋</a:t>
            </a:r>
            <a:r>
              <a:rPr dirty="0" sz="2000" spc="-10" b="1">
                <a:solidFill>
                  <a:srgbClr val="00AFEF"/>
                </a:solidFill>
                <a:latin typeface="宋体"/>
                <a:cs typeface="宋体"/>
              </a:rPr>
              <a:t>T</a:t>
            </a:r>
            <a:r>
              <a:rPr dirty="0" baseline="-21367" sz="1950" spc="-15" b="1">
                <a:solidFill>
                  <a:srgbClr val="00AFEF"/>
                </a:solidFill>
                <a:latin typeface="宋体"/>
                <a:cs typeface="宋体"/>
              </a:rPr>
              <a:t>M</a:t>
            </a:r>
            <a:endParaRPr baseline="-21367" sz="1950">
              <a:latin typeface="宋体"/>
              <a:cs typeface="宋体"/>
            </a:endParaRPr>
          </a:p>
          <a:p>
            <a:pPr marL="3330575">
              <a:lnSpc>
                <a:spcPct val="100000"/>
              </a:lnSpc>
              <a:spcBef>
                <a:spcPts val="960"/>
              </a:spcBef>
            </a:pPr>
            <a:r>
              <a:rPr dirty="0" sz="2000" b="1">
                <a:solidFill>
                  <a:srgbClr val="00AFEF"/>
                </a:solidFill>
                <a:latin typeface="宋体"/>
                <a:cs typeface="宋体"/>
              </a:rPr>
              <a:t>T</a:t>
            </a:r>
            <a:r>
              <a:rPr dirty="0" baseline="-21367" sz="1950" b="1">
                <a:solidFill>
                  <a:srgbClr val="00AFEF"/>
                </a:solidFill>
                <a:latin typeface="宋体"/>
                <a:cs typeface="宋体"/>
              </a:rPr>
              <a:t>M</a:t>
            </a:r>
            <a:r>
              <a:rPr dirty="0" baseline="-21367" sz="1950" spc="22" b="1">
                <a:solidFill>
                  <a:srgbClr val="00AFEF"/>
                </a:solidFill>
                <a:latin typeface="宋体"/>
                <a:cs typeface="宋体"/>
              </a:rPr>
              <a:t> </a:t>
            </a:r>
            <a:r>
              <a:rPr dirty="0" sz="2000" spc="-10" b="1">
                <a:solidFill>
                  <a:srgbClr val="00AFEF"/>
                </a:solidFill>
                <a:latin typeface="宋体"/>
                <a:cs typeface="宋体"/>
              </a:rPr>
              <a:t>＝T</a:t>
            </a:r>
            <a:r>
              <a:rPr dirty="0" baseline="-21367" sz="1950" spc="-15" b="1">
                <a:solidFill>
                  <a:srgbClr val="00AFEF"/>
                </a:solidFill>
                <a:latin typeface="宋体"/>
                <a:cs typeface="宋体"/>
              </a:rPr>
              <a:t>2</a:t>
            </a:r>
            <a:r>
              <a:rPr dirty="0" sz="1800" spc="-10">
                <a:solidFill>
                  <a:srgbClr val="00AFEF"/>
                </a:solidFill>
                <a:latin typeface="宋体"/>
                <a:cs typeface="宋体"/>
              </a:rPr>
              <a:t>＋</a:t>
            </a:r>
            <a:r>
              <a:rPr dirty="0" sz="2000" spc="-10" b="1">
                <a:solidFill>
                  <a:srgbClr val="00AFEF"/>
                </a:solidFill>
                <a:latin typeface="宋体"/>
                <a:cs typeface="宋体"/>
              </a:rPr>
              <a:t>T</a:t>
            </a:r>
            <a:r>
              <a:rPr dirty="0" baseline="-21367" sz="1950" spc="-15" b="1">
                <a:solidFill>
                  <a:srgbClr val="00AFEF"/>
                </a:solidFill>
                <a:latin typeface="宋体"/>
                <a:cs typeface="宋体"/>
              </a:rPr>
              <a:t>B</a:t>
            </a:r>
            <a:endParaRPr baseline="-21367" sz="1950">
              <a:latin typeface="宋体"/>
              <a:cs typeface="宋体"/>
            </a:endParaRPr>
          </a:p>
        </p:txBody>
      </p:sp>
      <p:sp>
        <p:nvSpPr>
          <p:cNvPr id="13" name="object 13" descr=""/>
          <p:cNvSpPr txBox="1"/>
          <p:nvPr/>
        </p:nvSpPr>
        <p:spPr>
          <a:xfrm>
            <a:off x="2427477" y="4705578"/>
            <a:ext cx="8770620" cy="878840"/>
          </a:xfrm>
          <a:prstGeom prst="rect">
            <a:avLst/>
          </a:prstGeom>
        </p:spPr>
        <p:txBody>
          <a:bodyPr wrap="square" lIns="0" tIns="134620" rIns="0" bIns="0" rtlCol="0" vert="horz">
            <a:spAutoFit/>
          </a:bodyPr>
          <a:lstStyle/>
          <a:p>
            <a:pPr marL="418465" indent="-380365">
              <a:lnSpc>
                <a:spcPct val="100000"/>
              </a:lnSpc>
              <a:spcBef>
                <a:spcPts val="1060"/>
              </a:spcBef>
              <a:buClr>
                <a:srgbClr val="006600"/>
              </a:buClr>
              <a:buSzPct val="65000"/>
              <a:buFont typeface="Wingdings"/>
              <a:buChar char=""/>
              <a:tabLst>
                <a:tab pos="418465" algn="l"/>
              </a:tabLst>
            </a:pPr>
            <a:r>
              <a:rPr dirty="0" sz="2000" spc="-10" b="1">
                <a:solidFill>
                  <a:srgbClr val="FF0000"/>
                </a:solidFill>
                <a:latin typeface="宋体"/>
                <a:cs typeface="宋体"/>
              </a:rPr>
              <a:t>不命中开销</a:t>
            </a:r>
            <a:r>
              <a:rPr dirty="0" sz="2000" b="1">
                <a:solidFill>
                  <a:srgbClr val="40458B"/>
                </a:solidFill>
                <a:latin typeface="宋体"/>
                <a:cs typeface="宋体"/>
              </a:rPr>
              <a:t>T</a:t>
            </a:r>
            <a:r>
              <a:rPr dirty="0" baseline="-21367" sz="1950" b="1">
                <a:solidFill>
                  <a:srgbClr val="40458B"/>
                </a:solidFill>
                <a:latin typeface="宋体"/>
                <a:cs typeface="宋体"/>
              </a:rPr>
              <a:t>M</a:t>
            </a:r>
            <a:r>
              <a:rPr dirty="0" sz="2000" spc="-10" b="1">
                <a:solidFill>
                  <a:srgbClr val="40458B"/>
                </a:solidFill>
                <a:latin typeface="宋体"/>
                <a:cs typeface="宋体"/>
              </a:rPr>
              <a:t>：从向</a:t>
            </a:r>
            <a:r>
              <a:rPr dirty="0" sz="2000" b="1">
                <a:solidFill>
                  <a:srgbClr val="40458B"/>
                </a:solidFill>
                <a:latin typeface="宋体"/>
                <a:cs typeface="宋体"/>
              </a:rPr>
              <a:t>M</a:t>
            </a:r>
            <a:r>
              <a:rPr dirty="0" baseline="-21367" sz="1950" b="1">
                <a:solidFill>
                  <a:srgbClr val="40458B"/>
                </a:solidFill>
                <a:latin typeface="宋体"/>
                <a:cs typeface="宋体"/>
              </a:rPr>
              <a:t>2</a:t>
            </a:r>
            <a:r>
              <a:rPr dirty="0" sz="2000" spc="-20" b="1">
                <a:solidFill>
                  <a:srgbClr val="40458B"/>
                </a:solidFill>
                <a:latin typeface="宋体"/>
                <a:cs typeface="宋体"/>
              </a:rPr>
              <a:t>发出访问请求到把整个数据块调入</a:t>
            </a:r>
            <a:r>
              <a:rPr dirty="0" sz="2000" b="1">
                <a:solidFill>
                  <a:srgbClr val="40458B"/>
                </a:solidFill>
                <a:latin typeface="宋体"/>
                <a:cs typeface="宋体"/>
              </a:rPr>
              <a:t>M</a:t>
            </a:r>
            <a:r>
              <a:rPr dirty="0" baseline="-21367" sz="1950" b="1">
                <a:solidFill>
                  <a:srgbClr val="40458B"/>
                </a:solidFill>
                <a:latin typeface="宋体"/>
                <a:cs typeface="宋体"/>
              </a:rPr>
              <a:t>1</a:t>
            </a:r>
            <a:r>
              <a:rPr dirty="0" sz="2000" spc="-25" b="1">
                <a:solidFill>
                  <a:srgbClr val="40458B"/>
                </a:solidFill>
                <a:latin typeface="宋体"/>
                <a:cs typeface="宋体"/>
              </a:rPr>
              <a:t>中所需的时间。</a:t>
            </a:r>
            <a:endParaRPr sz="2000">
              <a:latin typeface="宋体"/>
              <a:cs typeface="宋体"/>
            </a:endParaRPr>
          </a:p>
          <a:p>
            <a:pPr marL="418465" indent="-380365">
              <a:lnSpc>
                <a:spcPct val="100000"/>
              </a:lnSpc>
              <a:spcBef>
                <a:spcPts val="960"/>
              </a:spcBef>
              <a:buClr>
                <a:srgbClr val="006600"/>
              </a:buClr>
              <a:buSzPct val="65000"/>
              <a:buFont typeface="Wingdings"/>
              <a:buChar char=""/>
              <a:tabLst>
                <a:tab pos="418465" algn="l"/>
              </a:tabLst>
            </a:pPr>
            <a:r>
              <a:rPr dirty="0" sz="2000" spc="-15" b="1">
                <a:solidFill>
                  <a:srgbClr val="40458B"/>
                </a:solidFill>
                <a:latin typeface="宋体"/>
                <a:cs typeface="宋体"/>
              </a:rPr>
              <a:t>传送一个信息块所需的时间为</a:t>
            </a:r>
            <a:r>
              <a:rPr dirty="0" sz="2000" b="1">
                <a:solidFill>
                  <a:srgbClr val="40458B"/>
                </a:solidFill>
                <a:latin typeface="宋体"/>
                <a:cs typeface="宋体"/>
              </a:rPr>
              <a:t>T</a:t>
            </a:r>
            <a:r>
              <a:rPr dirty="0" baseline="-21367" sz="1950" b="1">
                <a:solidFill>
                  <a:srgbClr val="40458B"/>
                </a:solidFill>
                <a:latin typeface="宋体"/>
                <a:cs typeface="宋体"/>
              </a:rPr>
              <a:t>B</a:t>
            </a:r>
            <a:r>
              <a:rPr dirty="0" sz="2000" spc="-50" b="1">
                <a:solidFill>
                  <a:srgbClr val="40458B"/>
                </a:solidFill>
                <a:latin typeface="宋体"/>
                <a:cs typeface="宋体"/>
              </a:rPr>
              <a:t>。</a:t>
            </a:r>
            <a:endParaRPr sz="2000">
              <a:latin typeface="宋体"/>
              <a:cs typeface="宋体"/>
            </a:endParaRPr>
          </a:p>
        </p:txBody>
      </p:sp>
      <p:grpSp>
        <p:nvGrpSpPr>
          <p:cNvPr id="14" name="object 14" descr=""/>
          <p:cNvGrpSpPr/>
          <p:nvPr/>
        </p:nvGrpSpPr>
        <p:grpSpPr>
          <a:xfrm>
            <a:off x="7523226" y="679450"/>
            <a:ext cx="4562475" cy="1933575"/>
            <a:chOff x="7523226" y="679450"/>
            <a:chExt cx="4562475" cy="1933575"/>
          </a:xfrm>
        </p:grpSpPr>
        <p:pic>
          <p:nvPicPr>
            <p:cNvPr id="15" name="object 15" descr=""/>
            <p:cNvPicPr/>
            <p:nvPr/>
          </p:nvPicPr>
          <p:blipFill>
            <a:blip r:embed="rId3" cstate="print"/>
            <a:stretch>
              <a:fillRect/>
            </a:stretch>
          </p:blipFill>
          <p:spPr>
            <a:xfrm>
              <a:off x="7595951" y="705264"/>
              <a:ext cx="4436905" cy="1895060"/>
            </a:xfrm>
            <a:prstGeom prst="rect">
              <a:avLst/>
            </a:prstGeom>
          </p:spPr>
        </p:pic>
        <p:sp>
          <p:nvSpPr>
            <p:cNvPr id="16" name="object 16" descr=""/>
            <p:cNvSpPr/>
            <p:nvPr/>
          </p:nvSpPr>
          <p:spPr>
            <a:xfrm>
              <a:off x="7529576" y="685800"/>
              <a:ext cx="4549775" cy="1920875"/>
            </a:xfrm>
            <a:custGeom>
              <a:avLst/>
              <a:gdLst/>
              <a:ahLst/>
              <a:cxnLst/>
              <a:rect l="l" t="t" r="r" b="b"/>
              <a:pathLst>
                <a:path w="4549775" h="1920875">
                  <a:moveTo>
                    <a:pt x="0" y="1920875"/>
                  </a:moveTo>
                  <a:lnTo>
                    <a:pt x="4549775" y="1920875"/>
                  </a:lnTo>
                  <a:lnTo>
                    <a:pt x="4549775" y="0"/>
                  </a:lnTo>
                  <a:lnTo>
                    <a:pt x="0" y="0"/>
                  </a:lnTo>
                  <a:lnTo>
                    <a:pt x="0" y="1920875"/>
                  </a:lnTo>
                  <a:close/>
                </a:path>
              </a:pathLst>
            </a:custGeom>
            <a:ln w="12700">
              <a:solidFill>
                <a:srgbClr val="FF0000"/>
              </a:solidFill>
            </a:ln>
          </p:spPr>
          <p:txBody>
            <a:bodyPr wrap="square" lIns="0" tIns="0" rIns="0" bIns="0" rtlCol="0"/>
            <a:lstStyle/>
            <a:p/>
          </p:txBody>
        </p:sp>
      </p:grpSp>
      <p:sp>
        <p:nvSpPr>
          <p:cNvPr id="17" name="object 17" descr=""/>
          <p:cNvSpPr txBox="1"/>
          <p:nvPr/>
        </p:nvSpPr>
        <p:spPr>
          <a:xfrm>
            <a:off x="7949945" y="2993466"/>
            <a:ext cx="1289050" cy="645160"/>
          </a:xfrm>
          <a:prstGeom prst="rect">
            <a:avLst/>
          </a:prstGeom>
          <a:solidFill>
            <a:srgbClr val="CCFFFF"/>
          </a:solidFill>
          <a:ln w="19836">
            <a:solidFill>
              <a:srgbClr val="000000"/>
            </a:solidFill>
          </a:ln>
        </p:spPr>
        <p:txBody>
          <a:bodyPr wrap="square" lIns="0" tIns="73025" rIns="0" bIns="0" rtlCol="0" vert="horz">
            <a:spAutoFit/>
          </a:bodyPr>
          <a:lstStyle/>
          <a:p>
            <a:pPr marL="119380" marR="78105" indent="467359">
              <a:lnSpc>
                <a:spcPts val="2030"/>
              </a:lnSpc>
              <a:spcBef>
                <a:spcPts val="575"/>
              </a:spcBef>
            </a:pPr>
            <a:r>
              <a:rPr dirty="0" sz="2000" spc="-25">
                <a:latin typeface="宋体"/>
                <a:cs typeface="宋体"/>
              </a:rPr>
              <a:t>M</a:t>
            </a:r>
            <a:r>
              <a:rPr dirty="0" baseline="-5555" sz="1500" spc="-37">
                <a:latin typeface="宋体"/>
                <a:cs typeface="宋体"/>
              </a:rPr>
              <a:t>1 </a:t>
            </a:r>
            <a:r>
              <a:rPr dirty="0" sz="2000" spc="-10">
                <a:latin typeface="宋体"/>
                <a:cs typeface="宋体"/>
              </a:rPr>
              <a:t>(T</a:t>
            </a:r>
            <a:r>
              <a:rPr dirty="0" baseline="-5555" sz="1500" spc="-15">
                <a:latin typeface="宋体"/>
                <a:cs typeface="宋体"/>
              </a:rPr>
              <a:t>1</a:t>
            </a:r>
            <a:r>
              <a:rPr dirty="0" sz="2000" spc="-10">
                <a:latin typeface="宋体"/>
                <a:cs typeface="宋体"/>
              </a:rPr>
              <a:t>,S</a:t>
            </a:r>
            <a:r>
              <a:rPr dirty="0" baseline="-5555" sz="1500" spc="-15">
                <a:latin typeface="宋体"/>
                <a:cs typeface="宋体"/>
              </a:rPr>
              <a:t>1</a:t>
            </a:r>
            <a:r>
              <a:rPr dirty="0" sz="2000" spc="-10">
                <a:latin typeface="宋体"/>
                <a:cs typeface="宋体"/>
              </a:rPr>
              <a:t>,C</a:t>
            </a:r>
            <a:r>
              <a:rPr dirty="0" baseline="-5555" sz="1500" spc="-15">
                <a:latin typeface="宋体"/>
                <a:cs typeface="宋体"/>
              </a:rPr>
              <a:t>1</a:t>
            </a:r>
            <a:r>
              <a:rPr dirty="0" sz="2000" spc="-10">
                <a:latin typeface="宋体"/>
                <a:cs typeface="宋体"/>
              </a:rPr>
              <a:t>)</a:t>
            </a:r>
            <a:endParaRPr sz="2000">
              <a:latin typeface="宋体"/>
              <a:cs typeface="宋体"/>
            </a:endParaRPr>
          </a:p>
        </p:txBody>
      </p:sp>
      <p:sp>
        <p:nvSpPr>
          <p:cNvPr id="18" name="object 18" descr=""/>
          <p:cNvSpPr txBox="1"/>
          <p:nvPr/>
        </p:nvSpPr>
        <p:spPr>
          <a:xfrm>
            <a:off x="10040220" y="2860861"/>
            <a:ext cx="1302385" cy="864235"/>
          </a:xfrm>
          <a:prstGeom prst="rect">
            <a:avLst/>
          </a:prstGeom>
          <a:solidFill>
            <a:srgbClr val="00FFFF"/>
          </a:solidFill>
          <a:ln w="19854">
            <a:solidFill>
              <a:srgbClr val="000000"/>
            </a:solidFill>
          </a:ln>
        </p:spPr>
        <p:txBody>
          <a:bodyPr wrap="square" lIns="0" tIns="70485" rIns="0" bIns="0" rtlCol="0" vert="horz">
            <a:spAutoFit/>
          </a:bodyPr>
          <a:lstStyle/>
          <a:p>
            <a:pPr marL="100330" marR="111760" indent="500380">
              <a:lnSpc>
                <a:spcPct val="113300"/>
              </a:lnSpc>
              <a:spcBef>
                <a:spcPts val="555"/>
              </a:spcBef>
            </a:pPr>
            <a:r>
              <a:rPr dirty="0" sz="2000" spc="-25">
                <a:latin typeface="宋体"/>
                <a:cs typeface="宋体"/>
              </a:rPr>
              <a:t>M</a:t>
            </a:r>
            <a:r>
              <a:rPr dirty="0" baseline="-5555" sz="1500" spc="-37">
                <a:latin typeface="宋体"/>
                <a:cs typeface="宋体"/>
              </a:rPr>
              <a:t>2 </a:t>
            </a:r>
            <a:r>
              <a:rPr dirty="0" sz="2000" spc="-10">
                <a:latin typeface="宋体"/>
                <a:cs typeface="宋体"/>
              </a:rPr>
              <a:t>(T</a:t>
            </a:r>
            <a:r>
              <a:rPr dirty="0" baseline="-5555" sz="1500" spc="-15">
                <a:latin typeface="宋体"/>
                <a:cs typeface="宋体"/>
              </a:rPr>
              <a:t>2</a:t>
            </a:r>
            <a:r>
              <a:rPr dirty="0" sz="2000" spc="-10">
                <a:latin typeface="宋体"/>
                <a:cs typeface="宋体"/>
              </a:rPr>
              <a:t>,S</a:t>
            </a:r>
            <a:r>
              <a:rPr dirty="0" baseline="-5555" sz="1500" spc="-15">
                <a:latin typeface="宋体"/>
                <a:cs typeface="宋体"/>
              </a:rPr>
              <a:t>2</a:t>
            </a:r>
            <a:r>
              <a:rPr dirty="0" sz="2000" spc="-10">
                <a:latin typeface="宋体"/>
                <a:cs typeface="宋体"/>
              </a:rPr>
              <a:t>,C</a:t>
            </a:r>
            <a:r>
              <a:rPr dirty="0" baseline="-5555" sz="1500" spc="-15">
                <a:latin typeface="宋体"/>
                <a:cs typeface="宋体"/>
              </a:rPr>
              <a:t>2</a:t>
            </a:r>
            <a:r>
              <a:rPr dirty="0" sz="2000" spc="-10">
                <a:latin typeface="宋体"/>
                <a:cs typeface="宋体"/>
              </a:rPr>
              <a:t>)</a:t>
            </a:r>
            <a:endParaRPr sz="2000">
              <a:latin typeface="宋体"/>
              <a:cs typeface="宋体"/>
            </a:endParaRPr>
          </a:p>
        </p:txBody>
      </p:sp>
      <p:grpSp>
        <p:nvGrpSpPr>
          <p:cNvPr id="19" name="object 19" descr=""/>
          <p:cNvGrpSpPr/>
          <p:nvPr/>
        </p:nvGrpSpPr>
        <p:grpSpPr>
          <a:xfrm>
            <a:off x="9239256" y="3240314"/>
            <a:ext cx="795655" cy="113030"/>
            <a:chOff x="9239256" y="3240314"/>
            <a:chExt cx="795655" cy="113030"/>
          </a:xfrm>
        </p:grpSpPr>
        <p:sp>
          <p:nvSpPr>
            <p:cNvPr id="20" name="object 20" descr=""/>
            <p:cNvSpPr/>
            <p:nvPr/>
          </p:nvSpPr>
          <p:spPr>
            <a:xfrm>
              <a:off x="9242679" y="3243737"/>
              <a:ext cx="788670" cy="106680"/>
            </a:xfrm>
            <a:custGeom>
              <a:avLst/>
              <a:gdLst/>
              <a:ahLst/>
              <a:cxnLst/>
              <a:rect l="l" t="t" r="r" b="b"/>
              <a:pathLst>
                <a:path w="788670" h="106679">
                  <a:moveTo>
                    <a:pt x="167354" y="0"/>
                  </a:moveTo>
                  <a:lnTo>
                    <a:pt x="0" y="53034"/>
                  </a:lnTo>
                  <a:lnTo>
                    <a:pt x="167354" y="106096"/>
                  </a:lnTo>
                  <a:lnTo>
                    <a:pt x="122034" y="65962"/>
                  </a:lnTo>
                  <a:lnTo>
                    <a:pt x="100540" y="65962"/>
                  </a:lnTo>
                  <a:lnTo>
                    <a:pt x="100540" y="59842"/>
                  </a:lnTo>
                  <a:lnTo>
                    <a:pt x="93672" y="53034"/>
                  </a:lnTo>
                  <a:lnTo>
                    <a:pt x="107436" y="39445"/>
                  </a:lnTo>
                  <a:lnTo>
                    <a:pt x="122789" y="39445"/>
                  </a:lnTo>
                  <a:lnTo>
                    <a:pt x="167354" y="0"/>
                  </a:lnTo>
                  <a:close/>
                </a:path>
                <a:path w="788670" h="106679">
                  <a:moveTo>
                    <a:pt x="621233" y="0"/>
                  </a:moveTo>
                  <a:lnTo>
                    <a:pt x="674951" y="53034"/>
                  </a:lnTo>
                  <a:lnTo>
                    <a:pt x="621233" y="106096"/>
                  </a:lnTo>
                  <a:lnTo>
                    <a:pt x="747814" y="65962"/>
                  </a:lnTo>
                  <a:lnTo>
                    <a:pt x="688047" y="65962"/>
                  </a:lnTo>
                  <a:lnTo>
                    <a:pt x="688047" y="46253"/>
                  </a:lnTo>
                  <a:lnTo>
                    <a:pt x="681846" y="39445"/>
                  </a:lnTo>
                  <a:lnTo>
                    <a:pt x="745705" y="39445"/>
                  </a:lnTo>
                  <a:lnTo>
                    <a:pt x="621233" y="0"/>
                  </a:lnTo>
                  <a:close/>
                </a:path>
                <a:path w="788670" h="106679">
                  <a:moveTo>
                    <a:pt x="122789" y="39445"/>
                  </a:moveTo>
                  <a:lnTo>
                    <a:pt x="107436" y="39445"/>
                  </a:lnTo>
                  <a:lnTo>
                    <a:pt x="93672" y="53034"/>
                  </a:lnTo>
                  <a:lnTo>
                    <a:pt x="100540" y="59842"/>
                  </a:lnTo>
                  <a:lnTo>
                    <a:pt x="100540" y="65962"/>
                  </a:lnTo>
                  <a:lnTo>
                    <a:pt x="122034" y="65962"/>
                  </a:lnTo>
                  <a:lnTo>
                    <a:pt x="107436" y="53034"/>
                  </a:lnTo>
                  <a:lnTo>
                    <a:pt x="122789" y="39445"/>
                  </a:lnTo>
                  <a:close/>
                </a:path>
                <a:path w="788670" h="106679">
                  <a:moveTo>
                    <a:pt x="661186" y="39445"/>
                  </a:moveTo>
                  <a:lnTo>
                    <a:pt x="122789" y="39445"/>
                  </a:lnTo>
                  <a:lnTo>
                    <a:pt x="107436" y="53034"/>
                  </a:lnTo>
                  <a:lnTo>
                    <a:pt x="122034" y="65962"/>
                  </a:lnTo>
                  <a:lnTo>
                    <a:pt x="661863" y="65962"/>
                  </a:lnTo>
                  <a:lnTo>
                    <a:pt x="674951" y="53034"/>
                  </a:lnTo>
                  <a:lnTo>
                    <a:pt x="661186" y="39445"/>
                  </a:lnTo>
                  <a:close/>
                </a:path>
                <a:path w="788670" h="106679">
                  <a:moveTo>
                    <a:pt x="745705" y="39445"/>
                  </a:moveTo>
                  <a:lnTo>
                    <a:pt x="681846" y="39445"/>
                  </a:lnTo>
                  <a:lnTo>
                    <a:pt x="688047" y="46253"/>
                  </a:lnTo>
                  <a:lnTo>
                    <a:pt x="688047" y="65962"/>
                  </a:lnTo>
                  <a:lnTo>
                    <a:pt x="747814" y="65962"/>
                  </a:lnTo>
                  <a:lnTo>
                    <a:pt x="788588" y="53034"/>
                  </a:lnTo>
                  <a:lnTo>
                    <a:pt x="745705" y="39445"/>
                  </a:lnTo>
                  <a:close/>
                </a:path>
              </a:pathLst>
            </a:custGeom>
            <a:solidFill>
              <a:srgbClr val="000000"/>
            </a:solidFill>
          </p:spPr>
          <p:txBody>
            <a:bodyPr wrap="square" lIns="0" tIns="0" rIns="0" bIns="0" rtlCol="0"/>
            <a:lstStyle/>
            <a:p/>
          </p:txBody>
        </p:sp>
        <p:sp>
          <p:nvSpPr>
            <p:cNvPr id="21" name="object 21" descr=""/>
            <p:cNvSpPr/>
            <p:nvPr/>
          </p:nvSpPr>
          <p:spPr>
            <a:xfrm>
              <a:off x="9242679" y="3243737"/>
              <a:ext cx="788670" cy="106680"/>
            </a:xfrm>
            <a:custGeom>
              <a:avLst/>
              <a:gdLst/>
              <a:ahLst/>
              <a:cxnLst/>
              <a:rect l="l" t="t" r="r" b="b"/>
              <a:pathLst>
                <a:path w="788670" h="106679">
                  <a:moveTo>
                    <a:pt x="107436" y="39445"/>
                  </a:moveTo>
                  <a:lnTo>
                    <a:pt x="674951" y="39445"/>
                  </a:lnTo>
                  <a:lnTo>
                    <a:pt x="681846" y="39445"/>
                  </a:lnTo>
                  <a:lnTo>
                    <a:pt x="688047" y="46253"/>
                  </a:lnTo>
                  <a:lnTo>
                    <a:pt x="688047" y="53034"/>
                  </a:lnTo>
                  <a:lnTo>
                    <a:pt x="688047" y="59842"/>
                  </a:lnTo>
                  <a:lnTo>
                    <a:pt x="688047" y="65962"/>
                  </a:lnTo>
                  <a:lnTo>
                    <a:pt x="681846" y="65962"/>
                  </a:lnTo>
                  <a:lnTo>
                    <a:pt x="674951" y="65962"/>
                  </a:lnTo>
                  <a:lnTo>
                    <a:pt x="107436" y="65962"/>
                  </a:lnTo>
                  <a:lnTo>
                    <a:pt x="100540" y="65962"/>
                  </a:lnTo>
                  <a:lnTo>
                    <a:pt x="100540" y="59842"/>
                  </a:lnTo>
                  <a:lnTo>
                    <a:pt x="93672" y="53034"/>
                  </a:lnTo>
                  <a:lnTo>
                    <a:pt x="100540" y="46253"/>
                  </a:lnTo>
                  <a:lnTo>
                    <a:pt x="107436" y="39445"/>
                  </a:lnTo>
                  <a:close/>
                </a:path>
                <a:path w="788670" h="106679">
                  <a:moveTo>
                    <a:pt x="107436" y="53034"/>
                  </a:moveTo>
                  <a:lnTo>
                    <a:pt x="167354" y="106096"/>
                  </a:lnTo>
                  <a:lnTo>
                    <a:pt x="0" y="53034"/>
                  </a:lnTo>
                  <a:lnTo>
                    <a:pt x="167354" y="0"/>
                  </a:lnTo>
                  <a:lnTo>
                    <a:pt x="107436" y="53034"/>
                  </a:lnTo>
                  <a:close/>
                </a:path>
                <a:path w="788670" h="106679">
                  <a:moveTo>
                    <a:pt x="674951" y="53034"/>
                  </a:moveTo>
                  <a:lnTo>
                    <a:pt x="621233" y="0"/>
                  </a:lnTo>
                  <a:lnTo>
                    <a:pt x="788588" y="53034"/>
                  </a:lnTo>
                  <a:lnTo>
                    <a:pt x="621233" y="106096"/>
                  </a:lnTo>
                  <a:lnTo>
                    <a:pt x="674951" y="53034"/>
                  </a:lnTo>
                  <a:close/>
                </a:path>
              </a:pathLst>
            </a:custGeom>
            <a:ln w="6857">
              <a:solidFill>
                <a:srgbClr val="000000"/>
              </a:solidFill>
            </a:ln>
          </p:spPr>
          <p:txBody>
            <a:bodyPr wrap="square" lIns="0" tIns="0" rIns="0" bIns="0" rtlCol="0"/>
            <a:lstStyle/>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15805" cy="209550"/>
          </a:xfrm>
          <a:prstGeom prst="rect">
            <a:avLst/>
          </a:prstGeom>
        </p:spPr>
        <p:txBody>
          <a:bodyPr wrap="square" lIns="0" tIns="0" rIns="0" bIns="0" rtlCol="0" vert="horz">
            <a:spAutoFit/>
          </a:bodyPr>
          <a:lstStyle/>
          <a:p>
            <a:pPr>
              <a:lnSpc>
                <a:spcPts val="1650"/>
              </a:lnSpc>
              <a:tabLst>
                <a:tab pos="909701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08151" y="722503"/>
            <a:ext cx="2406650" cy="391160"/>
          </a:xfrm>
          <a:prstGeom prst="rect">
            <a:avLst/>
          </a:prstGeom>
        </p:spPr>
        <p:txBody>
          <a:bodyPr wrap="square" lIns="0" tIns="12700" rIns="0" bIns="0" rtlCol="0" vert="horz">
            <a:spAutoFit/>
          </a:bodyPr>
          <a:lstStyle/>
          <a:p>
            <a:pPr marL="564515" indent="-551815">
              <a:lnSpc>
                <a:spcPct val="100000"/>
              </a:lnSpc>
              <a:spcBef>
                <a:spcPts val="100"/>
              </a:spcBef>
              <a:buSzPct val="89583"/>
              <a:buFont typeface="Wingdings"/>
              <a:buChar char=""/>
              <a:tabLst>
                <a:tab pos="564515" algn="l"/>
              </a:tabLst>
            </a:pPr>
            <a:r>
              <a:rPr dirty="0" sz="2400" spc="-10">
                <a:solidFill>
                  <a:srgbClr val="40458B"/>
                </a:solidFill>
                <a:latin typeface="黑体"/>
                <a:cs typeface="黑体"/>
              </a:rPr>
              <a:t>三级存储系统</a:t>
            </a:r>
            <a:endParaRPr sz="2400">
              <a:latin typeface="黑体"/>
              <a:cs typeface="黑体"/>
            </a:endParaRPr>
          </a:p>
        </p:txBody>
      </p:sp>
      <p:sp>
        <p:nvSpPr>
          <p:cNvPr id="10" name="object 10" descr=""/>
          <p:cNvSpPr txBox="1"/>
          <p:nvPr/>
        </p:nvSpPr>
        <p:spPr>
          <a:xfrm>
            <a:off x="1336294" y="1094968"/>
            <a:ext cx="3463925" cy="1214755"/>
          </a:xfrm>
          <a:prstGeom prst="rect">
            <a:avLst/>
          </a:prstGeom>
        </p:spPr>
        <p:txBody>
          <a:bodyPr wrap="square" lIns="0" tIns="104140" rIns="0" bIns="0" rtlCol="0" vert="horz">
            <a:spAutoFit/>
          </a:bodyPr>
          <a:lstStyle/>
          <a:p>
            <a:pPr marL="469265" indent="-456565">
              <a:lnSpc>
                <a:spcPct val="100000"/>
              </a:lnSpc>
              <a:spcBef>
                <a:spcPts val="820"/>
              </a:spcBef>
              <a:buClr>
                <a:srgbClr val="4668F5"/>
              </a:buClr>
              <a:buSzPct val="60000"/>
              <a:buFont typeface="Wingdings"/>
              <a:buChar char=""/>
              <a:tabLst>
                <a:tab pos="469265" algn="l"/>
              </a:tabLst>
            </a:pPr>
            <a:r>
              <a:rPr dirty="0" sz="2000" spc="-10" b="1">
                <a:latin typeface="Times New Roman"/>
                <a:cs typeface="Times New Roman"/>
              </a:rPr>
              <a:t>Cache</a:t>
            </a:r>
            <a:r>
              <a:rPr dirty="0" sz="2000" spc="-10" b="1">
                <a:latin typeface="宋体"/>
                <a:cs typeface="宋体"/>
              </a:rPr>
              <a:t>（</a:t>
            </a:r>
            <a:r>
              <a:rPr dirty="0" sz="2000" spc="-15" b="1">
                <a:latin typeface="宋体"/>
                <a:cs typeface="宋体"/>
              </a:rPr>
              <a:t>高速缓冲存储器</a:t>
            </a:r>
            <a:r>
              <a:rPr dirty="0" sz="2000" spc="-50" b="1">
                <a:latin typeface="宋体"/>
                <a:cs typeface="宋体"/>
              </a:rPr>
              <a:t>）</a:t>
            </a:r>
            <a:endParaRPr sz="2000">
              <a:latin typeface="宋体"/>
              <a:cs typeface="宋体"/>
            </a:endParaRPr>
          </a:p>
          <a:p>
            <a:pPr marL="469265" indent="-456565">
              <a:lnSpc>
                <a:spcPct val="100000"/>
              </a:lnSpc>
              <a:spcBef>
                <a:spcPts val="720"/>
              </a:spcBef>
              <a:buClr>
                <a:srgbClr val="4668F5"/>
              </a:buClr>
              <a:buSzPct val="60000"/>
              <a:buFont typeface="Wingdings"/>
              <a:buChar char=""/>
              <a:tabLst>
                <a:tab pos="469265" algn="l"/>
              </a:tabLst>
            </a:pPr>
            <a:r>
              <a:rPr dirty="0" sz="2000" spc="-20" b="1">
                <a:latin typeface="宋体"/>
                <a:cs typeface="宋体"/>
              </a:rPr>
              <a:t>主存储器</a:t>
            </a:r>
            <a:endParaRPr sz="2000">
              <a:latin typeface="宋体"/>
              <a:cs typeface="宋体"/>
            </a:endParaRPr>
          </a:p>
          <a:p>
            <a:pPr marL="469265" indent="-456565">
              <a:lnSpc>
                <a:spcPct val="100000"/>
              </a:lnSpc>
              <a:spcBef>
                <a:spcPts val="720"/>
              </a:spcBef>
              <a:buClr>
                <a:srgbClr val="4668F5"/>
              </a:buClr>
              <a:buSzPct val="60000"/>
              <a:buFont typeface="Wingdings"/>
              <a:buChar char=""/>
              <a:tabLst>
                <a:tab pos="469265" algn="l"/>
              </a:tabLst>
            </a:pPr>
            <a:r>
              <a:rPr dirty="0" sz="2000" spc="-10" b="1">
                <a:latin typeface="宋体"/>
                <a:cs typeface="宋体"/>
              </a:rPr>
              <a:t>磁盘存储器（辅存</a:t>
            </a:r>
            <a:r>
              <a:rPr dirty="0" sz="2000" spc="-50" b="1">
                <a:latin typeface="宋体"/>
                <a:cs typeface="宋体"/>
              </a:rPr>
              <a:t>）</a:t>
            </a:r>
            <a:endParaRPr sz="2000">
              <a:latin typeface="宋体"/>
              <a:cs typeface="宋体"/>
            </a:endParaRPr>
          </a:p>
        </p:txBody>
      </p:sp>
      <p:sp>
        <p:nvSpPr>
          <p:cNvPr id="11" name="object 11"/>
          <p:cNvSpPr txBox="1">
            <a:spLocks noGrp="1"/>
          </p:cNvSpPr>
          <p:nvPr>
            <p:ph type="title"/>
          </p:nvPr>
        </p:nvSpPr>
        <p:spPr>
          <a:xfrm>
            <a:off x="1710944" y="114045"/>
            <a:ext cx="29991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7.1.3</a:t>
            </a:r>
            <a:r>
              <a:rPr dirty="0" u="none" sz="2600" spc="-20">
                <a:solidFill>
                  <a:srgbClr val="0000CC"/>
                </a:solidFill>
              </a:rPr>
              <a:t> 三级存储系统</a:t>
            </a:r>
            <a:endParaRPr sz="2600"/>
          </a:p>
        </p:txBody>
      </p:sp>
      <p:grpSp>
        <p:nvGrpSpPr>
          <p:cNvPr id="12" name="object 12" descr=""/>
          <p:cNvGrpSpPr/>
          <p:nvPr/>
        </p:nvGrpSpPr>
        <p:grpSpPr>
          <a:xfrm>
            <a:off x="8042312" y="1073646"/>
            <a:ext cx="3023870" cy="1457325"/>
            <a:chOff x="8042312" y="1073646"/>
            <a:chExt cx="3023870" cy="1457325"/>
          </a:xfrm>
        </p:grpSpPr>
        <p:sp>
          <p:nvSpPr>
            <p:cNvPr id="13" name="object 13" descr=""/>
            <p:cNvSpPr/>
            <p:nvPr/>
          </p:nvSpPr>
          <p:spPr>
            <a:xfrm>
              <a:off x="9999125" y="1365730"/>
              <a:ext cx="810260" cy="925830"/>
            </a:xfrm>
            <a:custGeom>
              <a:avLst/>
              <a:gdLst/>
              <a:ahLst/>
              <a:cxnLst/>
              <a:rect l="l" t="t" r="r" b="b"/>
              <a:pathLst>
                <a:path w="810259" h="925830">
                  <a:moveTo>
                    <a:pt x="810012" y="0"/>
                  </a:moveTo>
                  <a:lnTo>
                    <a:pt x="0" y="0"/>
                  </a:lnTo>
                  <a:lnTo>
                    <a:pt x="0" y="925511"/>
                  </a:lnTo>
                  <a:lnTo>
                    <a:pt x="810012" y="925511"/>
                  </a:lnTo>
                  <a:lnTo>
                    <a:pt x="810012" y="0"/>
                  </a:lnTo>
                  <a:close/>
                </a:path>
              </a:pathLst>
            </a:custGeom>
            <a:solidFill>
              <a:srgbClr val="00FFFF"/>
            </a:solidFill>
          </p:spPr>
          <p:txBody>
            <a:bodyPr wrap="square" lIns="0" tIns="0" rIns="0" bIns="0" rtlCol="0"/>
            <a:lstStyle/>
            <a:p/>
          </p:txBody>
        </p:sp>
        <p:sp>
          <p:nvSpPr>
            <p:cNvPr id="14" name="object 14" descr=""/>
            <p:cNvSpPr/>
            <p:nvPr/>
          </p:nvSpPr>
          <p:spPr>
            <a:xfrm>
              <a:off x="9999125" y="1365730"/>
              <a:ext cx="810260" cy="925830"/>
            </a:xfrm>
            <a:custGeom>
              <a:avLst/>
              <a:gdLst/>
              <a:ahLst/>
              <a:cxnLst/>
              <a:rect l="l" t="t" r="r" b="b"/>
              <a:pathLst>
                <a:path w="810259" h="925830">
                  <a:moveTo>
                    <a:pt x="0" y="925511"/>
                  </a:moveTo>
                  <a:lnTo>
                    <a:pt x="810012" y="925511"/>
                  </a:lnTo>
                  <a:lnTo>
                    <a:pt x="810012" y="0"/>
                  </a:lnTo>
                  <a:lnTo>
                    <a:pt x="0" y="0"/>
                  </a:lnTo>
                  <a:lnTo>
                    <a:pt x="0" y="925511"/>
                  </a:lnTo>
                  <a:close/>
                </a:path>
              </a:pathLst>
            </a:custGeom>
            <a:ln w="16231">
              <a:solidFill>
                <a:srgbClr val="000000"/>
              </a:solidFill>
            </a:ln>
          </p:spPr>
          <p:txBody>
            <a:bodyPr wrap="square" lIns="0" tIns="0" rIns="0" bIns="0" rtlCol="0"/>
            <a:lstStyle/>
            <a:p/>
          </p:txBody>
        </p:sp>
        <p:sp>
          <p:nvSpPr>
            <p:cNvPr id="15" name="object 15" descr=""/>
            <p:cNvSpPr/>
            <p:nvPr/>
          </p:nvSpPr>
          <p:spPr>
            <a:xfrm>
              <a:off x="8367846" y="1565865"/>
              <a:ext cx="777875" cy="530860"/>
            </a:xfrm>
            <a:custGeom>
              <a:avLst/>
              <a:gdLst/>
              <a:ahLst/>
              <a:cxnLst/>
              <a:rect l="l" t="t" r="r" b="b"/>
              <a:pathLst>
                <a:path w="777875" h="530860">
                  <a:moveTo>
                    <a:pt x="777492" y="0"/>
                  </a:moveTo>
                  <a:lnTo>
                    <a:pt x="0" y="0"/>
                  </a:lnTo>
                  <a:lnTo>
                    <a:pt x="0" y="530289"/>
                  </a:lnTo>
                  <a:lnTo>
                    <a:pt x="777492" y="530289"/>
                  </a:lnTo>
                  <a:lnTo>
                    <a:pt x="777492" y="0"/>
                  </a:lnTo>
                  <a:close/>
                </a:path>
              </a:pathLst>
            </a:custGeom>
            <a:solidFill>
              <a:srgbClr val="CCFFFF"/>
            </a:solidFill>
          </p:spPr>
          <p:txBody>
            <a:bodyPr wrap="square" lIns="0" tIns="0" rIns="0" bIns="0" rtlCol="0"/>
            <a:lstStyle/>
            <a:p/>
          </p:txBody>
        </p:sp>
        <p:sp>
          <p:nvSpPr>
            <p:cNvPr id="16" name="object 16" descr=""/>
            <p:cNvSpPr/>
            <p:nvPr/>
          </p:nvSpPr>
          <p:spPr>
            <a:xfrm>
              <a:off x="8367846" y="1565865"/>
              <a:ext cx="777875" cy="530860"/>
            </a:xfrm>
            <a:custGeom>
              <a:avLst/>
              <a:gdLst/>
              <a:ahLst/>
              <a:cxnLst/>
              <a:rect l="l" t="t" r="r" b="b"/>
              <a:pathLst>
                <a:path w="777875" h="530860">
                  <a:moveTo>
                    <a:pt x="0" y="530289"/>
                  </a:moveTo>
                  <a:lnTo>
                    <a:pt x="777492" y="530289"/>
                  </a:lnTo>
                  <a:lnTo>
                    <a:pt x="777492" y="0"/>
                  </a:lnTo>
                  <a:lnTo>
                    <a:pt x="0" y="0"/>
                  </a:lnTo>
                  <a:lnTo>
                    <a:pt x="0" y="530289"/>
                  </a:lnTo>
                  <a:close/>
                </a:path>
              </a:pathLst>
            </a:custGeom>
            <a:ln w="16210">
              <a:solidFill>
                <a:srgbClr val="000000"/>
              </a:solidFill>
            </a:ln>
          </p:spPr>
          <p:txBody>
            <a:bodyPr wrap="square" lIns="0" tIns="0" rIns="0" bIns="0" rtlCol="0"/>
            <a:lstStyle/>
            <a:p/>
          </p:txBody>
        </p:sp>
        <p:sp>
          <p:nvSpPr>
            <p:cNvPr id="17" name="object 17" descr=""/>
            <p:cNvSpPr/>
            <p:nvPr/>
          </p:nvSpPr>
          <p:spPr>
            <a:xfrm>
              <a:off x="8045295" y="1076692"/>
              <a:ext cx="3012440" cy="1450975"/>
            </a:xfrm>
            <a:custGeom>
              <a:avLst/>
              <a:gdLst/>
              <a:ahLst/>
              <a:cxnLst/>
              <a:rect l="l" t="t" r="r" b="b"/>
              <a:pathLst>
                <a:path w="3012440" h="1450975">
                  <a:moveTo>
                    <a:pt x="3011864" y="16131"/>
                  </a:moveTo>
                  <a:lnTo>
                    <a:pt x="2995559" y="16131"/>
                  </a:lnTo>
                  <a:lnTo>
                    <a:pt x="2995559" y="81153"/>
                  </a:lnTo>
                  <a:lnTo>
                    <a:pt x="3011864" y="81153"/>
                  </a:lnTo>
                  <a:lnTo>
                    <a:pt x="3011864" y="16131"/>
                  </a:lnTo>
                  <a:close/>
                </a:path>
                <a:path w="3012440" h="1450975">
                  <a:moveTo>
                    <a:pt x="3006656" y="0"/>
                  </a:moveTo>
                  <a:lnTo>
                    <a:pt x="2935999" y="0"/>
                  </a:lnTo>
                  <a:lnTo>
                    <a:pt x="2935999" y="16131"/>
                  </a:lnTo>
                  <a:lnTo>
                    <a:pt x="3006656" y="16131"/>
                  </a:lnTo>
                  <a:lnTo>
                    <a:pt x="3006656" y="0"/>
                  </a:lnTo>
                  <a:close/>
                </a:path>
                <a:path w="3012440" h="1450975">
                  <a:moveTo>
                    <a:pt x="2886630" y="0"/>
                  </a:moveTo>
                  <a:lnTo>
                    <a:pt x="2815974" y="0"/>
                  </a:lnTo>
                  <a:lnTo>
                    <a:pt x="2815974" y="16131"/>
                  </a:lnTo>
                  <a:lnTo>
                    <a:pt x="2886630" y="16131"/>
                  </a:lnTo>
                  <a:lnTo>
                    <a:pt x="2886630" y="0"/>
                  </a:lnTo>
                  <a:close/>
                </a:path>
                <a:path w="3012440" h="1450975">
                  <a:moveTo>
                    <a:pt x="2767285" y="0"/>
                  </a:moveTo>
                  <a:lnTo>
                    <a:pt x="2696402" y="0"/>
                  </a:lnTo>
                  <a:lnTo>
                    <a:pt x="2696402" y="16131"/>
                  </a:lnTo>
                  <a:lnTo>
                    <a:pt x="2767285" y="16131"/>
                  </a:lnTo>
                  <a:lnTo>
                    <a:pt x="2767285" y="0"/>
                  </a:lnTo>
                  <a:close/>
                </a:path>
                <a:path w="3012440" h="1450975">
                  <a:moveTo>
                    <a:pt x="2647712" y="0"/>
                  </a:moveTo>
                  <a:lnTo>
                    <a:pt x="2582717" y="0"/>
                  </a:lnTo>
                  <a:lnTo>
                    <a:pt x="2582717" y="16131"/>
                  </a:lnTo>
                  <a:lnTo>
                    <a:pt x="2647712" y="16131"/>
                  </a:lnTo>
                  <a:lnTo>
                    <a:pt x="2647712" y="0"/>
                  </a:lnTo>
                  <a:close/>
                </a:path>
                <a:path w="3012440" h="1450975">
                  <a:moveTo>
                    <a:pt x="2528140" y="0"/>
                  </a:moveTo>
                  <a:lnTo>
                    <a:pt x="2462692" y="0"/>
                  </a:lnTo>
                  <a:lnTo>
                    <a:pt x="2462692" y="16131"/>
                  </a:lnTo>
                  <a:lnTo>
                    <a:pt x="2528140" y="16131"/>
                  </a:lnTo>
                  <a:lnTo>
                    <a:pt x="2528140" y="0"/>
                  </a:lnTo>
                  <a:close/>
                </a:path>
                <a:path w="3012440" h="1450975">
                  <a:moveTo>
                    <a:pt x="2408114" y="0"/>
                  </a:moveTo>
                  <a:lnTo>
                    <a:pt x="2343120" y="0"/>
                  </a:lnTo>
                  <a:lnTo>
                    <a:pt x="2343120" y="16131"/>
                  </a:lnTo>
                  <a:lnTo>
                    <a:pt x="2408114" y="16131"/>
                  </a:lnTo>
                  <a:lnTo>
                    <a:pt x="2408114" y="0"/>
                  </a:lnTo>
                  <a:close/>
                </a:path>
                <a:path w="3012440" h="1450975">
                  <a:moveTo>
                    <a:pt x="2288769" y="0"/>
                  </a:moveTo>
                  <a:lnTo>
                    <a:pt x="2223547" y="0"/>
                  </a:lnTo>
                  <a:lnTo>
                    <a:pt x="2223547" y="16131"/>
                  </a:lnTo>
                  <a:lnTo>
                    <a:pt x="2288769" y="16131"/>
                  </a:lnTo>
                  <a:lnTo>
                    <a:pt x="2288769" y="0"/>
                  </a:lnTo>
                  <a:close/>
                </a:path>
                <a:path w="3012440" h="1450975">
                  <a:moveTo>
                    <a:pt x="2174858" y="0"/>
                  </a:moveTo>
                  <a:lnTo>
                    <a:pt x="2104201" y="0"/>
                  </a:lnTo>
                  <a:lnTo>
                    <a:pt x="2104201" y="16131"/>
                  </a:lnTo>
                  <a:lnTo>
                    <a:pt x="2174858" y="16131"/>
                  </a:lnTo>
                  <a:lnTo>
                    <a:pt x="2174858" y="0"/>
                  </a:lnTo>
                  <a:close/>
                </a:path>
                <a:path w="3012440" h="1450975">
                  <a:moveTo>
                    <a:pt x="2054832" y="0"/>
                  </a:moveTo>
                  <a:lnTo>
                    <a:pt x="1984176" y="0"/>
                  </a:lnTo>
                  <a:lnTo>
                    <a:pt x="1984176" y="16131"/>
                  </a:lnTo>
                  <a:lnTo>
                    <a:pt x="2054832" y="16131"/>
                  </a:lnTo>
                  <a:lnTo>
                    <a:pt x="2054832" y="0"/>
                  </a:lnTo>
                  <a:close/>
                </a:path>
                <a:path w="3012440" h="1450975">
                  <a:moveTo>
                    <a:pt x="1935260" y="0"/>
                  </a:moveTo>
                  <a:lnTo>
                    <a:pt x="1864604" y="0"/>
                  </a:lnTo>
                  <a:lnTo>
                    <a:pt x="1864604" y="16131"/>
                  </a:lnTo>
                  <a:lnTo>
                    <a:pt x="1935260" y="16131"/>
                  </a:lnTo>
                  <a:lnTo>
                    <a:pt x="1935260" y="0"/>
                  </a:lnTo>
                  <a:close/>
                </a:path>
                <a:path w="3012440" h="1450975">
                  <a:moveTo>
                    <a:pt x="1815914" y="0"/>
                  </a:moveTo>
                  <a:lnTo>
                    <a:pt x="1745031" y="0"/>
                  </a:lnTo>
                  <a:lnTo>
                    <a:pt x="1745031" y="16131"/>
                  </a:lnTo>
                  <a:lnTo>
                    <a:pt x="1815914" y="16131"/>
                  </a:lnTo>
                  <a:lnTo>
                    <a:pt x="1815914" y="0"/>
                  </a:lnTo>
                  <a:close/>
                </a:path>
                <a:path w="3012440" h="1450975">
                  <a:moveTo>
                    <a:pt x="1696342" y="0"/>
                  </a:moveTo>
                  <a:lnTo>
                    <a:pt x="1630668" y="0"/>
                  </a:lnTo>
                  <a:lnTo>
                    <a:pt x="1630668" y="16131"/>
                  </a:lnTo>
                  <a:lnTo>
                    <a:pt x="1696342" y="16131"/>
                  </a:lnTo>
                  <a:lnTo>
                    <a:pt x="1696342" y="0"/>
                  </a:lnTo>
                  <a:close/>
                </a:path>
                <a:path w="3012440" h="1450975">
                  <a:moveTo>
                    <a:pt x="1576317" y="0"/>
                  </a:moveTo>
                  <a:lnTo>
                    <a:pt x="1511095" y="0"/>
                  </a:lnTo>
                  <a:lnTo>
                    <a:pt x="1511095" y="16131"/>
                  </a:lnTo>
                  <a:lnTo>
                    <a:pt x="1576317" y="16131"/>
                  </a:lnTo>
                  <a:lnTo>
                    <a:pt x="1576317" y="0"/>
                  </a:lnTo>
                  <a:close/>
                </a:path>
                <a:path w="3012440" h="1450975">
                  <a:moveTo>
                    <a:pt x="1456744" y="0"/>
                  </a:moveTo>
                  <a:lnTo>
                    <a:pt x="1391749" y="0"/>
                  </a:lnTo>
                  <a:lnTo>
                    <a:pt x="1391749" y="16131"/>
                  </a:lnTo>
                  <a:lnTo>
                    <a:pt x="1456744" y="16131"/>
                  </a:lnTo>
                  <a:lnTo>
                    <a:pt x="1456744" y="0"/>
                  </a:lnTo>
                  <a:close/>
                </a:path>
                <a:path w="3012440" h="1450975">
                  <a:moveTo>
                    <a:pt x="1337398" y="0"/>
                  </a:moveTo>
                  <a:lnTo>
                    <a:pt x="1272177" y="0"/>
                  </a:lnTo>
                  <a:lnTo>
                    <a:pt x="1272177" y="16131"/>
                  </a:lnTo>
                  <a:lnTo>
                    <a:pt x="1337398" y="16131"/>
                  </a:lnTo>
                  <a:lnTo>
                    <a:pt x="1337398" y="0"/>
                  </a:lnTo>
                  <a:close/>
                </a:path>
                <a:path w="3012440" h="1450975">
                  <a:moveTo>
                    <a:pt x="1222808" y="0"/>
                  </a:moveTo>
                  <a:lnTo>
                    <a:pt x="1152152" y="0"/>
                  </a:lnTo>
                  <a:lnTo>
                    <a:pt x="1152152" y="16131"/>
                  </a:lnTo>
                  <a:lnTo>
                    <a:pt x="1222808" y="16131"/>
                  </a:lnTo>
                  <a:lnTo>
                    <a:pt x="1222808" y="0"/>
                  </a:lnTo>
                  <a:close/>
                </a:path>
                <a:path w="3012440" h="1450975">
                  <a:moveTo>
                    <a:pt x="1103462" y="0"/>
                  </a:moveTo>
                  <a:lnTo>
                    <a:pt x="1032806" y="0"/>
                  </a:lnTo>
                  <a:lnTo>
                    <a:pt x="1032806" y="16131"/>
                  </a:lnTo>
                  <a:lnTo>
                    <a:pt x="1103462" y="16131"/>
                  </a:lnTo>
                  <a:lnTo>
                    <a:pt x="1103462" y="0"/>
                  </a:lnTo>
                  <a:close/>
                </a:path>
                <a:path w="3012440" h="1450975">
                  <a:moveTo>
                    <a:pt x="983890" y="0"/>
                  </a:moveTo>
                  <a:lnTo>
                    <a:pt x="913233" y="0"/>
                  </a:lnTo>
                  <a:lnTo>
                    <a:pt x="913233" y="16131"/>
                  </a:lnTo>
                  <a:lnTo>
                    <a:pt x="983890" y="16131"/>
                  </a:lnTo>
                  <a:lnTo>
                    <a:pt x="983890" y="0"/>
                  </a:lnTo>
                  <a:close/>
                </a:path>
                <a:path w="3012440" h="1450975">
                  <a:moveTo>
                    <a:pt x="864317" y="0"/>
                  </a:moveTo>
                  <a:lnTo>
                    <a:pt x="793752" y="0"/>
                  </a:lnTo>
                  <a:lnTo>
                    <a:pt x="793752" y="16131"/>
                  </a:lnTo>
                  <a:lnTo>
                    <a:pt x="864317" y="16131"/>
                  </a:lnTo>
                  <a:lnTo>
                    <a:pt x="864317" y="0"/>
                  </a:lnTo>
                  <a:close/>
                </a:path>
                <a:path w="3012440" h="1450975">
                  <a:moveTo>
                    <a:pt x="744383" y="0"/>
                  </a:moveTo>
                  <a:lnTo>
                    <a:pt x="679320" y="0"/>
                  </a:lnTo>
                  <a:lnTo>
                    <a:pt x="679320" y="16131"/>
                  </a:lnTo>
                  <a:lnTo>
                    <a:pt x="744383" y="16131"/>
                  </a:lnTo>
                  <a:lnTo>
                    <a:pt x="744383" y="0"/>
                  </a:lnTo>
                  <a:close/>
                </a:path>
                <a:path w="3012440" h="1450975">
                  <a:moveTo>
                    <a:pt x="624901" y="0"/>
                  </a:moveTo>
                  <a:lnTo>
                    <a:pt x="559816" y="0"/>
                  </a:lnTo>
                  <a:lnTo>
                    <a:pt x="559816" y="16131"/>
                  </a:lnTo>
                  <a:lnTo>
                    <a:pt x="624901" y="16131"/>
                  </a:lnTo>
                  <a:lnTo>
                    <a:pt x="624901" y="0"/>
                  </a:lnTo>
                  <a:close/>
                </a:path>
                <a:path w="3012440" h="1450975">
                  <a:moveTo>
                    <a:pt x="505419" y="0"/>
                  </a:moveTo>
                  <a:lnTo>
                    <a:pt x="440334" y="0"/>
                  </a:lnTo>
                  <a:lnTo>
                    <a:pt x="440334" y="16131"/>
                  </a:lnTo>
                  <a:lnTo>
                    <a:pt x="505419" y="16131"/>
                  </a:lnTo>
                  <a:lnTo>
                    <a:pt x="505419" y="0"/>
                  </a:lnTo>
                  <a:close/>
                </a:path>
                <a:path w="3012440" h="1450975">
                  <a:moveTo>
                    <a:pt x="385937" y="0"/>
                  </a:moveTo>
                  <a:lnTo>
                    <a:pt x="320309" y="0"/>
                  </a:lnTo>
                  <a:lnTo>
                    <a:pt x="320309" y="16131"/>
                  </a:lnTo>
                  <a:lnTo>
                    <a:pt x="385937" y="16131"/>
                  </a:lnTo>
                  <a:lnTo>
                    <a:pt x="385937" y="0"/>
                  </a:lnTo>
                  <a:close/>
                </a:path>
                <a:path w="3012440" h="1450975">
                  <a:moveTo>
                    <a:pt x="271483" y="0"/>
                  </a:moveTo>
                  <a:lnTo>
                    <a:pt x="200804" y="0"/>
                  </a:lnTo>
                  <a:lnTo>
                    <a:pt x="200804" y="16131"/>
                  </a:lnTo>
                  <a:lnTo>
                    <a:pt x="271483" y="16131"/>
                  </a:lnTo>
                  <a:lnTo>
                    <a:pt x="271483" y="0"/>
                  </a:lnTo>
                  <a:close/>
                </a:path>
                <a:path w="3012440" h="1450975">
                  <a:moveTo>
                    <a:pt x="152001" y="0"/>
                  </a:moveTo>
                  <a:lnTo>
                    <a:pt x="81322" y="0"/>
                  </a:lnTo>
                  <a:lnTo>
                    <a:pt x="81322" y="16131"/>
                  </a:lnTo>
                  <a:lnTo>
                    <a:pt x="152001" y="16131"/>
                  </a:lnTo>
                  <a:lnTo>
                    <a:pt x="152001" y="0"/>
                  </a:lnTo>
                  <a:close/>
                </a:path>
                <a:path w="3012440" h="1450975">
                  <a:moveTo>
                    <a:pt x="32520" y="0"/>
                  </a:moveTo>
                  <a:lnTo>
                    <a:pt x="0" y="0"/>
                  </a:lnTo>
                  <a:lnTo>
                    <a:pt x="0" y="53914"/>
                  </a:lnTo>
                  <a:lnTo>
                    <a:pt x="16260" y="53914"/>
                  </a:lnTo>
                  <a:lnTo>
                    <a:pt x="16260" y="16131"/>
                  </a:lnTo>
                  <a:lnTo>
                    <a:pt x="5050" y="16131"/>
                  </a:lnTo>
                  <a:lnTo>
                    <a:pt x="16260" y="10566"/>
                  </a:lnTo>
                  <a:lnTo>
                    <a:pt x="32520" y="10566"/>
                  </a:lnTo>
                  <a:lnTo>
                    <a:pt x="32520" y="0"/>
                  </a:lnTo>
                  <a:close/>
                </a:path>
                <a:path w="3012440" h="1450975">
                  <a:moveTo>
                    <a:pt x="16260" y="10566"/>
                  </a:moveTo>
                  <a:lnTo>
                    <a:pt x="5050" y="16131"/>
                  </a:lnTo>
                  <a:lnTo>
                    <a:pt x="16260" y="16131"/>
                  </a:lnTo>
                  <a:lnTo>
                    <a:pt x="16260" y="10566"/>
                  </a:lnTo>
                  <a:close/>
                </a:path>
                <a:path w="3012440" h="1450975">
                  <a:moveTo>
                    <a:pt x="32520" y="10566"/>
                  </a:moveTo>
                  <a:lnTo>
                    <a:pt x="16260" y="10566"/>
                  </a:lnTo>
                  <a:lnTo>
                    <a:pt x="16260" y="16131"/>
                  </a:lnTo>
                  <a:lnTo>
                    <a:pt x="32520" y="16131"/>
                  </a:lnTo>
                  <a:lnTo>
                    <a:pt x="32520" y="10566"/>
                  </a:lnTo>
                  <a:close/>
                </a:path>
                <a:path w="3012440" h="1450975">
                  <a:moveTo>
                    <a:pt x="16260" y="102849"/>
                  </a:moveTo>
                  <a:lnTo>
                    <a:pt x="0" y="102849"/>
                  </a:lnTo>
                  <a:lnTo>
                    <a:pt x="0" y="172872"/>
                  </a:lnTo>
                  <a:lnTo>
                    <a:pt x="16260" y="172872"/>
                  </a:lnTo>
                  <a:lnTo>
                    <a:pt x="16260" y="102849"/>
                  </a:lnTo>
                  <a:close/>
                </a:path>
                <a:path w="3012440" h="1450975">
                  <a:moveTo>
                    <a:pt x="16260" y="221785"/>
                  </a:moveTo>
                  <a:lnTo>
                    <a:pt x="0" y="221785"/>
                  </a:lnTo>
                  <a:lnTo>
                    <a:pt x="0" y="292394"/>
                  </a:lnTo>
                  <a:lnTo>
                    <a:pt x="16260" y="292394"/>
                  </a:lnTo>
                  <a:lnTo>
                    <a:pt x="16260" y="221785"/>
                  </a:lnTo>
                  <a:close/>
                </a:path>
                <a:path w="3012440" h="1450975">
                  <a:moveTo>
                    <a:pt x="16260" y="340744"/>
                  </a:moveTo>
                  <a:lnTo>
                    <a:pt x="0" y="340744"/>
                  </a:lnTo>
                  <a:lnTo>
                    <a:pt x="0" y="411330"/>
                  </a:lnTo>
                  <a:lnTo>
                    <a:pt x="16260" y="411330"/>
                  </a:lnTo>
                  <a:lnTo>
                    <a:pt x="16260" y="340744"/>
                  </a:lnTo>
                  <a:close/>
                </a:path>
                <a:path w="3012440" h="1450975">
                  <a:moveTo>
                    <a:pt x="16260" y="459702"/>
                  </a:moveTo>
                  <a:lnTo>
                    <a:pt x="0" y="459702"/>
                  </a:lnTo>
                  <a:lnTo>
                    <a:pt x="0" y="530289"/>
                  </a:lnTo>
                  <a:lnTo>
                    <a:pt x="16260" y="530289"/>
                  </a:lnTo>
                  <a:lnTo>
                    <a:pt x="16260" y="459702"/>
                  </a:lnTo>
                  <a:close/>
                </a:path>
                <a:path w="3012440" h="1450975">
                  <a:moveTo>
                    <a:pt x="16260" y="579202"/>
                  </a:moveTo>
                  <a:lnTo>
                    <a:pt x="0" y="579202"/>
                  </a:lnTo>
                  <a:lnTo>
                    <a:pt x="0" y="644246"/>
                  </a:lnTo>
                  <a:lnTo>
                    <a:pt x="16260" y="644246"/>
                  </a:lnTo>
                  <a:lnTo>
                    <a:pt x="16260" y="579202"/>
                  </a:lnTo>
                  <a:close/>
                </a:path>
                <a:path w="3012440" h="1450975">
                  <a:moveTo>
                    <a:pt x="16260" y="698160"/>
                  </a:moveTo>
                  <a:lnTo>
                    <a:pt x="0" y="698160"/>
                  </a:lnTo>
                  <a:lnTo>
                    <a:pt x="0" y="763204"/>
                  </a:lnTo>
                  <a:lnTo>
                    <a:pt x="16260" y="763204"/>
                  </a:lnTo>
                  <a:lnTo>
                    <a:pt x="16260" y="698160"/>
                  </a:lnTo>
                  <a:close/>
                </a:path>
                <a:path w="3012440" h="1450975">
                  <a:moveTo>
                    <a:pt x="16260" y="817119"/>
                  </a:moveTo>
                  <a:lnTo>
                    <a:pt x="0" y="817119"/>
                  </a:lnTo>
                  <a:lnTo>
                    <a:pt x="0" y="882163"/>
                  </a:lnTo>
                  <a:lnTo>
                    <a:pt x="16260" y="882163"/>
                  </a:lnTo>
                  <a:lnTo>
                    <a:pt x="16260" y="817119"/>
                  </a:lnTo>
                  <a:close/>
                </a:path>
                <a:path w="3012440" h="1450975">
                  <a:moveTo>
                    <a:pt x="16260" y="936077"/>
                  </a:moveTo>
                  <a:lnTo>
                    <a:pt x="0" y="936077"/>
                  </a:lnTo>
                  <a:lnTo>
                    <a:pt x="0" y="1001099"/>
                  </a:lnTo>
                  <a:lnTo>
                    <a:pt x="16260" y="1001099"/>
                  </a:lnTo>
                  <a:lnTo>
                    <a:pt x="16260" y="936077"/>
                  </a:lnTo>
                  <a:close/>
                </a:path>
                <a:path w="3012440" h="1450975">
                  <a:moveTo>
                    <a:pt x="16260" y="1050034"/>
                  </a:moveTo>
                  <a:lnTo>
                    <a:pt x="0" y="1050034"/>
                  </a:lnTo>
                  <a:lnTo>
                    <a:pt x="0" y="1120621"/>
                  </a:lnTo>
                  <a:lnTo>
                    <a:pt x="16260" y="1120621"/>
                  </a:lnTo>
                  <a:lnTo>
                    <a:pt x="16260" y="1050034"/>
                  </a:lnTo>
                  <a:close/>
                </a:path>
                <a:path w="3012440" h="1450975">
                  <a:moveTo>
                    <a:pt x="16260" y="1168970"/>
                  </a:moveTo>
                  <a:lnTo>
                    <a:pt x="0" y="1168970"/>
                  </a:lnTo>
                  <a:lnTo>
                    <a:pt x="0" y="1239579"/>
                  </a:lnTo>
                  <a:lnTo>
                    <a:pt x="16260" y="1239579"/>
                  </a:lnTo>
                  <a:lnTo>
                    <a:pt x="16260" y="1168970"/>
                  </a:lnTo>
                  <a:close/>
                </a:path>
                <a:path w="3012440" h="1450975">
                  <a:moveTo>
                    <a:pt x="16260" y="1288492"/>
                  </a:moveTo>
                  <a:lnTo>
                    <a:pt x="0" y="1288492"/>
                  </a:lnTo>
                  <a:lnTo>
                    <a:pt x="0" y="1358524"/>
                  </a:lnTo>
                  <a:lnTo>
                    <a:pt x="16260" y="1358524"/>
                  </a:lnTo>
                  <a:lnTo>
                    <a:pt x="16260" y="1288492"/>
                  </a:lnTo>
                  <a:close/>
                </a:path>
                <a:path w="3012440" h="1450975">
                  <a:moveTo>
                    <a:pt x="16260" y="1407441"/>
                  </a:moveTo>
                  <a:lnTo>
                    <a:pt x="0" y="1407441"/>
                  </a:lnTo>
                  <a:lnTo>
                    <a:pt x="0" y="1450798"/>
                  </a:lnTo>
                  <a:lnTo>
                    <a:pt x="37570" y="1450798"/>
                  </a:lnTo>
                  <a:lnTo>
                    <a:pt x="37570" y="1445238"/>
                  </a:lnTo>
                  <a:lnTo>
                    <a:pt x="16260" y="1445238"/>
                  </a:lnTo>
                  <a:lnTo>
                    <a:pt x="5050" y="1434122"/>
                  </a:lnTo>
                  <a:lnTo>
                    <a:pt x="16260" y="1434122"/>
                  </a:lnTo>
                  <a:lnTo>
                    <a:pt x="16260" y="1407441"/>
                  </a:lnTo>
                  <a:close/>
                </a:path>
                <a:path w="3012440" h="1450975">
                  <a:moveTo>
                    <a:pt x="16260" y="1434122"/>
                  </a:moveTo>
                  <a:lnTo>
                    <a:pt x="5050" y="1434122"/>
                  </a:lnTo>
                  <a:lnTo>
                    <a:pt x="16260" y="1445238"/>
                  </a:lnTo>
                  <a:lnTo>
                    <a:pt x="16260" y="1434122"/>
                  </a:lnTo>
                  <a:close/>
                </a:path>
                <a:path w="3012440" h="1450975">
                  <a:moveTo>
                    <a:pt x="37570" y="1434122"/>
                  </a:moveTo>
                  <a:lnTo>
                    <a:pt x="16260" y="1434122"/>
                  </a:lnTo>
                  <a:lnTo>
                    <a:pt x="16260" y="1445238"/>
                  </a:lnTo>
                  <a:lnTo>
                    <a:pt x="37570" y="1445238"/>
                  </a:lnTo>
                  <a:lnTo>
                    <a:pt x="37570" y="1434122"/>
                  </a:lnTo>
                  <a:close/>
                </a:path>
                <a:path w="3012440" h="1450975">
                  <a:moveTo>
                    <a:pt x="157618" y="1434122"/>
                  </a:moveTo>
                  <a:lnTo>
                    <a:pt x="91989" y="1434122"/>
                  </a:lnTo>
                  <a:lnTo>
                    <a:pt x="91989" y="1450798"/>
                  </a:lnTo>
                  <a:lnTo>
                    <a:pt x="157618" y="1450798"/>
                  </a:lnTo>
                  <a:lnTo>
                    <a:pt x="157618" y="1434122"/>
                  </a:lnTo>
                  <a:close/>
                </a:path>
                <a:path w="3012440" h="1450975">
                  <a:moveTo>
                    <a:pt x="277100" y="1434122"/>
                  </a:moveTo>
                  <a:lnTo>
                    <a:pt x="212037" y="1434122"/>
                  </a:lnTo>
                  <a:lnTo>
                    <a:pt x="212037" y="1450798"/>
                  </a:lnTo>
                  <a:lnTo>
                    <a:pt x="277100" y="1450798"/>
                  </a:lnTo>
                  <a:lnTo>
                    <a:pt x="277100" y="1434122"/>
                  </a:lnTo>
                  <a:close/>
                </a:path>
                <a:path w="3012440" h="1450975">
                  <a:moveTo>
                    <a:pt x="396582" y="1434122"/>
                  </a:moveTo>
                  <a:lnTo>
                    <a:pt x="325903" y="1434122"/>
                  </a:lnTo>
                  <a:lnTo>
                    <a:pt x="325903" y="1450798"/>
                  </a:lnTo>
                  <a:lnTo>
                    <a:pt x="396582" y="1450798"/>
                  </a:lnTo>
                  <a:lnTo>
                    <a:pt x="396582" y="1434122"/>
                  </a:lnTo>
                  <a:close/>
                </a:path>
                <a:path w="3012440" h="1450975">
                  <a:moveTo>
                    <a:pt x="516064" y="1434122"/>
                  </a:moveTo>
                  <a:lnTo>
                    <a:pt x="445385" y="1434122"/>
                  </a:lnTo>
                  <a:lnTo>
                    <a:pt x="445385" y="1450798"/>
                  </a:lnTo>
                  <a:lnTo>
                    <a:pt x="516064" y="1450798"/>
                  </a:lnTo>
                  <a:lnTo>
                    <a:pt x="516064" y="1434122"/>
                  </a:lnTo>
                  <a:close/>
                </a:path>
                <a:path w="3012440" h="1450975">
                  <a:moveTo>
                    <a:pt x="636112" y="1434122"/>
                  </a:moveTo>
                  <a:lnTo>
                    <a:pt x="565432" y="1434122"/>
                  </a:lnTo>
                  <a:lnTo>
                    <a:pt x="565432" y="1450798"/>
                  </a:lnTo>
                  <a:lnTo>
                    <a:pt x="636112" y="1450798"/>
                  </a:lnTo>
                  <a:lnTo>
                    <a:pt x="636112" y="1434122"/>
                  </a:lnTo>
                  <a:close/>
                </a:path>
                <a:path w="3012440" h="1450975">
                  <a:moveTo>
                    <a:pt x="755593" y="1434122"/>
                  </a:moveTo>
                  <a:lnTo>
                    <a:pt x="684914" y="1434122"/>
                  </a:lnTo>
                  <a:lnTo>
                    <a:pt x="684914" y="1450798"/>
                  </a:lnTo>
                  <a:lnTo>
                    <a:pt x="755593" y="1450798"/>
                  </a:lnTo>
                  <a:lnTo>
                    <a:pt x="755593" y="1434122"/>
                  </a:lnTo>
                  <a:close/>
                </a:path>
                <a:path w="3012440" h="1450975">
                  <a:moveTo>
                    <a:pt x="869527" y="1434122"/>
                  </a:moveTo>
                  <a:lnTo>
                    <a:pt x="804396" y="1434122"/>
                  </a:lnTo>
                  <a:lnTo>
                    <a:pt x="804396" y="1450798"/>
                  </a:lnTo>
                  <a:lnTo>
                    <a:pt x="869527" y="1450798"/>
                  </a:lnTo>
                  <a:lnTo>
                    <a:pt x="869527" y="1434122"/>
                  </a:lnTo>
                  <a:close/>
                </a:path>
                <a:path w="3012440" h="1450975">
                  <a:moveTo>
                    <a:pt x="989552" y="1434122"/>
                  </a:moveTo>
                  <a:lnTo>
                    <a:pt x="923878" y="1434122"/>
                  </a:lnTo>
                  <a:lnTo>
                    <a:pt x="923878" y="1450798"/>
                  </a:lnTo>
                  <a:lnTo>
                    <a:pt x="989552" y="1450798"/>
                  </a:lnTo>
                  <a:lnTo>
                    <a:pt x="989552" y="1434122"/>
                  </a:lnTo>
                  <a:close/>
                </a:path>
                <a:path w="3012440" h="1450975">
                  <a:moveTo>
                    <a:pt x="1108898" y="1434122"/>
                  </a:moveTo>
                  <a:lnTo>
                    <a:pt x="1043903" y="1434122"/>
                  </a:lnTo>
                  <a:lnTo>
                    <a:pt x="1043903" y="1450798"/>
                  </a:lnTo>
                  <a:lnTo>
                    <a:pt x="1108898" y="1450798"/>
                  </a:lnTo>
                  <a:lnTo>
                    <a:pt x="1108898" y="1434122"/>
                  </a:lnTo>
                  <a:close/>
                </a:path>
                <a:path w="3012440" h="1450975">
                  <a:moveTo>
                    <a:pt x="1228470" y="1434122"/>
                  </a:moveTo>
                  <a:lnTo>
                    <a:pt x="1163475" y="1434122"/>
                  </a:lnTo>
                  <a:lnTo>
                    <a:pt x="1163475" y="1450798"/>
                  </a:lnTo>
                  <a:lnTo>
                    <a:pt x="1228470" y="1450798"/>
                  </a:lnTo>
                  <a:lnTo>
                    <a:pt x="1228470" y="1434122"/>
                  </a:lnTo>
                  <a:close/>
                </a:path>
                <a:path w="3012440" h="1450975">
                  <a:moveTo>
                    <a:pt x="1348043" y="1434122"/>
                  </a:moveTo>
                  <a:lnTo>
                    <a:pt x="1277386" y="1434122"/>
                  </a:lnTo>
                  <a:lnTo>
                    <a:pt x="1277386" y="1450798"/>
                  </a:lnTo>
                  <a:lnTo>
                    <a:pt x="1348043" y="1450798"/>
                  </a:lnTo>
                  <a:lnTo>
                    <a:pt x="1348043" y="1434122"/>
                  </a:lnTo>
                  <a:close/>
                </a:path>
                <a:path w="3012440" h="1450975">
                  <a:moveTo>
                    <a:pt x="1468068" y="1434122"/>
                  </a:moveTo>
                  <a:lnTo>
                    <a:pt x="1397412" y="1434122"/>
                  </a:lnTo>
                  <a:lnTo>
                    <a:pt x="1397412" y="1450798"/>
                  </a:lnTo>
                  <a:lnTo>
                    <a:pt x="1468068" y="1450798"/>
                  </a:lnTo>
                  <a:lnTo>
                    <a:pt x="1468068" y="1434122"/>
                  </a:lnTo>
                  <a:close/>
                </a:path>
                <a:path w="3012440" h="1450975">
                  <a:moveTo>
                    <a:pt x="1587414" y="1434122"/>
                  </a:moveTo>
                  <a:lnTo>
                    <a:pt x="1516757" y="1434122"/>
                  </a:lnTo>
                  <a:lnTo>
                    <a:pt x="1516757" y="1450798"/>
                  </a:lnTo>
                  <a:lnTo>
                    <a:pt x="1587414" y="1450798"/>
                  </a:lnTo>
                  <a:lnTo>
                    <a:pt x="1587414" y="1434122"/>
                  </a:lnTo>
                  <a:close/>
                </a:path>
                <a:path w="3012440" h="1450975">
                  <a:moveTo>
                    <a:pt x="1706986" y="1434122"/>
                  </a:moveTo>
                  <a:lnTo>
                    <a:pt x="1636330" y="1434122"/>
                  </a:lnTo>
                  <a:lnTo>
                    <a:pt x="1636330" y="1450798"/>
                  </a:lnTo>
                  <a:lnTo>
                    <a:pt x="1706986" y="1450798"/>
                  </a:lnTo>
                  <a:lnTo>
                    <a:pt x="1706986" y="1434122"/>
                  </a:lnTo>
                  <a:close/>
                </a:path>
                <a:path w="3012440" h="1450975">
                  <a:moveTo>
                    <a:pt x="1821350" y="1434122"/>
                  </a:moveTo>
                  <a:lnTo>
                    <a:pt x="1755676" y="1434122"/>
                  </a:lnTo>
                  <a:lnTo>
                    <a:pt x="1755676" y="1450798"/>
                  </a:lnTo>
                  <a:lnTo>
                    <a:pt x="1821350" y="1450798"/>
                  </a:lnTo>
                  <a:lnTo>
                    <a:pt x="1821350" y="1434122"/>
                  </a:lnTo>
                  <a:close/>
                </a:path>
                <a:path w="3012440" h="1450975">
                  <a:moveTo>
                    <a:pt x="1940922" y="1434122"/>
                  </a:moveTo>
                  <a:lnTo>
                    <a:pt x="1875248" y="1434122"/>
                  </a:lnTo>
                  <a:lnTo>
                    <a:pt x="1875248" y="1450798"/>
                  </a:lnTo>
                  <a:lnTo>
                    <a:pt x="1940922" y="1450798"/>
                  </a:lnTo>
                  <a:lnTo>
                    <a:pt x="1940922" y="1434122"/>
                  </a:lnTo>
                  <a:close/>
                </a:path>
                <a:path w="3012440" h="1450975">
                  <a:moveTo>
                    <a:pt x="2060495" y="1434122"/>
                  </a:moveTo>
                  <a:lnTo>
                    <a:pt x="1995273" y="1434122"/>
                  </a:lnTo>
                  <a:lnTo>
                    <a:pt x="1995273" y="1450798"/>
                  </a:lnTo>
                  <a:lnTo>
                    <a:pt x="2060495" y="1450798"/>
                  </a:lnTo>
                  <a:lnTo>
                    <a:pt x="2060495" y="1434122"/>
                  </a:lnTo>
                  <a:close/>
                </a:path>
                <a:path w="3012440" h="1450975">
                  <a:moveTo>
                    <a:pt x="2179841" y="1434122"/>
                  </a:moveTo>
                  <a:lnTo>
                    <a:pt x="2114846" y="1434122"/>
                  </a:lnTo>
                  <a:lnTo>
                    <a:pt x="2114846" y="1450798"/>
                  </a:lnTo>
                  <a:lnTo>
                    <a:pt x="2179841" y="1450798"/>
                  </a:lnTo>
                  <a:lnTo>
                    <a:pt x="2179841" y="1434122"/>
                  </a:lnTo>
                  <a:close/>
                </a:path>
                <a:path w="3012440" h="1450975">
                  <a:moveTo>
                    <a:pt x="2299866" y="1434122"/>
                  </a:moveTo>
                  <a:lnTo>
                    <a:pt x="2229209" y="1434122"/>
                  </a:lnTo>
                  <a:lnTo>
                    <a:pt x="2229209" y="1450798"/>
                  </a:lnTo>
                  <a:lnTo>
                    <a:pt x="2299866" y="1450798"/>
                  </a:lnTo>
                  <a:lnTo>
                    <a:pt x="2299866" y="1434122"/>
                  </a:lnTo>
                  <a:close/>
                </a:path>
                <a:path w="3012440" h="1450975">
                  <a:moveTo>
                    <a:pt x="2419438" y="1434122"/>
                  </a:moveTo>
                  <a:lnTo>
                    <a:pt x="2348782" y="1434122"/>
                  </a:lnTo>
                  <a:lnTo>
                    <a:pt x="2348782" y="1450798"/>
                  </a:lnTo>
                  <a:lnTo>
                    <a:pt x="2419438" y="1450798"/>
                  </a:lnTo>
                  <a:lnTo>
                    <a:pt x="2419438" y="1434122"/>
                  </a:lnTo>
                  <a:close/>
                </a:path>
                <a:path w="3012440" h="1450975">
                  <a:moveTo>
                    <a:pt x="2538784" y="1434122"/>
                  </a:moveTo>
                  <a:lnTo>
                    <a:pt x="2468128" y="1434122"/>
                  </a:lnTo>
                  <a:lnTo>
                    <a:pt x="2468128" y="1450798"/>
                  </a:lnTo>
                  <a:lnTo>
                    <a:pt x="2538784" y="1450798"/>
                  </a:lnTo>
                  <a:lnTo>
                    <a:pt x="2538784" y="1434122"/>
                  </a:lnTo>
                  <a:close/>
                </a:path>
                <a:path w="3012440" h="1450975">
                  <a:moveTo>
                    <a:pt x="2658356" y="1434122"/>
                  </a:moveTo>
                  <a:lnTo>
                    <a:pt x="2587700" y="1434122"/>
                  </a:lnTo>
                  <a:lnTo>
                    <a:pt x="2587700" y="1450798"/>
                  </a:lnTo>
                  <a:lnTo>
                    <a:pt x="2658357" y="1450798"/>
                  </a:lnTo>
                  <a:lnTo>
                    <a:pt x="2658356" y="1434122"/>
                  </a:lnTo>
                  <a:close/>
                </a:path>
                <a:path w="3012440" h="1450975">
                  <a:moveTo>
                    <a:pt x="2772720" y="1434122"/>
                  </a:moveTo>
                  <a:lnTo>
                    <a:pt x="2707272" y="1434122"/>
                  </a:lnTo>
                  <a:lnTo>
                    <a:pt x="2707272" y="1450798"/>
                  </a:lnTo>
                  <a:lnTo>
                    <a:pt x="2772720" y="1450798"/>
                  </a:lnTo>
                  <a:lnTo>
                    <a:pt x="2772720" y="1434122"/>
                  </a:lnTo>
                  <a:close/>
                </a:path>
                <a:path w="3012440" h="1450975">
                  <a:moveTo>
                    <a:pt x="2892293" y="1434122"/>
                  </a:moveTo>
                  <a:lnTo>
                    <a:pt x="2827298" y="1434122"/>
                  </a:lnTo>
                  <a:lnTo>
                    <a:pt x="2827298" y="1450798"/>
                  </a:lnTo>
                  <a:lnTo>
                    <a:pt x="2892293" y="1450798"/>
                  </a:lnTo>
                  <a:lnTo>
                    <a:pt x="2892293" y="1434122"/>
                  </a:lnTo>
                  <a:close/>
                </a:path>
                <a:path w="3012440" h="1450975">
                  <a:moveTo>
                    <a:pt x="2995560" y="1434122"/>
                  </a:moveTo>
                  <a:lnTo>
                    <a:pt x="2946644" y="1434122"/>
                  </a:lnTo>
                  <a:lnTo>
                    <a:pt x="2946644" y="1450798"/>
                  </a:lnTo>
                  <a:lnTo>
                    <a:pt x="3011865" y="1450798"/>
                  </a:lnTo>
                  <a:lnTo>
                    <a:pt x="3011865" y="1445238"/>
                  </a:lnTo>
                  <a:lnTo>
                    <a:pt x="2995560" y="1445238"/>
                  </a:lnTo>
                  <a:lnTo>
                    <a:pt x="2995560" y="1434122"/>
                  </a:lnTo>
                  <a:close/>
                </a:path>
                <a:path w="3012440" h="1450975">
                  <a:moveTo>
                    <a:pt x="3006656" y="1434122"/>
                  </a:moveTo>
                  <a:lnTo>
                    <a:pt x="2995560" y="1434122"/>
                  </a:lnTo>
                  <a:lnTo>
                    <a:pt x="2995560" y="1445238"/>
                  </a:lnTo>
                  <a:lnTo>
                    <a:pt x="3006656" y="1434122"/>
                  </a:lnTo>
                  <a:close/>
                </a:path>
                <a:path w="3012440" h="1450975">
                  <a:moveTo>
                    <a:pt x="3011865" y="1434122"/>
                  </a:moveTo>
                  <a:lnTo>
                    <a:pt x="3006656" y="1434122"/>
                  </a:lnTo>
                  <a:lnTo>
                    <a:pt x="2995560" y="1445238"/>
                  </a:lnTo>
                  <a:lnTo>
                    <a:pt x="3011865" y="1445238"/>
                  </a:lnTo>
                  <a:lnTo>
                    <a:pt x="3011865" y="1434122"/>
                  </a:lnTo>
                  <a:close/>
                </a:path>
                <a:path w="3012440" h="1450975">
                  <a:moveTo>
                    <a:pt x="3011865" y="1315167"/>
                  </a:moveTo>
                  <a:lnTo>
                    <a:pt x="2995560" y="1315167"/>
                  </a:lnTo>
                  <a:lnTo>
                    <a:pt x="2995560" y="1385763"/>
                  </a:lnTo>
                  <a:lnTo>
                    <a:pt x="3011865" y="1385763"/>
                  </a:lnTo>
                  <a:lnTo>
                    <a:pt x="3011865" y="1315167"/>
                  </a:lnTo>
                  <a:close/>
                </a:path>
                <a:path w="3012440" h="1450975">
                  <a:moveTo>
                    <a:pt x="3011865" y="1201774"/>
                  </a:moveTo>
                  <a:lnTo>
                    <a:pt x="2995560" y="1201774"/>
                  </a:lnTo>
                  <a:lnTo>
                    <a:pt x="2995560" y="1266818"/>
                  </a:lnTo>
                  <a:lnTo>
                    <a:pt x="3011865" y="1266818"/>
                  </a:lnTo>
                  <a:lnTo>
                    <a:pt x="3011865" y="1201774"/>
                  </a:lnTo>
                  <a:close/>
                </a:path>
                <a:path w="3012440" h="1450975">
                  <a:moveTo>
                    <a:pt x="3011865" y="1082252"/>
                  </a:moveTo>
                  <a:lnTo>
                    <a:pt x="2995559" y="1082252"/>
                  </a:lnTo>
                  <a:lnTo>
                    <a:pt x="2995560" y="1147296"/>
                  </a:lnTo>
                  <a:lnTo>
                    <a:pt x="3011865" y="1147296"/>
                  </a:lnTo>
                  <a:lnTo>
                    <a:pt x="3011865" y="1082252"/>
                  </a:lnTo>
                  <a:close/>
                </a:path>
                <a:path w="3012440" h="1450975">
                  <a:moveTo>
                    <a:pt x="3011865" y="963316"/>
                  </a:moveTo>
                  <a:lnTo>
                    <a:pt x="2995559" y="963316"/>
                  </a:lnTo>
                  <a:lnTo>
                    <a:pt x="2995559" y="1028338"/>
                  </a:lnTo>
                  <a:lnTo>
                    <a:pt x="3011865" y="1028338"/>
                  </a:lnTo>
                  <a:lnTo>
                    <a:pt x="3011865" y="963316"/>
                  </a:lnTo>
                  <a:close/>
                </a:path>
                <a:path w="3012440" h="1450975">
                  <a:moveTo>
                    <a:pt x="3011865" y="844357"/>
                  </a:moveTo>
                  <a:lnTo>
                    <a:pt x="2995559" y="844357"/>
                  </a:lnTo>
                  <a:lnTo>
                    <a:pt x="2995559" y="909402"/>
                  </a:lnTo>
                  <a:lnTo>
                    <a:pt x="3011865" y="909402"/>
                  </a:lnTo>
                  <a:lnTo>
                    <a:pt x="3011865" y="844357"/>
                  </a:lnTo>
                  <a:close/>
                </a:path>
                <a:path w="3012440" h="1450975">
                  <a:moveTo>
                    <a:pt x="3011865" y="725399"/>
                  </a:moveTo>
                  <a:lnTo>
                    <a:pt x="2995559" y="725399"/>
                  </a:lnTo>
                  <a:lnTo>
                    <a:pt x="2995559" y="795445"/>
                  </a:lnTo>
                  <a:lnTo>
                    <a:pt x="3011865" y="795445"/>
                  </a:lnTo>
                  <a:lnTo>
                    <a:pt x="3011865" y="725399"/>
                  </a:lnTo>
                  <a:close/>
                </a:path>
                <a:path w="3012440" h="1450975">
                  <a:moveTo>
                    <a:pt x="3011865" y="605900"/>
                  </a:moveTo>
                  <a:lnTo>
                    <a:pt x="2995559" y="605900"/>
                  </a:lnTo>
                  <a:lnTo>
                    <a:pt x="2995559" y="676486"/>
                  </a:lnTo>
                  <a:lnTo>
                    <a:pt x="3011865" y="676486"/>
                  </a:lnTo>
                  <a:lnTo>
                    <a:pt x="3011865" y="605900"/>
                  </a:lnTo>
                  <a:close/>
                </a:path>
                <a:path w="3012440" h="1450975">
                  <a:moveTo>
                    <a:pt x="3011865" y="486941"/>
                  </a:moveTo>
                  <a:lnTo>
                    <a:pt x="2995559" y="486941"/>
                  </a:lnTo>
                  <a:lnTo>
                    <a:pt x="2995559" y="557528"/>
                  </a:lnTo>
                  <a:lnTo>
                    <a:pt x="3011865" y="557528"/>
                  </a:lnTo>
                  <a:lnTo>
                    <a:pt x="3011865" y="486941"/>
                  </a:lnTo>
                  <a:close/>
                </a:path>
                <a:path w="3012440" h="1450975">
                  <a:moveTo>
                    <a:pt x="3011864" y="367982"/>
                  </a:moveTo>
                  <a:lnTo>
                    <a:pt x="2995559" y="367982"/>
                  </a:lnTo>
                  <a:lnTo>
                    <a:pt x="2995559" y="438028"/>
                  </a:lnTo>
                  <a:lnTo>
                    <a:pt x="3011865" y="438028"/>
                  </a:lnTo>
                  <a:lnTo>
                    <a:pt x="3011864" y="367982"/>
                  </a:lnTo>
                  <a:close/>
                </a:path>
                <a:path w="3012440" h="1450975">
                  <a:moveTo>
                    <a:pt x="3011864" y="254026"/>
                  </a:moveTo>
                  <a:lnTo>
                    <a:pt x="2995559" y="254026"/>
                  </a:lnTo>
                  <a:lnTo>
                    <a:pt x="2995559" y="319070"/>
                  </a:lnTo>
                  <a:lnTo>
                    <a:pt x="3011864" y="319070"/>
                  </a:lnTo>
                  <a:lnTo>
                    <a:pt x="3011864" y="254026"/>
                  </a:lnTo>
                  <a:close/>
                </a:path>
                <a:path w="3012440" h="1450975">
                  <a:moveTo>
                    <a:pt x="3011864" y="135090"/>
                  </a:moveTo>
                  <a:lnTo>
                    <a:pt x="2995559" y="135090"/>
                  </a:lnTo>
                  <a:lnTo>
                    <a:pt x="2995559" y="200111"/>
                  </a:lnTo>
                  <a:lnTo>
                    <a:pt x="3011864" y="200111"/>
                  </a:lnTo>
                  <a:lnTo>
                    <a:pt x="3011864" y="135090"/>
                  </a:lnTo>
                  <a:close/>
                </a:path>
              </a:pathLst>
            </a:custGeom>
            <a:solidFill>
              <a:srgbClr val="000000"/>
            </a:solidFill>
          </p:spPr>
          <p:txBody>
            <a:bodyPr wrap="square" lIns="0" tIns="0" rIns="0" bIns="0" rtlCol="0"/>
            <a:lstStyle/>
            <a:p/>
          </p:txBody>
        </p:sp>
        <p:sp>
          <p:nvSpPr>
            <p:cNvPr id="18" name="object 18" descr=""/>
            <p:cNvSpPr/>
            <p:nvPr/>
          </p:nvSpPr>
          <p:spPr>
            <a:xfrm>
              <a:off x="8123826" y="1084758"/>
              <a:ext cx="2931160" cy="0"/>
            </a:xfrm>
            <a:custGeom>
              <a:avLst/>
              <a:gdLst/>
              <a:ahLst/>
              <a:cxnLst/>
              <a:rect l="l" t="t" r="r" b="b"/>
              <a:pathLst>
                <a:path w="2931159" h="0">
                  <a:moveTo>
                    <a:pt x="0" y="0"/>
                  </a:moveTo>
                  <a:lnTo>
                    <a:pt x="2930915" y="0"/>
                  </a:lnTo>
                </a:path>
              </a:pathLst>
            </a:custGeom>
            <a:ln w="21713">
              <a:solidFill>
                <a:srgbClr val="000000"/>
              </a:solidFill>
              <a:prstDash val="sysDashDot"/>
            </a:ln>
          </p:spPr>
          <p:txBody>
            <a:bodyPr wrap="square" lIns="0" tIns="0" rIns="0" bIns="0" rtlCol="0"/>
            <a:lstStyle/>
            <a:p/>
          </p:txBody>
        </p:sp>
        <p:sp>
          <p:nvSpPr>
            <p:cNvPr id="19" name="object 19" descr=""/>
            <p:cNvSpPr/>
            <p:nvPr/>
          </p:nvSpPr>
          <p:spPr>
            <a:xfrm>
              <a:off x="8045295" y="1076693"/>
              <a:ext cx="33020" cy="53975"/>
            </a:xfrm>
            <a:custGeom>
              <a:avLst/>
              <a:gdLst/>
              <a:ahLst/>
              <a:cxnLst/>
              <a:rect l="l" t="t" r="r" b="b"/>
              <a:pathLst>
                <a:path w="33020" h="53975">
                  <a:moveTo>
                    <a:pt x="32520" y="16131"/>
                  </a:moveTo>
                  <a:lnTo>
                    <a:pt x="5050" y="16131"/>
                  </a:lnTo>
                  <a:lnTo>
                    <a:pt x="16260" y="10566"/>
                  </a:lnTo>
                  <a:lnTo>
                    <a:pt x="16260" y="53914"/>
                  </a:lnTo>
                  <a:lnTo>
                    <a:pt x="0" y="53914"/>
                  </a:lnTo>
                  <a:lnTo>
                    <a:pt x="0" y="0"/>
                  </a:lnTo>
                  <a:lnTo>
                    <a:pt x="32520" y="0"/>
                  </a:lnTo>
                  <a:lnTo>
                    <a:pt x="32520" y="16131"/>
                  </a:lnTo>
                  <a:close/>
                </a:path>
              </a:pathLst>
            </a:custGeom>
            <a:ln w="5601">
              <a:solidFill>
                <a:srgbClr val="000000"/>
              </a:solidFill>
            </a:ln>
          </p:spPr>
          <p:txBody>
            <a:bodyPr wrap="square" lIns="0" tIns="0" rIns="0" bIns="0" rtlCol="0"/>
            <a:lstStyle/>
            <a:p/>
          </p:txBody>
        </p:sp>
        <p:sp>
          <p:nvSpPr>
            <p:cNvPr id="20" name="object 20" descr=""/>
            <p:cNvSpPr/>
            <p:nvPr/>
          </p:nvSpPr>
          <p:spPr>
            <a:xfrm>
              <a:off x="8053425" y="1176738"/>
              <a:ext cx="0" cy="1261745"/>
            </a:xfrm>
            <a:custGeom>
              <a:avLst/>
              <a:gdLst/>
              <a:ahLst/>
              <a:cxnLst/>
              <a:rect l="l" t="t" r="r" b="b"/>
              <a:pathLst>
                <a:path w="0" h="1261745">
                  <a:moveTo>
                    <a:pt x="0" y="0"/>
                  </a:moveTo>
                  <a:lnTo>
                    <a:pt x="0" y="1261283"/>
                  </a:lnTo>
                </a:path>
              </a:pathLst>
            </a:custGeom>
            <a:ln w="21868">
              <a:solidFill>
                <a:srgbClr val="000000"/>
              </a:solidFill>
              <a:prstDash val="sysDashDot"/>
            </a:ln>
          </p:spPr>
          <p:txBody>
            <a:bodyPr wrap="square" lIns="0" tIns="0" rIns="0" bIns="0" rtlCol="0"/>
            <a:lstStyle/>
            <a:p/>
          </p:txBody>
        </p:sp>
        <p:sp>
          <p:nvSpPr>
            <p:cNvPr id="21" name="object 21" descr=""/>
            <p:cNvSpPr/>
            <p:nvPr/>
          </p:nvSpPr>
          <p:spPr>
            <a:xfrm>
              <a:off x="8045295" y="2484134"/>
              <a:ext cx="38100" cy="43815"/>
            </a:xfrm>
            <a:custGeom>
              <a:avLst/>
              <a:gdLst/>
              <a:ahLst/>
              <a:cxnLst/>
              <a:rect l="l" t="t" r="r" b="b"/>
              <a:pathLst>
                <a:path w="38100" h="43814">
                  <a:moveTo>
                    <a:pt x="16260" y="0"/>
                  </a:moveTo>
                  <a:lnTo>
                    <a:pt x="16260" y="37796"/>
                  </a:lnTo>
                  <a:lnTo>
                    <a:pt x="5050" y="26680"/>
                  </a:lnTo>
                  <a:lnTo>
                    <a:pt x="37570" y="26680"/>
                  </a:lnTo>
                  <a:lnTo>
                    <a:pt x="37570" y="43356"/>
                  </a:lnTo>
                  <a:lnTo>
                    <a:pt x="0" y="43356"/>
                  </a:lnTo>
                  <a:lnTo>
                    <a:pt x="0" y="0"/>
                  </a:lnTo>
                  <a:lnTo>
                    <a:pt x="16260" y="0"/>
                  </a:lnTo>
                  <a:close/>
                </a:path>
              </a:pathLst>
            </a:custGeom>
            <a:ln w="5597">
              <a:solidFill>
                <a:srgbClr val="000000"/>
              </a:solidFill>
            </a:ln>
          </p:spPr>
          <p:txBody>
            <a:bodyPr wrap="square" lIns="0" tIns="0" rIns="0" bIns="0" rtlCol="0"/>
            <a:lstStyle/>
            <a:p/>
          </p:txBody>
        </p:sp>
        <p:sp>
          <p:nvSpPr>
            <p:cNvPr id="22" name="object 22" descr=""/>
            <p:cNvSpPr/>
            <p:nvPr/>
          </p:nvSpPr>
          <p:spPr>
            <a:xfrm>
              <a:off x="8134493" y="2519153"/>
              <a:ext cx="2806065" cy="0"/>
            </a:xfrm>
            <a:custGeom>
              <a:avLst/>
              <a:gdLst/>
              <a:ahLst/>
              <a:cxnLst/>
              <a:rect l="l" t="t" r="r" b="b"/>
              <a:pathLst>
                <a:path w="2806065" h="0">
                  <a:moveTo>
                    <a:pt x="0" y="0"/>
                  </a:moveTo>
                  <a:lnTo>
                    <a:pt x="2805885" y="0"/>
                  </a:lnTo>
                </a:path>
              </a:pathLst>
            </a:custGeom>
            <a:ln w="22259">
              <a:solidFill>
                <a:srgbClr val="000000"/>
              </a:solidFill>
              <a:prstDash val="sysDashDot"/>
            </a:ln>
          </p:spPr>
          <p:txBody>
            <a:bodyPr wrap="square" lIns="0" tIns="0" rIns="0" bIns="0" rtlCol="0"/>
            <a:lstStyle/>
            <a:p/>
          </p:txBody>
        </p:sp>
        <p:sp>
          <p:nvSpPr>
            <p:cNvPr id="23" name="object 23" descr=""/>
            <p:cNvSpPr/>
            <p:nvPr/>
          </p:nvSpPr>
          <p:spPr>
            <a:xfrm>
              <a:off x="10991939" y="2510815"/>
              <a:ext cx="65405" cy="17145"/>
            </a:xfrm>
            <a:custGeom>
              <a:avLst/>
              <a:gdLst/>
              <a:ahLst/>
              <a:cxnLst/>
              <a:rect l="l" t="t" r="r" b="b"/>
              <a:pathLst>
                <a:path w="65404" h="17144">
                  <a:moveTo>
                    <a:pt x="0" y="0"/>
                  </a:moveTo>
                  <a:lnTo>
                    <a:pt x="60012" y="0"/>
                  </a:lnTo>
                  <a:lnTo>
                    <a:pt x="48915" y="11116"/>
                  </a:lnTo>
                  <a:lnTo>
                    <a:pt x="48915" y="0"/>
                  </a:lnTo>
                  <a:lnTo>
                    <a:pt x="65221" y="0"/>
                  </a:lnTo>
                  <a:lnTo>
                    <a:pt x="65221" y="16676"/>
                  </a:lnTo>
                  <a:lnTo>
                    <a:pt x="0" y="16676"/>
                  </a:lnTo>
                  <a:lnTo>
                    <a:pt x="0" y="0"/>
                  </a:lnTo>
                  <a:close/>
                </a:path>
              </a:pathLst>
            </a:custGeom>
            <a:ln w="5582">
              <a:solidFill>
                <a:srgbClr val="000000"/>
              </a:solidFill>
            </a:ln>
          </p:spPr>
          <p:txBody>
            <a:bodyPr wrap="square" lIns="0" tIns="0" rIns="0" bIns="0" rtlCol="0"/>
            <a:lstStyle/>
            <a:p/>
          </p:txBody>
        </p:sp>
        <p:sp>
          <p:nvSpPr>
            <p:cNvPr id="24" name="object 24" descr=""/>
            <p:cNvSpPr/>
            <p:nvPr/>
          </p:nvSpPr>
          <p:spPr>
            <a:xfrm>
              <a:off x="11049007" y="1090020"/>
              <a:ext cx="0" cy="1375410"/>
            </a:xfrm>
            <a:custGeom>
              <a:avLst/>
              <a:gdLst/>
              <a:ahLst/>
              <a:cxnLst/>
              <a:rect l="l" t="t" r="r" b="b"/>
              <a:pathLst>
                <a:path w="0" h="1375410">
                  <a:moveTo>
                    <a:pt x="0" y="0"/>
                  </a:moveTo>
                  <a:lnTo>
                    <a:pt x="0" y="1375239"/>
                  </a:lnTo>
                </a:path>
              </a:pathLst>
            </a:custGeom>
            <a:ln w="21913">
              <a:solidFill>
                <a:srgbClr val="000000"/>
              </a:solidFill>
              <a:prstDash val="sysDashDot"/>
            </a:ln>
          </p:spPr>
          <p:txBody>
            <a:bodyPr wrap="square" lIns="0" tIns="0" rIns="0" bIns="0" rtlCol="0"/>
            <a:lstStyle/>
            <a:p/>
          </p:txBody>
        </p:sp>
      </p:grpSp>
      <p:sp>
        <p:nvSpPr>
          <p:cNvPr id="25" name="object 25" descr=""/>
          <p:cNvSpPr txBox="1"/>
          <p:nvPr/>
        </p:nvSpPr>
        <p:spPr>
          <a:xfrm>
            <a:off x="6932343" y="1609212"/>
            <a:ext cx="783590" cy="417195"/>
          </a:xfrm>
          <a:prstGeom prst="rect">
            <a:avLst/>
          </a:prstGeom>
          <a:solidFill>
            <a:srgbClr val="E7FFFF"/>
          </a:solidFill>
          <a:ln w="16202">
            <a:solidFill>
              <a:srgbClr val="000000"/>
            </a:solidFill>
          </a:ln>
        </p:spPr>
        <p:txBody>
          <a:bodyPr wrap="square" lIns="0" tIns="88900" rIns="0" bIns="0" rtlCol="0" vert="horz">
            <a:spAutoFit/>
          </a:bodyPr>
          <a:lstStyle/>
          <a:p>
            <a:pPr marL="140970">
              <a:lnSpc>
                <a:spcPct val="100000"/>
              </a:lnSpc>
              <a:spcBef>
                <a:spcPts val="700"/>
              </a:spcBef>
            </a:pPr>
            <a:r>
              <a:rPr dirty="0" sz="1600" spc="-10">
                <a:latin typeface="宋体"/>
                <a:cs typeface="宋体"/>
              </a:rPr>
              <a:t>Cache</a:t>
            </a:r>
            <a:endParaRPr sz="1600">
              <a:latin typeface="宋体"/>
              <a:cs typeface="宋体"/>
            </a:endParaRPr>
          </a:p>
        </p:txBody>
      </p:sp>
      <p:sp>
        <p:nvSpPr>
          <p:cNvPr id="26" name="object 26" descr=""/>
          <p:cNvSpPr txBox="1"/>
          <p:nvPr/>
        </p:nvSpPr>
        <p:spPr>
          <a:xfrm>
            <a:off x="8367845" y="1565864"/>
            <a:ext cx="777875" cy="530860"/>
          </a:xfrm>
          <a:prstGeom prst="rect">
            <a:avLst/>
          </a:prstGeom>
        </p:spPr>
        <p:txBody>
          <a:bodyPr wrap="square" lIns="0" tIns="170180" rIns="0" bIns="0" rtlCol="0" vert="horz">
            <a:spAutoFit/>
          </a:bodyPr>
          <a:lstStyle/>
          <a:p>
            <a:pPr marL="179070">
              <a:lnSpc>
                <a:spcPct val="100000"/>
              </a:lnSpc>
              <a:spcBef>
                <a:spcPts val="1340"/>
              </a:spcBef>
            </a:pPr>
            <a:r>
              <a:rPr dirty="0" sz="1600" spc="-25">
                <a:latin typeface="宋体"/>
                <a:cs typeface="宋体"/>
              </a:rPr>
              <a:t>主存</a:t>
            </a:r>
            <a:endParaRPr sz="1600">
              <a:latin typeface="宋体"/>
              <a:cs typeface="宋体"/>
            </a:endParaRPr>
          </a:p>
        </p:txBody>
      </p:sp>
      <p:sp>
        <p:nvSpPr>
          <p:cNvPr id="27" name="object 27" descr=""/>
          <p:cNvSpPr txBox="1"/>
          <p:nvPr/>
        </p:nvSpPr>
        <p:spPr>
          <a:xfrm>
            <a:off x="9999125" y="1365730"/>
            <a:ext cx="810260" cy="925830"/>
          </a:xfrm>
          <a:prstGeom prst="rect">
            <a:avLst/>
          </a:prstGeom>
        </p:spPr>
        <p:txBody>
          <a:bodyPr wrap="square" lIns="0" tIns="136525" rIns="0" bIns="0" rtlCol="0" vert="horz">
            <a:spAutoFit/>
          </a:bodyPr>
          <a:lstStyle/>
          <a:p>
            <a:pPr>
              <a:lnSpc>
                <a:spcPct val="100000"/>
              </a:lnSpc>
              <a:spcBef>
                <a:spcPts val="1075"/>
              </a:spcBef>
            </a:pPr>
            <a:endParaRPr sz="1600">
              <a:latin typeface="Times New Roman"/>
              <a:cs typeface="Times New Roman"/>
            </a:endParaRPr>
          </a:p>
          <a:p>
            <a:pPr marL="211454">
              <a:lnSpc>
                <a:spcPct val="100000"/>
              </a:lnSpc>
            </a:pPr>
            <a:r>
              <a:rPr dirty="0" sz="1600" spc="-25">
                <a:latin typeface="宋体"/>
                <a:cs typeface="宋体"/>
              </a:rPr>
              <a:t>辅存</a:t>
            </a:r>
            <a:endParaRPr sz="1600">
              <a:latin typeface="宋体"/>
              <a:cs typeface="宋体"/>
            </a:endParaRPr>
          </a:p>
        </p:txBody>
      </p:sp>
      <p:grpSp>
        <p:nvGrpSpPr>
          <p:cNvPr id="28" name="object 28" descr=""/>
          <p:cNvGrpSpPr/>
          <p:nvPr/>
        </p:nvGrpSpPr>
        <p:grpSpPr>
          <a:xfrm>
            <a:off x="6707165" y="1389875"/>
            <a:ext cx="3276600" cy="855980"/>
            <a:chOff x="6707165" y="1389875"/>
            <a:chExt cx="3276600" cy="855980"/>
          </a:xfrm>
        </p:grpSpPr>
        <p:sp>
          <p:nvSpPr>
            <p:cNvPr id="29" name="object 29" descr=""/>
            <p:cNvSpPr/>
            <p:nvPr/>
          </p:nvSpPr>
          <p:spPr>
            <a:xfrm>
              <a:off x="6715260" y="1397971"/>
              <a:ext cx="2691130" cy="839469"/>
            </a:xfrm>
            <a:custGeom>
              <a:avLst/>
              <a:gdLst/>
              <a:ahLst/>
              <a:cxnLst/>
              <a:rect l="l" t="t" r="r" b="b"/>
              <a:pathLst>
                <a:path w="2691129" h="839469">
                  <a:moveTo>
                    <a:pt x="0" y="839356"/>
                  </a:moveTo>
                  <a:lnTo>
                    <a:pt x="2690831" y="839356"/>
                  </a:lnTo>
                  <a:lnTo>
                    <a:pt x="2690831" y="0"/>
                  </a:lnTo>
                  <a:lnTo>
                    <a:pt x="0" y="0"/>
                  </a:lnTo>
                  <a:lnTo>
                    <a:pt x="0" y="839356"/>
                  </a:lnTo>
                  <a:close/>
                </a:path>
              </a:pathLst>
            </a:custGeom>
            <a:ln w="16191">
              <a:solidFill>
                <a:srgbClr val="000000"/>
              </a:solidFill>
            </a:ln>
          </p:spPr>
          <p:txBody>
            <a:bodyPr wrap="square" lIns="0" tIns="0" rIns="0" bIns="0" rtlCol="0"/>
            <a:lstStyle/>
            <a:p/>
          </p:txBody>
        </p:sp>
        <p:sp>
          <p:nvSpPr>
            <p:cNvPr id="30" name="object 30" descr=""/>
            <p:cNvSpPr/>
            <p:nvPr/>
          </p:nvSpPr>
          <p:spPr>
            <a:xfrm>
              <a:off x="7718803" y="1774853"/>
              <a:ext cx="641985" cy="92710"/>
            </a:xfrm>
            <a:custGeom>
              <a:avLst/>
              <a:gdLst/>
              <a:ahLst/>
              <a:cxnLst/>
              <a:rect l="l" t="t" r="r" b="b"/>
              <a:pathLst>
                <a:path w="641984" h="92710">
                  <a:moveTo>
                    <a:pt x="135764" y="0"/>
                  </a:moveTo>
                  <a:lnTo>
                    <a:pt x="0" y="48912"/>
                  </a:lnTo>
                  <a:lnTo>
                    <a:pt x="135764" y="92283"/>
                  </a:lnTo>
                  <a:lnTo>
                    <a:pt x="103082" y="59479"/>
                  </a:lnTo>
                  <a:lnTo>
                    <a:pt x="92555" y="59479"/>
                  </a:lnTo>
                  <a:lnTo>
                    <a:pt x="86961" y="53914"/>
                  </a:lnTo>
                  <a:lnTo>
                    <a:pt x="81345" y="53914"/>
                  </a:lnTo>
                  <a:lnTo>
                    <a:pt x="81345" y="37805"/>
                  </a:lnTo>
                  <a:lnTo>
                    <a:pt x="86961" y="37805"/>
                  </a:lnTo>
                  <a:lnTo>
                    <a:pt x="92555" y="32240"/>
                  </a:lnTo>
                  <a:lnTo>
                    <a:pt x="107283" y="32240"/>
                  </a:lnTo>
                  <a:lnTo>
                    <a:pt x="135764" y="0"/>
                  </a:lnTo>
                  <a:close/>
                </a:path>
                <a:path w="641984" h="92710">
                  <a:moveTo>
                    <a:pt x="505419" y="0"/>
                  </a:moveTo>
                  <a:lnTo>
                    <a:pt x="554788" y="48912"/>
                  </a:lnTo>
                  <a:lnTo>
                    <a:pt x="505419" y="92283"/>
                  </a:lnTo>
                  <a:lnTo>
                    <a:pt x="608535" y="59479"/>
                  </a:lnTo>
                  <a:lnTo>
                    <a:pt x="554788" y="59479"/>
                  </a:lnTo>
                  <a:lnTo>
                    <a:pt x="554788" y="53914"/>
                  </a:lnTo>
                  <a:lnTo>
                    <a:pt x="559838" y="53914"/>
                  </a:lnTo>
                  <a:lnTo>
                    <a:pt x="565455" y="48912"/>
                  </a:lnTo>
                  <a:lnTo>
                    <a:pt x="565454" y="43370"/>
                  </a:lnTo>
                  <a:lnTo>
                    <a:pt x="559838" y="37805"/>
                  </a:lnTo>
                  <a:lnTo>
                    <a:pt x="554788" y="37805"/>
                  </a:lnTo>
                  <a:lnTo>
                    <a:pt x="554788" y="32240"/>
                  </a:lnTo>
                  <a:lnTo>
                    <a:pt x="595281" y="32240"/>
                  </a:lnTo>
                  <a:lnTo>
                    <a:pt x="505419" y="0"/>
                  </a:lnTo>
                  <a:close/>
                </a:path>
                <a:path w="641984" h="92710">
                  <a:moveTo>
                    <a:pt x="107283" y="32240"/>
                  </a:moveTo>
                  <a:lnTo>
                    <a:pt x="92555" y="32240"/>
                  </a:lnTo>
                  <a:lnTo>
                    <a:pt x="86961" y="37805"/>
                  </a:lnTo>
                  <a:lnTo>
                    <a:pt x="81345" y="37805"/>
                  </a:lnTo>
                  <a:lnTo>
                    <a:pt x="81345" y="53914"/>
                  </a:lnTo>
                  <a:lnTo>
                    <a:pt x="86961" y="53914"/>
                  </a:lnTo>
                  <a:lnTo>
                    <a:pt x="92555" y="59479"/>
                  </a:lnTo>
                  <a:lnTo>
                    <a:pt x="103082" y="59479"/>
                  </a:lnTo>
                  <a:lnTo>
                    <a:pt x="92555" y="48912"/>
                  </a:lnTo>
                  <a:lnTo>
                    <a:pt x="107283" y="32240"/>
                  </a:lnTo>
                  <a:close/>
                </a:path>
                <a:path w="641984" h="92710">
                  <a:moveTo>
                    <a:pt x="537960" y="32240"/>
                  </a:moveTo>
                  <a:lnTo>
                    <a:pt x="107283" y="32240"/>
                  </a:lnTo>
                  <a:lnTo>
                    <a:pt x="92555" y="48912"/>
                  </a:lnTo>
                  <a:lnTo>
                    <a:pt x="103082" y="59479"/>
                  </a:lnTo>
                  <a:lnTo>
                    <a:pt x="542760" y="59479"/>
                  </a:lnTo>
                  <a:lnTo>
                    <a:pt x="554788" y="48912"/>
                  </a:lnTo>
                  <a:lnTo>
                    <a:pt x="537960" y="32240"/>
                  </a:lnTo>
                  <a:close/>
                </a:path>
                <a:path w="641984" h="92710">
                  <a:moveTo>
                    <a:pt x="595281" y="32240"/>
                  </a:moveTo>
                  <a:lnTo>
                    <a:pt x="554788" y="32240"/>
                  </a:lnTo>
                  <a:lnTo>
                    <a:pt x="554788" y="37805"/>
                  </a:lnTo>
                  <a:lnTo>
                    <a:pt x="559838" y="37805"/>
                  </a:lnTo>
                  <a:lnTo>
                    <a:pt x="565454" y="43370"/>
                  </a:lnTo>
                  <a:lnTo>
                    <a:pt x="565455" y="48912"/>
                  </a:lnTo>
                  <a:lnTo>
                    <a:pt x="559838" y="53914"/>
                  </a:lnTo>
                  <a:lnTo>
                    <a:pt x="554788" y="53914"/>
                  </a:lnTo>
                  <a:lnTo>
                    <a:pt x="554788" y="59479"/>
                  </a:lnTo>
                  <a:lnTo>
                    <a:pt x="608535" y="59479"/>
                  </a:lnTo>
                  <a:lnTo>
                    <a:pt x="641750" y="48912"/>
                  </a:lnTo>
                  <a:lnTo>
                    <a:pt x="595281" y="32240"/>
                  </a:lnTo>
                  <a:close/>
                </a:path>
              </a:pathLst>
            </a:custGeom>
            <a:solidFill>
              <a:srgbClr val="000000"/>
            </a:solidFill>
          </p:spPr>
          <p:txBody>
            <a:bodyPr wrap="square" lIns="0" tIns="0" rIns="0" bIns="0" rtlCol="0"/>
            <a:lstStyle/>
            <a:p/>
          </p:txBody>
        </p:sp>
        <p:sp>
          <p:nvSpPr>
            <p:cNvPr id="31" name="object 31" descr=""/>
            <p:cNvSpPr/>
            <p:nvPr/>
          </p:nvSpPr>
          <p:spPr>
            <a:xfrm>
              <a:off x="7718803" y="1774853"/>
              <a:ext cx="641985" cy="92710"/>
            </a:xfrm>
            <a:custGeom>
              <a:avLst/>
              <a:gdLst/>
              <a:ahLst/>
              <a:cxnLst/>
              <a:rect l="l" t="t" r="r" b="b"/>
              <a:pathLst>
                <a:path w="641984" h="92710">
                  <a:moveTo>
                    <a:pt x="92555" y="32240"/>
                  </a:moveTo>
                  <a:lnTo>
                    <a:pt x="554788" y="32240"/>
                  </a:lnTo>
                  <a:lnTo>
                    <a:pt x="554788" y="37805"/>
                  </a:lnTo>
                  <a:lnTo>
                    <a:pt x="559838" y="37805"/>
                  </a:lnTo>
                  <a:lnTo>
                    <a:pt x="565455" y="43370"/>
                  </a:lnTo>
                  <a:lnTo>
                    <a:pt x="565455" y="48912"/>
                  </a:lnTo>
                  <a:lnTo>
                    <a:pt x="559838" y="53914"/>
                  </a:lnTo>
                  <a:lnTo>
                    <a:pt x="554788" y="53914"/>
                  </a:lnTo>
                  <a:lnTo>
                    <a:pt x="554788" y="59479"/>
                  </a:lnTo>
                  <a:lnTo>
                    <a:pt x="92555" y="59479"/>
                  </a:lnTo>
                  <a:lnTo>
                    <a:pt x="86961" y="53914"/>
                  </a:lnTo>
                  <a:lnTo>
                    <a:pt x="81345" y="53914"/>
                  </a:lnTo>
                  <a:lnTo>
                    <a:pt x="81345" y="48912"/>
                  </a:lnTo>
                  <a:lnTo>
                    <a:pt x="81345" y="43370"/>
                  </a:lnTo>
                  <a:lnTo>
                    <a:pt x="81345" y="37805"/>
                  </a:lnTo>
                  <a:lnTo>
                    <a:pt x="86961" y="37805"/>
                  </a:lnTo>
                  <a:lnTo>
                    <a:pt x="92555" y="32240"/>
                  </a:lnTo>
                  <a:close/>
                </a:path>
                <a:path w="641984" h="92710">
                  <a:moveTo>
                    <a:pt x="92555" y="48912"/>
                  </a:moveTo>
                  <a:lnTo>
                    <a:pt x="135764" y="92282"/>
                  </a:lnTo>
                  <a:lnTo>
                    <a:pt x="0" y="48912"/>
                  </a:lnTo>
                  <a:lnTo>
                    <a:pt x="135764" y="0"/>
                  </a:lnTo>
                  <a:lnTo>
                    <a:pt x="92555" y="48912"/>
                  </a:lnTo>
                  <a:close/>
                </a:path>
                <a:path w="641984" h="92710">
                  <a:moveTo>
                    <a:pt x="554788" y="48912"/>
                  </a:moveTo>
                  <a:lnTo>
                    <a:pt x="505419" y="0"/>
                  </a:lnTo>
                  <a:lnTo>
                    <a:pt x="641750" y="48912"/>
                  </a:lnTo>
                  <a:lnTo>
                    <a:pt x="505419" y="92282"/>
                  </a:lnTo>
                  <a:lnTo>
                    <a:pt x="554788" y="48912"/>
                  </a:lnTo>
                  <a:close/>
                </a:path>
              </a:pathLst>
            </a:custGeom>
            <a:ln w="5595">
              <a:solidFill>
                <a:srgbClr val="000000"/>
              </a:solidFill>
            </a:ln>
          </p:spPr>
          <p:txBody>
            <a:bodyPr wrap="square" lIns="0" tIns="0" rIns="0" bIns="0" rtlCol="0"/>
            <a:lstStyle/>
            <a:p/>
          </p:txBody>
        </p:sp>
        <p:sp>
          <p:nvSpPr>
            <p:cNvPr id="32" name="object 32" descr=""/>
            <p:cNvSpPr/>
            <p:nvPr/>
          </p:nvSpPr>
          <p:spPr>
            <a:xfrm>
              <a:off x="9148758" y="1774853"/>
              <a:ext cx="831850" cy="92710"/>
            </a:xfrm>
            <a:custGeom>
              <a:avLst/>
              <a:gdLst/>
              <a:ahLst/>
              <a:cxnLst/>
              <a:rect l="l" t="t" r="r" b="b"/>
              <a:pathLst>
                <a:path w="831850" h="92710">
                  <a:moveTo>
                    <a:pt x="135651" y="0"/>
                  </a:moveTo>
                  <a:lnTo>
                    <a:pt x="0" y="48912"/>
                  </a:lnTo>
                  <a:lnTo>
                    <a:pt x="135651" y="92283"/>
                  </a:lnTo>
                  <a:lnTo>
                    <a:pt x="98824" y="59479"/>
                  </a:lnTo>
                  <a:lnTo>
                    <a:pt x="86961" y="59479"/>
                  </a:lnTo>
                  <a:lnTo>
                    <a:pt x="86961" y="53914"/>
                  </a:lnTo>
                  <a:lnTo>
                    <a:pt x="81753" y="53914"/>
                  </a:lnTo>
                  <a:lnTo>
                    <a:pt x="76317" y="48912"/>
                  </a:lnTo>
                  <a:lnTo>
                    <a:pt x="76317" y="43370"/>
                  </a:lnTo>
                  <a:lnTo>
                    <a:pt x="81753" y="37805"/>
                  </a:lnTo>
                  <a:lnTo>
                    <a:pt x="86961" y="37805"/>
                  </a:lnTo>
                  <a:lnTo>
                    <a:pt x="86961" y="32240"/>
                  </a:lnTo>
                  <a:lnTo>
                    <a:pt x="103557" y="32240"/>
                  </a:lnTo>
                  <a:lnTo>
                    <a:pt x="135651" y="0"/>
                  </a:lnTo>
                  <a:close/>
                </a:path>
                <a:path w="831850" h="92710">
                  <a:moveTo>
                    <a:pt x="696146" y="0"/>
                  </a:moveTo>
                  <a:lnTo>
                    <a:pt x="739174" y="48912"/>
                  </a:lnTo>
                  <a:lnTo>
                    <a:pt x="696146" y="92283"/>
                  </a:lnTo>
                  <a:lnTo>
                    <a:pt x="798748" y="59479"/>
                  </a:lnTo>
                  <a:lnTo>
                    <a:pt x="739174" y="59479"/>
                  </a:lnTo>
                  <a:lnTo>
                    <a:pt x="744836" y="53914"/>
                  </a:lnTo>
                  <a:lnTo>
                    <a:pt x="750497" y="53914"/>
                  </a:lnTo>
                  <a:lnTo>
                    <a:pt x="750497" y="37805"/>
                  </a:lnTo>
                  <a:lnTo>
                    <a:pt x="744836" y="37805"/>
                  </a:lnTo>
                  <a:lnTo>
                    <a:pt x="739174" y="32240"/>
                  </a:lnTo>
                  <a:lnTo>
                    <a:pt x="785560" y="32240"/>
                  </a:lnTo>
                  <a:lnTo>
                    <a:pt x="696146" y="0"/>
                  </a:lnTo>
                  <a:close/>
                </a:path>
                <a:path w="831850" h="92710">
                  <a:moveTo>
                    <a:pt x="103557" y="32240"/>
                  </a:moveTo>
                  <a:lnTo>
                    <a:pt x="86961" y="32240"/>
                  </a:lnTo>
                  <a:lnTo>
                    <a:pt x="86961" y="37805"/>
                  </a:lnTo>
                  <a:lnTo>
                    <a:pt x="81753" y="37805"/>
                  </a:lnTo>
                  <a:lnTo>
                    <a:pt x="76317" y="43370"/>
                  </a:lnTo>
                  <a:lnTo>
                    <a:pt x="76317" y="48912"/>
                  </a:lnTo>
                  <a:lnTo>
                    <a:pt x="81753" y="53914"/>
                  </a:lnTo>
                  <a:lnTo>
                    <a:pt x="86961" y="53914"/>
                  </a:lnTo>
                  <a:lnTo>
                    <a:pt x="86961" y="59479"/>
                  </a:lnTo>
                  <a:lnTo>
                    <a:pt x="98824" y="59479"/>
                  </a:lnTo>
                  <a:lnTo>
                    <a:pt x="86961" y="48912"/>
                  </a:lnTo>
                  <a:lnTo>
                    <a:pt x="103557" y="32240"/>
                  </a:lnTo>
                  <a:close/>
                </a:path>
                <a:path w="831850" h="92710">
                  <a:moveTo>
                    <a:pt x="724508" y="32240"/>
                  </a:moveTo>
                  <a:lnTo>
                    <a:pt x="103557" y="32240"/>
                  </a:lnTo>
                  <a:lnTo>
                    <a:pt x="86961" y="48912"/>
                  </a:lnTo>
                  <a:lnTo>
                    <a:pt x="98824" y="59479"/>
                  </a:lnTo>
                  <a:lnTo>
                    <a:pt x="728691" y="59479"/>
                  </a:lnTo>
                  <a:lnTo>
                    <a:pt x="739174" y="48912"/>
                  </a:lnTo>
                  <a:lnTo>
                    <a:pt x="724508" y="32240"/>
                  </a:lnTo>
                  <a:close/>
                </a:path>
                <a:path w="831850" h="92710">
                  <a:moveTo>
                    <a:pt x="785560" y="32240"/>
                  </a:moveTo>
                  <a:lnTo>
                    <a:pt x="739174" y="32240"/>
                  </a:lnTo>
                  <a:lnTo>
                    <a:pt x="744836" y="37805"/>
                  </a:lnTo>
                  <a:lnTo>
                    <a:pt x="750497" y="37805"/>
                  </a:lnTo>
                  <a:lnTo>
                    <a:pt x="750497" y="53914"/>
                  </a:lnTo>
                  <a:lnTo>
                    <a:pt x="744836" y="53914"/>
                  </a:lnTo>
                  <a:lnTo>
                    <a:pt x="739174" y="59479"/>
                  </a:lnTo>
                  <a:lnTo>
                    <a:pt x="798748" y="59479"/>
                  </a:lnTo>
                  <a:lnTo>
                    <a:pt x="831797" y="48912"/>
                  </a:lnTo>
                  <a:lnTo>
                    <a:pt x="785560" y="32240"/>
                  </a:lnTo>
                  <a:close/>
                </a:path>
              </a:pathLst>
            </a:custGeom>
            <a:solidFill>
              <a:srgbClr val="000000"/>
            </a:solidFill>
          </p:spPr>
          <p:txBody>
            <a:bodyPr wrap="square" lIns="0" tIns="0" rIns="0" bIns="0" rtlCol="0"/>
            <a:lstStyle/>
            <a:p/>
          </p:txBody>
        </p:sp>
        <p:sp>
          <p:nvSpPr>
            <p:cNvPr id="33" name="object 33" descr=""/>
            <p:cNvSpPr/>
            <p:nvPr/>
          </p:nvSpPr>
          <p:spPr>
            <a:xfrm>
              <a:off x="9148758" y="1774853"/>
              <a:ext cx="831850" cy="92710"/>
            </a:xfrm>
            <a:custGeom>
              <a:avLst/>
              <a:gdLst/>
              <a:ahLst/>
              <a:cxnLst/>
              <a:rect l="l" t="t" r="r" b="b"/>
              <a:pathLst>
                <a:path w="831850" h="92710">
                  <a:moveTo>
                    <a:pt x="86961" y="32240"/>
                  </a:moveTo>
                  <a:lnTo>
                    <a:pt x="739174" y="32240"/>
                  </a:lnTo>
                  <a:lnTo>
                    <a:pt x="744836" y="37805"/>
                  </a:lnTo>
                  <a:lnTo>
                    <a:pt x="750497" y="37805"/>
                  </a:lnTo>
                  <a:lnTo>
                    <a:pt x="750497" y="43370"/>
                  </a:lnTo>
                  <a:lnTo>
                    <a:pt x="750497" y="48912"/>
                  </a:lnTo>
                  <a:lnTo>
                    <a:pt x="750497" y="53914"/>
                  </a:lnTo>
                  <a:lnTo>
                    <a:pt x="744836" y="53914"/>
                  </a:lnTo>
                  <a:lnTo>
                    <a:pt x="739174" y="59479"/>
                  </a:lnTo>
                  <a:lnTo>
                    <a:pt x="86961" y="59479"/>
                  </a:lnTo>
                  <a:lnTo>
                    <a:pt x="86961" y="53914"/>
                  </a:lnTo>
                  <a:lnTo>
                    <a:pt x="81753" y="53914"/>
                  </a:lnTo>
                  <a:lnTo>
                    <a:pt x="76317" y="48912"/>
                  </a:lnTo>
                  <a:lnTo>
                    <a:pt x="76317" y="43370"/>
                  </a:lnTo>
                  <a:lnTo>
                    <a:pt x="81753" y="37805"/>
                  </a:lnTo>
                  <a:lnTo>
                    <a:pt x="86961" y="37805"/>
                  </a:lnTo>
                  <a:lnTo>
                    <a:pt x="86961" y="32240"/>
                  </a:lnTo>
                  <a:close/>
                </a:path>
                <a:path w="831850" h="92710">
                  <a:moveTo>
                    <a:pt x="86961" y="48912"/>
                  </a:moveTo>
                  <a:lnTo>
                    <a:pt x="135651" y="92282"/>
                  </a:lnTo>
                  <a:lnTo>
                    <a:pt x="0" y="48912"/>
                  </a:lnTo>
                  <a:lnTo>
                    <a:pt x="135651" y="0"/>
                  </a:lnTo>
                  <a:lnTo>
                    <a:pt x="86961" y="48912"/>
                  </a:lnTo>
                  <a:close/>
                </a:path>
                <a:path w="831850" h="92710">
                  <a:moveTo>
                    <a:pt x="739174" y="48912"/>
                  </a:moveTo>
                  <a:lnTo>
                    <a:pt x="696146" y="0"/>
                  </a:lnTo>
                  <a:lnTo>
                    <a:pt x="831797" y="48912"/>
                  </a:lnTo>
                  <a:lnTo>
                    <a:pt x="696146" y="92282"/>
                  </a:lnTo>
                  <a:lnTo>
                    <a:pt x="739174" y="48912"/>
                  </a:lnTo>
                  <a:close/>
                </a:path>
              </a:pathLst>
            </a:custGeom>
            <a:ln w="5595">
              <a:solidFill>
                <a:srgbClr val="000000"/>
              </a:solidFill>
            </a:ln>
          </p:spPr>
          <p:txBody>
            <a:bodyPr wrap="square" lIns="0" tIns="0" rIns="0" bIns="0" rtlCol="0"/>
            <a:lstStyle/>
            <a:p/>
          </p:txBody>
        </p:sp>
      </p:grpSp>
      <p:sp>
        <p:nvSpPr>
          <p:cNvPr id="34" name="object 34" descr=""/>
          <p:cNvSpPr txBox="1"/>
          <p:nvPr/>
        </p:nvSpPr>
        <p:spPr>
          <a:xfrm>
            <a:off x="486867" y="2386965"/>
            <a:ext cx="10306685" cy="3570604"/>
          </a:xfrm>
          <a:prstGeom prst="rect">
            <a:avLst/>
          </a:prstGeom>
        </p:spPr>
        <p:txBody>
          <a:bodyPr wrap="square" lIns="0" tIns="12700" rIns="0" bIns="0" rtlCol="0" vert="horz">
            <a:spAutoFit/>
          </a:bodyPr>
          <a:lstStyle/>
          <a:p>
            <a:pPr marL="690880" indent="-457200">
              <a:lnSpc>
                <a:spcPct val="100000"/>
              </a:lnSpc>
              <a:spcBef>
                <a:spcPts val="100"/>
              </a:spcBef>
              <a:buSzPct val="89583"/>
              <a:buFont typeface="Wingdings"/>
              <a:buChar char=""/>
              <a:tabLst>
                <a:tab pos="690880" algn="l"/>
              </a:tabLst>
            </a:pPr>
            <a:r>
              <a:rPr dirty="0" sz="2400">
                <a:solidFill>
                  <a:srgbClr val="40458B"/>
                </a:solidFill>
                <a:latin typeface="黑体"/>
                <a:cs typeface="黑体"/>
              </a:rPr>
              <a:t>可以看成是由“</a:t>
            </a:r>
            <a:r>
              <a:rPr dirty="0" sz="2400">
                <a:solidFill>
                  <a:srgbClr val="D50092"/>
                </a:solidFill>
                <a:latin typeface="Times New Roman"/>
                <a:cs typeface="Times New Roman"/>
              </a:rPr>
              <a:t>Cache—</a:t>
            </a:r>
            <a:r>
              <a:rPr dirty="0" sz="2400">
                <a:solidFill>
                  <a:srgbClr val="D50092"/>
                </a:solidFill>
                <a:latin typeface="黑体"/>
                <a:cs typeface="黑体"/>
              </a:rPr>
              <a:t>主存</a:t>
            </a:r>
            <a:r>
              <a:rPr dirty="0" sz="2400">
                <a:solidFill>
                  <a:srgbClr val="40458B"/>
                </a:solidFill>
                <a:latin typeface="黑体"/>
                <a:cs typeface="黑体"/>
              </a:rPr>
              <a:t>”层次和“</a:t>
            </a:r>
            <a:r>
              <a:rPr dirty="0" sz="2400">
                <a:solidFill>
                  <a:srgbClr val="D50092"/>
                </a:solidFill>
                <a:latin typeface="黑体"/>
                <a:cs typeface="黑体"/>
              </a:rPr>
              <a:t>主存</a:t>
            </a:r>
            <a:r>
              <a:rPr dirty="0" sz="2400">
                <a:solidFill>
                  <a:srgbClr val="D50092"/>
                </a:solidFill>
                <a:latin typeface="Times New Roman"/>
                <a:cs typeface="Times New Roman"/>
              </a:rPr>
              <a:t>—</a:t>
            </a:r>
            <a:r>
              <a:rPr dirty="0" sz="2400">
                <a:solidFill>
                  <a:srgbClr val="D50092"/>
                </a:solidFill>
                <a:latin typeface="黑体"/>
                <a:cs typeface="黑体"/>
              </a:rPr>
              <a:t>辅存</a:t>
            </a:r>
            <a:r>
              <a:rPr dirty="0" sz="2400" spc="-10">
                <a:solidFill>
                  <a:srgbClr val="40458B"/>
                </a:solidFill>
                <a:latin typeface="黑体"/>
                <a:cs typeface="黑体"/>
              </a:rPr>
              <a:t>”层次构成的系统。</a:t>
            </a:r>
            <a:endParaRPr sz="2400">
              <a:latin typeface="黑体"/>
              <a:cs typeface="黑体"/>
            </a:endParaRPr>
          </a:p>
          <a:p>
            <a:pPr marL="678180">
              <a:lnSpc>
                <a:spcPct val="100000"/>
              </a:lnSpc>
              <a:spcBef>
                <a:spcPts val="2655"/>
              </a:spcBef>
            </a:pPr>
            <a:r>
              <a:rPr dirty="0" sz="2400" spc="-20">
                <a:solidFill>
                  <a:srgbClr val="40458B"/>
                </a:solidFill>
                <a:latin typeface="黑体"/>
                <a:cs typeface="黑体"/>
              </a:rPr>
              <a:t>从主存的角度来看</a:t>
            </a:r>
            <a:endParaRPr sz="2400">
              <a:latin typeface="黑体"/>
              <a:cs typeface="黑体"/>
            </a:endParaRPr>
          </a:p>
          <a:p>
            <a:pPr lvl="1" marL="1726564" indent="-456565">
              <a:lnSpc>
                <a:spcPct val="100000"/>
              </a:lnSpc>
              <a:spcBef>
                <a:spcPts val="1025"/>
              </a:spcBef>
              <a:buClr>
                <a:srgbClr val="4668F5"/>
              </a:buClr>
              <a:buSzPct val="60000"/>
              <a:buFont typeface="Wingdings"/>
              <a:buChar char=""/>
              <a:tabLst>
                <a:tab pos="1726564" algn="l"/>
              </a:tabLst>
            </a:pPr>
            <a:r>
              <a:rPr dirty="0" sz="2000" spc="-10" b="1">
                <a:latin typeface="宋体"/>
                <a:cs typeface="宋体"/>
              </a:rPr>
              <a:t>“</a:t>
            </a:r>
            <a:r>
              <a:rPr dirty="0" sz="2000" spc="-10" b="1">
                <a:latin typeface="黑体"/>
                <a:cs typeface="黑体"/>
              </a:rPr>
              <a:t>Cache</a:t>
            </a:r>
            <a:r>
              <a:rPr dirty="0" sz="2000" spc="-20" b="1">
                <a:latin typeface="宋体"/>
                <a:cs typeface="宋体"/>
              </a:rPr>
              <a:t>－主存”层次：弥补主存</a:t>
            </a:r>
            <a:r>
              <a:rPr dirty="0" sz="2000" spc="-25" b="1">
                <a:solidFill>
                  <a:srgbClr val="D50092"/>
                </a:solidFill>
                <a:latin typeface="宋体"/>
                <a:cs typeface="宋体"/>
              </a:rPr>
              <a:t>速度的不足</a:t>
            </a:r>
            <a:endParaRPr sz="2000">
              <a:latin typeface="宋体"/>
              <a:cs typeface="宋体"/>
            </a:endParaRPr>
          </a:p>
          <a:p>
            <a:pPr lvl="1" marL="1726564" indent="-456565">
              <a:lnSpc>
                <a:spcPct val="100000"/>
              </a:lnSpc>
              <a:spcBef>
                <a:spcPts val="960"/>
              </a:spcBef>
              <a:buClr>
                <a:srgbClr val="4668F5"/>
              </a:buClr>
              <a:buSzPct val="60000"/>
              <a:buFont typeface="Wingdings"/>
              <a:buChar char=""/>
              <a:tabLst>
                <a:tab pos="1726564" algn="l"/>
              </a:tabLst>
            </a:pPr>
            <a:r>
              <a:rPr dirty="0" sz="2000" spc="-15" b="1">
                <a:latin typeface="宋体"/>
                <a:cs typeface="宋体"/>
              </a:rPr>
              <a:t>“主存－辅存”层次： 弥补主存</a:t>
            </a:r>
            <a:r>
              <a:rPr dirty="0" sz="2000" spc="-20" b="1">
                <a:solidFill>
                  <a:srgbClr val="D50092"/>
                </a:solidFill>
                <a:latin typeface="宋体"/>
                <a:cs typeface="宋体"/>
              </a:rPr>
              <a:t>容量的不足</a:t>
            </a:r>
            <a:endParaRPr sz="2000">
              <a:latin typeface="宋体"/>
              <a:cs typeface="宋体"/>
            </a:endParaRPr>
          </a:p>
          <a:p>
            <a:pPr marL="469265" indent="-456565">
              <a:lnSpc>
                <a:spcPct val="100000"/>
              </a:lnSpc>
              <a:spcBef>
                <a:spcPts val="1090"/>
              </a:spcBef>
              <a:buClr>
                <a:srgbClr val="40458B"/>
              </a:buClr>
              <a:buFont typeface="Times New Roman"/>
              <a:buAutoNum type="arabicPeriod"/>
              <a:tabLst>
                <a:tab pos="469265" algn="l"/>
              </a:tabLst>
            </a:pPr>
            <a:r>
              <a:rPr dirty="0" sz="2400" spc="-10">
                <a:solidFill>
                  <a:srgbClr val="E14B04"/>
                </a:solidFill>
                <a:latin typeface="黑体"/>
                <a:cs typeface="黑体"/>
              </a:rPr>
              <a:t>“Cache</a:t>
            </a:r>
            <a:r>
              <a:rPr dirty="0" sz="2400" spc="-10">
                <a:solidFill>
                  <a:srgbClr val="E14B04"/>
                </a:solidFill>
                <a:latin typeface="Times New Roman"/>
                <a:cs typeface="Times New Roman"/>
              </a:rPr>
              <a:t>—</a:t>
            </a:r>
            <a:r>
              <a:rPr dirty="0" sz="2400" spc="-20">
                <a:solidFill>
                  <a:srgbClr val="E14B04"/>
                </a:solidFill>
                <a:latin typeface="黑体"/>
                <a:cs typeface="黑体"/>
              </a:rPr>
              <a:t>主存”层次</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缓解了主存与</a:t>
            </a:r>
            <a:r>
              <a:rPr dirty="0" sz="2400" spc="-10">
                <a:solidFill>
                  <a:srgbClr val="40458B"/>
                </a:solidFill>
                <a:latin typeface="Tahoma"/>
                <a:cs typeface="Tahoma"/>
              </a:rPr>
              <a:t>CPU</a:t>
            </a:r>
            <a:r>
              <a:rPr dirty="0" sz="2400" spc="-10">
                <a:solidFill>
                  <a:srgbClr val="40458B"/>
                </a:solidFill>
                <a:latin typeface="黑体"/>
                <a:cs typeface="黑体"/>
              </a:rPr>
              <a:t>的速度差距</a:t>
            </a:r>
            <a:endParaRPr sz="2400">
              <a:latin typeface="黑体"/>
              <a:cs typeface="黑体"/>
            </a:endParaRPr>
          </a:p>
          <a:p>
            <a:pPr marL="563880" indent="-551180">
              <a:lnSpc>
                <a:spcPct val="100000"/>
              </a:lnSpc>
              <a:spcBef>
                <a:spcPts val="1825"/>
              </a:spcBef>
              <a:buClr>
                <a:srgbClr val="40458B"/>
              </a:buClr>
              <a:buFont typeface="Tahoma"/>
              <a:buAutoNum type="arabicPeriod"/>
              <a:tabLst>
                <a:tab pos="563880" algn="l"/>
              </a:tabLst>
            </a:pPr>
            <a:r>
              <a:rPr dirty="0" sz="2400" spc="-10">
                <a:solidFill>
                  <a:srgbClr val="C00000"/>
                </a:solidFill>
                <a:latin typeface="黑体"/>
                <a:cs typeface="黑体"/>
              </a:rPr>
              <a:t>“主存－辅存”层次：</a:t>
            </a:r>
            <a:r>
              <a:rPr dirty="0" sz="2400" spc="-15">
                <a:solidFill>
                  <a:srgbClr val="4F55AC"/>
                </a:solidFill>
                <a:latin typeface="黑体"/>
                <a:cs typeface="黑体"/>
              </a:rPr>
              <a:t>实现虚拟存储系统，解决了主存容量不够的问题</a:t>
            </a:r>
            <a:endParaRPr sz="2400">
              <a:latin typeface="黑体"/>
              <a:cs typeface="黑体"/>
            </a:endParaRPr>
          </a:p>
        </p:txBody>
      </p:sp>
      <p:pic>
        <p:nvPicPr>
          <p:cNvPr id="35" name="object 35" descr=""/>
          <p:cNvPicPr/>
          <p:nvPr/>
        </p:nvPicPr>
        <p:blipFill>
          <a:blip r:embed="rId3" cstate="print"/>
          <a:stretch>
            <a:fillRect/>
          </a:stretch>
        </p:blipFill>
        <p:spPr>
          <a:xfrm>
            <a:off x="7104126" y="4310062"/>
            <a:ext cx="4422648" cy="8905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579623" y="214376"/>
            <a:ext cx="2820670" cy="330835"/>
          </a:xfrm>
          <a:prstGeom prst="rect"/>
        </p:spPr>
        <p:txBody>
          <a:bodyPr wrap="square" lIns="0" tIns="12700" rIns="0" bIns="0" rtlCol="0" vert="horz">
            <a:spAutoFit/>
          </a:bodyPr>
          <a:lstStyle/>
          <a:p>
            <a:pPr marL="12700">
              <a:lnSpc>
                <a:spcPct val="100000"/>
              </a:lnSpc>
              <a:spcBef>
                <a:spcPts val="100"/>
              </a:spcBef>
            </a:pPr>
            <a:r>
              <a:rPr dirty="0" u="none" sz="2000"/>
              <a:t>7.1</a:t>
            </a:r>
            <a:r>
              <a:rPr dirty="0" u="none" sz="2000" spc="-20"/>
              <a:t> 存储系统的层次结构</a:t>
            </a:r>
            <a:endParaRPr sz="2000"/>
          </a:p>
        </p:txBody>
      </p:sp>
      <p:pic>
        <p:nvPicPr>
          <p:cNvPr id="10" name="object 10"/>
          <p:cNvPicPr/>
          <p:nvPr/>
        </p:nvPicPr>
        <p:blipFill>
          <a:blip r:embed="rId3" cstate="print"/>
          <a:stretch>
            <a:fillRect/>
          </a:stretch>
        </p:blipFill>
        <p:spPr>
          <a:xfrm>
            <a:off x="2956567" y="1125600"/>
            <a:ext cx="6126971" cy="4083166"/>
          </a:xfrm>
          <a:prstGeom prst="rect">
            <a:avLst/>
          </a:prstGeom>
        </p:spPr>
      </p:pic>
      <p:sp>
        <p:nvSpPr>
          <p:cNvPr id="11" name="object 11" descr=""/>
          <p:cNvSpPr txBox="1"/>
          <p:nvPr/>
        </p:nvSpPr>
        <p:spPr>
          <a:xfrm>
            <a:off x="3511422" y="5335320"/>
            <a:ext cx="5528945" cy="939800"/>
          </a:xfrm>
          <a:prstGeom prst="rect">
            <a:avLst/>
          </a:prstGeom>
        </p:spPr>
        <p:txBody>
          <a:bodyPr wrap="square" lIns="0" tIns="165100" rIns="0" bIns="0" rtlCol="0" vert="horz">
            <a:spAutoFit/>
          </a:bodyPr>
          <a:lstStyle/>
          <a:p>
            <a:pPr marL="12700">
              <a:lnSpc>
                <a:spcPct val="100000"/>
              </a:lnSpc>
              <a:spcBef>
                <a:spcPts val="1300"/>
              </a:spcBef>
            </a:pPr>
            <a:r>
              <a:rPr dirty="0" sz="2000" spc="-10" b="1">
                <a:latin typeface="宋体"/>
                <a:cs typeface="宋体"/>
              </a:rPr>
              <a:t>1980</a:t>
            </a:r>
            <a:r>
              <a:rPr dirty="0" sz="2000" spc="-15" b="1">
                <a:latin typeface="宋体"/>
                <a:cs typeface="宋体"/>
              </a:rPr>
              <a:t>年以来存储器和</a:t>
            </a:r>
            <a:r>
              <a:rPr dirty="0" sz="2000" spc="-10" b="1">
                <a:latin typeface="宋体"/>
                <a:cs typeface="宋体"/>
              </a:rPr>
              <a:t>CPU</a:t>
            </a:r>
            <a:r>
              <a:rPr dirty="0" sz="2000" spc="-25" b="1">
                <a:latin typeface="宋体"/>
                <a:cs typeface="宋体"/>
              </a:rPr>
              <a:t>性能随时间而提高的情况</a:t>
            </a:r>
            <a:endParaRPr sz="2000">
              <a:latin typeface="宋体"/>
              <a:cs typeface="宋体"/>
            </a:endParaRPr>
          </a:p>
          <a:p>
            <a:pPr algn="ctr" marL="138430">
              <a:lnSpc>
                <a:spcPct val="100000"/>
              </a:lnSpc>
              <a:spcBef>
                <a:spcPts val="1200"/>
              </a:spcBef>
            </a:pPr>
            <a:r>
              <a:rPr dirty="0" sz="2000" spc="-10" b="1">
                <a:latin typeface="宋体"/>
                <a:cs typeface="宋体"/>
              </a:rPr>
              <a:t>（以1980</a:t>
            </a:r>
            <a:r>
              <a:rPr dirty="0" sz="2000" spc="-20" b="1">
                <a:latin typeface="宋体"/>
                <a:cs typeface="宋体"/>
              </a:rPr>
              <a:t>年时的性能作为基准</a:t>
            </a:r>
            <a:r>
              <a:rPr dirty="0" sz="2000" spc="-50" b="1">
                <a:latin typeface="宋体"/>
                <a:cs typeface="宋体"/>
              </a:rPr>
              <a:t>）</a:t>
            </a:r>
            <a:endParaRPr sz="2000">
              <a:latin typeface="宋体"/>
              <a:cs typeface="宋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579623" y="214376"/>
            <a:ext cx="2820670" cy="330835"/>
          </a:xfrm>
          <a:prstGeom prst="rect"/>
        </p:spPr>
        <p:txBody>
          <a:bodyPr wrap="square" lIns="0" tIns="12700" rIns="0" bIns="0" rtlCol="0" vert="horz">
            <a:spAutoFit/>
          </a:bodyPr>
          <a:lstStyle/>
          <a:p>
            <a:pPr marL="12700">
              <a:lnSpc>
                <a:spcPct val="100000"/>
              </a:lnSpc>
              <a:spcBef>
                <a:spcPts val="100"/>
              </a:spcBef>
            </a:pPr>
            <a:r>
              <a:rPr dirty="0" u="none" sz="2000"/>
              <a:t>7.1</a:t>
            </a:r>
            <a:r>
              <a:rPr dirty="0" u="none" sz="2000" spc="-20"/>
              <a:t> 存储系统的层次结构</a:t>
            </a:r>
            <a:endParaRPr sz="2000"/>
          </a:p>
        </p:txBody>
      </p:sp>
      <p:pic>
        <p:nvPicPr>
          <p:cNvPr id="10" name="object 10"/>
          <p:cNvPicPr/>
          <p:nvPr/>
        </p:nvPicPr>
        <p:blipFill>
          <a:blip r:embed="rId3" cstate="print"/>
          <a:stretch>
            <a:fillRect/>
          </a:stretch>
        </p:blipFill>
        <p:spPr>
          <a:xfrm>
            <a:off x="2591864" y="1343305"/>
            <a:ext cx="6840548" cy="4010363"/>
          </a:xfrm>
          <a:prstGeom prst="rect">
            <a:avLst/>
          </a:prstGeom>
        </p:spPr>
      </p:pic>
      <p:sp>
        <p:nvSpPr>
          <p:cNvPr id="11" name="object 11" descr=""/>
          <p:cNvSpPr txBox="1"/>
          <p:nvPr/>
        </p:nvSpPr>
        <p:spPr>
          <a:xfrm>
            <a:off x="4879975" y="5702604"/>
            <a:ext cx="1562100" cy="331470"/>
          </a:xfrm>
          <a:prstGeom prst="rect">
            <a:avLst/>
          </a:prstGeom>
        </p:spPr>
        <p:txBody>
          <a:bodyPr wrap="square" lIns="0" tIns="13335" rIns="0" bIns="0" rtlCol="0" vert="horz">
            <a:spAutoFit/>
          </a:bodyPr>
          <a:lstStyle/>
          <a:p>
            <a:pPr marL="12700">
              <a:lnSpc>
                <a:spcPct val="100000"/>
              </a:lnSpc>
              <a:spcBef>
                <a:spcPts val="105"/>
              </a:spcBef>
            </a:pPr>
            <a:r>
              <a:rPr dirty="0" sz="2000" spc="-25" b="1">
                <a:latin typeface="宋体"/>
                <a:cs typeface="宋体"/>
              </a:rPr>
              <a:t>两种存储层次</a:t>
            </a:r>
            <a:endParaRPr sz="2000">
              <a:latin typeface="宋体"/>
              <a:cs typeface="宋体"/>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579623" y="214376"/>
            <a:ext cx="2820670" cy="330835"/>
          </a:xfrm>
          <a:prstGeom prst="rect"/>
        </p:spPr>
        <p:txBody>
          <a:bodyPr wrap="square" lIns="0" tIns="12700" rIns="0" bIns="0" rtlCol="0" vert="horz">
            <a:spAutoFit/>
          </a:bodyPr>
          <a:lstStyle/>
          <a:p>
            <a:pPr marL="12700">
              <a:lnSpc>
                <a:spcPct val="100000"/>
              </a:lnSpc>
              <a:spcBef>
                <a:spcPts val="100"/>
              </a:spcBef>
            </a:pPr>
            <a:r>
              <a:rPr dirty="0" u="none" sz="2000"/>
              <a:t>7.1</a:t>
            </a:r>
            <a:r>
              <a:rPr dirty="0" u="none" sz="2000" spc="-20"/>
              <a:t> 存储系统的层次结构</a:t>
            </a:r>
            <a:endParaRPr sz="2000"/>
          </a:p>
        </p:txBody>
      </p:sp>
      <p:grpSp>
        <p:nvGrpSpPr>
          <p:cNvPr id="10" name="object 10" descr=""/>
          <p:cNvGrpSpPr/>
          <p:nvPr/>
        </p:nvGrpSpPr>
        <p:grpSpPr>
          <a:xfrm>
            <a:off x="2346388" y="1662112"/>
            <a:ext cx="7548880" cy="767080"/>
            <a:chOff x="2346388" y="1662112"/>
            <a:chExt cx="7548880" cy="767080"/>
          </a:xfrm>
        </p:grpSpPr>
        <p:sp>
          <p:nvSpPr>
            <p:cNvPr id="11" name="object 11" descr=""/>
            <p:cNvSpPr/>
            <p:nvPr/>
          </p:nvSpPr>
          <p:spPr>
            <a:xfrm>
              <a:off x="2351151" y="1666875"/>
              <a:ext cx="7543800" cy="762000"/>
            </a:xfrm>
            <a:custGeom>
              <a:avLst/>
              <a:gdLst/>
              <a:ahLst/>
              <a:cxnLst/>
              <a:rect l="l" t="t" r="r" b="b"/>
              <a:pathLst>
                <a:path w="7543800" h="762000">
                  <a:moveTo>
                    <a:pt x="7543800" y="0"/>
                  </a:moveTo>
                  <a:lnTo>
                    <a:pt x="0" y="0"/>
                  </a:lnTo>
                  <a:lnTo>
                    <a:pt x="0" y="762000"/>
                  </a:lnTo>
                  <a:lnTo>
                    <a:pt x="7543800" y="762000"/>
                  </a:lnTo>
                  <a:lnTo>
                    <a:pt x="7543800" y="0"/>
                  </a:lnTo>
                  <a:close/>
                </a:path>
              </a:pathLst>
            </a:custGeom>
            <a:solidFill>
              <a:srgbClr val="FFF8E0"/>
            </a:solidFill>
          </p:spPr>
          <p:txBody>
            <a:bodyPr wrap="square" lIns="0" tIns="0" rIns="0" bIns="0" rtlCol="0"/>
            <a:lstStyle/>
            <a:p/>
          </p:txBody>
        </p:sp>
        <p:sp>
          <p:nvSpPr>
            <p:cNvPr id="12" name="object 12" descr=""/>
            <p:cNvSpPr/>
            <p:nvPr/>
          </p:nvSpPr>
          <p:spPr>
            <a:xfrm>
              <a:off x="2351151" y="1666875"/>
              <a:ext cx="2376805" cy="754380"/>
            </a:xfrm>
            <a:custGeom>
              <a:avLst/>
              <a:gdLst/>
              <a:ahLst/>
              <a:cxnLst/>
              <a:rect l="l" t="t" r="r" b="b"/>
              <a:pathLst>
                <a:path w="2376804" h="754380">
                  <a:moveTo>
                    <a:pt x="0" y="0"/>
                  </a:moveTo>
                  <a:lnTo>
                    <a:pt x="2376424" y="753999"/>
                  </a:lnTo>
                </a:path>
              </a:pathLst>
            </a:custGeom>
            <a:ln w="9525">
              <a:solidFill>
                <a:srgbClr val="40458B"/>
              </a:solidFill>
            </a:ln>
          </p:spPr>
          <p:txBody>
            <a:bodyPr wrap="square" lIns="0" tIns="0" rIns="0" bIns="0" rtlCol="0"/>
            <a:lstStyle/>
            <a:p/>
          </p:txBody>
        </p:sp>
      </p:grpSp>
      <p:graphicFrame>
        <p:nvGraphicFramePr>
          <p:cNvPr id="13" name="object 13" descr=""/>
          <p:cNvGraphicFramePr>
            <a:graphicFrameLocks noGrp="1"/>
          </p:cNvGraphicFramePr>
          <p:nvPr/>
        </p:nvGraphicFramePr>
        <p:xfrm>
          <a:off x="2332101" y="1662112"/>
          <a:ext cx="7758430" cy="4419600"/>
        </p:xfrm>
        <a:graphic>
          <a:graphicData uri="http://schemas.openxmlformats.org/drawingml/2006/table">
            <a:tbl>
              <a:tblPr firstRow="1" bandRow="1">
                <a:tableStyleId>{2D5ABB26-0587-4C30-8999-92F81FD0307C}</a:tableStyleId>
              </a:tblPr>
              <a:tblGrid>
                <a:gridCol w="2395220"/>
                <a:gridCol w="2663825"/>
                <a:gridCol w="2623185"/>
              </a:tblGrid>
              <a:tr h="762000">
                <a:tc>
                  <a:txBody>
                    <a:bodyPr/>
                    <a:lstStyle/>
                    <a:p>
                      <a:pPr marL="1306195">
                        <a:lnSpc>
                          <a:spcPct val="100000"/>
                        </a:lnSpc>
                        <a:spcBef>
                          <a:spcPts val="439"/>
                        </a:spcBef>
                      </a:pPr>
                      <a:r>
                        <a:rPr dirty="0" sz="1800" spc="-25" b="1">
                          <a:solidFill>
                            <a:srgbClr val="E14B04"/>
                          </a:solidFill>
                          <a:latin typeface="宋体"/>
                          <a:cs typeface="宋体"/>
                        </a:rPr>
                        <a:t>存储层次</a:t>
                      </a:r>
                      <a:endParaRPr sz="1800">
                        <a:latin typeface="宋体"/>
                        <a:cs typeface="宋体"/>
                      </a:endParaRPr>
                    </a:p>
                    <a:p>
                      <a:pPr marL="240665">
                        <a:lnSpc>
                          <a:spcPct val="100000"/>
                        </a:lnSpc>
                        <a:spcBef>
                          <a:spcPts val="730"/>
                        </a:spcBef>
                      </a:pPr>
                      <a:r>
                        <a:rPr dirty="0" sz="1800" spc="-25" b="1">
                          <a:solidFill>
                            <a:srgbClr val="E14B04"/>
                          </a:solidFill>
                          <a:latin typeface="宋体"/>
                          <a:cs typeface="宋体"/>
                        </a:rPr>
                        <a:t>比较项目</a:t>
                      </a:r>
                      <a:endParaRPr sz="1800">
                        <a:latin typeface="宋体"/>
                        <a:cs typeface="宋体"/>
                      </a:endParaRPr>
                    </a:p>
                  </a:txBody>
                  <a:tcPr marL="0" marR="0" marB="0" marT="55879">
                    <a:lnR w="19050">
                      <a:solidFill>
                        <a:srgbClr val="40458B"/>
                      </a:solidFill>
                      <a:prstDash val="solid"/>
                    </a:lnR>
                    <a:lnT w="9525">
                      <a:solidFill>
                        <a:srgbClr val="40458B"/>
                      </a:solidFill>
                      <a:prstDash val="solid"/>
                    </a:lnT>
                    <a:lnB w="19050">
                      <a:solidFill>
                        <a:srgbClr val="40458B"/>
                      </a:solidFill>
                      <a:prstDash val="solid"/>
                    </a:lnB>
                  </a:tcPr>
                </a:tc>
                <a:tc>
                  <a:txBody>
                    <a:bodyPr/>
                    <a:lstStyle/>
                    <a:p>
                      <a:pPr>
                        <a:lnSpc>
                          <a:spcPct val="100000"/>
                        </a:lnSpc>
                        <a:spcBef>
                          <a:spcPts val="55"/>
                        </a:spcBef>
                      </a:pPr>
                      <a:endParaRPr sz="1800">
                        <a:latin typeface="Times New Roman"/>
                        <a:cs typeface="Times New Roman"/>
                      </a:endParaRPr>
                    </a:p>
                    <a:p>
                      <a:pPr marL="36195">
                        <a:lnSpc>
                          <a:spcPct val="100000"/>
                        </a:lnSpc>
                      </a:pPr>
                      <a:r>
                        <a:rPr dirty="0" sz="1800" b="1">
                          <a:solidFill>
                            <a:srgbClr val="E14B04"/>
                          </a:solidFill>
                          <a:latin typeface="Times New Roman"/>
                          <a:cs typeface="Times New Roman"/>
                        </a:rPr>
                        <a:t>“Cache</a:t>
                      </a:r>
                      <a:r>
                        <a:rPr dirty="0" sz="1800" spc="10" b="1">
                          <a:solidFill>
                            <a:srgbClr val="E14B04"/>
                          </a:solidFill>
                          <a:latin typeface="Times New Roman"/>
                          <a:cs typeface="Times New Roman"/>
                        </a:rPr>
                        <a:t> </a:t>
                      </a:r>
                      <a:r>
                        <a:rPr dirty="0" sz="1800" spc="-25" b="1">
                          <a:solidFill>
                            <a:srgbClr val="E14B04"/>
                          </a:solidFill>
                          <a:latin typeface="宋体"/>
                          <a:cs typeface="宋体"/>
                        </a:rPr>
                        <a:t>－主存”层次</a:t>
                      </a:r>
                      <a:endParaRPr sz="1800">
                        <a:latin typeface="宋体"/>
                        <a:cs typeface="宋体"/>
                      </a:endParaRPr>
                    </a:p>
                  </a:txBody>
                  <a:tcPr marL="0" marR="0" marB="0" marT="6985">
                    <a:lnL w="19050">
                      <a:solidFill>
                        <a:srgbClr val="40458B"/>
                      </a:solidFill>
                      <a:prstDash val="solid"/>
                    </a:lnL>
                    <a:lnR w="9525">
                      <a:solidFill>
                        <a:srgbClr val="40458B"/>
                      </a:solidFill>
                      <a:prstDash val="solid"/>
                    </a:lnR>
                    <a:lnT w="9525">
                      <a:solidFill>
                        <a:srgbClr val="40458B"/>
                      </a:solidFill>
                      <a:prstDash val="solid"/>
                    </a:lnT>
                    <a:lnB w="19050">
                      <a:solidFill>
                        <a:srgbClr val="40458B"/>
                      </a:solidFill>
                      <a:prstDash val="solid"/>
                    </a:lnB>
                    <a:solidFill>
                      <a:srgbClr val="FFF8E0"/>
                    </a:solidFill>
                  </a:tcPr>
                </a:tc>
                <a:tc>
                  <a:txBody>
                    <a:bodyPr/>
                    <a:lstStyle/>
                    <a:p>
                      <a:pPr marL="182245" marR="113030">
                        <a:lnSpc>
                          <a:spcPct val="100000"/>
                        </a:lnSpc>
                        <a:spcBef>
                          <a:spcPts val="1940"/>
                        </a:spcBef>
                      </a:pPr>
                      <a:r>
                        <a:rPr dirty="0" sz="1800" b="1">
                          <a:solidFill>
                            <a:srgbClr val="E14B04"/>
                          </a:solidFill>
                          <a:latin typeface="Times New Roman"/>
                          <a:cs typeface="Times New Roman"/>
                        </a:rPr>
                        <a:t>“</a:t>
                      </a:r>
                      <a:r>
                        <a:rPr dirty="0" sz="1800" spc="-20" b="1">
                          <a:solidFill>
                            <a:srgbClr val="E14B04"/>
                          </a:solidFill>
                          <a:latin typeface="宋体"/>
                          <a:cs typeface="宋体"/>
                        </a:rPr>
                        <a:t>主存－辅存”层次</a:t>
                      </a:r>
                      <a:endParaRPr sz="1800">
                        <a:latin typeface="宋体"/>
                        <a:cs typeface="宋体"/>
                      </a:endParaRPr>
                    </a:p>
                  </a:txBody>
                  <a:tcPr marL="0" marR="0" marB="0" marT="246380">
                    <a:lnL w="9525">
                      <a:solidFill>
                        <a:srgbClr val="40458B"/>
                      </a:solidFill>
                      <a:prstDash val="solid"/>
                    </a:lnL>
                    <a:lnT w="9525">
                      <a:solidFill>
                        <a:srgbClr val="40458B"/>
                      </a:solidFill>
                      <a:prstDash val="solid"/>
                    </a:lnT>
                    <a:lnB w="19050">
                      <a:solidFill>
                        <a:srgbClr val="40458B"/>
                      </a:solidFill>
                      <a:prstDash val="solid"/>
                    </a:lnB>
                    <a:solidFill>
                      <a:srgbClr val="FFF8E0"/>
                    </a:solidFill>
                  </a:tcPr>
                </a:tc>
              </a:tr>
              <a:tr h="533400">
                <a:tc>
                  <a:txBody>
                    <a:bodyPr/>
                    <a:lstStyle/>
                    <a:p>
                      <a:pPr marL="567690">
                        <a:lnSpc>
                          <a:spcPct val="100000"/>
                        </a:lnSpc>
                        <a:spcBef>
                          <a:spcPts val="1040"/>
                        </a:spcBef>
                        <a:tabLst>
                          <a:tab pos="1257935" algn="l"/>
                        </a:tabLst>
                      </a:pPr>
                      <a:r>
                        <a:rPr dirty="0" sz="1800" spc="-50" b="1">
                          <a:solidFill>
                            <a:srgbClr val="008000"/>
                          </a:solidFill>
                          <a:latin typeface="宋体"/>
                          <a:cs typeface="宋体"/>
                        </a:rPr>
                        <a:t>目</a:t>
                      </a:r>
                      <a:r>
                        <a:rPr dirty="0" sz="1800" b="1">
                          <a:solidFill>
                            <a:srgbClr val="008000"/>
                          </a:solidFill>
                          <a:latin typeface="宋体"/>
                          <a:cs typeface="宋体"/>
                        </a:rPr>
                        <a:t>	</a:t>
                      </a:r>
                      <a:r>
                        <a:rPr dirty="0" sz="1800" spc="-50" b="1">
                          <a:solidFill>
                            <a:srgbClr val="008000"/>
                          </a:solidFill>
                          <a:latin typeface="宋体"/>
                          <a:cs typeface="宋体"/>
                        </a:rPr>
                        <a:t>的</a:t>
                      </a:r>
                      <a:endParaRPr sz="1800">
                        <a:latin typeface="宋体"/>
                        <a:cs typeface="宋体"/>
                      </a:endParaRPr>
                    </a:p>
                  </a:txBody>
                  <a:tcPr marL="0" marR="0" marB="0" marT="132080">
                    <a:lnR w="19050">
                      <a:solidFill>
                        <a:srgbClr val="40458B"/>
                      </a:solidFill>
                      <a:prstDash val="solid"/>
                    </a:lnR>
                    <a:lnT w="19050">
                      <a:solidFill>
                        <a:srgbClr val="40458B"/>
                      </a:solidFill>
                      <a:prstDash val="solid"/>
                    </a:lnT>
                    <a:lnB w="9525">
                      <a:solidFill>
                        <a:srgbClr val="40458B"/>
                      </a:solidFill>
                      <a:prstDash val="solid"/>
                    </a:lnB>
                    <a:solidFill>
                      <a:srgbClr val="FFF8E0"/>
                    </a:solidFill>
                  </a:tcPr>
                </a:tc>
                <a:tc>
                  <a:txBody>
                    <a:bodyPr/>
                    <a:lstStyle/>
                    <a:p>
                      <a:pPr marL="80645">
                        <a:lnSpc>
                          <a:spcPct val="100000"/>
                        </a:lnSpc>
                        <a:spcBef>
                          <a:spcPts val="1075"/>
                        </a:spcBef>
                      </a:pPr>
                      <a:r>
                        <a:rPr dirty="0" sz="1800" spc="-25" b="1">
                          <a:solidFill>
                            <a:srgbClr val="40458B"/>
                          </a:solidFill>
                          <a:latin typeface="宋体"/>
                          <a:cs typeface="宋体"/>
                        </a:rPr>
                        <a:t>为了弥补主存速度的不足</a:t>
                      </a:r>
                      <a:endParaRPr sz="1800">
                        <a:latin typeface="宋体"/>
                        <a:cs typeface="宋体"/>
                      </a:endParaRPr>
                    </a:p>
                  </a:txBody>
                  <a:tcPr marL="0" marR="0" marB="0" marT="136525">
                    <a:lnL w="19050">
                      <a:solidFill>
                        <a:srgbClr val="40458B"/>
                      </a:solidFill>
                      <a:prstDash val="solid"/>
                    </a:lnL>
                    <a:lnR w="9525">
                      <a:solidFill>
                        <a:srgbClr val="40458B"/>
                      </a:solidFill>
                      <a:prstDash val="solid"/>
                    </a:lnR>
                    <a:lnT w="19050">
                      <a:solidFill>
                        <a:srgbClr val="40458B"/>
                      </a:solidFill>
                      <a:prstDash val="solid"/>
                    </a:lnT>
                    <a:lnB w="9525">
                      <a:solidFill>
                        <a:srgbClr val="40458B"/>
                      </a:solidFill>
                      <a:prstDash val="solid"/>
                    </a:lnB>
                  </a:tcPr>
                </a:tc>
                <a:tc>
                  <a:txBody>
                    <a:bodyPr/>
                    <a:lstStyle/>
                    <a:p>
                      <a:pPr marL="85725">
                        <a:lnSpc>
                          <a:spcPct val="100000"/>
                        </a:lnSpc>
                        <a:spcBef>
                          <a:spcPts val="930"/>
                        </a:spcBef>
                      </a:pPr>
                      <a:r>
                        <a:rPr dirty="0" sz="1800" spc="-15" b="1">
                          <a:solidFill>
                            <a:srgbClr val="40458B"/>
                          </a:solidFill>
                          <a:latin typeface="宋体"/>
                          <a:cs typeface="宋体"/>
                        </a:rPr>
                        <a:t>为了弥补主存容量的不足</a:t>
                      </a:r>
                      <a:endParaRPr sz="1800">
                        <a:latin typeface="宋体"/>
                        <a:cs typeface="宋体"/>
                      </a:endParaRPr>
                    </a:p>
                  </a:txBody>
                  <a:tcPr marL="0" marR="0" marB="0" marT="118110">
                    <a:lnL w="9525">
                      <a:solidFill>
                        <a:srgbClr val="40458B"/>
                      </a:solidFill>
                      <a:prstDash val="solid"/>
                    </a:lnL>
                    <a:lnT w="19050">
                      <a:solidFill>
                        <a:srgbClr val="40458B"/>
                      </a:solidFill>
                      <a:prstDash val="solid"/>
                    </a:lnT>
                    <a:lnB w="9525">
                      <a:solidFill>
                        <a:srgbClr val="40458B"/>
                      </a:solidFill>
                      <a:prstDash val="solid"/>
                    </a:lnB>
                  </a:tcPr>
                </a:tc>
              </a:tr>
              <a:tr h="533400">
                <a:tc>
                  <a:txBody>
                    <a:bodyPr/>
                    <a:lstStyle/>
                    <a:p>
                      <a:pPr marL="339090">
                        <a:lnSpc>
                          <a:spcPct val="100000"/>
                        </a:lnSpc>
                        <a:spcBef>
                          <a:spcPts val="1040"/>
                        </a:spcBef>
                      </a:pPr>
                      <a:r>
                        <a:rPr dirty="0" sz="1800" spc="-20" b="1">
                          <a:solidFill>
                            <a:srgbClr val="008000"/>
                          </a:solidFill>
                          <a:latin typeface="宋体"/>
                          <a:cs typeface="宋体"/>
                        </a:rPr>
                        <a:t>存储管理实现</a:t>
                      </a:r>
                      <a:endParaRPr sz="1800">
                        <a:latin typeface="宋体"/>
                        <a:cs typeface="宋体"/>
                      </a:endParaRPr>
                    </a:p>
                  </a:txBody>
                  <a:tcPr marL="0" marR="0" marB="0" marT="132080">
                    <a:lnR w="19050">
                      <a:solidFill>
                        <a:srgbClr val="40458B"/>
                      </a:solidFill>
                      <a:prstDash val="solid"/>
                    </a:lnR>
                    <a:lnT w="9525">
                      <a:solidFill>
                        <a:srgbClr val="40458B"/>
                      </a:solidFill>
                      <a:prstDash val="solid"/>
                    </a:lnT>
                    <a:lnB w="9525">
                      <a:solidFill>
                        <a:srgbClr val="40458B"/>
                      </a:solidFill>
                      <a:prstDash val="solid"/>
                    </a:lnB>
                    <a:solidFill>
                      <a:srgbClr val="FFF8E0"/>
                    </a:solidFill>
                  </a:tcPr>
                </a:tc>
                <a:tc>
                  <a:txBody>
                    <a:bodyPr/>
                    <a:lstStyle/>
                    <a:p>
                      <a:pPr marL="317500">
                        <a:lnSpc>
                          <a:spcPct val="100000"/>
                        </a:lnSpc>
                        <a:spcBef>
                          <a:spcPts val="930"/>
                        </a:spcBef>
                      </a:pPr>
                      <a:r>
                        <a:rPr dirty="0" sz="1800" spc="-15" b="1">
                          <a:solidFill>
                            <a:srgbClr val="40458B"/>
                          </a:solidFill>
                          <a:latin typeface="宋体"/>
                          <a:cs typeface="宋体"/>
                        </a:rPr>
                        <a:t>主要由专用硬件实现</a:t>
                      </a:r>
                      <a:endParaRPr sz="1800">
                        <a:latin typeface="宋体"/>
                        <a:cs typeface="宋体"/>
                      </a:endParaRPr>
                    </a:p>
                  </a:txBody>
                  <a:tcPr marL="0" marR="0" marB="0" marT="118110">
                    <a:lnL w="19050">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462280" marR="113030">
                        <a:lnSpc>
                          <a:spcPct val="100000"/>
                        </a:lnSpc>
                        <a:spcBef>
                          <a:spcPts val="930"/>
                        </a:spcBef>
                      </a:pPr>
                      <a:r>
                        <a:rPr dirty="0" sz="1800" spc="-20" b="1">
                          <a:solidFill>
                            <a:srgbClr val="40458B"/>
                          </a:solidFill>
                          <a:latin typeface="宋体"/>
                          <a:cs typeface="宋体"/>
                        </a:rPr>
                        <a:t>主要由软件实现</a:t>
                      </a:r>
                      <a:endParaRPr sz="1800">
                        <a:latin typeface="宋体"/>
                        <a:cs typeface="宋体"/>
                      </a:endParaRPr>
                    </a:p>
                  </a:txBody>
                  <a:tcPr marL="0" marR="0" marB="0" marT="118110">
                    <a:lnL w="9525">
                      <a:solidFill>
                        <a:srgbClr val="40458B"/>
                      </a:solidFill>
                      <a:prstDash val="solid"/>
                    </a:lnL>
                    <a:lnT w="9525">
                      <a:solidFill>
                        <a:srgbClr val="40458B"/>
                      </a:solidFill>
                      <a:prstDash val="solid"/>
                    </a:lnT>
                    <a:lnB w="9525">
                      <a:solidFill>
                        <a:srgbClr val="40458B"/>
                      </a:solidFill>
                      <a:prstDash val="solid"/>
                    </a:lnB>
                  </a:tcPr>
                </a:tc>
              </a:tr>
              <a:tr h="914400">
                <a:tc>
                  <a:txBody>
                    <a:bodyPr/>
                    <a:lstStyle/>
                    <a:p>
                      <a:pPr marL="243204">
                        <a:lnSpc>
                          <a:spcPct val="100000"/>
                        </a:lnSpc>
                        <a:spcBef>
                          <a:spcPts val="1880"/>
                        </a:spcBef>
                      </a:pPr>
                      <a:r>
                        <a:rPr dirty="0" sz="1800" spc="-20" b="1">
                          <a:solidFill>
                            <a:srgbClr val="008000"/>
                          </a:solidFill>
                          <a:latin typeface="宋体"/>
                          <a:cs typeface="宋体"/>
                        </a:rPr>
                        <a:t>访问速度的比值</a:t>
                      </a:r>
                      <a:endParaRPr sz="1800">
                        <a:latin typeface="宋体"/>
                        <a:cs typeface="宋体"/>
                      </a:endParaRPr>
                    </a:p>
                    <a:p>
                      <a:pPr marL="186690">
                        <a:lnSpc>
                          <a:spcPct val="100000"/>
                        </a:lnSpc>
                      </a:pPr>
                      <a:r>
                        <a:rPr dirty="0" sz="1800" spc="-10" b="1">
                          <a:solidFill>
                            <a:srgbClr val="008000"/>
                          </a:solidFill>
                          <a:latin typeface="Times New Roman"/>
                          <a:cs typeface="Times New Roman"/>
                        </a:rPr>
                        <a:t>(</a:t>
                      </a:r>
                      <a:r>
                        <a:rPr dirty="0" sz="1800" spc="-10" b="1">
                          <a:solidFill>
                            <a:srgbClr val="008000"/>
                          </a:solidFill>
                          <a:latin typeface="宋体"/>
                          <a:cs typeface="宋体"/>
                        </a:rPr>
                        <a:t>第一级和第二级</a:t>
                      </a:r>
                      <a:r>
                        <a:rPr dirty="0" sz="1800" spc="-50" b="1">
                          <a:solidFill>
                            <a:srgbClr val="008000"/>
                          </a:solidFill>
                          <a:latin typeface="Times New Roman"/>
                          <a:cs typeface="Times New Roman"/>
                        </a:rPr>
                        <a:t>)</a:t>
                      </a:r>
                      <a:endParaRPr sz="1800">
                        <a:latin typeface="Times New Roman"/>
                        <a:cs typeface="Times New Roman"/>
                      </a:endParaRPr>
                    </a:p>
                  </a:txBody>
                  <a:tcPr marL="0" marR="0" marB="0" marT="238760">
                    <a:lnR w="19050">
                      <a:solidFill>
                        <a:srgbClr val="40458B"/>
                      </a:solidFill>
                      <a:prstDash val="solid"/>
                    </a:lnR>
                    <a:lnT w="9525">
                      <a:solidFill>
                        <a:srgbClr val="40458B"/>
                      </a:solidFill>
                      <a:prstDash val="solid"/>
                    </a:lnT>
                    <a:lnB w="9525">
                      <a:solidFill>
                        <a:srgbClr val="40458B"/>
                      </a:solidFill>
                      <a:prstDash val="solid"/>
                    </a:lnB>
                    <a:solidFill>
                      <a:srgbClr val="FFF8E0"/>
                    </a:solidFill>
                  </a:tcPr>
                </a:tc>
                <a:tc>
                  <a:txBody>
                    <a:bodyPr/>
                    <a:lstStyle/>
                    <a:p>
                      <a:pPr>
                        <a:lnSpc>
                          <a:spcPct val="100000"/>
                        </a:lnSpc>
                        <a:spcBef>
                          <a:spcPts val="509"/>
                        </a:spcBef>
                      </a:pPr>
                      <a:endParaRPr sz="1800">
                        <a:latin typeface="Times New Roman"/>
                        <a:cs typeface="Times New Roman"/>
                      </a:endParaRPr>
                    </a:p>
                    <a:p>
                      <a:pPr marL="782320">
                        <a:lnSpc>
                          <a:spcPct val="100000"/>
                        </a:lnSpc>
                      </a:pPr>
                      <a:r>
                        <a:rPr dirty="0" sz="1800" spc="-25" b="1">
                          <a:solidFill>
                            <a:srgbClr val="40458B"/>
                          </a:solidFill>
                          <a:latin typeface="宋体"/>
                          <a:cs typeface="宋体"/>
                        </a:rPr>
                        <a:t>几比一</a:t>
                      </a:r>
                      <a:endParaRPr sz="1800">
                        <a:latin typeface="宋体"/>
                        <a:cs typeface="宋体"/>
                      </a:endParaRPr>
                    </a:p>
                  </a:txBody>
                  <a:tcPr marL="0" marR="0" marB="0" marT="64769">
                    <a:lnL w="19050">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R="113030">
                        <a:lnSpc>
                          <a:spcPct val="100000"/>
                        </a:lnSpc>
                        <a:spcBef>
                          <a:spcPts val="475"/>
                        </a:spcBef>
                      </a:pPr>
                      <a:endParaRPr sz="1800">
                        <a:latin typeface="Times New Roman"/>
                        <a:cs typeface="Times New Roman"/>
                      </a:endParaRPr>
                    </a:p>
                    <a:p>
                      <a:pPr marL="767080" marR="113030">
                        <a:lnSpc>
                          <a:spcPct val="100000"/>
                        </a:lnSpc>
                      </a:pPr>
                      <a:r>
                        <a:rPr dirty="0" sz="1800" spc="-25" b="1">
                          <a:solidFill>
                            <a:srgbClr val="40458B"/>
                          </a:solidFill>
                          <a:latin typeface="宋体"/>
                          <a:cs typeface="宋体"/>
                        </a:rPr>
                        <a:t>几万比一</a:t>
                      </a:r>
                      <a:endParaRPr sz="1800">
                        <a:latin typeface="宋体"/>
                        <a:cs typeface="宋体"/>
                      </a:endParaRPr>
                    </a:p>
                  </a:txBody>
                  <a:tcPr marL="0" marR="0" marB="0" marT="60325">
                    <a:lnL w="9525">
                      <a:solidFill>
                        <a:srgbClr val="40458B"/>
                      </a:solidFill>
                      <a:prstDash val="solid"/>
                    </a:lnL>
                    <a:lnT w="9525">
                      <a:solidFill>
                        <a:srgbClr val="40458B"/>
                      </a:solidFill>
                      <a:prstDash val="solid"/>
                    </a:lnT>
                    <a:lnB w="9525">
                      <a:solidFill>
                        <a:srgbClr val="40458B"/>
                      </a:solidFill>
                      <a:prstDash val="solid"/>
                    </a:lnB>
                  </a:tcPr>
                </a:tc>
              </a:tr>
              <a:tr h="533400">
                <a:tc>
                  <a:txBody>
                    <a:bodyPr/>
                    <a:lstStyle/>
                    <a:p>
                      <a:pPr marL="186690">
                        <a:lnSpc>
                          <a:spcPct val="100000"/>
                        </a:lnSpc>
                        <a:spcBef>
                          <a:spcPts val="1080"/>
                        </a:spcBef>
                      </a:pPr>
                      <a:r>
                        <a:rPr dirty="0" sz="1800" spc="-10" b="1">
                          <a:solidFill>
                            <a:srgbClr val="008000"/>
                          </a:solidFill>
                          <a:latin typeface="宋体"/>
                          <a:cs typeface="宋体"/>
                        </a:rPr>
                        <a:t>典型的块</a:t>
                      </a:r>
                      <a:r>
                        <a:rPr dirty="0" sz="1800" spc="-10" b="1">
                          <a:solidFill>
                            <a:srgbClr val="008000"/>
                          </a:solidFill>
                          <a:latin typeface="Times New Roman"/>
                          <a:cs typeface="Times New Roman"/>
                        </a:rPr>
                        <a:t>(</a:t>
                      </a:r>
                      <a:r>
                        <a:rPr dirty="0" sz="1800" spc="-10" b="1">
                          <a:solidFill>
                            <a:srgbClr val="008000"/>
                          </a:solidFill>
                          <a:latin typeface="宋体"/>
                          <a:cs typeface="宋体"/>
                        </a:rPr>
                        <a:t>页</a:t>
                      </a:r>
                      <a:r>
                        <a:rPr dirty="0" sz="1800" spc="-10" b="1">
                          <a:solidFill>
                            <a:srgbClr val="008000"/>
                          </a:solidFill>
                          <a:latin typeface="Times New Roman"/>
                          <a:cs typeface="Times New Roman"/>
                        </a:rPr>
                        <a:t>)</a:t>
                      </a:r>
                      <a:r>
                        <a:rPr dirty="0" sz="1800" spc="-30" b="1">
                          <a:solidFill>
                            <a:srgbClr val="008000"/>
                          </a:solidFill>
                          <a:latin typeface="宋体"/>
                          <a:cs typeface="宋体"/>
                        </a:rPr>
                        <a:t>大小</a:t>
                      </a:r>
                      <a:endParaRPr sz="1800">
                        <a:latin typeface="宋体"/>
                        <a:cs typeface="宋体"/>
                      </a:endParaRPr>
                    </a:p>
                  </a:txBody>
                  <a:tcPr marL="0" marR="0" marB="0" marT="137160">
                    <a:lnR w="19050">
                      <a:solidFill>
                        <a:srgbClr val="40458B"/>
                      </a:solidFill>
                      <a:prstDash val="solid"/>
                    </a:lnR>
                    <a:lnT w="9525">
                      <a:solidFill>
                        <a:srgbClr val="40458B"/>
                      </a:solidFill>
                      <a:prstDash val="solid"/>
                    </a:lnT>
                    <a:lnB w="9525">
                      <a:solidFill>
                        <a:srgbClr val="40458B"/>
                      </a:solidFill>
                      <a:prstDash val="solid"/>
                    </a:lnB>
                    <a:solidFill>
                      <a:srgbClr val="FFF8E0"/>
                    </a:solidFill>
                  </a:tcPr>
                </a:tc>
                <a:tc>
                  <a:txBody>
                    <a:bodyPr/>
                    <a:lstStyle/>
                    <a:p>
                      <a:pPr marL="610870">
                        <a:lnSpc>
                          <a:spcPct val="100000"/>
                        </a:lnSpc>
                        <a:spcBef>
                          <a:spcPts val="930"/>
                        </a:spcBef>
                      </a:pPr>
                      <a:r>
                        <a:rPr dirty="0" sz="1800" spc="-30" b="1">
                          <a:solidFill>
                            <a:srgbClr val="40458B"/>
                          </a:solidFill>
                          <a:latin typeface="宋体"/>
                          <a:cs typeface="宋体"/>
                        </a:rPr>
                        <a:t>几十个字节</a:t>
                      </a:r>
                      <a:endParaRPr sz="1800">
                        <a:latin typeface="宋体"/>
                        <a:cs typeface="宋体"/>
                      </a:endParaRPr>
                    </a:p>
                  </a:txBody>
                  <a:tcPr marL="0" marR="0" marB="0" marT="118110">
                    <a:lnL w="19050">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290195" marR="113030">
                        <a:lnSpc>
                          <a:spcPct val="100000"/>
                        </a:lnSpc>
                        <a:spcBef>
                          <a:spcPts val="930"/>
                        </a:spcBef>
                      </a:pPr>
                      <a:r>
                        <a:rPr dirty="0" sz="1800" spc="-25" b="1">
                          <a:solidFill>
                            <a:srgbClr val="40458B"/>
                          </a:solidFill>
                          <a:latin typeface="宋体"/>
                          <a:cs typeface="宋体"/>
                        </a:rPr>
                        <a:t>几百到几千个字节</a:t>
                      </a:r>
                      <a:endParaRPr sz="1800">
                        <a:latin typeface="宋体"/>
                        <a:cs typeface="宋体"/>
                      </a:endParaRPr>
                    </a:p>
                  </a:txBody>
                  <a:tcPr marL="0" marR="0" marB="0" marT="118110">
                    <a:lnL w="9525">
                      <a:solidFill>
                        <a:srgbClr val="40458B"/>
                      </a:solidFill>
                      <a:prstDash val="solid"/>
                    </a:lnL>
                    <a:lnT w="9525">
                      <a:solidFill>
                        <a:srgbClr val="40458B"/>
                      </a:solidFill>
                      <a:prstDash val="solid"/>
                    </a:lnT>
                    <a:lnB w="9525">
                      <a:solidFill>
                        <a:srgbClr val="40458B"/>
                      </a:solidFill>
                      <a:prstDash val="solid"/>
                    </a:lnB>
                  </a:tcPr>
                </a:tc>
              </a:tr>
              <a:tr h="647700">
                <a:tc>
                  <a:txBody>
                    <a:bodyPr/>
                    <a:lstStyle/>
                    <a:p>
                      <a:pPr marL="205740" marR="561340">
                        <a:lnSpc>
                          <a:spcPct val="100000"/>
                        </a:lnSpc>
                        <a:spcBef>
                          <a:spcPts val="330"/>
                        </a:spcBef>
                      </a:pPr>
                      <a:r>
                        <a:rPr dirty="0" sz="1800" spc="-20" b="1">
                          <a:solidFill>
                            <a:srgbClr val="008000"/>
                          </a:solidFill>
                          <a:latin typeface="Times New Roman"/>
                          <a:cs typeface="Times New Roman"/>
                        </a:rPr>
                        <a:t>CPU</a:t>
                      </a:r>
                      <a:r>
                        <a:rPr dirty="0" sz="1800" spc="-20" b="1">
                          <a:solidFill>
                            <a:srgbClr val="008000"/>
                          </a:solidFill>
                          <a:latin typeface="宋体"/>
                          <a:cs typeface="宋体"/>
                        </a:rPr>
                        <a:t>对第二级的</a:t>
                      </a:r>
                      <a:r>
                        <a:rPr dirty="0" sz="1800" spc="-25" b="1">
                          <a:solidFill>
                            <a:srgbClr val="008000"/>
                          </a:solidFill>
                          <a:latin typeface="宋体"/>
                          <a:cs typeface="宋体"/>
                        </a:rPr>
                        <a:t>访问方式</a:t>
                      </a:r>
                      <a:endParaRPr sz="1800">
                        <a:latin typeface="宋体"/>
                        <a:cs typeface="宋体"/>
                      </a:endParaRPr>
                    </a:p>
                  </a:txBody>
                  <a:tcPr marL="0" marR="0" marB="0" marT="41910">
                    <a:lnR w="19050">
                      <a:solidFill>
                        <a:srgbClr val="40458B"/>
                      </a:solidFill>
                      <a:prstDash val="solid"/>
                    </a:lnR>
                    <a:lnT w="9525">
                      <a:solidFill>
                        <a:srgbClr val="40458B"/>
                      </a:solidFill>
                      <a:prstDash val="solid"/>
                    </a:lnT>
                    <a:lnB w="9525">
                      <a:solidFill>
                        <a:srgbClr val="40458B"/>
                      </a:solidFill>
                      <a:prstDash val="solid"/>
                    </a:lnB>
                    <a:solidFill>
                      <a:srgbClr val="FFF8E0"/>
                    </a:solidFill>
                  </a:tcPr>
                </a:tc>
                <a:tc>
                  <a:txBody>
                    <a:bodyPr/>
                    <a:lstStyle/>
                    <a:p>
                      <a:pPr marL="610870">
                        <a:lnSpc>
                          <a:spcPct val="100000"/>
                        </a:lnSpc>
                        <a:spcBef>
                          <a:spcPts val="1380"/>
                        </a:spcBef>
                      </a:pPr>
                      <a:r>
                        <a:rPr dirty="0" sz="1800" spc="-20" b="1">
                          <a:solidFill>
                            <a:srgbClr val="40458B"/>
                          </a:solidFill>
                          <a:latin typeface="宋体"/>
                          <a:cs typeface="宋体"/>
                        </a:rPr>
                        <a:t>可直接访问</a:t>
                      </a:r>
                      <a:endParaRPr sz="1800">
                        <a:latin typeface="宋体"/>
                        <a:cs typeface="宋体"/>
                      </a:endParaRPr>
                    </a:p>
                  </a:txBody>
                  <a:tcPr marL="0" marR="0" marB="0" marT="175260">
                    <a:lnL w="19050">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538480" marR="113030">
                        <a:lnSpc>
                          <a:spcPct val="100000"/>
                        </a:lnSpc>
                        <a:spcBef>
                          <a:spcPts val="1530"/>
                        </a:spcBef>
                      </a:pPr>
                      <a:r>
                        <a:rPr dirty="0" sz="1800" spc="-20" b="1">
                          <a:solidFill>
                            <a:srgbClr val="40458B"/>
                          </a:solidFill>
                          <a:latin typeface="宋体"/>
                          <a:cs typeface="宋体"/>
                        </a:rPr>
                        <a:t>均通过第一级</a:t>
                      </a:r>
                      <a:endParaRPr sz="1800">
                        <a:latin typeface="宋体"/>
                        <a:cs typeface="宋体"/>
                      </a:endParaRPr>
                    </a:p>
                  </a:txBody>
                  <a:tcPr marL="0" marR="0" marB="0" marT="194310">
                    <a:lnL w="9525">
                      <a:solidFill>
                        <a:srgbClr val="40458B"/>
                      </a:solidFill>
                      <a:prstDash val="solid"/>
                    </a:lnL>
                    <a:lnT w="9525">
                      <a:solidFill>
                        <a:srgbClr val="40458B"/>
                      </a:solidFill>
                      <a:prstDash val="solid"/>
                    </a:lnT>
                    <a:lnB w="9525">
                      <a:solidFill>
                        <a:srgbClr val="40458B"/>
                      </a:solidFill>
                      <a:prstDash val="solid"/>
                    </a:lnB>
                  </a:tcPr>
                </a:tc>
              </a:tr>
              <a:tr h="495300">
                <a:tc>
                  <a:txBody>
                    <a:bodyPr/>
                    <a:lstStyle/>
                    <a:p>
                      <a:pPr marL="38735">
                        <a:lnSpc>
                          <a:spcPct val="100000"/>
                        </a:lnSpc>
                        <a:spcBef>
                          <a:spcPts val="935"/>
                        </a:spcBef>
                      </a:pPr>
                      <a:r>
                        <a:rPr dirty="0" sz="1800" spc="-10" b="1">
                          <a:solidFill>
                            <a:srgbClr val="008000"/>
                          </a:solidFill>
                          <a:latin typeface="宋体"/>
                          <a:cs typeface="宋体"/>
                        </a:rPr>
                        <a:t>不命中时</a:t>
                      </a:r>
                      <a:r>
                        <a:rPr dirty="0" sz="1800" spc="-20" b="1">
                          <a:solidFill>
                            <a:srgbClr val="008000"/>
                          </a:solidFill>
                          <a:latin typeface="Times New Roman"/>
                          <a:cs typeface="Times New Roman"/>
                        </a:rPr>
                        <a:t>CPU</a:t>
                      </a:r>
                      <a:r>
                        <a:rPr dirty="0" sz="1800" spc="-20" b="1">
                          <a:solidFill>
                            <a:srgbClr val="008000"/>
                          </a:solidFill>
                          <a:latin typeface="宋体"/>
                          <a:cs typeface="宋体"/>
                        </a:rPr>
                        <a:t>是否切换</a:t>
                      </a:r>
                      <a:endParaRPr sz="1800">
                        <a:latin typeface="宋体"/>
                        <a:cs typeface="宋体"/>
                      </a:endParaRPr>
                    </a:p>
                  </a:txBody>
                  <a:tcPr marL="0" marR="0" marB="0" marT="118745">
                    <a:lnR w="19050">
                      <a:solidFill>
                        <a:srgbClr val="40458B"/>
                      </a:solidFill>
                      <a:prstDash val="solid"/>
                    </a:lnR>
                    <a:lnT w="9525">
                      <a:solidFill>
                        <a:srgbClr val="40458B"/>
                      </a:solidFill>
                      <a:prstDash val="solid"/>
                    </a:lnT>
                    <a:lnB w="9525">
                      <a:solidFill>
                        <a:srgbClr val="40458B"/>
                      </a:solidFill>
                      <a:prstDash val="solid"/>
                    </a:lnB>
                    <a:solidFill>
                      <a:srgbClr val="FFF8E0"/>
                    </a:solidFill>
                  </a:tcPr>
                </a:tc>
                <a:tc>
                  <a:txBody>
                    <a:bodyPr/>
                    <a:lstStyle/>
                    <a:p>
                      <a:pPr marL="763270">
                        <a:lnSpc>
                          <a:spcPct val="100000"/>
                        </a:lnSpc>
                        <a:spcBef>
                          <a:spcPts val="745"/>
                        </a:spcBef>
                      </a:pPr>
                      <a:r>
                        <a:rPr dirty="0" sz="1800" spc="-25" b="1">
                          <a:solidFill>
                            <a:srgbClr val="40458B"/>
                          </a:solidFill>
                          <a:latin typeface="宋体"/>
                          <a:cs typeface="宋体"/>
                        </a:rPr>
                        <a:t>不切换</a:t>
                      </a:r>
                      <a:endParaRPr sz="1800">
                        <a:latin typeface="宋体"/>
                        <a:cs typeface="宋体"/>
                      </a:endParaRPr>
                    </a:p>
                  </a:txBody>
                  <a:tcPr marL="0" marR="0" marB="0" marT="94615">
                    <a:lnL w="19050">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tcPr>
                </a:tc>
                <a:tc>
                  <a:txBody>
                    <a:bodyPr/>
                    <a:lstStyle/>
                    <a:p>
                      <a:pPr marL="386080" marR="113030">
                        <a:lnSpc>
                          <a:spcPct val="100000"/>
                        </a:lnSpc>
                        <a:spcBef>
                          <a:spcPts val="785"/>
                        </a:spcBef>
                      </a:pPr>
                      <a:r>
                        <a:rPr dirty="0" sz="1800" spc="-20" b="1">
                          <a:solidFill>
                            <a:srgbClr val="40458B"/>
                          </a:solidFill>
                          <a:latin typeface="宋体"/>
                          <a:cs typeface="宋体"/>
                        </a:rPr>
                        <a:t>切换到其他进程</a:t>
                      </a:r>
                      <a:endParaRPr sz="1800">
                        <a:latin typeface="宋体"/>
                        <a:cs typeface="宋体"/>
                      </a:endParaRPr>
                    </a:p>
                  </a:txBody>
                  <a:tcPr marL="0" marR="0" marB="0" marT="99695">
                    <a:lnL w="9525">
                      <a:solidFill>
                        <a:srgbClr val="40458B"/>
                      </a:solidFill>
                      <a:prstDash val="solid"/>
                    </a:lnL>
                    <a:lnT w="9525">
                      <a:solidFill>
                        <a:srgbClr val="40458B"/>
                      </a:solidFill>
                      <a:prstDash val="solid"/>
                    </a:lnT>
                    <a:lnB w="9525">
                      <a:solidFill>
                        <a:srgbClr val="40458B"/>
                      </a:solidFill>
                      <a:prstDash val="solid"/>
                    </a:lnB>
                  </a:tcPr>
                </a:tc>
              </a:tr>
            </a:tbl>
          </a:graphicData>
        </a:graphic>
      </p:graphicFrame>
      <p:sp>
        <p:nvSpPr>
          <p:cNvPr id="14" name="object 14" descr=""/>
          <p:cNvSpPr txBox="1"/>
          <p:nvPr/>
        </p:nvSpPr>
        <p:spPr>
          <a:xfrm>
            <a:off x="3438271" y="1166621"/>
            <a:ext cx="5270500" cy="330835"/>
          </a:xfrm>
          <a:prstGeom prst="rect">
            <a:avLst/>
          </a:prstGeom>
        </p:spPr>
        <p:txBody>
          <a:bodyPr wrap="square" lIns="0" tIns="13335" rIns="0" bIns="0" rtlCol="0" vert="horz">
            <a:spAutoFit/>
          </a:bodyPr>
          <a:lstStyle/>
          <a:p>
            <a:pPr marL="12700">
              <a:lnSpc>
                <a:spcPct val="100000"/>
              </a:lnSpc>
              <a:spcBef>
                <a:spcPts val="105"/>
              </a:spcBef>
            </a:pPr>
            <a:r>
              <a:rPr dirty="0" sz="2000" spc="-10" b="1">
                <a:latin typeface="宋体"/>
                <a:cs typeface="宋体"/>
              </a:rPr>
              <a:t>“Cache</a:t>
            </a:r>
            <a:r>
              <a:rPr dirty="0" sz="2000" spc="-25" b="1">
                <a:latin typeface="宋体"/>
                <a:cs typeface="宋体"/>
              </a:rPr>
              <a:t>－主存”与“主存－辅存”层次的区别</a:t>
            </a:r>
            <a:endParaRPr sz="2000">
              <a:latin typeface="宋体"/>
              <a:cs typeface="宋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426516" y="1109372"/>
            <a:ext cx="10306050" cy="3511550"/>
          </a:xfrm>
          <a:prstGeom prst="rect">
            <a:avLst/>
          </a:prstGeom>
        </p:spPr>
        <p:txBody>
          <a:bodyPr wrap="square" lIns="0" tIns="128905" rIns="0" bIns="0" rtlCol="0" vert="horz">
            <a:spAutoFit/>
          </a:bodyPr>
          <a:lstStyle/>
          <a:p>
            <a:pPr marL="469265" indent="-456565">
              <a:lnSpc>
                <a:spcPct val="100000"/>
              </a:lnSpc>
              <a:spcBef>
                <a:spcPts val="1015"/>
              </a:spcBef>
              <a:buFont typeface="Times New Roman"/>
              <a:buAutoNum type="arabicPeriod"/>
              <a:tabLst>
                <a:tab pos="469265" algn="l"/>
                <a:tab pos="9174480" algn="l"/>
              </a:tabLst>
            </a:pPr>
            <a:r>
              <a:rPr dirty="0" sz="2400">
                <a:solidFill>
                  <a:srgbClr val="40458B"/>
                </a:solidFill>
                <a:latin typeface="黑体"/>
                <a:cs typeface="黑体"/>
              </a:rPr>
              <a:t>当把一个块调入高一层</a:t>
            </a:r>
            <a:r>
              <a:rPr dirty="0" sz="2400" spc="-10">
                <a:solidFill>
                  <a:srgbClr val="40458B"/>
                </a:solidFill>
                <a:latin typeface="Times New Roman"/>
                <a:cs typeface="Times New Roman"/>
              </a:rPr>
              <a:t>(</a:t>
            </a:r>
            <a:r>
              <a:rPr dirty="0" sz="2400">
                <a:solidFill>
                  <a:srgbClr val="40458B"/>
                </a:solidFill>
                <a:latin typeface="黑体"/>
                <a:cs typeface="黑体"/>
              </a:rPr>
              <a:t>靠近</a:t>
            </a:r>
            <a:r>
              <a:rPr dirty="0" sz="2400" spc="-25">
                <a:solidFill>
                  <a:srgbClr val="40458B"/>
                </a:solidFill>
                <a:latin typeface="Times New Roman"/>
                <a:cs typeface="Times New Roman"/>
              </a:rPr>
              <a:t>CPU)</a:t>
            </a:r>
            <a:r>
              <a:rPr dirty="0" sz="2400">
                <a:solidFill>
                  <a:srgbClr val="40458B"/>
                </a:solidFill>
                <a:latin typeface="黑体"/>
                <a:cs typeface="黑体"/>
              </a:rPr>
              <a:t>存储器时，以放在哪些位置上</a:t>
            </a:r>
            <a:r>
              <a:rPr dirty="0" sz="2400" spc="-50">
                <a:solidFill>
                  <a:srgbClr val="40458B"/>
                </a:solidFill>
                <a:latin typeface="Times New Roman"/>
                <a:cs typeface="Times New Roman"/>
              </a:rPr>
              <a:t>?</a:t>
            </a:r>
            <a:r>
              <a:rPr dirty="0" sz="2400">
                <a:solidFill>
                  <a:srgbClr val="40458B"/>
                </a:solidFill>
                <a:latin typeface="Times New Roman"/>
                <a:cs typeface="Times New Roman"/>
              </a:rPr>
              <a:t>	</a:t>
            </a:r>
            <a:r>
              <a:rPr dirty="0" sz="2400" spc="-10">
                <a:solidFill>
                  <a:srgbClr val="40458B"/>
                </a:solidFill>
                <a:latin typeface="Times New Roman"/>
                <a:cs typeface="Times New Roman"/>
              </a:rPr>
              <a:t>--</a:t>
            </a:r>
            <a:r>
              <a:rPr dirty="0" sz="2400">
                <a:solidFill>
                  <a:srgbClr val="FF0000"/>
                </a:solidFill>
                <a:latin typeface="黑体"/>
                <a:cs typeface="黑体"/>
              </a:rPr>
              <a:t>如何</a:t>
            </a:r>
            <a:r>
              <a:rPr dirty="0" sz="2400" spc="-50">
                <a:solidFill>
                  <a:srgbClr val="FF0000"/>
                </a:solidFill>
                <a:latin typeface="黑体"/>
                <a:cs typeface="黑体"/>
              </a:rPr>
              <a:t>放</a:t>
            </a:r>
            <a:endParaRPr sz="2400">
              <a:latin typeface="黑体"/>
              <a:cs typeface="黑体"/>
            </a:endParaRPr>
          </a:p>
          <a:p>
            <a:pPr marL="1333500">
              <a:lnSpc>
                <a:spcPct val="100000"/>
              </a:lnSpc>
              <a:spcBef>
                <a:spcPts val="770"/>
              </a:spcBef>
            </a:pPr>
            <a:r>
              <a:rPr dirty="0" sz="2000" spc="-15" b="1">
                <a:solidFill>
                  <a:srgbClr val="00AFEF"/>
                </a:solidFill>
                <a:latin typeface="宋体"/>
                <a:cs typeface="宋体"/>
              </a:rPr>
              <a:t>（</a:t>
            </a:r>
            <a:r>
              <a:rPr dirty="0" sz="2000" spc="-10" b="1">
                <a:solidFill>
                  <a:srgbClr val="00AFEF"/>
                </a:solidFill>
                <a:latin typeface="宋体"/>
                <a:cs typeface="宋体"/>
              </a:rPr>
              <a:t>映象规则</a:t>
            </a:r>
            <a:r>
              <a:rPr dirty="0" sz="2000" spc="-50" b="1">
                <a:solidFill>
                  <a:srgbClr val="00AFEF"/>
                </a:solidFill>
                <a:latin typeface="宋体"/>
                <a:cs typeface="宋体"/>
              </a:rPr>
              <a:t>）</a:t>
            </a:r>
            <a:endParaRPr sz="2000">
              <a:latin typeface="宋体"/>
              <a:cs typeface="宋体"/>
            </a:endParaRPr>
          </a:p>
          <a:p>
            <a:pPr marL="469265" indent="-456565">
              <a:lnSpc>
                <a:spcPct val="100000"/>
              </a:lnSpc>
              <a:spcBef>
                <a:spcPts val="670"/>
              </a:spcBef>
              <a:buFont typeface="Times New Roman"/>
              <a:buAutoNum type="arabicPeriod" startAt="2"/>
              <a:tabLst>
                <a:tab pos="469265" algn="l"/>
              </a:tabLst>
            </a:pPr>
            <a:r>
              <a:rPr dirty="0" sz="2400">
                <a:solidFill>
                  <a:srgbClr val="40458B"/>
                </a:solidFill>
                <a:latin typeface="黑体"/>
                <a:cs typeface="黑体"/>
              </a:rPr>
              <a:t>当所要访问的块在高一层存储器中时，如何找到该块</a:t>
            </a:r>
            <a:r>
              <a:rPr dirty="0" sz="2400" spc="-10">
                <a:solidFill>
                  <a:srgbClr val="40458B"/>
                </a:solidFill>
                <a:latin typeface="Times New Roman"/>
                <a:cs typeface="Times New Roman"/>
              </a:rPr>
              <a:t>? --</a:t>
            </a:r>
            <a:r>
              <a:rPr dirty="0" sz="2400" spc="-20">
                <a:solidFill>
                  <a:srgbClr val="FF0000"/>
                </a:solidFill>
                <a:latin typeface="黑体"/>
                <a:cs typeface="黑体"/>
              </a:rPr>
              <a:t>如何找</a:t>
            </a:r>
            <a:endParaRPr sz="2400">
              <a:latin typeface="黑体"/>
              <a:cs typeface="黑体"/>
            </a:endParaRPr>
          </a:p>
          <a:p>
            <a:pPr marL="1269365">
              <a:lnSpc>
                <a:spcPct val="100000"/>
              </a:lnSpc>
              <a:spcBef>
                <a:spcPts val="800"/>
              </a:spcBef>
            </a:pPr>
            <a:r>
              <a:rPr dirty="0" sz="2000" spc="-10" b="1">
                <a:solidFill>
                  <a:srgbClr val="00AFEF"/>
                </a:solidFill>
                <a:latin typeface="宋体"/>
                <a:cs typeface="宋体"/>
              </a:rPr>
              <a:t>（查找算法</a:t>
            </a:r>
            <a:r>
              <a:rPr dirty="0" sz="2000" spc="-50" b="1">
                <a:solidFill>
                  <a:srgbClr val="00AFEF"/>
                </a:solidFill>
                <a:latin typeface="宋体"/>
                <a:cs typeface="宋体"/>
              </a:rPr>
              <a:t>）</a:t>
            </a:r>
            <a:endParaRPr sz="2000">
              <a:latin typeface="宋体"/>
              <a:cs typeface="宋体"/>
            </a:endParaRPr>
          </a:p>
          <a:p>
            <a:pPr marL="469265" indent="-456565">
              <a:lnSpc>
                <a:spcPct val="100000"/>
              </a:lnSpc>
              <a:spcBef>
                <a:spcPts val="785"/>
              </a:spcBef>
              <a:buFont typeface="Times New Roman"/>
              <a:buAutoNum type="arabicPeriod" startAt="3"/>
              <a:tabLst>
                <a:tab pos="469265" algn="l"/>
              </a:tabLst>
            </a:pPr>
            <a:r>
              <a:rPr dirty="0" sz="2400" spc="-45">
                <a:solidFill>
                  <a:srgbClr val="40458B"/>
                </a:solidFill>
                <a:latin typeface="黑体"/>
                <a:cs typeface="黑体"/>
              </a:rPr>
              <a:t>当发生不命中时，应替换哪一块？ </a:t>
            </a:r>
            <a:r>
              <a:rPr dirty="0" sz="2400">
                <a:solidFill>
                  <a:srgbClr val="40458B"/>
                </a:solidFill>
                <a:latin typeface="Times New Roman"/>
                <a:cs typeface="Times New Roman"/>
              </a:rPr>
              <a:t>--</a:t>
            </a:r>
            <a:r>
              <a:rPr dirty="0" sz="2400" spc="-25">
                <a:solidFill>
                  <a:srgbClr val="FF0000"/>
                </a:solidFill>
                <a:latin typeface="黑体"/>
                <a:cs typeface="黑体"/>
              </a:rPr>
              <a:t>如何换</a:t>
            </a:r>
            <a:endParaRPr sz="2400">
              <a:latin typeface="黑体"/>
              <a:cs typeface="黑体"/>
            </a:endParaRPr>
          </a:p>
          <a:p>
            <a:pPr marL="1269365">
              <a:lnSpc>
                <a:spcPct val="100000"/>
              </a:lnSpc>
              <a:spcBef>
                <a:spcPts val="800"/>
              </a:spcBef>
            </a:pPr>
            <a:r>
              <a:rPr dirty="0" sz="2000" spc="-10" b="1">
                <a:solidFill>
                  <a:srgbClr val="00AFEF"/>
                </a:solidFill>
                <a:latin typeface="宋体"/>
                <a:cs typeface="宋体"/>
              </a:rPr>
              <a:t>（替换算法</a:t>
            </a:r>
            <a:r>
              <a:rPr dirty="0" sz="2000" spc="-50" b="1">
                <a:solidFill>
                  <a:srgbClr val="00AFEF"/>
                </a:solidFill>
                <a:latin typeface="宋体"/>
                <a:cs typeface="宋体"/>
              </a:rPr>
              <a:t>）</a:t>
            </a:r>
            <a:endParaRPr sz="2000">
              <a:latin typeface="宋体"/>
              <a:cs typeface="宋体"/>
            </a:endParaRPr>
          </a:p>
          <a:p>
            <a:pPr marL="469265" indent="-456565">
              <a:lnSpc>
                <a:spcPct val="100000"/>
              </a:lnSpc>
              <a:spcBef>
                <a:spcPts val="785"/>
              </a:spcBef>
              <a:buFont typeface="Times New Roman"/>
              <a:buAutoNum type="arabicPeriod" startAt="4"/>
              <a:tabLst>
                <a:tab pos="469265" algn="l"/>
              </a:tabLst>
            </a:pPr>
            <a:r>
              <a:rPr dirty="0" sz="2400">
                <a:solidFill>
                  <a:srgbClr val="40458B"/>
                </a:solidFill>
                <a:latin typeface="黑体"/>
                <a:cs typeface="黑体"/>
              </a:rPr>
              <a:t>当进行写访问时，应进行哪些操作</a:t>
            </a:r>
            <a:r>
              <a:rPr dirty="0" sz="2400" spc="-10">
                <a:solidFill>
                  <a:srgbClr val="40458B"/>
                </a:solidFill>
                <a:latin typeface="Times New Roman"/>
                <a:cs typeface="Times New Roman"/>
              </a:rPr>
              <a:t>? --</a:t>
            </a:r>
            <a:r>
              <a:rPr dirty="0" sz="2400" spc="-20">
                <a:solidFill>
                  <a:srgbClr val="FF0000"/>
                </a:solidFill>
                <a:latin typeface="黑体"/>
                <a:cs typeface="黑体"/>
              </a:rPr>
              <a:t>如何写</a:t>
            </a:r>
            <a:endParaRPr sz="2400">
              <a:latin typeface="黑体"/>
              <a:cs typeface="黑体"/>
            </a:endParaRPr>
          </a:p>
          <a:p>
            <a:pPr marL="1344295">
              <a:lnSpc>
                <a:spcPct val="100000"/>
              </a:lnSpc>
              <a:spcBef>
                <a:spcPts val="800"/>
              </a:spcBef>
            </a:pPr>
            <a:r>
              <a:rPr dirty="0" sz="2000" spc="-10" b="1">
                <a:solidFill>
                  <a:srgbClr val="40458B"/>
                </a:solidFill>
                <a:latin typeface="宋体"/>
                <a:cs typeface="宋体"/>
              </a:rPr>
              <a:t>（</a:t>
            </a:r>
            <a:r>
              <a:rPr dirty="0" sz="2000" spc="-10" b="1">
                <a:solidFill>
                  <a:srgbClr val="00AFEF"/>
                </a:solidFill>
                <a:latin typeface="宋体"/>
                <a:cs typeface="宋体"/>
              </a:rPr>
              <a:t>写策略</a:t>
            </a:r>
            <a:r>
              <a:rPr dirty="0" sz="2000" spc="-50" b="1">
                <a:solidFill>
                  <a:srgbClr val="00AFEF"/>
                </a:solidFill>
                <a:latin typeface="宋体"/>
                <a:cs typeface="宋体"/>
              </a:rPr>
              <a:t>）</a:t>
            </a:r>
            <a:endParaRPr sz="2000">
              <a:latin typeface="宋体"/>
              <a:cs typeface="宋体"/>
            </a:endParaRPr>
          </a:p>
        </p:txBody>
      </p:sp>
      <p:sp>
        <p:nvSpPr>
          <p:cNvPr id="10" name="object 10"/>
          <p:cNvSpPr txBox="1">
            <a:spLocks noGrp="1"/>
          </p:cNvSpPr>
          <p:nvPr>
            <p:ph type="title"/>
          </p:nvPr>
        </p:nvSpPr>
        <p:spPr>
          <a:xfrm>
            <a:off x="1710944" y="58674"/>
            <a:ext cx="399097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7.1.4</a:t>
            </a:r>
            <a:r>
              <a:rPr dirty="0" u="none" sz="2600" spc="-15">
                <a:solidFill>
                  <a:srgbClr val="0000CC"/>
                </a:solidFill>
              </a:rPr>
              <a:t> 存储层次的四个问题</a:t>
            </a:r>
            <a:endParaRPr sz="2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860295" y="1053973"/>
            <a:ext cx="9342755" cy="2863215"/>
          </a:xfrm>
          <a:prstGeom prst="rect">
            <a:avLst/>
          </a:prstGeom>
        </p:spPr>
        <p:txBody>
          <a:bodyPr wrap="square" lIns="0" tIns="159385" rIns="0" bIns="0" rtlCol="0" vert="horz">
            <a:spAutoFit/>
          </a:bodyPr>
          <a:lstStyle/>
          <a:p>
            <a:pPr marL="469265" indent="-456565">
              <a:lnSpc>
                <a:spcPct val="100000"/>
              </a:lnSpc>
              <a:spcBef>
                <a:spcPts val="1255"/>
              </a:spcBef>
              <a:buClr>
                <a:srgbClr val="40458B"/>
              </a:buClr>
              <a:buFont typeface="Tahoma"/>
              <a:buAutoNum type="arabicPeriod"/>
              <a:tabLst>
                <a:tab pos="469265" algn="l"/>
              </a:tabLst>
            </a:pPr>
            <a:r>
              <a:rPr dirty="0" sz="2400" spc="-5">
                <a:solidFill>
                  <a:srgbClr val="C00000"/>
                </a:solidFill>
                <a:latin typeface="黑体"/>
                <a:cs typeface="黑体"/>
              </a:rPr>
              <a:t>存储空间分割与地址计算</a:t>
            </a:r>
            <a:endParaRPr sz="2400">
              <a:latin typeface="黑体"/>
              <a:cs typeface="黑体"/>
            </a:endParaRPr>
          </a:p>
          <a:p>
            <a:pPr marL="469265" indent="-456565">
              <a:lnSpc>
                <a:spcPct val="100000"/>
              </a:lnSpc>
              <a:spcBef>
                <a:spcPts val="1155"/>
              </a:spcBef>
              <a:buClr>
                <a:srgbClr val="40458B"/>
              </a:buClr>
              <a:buAutoNum type="arabicPeriod"/>
              <a:tabLst>
                <a:tab pos="469265" algn="l"/>
              </a:tabLst>
            </a:pPr>
            <a:r>
              <a:rPr dirty="0" sz="2400">
                <a:solidFill>
                  <a:srgbClr val="C00000"/>
                </a:solidFill>
                <a:latin typeface="黑体"/>
                <a:cs typeface="黑体"/>
              </a:rPr>
              <a:t>Cache</a:t>
            </a:r>
            <a:r>
              <a:rPr dirty="0" sz="2400" spc="-10">
                <a:solidFill>
                  <a:srgbClr val="C00000"/>
                </a:solidFill>
                <a:latin typeface="黑体"/>
                <a:cs typeface="黑体"/>
              </a:rPr>
              <a:t>和主存分块</a:t>
            </a:r>
            <a:endParaRPr sz="2400">
              <a:latin typeface="黑体"/>
              <a:cs typeface="黑体"/>
            </a:endParaRPr>
          </a:p>
          <a:p>
            <a:pPr lvl="1" marL="1099185" marR="5080" indent="-457200">
              <a:lnSpc>
                <a:spcPct val="120000"/>
              </a:lnSpc>
              <a:spcBef>
                <a:spcPts val="575"/>
              </a:spcBef>
              <a:buSzPct val="89583"/>
              <a:buFont typeface="Wingdings"/>
              <a:buChar char=""/>
              <a:tabLst>
                <a:tab pos="1099185" algn="l"/>
              </a:tabLst>
            </a:pPr>
            <a:r>
              <a:rPr dirty="0" sz="2400">
                <a:solidFill>
                  <a:srgbClr val="40458B"/>
                </a:solidFill>
                <a:latin typeface="Times New Roman"/>
                <a:cs typeface="Times New Roman"/>
              </a:rPr>
              <a:t>Cache</a:t>
            </a:r>
            <a:r>
              <a:rPr dirty="0" sz="2400">
                <a:solidFill>
                  <a:srgbClr val="40458B"/>
                </a:solidFill>
                <a:latin typeface="黑体"/>
                <a:cs typeface="黑体"/>
              </a:rPr>
              <a:t>是按块进行管理的。</a:t>
            </a:r>
            <a:r>
              <a:rPr dirty="0" sz="2400">
                <a:solidFill>
                  <a:srgbClr val="40458B"/>
                </a:solidFill>
                <a:latin typeface="Times New Roman"/>
                <a:cs typeface="Times New Roman"/>
              </a:rPr>
              <a:t>Cache</a:t>
            </a:r>
            <a:r>
              <a:rPr dirty="0" sz="2400" spc="-5">
                <a:solidFill>
                  <a:srgbClr val="40458B"/>
                </a:solidFill>
                <a:latin typeface="黑体"/>
                <a:cs typeface="黑体"/>
              </a:rPr>
              <a:t>和主存均被分割成大小相同的</a:t>
            </a:r>
            <a:r>
              <a:rPr dirty="0" sz="2400">
                <a:solidFill>
                  <a:srgbClr val="40458B"/>
                </a:solidFill>
                <a:latin typeface="黑体"/>
                <a:cs typeface="黑体"/>
              </a:rPr>
              <a:t>块。信息以块为单位调入</a:t>
            </a:r>
            <a:r>
              <a:rPr dirty="0" sz="2400">
                <a:solidFill>
                  <a:srgbClr val="40458B"/>
                </a:solidFill>
                <a:latin typeface="Times New Roman"/>
                <a:cs typeface="Times New Roman"/>
              </a:rPr>
              <a:t>Cache</a:t>
            </a:r>
            <a:r>
              <a:rPr dirty="0" sz="2400" spc="-50">
                <a:solidFill>
                  <a:srgbClr val="40458B"/>
                </a:solidFill>
                <a:latin typeface="黑体"/>
                <a:cs typeface="黑体"/>
              </a:rPr>
              <a:t>。</a:t>
            </a:r>
            <a:endParaRPr sz="2400">
              <a:latin typeface="黑体"/>
              <a:cs typeface="黑体"/>
            </a:endParaRPr>
          </a:p>
          <a:p>
            <a:pPr lvl="2" marL="1726564" indent="-456565">
              <a:lnSpc>
                <a:spcPct val="100000"/>
              </a:lnSpc>
              <a:spcBef>
                <a:spcPts val="1025"/>
              </a:spcBef>
              <a:buClr>
                <a:srgbClr val="4668F5"/>
              </a:buClr>
              <a:buSzPct val="60000"/>
              <a:buFont typeface="Wingdings"/>
              <a:buChar char=""/>
              <a:tabLst>
                <a:tab pos="1726564" algn="l"/>
              </a:tabLst>
            </a:pPr>
            <a:r>
              <a:rPr dirty="0" sz="2000" spc="-10" b="1">
                <a:solidFill>
                  <a:srgbClr val="D50092"/>
                </a:solidFill>
                <a:latin typeface="宋体"/>
                <a:cs typeface="宋体"/>
              </a:rPr>
              <a:t>主存块地址（块号）</a:t>
            </a:r>
            <a:r>
              <a:rPr dirty="0" sz="2000" spc="-15" b="1">
                <a:latin typeface="宋体"/>
                <a:cs typeface="宋体"/>
              </a:rPr>
              <a:t>用于查找该块在</a:t>
            </a:r>
            <a:r>
              <a:rPr dirty="0" sz="2000" spc="-10" b="1">
                <a:latin typeface="Times New Roman"/>
                <a:cs typeface="Times New Roman"/>
              </a:rPr>
              <a:t>Cache</a:t>
            </a:r>
            <a:r>
              <a:rPr dirty="0" sz="2000" spc="-25" b="1">
                <a:latin typeface="宋体"/>
                <a:cs typeface="宋体"/>
              </a:rPr>
              <a:t>中的位置。</a:t>
            </a:r>
            <a:endParaRPr sz="2000">
              <a:latin typeface="宋体"/>
              <a:cs typeface="宋体"/>
            </a:endParaRPr>
          </a:p>
          <a:p>
            <a:pPr lvl="2" marL="1726564" indent="-456565">
              <a:lnSpc>
                <a:spcPct val="100000"/>
              </a:lnSpc>
              <a:spcBef>
                <a:spcPts val="960"/>
              </a:spcBef>
              <a:buClr>
                <a:srgbClr val="4668F5"/>
              </a:buClr>
              <a:buSzPct val="60000"/>
              <a:buFont typeface="Wingdings"/>
              <a:buChar char=""/>
              <a:tabLst>
                <a:tab pos="1726564" algn="l"/>
              </a:tabLst>
            </a:pPr>
            <a:r>
              <a:rPr dirty="0" sz="2000" spc="-10" b="1">
                <a:solidFill>
                  <a:srgbClr val="D50092"/>
                </a:solidFill>
                <a:latin typeface="宋体"/>
                <a:cs typeface="宋体"/>
              </a:rPr>
              <a:t>块内位移</a:t>
            </a:r>
            <a:r>
              <a:rPr dirty="0" sz="2000" spc="-25" b="1">
                <a:latin typeface="宋体"/>
                <a:cs typeface="宋体"/>
              </a:rPr>
              <a:t>用于确定所访问的数据在该块中的位置。</a:t>
            </a:r>
            <a:endParaRPr sz="2000">
              <a:latin typeface="宋体"/>
              <a:cs typeface="宋体"/>
            </a:endParaRPr>
          </a:p>
        </p:txBody>
      </p:sp>
      <p:sp>
        <p:nvSpPr>
          <p:cNvPr id="10" name="object 10"/>
          <p:cNvSpPr txBox="1">
            <a:spLocks noGrp="1"/>
          </p:cNvSpPr>
          <p:nvPr>
            <p:ph type="title"/>
          </p:nvPr>
        </p:nvSpPr>
        <p:spPr>
          <a:xfrm>
            <a:off x="1622805" y="49733"/>
            <a:ext cx="3052445" cy="452120"/>
          </a:xfrm>
          <a:prstGeom prst="rect"/>
        </p:spPr>
        <p:txBody>
          <a:bodyPr wrap="square" lIns="0" tIns="12065" rIns="0" bIns="0" rtlCol="0" vert="horz">
            <a:spAutoFit/>
          </a:bodyPr>
          <a:lstStyle/>
          <a:p>
            <a:pPr marL="12700">
              <a:lnSpc>
                <a:spcPct val="100000"/>
              </a:lnSpc>
              <a:spcBef>
                <a:spcPts val="95"/>
              </a:spcBef>
            </a:pPr>
            <a:r>
              <a:rPr dirty="0" u="none"/>
              <a:t>7.2</a:t>
            </a:r>
            <a:r>
              <a:rPr dirty="0" u="none" spc="-20"/>
              <a:t> </a:t>
            </a:r>
            <a:r>
              <a:rPr dirty="0" u="none" spc="-10"/>
              <a:t>Cache</a:t>
            </a:r>
            <a:r>
              <a:rPr dirty="0" u="none" spc="-40"/>
              <a:t>基本知识</a:t>
            </a:r>
          </a:p>
        </p:txBody>
      </p:sp>
      <p:sp>
        <p:nvSpPr>
          <p:cNvPr id="11" name="object 11" descr=""/>
          <p:cNvSpPr/>
          <p:nvPr/>
        </p:nvSpPr>
        <p:spPr>
          <a:xfrm>
            <a:off x="5043258" y="4742422"/>
            <a:ext cx="3594100" cy="548640"/>
          </a:xfrm>
          <a:custGeom>
            <a:avLst/>
            <a:gdLst/>
            <a:ahLst/>
            <a:cxnLst/>
            <a:rect l="l" t="t" r="r" b="b"/>
            <a:pathLst>
              <a:path w="3594100" h="548639">
                <a:moveTo>
                  <a:pt x="0" y="548034"/>
                </a:moveTo>
                <a:lnTo>
                  <a:pt x="3593878" y="548035"/>
                </a:lnTo>
                <a:lnTo>
                  <a:pt x="3593878" y="0"/>
                </a:lnTo>
                <a:lnTo>
                  <a:pt x="0" y="0"/>
                </a:lnTo>
                <a:lnTo>
                  <a:pt x="0" y="548034"/>
                </a:lnTo>
                <a:close/>
              </a:path>
            </a:pathLst>
          </a:custGeom>
          <a:ln w="16608">
            <a:solidFill>
              <a:srgbClr val="000000"/>
            </a:solidFill>
          </a:ln>
        </p:spPr>
        <p:txBody>
          <a:bodyPr wrap="square" lIns="0" tIns="0" rIns="0" bIns="0" rtlCol="0"/>
          <a:lstStyle/>
          <a:p/>
        </p:txBody>
      </p:sp>
      <p:sp>
        <p:nvSpPr>
          <p:cNvPr id="12" name="object 12" descr=""/>
          <p:cNvSpPr txBox="1"/>
          <p:nvPr/>
        </p:nvSpPr>
        <p:spPr>
          <a:xfrm>
            <a:off x="3515324" y="4879871"/>
            <a:ext cx="1264920" cy="321945"/>
          </a:xfrm>
          <a:prstGeom prst="rect">
            <a:avLst/>
          </a:prstGeom>
        </p:spPr>
        <p:txBody>
          <a:bodyPr wrap="square" lIns="0" tIns="11430" rIns="0" bIns="0" rtlCol="0" vert="horz">
            <a:spAutoFit/>
          </a:bodyPr>
          <a:lstStyle/>
          <a:p>
            <a:pPr marL="12700">
              <a:lnSpc>
                <a:spcPct val="100000"/>
              </a:lnSpc>
              <a:spcBef>
                <a:spcPts val="90"/>
              </a:spcBef>
            </a:pPr>
            <a:r>
              <a:rPr dirty="0" sz="1950" spc="-30">
                <a:solidFill>
                  <a:srgbClr val="0000FF"/>
                </a:solidFill>
                <a:latin typeface="宋体"/>
                <a:cs typeface="宋体"/>
              </a:rPr>
              <a:t>主存地址：</a:t>
            </a:r>
            <a:endParaRPr sz="1950">
              <a:latin typeface="宋体"/>
              <a:cs typeface="宋体"/>
            </a:endParaRPr>
          </a:p>
        </p:txBody>
      </p:sp>
      <p:sp>
        <p:nvSpPr>
          <p:cNvPr id="13" name="object 13" descr=""/>
          <p:cNvSpPr txBox="1"/>
          <p:nvPr/>
        </p:nvSpPr>
        <p:spPr>
          <a:xfrm>
            <a:off x="5049045" y="4742440"/>
            <a:ext cx="1600200" cy="559435"/>
          </a:xfrm>
          <a:prstGeom prst="rect">
            <a:avLst/>
          </a:prstGeom>
          <a:solidFill>
            <a:srgbClr val="FFFF99"/>
          </a:solidFill>
        </p:spPr>
        <p:txBody>
          <a:bodyPr wrap="square" lIns="0" tIns="143510" rIns="0" bIns="0" rtlCol="0" vert="horz">
            <a:spAutoFit/>
          </a:bodyPr>
          <a:lstStyle/>
          <a:p>
            <a:pPr marL="523875">
              <a:lnSpc>
                <a:spcPct val="100000"/>
              </a:lnSpc>
              <a:spcBef>
                <a:spcPts val="1130"/>
              </a:spcBef>
            </a:pPr>
            <a:r>
              <a:rPr dirty="0" sz="1950" spc="-35">
                <a:latin typeface="宋体"/>
                <a:cs typeface="宋体"/>
              </a:rPr>
              <a:t>块地址</a:t>
            </a:r>
            <a:endParaRPr sz="1950">
              <a:latin typeface="宋体"/>
              <a:cs typeface="宋体"/>
            </a:endParaRPr>
          </a:p>
        </p:txBody>
      </p:sp>
      <p:sp>
        <p:nvSpPr>
          <p:cNvPr id="14" name="object 14" descr=""/>
          <p:cNvSpPr txBox="1"/>
          <p:nvPr/>
        </p:nvSpPr>
        <p:spPr>
          <a:xfrm>
            <a:off x="6654319" y="4742440"/>
            <a:ext cx="1972310" cy="559435"/>
          </a:xfrm>
          <a:prstGeom prst="rect">
            <a:avLst/>
          </a:prstGeom>
          <a:solidFill>
            <a:srgbClr val="CCFFCC"/>
          </a:solidFill>
        </p:spPr>
        <p:txBody>
          <a:bodyPr wrap="square" lIns="0" tIns="143510" rIns="0" bIns="0" rtlCol="0" vert="horz">
            <a:spAutoFit/>
          </a:bodyPr>
          <a:lstStyle/>
          <a:p>
            <a:pPr marL="563245">
              <a:lnSpc>
                <a:spcPct val="100000"/>
              </a:lnSpc>
              <a:spcBef>
                <a:spcPts val="1130"/>
              </a:spcBef>
            </a:pPr>
            <a:r>
              <a:rPr dirty="0" sz="1950" spc="-30">
                <a:latin typeface="宋体"/>
                <a:cs typeface="宋体"/>
              </a:rPr>
              <a:t>块内位移</a:t>
            </a:r>
            <a:endParaRPr sz="1950">
              <a:latin typeface="宋体"/>
              <a:cs typeface="宋体"/>
            </a:endParaRPr>
          </a:p>
        </p:txBody>
      </p:sp>
      <p:sp>
        <p:nvSpPr>
          <p:cNvPr id="15" name="object 15" descr=""/>
          <p:cNvSpPr/>
          <p:nvPr/>
        </p:nvSpPr>
        <p:spPr>
          <a:xfrm>
            <a:off x="6654319" y="4742429"/>
            <a:ext cx="5715" cy="537210"/>
          </a:xfrm>
          <a:custGeom>
            <a:avLst/>
            <a:gdLst/>
            <a:ahLst/>
            <a:cxnLst/>
            <a:rect l="l" t="t" r="r" b="b"/>
            <a:pathLst>
              <a:path w="5715" h="537210">
                <a:moveTo>
                  <a:pt x="0" y="0"/>
                </a:moveTo>
                <a:lnTo>
                  <a:pt x="5623" y="536623"/>
                </a:lnTo>
              </a:path>
            </a:pathLst>
          </a:custGeom>
          <a:ln w="16829">
            <a:solidFill>
              <a:srgbClr val="000000"/>
            </a:solidFill>
          </a:ln>
        </p:spPr>
        <p:txBody>
          <a:bodyPr wrap="square" lIns="0" tIns="0" rIns="0" bIns="0" rtlCol="0"/>
          <a:lstStyle/>
          <a:p/>
        </p:txBody>
      </p:sp>
      <p:sp>
        <p:nvSpPr>
          <p:cNvPr id="16" name="object 16" descr=""/>
          <p:cNvSpPr txBox="1"/>
          <p:nvPr/>
        </p:nvSpPr>
        <p:spPr>
          <a:xfrm>
            <a:off x="5564251" y="72644"/>
            <a:ext cx="3496945" cy="422275"/>
          </a:xfrm>
          <a:prstGeom prst="rect">
            <a:avLst/>
          </a:prstGeom>
        </p:spPr>
        <p:txBody>
          <a:bodyPr wrap="square" lIns="0" tIns="12700" rIns="0" bIns="0" rtlCol="0" vert="horz">
            <a:spAutoFit/>
          </a:bodyPr>
          <a:lstStyle/>
          <a:p>
            <a:pPr marL="12700">
              <a:lnSpc>
                <a:spcPct val="100000"/>
              </a:lnSpc>
              <a:spcBef>
                <a:spcPts val="100"/>
              </a:spcBef>
              <a:tabLst>
                <a:tab pos="1167765" algn="l"/>
              </a:tabLst>
            </a:pPr>
            <a:r>
              <a:rPr dirty="0" sz="2600" spc="-10">
                <a:solidFill>
                  <a:srgbClr val="0000CC"/>
                </a:solidFill>
                <a:latin typeface="黑体"/>
                <a:cs typeface="黑体"/>
              </a:rPr>
              <a:t>7.2.1</a:t>
            </a:r>
            <a:r>
              <a:rPr dirty="0" sz="2600">
                <a:solidFill>
                  <a:srgbClr val="0000CC"/>
                </a:solidFill>
                <a:latin typeface="黑体"/>
                <a:cs typeface="黑体"/>
              </a:rPr>
              <a:t>	</a:t>
            </a:r>
            <a:r>
              <a:rPr dirty="0" sz="2600" spc="-15">
                <a:solidFill>
                  <a:srgbClr val="0000CC"/>
                </a:solidFill>
                <a:latin typeface="黑体"/>
                <a:cs typeface="黑体"/>
              </a:rPr>
              <a:t>基本结构和原理</a:t>
            </a:r>
            <a:endParaRPr sz="2600">
              <a:latin typeface="黑体"/>
              <a:cs typeface="黑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64589" y="23876"/>
            <a:ext cx="3481070" cy="513715"/>
          </a:xfrm>
          <a:prstGeom prst="rect"/>
        </p:spPr>
        <p:txBody>
          <a:bodyPr wrap="square" lIns="0" tIns="12700" rIns="0" bIns="0" rtlCol="0" vert="horz">
            <a:spAutoFit/>
          </a:bodyPr>
          <a:lstStyle/>
          <a:p>
            <a:pPr marL="12700">
              <a:lnSpc>
                <a:spcPct val="100000"/>
              </a:lnSpc>
              <a:spcBef>
                <a:spcPts val="100"/>
              </a:spcBef>
            </a:pPr>
            <a:r>
              <a:rPr dirty="0" u="none" sz="3200"/>
              <a:t>7.2</a:t>
            </a:r>
            <a:r>
              <a:rPr dirty="0" u="none" sz="3200" spc="30"/>
              <a:t> </a:t>
            </a:r>
            <a:r>
              <a:rPr dirty="0" u="none" sz="3200" spc="-10"/>
              <a:t>Cache</a:t>
            </a:r>
            <a:r>
              <a:rPr dirty="0" u="none" sz="3200" spc="-20"/>
              <a:t>基本知识</a:t>
            </a:r>
            <a:endParaRPr sz="3200"/>
          </a:p>
        </p:txBody>
      </p:sp>
      <p:pic>
        <p:nvPicPr>
          <p:cNvPr id="10" name="object 10"/>
          <p:cNvPicPr/>
          <p:nvPr/>
        </p:nvPicPr>
        <p:blipFill>
          <a:blip r:embed="rId3" cstate="print"/>
          <a:stretch>
            <a:fillRect/>
          </a:stretch>
        </p:blipFill>
        <p:spPr>
          <a:xfrm>
            <a:off x="1416050" y="1052512"/>
            <a:ext cx="9793224" cy="50006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64589" y="23876"/>
            <a:ext cx="3481070" cy="513715"/>
          </a:xfrm>
          <a:prstGeom prst="rect"/>
        </p:spPr>
        <p:txBody>
          <a:bodyPr wrap="square" lIns="0" tIns="12700" rIns="0" bIns="0" rtlCol="0" vert="horz">
            <a:spAutoFit/>
          </a:bodyPr>
          <a:lstStyle/>
          <a:p>
            <a:pPr marL="12700">
              <a:lnSpc>
                <a:spcPct val="100000"/>
              </a:lnSpc>
              <a:spcBef>
                <a:spcPts val="100"/>
              </a:spcBef>
            </a:pPr>
            <a:r>
              <a:rPr dirty="0" u="none" sz="3200"/>
              <a:t>7.2</a:t>
            </a:r>
            <a:r>
              <a:rPr dirty="0" u="none" sz="3200" spc="30"/>
              <a:t> </a:t>
            </a:r>
            <a:r>
              <a:rPr dirty="0" u="none" sz="3200" spc="-10"/>
              <a:t>Cache</a:t>
            </a:r>
            <a:r>
              <a:rPr dirty="0" u="none" sz="3200" spc="-20"/>
              <a:t>基本知识</a:t>
            </a:r>
            <a:endParaRPr sz="3200"/>
          </a:p>
        </p:txBody>
      </p:sp>
      <p:sp>
        <p:nvSpPr>
          <p:cNvPr id="10" name="object 10" descr=""/>
          <p:cNvSpPr txBox="1"/>
          <p:nvPr/>
        </p:nvSpPr>
        <p:spPr>
          <a:xfrm>
            <a:off x="2430272" y="678307"/>
            <a:ext cx="4292600" cy="80137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imes New Roman"/>
                <a:cs typeface="Times New Roman"/>
              </a:rPr>
              <a:t>3.</a:t>
            </a:r>
            <a:r>
              <a:rPr dirty="0" sz="2400">
                <a:solidFill>
                  <a:srgbClr val="40458B"/>
                </a:solidFill>
                <a:latin typeface="Times New Roman"/>
                <a:cs typeface="Times New Roman"/>
              </a:rPr>
              <a:t>	</a:t>
            </a:r>
            <a:r>
              <a:rPr dirty="0" sz="2400">
                <a:solidFill>
                  <a:srgbClr val="E14B04"/>
                </a:solidFill>
                <a:latin typeface="Times New Roman"/>
                <a:cs typeface="Times New Roman"/>
              </a:rPr>
              <a:t>Cache</a:t>
            </a:r>
            <a:r>
              <a:rPr dirty="0" sz="2400" spc="-5">
                <a:solidFill>
                  <a:srgbClr val="E14B04"/>
                </a:solidFill>
                <a:latin typeface="黑体"/>
                <a:cs typeface="黑体"/>
              </a:rPr>
              <a:t>的基本工作原理示意图</a:t>
            </a:r>
            <a:endParaRPr sz="2400">
              <a:latin typeface="黑体"/>
              <a:cs typeface="黑体"/>
            </a:endParaRPr>
          </a:p>
          <a:p>
            <a:pPr marL="1020444">
              <a:lnSpc>
                <a:spcPct val="100000"/>
              </a:lnSpc>
              <a:spcBef>
                <a:spcPts val="1545"/>
              </a:spcBef>
              <a:tabLst>
                <a:tab pos="3011805" algn="l"/>
              </a:tabLst>
            </a:pPr>
            <a:r>
              <a:rPr dirty="0" sz="1400" spc="-25" b="1">
                <a:latin typeface="宋体"/>
                <a:cs typeface="宋体"/>
              </a:rPr>
              <a:t>来</a:t>
            </a:r>
            <a:r>
              <a:rPr dirty="0" sz="1400" spc="-20" b="1">
                <a:latin typeface="宋体"/>
                <a:cs typeface="宋体"/>
              </a:rPr>
              <a:t>自</a:t>
            </a:r>
            <a:r>
              <a:rPr dirty="0" sz="1400" spc="-380" b="1">
                <a:latin typeface="宋体"/>
                <a:cs typeface="宋体"/>
              </a:rPr>
              <a:t> </a:t>
            </a:r>
            <a:r>
              <a:rPr dirty="0" sz="1400" spc="-25" b="1">
                <a:latin typeface="宋体"/>
                <a:cs typeface="宋体"/>
              </a:rPr>
              <a:t>CPU</a:t>
            </a:r>
            <a:r>
              <a:rPr dirty="0" sz="1400" b="1">
                <a:latin typeface="宋体"/>
                <a:cs typeface="宋体"/>
              </a:rPr>
              <a:t>	</a:t>
            </a:r>
            <a:r>
              <a:rPr dirty="0" sz="1400" spc="-25" b="1">
                <a:latin typeface="宋体"/>
                <a:cs typeface="宋体"/>
              </a:rPr>
              <a:t>主存地</a:t>
            </a:r>
            <a:r>
              <a:rPr dirty="0" sz="1400" spc="-50" b="1">
                <a:latin typeface="宋体"/>
                <a:cs typeface="宋体"/>
              </a:rPr>
              <a:t>址</a:t>
            </a:r>
            <a:endParaRPr sz="1400">
              <a:latin typeface="宋体"/>
              <a:cs typeface="宋体"/>
            </a:endParaRPr>
          </a:p>
        </p:txBody>
      </p:sp>
      <p:grpSp>
        <p:nvGrpSpPr>
          <p:cNvPr id="11" name="object 11" descr=""/>
          <p:cNvGrpSpPr/>
          <p:nvPr/>
        </p:nvGrpSpPr>
        <p:grpSpPr>
          <a:xfrm>
            <a:off x="3750188" y="1529437"/>
            <a:ext cx="4865370" cy="4157345"/>
            <a:chOff x="3750188" y="1529437"/>
            <a:chExt cx="4865370" cy="4157345"/>
          </a:xfrm>
        </p:grpSpPr>
        <p:sp>
          <p:nvSpPr>
            <p:cNvPr id="12" name="object 12" descr=""/>
            <p:cNvSpPr/>
            <p:nvPr/>
          </p:nvSpPr>
          <p:spPr>
            <a:xfrm>
              <a:off x="5177787" y="2979109"/>
              <a:ext cx="1197610" cy="627380"/>
            </a:xfrm>
            <a:custGeom>
              <a:avLst/>
              <a:gdLst/>
              <a:ahLst/>
              <a:cxnLst/>
              <a:rect l="l" t="t" r="r" b="b"/>
              <a:pathLst>
                <a:path w="1197610" h="627379">
                  <a:moveTo>
                    <a:pt x="1197563" y="0"/>
                  </a:moveTo>
                  <a:lnTo>
                    <a:pt x="0" y="0"/>
                  </a:lnTo>
                  <a:lnTo>
                    <a:pt x="0" y="627109"/>
                  </a:lnTo>
                  <a:lnTo>
                    <a:pt x="1197563" y="627109"/>
                  </a:lnTo>
                  <a:lnTo>
                    <a:pt x="1197563" y="0"/>
                  </a:lnTo>
                  <a:close/>
                </a:path>
              </a:pathLst>
            </a:custGeom>
            <a:solidFill>
              <a:srgbClr val="FFCCFF"/>
            </a:solidFill>
          </p:spPr>
          <p:txBody>
            <a:bodyPr wrap="square" lIns="0" tIns="0" rIns="0" bIns="0" rtlCol="0"/>
            <a:lstStyle/>
            <a:p/>
          </p:txBody>
        </p:sp>
        <p:sp>
          <p:nvSpPr>
            <p:cNvPr id="13" name="object 13" descr=""/>
            <p:cNvSpPr/>
            <p:nvPr/>
          </p:nvSpPr>
          <p:spPr>
            <a:xfrm>
              <a:off x="5177787" y="2979109"/>
              <a:ext cx="1197610" cy="627380"/>
            </a:xfrm>
            <a:custGeom>
              <a:avLst/>
              <a:gdLst/>
              <a:ahLst/>
              <a:cxnLst/>
              <a:rect l="l" t="t" r="r" b="b"/>
              <a:pathLst>
                <a:path w="1197610" h="627379">
                  <a:moveTo>
                    <a:pt x="0" y="627109"/>
                  </a:moveTo>
                  <a:lnTo>
                    <a:pt x="1197563" y="627109"/>
                  </a:lnTo>
                  <a:lnTo>
                    <a:pt x="1197563" y="0"/>
                  </a:lnTo>
                  <a:lnTo>
                    <a:pt x="0" y="0"/>
                  </a:lnTo>
                  <a:lnTo>
                    <a:pt x="0" y="627109"/>
                  </a:lnTo>
                  <a:close/>
                </a:path>
              </a:pathLst>
            </a:custGeom>
            <a:ln w="13883">
              <a:solidFill>
                <a:srgbClr val="000000"/>
              </a:solidFill>
            </a:ln>
          </p:spPr>
          <p:txBody>
            <a:bodyPr wrap="square" lIns="0" tIns="0" rIns="0" bIns="0" rtlCol="0"/>
            <a:lstStyle/>
            <a:p/>
          </p:txBody>
        </p:sp>
        <p:sp>
          <p:nvSpPr>
            <p:cNvPr id="14" name="object 14" descr=""/>
            <p:cNvSpPr/>
            <p:nvPr/>
          </p:nvSpPr>
          <p:spPr>
            <a:xfrm>
              <a:off x="5874258" y="5047331"/>
              <a:ext cx="933450" cy="632460"/>
            </a:xfrm>
            <a:custGeom>
              <a:avLst/>
              <a:gdLst/>
              <a:ahLst/>
              <a:cxnLst/>
              <a:rect l="l" t="t" r="r" b="b"/>
              <a:pathLst>
                <a:path w="933450" h="632460">
                  <a:moveTo>
                    <a:pt x="932872" y="0"/>
                  </a:moveTo>
                  <a:lnTo>
                    <a:pt x="0" y="0"/>
                  </a:lnTo>
                  <a:lnTo>
                    <a:pt x="0" y="631864"/>
                  </a:lnTo>
                  <a:lnTo>
                    <a:pt x="932872" y="631864"/>
                  </a:lnTo>
                  <a:lnTo>
                    <a:pt x="932872" y="0"/>
                  </a:lnTo>
                  <a:close/>
                </a:path>
              </a:pathLst>
            </a:custGeom>
            <a:solidFill>
              <a:srgbClr val="CCFFFF"/>
            </a:solidFill>
          </p:spPr>
          <p:txBody>
            <a:bodyPr wrap="square" lIns="0" tIns="0" rIns="0" bIns="0" rtlCol="0"/>
            <a:lstStyle/>
            <a:p/>
          </p:txBody>
        </p:sp>
        <p:sp>
          <p:nvSpPr>
            <p:cNvPr id="15" name="object 15" descr=""/>
            <p:cNvSpPr/>
            <p:nvPr/>
          </p:nvSpPr>
          <p:spPr>
            <a:xfrm>
              <a:off x="5419000" y="4206114"/>
              <a:ext cx="1889760" cy="1473200"/>
            </a:xfrm>
            <a:custGeom>
              <a:avLst/>
              <a:gdLst/>
              <a:ahLst/>
              <a:cxnLst/>
              <a:rect l="l" t="t" r="r" b="b"/>
              <a:pathLst>
                <a:path w="1889759" h="1473200">
                  <a:moveTo>
                    <a:pt x="455257" y="1473082"/>
                  </a:moveTo>
                  <a:lnTo>
                    <a:pt x="1388130" y="1473082"/>
                  </a:lnTo>
                  <a:lnTo>
                    <a:pt x="1388130" y="841217"/>
                  </a:lnTo>
                  <a:lnTo>
                    <a:pt x="455257" y="841217"/>
                  </a:lnTo>
                  <a:lnTo>
                    <a:pt x="455257" y="1473082"/>
                  </a:lnTo>
                  <a:close/>
                </a:path>
                <a:path w="1889759" h="1473200">
                  <a:moveTo>
                    <a:pt x="0" y="390097"/>
                  </a:moveTo>
                  <a:lnTo>
                    <a:pt x="1889223" y="390097"/>
                  </a:lnTo>
                  <a:lnTo>
                    <a:pt x="1889223" y="0"/>
                  </a:lnTo>
                  <a:lnTo>
                    <a:pt x="0" y="0"/>
                  </a:lnTo>
                  <a:lnTo>
                    <a:pt x="0" y="390097"/>
                  </a:lnTo>
                  <a:close/>
                </a:path>
              </a:pathLst>
            </a:custGeom>
            <a:ln w="13882">
              <a:solidFill>
                <a:srgbClr val="000000"/>
              </a:solidFill>
            </a:ln>
          </p:spPr>
          <p:txBody>
            <a:bodyPr wrap="square" lIns="0" tIns="0" rIns="0" bIns="0" rtlCol="0"/>
            <a:lstStyle/>
            <a:p/>
          </p:txBody>
        </p:sp>
        <p:sp>
          <p:nvSpPr>
            <p:cNvPr id="16" name="object 16" descr=""/>
            <p:cNvSpPr/>
            <p:nvPr/>
          </p:nvSpPr>
          <p:spPr>
            <a:xfrm>
              <a:off x="6463426" y="4215179"/>
              <a:ext cx="845185" cy="377190"/>
            </a:xfrm>
            <a:custGeom>
              <a:avLst/>
              <a:gdLst/>
              <a:ahLst/>
              <a:cxnLst/>
              <a:rect l="l" t="t" r="r" b="b"/>
              <a:pathLst>
                <a:path w="845184" h="377189">
                  <a:moveTo>
                    <a:pt x="844816" y="0"/>
                  </a:moveTo>
                  <a:lnTo>
                    <a:pt x="0" y="0"/>
                  </a:lnTo>
                  <a:lnTo>
                    <a:pt x="0" y="376741"/>
                  </a:lnTo>
                  <a:lnTo>
                    <a:pt x="844816" y="376741"/>
                  </a:lnTo>
                  <a:lnTo>
                    <a:pt x="844816" y="0"/>
                  </a:lnTo>
                  <a:close/>
                </a:path>
              </a:pathLst>
            </a:custGeom>
            <a:solidFill>
              <a:srgbClr val="CCFFCC"/>
            </a:solidFill>
          </p:spPr>
          <p:txBody>
            <a:bodyPr wrap="square" lIns="0" tIns="0" rIns="0" bIns="0" rtlCol="0"/>
            <a:lstStyle/>
            <a:p/>
          </p:txBody>
        </p:sp>
        <p:sp>
          <p:nvSpPr>
            <p:cNvPr id="17" name="object 17" descr=""/>
            <p:cNvSpPr/>
            <p:nvPr/>
          </p:nvSpPr>
          <p:spPr>
            <a:xfrm>
              <a:off x="6463426" y="4215179"/>
              <a:ext cx="845185" cy="377190"/>
            </a:xfrm>
            <a:custGeom>
              <a:avLst/>
              <a:gdLst/>
              <a:ahLst/>
              <a:cxnLst/>
              <a:rect l="l" t="t" r="r" b="b"/>
              <a:pathLst>
                <a:path w="845184" h="377189">
                  <a:moveTo>
                    <a:pt x="0" y="376741"/>
                  </a:moveTo>
                  <a:lnTo>
                    <a:pt x="844816" y="376741"/>
                  </a:lnTo>
                  <a:lnTo>
                    <a:pt x="844816" y="0"/>
                  </a:lnTo>
                  <a:lnTo>
                    <a:pt x="0" y="0"/>
                  </a:lnTo>
                  <a:lnTo>
                    <a:pt x="0" y="376741"/>
                  </a:lnTo>
                  <a:close/>
                </a:path>
              </a:pathLst>
            </a:custGeom>
            <a:ln w="13884">
              <a:solidFill>
                <a:srgbClr val="000000"/>
              </a:solidFill>
            </a:ln>
          </p:spPr>
          <p:txBody>
            <a:bodyPr wrap="square" lIns="0" tIns="0" rIns="0" bIns="0" rtlCol="0"/>
            <a:lstStyle/>
            <a:p/>
          </p:txBody>
        </p:sp>
        <p:sp>
          <p:nvSpPr>
            <p:cNvPr id="18" name="object 18" descr=""/>
            <p:cNvSpPr/>
            <p:nvPr/>
          </p:nvSpPr>
          <p:spPr>
            <a:xfrm>
              <a:off x="5419000" y="4206114"/>
              <a:ext cx="1044575" cy="386080"/>
            </a:xfrm>
            <a:custGeom>
              <a:avLst/>
              <a:gdLst/>
              <a:ahLst/>
              <a:cxnLst/>
              <a:rect l="l" t="t" r="r" b="b"/>
              <a:pathLst>
                <a:path w="1044575" h="386079">
                  <a:moveTo>
                    <a:pt x="1044406" y="0"/>
                  </a:moveTo>
                  <a:lnTo>
                    <a:pt x="0" y="0"/>
                  </a:lnTo>
                  <a:lnTo>
                    <a:pt x="0" y="385806"/>
                  </a:lnTo>
                  <a:lnTo>
                    <a:pt x="1044407" y="385806"/>
                  </a:lnTo>
                  <a:lnTo>
                    <a:pt x="1044406" y="0"/>
                  </a:lnTo>
                  <a:close/>
                </a:path>
              </a:pathLst>
            </a:custGeom>
            <a:solidFill>
              <a:srgbClr val="FFCC99"/>
            </a:solidFill>
          </p:spPr>
          <p:txBody>
            <a:bodyPr wrap="square" lIns="0" tIns="0" rIns="0" bIns="0" rtlCol="0"/>
            <a:lstStyle/>
            <a:p/>
          </p:txBody>
        </p:sp>
        <p:sp>
          <p:nvSpPr>
            <p:cNvPr id="19" name="object 19" descr=""/>
            <p:cNvSpPr/>
            <p:nvPr/>
          </p:nvSpPr>
          <p:spPr>
            <a:xfrm>
              <a:off x="5419000" y="4206114"/>
              <a:ext cx="1044575" cy="386080"/>
            </a:xfrm>
            <a:custGeom>
              <a:avLst/>
              <a:gdLst/>
              <a:ahLst/>
              <a:cxnLst/>
              <a:rect l="l" t="t" r="r" b="b"/>
              <a:pathLst>
                <a:path w="1044575" h="386079">
                  <a:moveTo>
                    <a:pt x="0" y="385806"/>
                  </a:moveTo>
                  <a:lnTo>
                    <a:pt x="1044407" y="385806"/>
                  </a:lnTo>
                  <a:lnTo>
                    <a:pt x="1044406" y="0"/>
                  </a:lnTo>
                  <a:lnTo>
                    <a:pt x="0" y="0"/>
                  </a:lnTo>
                  <a:lnTo>
                    <a:pt x="0" y="385806"/>
                  </a:lnTo>
                  <a:close/>
                </a:path>
              </a:pathLst>
            </a:custGeom>
            <a:ln w="13884">
              <a:solidFill>
                <a:srgbClr val="000000"/>
              </a:solidFill>
            </a:ln>
          </p:spPr>
          <p:txBody>
            <a:bodyPr wrap="square" lIns="0" tIns="0" rIns="0" bIns="0" rtlCol="0"/>
            <a:lstStyle/>
            <a:p/>
          </p:txBody>
        </p:sp>
        <p:sp>
          <p:nvSpPr>
            <p:cNvPr id="20" name="object 20" descr=""/>
            <p:cNvSpPr/>
            <p:nvPr/>
          </p:nvSpPr>
          <p:spPr>
            <a:xfrm>
              <a:off x="6477339" y="2053888"/>
              <a:ext cx="822325" cy="377190"/>
            </a:xfrm>
            <a:custGeom>
              <a:avLst/>
              <a:gdLst/>
              <a:ahLst/>
              <a:cxnLst/>
              <a:rect l="l" t="t" r="r" b="b"/>
              <a:pathLst>
                <a:path w="822325" h="377189">
                  <a:moveTo>
                    <a:pt x="821840" y="0"/>
                  </a:moveTo>
                  <a:lnTo>
                    <a:pt x="0" y="0"/>
                  </a:lnTo>
                  <a:lnTo>
                    <a:pt x="0" y="376741"/>
                  </a:lnTo>
                  <a:lnTo>
                    <a:pt x="821840" y="376741"/>
                  </a:lnTo>
                  <a:lnTo>
                    <a:pt x="821840" y="0"/>
                  </a:lnTo>
                  <a:close/>
                </a:path>
              </a:pathLst>
            </a:custGeom>
            <a:solidFill>
              <a:srgbClr val="CCFFCC"/>
            </a:solidFill>
          </p:spPr>
          <p:txBody>
            <a:bodyPr wrap="square" lIns="0" tIns="0" rIns="0" bIns="0" rtlCol="0"/>
            <a:lstStyle/>
            <a:p/>
          </p:txBody>
        </p:sp>
        <p:sp>
          <p:nvSpPr>
            <p:cNvPr id="21" name="object 21" descr=""/>
            <p:cNvSpPr/>
            <p:nvPr/>
          </p:nvSpPr>
          <p:spPr>
            <a:xfrm>
              <a:off x="5057170" y="2058624"/>
              <a:ext cx="1420495" cy="376555"/>
            </a:xfrm>
            <a:custGeom>
              <a:avLst/>
              <a:gdLst/>
              <a:ahLst/>
              <a:cxnLst/>
              <a:rect l="l" t="t" r="r" b="b"/>
              <a:pathLst>
                <a:path w="1420495" h="376555">
                  <a:moveTo>
                    <a:pt x="1420149" y="0"/>
                  </a:moveTo>
                  <a:lnTo>
                    <a:pt x="0" y="0"/>
                  </a:lnTo>
                  <a:lnTo>
                    <a:pt x="0" y="376258"/>
                  </a:lnTo>
                  <a:lnTo>
                    <a:pt x="1420149" y="376258"/>
                  </a:lnTo>
                  <a:lnTo>
                    <a:pt x="1420149" y="0"/>
                  </a:lnTo>
                  <a:close/>
                </a:path>
              </a:pathLst>
            </a:custGeom>
            <a:solidFill>
              <a:srgbClr val="FFFF99"/>
            </a:solidFill>
          </p:spPr>
          <p:txBody>
            <a:bodyPr wrap="square" lIns="0" tIns="0" rIns="0" bIns="0" rtlCol="0"/>
            <a:lstStyle/>
            <a:p/>
          </p:txBody>
        </p:sp>
        <p:sp>
          <p:nvSpPr>
            <p:cNvPr id="22" name="object 22" descr=""/>
            <p:cNvSpPr/>
            <p:nvPr/>
          </p:nvSpPr>
          <p:spPr>
            <a:xfrm>
              <a:off x="3757173" y="1566043"/>
              <a:ext cx="4851400" cy="0"/>
            </a:xfrm>
            <a:custGeom>
              <a:avLst/>
              <a:gdLst/>
              <a:ahLst/>
              <a:cxnLst/>
              <a:rect l="l" t="t" r="r" b="b"/>
              <a:pathLst>
                <a:path w="4851400" h="0">
                  <a:moveTo>
                    <a:pt x="0" y="0"/>
                  </a:moveTo>
                  <a:lnTo>
                    <a:pt x="4851142" y="0"/>
                  </a:lnTo>
                </a:path>
              </a:pathLst>
            </a:custGeom>
            <a:ln w="13884">
              <a:solidFill>
                <a:srgbClr val="000000"/>
              </a:solidFill>
            </a:ln>
          </p:spPr>
          <p:txBody>
            <a:bodyPr wrap="square" lIns="0" tIns="0" rIns="0" bIns="0" rtlCol="0"/>
            <a:lstStyle/>
            <a:p/>
          </p:txBody>
        </p:sp>
        <p:pic>
          <p:nvPicPr>
            <p:cNvPr id="23" name="object 23" descr=""/>
            <p:cNvPicPr/>
            <p:nvPr/>
          </p:nvPicPr>
          <p:blipFill>
            <a:blip r:embed="rId3" cstate="print"/>
            <a:stretch>
              <a:fillRect/>
            </a:stretch>
          </p:blipFill>
          <p:spPr>
            <a:xfrm>
              <a:off x="4031432" y="1529437"/>
              <a:ext cx="236938" cy="79010"/>
            </a:xfrm>
            <a:prstGeom prst="rect">
              <a:avLst/>
            </a:prstGeom>
          </p:spPr>
        </p:pic>
      </p:grpSp>
      <p:sp>
        <p:nvSpPr>
          <p:cNvPr id="24" name="object 24" descr=""/>
          <p:cNvSpPr txBox="1"/>
          <p:nvPr/>
        </p:nvSpPr>
        <p:spPr>
          <a:xfrm>
            <a:off x="3702832" y="3587198"/>
            <a:ext cx="732155" cy="499745"/>
          </a:xfrm>
          <a:prstGeom prst="rect">
            <a:avLst/>
          </a:prstGeom>
        </p:spPr>
        <p:txBody>
          <a:bodyPr wrap="square" lIns="0" tIns="12700" rIns="0" bIns="0" rtlCol="0" vert="horz">
            <a:spAutoFit/>
          </a:bodyPr>
          <a:lstStyle/>
          <a:p>
            <a:pPr marL="12700" marR="5080">
              <a:lnSpc>
                <a:spcPct val="111200"/>
              </a:lnSpc>
              <a:spcBef>
                <a:spcPts val="100"/>
              </a:spcBef>
            </a:pPr>
            <a:r>
              <a:rPr dirty="0" sz="1400" spc="-35" b="1">
                <a:latin typeface="宋体"/>
                <a:cs typeface="宋体"/>
              </a:rPr>
              <a:t>访问主存调入一块</a:t>
            </a:r>
            <a:endParaRPr sz="1400">
              <a:latin typeface="宋体"/>
              <a:cs typeface="宋体"/>
            </a:endParaRPr>
          </a:p>
        </p:txBody>
      </p:sp>
      <p:grpSp>
        <p:nvGrpSpPr>
          <p:cNvPr id="25" name="object 25" descr=""/>
          <p:cNvGrpSpPr/>
          <p:nvPr/>
        </p:nvGrpSpPr>
        <p:grpSpPr>
          <a:xfrm>
            <a:off x="3483676" y="1677931"/>
            <a:ext cx="4266565" cy="4225290"/>
            <a:chOff x="3483676" y="1677931"/>
            <a:chExt cx="4266565" cy="4225290"/>
          </a:xfrm>
        </p:grpSpPr>
        <p:sp>
          <p:nvSpPr>
            <p:cNvPr id="26" name="object 26" descr=""/>
            <p:cNvSpPr/>
            <p:nvPr/>
          </p:nvSpPr>
          <p:spPr>
            <a:xfrm>
              <a:off x="3486260" y="1680471"/>
              <a:ext cx="4261485" cy="4220210"/>
            </a:xfrm>
            <a:custGeom>
              <a:avLst/>
              <a:gdLst/>
              <a:ahLst/>
              <a:cxnLst/>
              <a:rect l="l" t="t" r="r" b="b"/>
              <a:pathLst>
                <a:path w="4261484" h="4220210">
                  <a:moveTo>
                    <a:pt x="4252312" y="0"/>
                  </a:moveTo>
                  <a:lnTo>
                    <a:pt x="4135986" y="0"/>
                  </a:lnTo>
                  <a:lnTo>
                    <a:pt x="4135986" y="18749"/>
                  </a:lnTo>
                  <a:lnTo>
                    <a:pt x="4252312" y="18749"/>
                  </a:lnTo>
                  <a:lnTo>
                    <a:pt x="4252312" y="0"/>
                  </a:lnTo>
                  <a:close/>
                </a:path>
                <a:path w="4261484" h="4220210">
                  <a:moveTo>
                    <a:pt x="4094247" y="0"/>
                  </a:moveTo>
                  <a:lnTo>
                    <a:pt x="4080528" y="0"/>
                  </a:lnTo>
                  <a:lnTo>
                    <a:pt x="4080528" y="18749"/>
                  </a:lnTo>
                  <a:lnTo>
                    <a:pt x="4094247" y="18749"/>
                  </a:lnTo>
                  <a:lnTo>
                    <a:pt x="4094247" y="0"/>
                  </a:lnTo>
                  <a:close/>
                </a:path>
                <a:path w="4261484" h="4220210">
                  <a:moveTo>
                    <a:pt x="4033958" y="0"/>
                  </a:moveTo>
                  <a:lnTo>
                    <a:pt x="3917632" y="0"/>
                  </a:lnTo>
                  <a:lnTo>
                    <a:pt x="3917632" y="18749"/>
                  </a:lnTo>
                  <a:lnTo>
                    <a:pt x="4033958" y="18749"/>
                  </a:lnTo>
                  <a:lnTo>
                    <a:pt x="4033958" y="0"/>
                  </a:lnTo>
                  <a:close/>
                </a:path>
                <a:path w="4261484" h="4220210">
                  <a:moveTo>
                    <a:pt x="3876087" y="0"/>
                  </a:moveTo>
                  <a:lnTo>
                    <a:pt x="3862174" y="0"/>
                  </a:lnTo>
                  <a:lnTo>
                    <a:pt x="3862174" y="18749"/>
                  </a:lnTo>
                  <a:lnTo>
                    <a:pt x="3876087" y="18749"/>
                  </a:lnTo>
                  <a:lnTo>
                    <a:pt x="3876087" y="0"/>
                  </a:lnTo>
                  <a:close/>
                </a:path>
                <a:path w="4261484" h="4220210">
                  <a:moveTo>
                    <a:pt x="3815798" y="0"/>
                  </a:moveTo>
                  <a:lnTo>
                    <a:pt x="3699858" y="0"/>
                  </a:lnTo>
                  <a:lnTo>
                    <a:pt x="3699858" y="18749"/>
                  </a:lnTo>
                  <a:lnTo>
                    <a:pt x="3815798" y="18749"/>
                  </a:lnTo>
                  <a:lnTo>
                    <a:pt x="3815798" y="0"/>
                  </a:lnTo>
                  <a:close/>
                </a:path>
                <a:path w="4261484" h="4220210">
                  <a:moveTo>
                    <a:pt x="3657733" y="0"/>
                  </a:moveTo>
                  <a:lnTo>
                    <a:pt x="3644013" y="0"/>
                  </a:lnTo>
                  <a:lnTo>
                    <a:pt x="3644013" y="18749"/>
                  </a:lnTo>
                  <a:lnTo>
                    <a:pt x="3657733" y="18749"/>
                  </a:lnTo>
                  <a:lnTo>
                    <a:pt x="3657733" y="0"/>
                  </a:lnTo>
                  <a:close/>
                </a:path>
                <a:path w="4261484" h="4220210">
                  <a:moveTo>
                    <a:pt x="3597444" y="0"/>
                  </a:moveTo>
                  <a:lnTo>
                    <a:pt x="3481697" y="0"/>
                  </a:lnTo>
                  <a:lnTo>
                    <a:pt x="3481697" y="18749"/>
                  </a:lnTo>
                  <a:lnTo>
                    <a:pt x="3597444" y="18749"/>
                  </a:lnTo>
                  <a:lnTo>
                    <a:pt x="3597444" y="0"/>
                  </a:lnTo>
                  <a:close/>
                </a:path>
                <a:path w="4261484" h="4220210">
                  <a:moveTo>
                    <a:pt x="3439573" y="0"/>
                  </a:moveTo>
                  <a:lnTo>
                    <a:pt x="3425660" y="0"/>
                  </a:lnTo>
                  <a:lnTo>
                    <a:pt x="3425660" y="18749"/>
                  </a:lnTo>
                  <a:lnTo>
                    <a:pt x="3439573" y="18749"/>
                  </a:lnTo>
                  <a:lnTo>
                    <a:pt x="3439573" y="0"/>
                  </a:lnTo>
                  <a:close/>
                </a:path>
                <a:path w="4261484" h="4220210">
                  <a:moveTo>
                    <a:pt x="3384115" y="0"/>
                  </a:moveTo>
                  <a:lnTo>
                    <a:pt x="3268175" y="0"/>
                  </a:lnTo>
                  <a:lnTo>
                    <a:pt x="3268175" y="18749"/>
                  </a:lnTo>
                  <a:lnTo>
                    <a:pt x="3384115" y="18749"/>
                  </a:lnTo>
                  <a:lnTo>
                    <a:pt x="3384115" y="0"/>
                  </a:lnTo>
                  <a:close/>
                </a:path>
                <a:path w="4261484" h="4220210">
                  <a:moveTo>
                    <a:pt x="3221799" y="0"/>
                  </a:moveTo>
                  <a:lnTo>
                    <a:pt x="3207886" y="0"/>
                  </a:lnTo>
                  <a:lnTo>
                    <a:pt x="3207886" y="18749"/>
                  </a:lnTo>
                  <a:lnTo>
                    <a:pt x="3221799" y="18749"/>
                  </a:lnTo>
                  <a:lnTo>
                    <a:pt x="3221799" y="0"/>
                  </a:lnTo>
                  <a:close/>
                </a:path>
                <a:path w="4261484" h="4220210">
                  <a:moveTo>
                    <a:pt x="3165761" y="0"/>
                  </a:moveTo>
                  <a:lnTo>
                    <a:pt x="3050014" y="0"/>
                  </a:lnTo>
                  <a:lnTo>
                    <a:pt x="3050014" y="18749"/>
                  </a:lnTo>
                  <a:lnTo>
                    <a:pt x="3165761" y="18749"/>
                  </a:lnTo>
                  <a:lnTo>
                    <a:pt x="3165761" y="0"/>
                  </a:lnTo>
                  <a:close/>
                </a:path>
                <a:path w="4261484" h="4220210">
                  <a:moveTo>
                    <a:pt x="3003445" y="0"/>
                  </a:moveTo>
                  <a:lnTo>
                    <a:pt x="2989532" y="0"/>
                  </a:lnTo>
                  <a:lnTo>
                    <a:pt x="2989532" y="18749"/>
                  </a:lnTo>
                  <a:lnTo>
                    <a:pt x="3003445" y="18749"/>
                  </a:lnTo>
                  <a:lnTo>
                    <a:pt x="3003445" y="0"/>
                  </a:lnTo>
                  <a:close/>
                </a:path>
                <a:path w="4261484" h="4220210">
                  <a:moveTo>
                    <a:pt x="2947407" y="0"/>
                  </a:moveTo>
                  <a:lnTo>
                    <a:pt x="2831660" y="0"/>
                  </a:lnTo>
                  <a:lnTo>
                    <a:pt x="2831660" y="18749"/>
                  </a:lnTo>
                  <a:lnTo>
                    <a:pt x="2947407" y="18749"/>
                  </a:lnTo>
                  <a:lnTo>
                    <a:pt x="2947407" y="0"/>
                  </a:lnTo>
                  <a:close/>
                </a:path>
                <a:path w="4261484" h="4220210">
                  <a:moveTo>
                    <a:pt x="2785284" y="0"/>
                  </a:moveTo>
                  <a:lnTo>
                    <a:pt x="2771372" y="0"/>
                  </a:lnTo>
                  <a:lnTo>
                    <a:pt x="2771372" y="18749"/>
                  </a:lnTo>
                  <a:lnTo>
                    <a:pt x="2785284" y="18749"/>
                  </a:lnTo>
                  <a:lnTo>
                    <a:pt x="2785284" y="0"/>
                  </a:lnTo>
                  <a:close/>
                </a:path>
                <a:path w="4261484" h="4220210">
                  <a:moveTo>
                    <a:pt x="2729633" y="0"/>
                  </a:moveTo>
                  <a:lnTo>
                    <a:pt x="2613500" y="0"/>
                  </a:lnTo>
                  <a:lnTo>
                    <a:pt x="2613500" y="18749"/>
                  </a:lnTo>
                  <a:lnTo>
                    <a:pt x="2729633" y="18749"/>
                  </a:lnTo>
                  <a:lnTo>
                    <a:pt x="2729633" y="0"/>
                  </a:lnTo>
                  <a:close/>
                </a:path>
                <a:path w="4261484" h="4220210">
                  <a:moveTo>
                    <a:pt x="2571762" y="0"/>
                  </a:moveTo>
                  <a:lnTo>
                    <a:pt x="2553018" y="0"/>
                  </a:lnTo>
                  <a:lnTo>
                    <a:pt x="2553018" y="18749"/>
                  </a:lnTo>
                  <a:lnTo>
                    <a:pt x="2571762" y="18749"/>
                  </a:lnTo>
                  <a:lnTo>
                    <a:pt x="2571762" y="0"/>
                  </a:lnTo>
                  <a:close/>
                </a:path>
                <a:path w="4261484" h="4220210">
                  <a:moveTo>
                    <a:pt x="2511473" y="0"/>
                  </a:moveTo>
                  <a:lnTo>
                    <a:pt x="2395146" y="0"/>
                  </a:lnTo>
                  <a:lnTo>
                    <a:pt x="2395146" y="18749"/>
                  </a:lnTo>
                  <a:lnTo>
                    <a:pt x="2511473" y="18749"/>
                  </a:lnTo>
                  <a:lnTo>
                    <a:pt x="2511473" y="0"/>
                  </a:lnTo>
                  <a:close/>
                </a:path>
                <a:path w="4261484" h="4220210">
                  <a:moveTo>
                    <a:pt x="2353408" y="0"/>
                  </a:moveTo>
                  <a:lnTo>
                    <a:pt x="2339688" y="0"/>
                  </a:lnTo>
                  <a:lnTo>
                    <a:pt x="2339688" y="18749"/>
                  </a:lnTo>
                  <a:lnTo>
                    <a:pt x="2353408" y="18749"/>
                  </a:lnTo>
                  <a:lnTo>
                    <a:pt x="2353408" y="0"/>
                  </a:lnTo>
                  <a:close/>
                </a:path>
                <a:path w="4261484" h="4220210">
                  <a:moveTo>
                    <a:pt x="2293119" y="0"/>
                  </a:moveTo>
                  <a:lnTo>
                    <a:pt x="2176793" y="0"/>
                  </a:lnTo>
                  <a:lnTo>
                    <a:pt x="2176793" y="18749"/>
                  </a:lnTo>
                  <a:lnTo>
                    <a:pt x="2293119" y="18749"/>
                  </a:lnTo>
                  <a:lnTo>
                    <a:pt x="2293119" y="0"/>
                  </a:lnTo>
                  <a:close/>
                </a:path>
                <a:path w="4261484" h="4220210">
                  <a:moveTo>
                    <a:pt x="2135247" y="0"/>
                  </a:moveTo>
                  <a:lnTo>
                    <a:pt x="2121335" y="0"/>
                  </a:lnTo>
                  <a:lnTo>
                    <a:pt x="2121335" y="18749"/>
                  </a:lnTo>
                  <a:lnTo>
                    <a:pt x="2135247" y="18749"/>
                  </a:lnTo>
                  <a:lnTo>
                    <a:pt x="2135247" y="0"/>
                  </a:lnTo>
                  <a:close/>
                </a:path>
                <a:path w="4261484" h="4220210">
                  <a:moveTo>
                    <a:pt x="2074959" y="0"/>
                  </a:moveTo>
                  <a:lnTo>
                    <a:pt x="1959019" y="0"/>
                  </a:lnTo>
                  <a:lnTo>
                    <a:pt x="1959019" y="18749"/>
                  </a:lnTo>
                  <a:lnTo>
                    <a:pt x="2074959" y="18749"/>
                  </a:lnTo>
                  <a:lnTo>
                    <a:pt x="2074959" y="0"/>
                  </a:lnTo>
                  <a:close/>
                </a:path>
                <a:path w="4261484" h="4220210">
                  <a:moveTo>
                    <a:pt x="1916894" y="0"/>
                  </a:moveTo>
                  <a:lnTo>
                    <a:pt x="1903174" y="0"/>
                  </a:lnTo>
                  <a:lnTo>
                    <a:pt x="1903174" y="18749"/>
                  </a:lnTo>
                  <a:lnTo>
                    <a:pt x="1916894" y="18749"/>
                  </a:lnTo>
                  <a:lnTo>
                    <a:pt x="1916894" y="0"/>
                  </a:lnTo>
                  <a:close/>
                </a:path>
                <a:path w="4261484" h="4220210">
                  <a:moveTo>
                    <a:pt x="1856663" y="0"/>
                  </a:moveTo>
                  <a:lnTo>
                    <a:pt x="1740839" y="0"/>
                  </a:lnTo>
                  <a:lnTo>
                    <a:pt x="1740839" y="18749"/>
                  </a:lnTo>
                  <a:lnTo>
                    <a:pt x="1856663" y="18749"/>
                  </a:lnTo>
                  <a:lnTo>
                    <a:pt x="1856663" y="0"/>
                  </a:lnTo>
                  <a:close/>
                </a:path>
                <a:path w="4261484" h="4220210">
                  <a:moveTo>
                    <a:pt x="1698714" y="0"/>
                  </a:moveTo>
                  <a:lnTo>
                    <a:pt x="1684840" y="0"/>
                  </a:lnTo>
                  <a:lnTo>
                    <a:pt x="1684840" y="18749"/>
                  </a:lnTo>
                  <a:lnTo>
                    <a:pt x="1698714" y="18749"/>
                  </a:lnTo>
                  <a:lnTo>
                    <a:pt x="1698714" y="0"/>
                  </a:lnTo>
                  <a:close/>
                </a:path>
                <a:path w="4261484" h="4220210">
                  <a:moveTo>
                    <a:pt x="1643198" y="0"/>
                  </a:moveTo>
                  <a:lnTo>
                    <a:pt x="1527355" y="0"/>
                  </a:lnTo>
                  <a:lnTo>
                    <a:pt x="1527355" y="18749"/>
                  </a:lnTo>
                  <a:lnTo>
                    <a:pt x="1643198" y="18749"/>
                  </a:lnTo>
                  <a:lnTo>
                    <a:pt x="1643198" y="0"/>
                  </a:lnTo>
                  <a:close/>
                </a:path>
                <a:path w="4261484" h="4220210">
                  <a:moveTo>
                    <a:pt x="1480940" y="0"/>
                  </a:moveTo>
                  <a:lnTo>
                    <a:pt x="1467046" y="0"/>
                  </a:lnTo>
                  <a:lnTo>
                    <a:pt x="1467046" y="18749"/>
                  </a:lnTo>
                  <a:lnTo>
                    <a:pt x="1480940" y="18749"/>
                  </a:lnTo>
                  <a:lnTo>
                    <a:pt x="1480940" y="0"/>
                  </a:lnTo>
                  <a:close/>
                </a:path>
                <a:path w="4261484" h="4220210">
                  <a:moveTo>
                    <a:pt x="1424922" y="0"/>
                  </a:moveTo>
                  <a:lnTo>
                    <a:pt x="1309098" y="0"/>
                  </a:lnTo>
                  <a:lnTo>
                    <a:pt x="1309098" y="18749"/>
                  </a:lnTo>
                  <a:lnTo>
                    <a:pt x="1424922" y="18749"/>
                  </a:lnTo>
                  <a:lnTo>
                    <a:pt x="1424922" y="0"/>
                  </a:lnTo>
                  <a:close/>
                </a:path>
                <a:path w="4261484" h="4220210">
                  <a:moveTo>
                    <a:pt x="1262664" y="0"/>
                  </a:moveTo>
                  <a:lnTo>
                    <a:pt x="1248789" y="0"/>
                  </a:lnTo>
                  <a:lnTo>
                    <a:pt x="1248789" y="18749"/>
                  </a:lnTo>
                  <a:lnTo>
                    <a:pt x="1262664" y="18749"/>
                  </a:lnTo>
                  <a:lnTo>
                    <a:pt x="1262664" y="0"/>
                  </a:lnTo>
                  <a:close/>
                </a:path>
                <a:path w="4261484" h="4220210">
                  <a:moveTo>
                    <a:pt x="1206665" y="0"/>
                  </a:moveTo>
                  <a:lnTo>
                    <a:pt x="1090840" y="0"/>
                  </a:lnTo>
                  <a:lnTo>
                    <a:pt x="1090840" y="18749"/>
                  </a:lnTo>
                  <a:lnTo>
                    <a:pt x="1206665" y="18749"/>
                  </a:lnTo>
                  <a:lnTo>
                    <a:pt x="1206665" y="0"/>
                  </a:lnTo>
                  <a:close/>
                </a:path>
                <a:path w="4261484" h="4220210">
                  <a:moveTo>
                    <a:pt x="1044406" y="0"/>
                  </a:moveTo>
                  <a:lnTo>
                    <a:pt x="1030532" y="0"/>
                  </a:lnTo>
                  <a:lnTo>
                    <a:pt x="1030532" y="18749"/>
                  </a:lnTo>
                  <a:lnTo>
                    <a:pt x="1044406" y="18749"/>
                  </a:lnTo>
                  <a:lnTo>
                    <a:pt x="1044406" y="0"/>
                  </a:lnTo>
                  <a:close/>
                </a:path>
                <a:path w="4261484" h="4220210">
                  <a:moveTo>
                    <a:pt x="988891" y="0"/>
                  </a:moveTo>
                  <a:lnTo>
                    <a:pt x="872564" y="0"/>
                  </a:lnTo>
                  <a:lnTo>
                    <a:pt x="872564" y="18749"/>
                  </a:lnTo>
                  <a:lnTo>
                    <a:pt x="988891" y="18749"/>
                  </a:lnTo>
                  <a:lnTo>
                    <a:pt x="988891" y="0"/>
                  </a:lnTo>
                  <a:close/>
                </a:path>
                <a:path w="4261484" h="4220210">
                  <a:moveTo>
                    <a:pt x="830922" y="0"/>
                  </a:moveTo>
                  <a:lnTo>
                    <a:pt x="812256" y="0"/>
                  </a:lnTo>
                  <a:lnTo>
                    <a:pt x="812256" y="18749"/>
                  </a:lnTo>
                  <a:lnTo>
                    <a:pt x="830922" y="18749"/>
                  </a:lnTo>
                  <a:lnTo>
                    <a:pt x="830922" y="0"/>
                  </a:lnTo>
                  <a:close/>
                </a:path>
                <a:path w="4261484" h="4220210">
                  <a:moveTo>
                    <a:pt x="770614" y="0"/>
                  </a:moveTo>
                  <a:lnTo>
                    <a:pt x="654307" y="0"/>
                  </a:lnTo>
                  <a:lnTo>
                    <a:pt x="654307" y="18749"/>
                  </a:lnTo>
                  <a:lnTo>
                    <a:pt x="770614" y="18749"/>
                  </a:lnTo>
                  <a:lnTo>
                    <a:pt x="770614" y="0"/>
                  </a:lnTo>
                  <a:close/>
                </a:path>
                <a:path w="4261484" h="4220210">
                  <a:moveTo>
                    <a:pt x="612665" y="0"/>
                  </a:moveTo>
                  <a:lnTo>
                    <a:pt x="598791" y="0"/>
                  </a:lnTo>
                  <a:lnTo>
                    <a:pt x="598791" y="18749"/>
                  </a:lnTo>
                  <a:lnTo>
                    <a:pt x="612665" y="18749"/>
                  </a:lnTo>
                  <a:lnTo>
                    <a:pt x="612665" y="0"/>
                  </a:lnTo>
                  <a:close/>
                </a:path>
                <a:path w="4261484" h="4220210">
                  <a:moveTo>
                    <a:pt x="552357" y="0"/>
                  </a:moveTo>
                  <a:lnTo>
                    <a:pt x="436050" y="0"/>
                  </a:lnTo>
                  <a:lnTo>
                    <a:pt x="436050" y="18749"/>
                  </a:lnTo>
                  <a:lnTo>
                    <a:pt x="552357" y="18749"/>
                  </a:lnTo>
                  <a:lnTo>
                    <a:pt x="552357" y="0"/>
                  </a:lnTo>
                  <a:close/>
                </a:path>
                <a:path w="4261484" h="4220210">
                  <a:moveTo>
                    <a:pt x="394408" y="0"/>
                  </a:moveTo>
                  <a:lnTo>
                    <a:pt x="380515" y="0"/>
                  </a:lnTo>
                  <a:lnTo>
                    <a:pt x="380515" y="18749"/>
                  </a:lnTo>
                  <a:lnTo>
                    <a:pt x="394408" y="18749"/>
                  </a:lnTo>
                  <a:lnTo>
                    <a:pt x="394408" y="0"/>
                  </a:lnTo>
                  <a:close/>
                </a:path>
                <a:path w="4261484" h="4220210">
                  <a:moveTo>
                    <a:pt x="334100" y="0"/>
                  </a:moveTo>
                  <a:lnTo>
                    <a:pt x="218257" y="0"/>
                  </a:lnTo>
                  <a:lnTo>
                    <a:pt x="218257" y="18749"/>
                  </a:lnTo>
                  <a:lnTo>
                    <a:pt x="334100" y="18749"/>
                  </a:lnTo>
                  <a:lnTo>
                    <a:pt x="334100" y="0"/>
                  </a:lnTo>
                  <a:close/>
                </a:path>
                <a:path w="4261484" h="4220210">
                  <a:moveTo>
                    <a:pt x="176151" y="0"/>
                  </a:moveTo>
                  <a:lnTo>
                    <a:pt x="162258" y="0"/>
                  </a:lnTo>
                  <a:lnTo>
                    <a:pt x="162258" y="18749"/>
                  </a:lnTo>
                  <a:lnTo>
                    <a:pt x="176151" y="18749"/>
                  </a:lnTo>
                  <a:lnTo>
                    <a:pt x="176151" y="0"/>
                  </a:lnTo>
                  <a:close/>
                </a:path>
                <a:path w="4261484" h="4220210">
                  <a:moveTo>
                    <a:pt x="13881" y="9084"/>
                  </a:moveTo>
                  <a:lnTo>
                    <a:pt x="9095" y="18749"/>
                  </a:lnTo>
                  <a:lnTo>
                    <a:pt x="115833" y="18749"/>
                  </a:lnTo>
                  <a:lnTo>
                    <a:pt x="115833" y="13916"/>
                  </a:lnTo>
                  <a:lnTo>
                    <a:pt x="13881" y="13916"/>
                  </a:lnTo>
                  <a:lnTo>
                    <a:pt x="13881" y="9084"/>
                  </a:lnTo>
                  <a:close/>
                </a:path>
                <a:path w="4261484" h="4220210">
                  <a:moveTo>
                    <a:pt x="115833" y="0"/>
                  </a:moveTo>
                  <a:lnTo>
                    <a:pt x="0" y="0"/>
                  </a:lnTo>
                  <a:lnTo>
                    <a:pt x="0" y="13916"/>
                  </a:lnTo>
                  <a:lnTo>
                    <a:pt x="11488" y="13916"/>
                  </a:lnTo>
                  <a:lnTo>
                    <a:pt x="13881" y="9084"/>
                  </a:lnTo>
                  <a:lnTo>
                    <a:pt x="115833" y="9084"/>
                  </a:lnTo>
                  <a:lnTo>
                    <a:pt x="115833" y="0"/>
                  </a:lnTo>
                  <a:close/>
                </a:path>
                <a:path w="4261484" h="4220210">
                  <a:moveTo>
                    <a:pt x="115833" y="9084"/>
                  </a:moveTo>
                  <a:lnTo>
                    <a:pt x="13881" y="9084"/>
                  </a:lnTo>
                  <a:lnTo>
                    <a:pt x="13881" y="13916"/>
                  </a:lnTo>
                  <a:lnTo>
                    <a:pt x="115833" y="13916"/>
                  </a:lnTo>
                  <a:lnTo>
                    <a:pt x="115833" y="9084"/>
                  </a:lnTo>
                  <a:close/>
                </a:path>
                <a:path w="4261484" h="4220210">
                  <a:moveTo>
                    <a:pt x="13881" y="60113"/>
                  </a:moveTo>
                  <a:lnTo>
                    <a:pt x="0" y="60113"/>
                  </a:lnTo>
                  <a:lnTo>
                    <a:pt x="0" y="74416"/>
                  </a:lnTo>
                  <a:lnTo>
                    <a:pt x="13881" y="74416"/>
                  </a:lnTo>
                  <a:lnTo>
                    <a:pt x="13881" y="60113"/>
                  </a:lnTo>
                  <a:close/>
                </a:path>
                <a:path w="4261484" h="4220210">
                  <a:moveTo>
                    <a:pt x="13881" y="115973"/>
                  </a:moveTo>
                  <a:lnTo>
                    <a:pt x="0" y="115973"/>
                  </a:lnTo>
                  <a:lnTo>
                    <a:pt x="0" y="232334"/>
                  </a:lnTo>
                  <a:lnTo>
                    <a:pt x="13881" y="232334"/>
                  </a:lnTo>
                  <a:lnTo>
                    <a:pt x="13881" y="115973"/>
                  </a:lnTo>
                  <a:close/>
                </a:path>
                <a:path w="4261484" h="4220210">
                  <a:moveTo>
                    <a:pt x="13881" y="274278"/>
                  </a:moveTo>
                  <a:lnTo>
                    <a:pt x="0" y="274278"/>
                  </a:lnTo>
                  <a:lnTo>
                    <a:pt x="0" y="292834"/>
                  </a:lnTo>
                  <a:lnTo>
                    <a:pt x="13881" y="292834"/>
                  </a:lnTo>
                  <a:lnTo>
                    <a:pt x="13881" y="274278"/>
                  </a:lnTo>
                  <a:close/>
                </a:path>
                <a:path w="4261484" h="4220210">
                  <a:moveTo>
                    <a:pt x="13881" y="334391"/>
                  </a:moveTo>
                  <a:lnTo>
                    <a:pt x="0" y="334391"/>
                  </a:lnTo>
                  <a:lnTo>
                    <a:pt x="0" y="450752"/>
                  </a:lnTo>
                  <a:lnTo>
                    <a:pt x="13881" y="450752"/>
                  </a:lnTo>
                  <a:lnTo>
                    <a:pt x="13881" y="334391"/>
                  </a:lnTo>
                  <a:close/>
                </a:path>
                <a:path w="4261484" h="4220210">
                  <a:moveTo>
                    <a:pt x="13881" y="492696"/>
                  </a:moveTo>
                  <a:lnTo>
                    <a:pt x="0" y="492696"/>
                  </a:lnTo>
                  <a:lnTo>
                    <a:pt x="0" y="506613"/>
                  </a:lnTo>
                  <a:lnTo>
                    <a:pt x="13881" y="506613"/>
                  </a:lnTo>
                  <a:lnTo>
                    <a:pt x="13881" y="492696"/>
                  </a:lnTo>
                  <a:close/>
                </a:path>
                <a:path w="4261484" h="4220210">
                  <a:moveTo>
                    <a:pt x="13881" y="553195"/>
                  </a:moveTo>
                  <a:lnTo>
                    <a:pt x="0" y="553195"/>
                  </a:lnTo>
                  <a:lnTo>
                    <a:pt x="0" y="669169"/>
                  </a:lnTo>
                  <a:lnTo>
                    <a:pt x="13881" y="669169"/>
                  </a:lnTo>
                  <a:lnTo>
                    <a:pt x="13881" y="553195"/>
                  </a:lnTo>
                  <a:close/>
                </a:path>
                <a:path w="4261484" h="4220210">
                  <a:moveTo>
                    <a:pt x="13881" y="711113"/>
                  </a:moveTo>
                  <a:lnTo>
                    <a:pt x="0" y="711113"/>
                  </a:lnTo>
                  <a:lnTo>
                    <a:pt x="0" y="724837"/>
                  </a:lnTo>
                  <a:lnTo>
                    <a:pt x="13881" y="724837"/>
                  </a:lnTo>
                  <a:lnTo>
                    <a:pt x="13881" y="711113"/>
                  </a:lnTo>
                  <a:close/>
                </a:path>
                <a:path w="4261484" h="4220210">
                  <a:moveTo>
                    <a:pt x="13881" y="771613"/>
                  </a:moveTo>
                  <a:lnTo>
                    <a:pt x="0" y="771613"/>
                  </a:lnTo>
                  <a:lnTo>
                    <a:pt x="0" y="887587"/>
                  </a:lnTo>
                  <a:lnTo>
                    <a:pt x="13881" y="887587"/>
                  </a:lnTo>
                  <a:lnTo>
                    <a:pt x="13881" y="771613"/>
                  </a:lnTo>
                  <a:close/>
                </a:path>
                <a:path w="4261484" h="4220210">
                  <a:moveTo>
                    <a:pt x="13881" y="929531"/>
                  </a:moveTo>
                  <a:lnTo>
                    <a:pt x="0" y="929531"/>
                  </a:lnTo>
                  <a:lnTo>
                    <a:pt x="0" y="943255"/>
                  </a:lnTo>
                  <a:lnTo>
                    <a:pt x="13881" y="943255"/>
                  </a:lnTo>
                  <a:lnTo>
                    <a:pt x="13881" y="929531"/>
                  </a:lnTo>
                  <a:close/>
                </a:path>
                <a:path w="4261484" h="4220210">
                  <a:moveTo>
                    <a:pt x="13881" y="990031"/>
                  </a:moveTo>
                  <a:lnTo>
                    <a:pt x="0" y="990031"/>
                  </a:lnTo>
                  <a:lnTo>
                    <a:pt x="0" y="1106005"/>
                  </a:lnTo>
                  <a:lnTo>
                    <a:pt x="13881" y="1106005"/>
                  </a:lnTo>
                  <a:lnTo>
                    <a:pt x="13881" y="990031"/>
                  </a:lnTo>
                  <a:close/>
                </a:path>
                <a:path w="4261484" h="4220210">
                  <a:moveTo>
                    <a:pt x="13881" y="1147949"/>
                  </a:moveTo>
                  <a:lnTo>
                    <a:pt x="0" y="1147949"/>
                  </a:lnTo>
                  <a:lnTo>
                    <a:pt x="0" y="1161672"/>
                  </a:lnTo>
                  <a:lnTo>
                    <a:pt x="13881" y="1161672"/>
                  </a:lnTo>
                  <a:lnTo>
                    <a:pt x="13881" y="1147949"/>
                  </a:lnTo>
                  <a:close/>
                </a:path>
                <a:path w="4261484" h="4220210">
                  <a:moveTo>
                    <a:pt x="13881" y="1203809"/>
                  </a:moveTo>
                  <a:lnTo>
                    <a:pt x="0" y="1203809"/>
                  </a:lnTo>
                  <a:lnTo>
                    <a:pt x="0" y="1320170"/>
                  </a:lnTo>
                  <a:lnTo>
                    <a:pt x="13881" y="1320170"/>
                  </a:lnTo>
                  <a:lnTo>
                    <a:pt x="13881" y="1203809"/>
                  </a:lnTo>
                  <a:close/>
                </a:path>
                <a:path w="4261484" h="4220210">
                  <a:moveTo>
                    <a:pt x="13881" y="1366366"/>
                  </a:moveTo>
                  <a:lnTo>
                    <a:pt x="0" y="1366366"/>
                  </a:lnTo>
                  <a:lnTo>
                    <a:pt x="0" y="1380090"/>
                  </a:lnTo>
                  <a:lnTo>
                    <a:pt x="13881" y="1380090"/>
                  </a:lnTo>
                  <a:lnTo>
                    <a:pt x="13881" y="1366366"/>
                  </a:lnTo>
                  <a:close/>
                </a:path>
                <a:path w="4261484" h="4220210">
                  <a:moveTo>
                    <a:pt x="13881" y="1422227"/>
                  </a:moveTo>
                  <a:lnTo>
                    <a:pt x="0" y="1422227"/>
                  </a:lnTo>
                  <a:lnTo>
                    <a:pt x="0" y="1538588"/>
                  </a:lnTo>
                  <a:lnTo>
                    <a:pt x="13881" y="1538588"/>
                  </a:lnTo>
                  <a:lnTo>
                    <a:pt x="13881" y="1422227"/>
                  </a:lnTo>
                  <a:close/>
                </a:path>
                <a:path w="4261484" h="4220210">
                  <a:moveTo>
                    <a:pt x="13881" y="1584784"/>
                  </a:moveTo>
                  <a:lnTo>
                    <a:pt x="0" y="1584784"/>
                  </a:lnTo>
                  <a:lnTo>
                    <a:pt x="0" y="1598508"/>
                  </a:lnTo>
                  <a:lnTo>
                    <a:pt x="13881" y="1598508"/>
                  </a:lnTo>
                  <a:lnTo>
                    <a:pt x="13881" y="1584784"/>
                  </a:lnTo>
                  <a:close/>
                </a:path>
                <a:path w="4261484" h="4220210">
                  <a:moveTo>
                    <a:pt x="13881" y="1640451"/>
                  </a:moveTo>
                  <a:lnTo>
                    <a:pt x="0" y="1640451"/>
                  </a:lnTo>
                  <a:lnTo>
                    <a:pt x="0" y="1756812"/>
                  </a:lnTo>
                  <a:lnTo>
                    <a:pt x="13882" y="1756812"/>
                  </a:lnTo>
                  <a:lnTo>
                    <a:pt x="13881" y="1640451"/>
                  </a:lnTo>
                  <a:close/>
                </a:path>
                <a:path w="4261484" h="4220210">
                  <a:moveTo>
                    <a:pt x="13882" y="1803202"/>
                  </a:moveTo>
                  <a:lnTo>
                    <a:pt x="0" y="1803202"/>
                  </a:lnTo>
                  <a:lnTo>
                    <a:pt x="0" y="1817505"/>
                  </a:lnTo>
                  <a:lnTo>
                    <a:pt x="13882" y="1817505"/>
                  </a:lnTo>
                  <a:lnTo>
                    <a:pt x="13882" y="1803202"/>
                  </a:lnTo>
                  <a:close/>
                </a:path>
                <a:path w="4261484" h="4220210">
                  <a:moveTo>
                    <a:pt x="13882" y="1858869"/>
                  </a:moveTo>
                  <a:lnTo>
                    <a:pt x="0" y="1858869"/>
                  </a:lnTo>
                  <a:lnTo>
                    <a:pt x="0" y="1975230"/>
                  </a:lnTo>
                  <a:lnTo>
                    <a:pt x="13882" y="1975230"/>
                  </a:lnTo>
                  <a:lnTo>
                    <a:pt x="13882" y="1858869"/>
                  </a:lnTo>
                  <a:close/>
                </a:path>
                <a:path w="4261484" h="4220210">
                  <a:moveTo>
                    <a:pt x="13882" y="2017367"/>
                  </a:moveTo>
                  <a:lnTo>
                    <a:pt x="0" y="2017367"/>
                  </a:lnTo>
                  <a:lnTo>
                    <a:pt x="0" y="2035923"/>
                  </a:lnTo>
                  <a:lnTo>
                    <a:pt x="13882" y="2035923"/>
                  </a:lnTo>
                  <a:lnTo>
                    <a:pt x="13882" y="2017367"/>
                  </a:lnTo>
                  <a:close/>
                </a:path>
                <a:path w="4261484" h="4220210">
                  <a:moveTo>
                    <a:pt x="13882" y="2077287"/>
                  </a:moveTo>
                  <a:lnTo>
                    <a:pt x="0" y="2077287"/>
                  </a:lnTo>
                  <a:lnTo>
                    <a:pt x="0" y="2193647"/>
                  </a:lnTo>
                  <a:lnTo>
                    <a:pt x="13882" y="2193647"/>
                  </a:lnTo>
                  <a:lnTo>
                    <a:pt x="13882" y="2077287"/>
                  </a:lnTo>
                  <a:close/>
                </a:path>
                <a:path w="4261484" h="4220210">
                  <a:moveTo>
                    <a:pt x="13882" y="2235785"/>
                  </a:moveTo>
                  <a:lnTo>
                    <a:pt x="0" y="2235785"/>
                  </a:lnTo>
                  <a:lnTo>
                    <a:pt x="0" y="2249508"/>
                  </a:lnTo>
                  <a:lnTo>
                    <a:pt x="13882" y="2249508"/>
                  </a:lnTo>
                  <a:lnTo>
                    <a:pt x="13882" y="2235785"/>
                  </a:lnTo>
                  <a:close/>
                </a:path>
                <a:path w="4261484" h="4220210">
                  <a:moveTo>
                    <a:pt x="13882" y="2295704"/>
                  </a:moveTo>
                  <a:lnTo>
                    <a:pt x="0" y="2295704"/>
                  </a:lnTo>
                  <a:lnTo>
                    <a:pt x="0" y="2412065"/>
                  </a:lnTo>
                  <a:lnTo>
                    <a:pt x="13882" y="2412065"/>
                  </a:lnTo>
                  <a:lnTo>
                    <a:pt x="13882" y="2295704"/>
                  </a:lnTo>
                  <a:close/>
                </a:path>
                <a:path w="4261484" h="4220210">
                  <a:moveTo>
                    <a:pt x="13882" y="2454202"/>
                  </a:moveTo>
                  <a:lnTo>
                    <a:pt x="0" y="2454202"/>
                  </a:lnTo>
                  <a:lnTo>
                    <a:pt x="0" y="2467926"/>
                  </a:lnTo>
                  <a:lnTo>
                    <a:pt x="13882" y="2467926"/>
                  </a:lnTo>
                  <a:lnTo>
                    <a:pt x="13882" y="2454202"/>
                  </a:lnTo>
                  <a:close/>
                </a:path>
                <a:path w="4261484" h="4220210">
                  <a:moveTo>
                    <a:pt x="13882" y="2514122"/>
                  </a:moveTo>
                  <a:lnTo>
                    <a:pt x="0" y="2514122"/>
                  </a:lnTo>
                  <a:lnTo>
                    <a:pt x="0" y="2630483"/>
                  </a:lnTo>
                  <a:lnTo>
                    <a:pt x="13882" y="2630483"/>
                  </a:lnTo>
                  <a:lnTo>
                    <a:pt x="13882" y="2514122"/>
                  </a:lnTo>
                  <a:close/>
                </a:path>
                <a:path w="4261484" h="4220210">
                  <a:moveTo>
                    <a:pt x="13882" y="2672427"/>
                  </a:moveTo>
                  <a:lnTo>
                    <a:pt x="0" y="2672427"/>
                  </a:lnTo>
                  <a:lnTo>
                    <a:pt x="0" y="2686343"/>
                  </a:lnTo>
                  <a:lnTo>
                    <a:pt x="13882" y="2686343"/>
                  </a:lnTo>
                  <a:lnTo>
                    <a:pt x="13882" y="2672427"/>
                  </a:lnTo>
                  <a:close/>
                </a:path>
                <a:path w="4261484" h="4220210">
                  <a:moveTo>
                    <a:pt x="13882" y="2733120"/>
                  </a:moveTo>
                  <a:lnTo>
                    <a:pt x="0" y="2733120"/>
                  </a:lnTo>
                  <a:lnTo>
                    <a:pt x="0" y="2848958"/>
                  </a:lnTo>
                  <a:lnTo>
                    <a:pt x="13882" y="2848958"/>
                  </a:lnTo>
                  <a:lnTo>
                    <a:pt x="13882" y="2733120"/>
                  </a:lnTo>
                  <a:close/>
                </a:path>
                <a:path w="4261484" h="4220210">
                  <a:moveTo>
                    <a:pt x="13882" y="2890941"/>
                  </a:moveTo>
                  <a:lnTo>
                    <a:pt x="0" y="2890941"/>
                  </a:lnTo>
                  <a:lnTo>
                    <a:pt x="0" y="2904761"/>
                  </a:lnTo>
                  <a:lnTo>
                    <a:pt x="13882" y="2904761"/>
                  </a:lnTo>
                  <a:lnTo>
                    <a:pt x="13882" y="2890941"/>
                  </a:lnTo>
                  <a:close/>
                </a:path>
                <a:path w="4261484" h="4220210">
                  <a:moveTo>
                    <a:pt x="13882" y="2946724"/>
                  </a:moveTo>
                  <a:lnTo>
                    <a:pt x="0" y="2946724"/>
                  </a:lnTo>
                  <a:lnTo>
                    <a:pt x="0" y="3063085"/>
                  </a:lnTo>
                  <a:lnTo>
                    <a:pt x="13882" y="3063085"/>
                  </a:lnTo>
                  <a:lnTo>
                    <a:pt x="13882" y="2946724"/>
                  </a:lnTo>
                  <a:close/>
                </a:path>
                <a:path w="4261484" h="4220210">
                  <a:moveTo>
                    <a:pt x="13882" y="3109339"/>
                  </a:moveTo>
                  <a:lnTo>
                    <a:pt x="0" y="3109339"/>
                  </a:lnTo>
                  <a:lnTo>
                    <a:pt x="0" y="3123179"/>
                  </a:lnTo>
                  <a:lnTo>
                    <a:pt x="13882" y="3123179"/>
                  </a:lnTo>
                  <a:lnTo>
                    <a:pt x="13882" y="3109339"/>
                  </a:lnTo>
                  <a:close/>
                </a:path>
                <a:path w="4261484" h="4220210">
                  <a:moveTo>
                    <a:pt x="13882" y="3165142"/>
                  </a:moveTo>
                  <a:lnTo>
                    <a:pt x="0" y="3165142"/>
                  </a:lnTo>
                  <a:lnTo>
                    <a:pt x="0" y="3281503"/>
                  </a:lnTo>
                  <a:lnTo>
                    <a:pt x="13882" y="3281503"/>
                  </a:lnTo>
                  <a:lnTo>
                    <a:pt x="13882" y="3165142"/>
                  </a:lnTo>
                  <a:close/>
                </a:path>
                <a:path w="4261484" h="4220210">
                  <a:moveTo>
                    <a:pt x="13882" y="3327757"/>
                  </a:moveTo>
                  <a:lnTo>
                    <a:pt x="0" y="3327757"/>
                  </a:lnTo>
                  <a:lnTo>
                    <a:pt x="0" y="3341596"/>
                  </a:lnTo>
                  <a:lnTo>
                    <a:pt x="13882" y="3341596"/>
                  </a:lnTo>
                  <a:lnTo>
                    <a:pt x="13882" y="3327757"/>
                  </a:lnTo>
                  <a:close/>
                </a:path>
                <a:path w="4261484" h="4220210">
                  <a:moveTo>
                    <a:pt x="13882" y="3383560"/>
                  </a:moveTo>
                  <a:lnTo>
                    <a:pt x="0" y="3383560"/>
                  </a:lnTo>
                  <a:lnTo>
                    <a:pt x="0" y="3499920"/>
                  </a:lnTo>
                  <a:lnTo>
                    <a:pt x="13882" y="3499920"/>
                  </a:lnTo>
                  <a:lnTo>
                    <a:pt x="13882" y="3383560"/>
                  </a:lnTo>
                  <a:close/>
                </a:path>
                <a:path w="4261484" h="4220210">
                  <a:moveTo>
                    <a:pt x="13882" y="3546175"/>
                  </a:moveTo>
                  <a:lnTo>
                    <a:pt x="0" y="3546175"/>
                  </a:lnTo>
                  <a:lnTo>
                    <a:pt x="0" y="3559995"/>
                  </a:lnTo>
                  <a:lnTo>
                    <a:pt x="13882" y="3559995"/>
                  </a:lnTo>
                  <a:lnTo>
                    <a:pt x="13882" y="3546175"/>
                  </a:lnTo>
                  <a:close/>
                </a:path>
                <a:path w="4261484" h="4220210">
                  <a:moveTo>
                    <a:pt x="13882" y="3601958"/>
                  </a:moveTo>
                  <a:lnTo>
                    <a:pt x="0" y="3601958"/>
                  </a:lnTo>
                  <a:lnTo>
                    <a:pt x="0" y="3718319"/>
                  </a:lnTo>
                  <a:lnTo>
                    <a:pt x="13882" y="3718319"/>
                  </a:lnTo>
                  <a:lnTo>
                    <a:pt x="13882" y="3601958"/>
                  </a:lnTo>
                  <a:close/>
                </a:path>
                <a:path w="4261484" h="4220210">
                  <a:moveTo>
                    <a:pt x="13882" y="3759818"/>
                  </a:moveTo>
                  <a:lnTo>
                    <a:pt x="0" y="3759818"/>
                  </a:lnTo>
                  <a:lnTo>
                    <a:pt x="0" y="3778412"/>
                  </a:lnTo>
                  <a:lnTo>
                    <a:pt x="13882" y="3778412"/>
                  </a:lnTo>
                  <a:lnTo>
                    <a:pt x="13882" y="3759818"/>
                  </a:lnTo>
                  <a:close/>
                </a:path>
                <a:path w="4261484" h="4220210">
                  <a:moveTo>
                    <a:pt x="13882" y="3820376"/>
                  </a:moveTo>
                  <a:lnTo>
                    <a:pt x="0" y="3820376"/>
                  </a:lnTo>
                  <a:lnTo>
                    <a:pt x="0" y="3936736"/>
                  </a:lnTo>
                  <a:lnTo>
                    <a:pt x="13882" y="3936736"/>
                  </a:lnTo>
                  <a:lnTo>
                    <a:pt x="13882" y="3820376"/>
                  </a:lnTo>
                  <a:close/>
                </a:path>
                <a:path w="4261484" h="4220210">
                  <a:moveTo>
                    <a:pt x="13882" y="3978700"/>
                  </a:moveTo>
                  <a:lnTo>
                    <a:pt x="0" y="3978700"/>
                  </a:lnTo>
                  <a:lnTo>
                    <a:pt x="0" y="3992539"/>
                  </a:lnTo>
                  <a:lnTo>
                    <a:pt x="13882" y="3992539"/>
                  </a:lnTo>
                  <a:lnTo>
                    <a:pt x="13882" y="3978700"/>
                  </a:lnTo>
                  <a:close/>
                </a:path>
                <a:path w="4261484" h="4220210">
                  <a:moveTo>
                    <a:pt x="13882" y="4038793"/>
                  </a:moveTo>
                  <a:lnTo>
                    <a:pt x="0" y="4038793"/>
                  </a:lnTo>
                  <a:lnTo>
                    <a:pt x="0" y="4155154"/>
                  </a:lnTo>
                  <a:lnTo>
                    <a:pt x="13882" y="4155154"/>
                  </a:lnTo>
                  <a:lnTo>
                    <a:pt x="13882" y="4038793"/>
                  </a:lnTo>
                  <a:close/>
                </a:path>
                <a:path w="4261484" h="4220210">
                  <a:moveTo>
                    <a:pt x="13882" y="4197117"/>
                  </a:moveTo>
                  <a:lnTo>
                    <a:pt x="0" y="4197117"/>
                  </a:lnTo>
                  <a:lnTo>
                    <a:pt x="0" y="4220003"/>
                  </a:lnTo>
                  <a:lnTo>
                    <a:pt x="9095" y="4220003"/>
                  </a:lnTo>
                  <a:lnTo>
                    <a:pt x="9095" y="4206182"/>
                  </a:lnTo>
                  <a:lnTo>
                    <a:pt x="13882" y="4206182"/>
                  </a:lnTo>
                  <a:lnTo>
                    <a:pt x="13882" y="4197117"/>
                  </a:lnTo>
                  <a:close/>
                </a:path>
                <a:path w="4261484" h="4220210">
                  <a:moveTo>
                    <a:pt x="13882" y="4206182"/>
                  </a:moveTo>
                  <a:lnTo>
                    <a:pt x="9095" y="4206182"/>
                  </a:lnTo>
                  <a:lnTo>
                    <a:pt x="13882" y="4210937"/>
                  </a:lnTo>
                  <a:lnTo>
                    <a:pt x="13882" y="4206182"/>
                  </a:lnTo>
                  <a:close/>
                </a:path>
                <a:path w="4261484" h="4220210">
                  <a:moveTo>
                    <a:pt x="167050" y="4206182"/>
                  </a:moveTo>
                  <a:lnTo>
                    <a:pt x="50737" y="4206182"/>
                  </a:lnTo>
                  <a:lnTo>
                    <a:pt x="50737" y="4220003"/>
                  </a:lnTo>
                  <a:lnTo>
                    <a:pt x="167050" y="4220003"/>
                  </a:lnTo>
                  <a:lnTo>
                    <a:pt x="167050" y="4206182"/>
                  </a:lnTo>
                  <a:close/>
                </a:path>
                <a:path w="4261484" h="4220210">
                  <a:moveTo>
                    <a:pt x="227358" y="4206182"/>
                  </a:moveTo>
                  <a:lnTo>
                    <a:pt x="213484" y="4206182"/>
                  </a:lnTo>
                  <a:lnTo>
                    <a:pt x="213484" y="4220003"/>
                  </a:lnTo>
                  <a:lnTo>
                    <a:pt x="227358" y="4220003"/>
                  </a:lnTo>
                  <a:lnTo>
                    <a:pt x="227358" y="4206182"/>
                  </a:lnTo>
                  <a:close/>
                </a:path>
                <a:path w="4261484" h="4220210">
                  <a:moveTo>
                    <a:pt x="385307" y="4206182"/>
                  </a:moveTo>
                  <a:lnTo>
                    <a:pt x="269000" y="4206182"/>
                  </a:lnTo>
                  <a:lnTo>
                    <a:pt x="269000" y="4220003"/>
                  </a:lnTo>
                  <a:lnTo>
                    <a:pt x="385307" y="4220003"/>
                  </a:lnTo>
                  <a:lnTo>
                    <a:pt x="385307" y="4206182"/>
                  </a:lnTo>
                  <a:close/>
                </a:path>
                <a:path w="4261484" h="4220210">
                  <a:moveTo>
                    <a:pt x="445615" y="4206182"/>
                  </a:moveTo>
                  <a:lnTo>
                    <a:pt x="431741" y="4206182"/>
                  </a:lnTo>
                  <a:lnTo>
                    <a:pt x="431741" y="4220003"/>
                  </a:lnTo>
                  <a:lnTo>
                    <a:pt x="445615" y="4220003"/>
                  </a:lnTo>
                  <a:lnTo>
                    <a:pt x="445615" y="4206182"/>
                  </a:lnTo>
                  <a:close/>
                </a:path>
                <a:path w="4261484" h="4220210">
                  <a:moveTo>
                    <a:pt x="603564" y="4206182"/>
                  </a:moveTo>
                  <a:lnTo>
                    <a:pt x="487257" y="4206182"/>
                  </a:lnTo>
                  <a:lnTo>
                    <a:pt x="487257" y="4220003"/>
                  </a:lnTo>
                  <a:lnTo>
                    <a:pt x="603564" y="4220003"/>
                  </a:lnTo>
                  <a:lnTo>
                    <a:pt x="603564" y="4206182"/>
                  </a:lnTo>
                  <a:close/>
                </a:path>
                <a:path w="4261484" h="4220210">
                  <a:moveTo>
                    <a:pt x="663892" y="4206182"/>
                  </a:moveTo>
                  <a:lnTo>
                    <a:pt x="645206" y="4206182"/>
                  </a:lnTo>
                  <a:lnTo>
                    <a:pt x="645206" y="4220003"/>
                  </a:lnTo>
                  <a:lnTo>
                    <a:pt x="663892" y="4220003"/>
                  </a:lnTo>
                  <a:lnTo>
                    <a:pt x="663892" y="4206182"/>
                  </a:lnTo>
                  <a:close/>
                </a:path>
                <a:path w="4261484" h="4220210">
                  <a:moveTo>
                    <a:pt x="821357" y="4206182"/>
                  </a:moveTo>
                  <a:lnTo>
                    <a:pt x="705533" y="4206182"/>
                  </a:lnTo>
                  <a:lnTo>
                    <a:pt x="705533" y="4220003"/>
                  </a:lnTo>
                  <a:lnTo>
                    <a:pt x="821357" y="4220003"/>
                  </a:lnTo>
                  <a:lnTo>
                    <a:pt x="821357" y="4206182"/>
                  </a:lnTo>
                  <a:close/>
                </a:path>
                <a:path w="4261484" h="4220210">
                  <a:moveTo>
                    <a:pt x="877357" y="4206182"/>
                  </a:moveTo>
                  <a:lnTo>
                    <a:pt x="863482" y="4206182"/>
                  </a:lnTo>
                  <a:lnTo>
                    <a:pt x="863482" y="4220003"/>
                  </a:lnTo>
                  <a:lnTo>
                    <a:pt x="877357" y="4220003"/>
                  </a:lnTo>
                  <a:lnTo>
                    <a:pt x="877357" y="4206182"/>
                  </a:lnTo>
                  <a:close/>
                </a:path>
                <a:path w="4261484" h="4220210">
                  <a:moveTo>
                    <a:pt x="1039615" y="4206182"/>
                  </a:moveTo>
                  <a:lnTo>
                    <a:pt x="923790" y="4206182"/>
                  </a:lnTo>
                  <a:lnTo>
                    <a:pt x="923790" y="4220003"/>
                  </a:lnTo>
                  <a:lnTo>
                    <a:pt x="1039615" y="4220003"/>
                  </a:lnTo>
                  <a:lnTo>
                    <a:pt x="1039615" y="4206182"/>
                  </a:lnTo>
                  <a:close/>
                </a:path>
                <a:path w="4261484" h="4220210">
                  <a:moveTo>
                    <a:pt x="1095614" y="4206182"/>
                  </a:moveTo>
                  <a:lnTo>
                    <a:pt x="1081739" y="4206182"/>
                  </a:lnTo>
                  <a:lnTo>
                    <a:pt x="1081739" y="4220003"/>
                  </a:lnTo>
                  <a:lnTo>
                    <a:pt x="1095614" y="4220003"/>
                  </a:lnTo>
                  <a:lnTo>
                    <a:pt x="1095614" y="4206182"/>
                  </a:lnTo>
                  <a:close/>
                </a:path>
                <a:path w="4261484" h="4220210">
                  <a:moveTo>
                    <a:pt x="1257891" y="4206182"/>
                  </a:moveTo>
                  <a:lnTo>
                    <a:pt x="1142048" y="4206182"/>
                  </a:lnTo>
                  <a:lnTo>
                    <a:pt x="1142048" y="4220003"/>
                  </a:lnTo>
                  <a:lnTo>
                    <a:pt x="1257891" y="4220003"/>
                  </a:lnTo>
                  <a:lnTo>
                    <a:pt x="1257891" y="4206182"/>
                  </a:lnTo>
                  <a:close/>
                </a:path>
                <a:path w="4261484" h="4220210">
                  <a:moveTo>
                    <a:pt x="1313407" y="4206182"/>
                  </a:moveTo>
                  <a:lnTo>
                    <a:pt x="1299533" y="4206182"/>
                  </a:lnTo>
                  <a:lnTo>
                    <a:pt x="1299533" y="4220003"/>
                  </a:lnTo>
                  <a:lnTo>
                    <a:pt x="1313407" y="4220003"/>
                  </a:lnTo>
                  <a:lnTo>
                    <a:pt x="1313407" y="4206182"/>
                  </a:lnTo>
                  <a:close/>
                </a:path>
                <a:path w="4261484" h="4220210">
                  <a:moveTo>
                    <a:pt x="1476148" y="4206182"/>
                  </a:moveTo>
                  <a:lnTo>
                    <a:pt x="1359841" y="4206182"/>
                  </a:lnTo>
                  <a:lnTo>
                    <a:pt x="1359841" y="4220003"/>
                  </a:lnTo>
                  <a:lnTo>
                    <a:pt x="1476148" y="4220003"/>
                  </a:lnTo>
                  <a:lnTo>
                    <a:pt x="1476148" y="4206182"/>
                  </a:lnTo>
                  <a:close/>
                </a:path>
                <a:path w="4261484" h="4220210">
                  <a:moveTo>
                    <a:pt x="1531664" y="4206182"/>
                  </a:moveTo>
                  <a:lnTo>
                    <a:pt x="1517790" y="4206182"/>
                  </a:lnTo>
                  <a:lnTo>
                    <a:pt x="1517790" y="4220003"/>
                  </a:lnTo>
                  <a:lnTo>
                    <a:pt x="1531664" y="4220003"/>
                  </a:lnTo>
                  <a:lnTo>
                    <a:pt x="1531664" y="4206182"/>
                  </a:lnTo>
                  <a:close/>
                </a:path>
                <a:path w="4261484" h="4220210">
                  <a:moveTo>
                    <a:pt x="1689613" y="4206182"/>
                  </a:moveTo>
                  <a:lnTo>
                    <a:pt x="1573789" y="4206182"/>
                  </a:lnTo>
                  <a:lnTo>
                    <a:pt x="1573789" y="4220003"/>
                  </a:lnTo>
                  <a:lnTo>
                    <a:pt x="1689613" y="4220003"/>
                  </a:lnTo>
                  <a:lnTo>
                    <a:pt x="1689613" y="4206182"/>
                  </a:lnTo>
                  <a:close/>
                </a:path>
                <a:path w="4261484" h="4220210">
                  <a:moveTo>
                    <a:pt x="1749921" y="4206182"/>
                  </a:moveTo>
                  <a:lnTo>
                    <a:pt x="1736047" y="4206182"/>
                  </a:lnTo>
                  <a:lnTo>
                    <a:pt x="1736047" y="4220003"/>
                  </a:lnTo>
                  <a:lnTo>
                    <a:pt x="1749921" y="4220003"/>
                  </a:lnTo>
                  <a:lnTo>
                    <a:pt x="1749921" y="4206182"/>
                  </a:lnTo>
                  <a:close/>
                </a:path>
                <a:path w="4261484" h="4220210">
                  <a:moveTo>
                    <a:pt x="1907812" y="4206182"/>
                  </a:moveTo>
                  <a:lnTo>
                    <a:pt x="1791563" y="4206182"/>
                  </a:lnTo>
                  <a:lnTo>
                    <a:pt x="1791563" y="4220003"/>
                  </a:lnTo>
                  <a:lnTo>
                    <a:pt x="1907812" y="4220003"/>
                  </a:lnTo>
                  <a:lnTo>
                    <a:pt x="1907812" y="4206182"/>
                  </a:lnTo>
                  <a:close/>
                </a:path>
                <a:path w="4261484" h="4220210">
                  <a:moveTo>
                    <a:pt x="1968101" y="4206182"/>
                  </a:moveTo>
                  <a:lnTo>
                    <a:pt x="1954381" y="4206182"/>
                  </a:lnTo>
                  <a:lnTo>
                    <a:pt x="1954381" y="4220003"/>
                  </a:lnTo>
                  <a:lnTo>
                    <a:pt x="1968101" y="4220003"/>
                  </a:lnTo>
                  <a:lnTo>
                    <a:pt x="1968101" y="4206182"/>
                  </a:lnTo>
                  <a:close/>
                </a:path>
                <a:path w="4261484" h="4220210">
                  <a:moveTo>
                    <a:pt x="2126166" y="4206182"/>
                  </a:moveTo>
                  <a:lnTo>
                    <a:pt x="2009839" y="4206182"/>
                  </a:lnTo>
                  <a:lnTo>
                    <a:pt x="2009839" y="4220003"/>
                  </a:lnTo>
                  <a:lnTo>
                    <a:pt x="2126166" y="4220003"/>
                  </a:lnTo>
                  <a:lnTo>
                    <a:pt x="2126166" y="4206182"/>
                  </a:lnTo>
                  <a:close/>
                </a:path>
                <a:path w="4261484" h="4220210">
                  <a:moveTo>
                    <a:pt x="2186455" y="4206182"/>
                  </a:moveTo>
                  <a:lnTo>
                    <a:pt x="2172542" y="4206182"/>
                  </a:lnTo>
                  <a:lnTo>
                    <a:pt x="2172542" y="4220003"/>
                  </a:lnTo>
                  <a:lnTo>
                    <a:pt x="2186455" y="4220003"/>
                  </a:lnTo>
                  <a:lnTo>
                    <a:pt x="2186455" y="4206182"/>
                  </a:lnTo>
                  <a:close/>
                </a:path>
                <a:path w="4261484" h="4220210">
                  <a:moveTo>
                    <a:pt x="2344326" y="4206182"/>
                  </a:moveTo>
                  <a:lnTo>
                    <a:pt x="2228193" y="4206182"/>
                  </a:lnTo>
                  <a:lnTo>
                    <a:pt x="2228193" y="4220003"/>
                  </a:lnTo>
                  <a:lnTo>
                    <a:pt x="2344326" y="4220003"/>
                  </a:lnTo>
                  <a:lnTo>
                    <a:pt x="2344326" y="4206182"/>
                  </a:lnTo>
                  <a:close/>
                </a:path>
                <a:path w="4261484" h="4220210">
                  <a:moveTo>
                    <a:pt x="2404808" y="4206182"/>
                  </a:moveTo>
                  <a:lnTo>
                    <a:pt x="2386065" y="4206182"/>
                  </a:lnTo>
                  <a:lnTo>
                    <a:pt x="2386065" y="4220003"/>
                  </a:lnTo>
                  <a:lnTo>
                    <a:pt x="2404808" y="4220003"/>
                  </a:lnTo>
                  <a:lnTo>
                    <a:pt x="2404808" y="4206182"/>
                  </a:lnTo>
                  <a:close/>
                </a:path>
                <a:path w="4261484" h="4220210">
                  <a:moveTo>
                    <a:pt x="2562100" y="4206182"/>
                  </a:moveTo>
                  <a:lnTo>
                    <a:pt x="2446353" y="4206182"/>
                  </a:lnTo>
                  <a:lnTo>
                    <a:pt x="2446353" y="4220003"/>
                  </a:lnTo>
                  <a:lnTo>
                    <a:pt x="2562100" y="4220003"/>
                  </a:lnTo>
                  <a:lnTo>
                    <a:pt x="2562100" y="4206182"/>
                  </a:lnTo>
                  <a:close/>
                </a:path>
                <a:path w="4261484" h="4220210">
                  <a:moveTo>
                    <a:pt x="2618138" y="4206182"/>
                  </a:moveTo>
                  <a:lnTo>
                    <a:pt x="2604225" y="4206182"/>
                  </a:lnTo>
                  <a:lnTo>
                    <a:pt x="2604225" y="4220003"/>
                  </a:lnTo>
                  <a:lnTo>
                    <a:pt x="2618138" y="4220003"/>
                  </a:lnTo>
                  <a:lnTo>
                    <a:pt x="2618138" y="4206182"/>
                  </a:lnTo>
                  <a:close/>
                </a:path>
                <a:path w="4261484" h="4220210">
                  <a:moveTo>
                    <a:pt x="2780454" y="4206182"/>
                  </a:moveTo>
                  <a:lnTo>
                    <a:pt x="2664707" y="4206182"/>
                  </a:lnTo>
                  <a:lnTo>
                    <a:pt x="2664707" y="4220003"/>
                  </a:lnTo>
                  <a:lnTo>
                    <a:pt x="2780454" y="4220003"/>
                  </a:lnTo>
                  <a:lnTo>
                    <a:pt x="2780454" y="4206182"/>
                  </a:lnTo>
                  <a:close/>
                </a:path>
                <a:path w="4261484" h="4220210">
                  <a:moveTo>
                    <a:pt x="2836492" y="4206182"/>
                  </a:moveTo>
                  <a:lnTo>
                    <a:pt x="2822579" y="4206182"/>
                  </a:lnTo>
                  <a:lnTo>
                    <a:pt x="2822579" y="4220003"/>
                  </a:lnTo>
                  <a:lnTo>
                    <a:pt x="2836492" y="4220003"/>
                  </a:lnTo>
                  <a:lnTo>
                    <a:pt x="2836492" y="4206182"/>
                  </a:lnTo>
                  <a:close/>
                </a:path>
                <a:path w="4261484" h="4220210">
                  <a:moveTo>
                    <a:pt x="2998808" y="4206182"/>
                  </a:moveTo>
                  <a:lnTo>
                    <a:pt x="2882868" y="4206182"/>
                  </a:lnTo>
                  <a:lnTo>
                    <a:pt x="2882868" y="4220003"/>
                  </a:lnTo>
                  <a:lnTo>
                    <a:pt x="2998808" y="4220003"/>
                  </a:lnTo>
                  <a:lnTo>
                    <a:pt x="2998808" y="4206182"/>
                  </a:lnTo>
                  <a:close/>
                </a:path>
                <a:path w="4261484" h="4220210">
                  <a:moveTo>
                    <a:pt x="3054266" y="4206182"/>
                  </a:moveTo>
                  <a:lnTo>
                    <a:pt x="3040353" y="4206182"/>
                  </a:lnTo>
                  <a:lnTo>
                    <a:pt x="3040353" y="4220003"/>
                  </a:lnTo>
                  <a:lnTo>
                    <a:pt x="3054266" y="4220003"/>
                  </a:lnTo>
                  <a:lnTo>
                    <a:pt x="3054266" y="4206182"/>
                  </a:lnTo>
                  <a:close/>
                </a:path>
                <a:path w="4261484" h="4220210">
                  <a:moveTo>
                    <a:pt x="3216968" y="4206182"/>
                  </a:moveTo>
                  <a:lnTo>
                    <a:pt x="3100642" y="4206182"/>
                  </a:lnTo>
                  <a:lnTo>
                    <a:pt x="3100642" y="4220003"/>
                  </a:lnTo>
                  <a:lnTo>
                    <a:pt x="3216968" y="4220003"/>
                  </a:lnTo>
                  <a:lnTo>
                    <a:pt x="3216968" y="4206182"/>
                  </a:lnTo>
                  <a:close/>
                </a:path>
                <a:path w="4261484" h="4220210">
                  <a:moveTo>
                    <a:pt x="3272426" y="4206182"/>
                  </a:moveTo>
                  <a:lnTo>
                    <a:pt x="3258706" y="4206182"/>
                  </a:lnTo>
                  <a:lnTo>
                    <a:pt x="3258706" y="4220003"/>
                  </a:lnTo>
                  <a:lnTo>
                    <a:pt x="3272426" y="4220003"/>
                  </a:lnTo>
                  <a:lnTo>
                    <a:pt x="3272426" y="4206182"/>
                  </a:lnTo>
                  <a:close/>
                </a:path>
                <a:path w="4261484" h="4220210">
                  <a:moveTo>
                    <a:pt x="3430491" y="4206182"/>
                  </a:moveTo>
                  <a:lnTo>
                    <a:pt x="3314551" y="4206182"/>
                  </a:lnTo>
                  <a:lnTo>
                    <a:pt x="3314551" y="4220003"/>
                  </a:lnTo>
                  <a:lnTo>
                    <a:pt x="3430491" y="4220003"/>
                  </a:lnTo>
                  <a:lnTo>
                    <a:pt x="3430491" y="4206182"/>
                  </a:lnTo>
                  <a:close/>
                </a:path>
                <a:path w="4261484" h="4220210">
                  <a:moveTo>
                    <a:pt x="3490780" y="4206182"/>
                  </a:moveTo>
                  <a:lnTo>
                    <a:pt x="3476867" y="4206182"/>
                  </a:lnTo>
                  <a:lnTo>
                    <a:pt x="3476867" y="4220003"/>
                  </a:lnTo>
                  <a:lnTo>
                    <a:pt x="3490780" y="4220003"/>
                  </a:lnTo>
                  <a:lnTo>
                    <a:pt x="3490780" y="4206182"/>
                  </a:lnTo>
                  <a:close/>
                </a:path>
                <a:path w="4261484" h="4220210">
                  <a:moveTo>
                    <a:pt x="3648651" y="4206182"/>
                  </a:moveTo>
                  <a:lnTo>
                    <a:pt x="3532325" y="4206182"/>
                  </a:lnTo>
                  <a:lnTo>
                    <a:pt x="3532325" y="4220003"/>
                  </a:lnTo>
                  <a:lnTo>
                    <a:pt x="3648651" y="4220003"/>
                  </a:lnTo>
                  <a:lnTo>
                    <a:pt x="3648651" y="4206182"/>
                  </a:lnTo>
                  <a:close/>
                </a:path>
                <a:path w="4261484" h="4220210">
                  <a:moveTo>
                    <a:pt x="3708940" y="4206182"/>
                  </a:moveTo>
                  <a:lnTo>
                    <a:pt x="3695221" y="4206182"/>
                  </a:lnTo>
                  <a:lnTo>
                    <a:pt x="3695221" y="4220003"/>
                  </a:lnTo>
                  <a:lnTo>
                    <a:pt x="3708940" y="4220003"/>
                  </a:lnTo>
                  <a:lnTo>
                    <a:pt x="3708940" y="4206182"/>
                  </a:lnTo>
                  <a:close/>
                </a:path>
                <a:path w="4261484" h="4220210">
                  <a:moveTo>
                    <a:pt x="3867005" y="4206182"/>
                  </a:moveTo>
                  <a:lnTo>
                    <a:pt x="3750679" y="4206182"/>
                  </a:lnTo>
                  <a:lnTo>
                    <a:pt x="3750679" y="4220003"/>
                  </a:lnTo>
                  <a:lnTo>
                    <a:pt x="3867005" y="4220003"/>
                  </a:lnTo>
                  <a:lnTo>
                    <a:pt x="3867005" y="4206182"/>
                  </a:lnTo>
                  <a:close/>
                </a:path>
                <a:path w="4261484" h="4220210">
                  <a:moveTo>
                    <a:pt x="3927294" y="4206182"/>
                  </a:moveTo>
                  <a:lnTo>
                    <a:pt x="3913381" y="4206182"/>
                  </a:lnTo>
                  <a:lnTo>
                    <a:pt x="3913381" y="4220003"/>
                  </a:lnTo>
                  <a:lnTo>
                    <a:pt x="3927294" y="4220003"/>
                  </a:lnTo>
                  <a:lnTo>
                    <a:pt x="3927294" y="4206182"/>
                  </a:lnTo>
                  <a:close/>
                </a:path>
                <a:path w="4261484" h="4220210">
                  <a:moveTo>
                    <a:pt x="4085165" y="4206182"/>
                  </a:moveTo>
                  <a:lnTo>
                    <a:pt x="3968839" y="4206182"/>
                  </a:lnTo>
                  <a:lnTo>
                    <a:pt x="3968839" y="4220003"/>
                  </a:lnTo>
                  <a:lnTo>
                    <a:pt x="4085165" y="4220003"/>
                  </a:lnTo>
                  <a:lnTo>
                    <a:pt x="4085165" y="4206182"/>
                  </a:lnTo>
                  <a:close/>
                </a:path>
                <a:path w="4261484" h="4220210">
                  <a:moveTo>
                    <a:pt x="4145648" y="4206182"/>
                  </a:moveTo>
                  <a:lnTo>
                    <a:pt x="4126904" y="4206182"/>
                  </a:lnTo>
                  <a:lnTo>
                    <a:pt x="4126904" y="4220003"/>
                  </a:lnTo>
                  <a:lnTo>
                    <a:pt x="4145648" y="4220003"/>
                  </a:lnTo>
                  <a:lnTo>
                    <a:pt x="4145648" y="4206182"/>
                  </a:lnTo>
                  <a:close/>
                </a:path>
                <a:path w="4261484" h="4220210">
                  <a:moveTo>
                    <a:pt x="4242651" y="4206182"/>
                  </a:moveTo>
                  <a:lnTo>
                    <a:pt x="4187193" y="4206182"/>
                  </a:lnTo>
                  <a:lnTo>
                    <a:pt x="4187193" y="4220003"/>
                  </a:lnTo>
                  <a:lnTo>
                    <a:pt x="4261394" y="4220003"/>
                  </a:lnTo>
                  <a:lnTo>
                    <a:pt x="4261394" y="4210937"/>
                  </a:lnTo>
                  <a:lnTo>
                    <a:pt x="4242651" y="4210937"/>
                  </a:lnTo>
                  <a:lnTo>
                    <a:pt x="4242651" y="4206182"/>
                  </a:lnTo>
                  <a:close/>
                </a:path>
                <a:path w="4261484" h="4220210">
                  <a:moveTo>
                    <a:pt x="4261394" y="4159928"/>
                  </a:moveTo>
                  <a:lnTo>
                    <a:pt x="4242651" y="4159928"/>
                  </a:lnTo>
                  <a:lnTo>
                    <a:pt x="4242651" y="4210937"/>
                  </a:lnTo>
                  <a:lnTo>
                    <a:pt x="4252312" y="4206182"/>
                  </a:lnTo>
                  <a:lnTo>
                    <a:pt x="4261394" y="4206182"/>
                  </a:lnTo>
                  <a:lnTo>
                    <a:pt x="4261394" y="4159928"/>
                  </a:lnTo>
                  <a:close/>
                </a:path>
                <a:path w="4261484" h="4220210">
                  <a:moveTo>
                    <a:pt x="4261394" y="4206182"/>
                  </a:moveTo>
                  <a:lnTo>
                    <a:pt x="4252312" y="4206182"/>
                  </a:lnTo>
                  <a:lnTo>
                    <a:pt x="4242651" y="4210937"/>
                  </a:lnTo>
                  <a:lnTo>
                    <a:pt x="4261394" y="4210937"/>
                  </a:lnTo>
                  <a:lnTo>
                    <a:pt x="4261394" y="4206182"/>
                  </a:lnTo>
                  <a:close/>
                </a:path>
                <a:path w="4261484" h="4220210">
                  <a:moveTo>
                    <a:pt x="4261394" y="4104125"/>
                  </a:moveTo>
                  <a:lnTo>
                    <a:pt x="4242651" y="4104125"/>
                  </a:lnTo>
                  <a:lnTo>
                    <a:pt x="4242651" y="4117946"/>
                  </a:lnTo>
                  <a:lnTo>
                    <a:pt x="4261394" y="4117946"/>
                  </a:lnTo>
                  <a:lnTo>
                    <a:pt x="4261394" y="4104125"/>
                  </a:lnTo>
                  <a:close/>
                </a:path>
                <a:path w="4261484" h="4220210">
                  <a:moveTo>
                    <a:pt x="4261394" y="3941511"/>
                  </a:moveTo>
                  <a:lnTo>
                    <a:pt x="4242651" y="3941511"/>
                  </a:lnTo>
                  <a:lnTo>
                    <a:pt x="4242651" y="4057388"/>
                  </a:lnTo>
                  <a:lnTo>
                    <a:pt x="4261394" y="4057388"/>
                  </a:lnTo>
                  <a:lnTo>
                    <a:pt x="4261394" y="3941511"/>
                  </a:lnTo>
                  <a:close/>
                </a:path>
                <a:path w="4261484" h="4220210">
                  <a:moveTo>
                    <a:pt x="4261394" y="3885708"/>
                  </a:moveTo>
                  <a:lnTo>
                    <a:pt x="4242651" y="3885708"/>
                  </a:lnTo>
                  <a:lnTo>
                    <a:pt x="4242651" y="3899547"/>
                  </a:lnTo>
                  <a:lnTo>
                    <a:pt x="4261394" y="3899547"/>
                  </a:lnTo>
                  <a:lnTo>
                    <a:pt x="4261394" y="3885708"/>
                  </a:lnTo>
                  <a:close/>
                </a:path>
                <a:path w="4261484" h="4220210">
                  <a:moveTo>
                    <a:pt x="4261394" y="3727384"/>
                  </a:moveTo>
                  <a:lnTo>
                    <a:pt x="4242651" y="3727384"/>
                  </a:lnTo>
                  <a:lnTo>
                    <a:pt x="4242651" y="3843744"/>
                  </a:lnTo>
                  <a:lnTo>
                    <a:pt x="4261394" y="3843744"/>
                  </a:lnTo>
                  <a:lnTo>
                    <a:pt x="4261394" y="3727384"/>
                  </a:lnTo>
                  <a:close/>
                </a:path>
                <a:path w="4261484" h="4220210">
                  <a:moveTo>
                    <a:pt x="4261394" y="3667290"/>
                  </a:moveTo>
                  <a:lnTo>
                    <a:pt x="4242651" y="3667290"/>
                  </a:lnTo>
                  <a:lnTo>
                    <a:pt x="4242651" y="3681130"/>
                  </a:lnTo>
                  <a:lnTo>
                    <a:pt x="4261394" y="3681130"/>
                  </a:lnTo>
                  <a:lnTo>
                    <a:pt x="4261394" y="3667290"/>
                  </a:lnTo>
                  <a:close/>
                </a:path>
                <a:path w="4261484" h="4220210">
                  <a:moveTo>
                    <a:pt x="4261394" y="3508966"/>
                  </a:moveTo>
                  <a:lnTo>
                    <a:pt x="4242651" y="3508966"/>
                  </a:lnTo>
                  <a:lnTo>
                    <a:pt x="4242651" y="3625327"/>
                  </a:lnTo>
                  <a:lnTo>
                    <a:pt x="4261394" y="3625327"/>
                  </a:lnTo>
                  <a:lnTo>
                    <a:pt x="4261394" y="3508966"/>
                  </a:lnTo>
                  <a:close/>
                </a:path>
                <a:path w="4261484" h="4220210">
                  <a:moveTo>
                    <a:pt x="4261394" y="3448408"/>
                  </a:moveTo>
                  <a:lnTo>
                    <a:pt x="4242651" y="3448408"/>
                  </a:lnTo>
                  <a:lnTo>
                    <a:pt x="4242651" y="3462712"/>
                  </a:lnTo>
                  <a:lnTo>
                    <a:pt x="4261394" y="3462712"/>
                  </a:lnTo>
                  <a:lnTo>
                    <a:pt x="4261394" y="3448408"/>
                  </a:lnTo>
                  <a:close/>
                </a:path>
                <a:path w="4261484" h="4220210">
                  <a:moveTo>
                    <a:pt x="4261394" y="3290568"/>
                  </a:moveTo>
                  <a:lnTo>
                    <a:pt x="4242651" y="3290568"/>
                  </a:lnTo>
                  <a:lnTo>
                    <a:pt x="4242651" y="3406928"/>
                  </a:lnTo>
                  <a:lnTo>
                    <a:pt x="4261394" y="3406928"/>
                  </a:lnTo>
                  <a:lnTo>
                    <a:pt x="4261394" y="3290568"/>
                  </a:lnTo>
                  <a:close/>
                </a:path>
                <a:path w="4261484" h="4220210">
                  <a:moveTo>
                    <a:pt x="4261394" y="3229991"/>
                  </a:moveTo>
                  <a:lnTo>
                    <a:pt x="4242651" y="3229991"/>
                  </a:lnTo>
                  <a:lnTo>
                    <a:pt x="4242651" y="3244294"/>
                  </a:lnTo>
                  <a:lnTo>
                    <a:pt x="4261394" y="3244294"/>
                  </a:lnTo>
                  <a:lnTo>
                    <a:pt x="4261394" y="3229991"/>
                  </a:lnTo>
                  <a:close/>
                </a:path>
                <a:path w="4261484" h="4220210">
                  <a:moveTo>
                    <a:pt x="4261394" y="3072150"/>
                  </a:moveTo>
                  <a:lnTo>
                    <a:pt x="4242651" y="3072150"/>
                  </a:lnTo>
                  <a:lnTo>
                    <a:pt x="4242651" y="3188511"/>
                  </a:lnTo>
                  <a:lnTo>
                    <a:pt x="4261394" y="3188511"/>
                  </a:lnTo>
                  <a:lnTo>
                    <a:pt x="4261394" y="3072150"/>
                  </a:lnTo>
                  <a:close/>
                </a:path>
                <a:path w="4261484" h="4220210">
                  <a:moveTo>
                    <a:pt x="4261394" y="3011593"/>
                  </a:moveTo>
                  <a:lnTo>
                    <a:pt x="4242651" y="3011593"/>
                  </a:lnTo>
                  <a:lnTo>
                    <a:pt x="4242651" y="3030187"/>
                  </a:lnTo>
                  <a:lnTo>
                    <a:pt x="4261394" y="3030187"/>
                  </a:lnTo>
                  <a:lnTo>
                    <a:pt x="4261394" y="3011593"/>
                  </a:lnTo>
                  <a:close/>
                </a:path>
                <a:path w="4261484" h="4220210">
                  <a:moveTo>
                    <a:pt x="4261394" y="2853733"/>
                  </a:moveTo>
                  <a:lnTo>
                    <a:pt x="4242651" y="2853733"/>
                  </a:lnTo>
                  <a:lnTo>
                    <a:pt x="4242651" y="2970093"/>
                  </a:lnTo>
                  <a:lnTo>
                    <a:pt x="4261394" y="2970093"/>
                  </a:lnTo>
                  <a:lnTo>
                    <a:pt x="4261394" y="2853733"/>
                  </a:lnTo>
                  <a:close/>
                </a:path>
                <a:path w="4261484" h="4220210">
                  <a:moveTo>
                    <a:pt x="4261394" y="2797872"/>
                  </a:moveTo>
                  <a:lnTo>
                    <a:pt x="4242651" y="2797872"/>
                  </a:lnTo>
                  <a:lnTo>
                    <a:pt x="4242651" y="2811789"/>
                  </a:lnTo>
                  <a:lnTo>
                    <a:pt x="4261394" y="2811789"/>
                  </a:lnTo>
                  <a:lnTo>
                    <a:pt x="4261394" y="2797872"/>
                  </a:lnTo>
                  <a:close/>
                </a:path>
                <a:path w="4261484" h="4220210">
                  <a:moveTo>
                    <a:pt x="4261394" y="2635315"/>
                  </a:moveTo>
                  <a:lnTo>
                    <a:pt x="4242651" y="2635315"/>
                  </a:lnTo>
                  <a:lnTo>
                    <a:pt x="4242651" y="2751675"/>
                  </a:lnTo>
                  <a:lnTo>
                    <a:pt x="4261394" y="2751675"/>
                  </a:lnTo>
                  <a:lnTo>
                    <a:pt x="4261394" y="2635315"/>
                  </a:lnTo>
                  <a:close/>
                </a:path>
                <a:path w="4261484" h="4220210">
                  <a:moveTo>
                    <a:pt x="4261394" y="2579454"/>
                  </a:moveTo>
                  <a:lnTo>
                    <a:pt x="4242651" y="2579454"/>
                  </a:lnTo>
                  <a:lnTo>
                    <a:pt x="4242651" y="2593371"/>
                  </a:lnTo>
                  <a:lnTo>
                    <a:pt x="4261394" y="2593371"/>
                  </a:lnTo>
                  <a:lnTo>
                    <a:pt x="4261394" y="2579454"/>
                  </a:lnTo>
                  <a:close/>
                </a:path>
                <a:path w="4261484" h="4220210">
                  <a:moveTo>
                    <a:pt x="4261394" y="2416897"/>
                  </a:moveTo>
                  <a:lnTo>
                    <a:pt x="4242651" y="2416897"/>
                  </a:lnTo>
                  <a:lnTo>
                    <a:pt x="4242651" y="2532871"/>
                  </a:lnTo>
                  <a:lnTo>
                    <a:pt x="4261394" y="2532871"/>
                  </a:lnTo>
                  <a:lnTo>
                    <a:pt x="4261394" y="2416897"/>
                  </a:lnTo>
                  <a:close/>
                </a:path>
                <a:path w="4261484" h="4220210">
                  <a:moveTo>
                    <a:pt x="4261394" y="2361036"/>
                  </a:moveTo>
                  <a:lnTo>
                    <a:pt x="4242651" y="2361036"/>
                  </a:lnTo>
                  <a:lnTo>
                    <a:pt x="4242651" y="2374953"/>
                  </a:lnTo>
                  <a:lnTo>
                    <a:pt x="4261394" y="2374953"/>
                  </a:lnTo>
                  <a:lnTo>
                    <a:pt x="4261394" y="2361036"/>
                  </a:lnTo>
                  <a:close/>
                </a:path>
                <a:path w="4261484" h="4220210">
                  <a:moveTo>
                    <a:pt x="4261394" y="2198480"/>
                  </a:moveTo>
                  <a:lnTo>
                    <a:pt x="4242651" y="2198480"/>
                  </a:lnTo>
                  <a:lnTo>
                    <a:pt x="4242651" y="2314454"/>
                  </a:lnTo>
                  <a:lnTo>
                    <a:pt x="4261394" y="2314454"/>
                  </a:lnTo>
                  <a:lnTo>
                    <a:pt x="4261394" y="2198480"/>
                  </a:lnTo>
                  <a:close/>
                </a:path>
                <a:path w="4261484" h="4220210">
                  <a:moveTo>
                    <a:pt x="4261394" y="2142619"/>
                  </a:moveTo>
                  <a:lnTo>
                    <a:pt x="4242651" y="2142619"/>
                  </a:lnTo>
                  <a:lnTo>
                    <a:pt x="4242651" y="2156536"/>
                  </a:lnTo>
                  <a:lnTo>
                    <a:pt x="4261394" y="2156536"/>
                  </a:lnTo>
                  <a:lnTo>
                    <a:pt x="4261394" y="2142619"/>
                  </a:lnTo>
                  <a:close/>
                </a:path>
                <a:path w="4261484" h="4220210">
                  <a:moveTo>
                    <a:pt x="4261394" y="1984314"/>
                  </a:moveTo>
                  <a:lnTo>
                    <a:pt x="4242651" y="1984314"/>
                  </a:lnTo>
                  <a:lnTo>
                    <a:pt x="4242651" y="2100675"/>
                  </a:lnTo>
                  <a:lnTo>
                    <a:pt x="4261394" y="2100675"/>
                  </a:lnTo>
                  <a:lnTo>
                    <a:pt x="4261394" y="1984314"/>
                  </a:lnTo>
                  <a:close/>
                </a:path>
                <a:path w="4261484" h="4220210">
                  <a:moveTo>
                    <a:pt x="4261394" y="1924201"/>
                  </a:moveTo>
                  <a:lnTo>
                    <a:pt x="4242651" y="1924201"/>
                  </a:lnTo>
                  <a:lnTo>
                    <a:pt x="4242651" y="1938118"/>
                  </a:lnTo>
                  <a:lnTo>
                    <a:pt x="4261394" y="1938118"/>
                  </a:lnTo>
                  <a:lnTo>
                    <a:pt x="4261394" y="1924201"/>
                  </a:lnTo>
                  <a:close/>
                </a:path>
                <a:path w="4261484" h="4220210">
                  <a:moveTo>
                    <a:pt x="4261394" y="1765897"/>
                  </a:moveTo>
                  <a:lnTo>
                    <a:pt x="4242651" y="1765897"/>
                  </a:lnTo>
                  <a:lnTo>
                    <a:pt x="4242651" y="1882257"/>
                  </a:lnTo>
                  <a:lnTo>
                    <a:pt x="4261394" y="1882257"/>
                  </a:lnTo>
                  <a:lnTo>
                    <a:pt x="4261394" y="1765897"/>
                  </a:lnTo>
                  <a:close/>
                </a:path>
                <a:path w="4261484" h="4220210">
                  <a:moveTo>
                    <a:pt x="4261394" y="1705783"/>
                  </a:moveTo>
                  <a:lnTo>
                    <a:pt x="4242651" y="1705783"/>
                  </a:lnTo>
                  <a:lnTo>
                    <a:pt x="4242651" y="1719700"/>
                  </a:lnTo>
                  <a:lnTo>
                    <a:pt x="4261394" y="1719700"/>
                  </a:lnTo>
                  <a:lnTo>
                    <a:pt x="4261394" y="1705783"/>
                  </a:lnTo>
                  <a:close/>
                </a:path>
                <a:path w="4261484" h="4220210">
                  <a:moveTo>
                    <a:pt x="4261394" y="1547479"/>
                  </a:moveTo>
                  <a:lnTo>
                    <a:pt x="4242651" y="1547479"/>
                  </a:lnTo>
                  <a:lnTo>
                    <a:pt x="4242651" y="1663840"/>
                  </a:lnTo>
                  <a:lnTo>
                    <a:pt x="4261394" y="1663840"/>
                  </a:lnTo>
                  <a:lnTo>
                    <a:pt x="4261394" y="1547479"/>
                  </a:lnTo>
                  <a:close/>
                </a:path>
                <a:path w="4261484" h="4220210">
                  <a:moveTo>
                    <a:pt x="4261394" y="1487559"/>
                  </a:moveTo>
                  <a:lnTo>
                    <a:pt x="4242650" y="1487559"/>
                  </a:lnTo>
                  <a:lnTo>
                    <a:pt x="4242650" y="1501283"/>
                  </a:lnTo>
                  <a:lnTo>
                    <a:pt x="4261394" y="1501283"/>
                  </a:lnTo>
                  <a:lnTo>
                    <a:pt x="4261394" y="1487559"/>
                  </a:lnTo>
                  <a:close/>
                </a:path>
                <a:path w="4261484" h="4220210">
                  <a:moveTo>
                    <a:pt x="4261394" y="1329061"/>
                  </a:moveTo>
                  <a:lnTo>
                    <a:pt x="4242650" y="1329061"/>
                  </a:lnTo>
                  <a:lnTo>
                    <a:pt x="4242650" y="1445422"/>
                  </a:lnTo>
                  <a:lnTo>
                    <a:pt x="4261394" y="1445422"/>
                  </a:lnTo>
                  <a:lnTo>
                    <a:pt x="4261394" y="1329061"/>
                  </a:lnTo>
                  <a:close/>
                </a:path>
                <a:path w="4261484" h="4220210">
                  <a:moveTo>
                    <a:pt x="4261394" y="1268562"/>
                  </a:moveTo>
                  <a:lnTo>
                    <a:pt x="4242650" y="1268562"/>
                  </a:lnTo>
                  <a:lnTo>
                    <a:pt x="4242650" y="1287117"/>
                  </a:lnTo>
                  <a:lnTo>
                    <a:pt x="4261394" y="1287117"/>
                  </a:lnTo>
                  <a:lnTo>
                    <a:pt x="4261394" y="1268562"/>
                  </a:lnTo>
                  <a:close/>
                </a:path>
                <a:path w="4261484" h="4220210">
                  <a:moveTo>
                    <a:pt x="4261394" y="1110644"/>
                  </a:moveTo>
                  <a:lnTo>
                    <a:pt x="4242650" y="1110644"/>
                  </a:lnTo>
                  <a:lnTo>
                    <a:pt x="4242650" y="1227004"/>
                  </a:lnTo>
                  <a:lnTo>
                    <a:pt x="4261394" y="1227004"/>
                  </a:lnTo>
                  <a:lnTo>
                    <a:pt x="4261394" y="1110644"/>
                  </a:lnTo>
                  <a:close/>
                </a:path>
                <a:path w="4261484" h="4220210">
                  <a:moveTo>
                    <a:pt x="4261394" y="1054976"/>
                  </a:moveTo>
                  <a:lnTo>
                    <a:pt x="4242650" y="1054976"/>
                  </a:lnTo>
                  <a:lnTo>
                    <a:pt x="4242650" y="1068700"/>
                  </a:lnTo>
                  <a:lnTo>
                    <a:pt x="4261394" y="1068700"/>
                  </a:lnTo>
                  <a:lnTo>
                    <a:pt x="4261394" y="1054976"/>
                  </a:lnTo>
                  <a:close/>
                </a:path>
                <a:path w="4261484" h="4220210">
                  <a:moveTo>
                    <a:pt x="4261394" y="892226"/>
                  </a:moveTo>
                  <a:lnTo>
                    <a:pt x="4242650" y="892226"/>
                  </a:lnTo>
                  <a:lnTo>
                    <a:pt x="4242650" y="1008587"/>
                  </a:lnTo>
                  <a:lnTo>
                    <a:pt x="4261394" y="1008587"/>
                  </a:lnTo>
                  <a:lnTo>
                    <a:pt x="4261394" y="892226"/>
                  </a:lnTo>
                  <a:close/>
                </a:path>
                <a:path w="4261484" h="4220210">
                  <a:moveTo>
                    <a:pt x="4261394" y="836558"/>
                  </a:moveTo>
                  <a:lnTo>
                    <a:pt x="4242650" y="836558"/>
                  </a:lnTo>
                  <a:lnTo>
                    <a:pt x="4242650" y="850282"/>
                  </a:lnTo>
                  <a:lnTo>
                    <a:pt x="4261394" y="850282"/>
                  </a:lnTo>
                  <a:lnTo>
                    <a:pt x="4261394" y="836558"/>
                  </a:lnTo>
                  <a:close/>
                </a:path>
                <a:path w="4261484" h="4220210">
                  <a:moveTo>
                    <a:pt x="4261394" y="673808"/>
                  </a:moveTo>
                  <a:lnTo>
                    <a:pt x="4242650" y="673808"/>
                  </a:lnTo>
                  <a:lnTo>
                    <a:pt x="4242650" y="790169"/>
                  </a:lnTo>
                  <a:lnTo>
                    <a:pt x="4261394" y="790169"/>
                  </a:lnTo>
                  <a:lnTo>
                    <a:pt x="4261394" y="673808"/>
                  </a:lnTo>
                  <a:close/>
                </a:path>
                <a:path w="4261484" h="4220210">
                  <a:moveTo>
                    <a:pt x="4261394" y="618141"/>
                  </a:moveTo>
                  <a:lnTo>
                    <a:pt x="4242650" y="618141"/>
                  </a:lnTo>
                  <a:lnTo>
                    <a:pt x="4242650" y="631864"/>
                  </a:lnTo>
                  <a:lnTo>
                    <a:pt x="4261394" y="631864"/>
                  </a:lnTo>
                  <a:lnTo>
                    <a:pt x="4261394" y="618141"/>
                  </a:lnTo>
                  <a:close/>
                </a:path>
                <a:path w="4261484" h="4220210">
                  <a:moveTo>
                    <a:pt x="4261394" y="455584"/>
                  </a:moveTo>
                  <a:lnTo>
                    <a:pt x="4242650" y="455584"/>
                  </a:lnTo>
                  <a:lnTo>
                    <a:pt x="4242650" y="571365"/>
                  </a:lnTo>
                  <a:lnTo>
                    <a:pt x="4261394" y="571365"/>
                  </a:lnTo>
                  <a:lnTo>
                    <a:pt x="4261394" y="455584"/>
                  </a:lnTo>
                  <a:close/>
                </a:path>
                <a:path w="4261484" h="4220210">
                  <a:moveTo>
                    <a:pt x="4261394" y="399723"/>
                  </a:moveTo>
                  <a:lnTo>
                    <a:pt x="4242650" y="399723"/>
                  </a:lnTo>
                  <a:lnTo>
                    <a:pt x="4242650" y="413447"/>
                  </a:lnTo>
                  <a:lnTo>
                    <a:pt x="4261394" y="413447"/>
                  </a:lnTo>
                  <a:lnTo>
                    <a:pt x="4261394" y="399723"/>
                  </a:lnTo>
                  <a:close/>
                </a:path>
                <a:path w="4261484" h="4220210">
                  <a:moveTo>
                    <a:pt x="4261394" y="241805"/>
                  </a:moveTo>
                  <a:lnTo>
                    <a:pt x="4242650" y="241805"/>
                  </a:lnTo>
                  <a:lnTo>
                    <a:pt x="4242650" y="357779"/>
                  </a:lnTo>
                  <a:lnTo>
                    <a:pt x="4261394" y="357779"/>
                  </a:lnTo>
                  <a:lnTo>
                    <a:pt x="4261394" y="241805"/>
                  </a:lnTo>
                  <a:close/>
                </a:path>
                <a:path w="4261484" h="4220210">
                  <a:moveTo>
                    <a:pt x="4261394" y="181305"/>
                  </a:moveTo>
                  <a:lnTo>
                    <a:pt x="4242650" y="181305"/>
                  </a:lnTo>
                  <a:lnTo>
                    <a:pt x="4242650" y="195029"/>
                  </a:lnTo>
                  <a:lnTo>
                    <a:pt x="4261394" y="195029"/>
                  </a:lnTo>
                  <a:lnTo>
                    <a:pt x="4261394" y="181305"/>
                  </a:lnTo>
                  <a:close/>
                </a:path>
                <a:path w="4261484" h="4220210">
                  <a:moveTo>
                    <a:pt x="4261394" y="23001"/>
                  </a:moveTo>
                  <a:lnTo>
                    <a:pt x="4242650" y="23001"/>
                  </a:lnTo>
                  <a:lnTo>
                    <a:pt x="4242650" y="139362"/>
                  </a:lnTo>
                  <a:lnTo>
                    <a:pt x="4261394" y="139362"/>
                  </a:lnTo>
                  <a:lnTo>
                    <a:pt x="4261394" y="23001"/>
                  </a:lnTo>
                  <a:close/>
                </a:path>
              </a:pathLst>
            </a:custGeom>
            <a:solidFill>
              <a:srgbClr val="000000"/>
            </a:solidFill>
          </p:spPr>
          <p:txBody>
            <a:bodyPr wrap="square" lIns="0" tIns="0" rIns="0" bIns="0" rtlCol="0"/>
            <a:lstStyle/>
            <a:p/>
          </p:txBody>
        </p:sp>
        <p:sp>
          <p:nvSpPr>
            <p:cNvPr id="27" name="object 27" descr=""/>
            <p:cNvSpPr/>
            <p:nvPr/>
          </p:nvSpPr>
          <p:spPr>
            <a:xfrm>
              <a:off x="3486260" y="1680471"/>
              <a:ext cx="4252595" cy="19050"/>
            </a:xfrm>
            <a:custGeom>
              <a:avLst/>
              <a:gdLst/>
              <a:ahLst/>
              <a:cxnLst/>
              <a:rect l="l" t="t" r="r" b="b"/>
              <a:pathLst>
                <a:path w="4252595" h="19050">
                  <a:moveTo>
                    <a:pt x="4252312" y="18749"/>
                  </a:moveTo>
                  <a:lnTo>
                    <a:pt x="4135986" y="18749"/>
                  </a:lnTo>
                  <a:lnTo>
                    <a:pt x="4135986" y="0"/>
                  </a:lnTo>
                  <a:lnTo>
                    <a:pt x="4252312" y="0"/>
                  </a:lnTo>
                  <a:lnTo>
                    <a:pt x="4252312" y="18749"/>
                  </a:lnTo>
                  <a:close/>
                </a:path>
                <a:path w="4252595" h="19050">
                  <a:moveTo>
                    <a:pt x="4094247" y="18749"/>
                  </a:moveTo>
                  <a:lnTo>
                    <a:pt x="4080528" y="18749"/>
                  </a:lnTo>
                  <a:lnTo>
                    <a:pt x="4080528" y="0"/>
                  </a:lnTo>
                  <a:lnTo>
                    <a:pt x="4094247" y="0"/>
                  </a:lnTo>
                  <a:lnTo>
                    <a:pt x="4094247" y="18749"/>
                  </a:lnTo>
                  <a:close/>
                </a:path>
                <a:path w="4252595" h="19050">
                  <a:moveTo>
                    <a:pt x="4033958" y="18749"/>
                  </a:moveTo>
                  <a:lnTo>
                    <a:pt x="3917632" y="18749"/>
                  </a:lnTo>
                  <a:lnTo>
                    <a:pt x="3917632" y="0"/>
                  </a:lnTo>
                  <a:lnTo>
                    <a:pt x="4033958" y="0"/>
                  </a:lnTo>
                  <a:lnTo>
                    <a:pt x="4033958" y="18749"/>
                  </a:lnTo>
                  <a:close/>
                </a:path>
                <a:path w="4252595" h="19050">
                  <a:moveTo>
                    <a:pt x="3876087" y="18749"/>
                  </a:moveTo>
                  <a:lnTo>
                    <a:pt x="3862174" y="18749"/>
                  </a:lnTo>
                  <a:lnTo>
                    <a:pt x="3862174" y="0"/>
                  </a:lnTo>
                  <a:lnTo>
                    <a:pt x="3876087" y="0"/>
                  </a:lnTo>
                  <a:lnTo>
                    <a:pt x="3876087" y="18749"/>
                  </a:lnTo>
                  <a:close/>
                </a:path>
                <a:path w="4252595" h="19050">
                  <a:moveTo>
                    <a:pt x="3815798" y="18749"/>
                  </a:moveTo>
                  <a:lnTo>
                    <a:pt x="3699858" y="18749"/>
                  </a:lnTo>
                  <a:lnTo>
                    <a:pt x="3699858" y="0"/>
                  </a:lnTo>
                  <a:lnTo>
                    <a:pt x="3815798" y="0"/>
                  </a:lnTo>
                  <a:lnTo>
                    <a:pt x="3815798" y="18749"/>
                  </a:lnTo>
                  <a:close/>
                </a:path>
                <a:path w="4252595" h="19050">
                  <a:moveTo>
                    <a:pt x="3657733" y="18749"/>
                  </a:moveTo>
                  <a:lnTo>
                    <a:pt x="3644014" y="18749"/>
                  </a:lnTo>
                  <a:lnTo>
                    <a:pt x="3644014" y="0"/>
                  </a:lnTo>
                  <a:lnTo>
                    <a:pt x="3657733" y="0"/>
                  </a:lnTo>
                  <a:lnTo>
                    <a:pt x="3657733" y="18749"/>
                  </a:lnTo>
                  <a:close/>
                </a:path>
                <a:path w="4252595" h="19050">
                  <a:moveTo>
                    <a:pt x="3597444" y="18749"/>
                  </a:moveTo>
                  <a:lnTo>
                    <a:pt x="3481698" y="18749"/>
                  </a:lnTo>
                  <a:lnTo>
                    <a:pt x="3481698" y="0"/>
                  </a:lnTo>
                  <a:lnTo>
                    <a:pt x="3597444" y="0"/>
                  </a:lnTo>
                  <a:lnTo>
                    <a:pt x="3597444" y="18749"/>
                  </a:lnTo>
                  <a:close/>
                </a:path>
                <a:path w="4252595" h="19050">
                  <a:moveTo>
                    <a:pt x="3439573" y="18749"/>
                  </a:moveTo>
                  <a:lnTo>
                    <a:pt x="3425660" y="18749"/>
                  </a:lnTo>
                  <a:lnTo>
                    <a:pt x="3425660" y="0"/>
                  </a:lnTo>
                  <a:lnTo>
                    <a:pt x="3439573" y="0"/>
                  </a:lnTo>
                  <a:lnTo>
                    <a:pt x="3439573" y="18749"/>
                  </a:lnTo>
                  <a:close/>
                </a:path>
                <a:path w="4252595" h="19050">
                  <a:moveTo>
                    <a:pt x="3384115" y="18749"/>
                  </a:moveTo>
                  <a:lnTo>
                    <a:pt x="3268175" y="18749"/>
                  </a:lnTo>
                  <a:lnTo>
                    <a:pt x="3268175" y="0"/>
                  </a:lnTo>
                  <a:lnTo>
                    <a:pt x="3384115" y="0"/>
                  </a:lnTo>
                  <a:lnTo>
                    <a:pt x="3384115" y="18749"/>
                  </a:lnTo>
                  <a:close/>
                </a:path>
                <a:path w="4252595" h="19050">
                  <a:moveTo>
                    <a:pt x="3221799" y="18749"/>
                  </a:moveTo>
                  <a:lnTo>
                    <a:pt x="3207886" y="18749"/>
                  </a:lnTo>
                  <a:lnTo>
                    <a:pt x="3207886" y="0"/>
                  </a:lnTo>
                  <a:lnTo>
                    <a:pt x="3221799" y="0"/>
                  </a:lnTo>
                  <a:lnTo>
                    <a:pt x="3221799" y="18749"/>
                  </a:lnTo>
                  <a:close/>
                </a:path>
                <a:path w="4252595" h="19050">
                  <a:moveTo>
                    <a:pt x="3165761" y="18749"/>
                  </a:moveTo>
                  <a:lnTo>
                    <a:pt x="3050014" y="18749"/>
                  </a:lnTo>
                  <a:lnTo>
                    <a:pt x="3050014" y="0"/>
                  </a:lnTo>
                  <a:lnTo>
                    <a:pt x="3165761" y="0"/>
                  </a:lnTo>
                  <a:lnTo>
                    <a:pt x="3165761" y="18749"/>
                  </a:lnTo>
                  <a:close/>
                </a:path>
                <a:path w="4252595" h="19050">
                  <a:moveTo>
                    <a:pt x="3003445" y="18749"/>
                  </a:moveTo>
                  <a:lnTo>
                    <a:pt x="2989532" y="18749"/>
                  </a:lnTo>
                  <a:lnTo>
                    <a:pt x="2989532" y="0"/>
                  </a:lnTo>
                  <a:lnTo>
                    <a:pt x="3003445" y="0"/>
                  </a:lnTo>
                  <a:lnTo>
                    <a:pt x="3003445" y="18749"/>
                  </a:lnTo>
                  <a:close/>
                </a:path>
                <a:path w="4252595" h="19050">
                  <a:moveTo>
                    <a:pt x="2947407" y="18749"/>
                  </a:moveTo>
                  <a:lnTo>
                    <a:pt x="2831660" y="18749"/>
                  </a:lnTo>
                  <a:lnTo>
                    <a:pt x="2831660" y="0"/>
                  </a:lnTo>
                  <a:lnTo>
                    <a:pt x="2947407" y="0"/>
                  </a:lnTo>
                  <a:lnTo>
                    <a:pt x="2947407" y="18749"/>
                  </a:lnTo>
                  <a:close/>
                </a:path>
                <a:path w="4252595" h="19050">
                  <a:moveTo>
                    <a:pt x="2785284" y="18749"/>
                  </a:moveTo>
                  <a:lnTo>
                    <a:pt x="2771372" y="18749"/>
                  </a:lnTo>
                  <a:lnTo>
                    <a:pt x="2771372" y="0"/>
                  </a:lnTo>
                  <a:lnTo>
                    <a:pt x="2785284" y="0"/>
                  </a:lnTo>
                  <a:lnTo>
                    <a:pt x="2785284" y="18749"/>
                  </a:lnTo>
                  <a:close/>
                </a:path>
                <a:path w="4252595" h="19050">
                  <a:moveTo>
                    <a:pt x="2729633" y="18749"/>
                  </a:moveTo>
                  <a:lnTo>
                    <a:pt x="2613500" y="18749"/>
                  </a:lnTo>
                  <a:lnTo>
                    <a:pt x="2613500" y="0"/>
                  </a:lnTo>
                  <a:lnTo>
                    <a:pt x="2729633" y="0"/>
                  </a:lnTo>
                  <a:lnTo>
                    <a:pt x="2729633" y="18749"/>
                  </a:lnTo>
                  <a:close/>
                </a:path>
                <a:path w="4252595" h="19050">
                  <a:moveTo>
                    <a:pt x="2571762" y="18749"/>
                  </a:moveTo>
                  <a:lnTo>
                    <a:pt x="2553018" y="18749"/>
                  </a:lnTo>
                  <a:lnTo>
                    <a:pt x="2553018" y="0"/>
                  </a:lnTo>
                  <a:lnTo>
                    <a:pt x="2571762" y="0"/>
                  </a:lnTo>
                  <a:lnTo>
                    <a:pt x="2571762" y="18749"/>
                  </a:lnTo>
                  <a:close/>
                </a:path>
                <a:path w="4252595" h="19050">
                  <a:moveTo>
                    <a:pt x="2511473" y="18749"/>
                  </a:moveTo>
                  <a:lnTo>
                    <a:pt x="2395146" y="18749"/>
                  </a:lnTo>
                  <a:lnTo>
                    <a:pt x="2395146" y="0"/>
                  </a:lnTo>
                  <a:lnTo>
                    <a:pt x="2511473" y="0"/>
                  </a:lnTo>
                  <a:lnTo>
                    <a:pt x="2511473" y="18749"/>
                  </a:lnTo>
                  <a:close/>
                </a:path>
                <a:path w="4252595" h="19050">
                  <a:moveTo>
                    <a:pt x="2353408" y="18749"/>
                  </a:moveTo>
                  <a:lnTo>
                    <a:pt x="2339688" y="18749"/>
                  </a:lnTo>
                  <a:lnTo>
                    <a:pt x="2339688" y="0"/>
                  </a:lnTo>
                  <a:lnTo>
                    <a:pt x="2353408" y="0"/>
                  </a:lnTo>
                  <a:lnTo>
                    <a:pt x="2353408" y="18749"/>
                  </a:lnTo>
                  <a:close/>
                </a:path>
                <a:path w="4252595" h="19050">
                  <a:moveTo>
                    <a:pt x="2293119" y="18749"/>
                  </a:moveTo>
                  <a:lnTo>
                    <a:pt x="2176793" y="18749"/>
                  </a:lnTo>
                  <a:lnTo>
                    <a:pt x="2176793" y="0"/>
                  </a:lnTo>
                  <a:lnTo>
                    <a:pt x="2293119" y="0"/>
                  </a:lnTo>
                  <a:lnTo>
                    <a:pt x="2293119" y="18749"/>
                  </a:lnTo>
                  <a:close/>
                </a:path>
                <a:path w="4252595" h="19050">
                  <a:moveTo>
                    <a:pt x="2135247" y="18749"/>
                  </a:moveTo>
                  <a:lnTo>
                    <a:pt x="2121335" y="18749"/>
                  </a:lnTo>
                  <a:lnTo>
                    <a:pt x="2121335" y="0"/>
                  </a:lnTo>
                  <a:lnTo>
                    <a:pt x="2135247" y="0"/>
                  </a:lnTo>
                  <a:lnTo>
                    <a:pt x="2135247" y="18749"/>
                  </a:lnTo>
                  <a:close/>
                </a:path>
                <a:path w="4252595" h="19050">
                  <a:moveTo>
                    <a:pt x="2074959" y="18749"/>
                  </a:moveTo>
                  <a:lnTo>
                    <a:pt x="1959019" y="18749"/>
                  </a:lnTo>
                  <a:lnTo>
                    <a:pt x="1959019" y="0"/>
                  </a:lnTo>
                  <a:lnTo>
                    <a:pt x="2074959" y="0"/>
                  </a:lnTo>
                  <a:lnTo>
                    <a:pt x="2074959" y="18749"/>
                  </a:lnTo>
                  <a:close/>
                </a:path>
                <a:path w="4252595" h="19050">
                  <a:moveTo>
                    <a:pt x="1916894" y="18749"/>
                  </a:moveTo>
                  <a:lnTo>
                    <a:pt x="1903174" y="18749"/>
                  </a:lnTo>
                  <a:lnTo>
                    <a:pt x="1903174" y="0"/>
                  </a:lnTo>
                  <a:lnTo>
                    <a:pt x="1916894" y="0"/>
                  </a:lnTo>
                  <a:lnTo>
                    <a:pt x="1916894" y="18749"/>
                  </a:lnTo>
                  <a:close/>
                </a:path>
                <a:path w="4252595" h="19050">
                  <a:moveTo>
                    <a:pt x="1856663" y="18749"/>
                  </a:moveTo>
                  <a:lnTo>
                    <a:pt x="1740839" y="18749"/>
                  </a:lnTo>
                  <a:lnTo>
                    <a:pt x="1740839" y="0"/>
                  </a:lnTo>
                  <a:lnTo>
                    <a:pt x="1856663" y="0"/>
                  </a:lnTo>
                  <a:lnTo>
                    <a:pt x="1856663" y="18749"/>
                  </a:lnTo>
                  <a:close/>
                </a:path>
                <a:path w="4252595" h="19050">
                  <a:moveTo>
                    <a:pt x="1698714" y="18749"/>
                  </a:moveTo>
                  <a:lnTo>
                    <a:pt x="1684840" y="18749"/>
                  </a:lnTo>
                  <a:lnTo>
                    <a:pt x="1684840" y="0"/>
                  </a:lnTo>
                  <a:lnTo>
                    <a:pt x="1698714" y="0"/>
                  </a:lnTo>
                  <a:lnTo>
                    <a:pt x="1698714" y="18749"/>
                  </a:lnTo>
                  <a:close/>
                </a:path>
                <a:path w="4252595" h="19050">
                  <a:moveTo>
                    <a:pt x="1643198" y="18749"/>
                  </a:moveTo>
                  <a:lnTo>
                    <a:pt x="1527355" y="18749"/>
                  </a:lnTo>
                  <a:lnTo>
                    <a:pt x="1527355" y="0"/>
                  </a:lnTo>
                  <a:lnTo>
                    <a:pt x="1643198" y="0"/>
                  </a:lnTo>
                  <a:lnTo>
                    <a:pt x="1643198" y="18749"/>
                  </a:lnTo>
                  <a:close/>
                </a:path>
                <a:path w="4252595" h="19050">
                  <a:moveTo>
                    <a:pt x="1480940" y="18749"/>
                  </a:moveTo>
                  <a:lnTo>
                    <a:pt x="1467046" y="18749"/>
                  </a:lnTo>
                  <a:lnTo>
                    <a:pt x="1467046" y="0"/>
                  </a:lnTo>
                  <a:lnTo>
                    <a:pt x="1480940" y="0"/>
                  </a:lnTo>
                  <a:lnTo>
                    <a:pt x="1480940" y="18749"/>
                  </a:lnTo>
                  <a:close/>
                </a:path>
                <a:path w="4252595" h="19050">
                  <a:moveTo>
                    <a:pt x="1424922" y="18749"/>
                  </a:moveTo>
                  <a:lnTo>
                    <a:pt x="1309098" y="18749"/>
                  </a:lnTo>
                  <a:lnTo>
                    <a:pt x="1309098" y="0"/>
                  </a:lnTo>
                  <a:lnTo>
                    <a:pt x="1424922" y="0"/>
                  </a:lnTo>
                  <a:lnTo>
                    <a:pt x="1424922" y="18749"/>
                  </a:lnTo>
                  <a:close/>
                </a:path>
                <a:path w="4252595" h="19050">
                  <a:moveTo>
                    <a:pt x="1262664" y="18749"/>
                  </a:moveTo>
                  <a:lnTo>
                    <a:pt x="1248789" y="18749"/>
                  </a:lnTo>
                  <a:lnTo>
                    <a:pt x="1248789" y="0"/>
                  </a:lnTo>
                  <a:lnTo>
                    <a:pt x="1262664" y="0"/>
                  </a:lnTo>
                  <a:lnTo>
                    <a:pt x="1262664" y="18749"/>
                  </a:lnTo>
                  <a:close/>
                </a:path>
                <a:path w="4252595" h="19050">
                  <a:moveTo>
                    <a:pt x="1206665" y="18749"/>
                  </a:moveTo>
                  <a:lnTo>
                    <a:pt x="1090840" y="18749"/>
                  </a:lnTo>
                  <a:lnTo>
                    <a:pt x="1090840" y="0"/>
                  </a:lnTo>
                  <a:lnTo>
                    <a:pt x="1206665" y="0"/>
                  </a:lnTo>
                  <a:lnTo>
                    <a:pt x="1206665" y="18749"/>
                  </a:lnTo>
                  <a:close/>
                </a:path>
                <a:path w="4252595" h="19050">
                  <a:moveTo>
                    <a:pt x="1044406" y="18749"/>
                  </a:moveTo>
                  <a:lnTo>
                    <a:pt x="1030532" y="18749"/>
                  </a:lnTo>
                  <a:lnTo>
                    <a:pt x="1030532" y="0"/>
                  </a:lnTo>
                  <a:lnTo>
                    <a:pt x="1044406" y="0"/>
                  </a:lnTo>
                  <a:lnTo>
                    <a:pt x="1044406" y="18749"/>
                  </a:lnTo>
                  <a:close/>
                </a:path>
                <a:path w="4252595" h="19050">
                  <a:moveTo>
                    <a:pt x="988891" y="18749"/>
                  </a:moveTo>
                  <a:lnTo>
                    <a:pt x="872564" y="18749"/>
                  </a:lnTo>
                  <a:lnTo>
                    <a:pt x="872564" y="0"/>
                  </a:lnTo>
                  <a:lnTo>
                    <a:pt x="988891" y="0"/>
                  </a:lnTo>
                  <a:lnTo>
                    <a:pt x="988891" y="18749"/>
                  </a:lnTo>
                  <a:close/>
                </a:path>
                <a:path w="4252595" h="19050">
                  <a:moveTo>
                    <a:pt x="830922" y="18749"/>
                  </a:moveTo>
                  <a:lnTo>
                    <a:pt x="812256" y="18749"/>
                  </a:lnTo>
                  <a:lnTo>
                    <a:pt x="812256" y="0"/>
                  </a:lnTo>
                  <a:lnTo>
                    <a:pt x="830922" y="0"/>
                  </a:lnTo>
                  <a:lnTo>
                    <a:pt x="830922" y="18749"/>
                  </a:lnTo>
                  <a:close/>
                </a:path>
                <a:path w="4252595" h="19050">
                  <a:moveTo>
                    <a:pt x="770614" y="18749"/>
                  </a:moveTo>
                  <a:lnTo>
                    <a:pt x="654307" y="18749"/>
                  </a:lnTo>
                  <a:lnTo>
                    <a:pt x="654307" y="0"/>
                  </a:lnTo>
                  <a:lnTo>
                    <a:pt x="770614" y="0"/>
                  </a:lnTo>
                  <a:lnTo>
                    <a:pt x="770614" y="18749"/>
                  </a:lnTo>
                  <a:close/>
                </a:path>
                <a:path w="4252595" h="19050">
                  <a:moveTo>
                    <a:pt x="612665" y="18749"/>
                  </a:moveTo>
                  <a:lnTo>
                    <a:pt x="598791" y="18749"/>
                  </a:lnTo>
                  <a:lnTo>
                    <a:pt x="598791" y="0"/>
                  </a:lnTo>
                  <a:lnTo>
                    <a:pt x="612665" y="0"/>
                  </a:lnTo>
                  <a:lnTo>
                    <a:pt x="612665" y="18749"/>
                  </a:lnTo>
                  <a:close/>
                </a:path>
                <a:path w="4252595" h="19050">
                  <a:moveTo>
                    <a:pt x="552357" y="18749"/>
                  </a:moveTo>
                  <a:lnTo>
                    <a:pt x="436050" y="18749"/>
                  </a:lnTo>
                  <a:lnTo>
                    <a:pt x="436050" y="0"/>
                  </a:lnTo>
                  <a:lnTo>
                    <a:pt x="552357" y="0"/>
                  </a:lnTo>
                  <a:lnTo>
                    <a:pt x="552357" y="18749"/>
                  </a:lnTo>
                  <a:close/>
                </a:path>
                <a:path w="4252595" h="19050">
                  <a:moveTo>
                    <a:pt x="394408" y="18749"/>
                  </a:moveTo>
                  <a:lnTo>
                    <a:pt x="380515" y="18749"/>
                  </a:lnTo>
                  <a:lnTo>
                    <a:pt x="380515" y="0"/>
                  </a:lnTo>
                  <a:lnTo>
                    <a:pt x="394408" y="0"/>
                  </a:lnTo>
                  <a:lnTo>
                    <a:pt x="394408" y="18749"/>
                  </a:lnTo>
                  <a:close/>
                </a:path>
                <a:path w="4252595" h="19050">
                  <a:moveTo>
                    <a:pt x="334100" y="18749"/>
                  </a:moveTo>
                  <a:lnTo>
                    <a:pt x="218257" y="18749"/>
                  </a:lnTo>
                  <a:lnTo>
                    <a:pt x="218257" y="0"/>
                  </a:lnTo>
                  <a:lnTo>
                    <a:pt x="334100" y="0"/>
                  </a:lnTo>
                  <a:lnTo>
                    <a:pt x="334100" y="18749"/>
                  </a:lnTo>
                  <a:close/>
                </a:path>
                <a:path w="4252595" h="19050">
                  <a:moveTo>
                    <a:pt x="176151" y="18749"/>
                  </a:moveTo>
                  <a:lnTo>
                    <a:pt x="162258" y="18749"/>
                  </a:lnTo>
                  <a:lnTo>
                    <a:pt x="162258" y="0"/>
                  </a:lnTo>
                  <a:lnTo>
                    <a:pt x="176151" y="0"/>
                  </a:lnTo>
                  <a:lnTo>
                    <a:pt x="176151" y="18749"/>
                  </a:lnTo>
                  <a:close/>
                </a:path>
                <a:path w="4252595" h="19050">
                  <a:moveTo>
                    <a:pt x="115833" y="18749"/>
                  </a:moveTo>
                  <a:lnTo>
                    <a:pt x="9095" y="18749"/>
                  </a:lnTo>
                  <a:lnTo>
                    <a:pt x="13881" y="9084"/>
                  </a:lnTo>
                  <a:lnTo>
                    <a:pt x="13881" y="13916"/>
                  </a:lnTo>
                  <a:lnTo>
                    <a:pt x="0" y="13916"/>
                  </a:lnTo>
                  <a:lnTo>
                    <a:pt x="0" y="0"/>
                  </a:lnTo>
                  <a:lnTo>
                    <a:pt x="115833" y="0"/>
                  </a:lnTo>
                  <a:lnTo>
                    <a:pt x="115833" y="18749"/>
                  </a:lnTo>
                  <a:close/>
                </a:path>
              </a:pathLst>
            </a:custGeom>
            <a:ln w="4787">
              <a:solidFill>
                <a:srgbClr val="000000"/>
              </a:solidFill>
            </a:ln>
          </p:spPr>
          <p:txBody>
            <a:bodyPr wrap="square" lIns="0" tIns="0" rIns="0" bIns="0" rtlCol="0"/>
            <a:lstStyle/>
            <a:p/>
          </p:txBody>
        </p:sp>
        <p:sp>
          <p:nvSpPr>
            <p:cNvPr id="28" name="object 28" descr=""/>
            <p:cNvSpPr/>
            <p:nvPr/>
          </p:nvSpPr>
          <p:spPr>
            <a:xfrm>
              <a:off x="3493201" y="1738191"/>
              <a:ext cx="0" cy="1264920"/>
            </a:xfrm>
            <a:custGeom>
              <a:avLst/>
              <a:gdLst/>
              <a:ahLst/>
              <a:cxnLst/>
              <a:rect l="l" t="t" r="r" b="b"/>
              <a:pathLst>
                <a:path w="0" h="1264920">
                  <a:moveTo>
                    <a:pt x="0" y="0"/>
                  </a:moveTo>
                  <a:lnTo>
                    <a:pt x="0" y="1264844"/>
                  </a:lnTo>
                </a:path>
              </a:pathLst>
            </a:custGeom>
            <a:ln w="18669">
              <a:solidFill>
                <a:srgbClr val="000000"/>
              </a:solidFill>
              <a:prstDash val="sysDashDot"/>
            </a:ln>
          </p:spPr>
          <p:txBody>
            <a:bodyPr wrap="square" lIns="0" tIns="0" rIns="0" bIns="0" rtlCol="0"/>
            <a:lstStyle/>
            <a:p/>
          </p:txBody>
        </p:sp>
        <p:sp>
          <p:nvSpPr>
            <p:cNvPr id="29" name="object 29" descr=""/>
            <p:cNvSpPr/>
            <p:nvPr/>
          </p:nvSpPr>
          <p:spPr>
            <a:xfrm>
              <a:off x="3486260" y="3046838"/>
              <a:ext cx="13970" cy="451484"/>
            </a:xfrm>
            <a:custGeom>
              <a:avLst/>
              <a:gdLst/>
              <a:ahLst/>
              <a:cxnLst/>
              <a:rect l="l" t="t" r="r" b="b"/>
              <a:pathLst>
                <a:path w="13970" h="451485">
                  <a:moveTo>
                    <a:pt x="13881" y="0"/>
                  </a:moveTo>
                  <a:lnTo>
                    <a:pt x="13881" y="13723"/>
                  </a:lnTo>
                  <a:lnTo>
                    <a:pt x="0" y="13723"/>
                  </a:lnTo>
                  <a:lnTo>
                    <a:pt x="0" y="0"/>
                  </a:lnTo>
                  <a:lnTo>
                    <a:pt x="13881" y="0"/>
                  </a:lnTo>
                  <a:close/>
                </a:path>
                <a:path w="13970" h="451485">
                  <a:moveTo>
                    <a:pt x="13881" y="55860"/>
                  </a:moveTo>
                  <a:lnTo>
                    <a:pt x="13881" y="172221"/>
                  </a:lnTo>
                  <a:lnTo>
                    <a:pt x="0" y="172221"/>
                  </a:lnTo>
                  <a:lnTo>
                    <a:pt x="0" y="55860"/>
                  </a:lnTo>
                  <a:lnTo>
                    <a:pt x="13881" y="55860"/>
                  </a:lnTo>
                  <a:close/>
                </a:path>
                <a:path w="13970" h="451485">
                  <a:moveTo>
                    <a:pt x="13881" y="218417"/>
                  </a:moveTo>
                  <a:lnTo>
                    <a:pt x="13881" y="232141"/>
                  </a:lnTo>
                  <a:lnTo>
                    <a:pt x="0" y="232141"/>
                  </a:lnTo>
                  <a:lnTo>
                    <a:pt x="0" y="218417"/>
                  </a:lnTo>
                  <a:lnTo>
                    <a:pt x="13881" y="218417"/>
                  </a:lnTo>
                  <a:close/>
                </a:path>
                <a:path w="13970" h="451485">
                  <a:moveTo>
                    <a:pt x="13881" y="274085"/>
                  </a:moveTo>
                  <a:lnTo>
                    <a:pt x="13881" y="390445"/>
                  </a:lnTo>
                  <a:lnTo>
                    <a:pt x="0" y="390445"/>
                  </a:lnTo>
                  <a:lnTo>
                    <a:pt x="0" y="274085"/>
                  </a:lnTo>
                  <a:lnTo>
                    <a:pt x="13881" y="274085"/>
                  </a:lnTo>
                  <a:close/>
                </a:path>
                <a:path w="13970" h="451485">
                  <a:moveTo>
                    <a:pt x="13881" y="436835"/>
                  </a:moveTo>
                  <a:lnTo>
                    <a:pt x="13881" y="451138"/>
                  </a:lnTo>
                  <a:lnTo>
                    <a:pt x="0" y="451138"/>
                  </a:lnTo>
                  <a:lnTo>
                    <a:pt x="0" y="436835"/>
                  </a:lnTo>
                  <a:lnTo>
                    <a:pt x="13881" y="436835"/>
                  </a:lnTo>
                  <a:close/>
                </a:path>
              </a:pathLst>
            </a:custGeom>
            <a:ln w="4787">
              <a:solidFill>
                <a:srgbClr val="000000"/>
              </a:solidFill>
            </a:ln>
          </p:spPr>
          <p:txBody>
            <a:bodyPr wrap="square" lIns="0" tIns="0" rIns="0" bIns="0" rtlCol="0"/>
            <a:lstStyle/>
            <a:p/>
          </p:txBody>
        </p:sp>
        <p:sp>
          <p:nvSpPr>
            <p:cNvPr id="30" name="object 30" descr=""/>
            <p:cNvSpPr/>
            <p:nvPr/>
          </p:nvSpPr>
          <p:spPr>
            <a:xfrm>
              <a:off x="3493201" y="3536948"/>
              <a:ext cx="0" cy="1209040"/>
            </a:xfrm>
            <a:custGeom>
              <a:avLst/>
              <a:gdLst/>
              <a:ahLst/>
              <a:cxnLst/>
              <a:rect l="l" t="t" r="r" b="b"/>
              <a:pathLst>
                <a:path w="0" h="1209039">
                  <a:moveTo>
                    <a:pt x="0" y="0"/>
                  </a:moveTo>
                  <a:lnTo>
                    <a:pt x="0" y="1209002"/>
                  </a:lnTo>
                </a:path>
              </a:pathLst>
            </a:custGeom>
            <a:ln w="18669">
              <a:solidFill>
                <a:srgbClr val="000000"/>
              </a:solidFill>
              <a:prstDash val="sysDashDot"/>
            </a:ln>
          </p:spPr>
          <p:txBody>
            <a:bodyPr wrap="square" lIns="0" tIns="0" rIns="0" bIns="0" rtlCol="0"/>
            <a:lstStyle/>
            <a:p/>
          </p:txBody>
        </p:sp>
        <p:sp>
          <p:nvSpPr>
            <p:cNvPr id="31" name="object 31" descr=""/>
            <p:cNvSpPr/>
            <p:nvPr/>
          </p:nvSpPr>
          <p:spPr>
            <a:xfrm>
              <a:off x="3486260" y="4789811"/>
              <a:ext cx="13970" cy="450850"/>
            </a:xfrm>
            <a:custGeom>
              <a:avLst/>
              <a:gdLst/>
              <a:ahLst/>
              <a:cxnLst/>
              <a:rect l="l" t="t" r="r" b="b"/>
              <a:pathLst>
                <a:path w="13970" h="450850">
                  <a:moveTo>
                    <a:pt x="13881" y="0"/>
                  </a:moveTo>
                  <a:lnTo>
                    <a:pt x="13881" y="13839"/>
                  </a:lnTo>
                  <a:lnTo>
                    <a:pt x="0" y="13839"/>
                  </a:lnTo>
                  <a:lnTo>
                    <a:pt x="0" y="0"/>
                  </a:lnTo>
                  <a:lnTo>
                    <a:pt x="13881" y="0"/>
                  </a:lnTo>
                  <a:close/>
                </a:path>
                <a:path w="13970" h="450850">
                  <a:moveTo>
                    <a:pt x="13881" y="55802"/>
                  </a:moveTo>
                  <a:lnTo>
                    <a:pt x="13881" y="172163"/>
                  </a:lnTo>
                  <a:lnTo>
                    <a:pt x="0" y="172163"/>
                  </a:lnTo>
                  <a:lnTo>
                    <a:pt x="0" y="55802"/>
                  </a:lnTo>
                  <a:lnTo>
                    <a:pt x="13881" y="55802"/>
                  </a:lnTo>
                  <a:close/>
                </a:path>
                <a:path w="13970" h="450850">
                  <a:moveTo>
                    <a:pt x="13881" y="218417"/>
                  </a:moveTo>
                  <a:lnTo>
                    <a:pt x="13881" y="232257"/>
                  </a:lnTo>
                  <a:lnTo>
                    <a:pt x="0" y="232257"/>
                  </a:lnTo>
                  <a:lnTo>
                    <a:pt x="0" y="218417"/>
                  </a:lnTo>
                  <a:lnTo>
                    <a:pt x="13881" y="218417"/>
                  </a:lnTo>
                  <a:close/>
                </a:path>
                <a:path w="13970" h="450850">
                  <a:moveTo>
                    <a:pt x="13881" y="274220"/>
                  </a:moveTo>
                  <a:lnTo>
                    <a:pt x="13881" y="390581"/>
                  </a:lnTo>
                  <a:lnTo>
                    <a:pt x="0" y="390581"/>
                  </a:lnTo>
                  <a:lnTo>
                    <a:pt x="0" y="274220"/>
                  </a:lnTo>
                  <a:lnTo>
                    <a:pt x="13881" y="274220"/>
                  </a:lnTo>
                  <a:close/>
                </a:path>
                <a:path w="13970" h="450850">
                  <a:moveTo>
                    <a:pt x="13881" y="436835"/>
                  </a:moveTo>
                  <a:lnTo>
                    <a:pt x="13881" y="450655"/>
                  </a:lnTo>
                  <a:lnTo>
                    <a:pt x="0" y="450655"/>
                  </a:lnTo>
                  <a:lnTo>
                    <a:pt x="0" y="436835"/>
                  </a:lnTo>
                  <a:lnTo>
                    <a:pt x="13881" y="436835"/>
                  </a:lnTo>
                  <a:close/>
                </a:path>
              </a:pathLst>
            </a:custGeom>
            <a:ln w="4787">
              <a:solidFill>
                <a:srgbClr val="000000"/>
              </a:solidFill>
            </a:ln>
          </p:spPr>
          <p:txBody>
            <a:bodyPr wrap="square" lIns="0" tIns="0" rIns="0" bIns="0" rtlCol="0"/>
            <a:lstStyle/>
            <a:p/>
          </p:txBody>
        </p:sp>
        <p:sp>
          <p:nvSpPr>
            <p:cNvPr id="32" name="object 32" descr=""/>
            <p:cNvSpPr/>
            <p:nvPr/>
          </p:nvSpPr>
          <p:spPr>
            <a:xfrm>
              <a:off x="3493201" y="5280037"/>
              <a:ext cx="0" cy="558165"/>
            </a:xfrm>
            <a:custGeom>
              <a:avLst/>
              <a:gdLst/>
              <a:ahLst/>
              <a:cxnLst/>
              <a:rect l="l" t="t" r="r" b="b"/>
              <a:pathLst>
                <a:path w="0" h="558164">
                  <a:moveTo>
                    <a:pt x="0" y="0"/>
                  </a:moveTo>
                  <a:lnTo>
                    <a:pt x="0" y="557982"/>
                  </a:lnTo>
                </a:path>
              </a:pathLst>
            </a:custGeom>
            <a:ln w="18668">
              <a:solidFill>
                <a:srgbClr val="000000"/>
              </a:solidFill>
              <a:prstDash val="sysDash"/>
            </a:ln>
          </p:spPr>
          <p:txBody>
            <a:bodyPr wrap="square" lIns="0" tIns="0" rIns="0" bIns="0" rtlCol="0"/>
            <a:lstStyle/>
            <a:p/>
          </p:txBody>
        </p:sp>
        <p:sp>
          <p:nvSpPr>
            <p:cNvPr id="33" name="object 33" descr=""/>
            <p:cNvSpPr/>
            <p:nvPr/>
          </p:nvSpPr>
          <p:spPr>
            <a:xfrm>
              <a:off x="3486260" y="5877589"/>
              <a:ext cx="445770" cy="23495"/>
            </a:xfrm>
            <a:custGeom>
              <a:avLst/>
              <a:gdLst/>
              <a:ahLst/>
              <a:cxnLst/>
              <a:rect l="l" t="t" r="r" b="b"/>
              <a:pathLst>
                <a:path w="445770" h="23495">
                  <a:moveTo>
                    <a:pt x="13881" y="0"/>
                  </a:moveTo>
                  <a:lnTo>
                    <a:pt x="13881" y="13820"/>
                  </a:lnTo>
                  <a:lnTo>
                    <a:pt x="9095" y="9065"/>
                  </a:lnTo>
                  <a:lnTo>
                    <a:pt x="9095" y="22885"/>
                  </a:lnTo>
                  <a:lnTo>
                    <a:pt x="0" y="22885"/>
                  </a:lnTo>
                  <a:lnTo>
                    <a:pt x="0" y="0"/>
                  </a:lnTo>
                  <a:lnTo>
                    <a:pt x="13881" y="0"/>
                  </a:lnTo>
                  <a:close/>
                </a:path>
                <a:path w="445770" h="23495">
                  <a:moveTo>
                    <a:pt x="50737" y="9065"/>
                  </a:moveTo>
                  <a:lnTo>
                    <a:pt x="167050" y="9065"/>
                  </a:lnTo>
                  <a:lnTo>
                    <a:pt x="167050" y="22885"/>
                  </a:lnTo>
                  <a:lnTo>
                    <a:pt x="50737" y="22885"/>
                  </a:lnTo>
                  <a:lnTo>
                    <a:pt x="50737" y="9065"/>
                  </a:lnTo>
                  <a:close/>
                </a:path>
                <a:path w="445770" h="23495">
                  <a:moveTo>
                    <a:pt x="213484" y="9065"/>
                  </a:moveTo>
                  <a:lnTo>
                    <a:pt x="227358" y="9065"/>
                  </a:lnTo>
                  <a:lnTo>
                    <a:pt x="227358" y="22885"/>
                  </a:lnTo>
                  <a:lnTo>
                    <a:pt x="213484" y="22885"/>
                  </a:lnTo>
                  <a:lnTo>
                    <a:pt x="213484" y="9065"/>
                  </a:lnTo>
                  <a:close/>
                </a:path>
                <a:path w="445770" h="23495">
                  <a:moveTo>
                    <a:pt x="269000" y="9065"/>
                  </a:moveTo>
                  <a:lnTo>
                    <a:pt x="385307" y="9065"/>
                  </a:lnTo>
                  <a:lnTo>
                    <a:pt x="385307" y="22885"/>
                  </a:lnTo>
                  <a:lnTo>
                    <a:pt x="269000" y="22885"/>
                  </a:lnTo>
                  <a:lnTo>
                    <a:pt x="269000" y="9065"/>
                  </a:lnTo>
                  <a:close/>
                </a:path>
                <a:path w="445770" h="23495">
                  <a:moveTo>
                    <a:pt x="431741" y="9065"/>
                  </a:moveTo>
                  <a:lnTo>
                    <a:pt x="445615" y="9065"/>
                  </a:lnTo>
                  <a:lnTo>
                    <a:pt x="445615" y="22885"/>
                  </a:lnTo>
                  <a:lnTo>
                    <a:pt x="431741" y="22885"/>
                  </a:lnTo>
                  <a:lnTo>
                    <a:pt x="431741" y="9065"/>
                  </a:lnTo>
                  <a:close/>
                </a:path>
              </a:pathLst>
            </a:custGeom>
            <a:ln w="4787">
              <a:solidFill>
                <a:srgbClr val="000000"/>
              </a:solidFill>
            </a:ln>
          </p:spPr>
          <p:txBody>
            <a:bodyPr wrap="square" lIns="0" tIns="0" rIns="0" bIns="0" rtlCol="0"/>
            <a:lstStyle/>
            <a:p/>
          </p:txBody>
        </p:sp>
        <p:sp>
          <p:nvSpPr>
            <p:cNvPr id="34" name="object 34" descr=""/>
            <p:cNvSpPr/>
            <p:nvPr/>
          </p:nvSpPr>
          <p:spPr>
            <a:xfrm>
              <a:off x="3971124" y="5893564"/>
              <a:ext cx="1207770" cy="0"/>
            </a:xfrm>
            <a:custGeom>
              <a:avLst/>
              <a:gdLst/>
              <a:ahLst/>
              <a:cxnLst/>
              <a:rect l="l" t="t" r="r" b="b"/>
              <a:pathLst>
                <a:path w="1207770" h="0">
                  <a:moveTo>
                    <a:pt x="0" y="0"/>
                  </a:moveTo>
                  <a:lnTo>
                    <a:pt x="1207143" y="0"/>
                  </a:lnTo>
                </a:path>
              </a:pathLst>
            </a:custGeom>
            <a:ln w="18608">
              <a:solidFill>
                <a:srgbClr val="000000"/>
              </a:solidFill>
              <a:prstDash val="sysDashDot"/>
            </a:ln>
          </p:spPr>
          <p:txBody>
            <a:bodyPr wrap="square" lIns="0" tIns="0" rIns="0" bIns="0" rtlCol="0"/>
            <a:lstStyle/>
            <a:p/>
          </p:txBody>
        </p:sp>
        <p:sp>
          <p:nvSpPr>
            <p:cNvPr id="35" name="object 35" descr=""/>
            <p:cNvSpPr/>
            <p:nvPr/>
          </p:nvSpPr>
          <p:spPr>
            <a:xfrm>
              <a:off x="5222307" y="5886654"/>
              <a:ext cx="450850" cy="13970"/>
            </a:xfrm>
            <a:custGeom>
              <a:avLst/>
              <a:gdLst/>
              <a:ahLst/>
              <a:cxnLst/>
              <a:rect l="l" t="t" r="r" b="b"/>
              <a:pathLst>
                <a:path w="450850" h="13970">
                  <a:moveTo>
                    <a:pt x="0" y="0"/>
                  </a:moveTo>
                  <a:lnTo>
                    <a:pt x="13874" y="0"/>
                  </a:lnTo>
                  <a:lnTo>
                    <a:pt x="13874" y="13820"/>
                  </a:lnTo>
                  <a:lnTo>
                    <a:pt x="0" y="13820"/>
                  </a:lnTo>
                  <a:lnTo>
                    <a:pt x="0" y="0"/>
                  </a:lnTo>
                  <a:close/>
                </a:path>
                <a:path w="450850" h="13970">
                  <a:moveTo>
                    <a:pt x="55515" y="0"/>
                  </a:moveTo>
                  <a:lnTo>
                    <a:pt x="171765" y="0"/>
                  </a:lnTo>
                  <a:lnTo>
                    <a:pt x="171765" y="13820"/>
                  </a:lnTo>
                  <a:lnTo>
                    <a:pt x="55515" y="13820"/>
                  </a:lnTo>
                  <a:lnTo>
                    <a:pt x="55515" y="0"/>
                  </a:lnTo>
                  <a:close/>
                </a:path>
                <a:path w="450850" h="13970">
                  <a:moveTo>
                    <a:pt x="218334" y="0"/>
                  </a:moveTo>
                  <a:lnTo>
                    <a:pt x="232053" y="0"/>
                  </a:lnTo>
                  <a:lnTo>
                    <a:pt x="232053" y="13820"/>
                  </a:lnTo>
                  <a:lnTo>
                    <a:pt x="218334" y="13820"/>
                  </a:lnTo>
                  <a:lnTo>
                    <a:pt x="218334" y="0"/>
                  </a:lnTo>
                  <a:close/>
                </a:path>
                <a:path w="450850" h="13970">
                  <a:moveTo>
                    <a:pt x="273792" y="0"/>
                  </a:moveTo>
                  <a:lnTo>
                    <a:pt x="390118" y="0"/>
                  </a:lnTo>
                  <a:lnTo>
                    <a:pt x="390118" y="13820"/>
                  </a:lnTo>
                  <a:lnTo>
                    <a:pt x="273792" y="13820"/>
                  </a:lnTo>
                  <a:lnTo>
                    <a:pt x="273792" y="0"/>
                  </a:lnTo>
                  <a:close/>
                </a:path>
                <a:path w="450850" h="13970">
                  <a:moveTo>
                    <a:pt x="436494" y="0"/>
                  </a:moveTo>
                  <a:lnTo>
                    <a:pt x="450407" y="0"/>
                  </a:lnTo>
                  <a:lnTo>
                    <a:pt x="450407" y="13820"/>
                  </a:lnTo>
                  <a:lnTo>
                    <a:pt x="436494" y="13820"/>
                  </a:lnTo>
                  <a:lnTo>
                    <a:pt x="436494" y="0"/>
                  </a:lnTo>
                  <a:close/>
                </a:path>
              </a:pathLst>
            </a:custGeom>
            <a:ln w="4787">
              <a:solidFill>
                <a:srgbClr val="000000"/>
              </a:solidFill>
            </a:ln>
          </p:spPr>
          <p:txBody>
            <a:bodyPr wrap="square" lIns="0" tIns="0" rIns="0" bIns="0" rtlCol="0"/>
            <a:lstStyle/>
            <a:p/>
          </p:txBody>
        </p:sp>
        <p:sp>
          <p:nvSpPr>
            <p:cNvPr id="36" name="object 36" descr=""/>
            <p:cNvSpPr/>
            <p:nvPr/>
          </p:nvSpPr>
          <p:spPr>
            <a:xfrm>
              <a:off x="5712060" y="5893564"/>
              <a:ext cx="1207135" cy="0"/>
            </a:xfrm>
            <a:custGeom>
              <a:avLst/>
              <a:gdLst/>
              <a:ahLst/>
              <a:cxnLst/>
              <a:rect l="l" t="t" r="r" b="b"/>
              <a:pathLst>
                <a:path w="1207134" h="0">
                  <a:moveTo>
                    <a:pt x="0" y="0"/>
                  </a:moveTo>
                  <a:lnTo>
                    <a:pt x="1207085" y="0"/>
                  </a:lnTo>
                </a:path>
              </a:pathLst>
            </a:custGeom>
            <a:ln w="18608">
              <a:solidFill>
                <a:srgbClr val="000000"/>
              </a:solidFill>
              <a:prstDash val="sysDashDot"/>
            </a:ln>
          </p:spPr>
          <p:txBody>
            <a:bodyPr wrap="square" lIns="0" tIns="0" rIns="0" bIns="0" rtlCol="0"/>
            <a:lstStyle/>
            <a:p/>
          </p:txBody>
        </p:sp>
        <p:sp>
          <p:nvSpPr>
            <p:cNvPr id="37" name="object 37" descr=""/>
            <p:cNvSpPr/>
            <p:nvPr/>
          </p:nvSpPr>
          <p:spPr>
            <a:xfrm>
              <a:off x="6963128" y="5886654"/>
              <a:ext cx="669290" cy="13970"/>
            </a:xfrm>
            <a:custGeom>
              <a:avLst/>
              <a:gdLst/>
              <a:ahLst/>
              <a:cxnLst/>
              <a:rect l="l" t="t" r="r" b="b"/>
              <a:pathLst>
                <a:path w="669290" h="13970">
                  <a:moveTo>
                    <a:pt x="0" y="0"/>
                  </a:moveTo>
                  <a:lnTo>
                    <a:pt x="13912" y="0"/>
                  </a:lnTo>
                  <a:lnTo>
                    <a:pt x="13912" y="13820"/>
                  </a:lnTo>
                  <a:lnTo>
                    <a:pt x="0" y="13820"/>
                  </a:lnTo>
                  <a:lnTo>
                    <a:pt x="0" y="0"/>
                  </a:lnTo>
                  <a:close/>
                </a:path>
                <a:path w="669290" h="13970">
                  <a:moveTo>
                    <a:pt x="55457" y="0"/>
                  </a:moveTo>
                  <a:lnTo>
                    <a:pt x="171784" y="0"/>
                  </a:lnTo>
                  <a:lnTo>
                    <a:pt x="171784" y="13820"/>
                  </a:lnTo>
                  <a:lnTo>
                    <a:pt x="55457" y="13820"/>
                  </a:lnTo>
                  <a:lnTo>
                    <a:pt x="55457" y="0"/>
                  </a:lnTo>
                  <a:close/>
                </a:path>
                <a:path w="669290" h="13970">
                  <a:moveTo>
                    <a:pt x="218353" y="0"/>
                  </a:moveTo>
                  <a:lnTo>
                    <a:pt x="232073" y="0"/>
                  </a:lnTo>
                  <a:lnTo>
                    <a:pt x="232073" y="13820"/>
                  </a:lnTo>
                  <a:lnTo>
                    <a:pt x="218353" y="13820"/>
                  </a:lnTo>
                  <a:lnTo>
                    <a:pt x="218353" y="0"/>
                  </a:lnTo>
                  <a:close/>
                </a:path>
                <a:path w="669290" h="13970">
                  <a:moveTo>
                    <a:pt x="273811" y="0"/>
                  </a:moveTo>
                  <a:lnTo>
                    <a:pt x="390138" y="0"/>
                  </a:lnTo>
                  <a:lnTo>
                    <a:pt x="390138" y="13820"/>
                  </a:lnTo>
                  <a:lnTo>
                    <a:pt x="273811" y="13820"/>
                  </a:lnTo>
                  <a:lnTo>
                    <a:pt x="273811" y="0"/>
                  </a:lnTo>
                  <a:close/>
                </a:path>
                <a:path w="669290" h="13970">
                  <a:moveTo>
                    <a:pt x="436514" y="0"/>
                  </a:moveTo>
                  <a:lnTo>
                    <a:pt x="450426" y="0"/>
                  </a:lnTo>
                  <a:lnTo>
                    <a:pt x="450426" y="13820"/>
                  </a:lnTo>
                  <a:lnTo>
                    <a:pt x="436514" y="13820"/>
                  </a:lnTo>
                  <a:lnTo>
                    <a:pt x="436514" y="0"/>
                  </a:lnTo>
                  <a:close/>
                </a:path>
                <a:path w="669290" h="13970">
                  <a:moveTo>
                    <a:pt x="491972" y="0"/>
                  </a:moveTo>
                  <a:lnTo>
                    <a:pt x="608298" y="0"/>
                  </a:lnTo>
                  <a:lnTo>
                    <a:pt x="608298" y="13820"/>
                  </a:lnTo>
                  <a:lnTo>
                    <a:pt x="491972" y="13820"/>
                  </a:lnTo>
                  <a:lnTo>
                    <a:pt x="491972" y="0"/>
                  </a:lnTo>
                  <a:close/>
                </a:path>
                <a:path w="669290" h="13970">
                  <a:moveTo>
                    <a:pt x="650037" y="0"/>
                  </a:moveTo>
                  <a:lnTo>
                    <a:pt x="668780" y="0"/>
                  </a:lnTo>
                  <a:lnTo>
                    <a:pt x="668780" y="13820"/>
                  </a:lnTo>
                  <a:lnTo>
                    <a:pt x="650037" y="13820"/>
                  </a:lnTo>
                  <a:lnTo>
                    <a:pt x="650037" y="0"/>
                  </a:lnTo>
                  <a:close/>
                </a:path>
              </a:pathLst>
            </a:custGeom>
            <a:ln w="4787">
              <a:solidFill>
                <a:srgbClr val="000000"/>
              </a:solidFill>
            </a:ln>
          </p:spPr>
          <p:txBody>
            <a:bodyPr wrap="square" lIns="0" tIns="0" rIns="0" bIns="0" rtlCol="0"/>
            <a:lstStyle/>
            <a:p/>
          </p:txBody>
        </p:sp>
        <p:pic>
          <p:nvPicPr>
            <p:cNvPr id="38" name="object 38" descr=""/>
            <p:cNvPicPr/>
            <p:nvPr/>
          </p:nvPicPr>
          <p:blipFill>
            <a:blip r:embed="rId4" cstate="print"/>
            <a:stretch>
              <a:fillRect/>
            </a:stretch>
          </p:blipFill>
          <p:spPr>
            <a:xfrm>
              <a:off x="7671060" y="5838006"/>
              <a:ext cx="78988" cy="64861"/>
            </a:xfrm>
            <a:prstGeom prst="rect">
              <a:avLst/>
            </a:prstGeom>
          </p:spPr>
        </p:pic>
        <p:sp>
          <p:nvSpPr>
            <p:cNvPr id="39" name="object 39" descr=""/>
            <p:cNvSpPr/>
            <p:nvPr/>
          </p:nvSpPr>
          <p:spPr>
            <a:xfrm>
              <a:off x="7728911" y="1703473"/>
              <a:ext cx="19050" cy="4095115"/>
            </a:xfrm>
            <a:custGeom>
              <a:avLst/>
              <a:gdLst/>
              <a:ahLst/>
              <a:cxnLst/>
              <a:rect l="l" t="t" r="r" b="b"/>
              <a:pathLst>
                <a:path w="19050" h="4095115">
                  <a:moveTo>
                    <a:pt x="0" y="4094944"/>
                  </a:moveTo>
                  <a:lnTo>
                    <a:pt x="0" y="4081124"/>
                  </a:lnTo>
                  <a:lnTo>
                    <a:pt x="18743" y="4081124"/>
                  </a:lnTo>
                  <a:lnTo>
                    <a:pt x="18743" y="4094944"/>
                  </a:lnTo>
                  <a:lnTo>
                    <a:pt x="0" y="4094944"/>
                  </a:lnTo>
                  <a:close/>
                </a:path>
                <a:path w="19050" h="4095115">
                  <a:moveTo>
                    <a:pt x="0" y="4034386"/>
                  </a:moveTo>
                  <a:lnTo>
                    <a:pt x="0" y="3918509"/>
                  </a:lnTo>
                  <a:lnTo>
                    <a:pt x="18743" y="3918509"/>
                  </a:lnTo>
                  <a:lnTo>
                    <a:pt x="18743" y="4034386"/>
                  </a:lnTo>
                  <a:lnTo>
                    <a:pt x="0" y="4034386"/>
                  </a:lnTo>
                  <a:close/>
                </a:path>
                <a:path w="19050" h="4095115">
                  <a:moveTo>
                    <a:pt x="0" y="3876546"/>
                  </a:moveTo>
                  <a:lnTo>
                    <a:pt x="0" y="3862706"/>
                  </a:lnTo>
                  <a:lnTo>
                    <a:pt x="18743" y="3862706"/>
                  </a:lnTo>
                  <a:lnTo>
                    <a:pt x="18743" y="3876546"/>
                  </a:lnTo>
                  <a:lnTo>
                    <a:pt x="0" y="3876546"/>
                  </a:lnTo>
                  <a:close/>
                </a:path>
                <a:path w="19050" h="4095115">
                  <a:moveTo>
                    <a:pt x="0" y="3820743"/>
                  </a:moveTo>
                  <a:lnTo>
                    <a:pt x="0" y="3704382"/>
                  </a:lnTo>
                  <a:lnTo>
                    <a:pt x="18743" y="3704382"/>
                  </a:lnTo>
                  <a:lnTo>
                    <a:pt x="18743" y="3820743"/>
                  </a:lnTo>
                  <a:lnTo>
                    <a:pt x="0" y="3820743"/>
                  </a:lnTo>
                  <a:close/>
                </a:path>
                <a:path w="19050" h="4095115">
                  <a:moveTo>
                    <a:pt x="0" y="3658128"/>
                  </a:moveTo>
                  <a:lnTo>
                    <a:pt x="0" y="3644289"/>
                  </a:lnTo>
                  <a:lnTo>
                    <a:pt x="18743" y="3644289"/>
                  </a:lnTo>
                  <a:lnTo>
                    <a:pt x="18743" y="3658128"/>
                  </a:lnTo>
                  <a:lnTo>
                    <a:pt x="0" y="3658128"/>
                  </a:lnTo>
                  <a:close/>
                </a:path>
                <a:path w="19050" h="4095115">
                  <a:moveTo>
                    <a:pt x="0" y="3602325"/>
                  </a:moveTo>
                  <a:lnTo>
                    <a:pt x="0" y="3485965"/>
                  </a:lnTo>
                  <a:lnTo>
                    <a:pt x="18743" y="3485965"/>
                  </a:lnTo>
                  <a:lnTo>
                    <a:pt x="18743" y="3602325"/>
                  </a:lnTo>
                  <a:lnTo>
                    <a:pt x="0" y="3602325"/>
                  </a:lnTo>
                  <a:close/>
                </a:path>
                <a:path w="19050" h="4095115">
                  <a:moveTo>
                    <a:pt x="0" y="3439710"/>
                  </a:moveTo>
                  <a:lnTo>
                    <a:pt x="0" y="3425407"/>
                  </a:lnTo>
                  <a:lnTo>
                    <a:pt x="18743" y="3425407"/>
                  </a:lnTo>
                  <a:lnTo>
                    <a:pt x="18743" y="3439710"/>
                  </a:lnTo>
                  <a:lnTo>
                    <a:pt x="0" y="3439710"/>
                  </a:lnTo>
                  <a:close/>
                </a:path>
                <a:path w="19050" h="4095115">
                  <a:moveTo>
                    <a:pt x="0" y="3383927"/>
                  </a:moveTo>
                  <a:lnTo>
                    <a:pt x="0" y="3267566"/>
                  </a:lnTo>
                  <a:lnTo>
                    <a:pt x="18743" y="3267566"/>
                  </a:lnTo>
                  <a:lnTo>
                    <a:pt x="18743" y="3383927"/>
                  </a:lnTo>
                  <a:lnTo>
                    <a:pt x="0" y="3383927"/>
                  </a:lnTo>
                  <a:close/>
                </a:path>
                <a:path w="19050" h="4095115">
                  <a:moveTo>
                    <a:pt x="0" y="3221293"/>
                  </a:moveTo>
                  <a:lnTo>
                    <a:pt x="0" y="3206989"/>
                  </a:lnTo>
                  <a:lnTo>
                    <a:pt x="18743" y="3206989"/>
                  </a:lnTo>
                  <a:lnTo>
                    <a:pt x="18743" y="3221293"/>
                  </a:lnTo>
                  <a:lnTo>
                    <a:pt x="0" y="3221293"/>
                  </a:lnTo>
                  <a:close/>
                </a:path>
                <a:path w="19050" h="4095115">
                  <a:moveTo>
                    <a:pt x="0" y="3165509"/>
                  </a:moveTo>
                  <a:lnTo>
                    <a:pt x="0" y="3049149"/>
                  </a:lnTo>
                  <a:lnTo>
                    <a:pt x="18743" y="3049149"/>
                  </a:lnTo>
                  <a:lnTo>
                    <a:pt x="18743" y="3165509"/>
                  </a:lnTo>
                  <a:lnTo>
                    <a:pt x="0" y="3165509"/>
                  </a:lnTo>
                  <a:close/>
                </a:path>
                <a:path w="19050" h="4095115">
                  <a:moveTo>
                    <a:pt x="0" y="3007185"/>
                  </a:moveTo>
                  <a:lnTo>
                    <a:pt x="0" y="2988591"/>
                  </a:lnTo>
                  <a:lnTo>
                    <a:pt x="18743" y="2988591"/>
                  </a:lnTo>
                  <a:lnTo>
                    <a:pt x="18743" y="3007185"/>
                  </a:lnTo>
                  <a:lnTo>
                    <a:pt x="0" y="3007185"/>
                  </a:lnTo>
                  <a:close/>
                </a:path>
                <a:path w="19050" h="4095115">
                  <a:moveTo>
                    <a:pt x="0" y="2947092"/>
                  </a:moveTo>
                  <a:lnTo>
                    <a:pt x="0" y="2830731"/>
                  </a:lnTo>
                  <a:lnTo>
                    <a:pt x="18743" y="2830731"/>
                  </a:lnTo>
                  <a:lnTo>
                    <a:pt x="18743" y="2947092"/>
                  </a:lnTo>
                  <a:lnTo>
                    <a:pt x="0" y="2947092"/>
                  </a:lnTo>
                  <a:close/>
                </a:path>
                <a:path w="19050" h="4095115">
                  <a:moveTo>
                    <a:pt x="0" y="2788787"/>
                  </a:moveTo>
                  <a:lnTo>
                    <a:pt x="0" y="2774870"/>
                  </a:lnTo>
                  <a:lnTo>
                    <a:pt x="18743" y="2774870"/>
                  </a:lnTo>
                  <a:lnTo>
                    <a:pt x="18743" y="2788787"/>
                  </a:lnTo>
                  <a:lnTo>
                    <a:pt x="0" y="2788787"/>
                  </a:lnTo>
                  <a:close/>
                </a:path>
                <a:path w="19050" h="4095115">
                  <a:moveTo>
                    <a:pt x="0" y="2728674"/>
                  </a:moveTo>
                  <a:lnTo>
                    <a:pt x="0" y="2612313"/>
                  </a:lnTo>
                  <a:lnTo>
                    <a:pt x="18743" y="2612313"/>
                  </a:lnTo>
                  <a:lnTo>
                    <a:pt x="18743" y="2728674"/>
                  </a:lnTo>
                  <a:lnTo>
                    <a:pt x="0" y="2728674"/>
                  </a:lnTo>
                  <a:close/>
                </a:path>
                <a:path w="19050" h="4095115">
                  <a:moveTo>
                    <a:pt x="0" y="2570369"/>
                  </a:moveTo>
                  <a:lnTo>
                    <a:pt x="0" y="2556453"/>
                  </a:lnTo>
                  <a:lnTo>
                    <a:pt x="18743" y="2556453"/>
                  </a:lnTo>
                  <a:lnTo>
                    <a:pt x="18743" y="2570369"/>
                  </a:lnTo>
                  <a:lnTo>
                    <a:pt x="0" y="2570369"/>
                  </a:lnTo>
                  <a:close/>
                </a:path>
                <a:path w="19050" h="4095115">
                  <a:moveTo>
                    <a:pt x="0" y="2509870"/>
                  </a:moveTo>
                  <a:lnTo>
                    <a:pt x="0" y="2393896"/>
                  </a:lnTo>
                  <a:lnTo>
                    <a:pt x="18743" y="2393896"/>
                  </a:lnTo>
                  <a:lnTo>
                    <a:pt x="18743" y="2509870"/>
                  </a:lnTo>
                  <a:lnTo>
                    <a:pt x="0" y="2509870"/>
                  </a:lnTo>
                  <a:close/>
                </a:path>
                <a:path w="19050" h="4095115">
                  <a:moveTo>
                    <a:pt x="0" y="2351952"/>
                  </a:moveTo>
                  <a:lnTo>
                    <a:pt x="0" y="2338035"/>
                  </a:lnTo>
                  <a:lnTo>
                    <a:pt x="18743" y="2338035"/>
                  </a:lnTo>
                  <a:lnTo>
                    <a:pt x="18743" y="2351952"/>
                  </a:lnTo>
                  <a:lnTo>
                    <a:pt x="0" y="2351952"/>
                  </a:lnTo>
                  <a:close/>
                </a:path>
                <a:path w="19050" h="4095115">
                  <a:moveTo>
                    <a:pt x="0" y="2291452"/>
                  </a:moveTo>
                  <a:lnTo>
                    <a:pt x="0" y="2175478"/>
                  </a:lnTo>
                  <a:lnTo>
                    <a:pt x="18743" y="2175478"/>
                  </a:lnTo>
                  <a:lnTo>
                    <a:pt x="18743" y="2291452"/>
                  </a:lnTo>
                  <a:lnTo>
                    <a:pt x="0" y="2291452"/>
                  </a:lnTo>
                  <a:close/>
                </a:path>
                <a:path w="19050" h="4095115">
                  <a:moveTo>
                    <a:pt x="0" y="2133534"/>
                  </a:moveTo>
                  <a:lnTo>
                    <a:pt x="0" y="2119617"/>
                  </a:lnTo>
                  <a:lnTo>
                    <a:pt x="18743" y="2119617"/>
                  </a:lnTo>
                  <a:lnTo>
                    <a:pt x="18743" y="2133534"/>
                  </a:lnTo>
                  <a:lnTo>
                    <a:pt x="0" y="2133534"/>
                  </a:lnTo>
                  <a:close/>
                </a:path>
                <a:path w="19050" h="4095115">
                  <a:moveTo>
                    <a:pt x="0" y="2077673"/>
                  </a:moveTo>
                  <a:lnTo>
                    <a:pt x="0" y="1961313"/>
                  </a:lnTo>
                  <a:lnTo>
                    <a:pt x="18743" y="1961313"/>
                  </a:lnTo>
                  <a:lnTo>
                    <a:pt x="18743" y="2077673"/>
                  </a:lnTo>
                  <a:lnTo>
                    <a:pt x="0" y="2077673"/>
                  </a:lnTo>
                  <a:close/>
                </a:path>
                <a:path w="19050" h="4095115">
                  <a:moveTo>
                    <a:pt x="0" y="1915116"/>
                  </a:moveTo>
                  <a:lnTo>
                    <a:pt x="0" y="1901200"/>
                  </a:lnTo>
                  <a:lnTo>
                    <a:pt x="18743" y="1901200"/>
                  </a:lnTo>
                  <a:lnTo>
                    <a:pt x="18743" y="1915116"/>
                  </a:lnTo>
                  <a:lnTo>
                    <a:pt x="0" y="1915116"/>
                  </a:lnTo>
                  <a:close/>
                </a:path>
                <a:path w="19050" h="4095115">
                  <a:moveTo>
                    <a:pt x="0" y="1859256"/>
                  </a:moveTo>
                  <a:lnTo>
                    <a:pt x="0" y="1742895"/>
                  </a:lnTo>
                  <a:lnTo>
                    <a:pt x="18743" y="1742895"/>
                  </a:lnTo>
                  <a:lnTo>
                    <a:pt x="18743" y="1859256"/>
                  </a:lnTo>
                  <a:lnTo>
                    <a:pt x="0" y="1859256"/>
                  </a:lnTo>
                  <a:close/>
                </a:path>
                <a:path w="19050" h="4095115">
                  <a:moveTo>
                    <a:pt x="0" y="1696699"/>
                  </a:moveTo>
                  <a:lnTo>
                    <a:pt x="0" y="1682782"/>
                  </a:lnTo>
                  <a:lnTo>
                    <a:pt x="18743" y="1682782"/>
                  </a:lnTo>
                  <a:lnTo>
                    <a:pt x="18743" y="1696699"/>
                  </a:lnTo>
                  <a:lnTo>
                    <a:pt x="0" y="1696699"/>
                  </a:lnTo>
                  <a:close/>
                </a:path>
                <a:path w="19050" h="4095115">
                  <a:moveTo>
                    <a:pt x="0" y="1640838"/>
                  </a:moveTo>
                  <a:lnTo>
                    <a:pt x="0" y="1524477"/>
                  </a:lnTo>
                  <a:lnTo>
                    <a:pt x="18743" y="1524477"/>
                  </a:lnTo>
                  <a:lnTo>
                    <a:pt x="18743" y="1640838"/>
                  </a:lnTo>
                  <a:lnTo>
                    <a:pt x="0" y="1640838"/>
                  </a:lnTo>
                  <a:close/>
                </a:path>
                <a:path w="19050" h="4095115">
                  <a:moveTo>
                    <a:pt x="0" y="1478281"/>
                  </a:moveTo>
                  <a:lnTo>
                    <a:pt x="0" y="1464558"/>
                  </a:lnTo>
                  <a:lnTo>
                    <a:pt x="18743" y="1464558"/>
                  </a:lnTo>
                  <a:lnTo>
                    <a:pt x="18743" y="1478281"/>
                  </a:lnTo>
                  <a:lnTo>
                    <a:pt x="0" y="1478281"/>
                  </a:lnTo>
                  <a:close/>
                </a:path>
                <a:path w="19050" h="4095115">
                  <a:moveTo>
                    <a:pt x="0" y="1422420"/>
                  </a:moveTo>
                  <a:lnTo>
                    <a:pt x="0" y="1306060"/>
                  </a:lnTo>
                  <a:lnTo>
                    <a:pt x="18743" y="1306060"/>
                  </a:lnTo>
                  <a:lnTo>
                    <a:pt x="18743" y="1422420"/>
                  </a:lnTo>
                  <a:lnTo>
                    <a:pt x="0" y="1422420"/>
                  </a:lnTo>
                  <a:close/>
                </a:path>
                <a:path w="19050" h="4095115">
                  <a:moveTo>
                    <a:pt x="0" y="1264116"/>
                  </a:moveTo>
                  <a:lnTo>
                    <a:pt x="0" y="1245560"/>
                  </a:lnTo>
                  <a:lnTo>
                    <a:pt x="18743" y="1245560"/>
                  </a:lnTo>
                  <a:lnTo>
                    <a:pt x="18743" y="1264116"/>
                  </a:lnTo>
                  <a:lnTo>
                    <a:pt x="0" y="1264116"/>
                  </a:lnTo>
                  <a:close/>
                </a:path>
                <a:path w="19050" h="4095115">
                  <a:moveTo>
                    <a:pt x="0" y="1204003"/>
                  </a:moveTo>
                  <a:lnTo>
                    <a:pt x="0" y="1087642"/>
                  </a:lnTo>
                  <a:lnTo>
                    <a:pt x="18743" y="1087642"/>
                  </a:lnTo>
                  <a:lnTo>
                    <a:pt x="18743" y="1204003"/>
                  </a:lnTo>
                  <a:lnTo>
                    <a:pt x="0" y="1204003"/>
                  </a:lnTo>
                  <a:close/>
                </a:path>
                <a:path w="19050" h="4095115">
                  <a:moveTo>
                    <a:pt x="0" y="1045698"/>
                  </a:moveTo>
                  <a:lnTo>
                    <a:pt x="0" y="1031975"/>
                  </a:lnTo>
                  <a:lnTo>
                    <a:pt x="18743" y="1031975"/>
                  </a:lnTo>
                  <a:lnTo>
                    <a:pt x="18743" y="1045698"/>
                  </a:lnTo>
                  <a:lnTo>
                    <a:pt x="0" y="1045698"/>
                  </a:lnTo>
                  <a:close/>
                </a:path>
                <a:path w="19050" h="4095115">
                  <a:moveTo>
                    <a:pt x="0" y="985585"/>
                  </a:moveTo>
                  <a:lnTo>
                    <a:pt x="0" y="869224"/>
                  </a:lnTo>
                  <a:lnTo>
                    <a:pt x="18743" y="869224"/>
                  </a:lnTo>
                  <a:lnTo>
                    <a:pt x="18743" y="985585"/>
                  </a:lnTo>
                  <a:lnTo>
                    <a:pt x="0" y="985585"/>
                  </a:lnTo>
                  <a:close/>
                </a:path>
                <a:path w="19050" h="4095115">
                  <a:moveTo>
                    <a:pt x="0" y="827281"/>
                  </a:moveTo>
                  <a:lnTo>
                    <a:pt x="0" y="813557"/>
                  </a:lnTo>
                  <a:lnTo>
                    <a:pt x="18743" y="813557"/>
                  </a:lnTo>
                  <a:lnTo>
                    <a:pt x="18743" y="827281"/>
                  </a:lnTo>
                  <a:lnTo>
                    <a:pt x="0" y="827281"/>
                  </a:lnTo>
                  <a:close/>
                </a:path>
                <a:path w="19050" h="4095115">
                  <a:moveTo>
                    <a:pt x="0" y="767167"/>
                  </a:moveTo>
                  <a:lnTo>
                    <a:pt x="0" y="650807"/>
                  </a:lnTo>
                  <a:lnTo>
                    <a:pt x="18743" y="650807"/>
                  </a:lnTo>
                  <a:lnTo>
                    <a:pt x="18743" y="767167"/>
                  </a:lnTo>
                  <a:lnTo>
                    <a:pt x="0" y="767167"/>
                  </a:lnTo>
                  <a:close/>
                </a:path>
                <a:path w="19050" h="4095115">
                  <a:moveTo>
                    <a:pt x="0" y="608863"/>
                  </a:moveTo>
                  <a:lnTo>
                    <a:pt x="0" y="595139"/>
                  </a:lnTo>
                  <a:lnTo>
                    <a:pt x="18743" y="595139"/>
                  </a:lnTo>
                  <a:lnTo>
                    <a:pt x="18743" y="608863"/>
                  </a:lnTo>
                  <a:lnTo>
                    <a:pt x="0" y="608863"/>
                  </a:lnTo>
                  <a:close/>
                </a:path>
                <a:path w="19050" h="4095115">
                  <a:moveTo>
                    <a:pt x="0" y="548363"/>
                  </a:moveTo>
                  <a:lnTo>
                    <a:pt x="0" y="432582"/>
                  </a:lnTo>
                  <a:lnTo>
                    <a:pt x="18743" y="432582"/>
                  </a:lnTo>
                  <a:lnTo>
                    <a:pt x="18743" y="548363"/>
                  </a:lnTo>
                  <a:lnTo>
                    <a:pt x="0" y="548363"/>
                  </a:lnTo>
                  <a:close/>
                </a:path>
                <a:path w="19050" h="4095115">
                  <a:moveTo>
                    <a:pt x="0" y="390445"/>
                  </a:moveTo>
                  <a:lnTo>
                    <a:pt x="0" y="376722"/>
                  </a:lnTo>
                  <a:lnTo>
                    <a:pt x="18743" y="376722"/>
                  </a:lnTo>
                  <a:lnTo>
                    <a:pt x="18743" y="390445"/>
                  </a:lnTo>
                  <a:lnTo>
                    <a:pt x="0" y="390445"/>
                  </a:lnTo>
                  <a:close/>
                </a:path>
                <a:path w="19050" h="4095115">
                  <a:moveTo>
                    <a:pt x="0" y="334778"/>
                  </a:moveTo>
                  <a:lnTo>
                    <a:pt x="0" y="218804"/>
                  </a:lnTo>
                  <a:lnTo>
                    <a:pt x="18743" y="218804"/>
                  </a:lnTo>
                  <a:lnTo>
                    <a:pt x="18743" y="334778"/>
                  </a:lnTo>
                  <a:lnTo>
                    <a:pt x="0" y="334778"/>
                  </a:lnTo>
                  <a:close/>
                </a:path>
                <a:path w="19050" h="4095115">
                  <a:moveTo>
                    <a:pt x="0" y="172028"/>
                  </a:moveTo>
                  <a:lnTo>
                    <a:pt x="0" y="158304"/>
                  </a:lnTo>
                  <a:lnTo>
                    <a:pt x="18743" y="158304"/>
                  </a:lnTo>
                  <a:lnTo>
                    <a:pt x="18743" y="172028"/>
                  </a:lnTo>
                  <a:lnTo>
                    <a:pt x="0" y="172028"/>
                  </a:lnTo>
                  <a:close/>
                </a:path>
                <a:path w="19050" h="4095115">
                  <a:moveTo>
                    <a:pt x="0" y="116360"/>
                  </a:moveTo>
                  <a:lnTo>
                    <a:pt x="0" y="0"/>
                  </a:lnTo>
                  <a:lnTo>
                    <a:pt x="18743" y="0"/>
                  </a:lnTo>
                  <a:lnTo>
                    <a:pt x="18743" y="116360"/>
                  </a:lnTo>
                  <a:lnTo>
                    <a:pt x="0" y="116360"/>
                  </a:lnTo>
                  <a:close/>
                </a:path>
              </a:pathLst>
            </a:custGeom>
            <a:ln w="4787">
              <a:solidFill>
                <a:srgbClr val="000000"/>
              </a:solidFill>
            </a:ln>
          </p:spPr>
          <p:txBody>
            <a:bodyPr wrap="square" lIns="0" tIns="0" rIns="0" bIns="0" rtlCol="0"/>
            <a:lstStyle/>
            <a:p/>
          </p:txBody>
        </p:sp>
      </p:grpSp>
      <p:sp>
        <p:nvSpPr>
          <p:cNvPr id="40" name="object 40" descr=""/>
          <p:cNvSpPr txBox="1"/>
          <p:nvPr/>
        </p:nvSpPr>
        <p:spPr>
          <a:xfrm>
            <a:off x="4269063" y="2142974"/>
            <a:ext cx="732155" cy="238125"/>
          </a:xfrm>
          <a:prstGeom prst="rect">
            <a:avLst/>
          </a:prstGeom>
        </p:spPr>
        <p:txBody>
          <a:bodyPr wrap="square" lIns="0" tIns="12065" rIns="0" bIns="0" rtlCol="0" vert="horz">
            <a:spAutoFit/>
          </a:bodyPr>
          <a:lstStyle/>
          <a:p>
            <a:pPr marL="12700">
              <a:lnSpc>
                <a:spcPct val="100000"/>
              </a:lnSpc>
              <a:spcBef>
                <a:spcPts val="95"/>
              </a:spcBef>
            </a:pPr>
            <a:r>
              <a:rPr dirty="0" sz="1400" spc="-35" b="1">
                <a:solidFill>
                  <a:srgbClr val="0000FF"/>
                </a:solidFill>
                <a:latin typeface="宋体"/>
                <a:cs typeface="宋体"/>
              </a:rPr>
              <a:t>主存地址</a:t>
            </a:r>
            <a:endParaRPr sz="1400">
              <a:latin typeface="宋体"/>
              <a:cs typeface="宋体"/>
            </a:endParaRPr>
          </a:p>
        </p:txBody>
      </p:sp>
      <p:sp>
        <p:nvSpPr>
          <p:cNvPr id="41" name="object 41" descr=""/>
          <p:cNvSpPr/>
          <p:nvPr/>
        </p:nvSpPr>
        <p:spPr>
          <a:xfrm>
            <a:off x="4058714" y="1896183"/>
            <a:ext cx="3231515" cy="1413510"/>
          </a:xfrm>
          <a:custGeom>
            <a:avLst/>
            <a:gdLst/>
            <a:ahLst/>
            <a:cxnLst/>
            <a:rect l="l" t="t" r="r" b="b"/>
            <a:pathLst>
              <a:path w="3231515" h="1413510">
                <a:moveTo>
                  <a:pt x="0" y="1412949"/>
                </a:moveTo>
                <a:lnTo>
                  <a:pt x="1095633" y="1412949"/>
                </a:lnTo>
              </a:path>
              <a:path w="3231515" h="1413510">
                <a:moveTo>
                  <a:pt x="3231364" y="120612"/>
                </a:moveTo>
                <a:lnTo>
                  <a:pt x="3231364" y="115780"/>
                </a:lnTo>
                <a:lnTo>
                  <a:pt x="3226533" y="106696"/>
                </a:lnTo>
                <a:lnTo>
                  <a:pt x="3221702" y="101863"/>
                </a:lnTo>
                <a:lnTo>
                  <a:pt x="3217451" y="97224"/>
                </a:lnTo>
                <a:lnTo>
                  <a:pt x="3207982" y="92972"/>
                </a:lnTo>
                <a:lnTo>
                  <a:pt x="3198707" y="88140"/>
                </a:lnTo>
                <a:lnTo>
                  <a:pt x="3189239" y="83307"/>
                </a:lnTo>
                <a:lnTo>
                  <a:pt x="3175326" y="78669"/>
                </a:lnTo>
                <a:lnTo>
                  <a:pt x="3161413" y="74223"/>
                </a:lnTo>
                <a:lnTo>
                  <a:pt x="3147500" y="69584"/>
                </a:lnTo>
                <a:lnTo>
                  <a:pt x="3119868" y="64752"/>
                </a:lnTo>
                <a:lnTo>
                  <a:pt x="3082574" y="59919"/>
                </a:lnTo>
                <a:lnTo>
                  <a:pt x="3045666" y="59919"/>
                </a:lnTo>
                <a:lnTo>
                  <a:pt x="2307515" y="59919"/>
                </a:lnTo>
                <a:lnTo>
                  <a:pt x="2270221" y="59919"/>
                </a:lnTo>
                <a:lnTo>
                  <a:pt x="2237758" y="55667"/>
                </a:lnTo>
                <a:lnTo>
                  <a:pt x="2205101" y="51028"/>
                </a:lnTo>
                <a:lnTo>
                  <a:pt x="2191188" y="46196"/>
                </a:lnTo>
                <a:lnTo>
                  <a:pt x="2177276" y="41364"/>
                </a:lnTo>
                <a:lnTo>
                  <a:pt x="2163556" y="37111"/>
                </a:lnTo>
                <a:lnTo>
                  <a:pt x="2154474" y="32279"/>
                </a:lnTo>
                <a:lnTo>
                  <a:pt x="2144812" y="27640"/>
                </a:lnTo>
                <a:lnTo>
                  <a:pt x="2135730" y="23194"/>
                </a:lnTo>
                <a:lnTo>
                  <a:pt x="2130900" y="18555"/>
                </a:lnTo>
                <a:lnTo>
                  <a:pt x="2126069" y="13723"/>
                </a:lnTo>
                <a:lnTo>
                  <a:pt x="2126069" y="4638"/>
                </a:lnTo>
                <a:lnTo>
                  <a:pt x="2121818" y="0"/>
                </a:lnTo>
                <a:lnTo>
                  <a:pt x="2121818" y="4638"/>
                </a:lnTo>
                <a:lnTo>
                  <a:pt x="2121818" y="13723"/>
                </a:lnTo>
                <a:lnTo>
                  <a:pt x="2116987" y="18555"/>
                </a:lnTo>
                <a:lnTo>
                  <a:pt x="2107905" y="23194"/>
                </a:lnTo>
                <a:lnTo>
                  <a:pt x="2103267" y="27640"/>
                </a:lnTo>
                <a:lnTo>
                  <a:pt x="2093606" y="32279"/>
                </a:lnTo>
                <a:lnTo>
                  <a:pt x="2079693" y="37111"/>
                </a:lnTo>
                <a:lnTo>
                  <a:pt x="2070611" y="41364"/>
                </a:lnTo>
                <a:lnTo>
                  <a:pt x="2056698" y="46196"/>
                </a:lnTo>
                <a:lnTo>
                  <a:pt x="2042785" y="51028"/>
                </a:lnTo>
                <a:lnTo>
                  <a:pt x="2010322" y="55667"/>
                </a:lnTo>
                <a:lnTo>
                  <a:pt x="1977859" y="59919"/>
                </a:lnTo>
                <a:lnTo>
                  <a:pt x="1940372" y="59919"/>
                </a:lnTo>
                <a:lnTo>
                  <a:pt x="1202355" y="59919"/>
                </a:lnTo>
                <a:lnTo>
                  <a:pt x="1165506" y="59919"/>
                </a:lnTo>
                <a:lnTo>
                  <a:pt x="1128173" y="64752"/>
                </a:lnTo>
                <a:lnTo>
                  <a:pt x="1095633" y="69584"/>
                </a:lnTo>
                <a:lnTo>
                  <a:pt x="1081739" y="74223"/>
                </a:lnTo>
                <a:lnTo>
                  <a:pt x="1072657" y="78669"/>
                </a:lnTo>
                <a:lnTo>
                  <a:pt x="1058764" y="83307"/>
                </a:lnTo>
                <a:lnTo>
                  <a:pt x="1049199" y="88140"/>
                </a:lnTo>
                <a:lnTo>
                  <a:pt x="1040097" y="92972"/>
                </a:lnTo>
                <a:lnTo>
                  <a:pt x="1030532" y="97224"/>
                </a:lnTo>
                <a:lnTo>
                  <a:pt x="1026223" y="101863"/>
                </a:lnTo>
                <a:lnTo>
                  <a:pt x="1021431" y="106696"/>
                </a:lnTo>
                <a:lnTo>
                  <a:pt x="1016658" y="115780"/>
                </a:lnTo>
                <a:lnTo>
                  <a:pt x="1016658" y="120612"/>
                </a:lnTo>
              </a:path>
            </a:pathLst>
          </a:custGeom>
          <a:ln w="13882">
            <a:solidFill>
              <a:srgbClr val="000000"/>
            </a:solidFill>
          </a:ln>
        </p:spPr>
        <p:txBody>
          <a:bodyPr wrap="square" lIns="0" tIns="0" rIns="0" bIns="0" rtlCol="0"/>
          <a:lstStyle/>
          <a:p/>
        </p:txBody>
      </p:sp>
      <p:sp>
        <p:nvSpPr>
          <p:cNvPr id="42" name="object 42" descr=""/>
          <p:cNvSpPr txBox="1"/>
          <p:nvPr/>
        </p:nvSpPr>
        <p:spPr>
          <a:xfrm>
            <a:off x="5419000" y="4206114"/>
            <a:ext cx="1044575" cy="386080"/>
          </a:xfrm>
          <a:prstGeom prst="rect">
            <a:avLst/>
          </a:prstGeom>
        </p:spPr>
        <p:txBody>
          <a:bodyPr wrap="square" lIns="0" tIns="86995" rIns="0" bIns="0" rtlCol="0" vert="horz">
            <a:spAutoFit/>
          </a:bodyPr>
          <a:lstStyle/>
          <a:p>
            <a:pPr marL="269240">
              <a:lnSpc>
                <a:spcPct val="100000"/>
              </a:lnSpc>
              <a:spcBef>
                <a:spcPts val="685"/>
              </a:spcBef>
            </a:pPr>
            <a:r>
              <a:rPr dirty="0" sz="1400" spc="-35" b="1">
                <a:latin typeface="宋体"/>
                <a:cs typeface="宋体"/>
              </a:rPr>
              <a:t>块地址</a:t>
            </a:r>
            <a:endParaRPr sz="1400">
              <a:latin typeface="宋体"/>
              <a:cs typeface="宋体"/>
            </a:endParaRPr>
          </a:p>
        </p:txBody>
      </p:sp>
      <p:sp>
        <p:nvSpPr>
          <p:cNvPr id="43" name="object 43" descr=""/>
          <p:cNvSpPr txBox="1"/>
          <p:nvPr/>
        </p:nvSpPr>
        <p:spPr>
          <a:xfrm>
            <a:off x="6461285" y="4280955"/>
            <a:ext cx="847090" cy="238125"/>
          </a:xfrm>
          <a:prstGeom prst="rect">
            <a:avLst/>
          </a:prstGeom>
        </p:spPr>
        <p:txBody>
          <a:bodyPr wrap="square" lIns="0" tIns="12065" rIns="0" bIns="0" rtlCol="0" vert="horz">
            <a:spAutoFit/>
          </a:bodyPr>
          <a:lstStyle/>
          <a:p>
            <a:pPr marL="76200">
              <a:lnSpc>
                <a:spcPct val="100000"/>
              </a:lnSpc>
              <a:spcBef>
                <a:spcPts val="95"/>
              </a:spcBef>
            </a:pPr>
            <a:r>
              <a:rPr dirty="0" sz="1400" spc="-35" b="1">
                <a:latin typeface="宋体"/>
                <a:cs typeface="宋体"/>
              </a:rPr>
              <a:t>块内位移</a:t>
            </a:r>
            <a:endParaRPr sz="1400">
              <a:latin typeface="宋体"/>
              <a:cs typeface="宋体"/>
            </a:endParaRPr>
          </a:p>
        </p:txBody>
      </p:sp>
      <p:sp>
        <p:nvSpPr>
          <p:cNvPr id="44" name="object 44" descr=""/>
          <p:cNvSpPr txBox="1"/>
          <p:nvPr/>
        </p:nvSpPr>
        <p:spPr>
          <a:xfrm>
            <a:off x="4491649" y="4304343"/>
            <a:ext cx="861694" cy="238125"/>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0000FF"/>
                </a:solidFill>
                <a:latin typeface="宋体"/>
                <a:cs typeface="宋体"/>
              </a:rPr>
              <a:t>Cache</a:t>
            </a:r>
            <a:r>
              <a:rPr dirty="0" sz="1400" spc="-135" b="1">
                <a:solidFill>
                  <a:srgbClr val="0000FF"/>
                </a:solidFill>
                <a:latin typeface="宋体"/>
                <a:cs typeface="宋体"/>
              </a:rPr>
              <a:t> 地址</a:t>
            </a:r>
            <a:endParaRPr sz="1400">
              <a:latin typeface="宋体"/>
              <a:cs typeface="宋体"/>
            </a:endParaRPr>
          </a:p>
        </p:txBody>
      </p:sp>
      <p:sp>
        <p:nvSpPr>
          <p:cNvPr id="45" name="object 45" descr=""/>
          <p:cNvSpPr txBox="1"/>
          <p:nvPr/>
        </p:nvSpPr>
        <p:spPr>
          <a:xfrm>
            <a:off x="5057170" y="2058624"/>
            <a:ext cx="1420495" cy="376555"/>
          </a:xfrm>
          <a:prstGeom prst="rect">
            <a:avLst/>
          </a:prstGeom>
        </p:spPr>
        <p:txBody>
          <a:bodyPr wrap="square" lIns="0" tIns="96520" rIns="0" bIns="0" rtlCol="0" vert="horz">
            <a:spAutoFit/>
          </a:bodyPr>
          <a:lstStyle/>
          <a:p>
            <a:pPr marL="449580">
              <a:lnSpc>
                <a:spcPct val="100000"/>
              </a:lnSpc>
              <a:spcBef>
                <a:spcPts val="760"/>
              </a:spcBef>
            </a:pPr>
            <a:r>
              <a:rPr dirty="0" sz="1400" spc="-35" b="1">
                <a:latin typeface="宋体"/>
                <a:cs typeface="宋体"/>
              </a:rPr>
              <a:t>块地址</a:t>
            </a:r>
            <a:endParaRPr sz="1400">
              <a:latin typeface="宋体"/>
              <a:cs typeface="宋体"/>
            </a:endParaRPr>
          </a:p>
        </p:txBody>
      </p:sp>
      <p:sp>
        <p:nvSpPr>
          <p:cNvPr id="46" name="object 46" descr=""/>
          <p:cNvSpPr txBox="1"/>
          <p:nvPr/>
        </p:nvSpPr>
        <p:spPr>
          <a:xfrm>
            <a:off x="6484279" y="2142974"/>
            <a:ext cx="815340" cy="238125"/>
          </a:xfrm>
          <a:prstGeom prst="rect">
            <a:avLst/>
          </a:prstGeom>
        </p:spPr>
        <p:txBody>
          <a:bodyPr wrap="square" lIns="0" tIns="12065" rIns="0" bIns="0" rtlCol="0" vert="horz">
            <a:spAutoFit/>
          </a:bodyPr>
          <a:lstStyle/>
          <a:p>
            <a:pPr marL="53340">
              <a:lnSpc>
                <a:spcPct val="100000"/>
              </a:lnSpc>
              <a:spcBef>
                <a:spcPts val="95"/>
              </a:spcBef>
            </a:pPr>
            <a:r>
              <a:rPr dirty="0" sz="1400" spc="-35" b="1">
                <a:latin typeface="宋体"/>
                <a:cs typeface="宋体"/>
              </a:rPr>
              <a:t>块内位移</a:t>
            </a:r>
            <a:endParaRPr sz="1400">
              <a:latin typeface="宋体"/>
              <a:cs typeface="宋体"/>
            </a:endParaRPr>
          </a:p>
        </p:txBody>
      </p:sp>
      <p:sp>
        <p:nvSpPr>
          <p:cNvPr id="47" name="object 47" descr=""/>
          <p:cNvSpPr/>
          <p:nvPr/>
        </p:nvSpPr>
        <p:spPr>
          <a:xfrm>
            <a:off x="5057170" y="2044784"/>
            <a:ext cx="2251075" cy="390525"/>
          </a:xfrm>
          <a:custGeom>
            <a:avLst/>
            <a:gdLst/>
            <a:ahLst/>
            <a:cxnLst/>
            <a:rect l="l" t="t" r="r" b="b"/>
            <a:pathLst>
              <a:path w="2251075" h="390525">
                <a:moveTo>
                  <a:pt x="0" y="390097"/>
                </a:moveTo>
                <a:lnTo>
                  <a:pt x="2250975" y="390097"/>
                </a:lnTo>
                <a:lnTo>
                  <a:pt x="2250975" y="0"/>
                </a:lnTo>
                <a:lnTo>
                  <a:pt x="0" y="0"/>
                </a:lnTo>
                <a:lnTo>
                  <a:pt x="0" y="390097"/>
                </a:lnTo>
                <a:close/>
              </a:path>
              <a:path w="2251075" h="390525">
                <a:moveTo>
                  <a:pt x="1420168" y="38"/>
                </a:moveTo>
                <a:lnTo>
                  <a:pt x="1420168" y="390097"/>
                </a:lnTo>
              </a:path>
            </a:pathLst>
          </a:custGeom>
          <a:ln w="13882">
            <a:solidFill>
              <a:srgbClr val="000000"/>
            </a:solidFill>
          </a:ln>
        </p:spPr>
        <p:txBody>
          <a:bodyPr wrap="square" lIns="0" tIns="0" rIns="0" bIns="0" rtlCol="0"/>
          <a:lstStyle/>
          <a:p/>
        </p:txBody>
      </p:sp>
      <p:sp>
        <p:nvSpPr>
          <p:cNvPr id="48" name="object 48" descr=""/>
          <p:cNvSpPr txBox="1"/>
          <p:nvPr/>
        </p:nvSpPr>
        <p:spPr>
          <a:xfrm>
            <a:off x="5177787" y="2979109"/>
            <a:ext cx="1197610" cy="627380"/>
          </a:xfrm>
          <a:prstGeom prst="rect">
            <a:avLst/>
          </a:prstGeom>
        </p:spPr>
        <p:txBody>
          <a:bodyPr wrap="square" lIns="0" tIns="19050" rIns="0" bIns="0" rtlCol="0" vert="horz">
            <a:spAutoFit/>
          </a:bodyPr>
          <a:lstStyle/>
          <a:p>
            <a:pPr marL="240665" marR="90170" indent="-139700">
              <a:lnSpc>
                <a:spcPct val="117200"/>
              </a:lnSpc>
              <a:spcBef>
                <a:spcPts val="150"/>
              </a:spcBef>
            </a:pPr>
            <a:r>
              <a:rPr dirty="0" sz="1400" spc="-30" b="1">
                <a:latin typeface="宋体"/>
                <a:cs typeface="宋体"/>
              </a:rPr>
              <a:t>主存</a:t>
            </a:r>
            <a:r>
              <a:rPr dirty="0" sz="1600" spc="-10">
                <a:latin typeface="宋体"/>
                <a:cs typeface="宋体"/>
              </a:rPr>
              <a:t>→</a:t>
            </a:r>
            <a:r>
              <a:rPr dirty="0" sz="1400" spc="-10" b="1">
                <a:latin typeface="宋体"/>
                <a:cs typeface="宋体"/>
              </a:rPr>
              <a:t>Cache</a:t>
            </a:r>
            <a:r>
              <a:rPr dirty="0" sz="1400" spc="-35" b="1">
                <a:latin typeface="宋体"/>
                <a:cs typeface="宋体"/>
              </a:rPr>
              <a:t>地址变换</a:t>
            </a:r>
            <a:endParaRPr sz="1400">
              <a:latin typeface="宋体"/>
              <a:cs typeface="宋体"/>
            </a:endParaRPr>
          </a:p>
        </p:txBody>
      </p:sp>
      <p:grpSp>
        <p:nvGrpSpPr>
          <p:cNvPr id="49" name="object 49" descr=""/>
          <p:cNvGrpSpPr/>
          <p:nvPr/>
        </p:nvGrpSpPr>
        <p:grpSpPr>
          <a:xfrm>
            <a:off x="4022350" y="2460949"/>
            <a:ext cx="3288665" cy="2296160"/>
            <a:chOff x="4022350" y="2460949"/>
            <a:chExt cx="3288665" cy="2296160"/>
          </a:xfrm>
        </p:grpSpPr>
        <p:sp>
          <p:nvSpPr>
            <p:cNvPr id="50" name="object 50" descr=""/>
            <p:cNvSpPr/>
            <p:nvPr/>
          </p:nvSpPr>
          <p:spPr>
            <a:xfrm>
              <a:off x="5075373" y="2467934"/>
              <a:ext cx="2219325" cy="120650"/>
            </a:xfrm>
            <a:custGeom>
              <a:avLst/>
              <a:gdLst/>
              <a:ahLst/>
              <a:cxnLst/>
              <a:rect l="l" t="t" r="r" b="b"/>
              <a:pathLst>
                <a:path w="2219325" h="120650">
                  <a:moveTo>
                    <a:pt x="0" y="0"/>
                  </a:moveTo>
                  <a:lnTo>
                    <a:pt x="32540" y="41364"/>
                  </a:lnTo>
                  <a:lnTo>
                    <a:pt x="69873" y="55667"/>
                  </a:lnTo>
                  <a:lnTo>
                    <a:pt x="92848" y="60113"/>
                  </a:lnTo>
                  <a:lnTo>
                    <a:pt x="116307" y="60113"/>
                  </a:lnTo>
                  <a:lnTo>
                    <a:pt x="571062" y="60113"/>
                  </a:lnTo>
                  <a:lnTo>
                    <a:pt x="594443" y="60113"/>
                  </a:lnTo>
                  <a:lnTo>
                    <a:pt x="617438" y="64752"/>
                  </a:lnTo>
                  <a:lnTo>
                    <a:pt x="636182" y="69584"/>
                  </a:lnTo>
                  <a:lnTo>
                    <a:pt x="654732" y="78669"/>
                  </a:lnTo>
                  <a:lnTo>
                    <a:pt x="668645" y="83307"/>
                  </a:lnTo>
                  <a:lnTo>
                    <a:pt x="677727" y="97224"/>
                  </a:lnTo>
                  <a:lnTo>
                    <a:pt x="682558" y="106696"/>
                  </a:lnTo>
                  <a:lnTo>
                    <a:pt x="687389" y="111141"/>
                  </a:lnTo>
                  <a:lnTo>
                    <a:pt x="687389" y="120612"/>
                  </a:lnTo>
                  <a:lnTo>
                    <a:pt x="687389" y="111141"/>
                  </a:lnTo>
                  <a:lnTo>
                    <a:pt x="687389" y="106696"/>
                  </a:lnTo>
                  <a:lnTo>
                    <a:pt x="696471" y="97224"/>
                  </a:lnTo>
                  <a:lnTo>
                    <a:pt x="705939" y="83307"/>
                  </a:lnTo>
                  <a:lnTo>
                    <a:pt x="719852" y="78669"/>
                  </a:lnTo>
                  <a:lnTo>
                    <a:pt x="738016" y="69584"/>
                  </a:lnTo>
                  <a:lnTo>
                    <a:pt x="756759" y="64752"/>
                  </a:lnTo>
                  <a:lnTo>
                    <a:pt x="780141" y="60113"/>
                  </a:lnTo>
                  <a:lnTo>
                    <a:pt x="803135" y="60113"/>
                  </a:lnTo>
                  <a:lnTo>
                    <a:pt x="1258393" y="60113"/>
                  </a:lnTo>
                  <a:lnTo>
                    <a:pt x="1281388" y="60113"/>
                  </a:lnTo>
                  <a:lnTo>
                    <a:pt x="1304769" y="55667"/>
                  </a:lnTo>
                  <a:lnTo>
                    <a:pt x="1341677" y="41364"/>
                  </a:lnTo>
                  <a:lnTo>
                    <a:pt x="1369309" y="9084"/>
                  </a:lnTo>
                  <a:lnTo>
                    <a:pt x="1374140" y="4252"/>
                  </a:lnTo>
                  <a:lnTo>
                    <a:pt x="1374140" y="0"/>
                  </a:lnTo>
                </a:path>
                <a:path w="2219325" h="120650">
                  <a:moveTo>
                    <a:pt x="1430178" y="0"/>
                  </a:moveTo>
                  <a:lnTo>
                    <a:pt x="1430178" y="9084"/>
                  </a:lnTo>
                  <a:lnTo>
                    <a:pt x="1434429" y="22808"/>
                  </a:lnTo>
                  <a:lnTo>
                    <a:pt x="1439260" y="32279"/>
                  </a:lnTo>
                  <a:lnTo>
                    <a:pt x="1448342" y="41364"/>
                  </a:lnTo>
                  <a:lnTo>
                    <a:pt x="1458003" y="51028"/>
                  </a:lnTo>
                  <a:lnTo>
                    <a:pt x="1471916" y="55667"/>
                  </a:lnTo>
                  <a:lnTo>
                    <a:pt x="1480998" y="60113"/>
                  </a:lnTo>
                  <a:lnTo>
                    <a:pt x="1494718" y="60113"/>
                  </a:lnTo>
                  <a:lnTo>
                    <a:pt x="1759447" y="60113"/>
                  </a:lnTo>
                  <a:lnTo>
                    <a:pt x="1773360" y="60113"/>
                  </a:lnTo>
                  <a:lnTo>
                    <a:pt x="1783022" y="64752"/>
                  </a:lnTo>
                  <a:lnTo>
                    <a:pt x="1796741" y="69584"/>
                  </a:lnTo>
                  <a:lnTo>
                    <a:pt x="1806016" y="78669"/>
                  </a:lnTo>
                  <a:lnTo>
                    <a:pt x="1815485" y="83307"/>
                  </a:lnTo>
                  <a:lnTo>
                    <a:pt x="1819736" y="97224"/>
                  </a:lnTo>
                  <a:lnTo>
                    <a:pt x="1824567" y="106696"/>
                  </a:lnTo>
                  <a:lnTo>
                    <a:pt x="1824567" y="120612"/>
                  </a:lnTo>
                  <a:lnTo>
                    <a:pt x="1824567" y="106696"/>
                  </a:lnTo>
                  <a:lnTo>
                    <a:pt x="1829398" y="97224"/>
                  </a:lnTo>
                  <a:lnTo>
                    <a:pt x="1838480" y="83307"/>
                  </a:lnTo>
                  <a:lnTo>
                    <a:pt x="1843310" y="78669"/>
                  </a:lnTo>
                  <a:lnTo>
                    <a:pt x="1852392" y="69584"/>
                  </a:lnTo>
                  <a:lnTo>
                    <a:pt x="1866305" y="64752"/>
                  </a:lnTo>
                  <a:lnTo>
                    <a:pt x="1880025" y="60113"/>
                  </a:lnTo>
                  <a:lnTo>
                    <a:pt x="1889687" y="60113"/>
                  </a:lnTo>
                  <a:lnTo>
                    <a:pt x="2154416" y="60113"/>
                  </a:lnTo>
                  <a:lnTo>
                    <a:pt x="2168329" y="60113"/>
                  </a:lnTo>
                  <a:lnTo>
                    <a:pt x="2182049" y="55667"/>
                  </a:lnTo>
                  <a:lnTo>
                    <a:pt x="2191324" y="51028"/>
                  </a:lnTo>
                  <a:lnTo>
                    <a:pt x="2200792" y="41364"/>
                  </a:lnTo>
                  <a:lnTo>
                    <a:pt x="2209874" y="32279"/>
                  </a:lnTo>
                  <a:lnTo>
                    <a:pt x="2214705" y="22808"/>
                  </a:lnTo>
                  <a:lnTo>
                    <a:pt x="2218956" y="9084"/>
                  </a:lnTo>
                  <a:lnTo>
                    <a:pt x="2218956" y="0"/>
                  </a:lnTo>
                </a:path>
              </a:pathLst>
            </a:custGeom>
            <a:ln w="13882">
              <a:solidFill>
                <a:srgbClr val="000000"/>
              </a:solidFill>
            </a:ln>
          </p:spPr>
          <p:txBody>
            <a:bodyPr wrap="square" lIns="0" tIns="0" rIns="0" bIns="0" rtlCol="0"/>
            <a:lstStyle/>
            <a:p/>
          </p:txBody>
        </p:sp>
        <p:sp>
          <p:nvSpPr>
            <p:cNvPr id="51" name="object 51" descr=""/>
            <p:cNvSpPr/>
            <p:nvPr/>
          </p:nvSpPr>
          <p:spPr>
            <a:xfrm>
              <a:off x="5728173" y="2581782"/>
              <a:ext cx="79375" cy="400685"/>
            </a:xfrm>
            <a:custGeom>
              <a:avLst/>
              <a:gdLst/>
              <a:ahLst/>
              <a:cxnLst/>
              <a:rect l="l" t="t" r="r" b="b"/>
              <a:pathLst>
                <a:path w="79375" h="400685">
                  <a:moveTo>
                    <a:pt x="0" y="283749"/>
                  </a:moveTo>
                  <a:lnTo>
                    <a:pt x="41738" y="400110"/>
                  </a:lnTo>
                  <a:lnTo>
                    <a:pt x="64164" y="330139"/>
                  </a:lnTo>
                  <a:lnTo>
                    <a:pt x="37487" y="330139"/>
                  </a:lnTo>
                  <a:lnTo>
                    <a:pt x="32656" y="325693"/>
                  </a:lnTo>
                  <a:lnTo>
                    <a:pt x="32656" y="312937"/>
                  </a:lnTo>
                  <a:lnTo>
                    <a:pt x="0" y="283749"/>
                  </a:lnTo>
                  <a:close/>
                </a:path>
                <a:path w="79375" h="400685">
                  <a:moveTo>
                    <a:pt x="32656" y="312937"/>
                  </a:moveTo>
                  <a:lnTo>
                    <a:pt x="32656" y="325693"/>
                  </a:lnTo>
                  <a:lnTo>
                    <a:pt x="37487" y="330139"/>
                  </a:lnTo>
                  <a:lnTo>
                    <a:pt x="41738" y="330139"/>
                  </a:lnTo>
                  <a:lnTo>
                    <a:pt x="46569" y="325693"/>
                  </a:lnTo>
                  <a:lnTo>
                    <a:pt x="51206" y="325693"/>
                  </a:lnTo>
                  <a:lnTo>
                    <a:pt x="51206" y="321054"/>
                  </a:lnTo>
                  <a:lnTo>
                    <a:pt x="41738" y="321054"/>
                  </a:lnTo>
                  <a:lnTo>
                    <a:pt x="32656" y="312937"/>
                  </a:lnTo>
                  <a:close/>
                </a:path>
                <a:path w="79375" h="400685">
                  <a:moveTo>
                    <a:pt x="79032" y="283749"/>
                  </a:moveTo>
                  <a:lnTo>
                    <a:pt x="51206" y="311583"/>
                  </a:lnTo>
                  <a:lnTo>
                    <a:pt x="51206" y="325693"/>
                  </a:lnTo>
                  <a:lnTo>
                    <a:pt x="46569" y="325693"/>
                  </a:lnTo>
                  <a:lnTo>
                    <a:pt x="41738" y="330139"/>
                  </a:lnTo>
                  <a:lnTo>
                    <a:pt x="64164" y="330139"/>
                  </a:lnTo>
                  <a:lnTo>
                    <a:pt x="79032" y="283749"/>
                  </a:lnTo>
                  <a:close/>
                </a:path>
                <a:path w="79375" h="400685">
                  <a:moveTo>
                    <a:pt x="46569" y="0"/>
                  </a:moveTo>
                  <a:lnTo>
                    <a:pt x="32656" y="0"/>
                  </a:lnTo>
                  <a:lnTo>
                    <a:pt x="32656" y="312937"/>
                  </a:lnTo>
                  <a:lnTo>
                    <a:pt x="41738" y="321054"/>
                  </a:lnTo>
                  <a:lnTo>
                    <a:pt x="51206" y="311583"/>
                  </a:lnTo>
                  <a:lnTo>
                    <a:pt x="51206" y="4832"/>
                  </a:lnTo>
                  <a:lnTo>
                    <a:pt x="46569" y="0"/>
                  </a:lnTo>
                  <a:close/>
                </a:path>
                <a:path w="79375" h="400685">
                  <a:moveTo>
                    <a:pt x="51206" y="311583"/>
                  </a:moveTo>
                  <a:lnTo>
                    <a:pt x="41738" y="321054"/>
                  </a:lnTo>
                  <a:lnTo>
                    <a:pt x="51206" y="321054"/>
                  </a:lnTo>
                  <a:lnTo>
                    <a:pt x="51206" y="311583"/>
                  </a:lnTo>
                  <a:close/>
                </a:path>
              </a:pathLst>
            </a:custGeom>
            <a:solidFill>
              <a:srgbClr val="000000"/>
            </a:solidFill>
          </p:spPr>
          <p:txBody>
            <a:bodyPr wrap="square" lIns="0" tIns="0" rIns="0" bIns="0" rtlCol="0"/>
            <a:lstStyle/>
            <a:p/>
          </p:txBody>
        </p:sp>
        <p:sp>
          <p:nvSpPr>
            <p:cNvPr id="52" name="object 52" descr=""/>
            <p:cNvSpPr/>
            <p:nvPr/>
          </p:nvSpPr>
          <p:spPr>
            <a:xfrm>
              <a:off x="5728173" y="2581782"/>
              <a:ext cx="79375" cy="400685"/>
            </a:xfrm>
            <a:custGeom>
              <a:avLst/>
              <a:gdLst/>
              <a:ahLst/>
              <a:cxnLst/>
              <a:rect l="l" t="t" r="r" b="b"/>
              <a:pathLst>
                <a:path w="79375" h="400685">
                  <a:moveTo>
                    <a:pt x="51206" y="9664"/>
                  </a:moveTo>
                  <a:lnTo>
                    <a:pt x="51206" y="321054"/>
                  </a:lnTo>
                  <a:lnTo>
                    <a:pt x="51206" y="325693"/>
                  </a:lnTo>
                  <a:lnTo>
                    <a:pt x="46569" y="325693"/>
                  </a:lnTo>
                  <a:lnTo>
                    <a:pt x="41738" y="330139"/>
                  </a:lnTo>
                  <a:lnTo>
                    <a:pt x="37487" y="330139"/>
                  </a:lnTo>
                  <a:lnTo>
                    <a:pt x="32656" y="325693"/>
                  </a:lnTo>
                  <a:lnTo>
                    <a:pt x="32656" y="321054"/>
                  </a:lnTo>
                  <a:lnTo>
                    <a:pt x="32656" y="9664"/>
                  </a:lnTo>
                  <a:lnTo>
                    <a:pt x="32656" y="4832"/>
                  </a:lnTo>
                  <a:lnTo>
                    <a:pt x="32656" y="0"/>
                  </a:lnTo>
                  <a:lnTo>
                    <a:pt x="37487" y="0"/>
                  </a:lnTo>
                  <a:lnTo>
                    <a:pt x="41738" y="0"/>
                  </a:lnTo>
                  <a:lnTo>
                    <a:pt x="46569" y="0"/>
                  </a:lnTo>
                  <a:lnTo>
                    <a:pt x="51206" y="4832"/>
                  </a:lnTo>
                  <a:lnTo>
                    <a:pt x="51206" y="9664"/>
                  </a:lnTo>
                  <a:close/>
                </a:path>
                <a:path w="79375" h="400685">
                  <a:moveTo>
                    <a:pt x="41738" y="321054"/>
                  </a:moveTo>
                  <a:lnTo>
                    <a:pt x="79032" y="283749"/>
                  </a:lnTo>
                  <a:lnTo>
                    <a:pt x="41738" y="400110"/>
                  </a:lnTo>
                  <a:lnTo>
                    <a:pt x="0" y="283749"/>
                  </a:lnTo>
                  <a:lnTo>
                    <a:pt x="41738" y="321054"/>
                  </a:lnTo>
                  <a:close/>
                </a:path>
              </a:pathLst>
            </a:custGeom>
            <a:ln w="4787">
              <a:solidFill>
                <a:srgbClr val="000000"/>
              </a:solidFill>
            </a:ln>
          </p:spPr>
          <p:txBody>
            <a:bodyPr wrap="square" lIns="0" tIns="0" rIns="0" bIns="0" rtlCol="0"/>
            <a:lstStyle/>
            <a:p/>
          </p:txBody>
        </p:sp>
        <p:sp>
          <p:nvSpPr>
            <p:cNvPr id="53" name="object 53" descr=""/>
            <p:cNvSpPr/>
            <p:nvPr/>
          </p:nvSpPr>
          <p:spPr>
            <a:xfrm>
              <a:off x="4024744" y="3302367"/>
              <a:ext cx="79375" cy="307340"/>
            </a:xfrm>
            <a:custGeom>
              <a:avLst/>
              <a:gdLst/>
              <a:ahLst/>
              <a:cxnLst/>
              <a:rect l="l" t="t" r="r" b="b"/>
              <a:pathLst>
                <a:path w="79375" h="307339">
                  <a:moveTo>
                    <a:pt x="0" y="190777"/>
                  </a:moveTo>
                  <a:lnTo>
                    <a:pt x="36849" y="306751"/>
                  </a:lnTo>
                  <a:lnTo>
                    <a:pt x="60439" y="241805"/>
                  </a:lnTo>
                  <a:lnTo>
                    <a:pt x="32540" y="241805"/>
                  </a:lnTo>
                  <a:lnTo>
                    <a:pt x="32540" y="236973"/>
                  </a:lnTo>
                  <a:lnTo>
                    <a:pt x="27748" y="232334"/>
                  </a:lnTo>
                  <a:lnTo>
                    <a:pt x="27748" y="222070"/>
                  </a:lnTo>
                  <a:lnTo>
                    <a:pt x="0" y="190777"/>
                  </a:lnTo>
                  <a:close/>
                </a:path>
                <a:path w="79375" h="307339">
                  <a:moveTo>
                    <a:pt x="27748" y="222070"/>
                  </a:moveTo>
                  <a:lnTo>
                    <a:pt x="27748" y="232334"/>
                  </a:lnTo>
                  <a:lnTo>
                    <a:pt x="32540" y="236973"/>
                  </a:lnTo>
                  <a:lnTo>
                    <a:pt x="32540" y="241805"/>
                  </a:lnTo>
                  <a:lnTo>
                    <a:pt x="41641" y="241805"/>
                  </a:lnTo>
                  <a:lnTo>
                    <a:pt x="46414" y="236973"/>
                  </a:lnTo>
                  <a:lnTo>
                    <a:pt x="46414" y="232334"/>
                  </a:lnTo>
                  <a:lnTo>
                    <a:pt x="36849" y="232334"/>
                  </a:lnTo>
                  <a:lnTo>
                    <a:pt x="27748" y="222070"/>
                  </a:lnTo>
                  <a:close/>
                </a:path>
                <a:path w="79375" h="307339">
                  <a:moveTo>
                    <a:pt x="78974" y="190777"/>
                  </a:moveTo>
                  <a:lnTo>
                    <a:pt x="46414" y="222898"/>
                  </a:lnTo>
                  <a:lnTo>
                    <a:pt x="46414" y="236973"/>
                  </a:lnTo>
                  <a:lnTo>
                    <a:pt x="41641" y="241805"/>
                  </a:lnTo>
                  <a:lnTo>
                    <a:pt x="60439" y="241805"/>
                  </a:lnTo>
                  <a:lnTo>
                    <a:pt x="78974" y="190777"/>
                  </a:lnTo>
                  <a:close/>
                </a:path>
                <a:path w="79375" h="307339">
                  <a:moveTo>
                    <a:pt x="46414" y="0"/>
                  </a:moveTo>
                  <a:lnTo>
                    <a:pt x="32540" y="0"/>
                  </a:lnTo>
                  <a:lnTo>
                    <a:pt x="27748" y="4832"/>
                  </a:lnTo>
                  <a:lnTo>
                    <a:pt x="27748" y="222070"/>
                  </a:lnTo>
                  <a:lnTo>
                    <a:pt x="36849" y="232334"/>
                  </a:lnTo>
                  <a:lnTo>
                    <a:pt x="46414" y="222898"/>
                  </a:lnTo>
                  <a:lnTo>
                    <a:pt x="46414" y="0"/>
                  </a:lnTo>
                  <a:close/>
                </a:path>
                <a:path w="79375" h="307339">
                  <a:moveTo>
                    <a:pt x="46414" y="222898"/>
                  </a:moveTo>
                  <a:lnTo>
                    <a:pt x="36849" y="232334"/>
                  </a:lnTo>
                  <a:lnTo>
                    <a:pt x="46414" y="232334"/>
                  </a:lnTo>
                  <a:lnTo>
                    <a:pt x="46414" y="222898"/>
                  </a:lnTo>
                  <a:close/>
                </a:path>
              </a:pathLst>
            </a:custGeom>
            <a:solidFill>
              <a:srgbClr val="000000"/>
            </a:solidFill>
          </p:spPr>
          <p:txBody>
            <a:bodyPr wrap="square" lIns="0" tIns="0" rIns="0" bIns="0" rtlCol="0"/>
            <a:lstStyle/>
            <a:p/>
          </p:txBody>
        </p:sp>
        <p:pic>
          <p:nvPicPr>
            <p:cNvPr id="54" name="object 54" descr=""/>
            <p:cNvPicPr/>
            <p:nvPr/>
          </p:nvPicPr>
          <p:blipFill>
            <a:blip r:embed="rId5" cstate="print"/>
            <a:stretch>
              <a:fillRect/>
            </a:stretch>
          </p:blipFill>
          <p:spPr>
            <a:xfrm>
              <a:off x="4022350" y="3299974"/>
              <a:ext cx="83761" cy="311537"/>
            </a:xfrm>
            <a:prstGeom prst="rect">
              <a:avLst/>
            </a:prstGeom>
          </p:spPr>
        </p:pic>
        <p:sp>
          <p:nvSpPr>
            <p:cNvPr id="55" name="object 55" descr=""/>
            <p:cNvSpPr/>
            <p:nvPr/>
          </p:nvSpPr>
          <p:spPr>
            <a:xfrm>
              <a:off x="6865545" y="2581782"/>
              <a:ext cx="79375" cy="1478915"/>
            </a:xfrm>
            <a:custGeom>
              <a:avLst/>
              <a:gdLst/>
              <a:ahLst/>
              <a:cxnLst/>
              <a:rect l="l" t="t" r="r" b="b"/>
              <a:pathLst>
                <a:path w="79375" h="1478914">
                  <a:moveTo>
                    <a:pt x="0" y="1362114"/>
                  </a:moveTo>
                  <a:lnTo>
                    <a:pt x="42124" y="1478474"/>
                  </a:lnTo>
                  <a:lnTo>
                    <a:pt x="62738" y="1413142"/>
                  </a:lnTo>
                  <a:lnTo>
                    <a:pt x="42124" y="1413142"/>
                  </a:lnTo>
                  <a:lnTo>
                    <a:pt x="37294" y="1408697"/>
                  </a:lnTo>
                  <a:lnTo>
                    <a:pt x="32463" y="1408697"/>
                  </a:lnTo>
                  <a:lnTo>
                    <a:pt x="32463" y="1394438"/>
                  </a:lnTo>
                  <a:lnTo>
                    <a:pt x="0" y="1362114"/>
                  </a:lnTo>
                  <a:close/>
                </a:path>
                <a:path w="79375" h="1478914">
                  <a:moveTo>
                    <a:pt x="42124" y="1408697"/>
                  </a:moveTo>
                  <a:lnTo>
                    <a:pt x="37294" y="1408697"/>
                  </a:lnTo>
                  <a:lnTo>
                    <a:pt x="42124" y="1413142"/>
                  </a:lnTo>
                  <a:lnTo>
                    <a:pt x="42124" y="1408697"/>
                  </a:lnTo>
                  <a:close/>
                </a:path>
                <a:path w="79375" h="1478914">
                  <a:moveTo>
                    <a:pt x="78839" y="1362114"/>
                  </a:moveTo>
                  <a:lnTo>
                    <a:pt x="51206" y="1393682"/>
                  </a:lnTo>
                  <a:lnTo>
                    <a:pt x="51206" y="1404058"/>
                  </a:lnTo>
                  <a:lnTo>
                    <a:pt x="46376" y="1408697"/>
                  </a:lnTo>
                  <a:lnTo>
                    <a:pt x="42124" y="1408697"/>
                  </a:lnTo>
                  <a:lnTo>
                    <a:pt x="42124" y="1413142"/>
                  </a:lnTo>
                  <a:lnTo>
                    <a:pt x="62738" y="1413142"/>
                  </a:lnTo>
                  <a:lnTo>
                    <a:pt x="78839" y="1362114"/>
                  </a:lnTo>
                  <a:close/>
                </a:path>
                <a:path w="79375" h="1478914">
                  <a:moveTo>
                    <a:pt x="32463" y="1394438"/>
                  </a:moveTo>
                  <a:lnTo>
                    <a:pt x="32463" y="1408697"/>
                  </a:lnTo>
                  <a:lnTo>
                    <a:pt x="46376" y="1408697"/>
                  </a:lnTo>
                  <a:lnTo>
                    <a:pt x="51206" y="1404058"/>
                  </a:lnTo>
                  <a:lnTo>
                    <a:pt x="42124" y="1404058"/>
                  </a:lnTo>
                  <a:lnTo>
                    <a:pt x="32463" y="1394438"/>
                  </a:lnTo>
                  <a:close/>
                </a:path>
                <a:path w="79375" h="1478914">
                  <a:moveTo>
                    <a:pt x="46375" y="0"/>
                  </a:moveTo>
                  <a:lnTo>
                    <a:pt x="32463" y="0"/>
                  </a:lnTo>
                  <a:lnTo>
                    <a:pt x="32463" y="1394438"/>
                  </a:lnTo>
                  <a:lnTo>
                    <a:pt x="42124" y="1404058"/>
                  </a:lnTo>
                  <a:lnTo>
                    <a:pt x="51206" y="1393682"/>
                  </a:lnTo>
                  <a:lnTo>
                    <a:pt x="51206" y="4832"/>
                  </a:lnTo>
                  <a:lnTo>
                    <a:pt x="46375" y="0"/>
                  </a:lnTo>
                  <a:close/>
                </a:path>
                <a:path w="79375" h="1478914">
                  <a:moveTo>
                    <a:pt x="51206" y="1393682"/>
                  </a:moveTo>
                  <a:lnTo>
                    <a:pt x="42124" y="1404058"/>
                  </a:lnTo>
                  <a:lnTo>
                    <a:pt x="51206" y="1404058"/>
                  </a:lnTo>
                  <a:lnTo>
                    <a:pt x="51206" y="1393682"/>
                  </a:lnTo>
                  <a:close/>
                </a:path>
              </a:pathLst>
            </a:custGeom>
            <a:solidFill>
              <a:srgbClr val="000000"/>
            </a:solidFill>
          </p:spPr>
          <p:txBody>
            <a:bodyPr wrap="square" lIns="0" tIns="0" rIns="0" bIns="0" rtlCol="0"/>
            <a:lstStyle/>
            <a:p/>
          </p:txBody>
        </p:sp>
        <p:sp>
          <p:nvSpPr>
            <p:cNvPr id="56" name="object 56" descr=""/>
            <p:cNvSpPr/>
            <p:nvPr/>
          </p:nvSpPr>
          <p:spPr>
            <a:xfrm>
              <a:off x="6865545" y="2581782"/>
              <a:ext cx="79375" cy="1478915"/>
            </a:xfrm>
            <a:custGeom>
              <a:avLst/>
              <a:gdLst/>
              <a:ahLst/>
              <a:cxnLst/>
              <a:rect l="l" t="t" r="r" b="b"/>
              <a:pathLst>
                <a:path w="79375" h="1478914">
                  <a:moveTo>
                    <a:pt x="51206" y="9664"/>
                  </a:moveTo>
                  <a:lnTo>
                    <a:pt x="51206" y="1404058"/>
                  </a:lnTo>
                  <a:lnTo>
                    <a:pt x="46376" y="1408697"/>
                  </a:lnTo>
                  <a:lnTo>
                    <a:pt x="42124" y="1408697"/>
                  </a:lnTo>
                  <a:lnTo>
                    <a:pt x="42124" y="1413142"/>
                  </a:lnTo>
                  <a:lnTo>
                    <a:pt x="37294" y="1408697"/>
                  </a:lnTo>
                  <a:lnTo>
                    <a:pt x="32463" y="1408697"/>
                  </a:lnTo>
                  <a:lnTo>
                    <a:pt x="32463" y="1404058"/>
                  </a:lnTo>
                  <a:lnTo>
                    <a:pt x="32463" y="9664"/>
                  </a:lnTo>
                  <a:lnTo>
                    <a:pt x="32463" y="4832"/>
                  </a:lnTo>
                  <a:lnTo>
                    <a:pt x="32463" y="0"/>
                  </a:lnTo>
                  <a:lnTo>
                    <a:pt x="37293" y="0"/>
                  </a:lnTo>
                  <a:lnTo>
                    <a:pt x="42124" y="0"/>
                  </a:lnTo>
                  <a:lnTo>
                    <a:pt x="46375" y="0"/>
                  </a:lnTo>
                  <a:lnTo>
                    <a:pt x="51206" y="4832"/>
                  </a:lnTo>
                  <a:lnTo>
                    <a:pt x="51206" y="9664"/>
                  </a:lnTo>
                  <a:close/>
                </a:path>
                <a:path w="79375" h="1478914">
                  <a:moveTo>
                    <a:pt x="42124" y="1404058"/>
                  </a:moveTo>
                  <a:lnTo>
                    <a:pt x="78839" y="1362114"/>
                  </a:lnTo>
                  <a:lnTo>
                    <a:pt x="42124" y="1478474"/>
                  </a:lnTo>
                  <a:lnTo>
                    <a:pt x="0" y="1362114"/>
                  </a:lnTo>
                  <a:lnTo>
                    <a:pt x="42124" y="1404058"/>
                  </a:lnTo>
                  <a:close/>
                </a:path>
              </a:pathLst>
            </a:custGeom>
            <a:ln w="4787">
              <a:solidFill>
                <a:srgbClr val="000000"/>
              </a:solidFill>
            </a:ln>
          </p:spPr>
          <p:txBody>
            <a:bodyPr wrap="square" lIns="0" tIns="0" rIns="0" bIns="0" rtlCol="0"/>
            <a:lstStyle/>
            <a:p/>
          </p:txBody>
        </p:sp>
        <p:sp>
          <p:nvSpPr>
            <p:cNvPr id="57" name="object 57" descr=""/>
            <p:cNvSpPr/>
            <p:nvPr/>
          </p:nvSpPr>
          <p:spPr>
            <a:xfrm>
              <a:off x="5460738" y="4057358"/>
              <a:ext cx="1843405" cy="539115"/>
            </a:xfrm>
            <a:custGeom>
              <a:avLst/>
              <a:gdLst/>
              <a:ahLst/>
              <a:cxnLst/>
              <a:rect l="l" t="t" r="r" b="b"/>
              <a:pathLst>
                <a:path w="1843404" h="539114">
                  <a:moveTo>
                    <a:pt x="993605" y="148833"/>
                  </a:moveTo>
                  <a:lnTo>
                    <a:pt x="993605" y="538853"/>
                  </a:lnTo>
                </a:path>
                <a:path w="1843404" h="539114">
                  <a:moveTo>
                    <a:pt x="956311" y="120612"/>
                  </a:moveTo>
                  <a:lnTo>
                    <a:pt x="933317" y="78669"/>
                  </a:lnTo>
                  <a:lnTo>
                    <a:pt x="891578" y="60499"/>
                  </a:lnTo>
                  <a:lnTo>
                    <a:pt x="877279" y="60499"/>
                  </a:lnTo>
                  <a:lnTo>
                    <a:pt x="557091" y="60499"/>
                  </a:lnTo>
                  <a:lnTo>
                    <a:pt x="543178" y="60499"/>
                  </a:lnTo>
                  <a:lnTo>
                    <a:pt x="524628" y="55667"/>
                  </a:lnTo>
                  <a:lnTo>
                    <a:pt x="510715" y="51028"/>
                  </a:lnTo>
                  <a:lnTo>
                    <a:pt x="501633" y="41943"/>
                  </a:lnTo>
                  <a:lnTo>
                    <a:pt x="491972" y="32472"/>
                  </a:lnTo>
                  <a:lnTo>
                    <a:pt x="482890" y="23388"/>
                  </a:lnTo>
                  <a:lnTo>
                    <a:pt x="478059" y="13723"/>
                  </a:lnTo>
                  <a:lnTo>
                    <a:pt x="478059" y="0"/>
                  </a:lnTo>
                  <a:lnTo>
                    <a:pt x="478059" y="13723"/>
                  </a:lnTo>
                  <a:lnTo>
                    <a:pt x="473808" y="23388"/>
                  </a:lnTo>
                  <a:lnTo>
                    <a:pt x="464146" y="32472"/>
                  </a:lnTo>
                  <a:lnTo>
                    <a:pt x="455064" y="41943"/>
                  </a:lnTo>
                  <a:lnTo>
                    <a:pt x="441151" y="51028"/>
                  </a:lnTo>
                  <a:lnTo>
                    <a:pt x="427432" y="55667"/>
                  </a:lnTo>
                  <a:lnTo>
                    <a:pt x="413519" y="60499"/>
                  </a:lnTo>
                  <a:lnTo>
                    <a:pt x="399220" y="60499"/>
                  </a:lnTo>
                  <a:lnTo>
                    <a:pt x="78839" y="60499"/>
                  </a:lnTo>
                  <a:lnTo>
                    <a:pt x="65119" y="60499"/>
                  </a:lnTo>
                  <a:lnTo>
                    <a:pt x="51206" y="64752"/>
                  </a:lnTo>
                  <a:lnTo>
                    <a:pt x="37294" y="69584"/>
                  </a:lnTo>
                  <a:lnTo>
                    <a:pt x="23381" y="78669"/>
                  </a:lnTo>
                  <a:lnTo>
                    <a:pt x="13912" y="88140"/>
                  </a:lnTo>
                  <a:lnTo>
                    <a:pt x="4637" y="97224"/>
                  </a:lnTo>
                  <a:lnTo>
                    <a:pt x="0" y="106696"/>
                  </a:lnTo>
                  <a:lnTo>
                    <a:pt x="0" y="120612"/>
                  </a:lnTo>
                </a:path>
                <a:path w="1843404" h="539114">
                  <a:moveTo>
                    <a:pt x="1843253" y="120612"/>
                  </a:moveTo>
                  <a:lnTo>
                    <a:pt x="1824509" y="78669"/>
                  </a:lnTo>
                  <a:lnTo>
                    <a:pt x="1801128" y="64752"/>
                  </a:lnTo>
                  <a:lnTo>
                    <a:pt x="1792046" y="60499"/>
                  </a:lnTo>
                  <a:lnTo>
                    <a:pt x="1778133" y="60499"/>
                  </a:lnTo>
                  <a:lnTo>
                    <a:pt x="1513403" y="60499"/>
                  </a:lnTo>
                  <a:lnTo>
                    <a:pt x="1499490" y="60499"/>
                  </a:lnTo>
                  <a:lnTo>
                    <a:pt x="1490408" y="55667"/>
                  </a:lnTo>
                  <a:lnTo>
                    <a:pt x="1457945" y="32472"/>
                  </a:lnTo>
                  <a:lnTo>
                    <a:pt x="1448284" y="0"/>
                  </a:lnTo>
                  <a:lnTo>
                    <a:pt x="1448284" y="13723"/>
                  </a:lnTo>
                  <a:lnTo>
                    <a:pt x="1444032" y="23388"/>
                  </a:lnTo>
                  <a:lnTo>
                    <a:pt x="1434371" y="32472"/>
                  </a:lnTo>
                  <a:lnTo>
                    <a:pt x="1430120" y="41943"/>
                  </a:lnTo>
                  <a:lnTo>
                    <a:pt x="1420651" y="51028"/>
                  </a:lnTo>
                  <a:lnTo>
                    <a:pt x="1406738" y="55667"/>
                  </a:lnTo>
                  <a:lnTo>
                    <a:pt x="1392826" y="60499"/>
                  </a:lnTo>
                  <a:lnTo>
                    <a:pt x="1383744" y="60499"/>
                  </a:lnTo>
                  <a:lnTo>
                    <a:pt x="1119014" y="60499"/>
                  </a:lnTo>
                  <a:lnTo>
                    <a:pt x="1105101" y="60499"/>
                  </a:lnTo>
                  <a:lnTo>
                    <a:pt x="1091188" y="64752"/>
                  </a:lnTo>
                  <a:lnTo>
                    <a:pt x="1081720" y="69584"/>
                  </a:lnTo>
                  <a:lnTo>
                    <a:pt x="1072638" y="78669"/>
                  </a:lnTo>
                  <a:lnTo>
                    <a:pt x="1062976" y="88140"/>
                  </a:lnTo>
                  <a:lnTo>
                    <a:pt x="1058725" y="97224"/>
                  </a:lnTo>
                  <a:lnTo>
                    <a:pt x="1053894" y="106696"/>
                  </a:lnTo>
                  <a:lnTo>
                    <a:pt x="1053894" y="120612"/>
                  </a:lnTo>
                </a:path>
              </a:pathLst>
            </a:custGeom>
            <a:ln w="13882">
              <a:solidFill>
                <a:srgbClr val="000000"/>
              </a:solidFill>
            </a:ln>
          </p:spPr>
          <p:txBody>
            <a:bodyPr wrap="square" lIns="0" tIns="0" rIns="0" bIns="0" rtlCol="0"/>
            <a:lstStyle/>
            <a:p/>
          </p:txBody>
        </p:sp>
        <p:pic>
          <p:nvPicPr>
            <p:cNvPr id="58" name="object 58" descr=""/>
            <p:cNvPicPr/>
            <p:nvPr/>
          </p:nvPicPr>
          <p:blipFill>
            <a:blip r:embed="rId6" cstate="print"/>
            <a:stretch>
              <a:fillRect/>
            </a:stretch>
          </p:blipFill>
          <p:spPr>
            <a:xfrm>
              <a:off x="5778817" y="3606219"/>
              <a:ext cx="193485" cy="456431"/>
            </a:xfrm>
            <a:prstGeom prst="rect">
              <a:avLst/>
            </a:prstGeom>
          </p:spPr>
        </p:pic>
        <p:sp>
          <p:nvSpPr>
            <p:cNvPr id="59" name="object 59" descr=""/>
            <p:cNvSpPr/>
            <p:nvPr/>
          </p:nvSpPr>
          <p:spPr>
            <a:xfrm>
              <a:off x="5442574" y="4629110"/>
              <a:ext cx="1824355" cy="120650"/>
            </a:xfrm>
            <a:custGeom>
              <a:avLst/>
              <a:gdLst/>
              <a:ahLst/>
              <a:cxnLst/>
              <a:rect l="l" t="t" r="r" b="b"/>
              <a:pathLst>
                <a:path w="1824354" h="120650">
                  <a:moveTo>
                    <a:pt x="0" y="0"/>
                  </a:moveTo>
                  <a:lnTo>
                    <a:pt x="0" y="4291"/>
                  </a:lnTo>
                  <a:lnTo>
                    <a:pt x="0" y="9065"/>
                  </a:lnTo>
                  <a:lnTo>
                    <a:pt x="4251" y="18594"/>
                  </a:lnTo>
                  <a:lnTo>
                    <a:pt x="9081" y="22885"/>
                  </a:lnTo>
                  <a:lnTo>
                    <a:pt x="18163" y="27659"/>
                  </a:lnTo>
                  <a:lnTo>
                    <a:pt x="22801" y="32434"/>
                  </a:lnTo>
                  <a:lnTo>
                    <a:pt x="41545" y="41480"/>
                  </a:lnTo>
                  <a:lnTo>
                    <a:pt x="64539" y="51028"/>
                  </a:lnTo>
                  <a:lnTo>
                    <a:pt x="92752" y="55802"/>
                  </a:lnTo>
                  <a:lnTo>
                    <a:pt x="120577" y="60093"/>
                  </a:lnTo>
                  <a:lnTo>
                    <a:pt x="148209" y="60093"/>
                  </a:lnTo>
                  <a:lnTo>
                    <a:pt x="760952" y="60093"/>
                  </a:lnTo>
                  <a:lnTo>
                    <a:pt x="788778" y="60093"/>
                  </a:lnTo>
                  <a:lnTo>
                    <a:pt x="816990" y="64848"/>
                  </a:lnTo>
                  <a:lnTo>
                    <a:pt x="844816" y="69623"/>
                  </a:lnTo>
                  <a:lnTo>
                    <a:pt x="867617" y="78688"/>
                  </a:lnTo>
                  <a:lnTo>
                    <a:pt x="886361" y="83443"/>
                  </a:lnTo>
                  <a:lnTo>
                    <a:pt x="895443" y="92991"/>
                  </a:lnTo>
                  <a:lnTo>
                    <a:pt x="900274" y="97282"/>
                  </a:lnTo>
                  <a:lnTo>
                    <a:pt x="905105" y="102057"/>
                  </a:lnTo>
                  <a:lnTo>
                    <a:pt x="909742" y="106812"/>
                  </a:lnTo>
                  <a:lnTo>
                    <a:pt x="909742" y="111586"/>
                  </a:lnTo>
                  <a:lnTo>
                    <a:pt x="914187" y="120651"/>
                  </a:lnTo>
                  <a:lnTo>
                    <a:pt x="914187" y="111586"/>
                  </a:lnTo>
                  <a:lnTo>
                    <a:pt x="914187" y="106812"/>
                  </a:lnTo>
                  <a:lnTo>
                    <a:pt x="918824" y="102057"/>
                  </a:lnTo>
                  <a:lnTo>
                    <a:pt x="923655" y="97282"/>
                  </a:lnTo>
                  <a:lnTo>
                    <a:pt x="928099" y="92991"/>
                  </a:lnTo>
                  <a:lnTo>
                    <a:pt x="937568" y="83443"/>
                  </a:lnTo>
                  <a:lnTo>
                    <a:pt x="956311" y="78688"/>
                  </a:lnTo>
                  <a:lnTo>
                    <a:pt x="979306" y="69623"/>
                  </a:lnTo>
                  <a:lnTo>
                    <a:pt x="1006939" y="64848"/>
                  </a:lnTo>
                  <a:lnTo>
                    <a:pt x="1034764" y="60093"/>
                  </a:lnTo>
                  <a:lnTo>
                    <a:pt x="1062976" y="60093"/>
                  </a:lnTo>
                  <a:lnTo>
                    <a:pt x="1675719" y="60093"/>
                  </a:lnTo>
                  <a:lnTo>
                    <a:pt x="1703352" y="60093"/>
                  </a:lnTo>
                  <a:lnTo>
                    <a:pt x="1731177" y="55802"/>
                  </a:lnTo>
                  <a:lnTo>
                    <a:pt x="1759003" y="51028"/>
                  </a:lnTo>
                  <a:lnTo>
                    <a:pt x="1782384" y="41480"/>
                  </a:lnTo>
                  <a:lnTo>
                    <a:pt x="1801128" y="32434"/>
                  </a:lnTo>
                  <a:lnTo>
                    <a:pt x="1805379" y="27659"/>
                  </a:lnTo>
                  <a:lnTo>
                    <a:pt x="1814847" y="22885"/>
                  </a:lnTo>
                  <a:lnTo>
                    <a:pt x="1819292" y="18594"/>
                  </a:lnTo>
                  <a:lnTo>
                    <a:pt x="1824122" y="9065"/>
                  </a:lnTo>
                  <a:lnTo>
                    <a:pt x="1824122" y="4291"/>
                  </a:lnTo>
                  <a:lnTo>
                    <a:pt x="1824122" y="0"/>
                  </a:lnTo>
                </a:path>
              </a:pathLst>
            </a:custGeom>
            <a:ln w="13884">
              <a:solidFill>
                <a:srgbClr val="000000"/>
              </a:solidFill>
            </a:ln>
          </p:spPr>
          <p:txBody>
            <a:bodyPr wrap="square" lIns="0" tIns="0" rIns="0" bIns="0" rtlCol="0"/>
            <a:lstStyle/>
            <a:p/>
          </p:txBody>
        </p:sp>
      </p:grpSp>
      <p:sp>
        <p:nvSpPr>
          <p:cNvPr id="60" name="object 60" descr=""/>
          <p:cNvSpPr txBox="1"/>
          <p:nvPr/>
        </p:nvSpPr>
        <p:spPr>
          <a:xfrm>
            <a:off x="4292039" y="3044865"/>
            <a:ext cx="555625" cy="238125"/>
          </a:xfrm>
          <a:prstGeom prst="rect">
            <a:avLst/>
          </a:prstGeom>
        </p:spPr>
        <p:txBody>
          <a:bodyPr wrap="square" lIns="0" tIns="12065" rIns="0" bIns="0" rtlCol="0" vert="horz">
            <a:spAutoFit/>
          </a:bodyPr>
          <a:lstStyle/>
          <a:p>
            <a:pPr marL="12700">
              <a:lnSpc>
                <a:spcPct val="100000"/>
              </a:lnSpc>
              <a:spcBef>
                <a:spcPts val="95"/>
              </a:spcBef>
            </a:pPr>
            <a:r>
              <a:rPr dirty="0" sz="1400" spc="-35" b="1">
                <a:latin typeface="宋体"/>
                <a:cs typeface="宋体"/>
              </a:rPr>
              <a:t>不命中</a:t>
            </a:r>
            <a:endParaRPr sz="1400">
              <a:latin typeface="宋体"/>
              <a:cs typeface="宋体"/>
            </a:endParaRPr>
          </a:p>
        </p:txBody>
      </p:sp>
      <p:sp>
        <p:nvSpPr>
          <p:cNvPr id="61" name="object 61" descr=""/>
          <p:cNvSpPr txBox="1"/>
          <p:nvPr/>
        </p:nvSpPr>
        <p:spPr>
          <a:xfrm>
            <a:off x="5346030" y="3704950"/>
            <a:ext cx="379095" cy="238125"/>
          </a:xfrm>
          <a:prstGeom prst="rect">
            <a:avLst/>
          </a:prstGeom>
        </p:spPr>
        <p:txBody>
          <a:bodyPr wrap="square" lIns="0" tIns="12065" rIns="0" bIns="0" rtlCol="0" vert="horz">
            <a:spAutoFit/>
          </a:bodyPr>
          <a:lstStyle/>
          <a:p>
            <a:pPr marL="12700">
              <a:lnSpc>
                <a:spcPct val="100000"/>
              </a:lnSpc>
              <a:spcBef>
                <a:spcPts val="95"/>
              </a:spcBef>
            </a:pPr>
            <a:r>
              <a:rPr dirty="0" sz="1400" spc="-40" b="1">
                <a:latin typeface="宋体"/>
                <a:cs typeface="宋体"/>
              </a:rPr>
              <a:t>命中</a:t>
            </a:r>
            <a:endParaRPr sz="1400">
              <a:latin typeface="宋体"/>
              <a:cs typeface="宋体"/>
            </a:endParaRPr>
          </a:p>
        </p:txBody>
      </p:sp>
      <p:sp>
        <p:nvSpPr>
          <p:cNvPr id="62" name="object 62" descr=""/>
          <p:cNvSpPr txBox="1"/>
          <p:nvPr/>
        </p:nvSpPr>
        <p:spPr>
          <a:xfrm>
            <a:off x="5874258" y="5047331"/>
            <a:ext cx="933450" cy="632460"/>
          </a:xfrm>
          <a:prstGeom prst="rect">
            <a:avLst/>
          </a:prstGeom>
        </p:spPr>
        <p:txBody>
          <a:bodyPr wrap="square" lIns="0" tIns="114935" rIns="0" bIns="0" rtlCol="0" vert="horz">
            <a:spAutoFit/>
          </a:bodyPr>
          <a:lstStyle/>
          <a:p>
            <a:pPr marL="208279">
              <a:lnSpc>
                <a:spcPct val="100000"/>
              </a:lnSpc>
              <a:spcBef>
                <a:spcPts val="905"/>
              </a:spcBef>
            </a:pPr>
            <a:r>
              <a:rPr dirty="0" sz="1400" spc="-10" b="1">
                <a:latin typeface="宋体"/>
                <a:cs typeface="宋体"/>
              </a:rPr>
              <a:t>Cache</a:t>
            </a:r>
            <a:endParaRPr sz="1400">
              <a:latin typeface="宋体"/>
              <a:cs typeface="宋体"/>
            </a:endParaRPr>
          </a:p>
          <a:p>
            <a:pPr marL="208279">
              <a:lnSpc>
                <a:spcPct val="100000"/>
              </a:lnSpc>
            </a:pPr>
            <a:r>
              <a:rPr dirty="0" sz="1400" spc="-35" b="1">
                <a:latin typeface="宋体"/>
                <a:cs typeface="宋体"/>
              </a:rPr>
              <a:t>存储体</a:t>
            </a:r>
            <a:endParaRPr sz="1400">
              <a:latin typeface="宋体"/>
              <a:cs typeface="宋体"/>
            </a:endParaRPr>
          </a:p>
        </p:txBody>
      </p:sp>
      <p:grpSp>
        <p:nvGrpSpPr>
          <p:cNvPr id="63" name="object 63" descr=""/>
          <p:cNvGrpSpPr/>
          <p:nvPr/>
        </p:nvGrpSpPr>
        <p:grpSpPr>
          <a:xfrm>
            <a:off x="3831695" y="4741163"/>
            <a:ext cx="2567940" cy="1431925"/>
            <a:chOff x="3831695" y="4741163"/>
            <a:chExt cx="2567940" cy="1431925"/>
          </a:xfrm>
        </p:grpSpPr>
        <p:sp>
          <p:nvSpPr>
            <p:cNvPr id="64" name="object 64" descr=""/>
            <p:cNvSpPr/>
            <p:nvPr/>
          </p:nvSpPr>
          <p:spPr>
            <a:xfrm>
              <a:off x="6317921" y="4743556"/>
              <a:ext cx="79375" cy="278765"/>
            </a:xfrm>
            <a:custGeom>
              <a:avLst/>
              <a:gdLst/>
              <a:ahLst/>
              <a:cxnLst/>
              <a:rect l="l" t="t" r="r" b="b"/>
              <a:pathLst>
                <a:path w="79375" h="278764">
                  <a:moveTo>
                    <a:pt x="0" y="162614"/>
                  </a:moveTo>
                  <a:lnTo>
                    <a:pt x="41738" y="278511"/>
                  </a:lnTo>
                  <a:lnTo>
                    <a:pt x="62612" y="213643"/>
                  </a:lnTo>
                  <a:lnTo>
                    <a:pt x="37294" y="213643"/>
                  </a:lnTo>
                  <a:lnTo>
                    <a:pt x="32463" y="208869"/>
                  </a:lnTo>
                  <a:lnTo>
                    <a:pt x="27825" y="204114"/>
                  </a:lnTo>
                  <a:lnTo>
                    <a:pt x="27825" y="190281"/>
                  </a:lnTo>
                  <a:lnTo>
                    <a:pt x="0" y="162614"/>
                  </a:lnTo>
                  <a:close/>
                </a:path>
                <a:path w="79375" h="278764">
                  <a:moveTo>
                    <a:pt x="27825" y="190281"/>
                  </a:moveTo>
                  <a:lnTo>
                    <a:pt x="27825" y="204114"/>
                  </a:lnTo>
                  <a:lnTo>
                    <a:pt x="32463" y="208869"/>
                  </a:lnTo>
                  <a:lnTo>
                    <a:pt x="37294" y="213643"/>
                  </a:lnTo>
                  <a:lnTo>
                    <a:pt x="41738" y="213643"/>
                  </a:lnTo>
                  <a:lnTo>
                    <a:pt x="46376" y="208869"/>
                  </a:lnTo>
                  <a:lnTo>
                    <a:pt x="51206" y="204114"/>
                  </a:lnTo>
                  <a:lnTo>
                    <a:pt x="41738" y="204114"/>
                  </a:lnTo>
                  <a:lnTo>
                    <a:pt x="27825" y="190281"/>
                  </a:lnTo>
                  <a:close/>
                </a:path>
                <a:path w="79375" h="278764">
                  <a:moveTo>
                    <a:pt x="79032" y="162614"/>
                  </a:moveTo>
                  <a:lnTo>
                    <a:pt x="51206" y="193578"/>
                  </a:lnTo>
                  <a:lnTo>
                    <a:pt x="51206" y="204114"/>
                  </a:lnTo>
                  <a:lnTo>
                    <a:pt x="46376" y="208869"/>
                  </a:lnTo>
                  <a:lnTo>
                    <a:pt x="41738" y="213643"/>
                  </a:lnTo>
                  <a:lnTo>
                    <a:pt x="62612" y="213643"/>
                  </a:lnTo>
                  <a:lnTo>
                    <a:pt x="79032" y="162614"/>
                  </a:lnTo>
                  <a:close/>
                </a:path>
                <a:path w="79375" h="278764">
                  <a:moveTo>
                    <a:pt x="51206" y="9065"/>
                  </a:moveTo>
                  <a:lnTo>
                    <a:pt x="27825" y="9065"/>
                  </a:lnTo>
                  <a:lnTo>
                    <a:pt x="27825" y="190281"/>
                  </a:lnTo>
                  <a:lnTo>
                    <a:pt x="41738" y="204114"/>
                  </a:lnTo>
                  <a:lnTo>
                    <a:pt x="51206" y="193578"/>
                  </a:lnTo>
                  <a:lnTo>
                    <a:pt x="51206" y="9065"/>
                  </a:lnTo>
                  <a:close/>
                </a:path>
                <a:path w="79375" h="278764">
                  <a:moveTo>
                    <a:pt x="51206" y="193578"/>
                  </a:moveTo>
                  <a:lnTo>
                    <a:pt x="41738" y="204114"/>
                  </a:lnTo>
                  <a:lnTo>
                    <a:pt x="51206" y="204114"/>
                  </a:lnTo>
                  <a:lnTo>
                    <a:pt x="51206" y="193578"/>
                  </a:lnTo>
                  <a:close/>
                </a:path>
                <a:path w="79375" h="278764">
                  <a:moveTo>
                    <a:pt x="41738" y="0"/>
                  </a:moveTo>
                  <a:lnTo>
                    <a:pt x="37294" y="0"/>
                  </a:lnTo>
                  <a:lnTo>
                    <a:pt x="32463" y="4291"/>
                  </a:lnTo>
                  <a:lnTo>
                    <a:pt x="32463" y="9065"/>
                  </a:lnTo>
                  <a:lnTo>
                    <a:pt x="46375" y="9065"/>
                  </a:lnTo>
                  <a:lnTo>
                    <a:pt x="46375" y="4291"/>
                  </a:lnTo>
                  <a:lnTo>
                    <a:pt x="41738" y="0"/>
                  </a:lnTo>
                  <a:close/>
                </a:path>
              </a:pathLst>
            </a:custGeom>
            <a:solidFill>
              <a:srgbClr val="000000"/>
            </a:solidFill>
          </p:spPr>
          <p:txBody>
            <a:bodyPr wrap="square" lIns="0" tIns="0" rIns="0" bIns="0" rtlCol="0"/>
            <a:lstStyle/>
            <a:p/>
          </p:txBody>
        </p:sp>
        <p:pic>
          <p:nvPicPr>
            <p:cNvPr id="65" name="object 65" descr=""/>
            <p:cNvPicPr/>
            <p:nvPr/>
          </p:nvPicPr>
          <p:blipFill>
            <a:blip r:embed="rId7" cstate="print"/>
            <a:stretch>
              <a:fillRect/>
            </a:stretch>
          </p:blipFill>
          <p:spPr>
            <a:xfrm>
              <a:off x="6315528" y="4741163"/>
              <a:ext cx="83819" cy="283298"/>
            </a:xfrm>
            <a:prstGeom prst="rect">
              <a:avLst/>
            </a:prstGeom>
          </p:spPr>
        </p:pic>
        <p:sp>
          <p:nvSpPr>
            <p:cNvPr id="66" name="object 66" descr=""/>
            <p:cNvSpPr/>
            <p:nvPr/>
          </p:nvSpPr>
          <p:spPr>
            <a:xfrm>
              <a:off x="6317921" y="5682057"/>
              <a:ext cx="79375" cy="460375"/>
            </a:xfrm>
            <a:custGeom>
              <a:avLst/>
              <a:gdLst/>
              <a:ahLst/>
              <a:cxnLst/>
              <a:rect l="l" t="t" r="r" b="b"/>
              <a:pathLst>
                <a:path w="79375" h="460375">
                  <a:moveTo>
                    <a:pt x="41738" y="79171"/>
                  </a:moveTo>
                  <a:lnTo>
                    <a:pt x="27825" y="91567"/>
                  </a:lnTo>
                  <a:lnTo>
                    <a:pt x="27825" y="451138"/>
                  </a:lnTo>
                  <a:lnTo>
                    <a:pt x="32463" y="455429"/>
                  </a:lnTo>
                  <a:lnTo>
                    <a:pt x="37294" y="460204"/>
                  </a:lnTo>
                  <a:lnTo>
                    <a:pt x="41738" y="460204"/>
                  </a:lnTo>
                  <a:lnTo>
                    <a:pt x="46376" y="455429"/>
                  </a:lnTo>
                  <a:lnTo>
                    <a:pt x="51206" y="451138"/>
                  </a:lnTo>
                  <a:lnTo>
                    <a:pt x="51206" y="88613"/>
                  </a:lnTo>
                  <a:lnTo>
                    <a:pt x="41738" y="79171"/>
                  </a:lnTo>
                  <a:close/>
                </a:path>
                <a:path w="79375" h="460375">
                  <a:moveTo>
                    <a:pt x="41738" y="0"/>
                  </a:moveTo>
                  <a:lnTo>
                    <a:pt x="0" y="116360"/>
                  </a:lnTo>
                  <a:lnTo>
                    <a:pt x="27825" y="91567"/>
                  </a:lnTo>
                  <a:lnTo>
                    <a:pt x="27825" y="79171"/>
                  </a:lnTo>
                  <a:lnTo>
                    <a:pt x="32463" y="74397"/>
                  </a:lnTo>
                  <a:lnTo>
                    <a:pt x="32463" y="69642"/>
                  </a:lnTo>
                  <a:lnTo>
                    <a:pt x="64059" y="69642"/>
                  </a:lnTo>
                  <a:lnTo>
                    <a:pt x="41738" y="0"/>
                  </a:lnTo>
                  <a:close/>
                </a:path>
                <a:path w="79375" h="460375">
                  <a:moveTo>
                    <a:pt x="64059" y="69642"/>
                  </a:moveTo>
                  <a:lnTo>
                    <a:pt x="46376" y="69642"/>
                  </a:lnTo>
                  <a:lnTo>
                    <a:pt x="46376" y="74397"/>
                  </a:lnTo>
                  <a:lnTo>
                    <a:pt x="51206" y="79171"/>
                  </a:lnTo>
                  <a:lnTo>
                    <a:pt x="51206" y="88613"/>
                  </a:lnTo>
                  <a:lnTo>
                    <a:pt x="79032" y="116360"/>
                  </a:lnTo>
                  <a:lnTo>
                    <a:pt x="64059" y="69642"/>
                  </a:lnTo>
                  <a:close/>
                </a:path>
                <a:path w="79375" h="460375">
                  <a:moveTo>
                    <a:pt x="46376" y="69642"/>
                  </a:moveTo>
                  <a:lnTo>
                    <a:pt x="32463" y="69642"/>
                  </a:lnTo>
                  <a:lnTo>
                    <a:pt x="32463" y="74397"/>
                  </a:lnTo>
                  <a:lnTo>
                    <a:pt x="27825" y="79171"/>
                  </a:lnTo>
                  <a:lnTo>
                    <a:pt x="27825" y="91567"/>
                  </a:lnTo>
                  <a:lnTo>
                    <a:pt x="41738" y="79171"/>
                  </a:lnTo>
                  <a:lnTo>
                    <a:pt x="51206" y="79171"/>
                  </a:lnTo>
                  <a:lnTo>
                    <a:pt x="46376" y="74397"/>
                  </a:lnTo>
                  <a:lnTo>
                    <a:pt x="46376" y="69642"/>
                  </a:lnTo>
                  <a:close/>
                </a:path>
                <a:path w="79375" h="460375">
                  <a:moveTo>
                    <a:pt x="51206" y="79171"/>
                  </a:moveTo>
                  <a:lnTo>
                    <a:pt x="41738" y="79171"/>
                  </a:lnTo>
                  <a:lnTo>
                    <a:pt x="51206" y="88613"/>
                  </a:lnTo>
                  <a:lnTo>
                    <a:pt x="51206" y="79171"/>
                  </a:lnTo>
                  <a:close/>
                </a:path>
              </a:pathLst>
            </a:custGeom>
            <a:solidFill>
              <a:srgbClr val="000000"/>
            </a:solidFill>
          </p:spPr>
          <p:txBody>
            <a:bodyPr wrap="square" lIns="0" tIns="0" rIns="0" bIns="0" rtlCol="0"/>
            <a:lstStyle/>
            <a:p/>
          </p:txBody>
        </p:sp>
        <p:sp>
          <p:nvSpPr>
            <p:cNvPr id="67" name="object 67" descr=""/>
            <p:cNvSpPr/>
            <p:nvPr/>
          </p:nvSpPr>
          <p:spPr>
            <a:xfrm>
              <a:off x="6317921" y="5682057"/>
              <a:ext cx="79375" cy="460375"/>
            </a:xfrm>
            <a:custGeom>
              <a:avLst/>
              <a:gdLst/>
              <a:ahLst/>
              <a:cxnLst/>
              <a:rect l="l" t="t" r="r" b="b"/>
              <a:pathLst>
                <a:path w="79375" h="460375">
                  <a:moveTo>
                    <a:pt x="51206" y="79171"/>
                  </a:moveTo>
                  <a:lnTo>
                    <a:pt x="51206" y="451138"/>
                  </a:lnTo>
                  <a:lnTo>
                    <a:pt x="46376" y="455429"/>
                  </a:lnTo>
                  <a:lnTo>
                    <a:pt x="41738" y="460204"/>
                  </a:lnTo>
                  <a:lnTo>
                    <a:pt x="37294" y="460204"/>
                  </a:lnTo>
                  <a:lnTo>
                    <a:pt x="32463" y="455429"/>
                  </a:lnTo>
                  <a:lnTo>
                    <a:pt x="27825" y="451138"/>
                  </a:lnTo>
                  <a:lnTo>
                    <a:pt x="27825" y="79171"/>
                  </a:lnTo>
                  <a:lnTo>
                    <a:pt x="32463" y="74397"/>
                  </a:lnTo>
                  <a:lnTo>
                    <a:pt x="32463" y="69642"/>
                  </a:lnTo>
                  <a:lnTo>
                    <a:pt x="37294" y="69642"/>
                  </a:lnTo>
                  <a:lnTo>
                    <a:pt x="41738" y="69642"/>
                  </a:lnTo>
                  <a:lnTo>
                    <a:pt x="46376" y="69642"/>
                  </a:lnTo>
                  <a:lnTo>
                    <a:pt x="46376" y="74397"/>
                  </a:lnTo>
                  <a:lnTo>
                    <a:pt x="51206" y="79171"/>
                  </a:lnTo>
                  <a:close/>
                </a:path>
                <a:path w="79375" h="460375">
                  <a:moveTo>
                    <a:pt x="41738" y="79171"/>
                  </a:moveTo>
                  <a:lnTo>
                    <a:pt x="0" y="116360"/>
                  </a:lnTo>
                  <a:lnTo>
                    <a:pt x="41738" y="0"/>
                  </a:lnTo>
                  <a:lnTo>
                    <a:pt x="79032" y="116360"/>
                  </a:lnTo>
                  <a:lnTo>
                    <a:pt x="41738" y="79171"/>
                  </a:lnTo>
                  <a:close/>
                </a:path>
              </a:pathLst>
            </a:custGeom>
            <a:ln w="4787">
              <a:solidFill>
                <a:srgbClr val="000000"/>
              </a:solidFill>
            </a:ln>
          </p:spPr>
          <p:txBody>
            <a:bodyPr wrap="square" lIns="0" tIns="0" rIns="0" bIns="0" rtlCol="0"/>
            <a:lstStyle/>
            <a:p/>
          </p:txBody>
        </p:sp>
        <p:sp>
          <p:nvSpPr>
            <p:cNvPr id="68" name="object 68" descr=""/>
            <p:cNvSpPr/>
            <p:nvPr/>
          </p:nvSpPr>
          <p:spPr>
            <a:xfrm>
              <a:off x="3834235" y="6091232"/>
              <a:ext cx="2553335" cy="79375"/>
            </a:xfrm>
            <a:custGeom>
              <a:avLst/>
              <a:gdLst/>
              <a:ahLst/>
              <a:cxnLst/>
              <a:rect l="l" t="t" r="r" b="b"/>
              <a:pathLst>
                <a:path w="2553335" h="79375">
                  <a:moveTo>
                    <a:pt x="116307" y="0"/>
                  </a:moveTo>
                  <a:lnTo>
                    <a:pt x="0" y="41963"/>
                  </a:lnTo>
                  <a:lnTo>
                    <a:pt x="116307" y="79171"/>
                  </a:lnTo>
                  <a:lnTo>
                    <a:pt x="88070" y="51028"/>
                  </a:lnTo>
                  <a:lnTo>
                    <a:pt x="74182" y="51028"/>
                  </a:lnTo>
                  <a:lnTo>
                    <a:pt x="74182" y="46254"/>
                  </a:lnTo>
                  <a:lnTo>
                    <a:pt x="69892" y="46254"/>
                  </a:lnTo>
                  <a:lnTo>
                    <a:pt x="69892" y="37188"/>
                  </a:lnTo>
                  <a:lnTo>
                    <a:pt x="74182" y="32434"/>
                  </a:lnTo>
                  <a:lnTo>
                    <a:pt x="87452" y="32434"/>
                  </a:lnTo>
                  <a:lnTo>
                    <a:pt x="116307" y="0"/>
                  </a:lnTo>
                  <a:close/>
                </a:path>
                <a:path w="2553335" h="79375">
                  <a:moveTo>
                    <a:pt x="87452" y="32434"/>
                  </a:moveTo>
                  <a:lnTo>
                    <a:pt x="74182" y="32434"/>
                  </a:lnTo>
                  <a:lnTo>
                    <a:pt x="69892" y="37188"/>
                  </a:lnTo>
                  <a:lnTo>
                    <a:pt x="69892" y="46254"/>
                  </a:lnTo>
                  <a:lnTo>
                    <a:pt x="74182" y="46254"/>
                  </a:lnTo>
                  <a:lnTo>
                    <a:pt x="74182" y="51028"/>
                  </a:lnTo>
                  <a:lnTo>
                    <a:pt x="88070" y="51028"/>
                  </a:lnTo>
                  <a:lnTo>
                    <a:pt x="78974" y="41963"/>
                  </a:lnTo>
                  <a:lnTo>
                    <a:pt x="87452" y="32434"/>
                  </a:lnTo>
                  <a:close/>
                </a:path>
                <a:path w="2553335" h="79375">
                  <a:moveTo>
                    <a:pt x="2548805" y="32434"/>
                  </a:moveTo>
                  <a:lnTo>
                    <a:pt x="87452" y="32434"/>
                  </a:lnTo>
                  <a:lnTo>
                    <a:pt x="78974" y="41963"/>
                  </a:lnTo>
                  <a:lnTo>
                    <a:pt x="88070" y="51028"/>
                  </a:lnTo>
                  <a:lnTo>
                    <a:pt x="2548805" y="51028"/>
                  </a:lnTo>
                  <a:lnTo>
                    <a:pt x="2548805" y="46254"/>
                  </a:lnTo>
                  <a:lnTo>
                    <a:pt x="2553057" y="46254"/>
                  </a:lnTo>
                  <a:lnTo>
                    <a:pt x="2553057" y="37188"/>
                  </a:lnTo>
                  <a:lnTo>
                    <a:pt x="2548805" y="32434"/>
                  </a:lnTo>
                  <a:close/>
                </a:path>
              </a:pathLst>
            </a:custGeom>
            <a:solidFill>
              <a:srgbClr val="000000"/>
            </a:solidFill>
          </p:spPr>
          <p:txBody>
            <a:bodyPr wrap="square" lIns="0" tIns="0" rIns="0" bIns="0" rtlCol="0"/>
            <a:lstStyle/>
            <a:p/>
          </p:txBody>
        </p:sp>
        <p:sp>
          <p:nvSpPr>
            <p:cNvPr id="69" name="object 69" descr=""/>
            <p:cNvSpPr/>
            <p:nvPr/>
          </p:nvSpPr>
          <p:spPr>
            <a:xfrm>
              <a:off x="3834235" y="6091232"/>
              <a:ext cx="2553335" cy="79375"/>
            </a:xfrm>
            <a:custGeom>
              <a:avLst/>
              <a:gdLst/>
              <a:ahLst/>
              <a:cxnLst/>
              <a:rect l="l" t="t" r="r" b="b"/>
              <a:pathLst>
                <a:path w="2553335" h="79375">
                  <a:moveTo>
                    <a:pt x="78974" y="32434"/>
                  </a:moveTo>
                  <a:lnTo>
                    <a:pt x="2543975" y="32434"/>
                  </a:lnTo>
                  <a:lnTo>
                    <a:pt x="2548805" y="32434"/>
                  </a:lnTo>
                  <a:lnTo>
                    <a:pt x="2553057" y="37188"/>
                  </a:lnTo>
                  <a:lnTo>
                    <a:pt x="2553057" y="41963"/>
                  </a:lnTo>
                  <a:lnTo>
                    <a:pt x="2553057" y="46254"/>
                  </a:lnTo>
                  <a:lnTo>
                    <a:pt x="2548805" y="46254"/>
                  </a:lnTo>
                  <a:lnTo>
                    <a:pt x="2548805" y="51028"/>
                  </a:lnTo>
                  <a:lnTo>
                    <a:pt x="2543975" y="51028"/>
                  </a:lnTo>
                  <a:lnTo>
                    <a:pt x="78974" y="51028"/>
                  </a:lnTo>
                  <a:lnTo>
                    <a:pt x="74182" y="51028"/>
                  </a:lnTo>
                  <a:lnTo>
                    <a:pt x="74182" y="46254"/>
                  </a:lnTo>
                  <a:lnTo>
                    <a:pt x="69892" y="46254"/>
                  </a:lnTo>
                  <a:lnTo>
                    <a:pt x="69892" y="41963"/>
                  </a:lnTo>
                  <a:lnTo>
                    <a:pt x="69892" y="37188"/>
                  </a:lnTo>
                  <a:lnTo>
                    <a:pt x="74182" y="32434"/>
                  </a:lnTo>
                  <a:lnTo>
                    <a:pt x="78974" y="32434"/>
                  </a:lnTo>
                  <a:close/>
                </a:path>
                <a:path w="2553335" h="79375">
                  <a:moveTo>
                    <a:pt x="78974" y="41963"/>
                  </a:moveTo>
                  <a:lnTo>
                    <a:pt x="116307" y="79171"/>
                  </a:lnTo>
                  <a:lnTo>
                    <a:pt x="0" y="41963"/>
                  </a:lnTo>
                  <a:lnTo>
                    <a:pt x="116307" y="0"/>
                  </a:lnTo>
                  <a:lnTo>
                    <a:pt x="78974" y="41963"/>
                  </a:lnTo>
                  <a:close/>
                </a:path>
              </a:pathLst>
            </a:custGeom>
            <a:ln w="4787">
              <a:solidFill>
                <a:srgbClr val="000000"/>
              </a:solidFill>
            </a:ln>
          </p:spPr>
          <p:txBody>
            <a:bodyPr wrap="square" lIns="0" tIns="0" rIns="0" bIns="0" rtlCol="0"/>
            <a:lstStyle/>
            <a:p/>
          </p:txBody>
        </p:sp>
      </p:grpSp>
      <p:sp>
        <p:nvSpPr>
          <p:cNvPr id="70" name="object 70" descr=""/>
          <p:cNvSpPr txBox="1"/>
          <p:nvPr/>
        </p:nvSpPr>
        <p:spPr>
          <a:xfrm>
            <a:off x="3744474" y="6186558"/>
            <a:ext cx="508000" cy="238125"/>
          </a:xfrm>
          <a:prstGeom prst="rect">
            <a:avLst/>
          </a:prstGeom>
        </p:spPr>
        <p:txBody>
          <a:bodyPr wrap="square" lIns="0" tIns="12065" rIns="0" bIns="0" rtlCol="0" vert="horz">
            <a:spAutoFit/>
          </a:bodyPr>
          <a:lstStyle/>
          <a:p>
            <a:pPr marL="12700">
              <a:lnSpc>
                <a:spcPct val="100000"/>
              </a:lnSpc>
              <a:spcBef>
                <a:spcPts val="95"/>
              </a:spcBef>
            </a:pPr>
            <a:r>
              <a:rPr dirty="0" sz="1400" spc="-200" b="1">
                <a:latin typeface="宋体"/>
                <a:cs typeface="宋体"/>
              </a:rPr>
              <a:t>至 </a:t>
            </a:r>
            <a:r>
              <a:rPr dirty="0" sz="1400" spc="-25" b="1">
                <a:latin typeface="宋体"/>
                <a:cs typeface="宋体"/>
              </a:rPr>
              <a:t>CPU</a:t>
            </a:r>
            <a:endParaRPr sz="1400">
              <a:latin typeface="宋体"/>
              <a:cs typeface="宋体"/>
            </a:endParaRPr>
          </a:p>
        </p:txBody>
      </p:sp>
      <p:sp>
        <p:nvSpPr>
          <p:cNvPr id="71" name="object 71" descr=""/>
          <p:cNvSpPr txBox="1"/>
          <p:nvPr/>
        </p:nvSpPr>
        <p:spPr>
          <a:xfrm>
            <a:off x="8102238" y="3517963"/>
            <a:ext cx="993775" cy="1320165"/>
          </a:xfrm>
          <a:prstGeom prst="rect">
            <a:avLst/>
          </a:prstGeom>
          <a:solidFill>
            <a:srgbClr val="CCFFFF"/>
          </a:solidFill>
          <a:ln w="13882">
            <a:solidFill>
              <a:srgbClr val="000000"/>
            </a:solidFill>
          </a:ln>
        </p:spPr>
        <p:txBody>
          <a:bodyPr wrap="square" lIns="0" tIns="0" rIns="0" bIns="0" rtlCol="0" vert="horz">
            <a:spAutoFit/>
          </a:bodyPr>
          <a:lstStyle/>
          <a:p>
            <a:pPr>
              <a:lnSpc>
                <a:spcPct val="100000"/>
              </a:lnSpc>
            </a:pPr>
            <a:endParaRPr sz="1400">
              <a:latin typeface="Times New Roman"/>
              <a:cs typeface="Times New Roman"/>
            </a:endParaRPr>
          </a:p>
          <a:p>
            <a:pPr>
              <a:lnSpc>
                <a:spcPct val="100000"/>
              </a:lnSpc>
              <a:spcBef>
                <a:spcPts val="1235"/>
              </a:spcBef>
            </a:pPr>
            <a:endParaRPr sz="1400">
              <a:latin typeface="Times New Roman"/>
              <a:cs typeface="Times New Roman"/>
            </a:endParaRPr>
          </a:p>
          <a:p>
            <a:pPr marL="314960">
              <a:lnSpc>
                <a:spcPct val="100000"/>
              </a:lnSpc>
            </a:pPr>
            <a:r>
              <a:rPr dirty="0" sz="1400" spc="-40" b="1">
                <a:latin typeface="宋体"/>
                <a:cs typeface="宋体"/>
              </a:rPr>
              <a:t>主存</a:t>
            </a:r>
            <a:endParaRPr sz="1400">
              <a:latin typeface="宋体"/>
              <a:cs typeface="宋体"/>
            </a:endParaRPr>
          </a:p>
        </p:txBody>
      </p:sp>
      <p:grpSp>
        <p:nvGrpSpPr>
          <p:cNvPr id="72" name="object 72" descr=""/>
          <p:cNvGrpSpPr/>
          <p:nvPr/>
        </p:nvGrpSpPr>
        <p:grpSpPr>
          <a:xfrm>
            <a:off x="6148574" y="1557078"/>
            <a:ext cx="2506980" cy="4583430"/>
            <a:chOff x="6148574" y="1557078"/>
            <a:chExt cx="2506980" cy="4583430"/>
          </a:xfrm>
        </p:grpSpPr>
        <p:sp>
          <p:nvSpPr>
            <p:cNvPr id="73" name="object 73" descr=""/>
            <p:cNvSpPr/>
            <p:nvPr/>
          </p:nvSpPr>
          <p:spPr>
            <a:xfrm>
              <a:off x="8550733" y="4840839"/>
              <a:ext cx="79375" cy="521334"/>
            </a:xfrm>
            <a:custGeom>
              <a:avLst/>
              <a:gdLst/>
              <a:ahLst/>
              <a:cxnLst/>
              <a:rect l="l" t="t" r="r" b="b"/>
              <a:pathLst>
                <a:path w="79375" h="521335">
                  <a:moveTo>
                    <a:pt x="41738" y="79171"/>
                  </a:moveTo>
                  <a:lnTo>
                    <a:pt x="32656" y="87263"/>
                  </a:lnTo>
                  <a:lnTo>
                    <a:pt x="32656" y="515987"/>
                  </a:lnTo>
                  <a:lnTo>
                    <a:pt x="37487" y="520761"/>
                  </a:lnTo>
                  <a:lnTo>
                    <a:pt x="46569" y="520761"/>
                  </a:lnTo>
                  <a:lnTo>
                    <a:pt x="46569" y="515987"/>
                  </a:lnTo>
                  <a:lnTo>
                    <a:pt x="51206" y="515987"/>
                  </a:lnTo>
                  <a:lnTo>
                    <a:pt x="51206" y="88613"/>
                  </a:lnTo>
                  <a:lnTo>
                    <a:pt x="41738" y="79171"/>
                  </a:lnTo>
                  <a:close/>
                </a:path>
                <a:path w="79375" h="521335">
                  <a:moveTo>
                    <a:pt x="41738" y="0"/>
                  </a:moveTo>
                  <a:lnTo>
                    <a:pt x="0" y="116360"/>
                  </a:lnTo>
                  <a:lnTo>
                    <a:pt x="32656" y="87263"/>
                  </a:lnTo>
                  <a:lnTo>
                    <a:pt x="32656" y="69623"/>
                  </a:lnTo>
                  <a:lnTo>
                    <a:pt x="64052" y="69623"/>
                  </a:lnTo>
                  <a:lnTo>
                    <a:pt x="41738" y="0"/>
                  </a:lnTo>
                  <a:close/>
                </a:path>
                <a:path w="79375" h="521335">
                  <a:moveTo>
                    <a:pt x="64052" y="69623"/>
                  </a:moveTo>
                  <a:lnTo>
                    <a:pt x="46569" y="69623"/>
                  </a:lnTo>
                  <a:lnTo>
                    <a:pt x="51206" y="74397"/>
                  </a:lnTo>
                  <a:lnTo>
                    <a:pt x="51206" y="88613"/>
                  </a:lnTo>
                  <a:lnTo>
                    <a:pt x="79032" y="116360"/>
                  </a:lnTo>
                  <a:lnTo>
                    <a:pt x="64052" y="69623"/>
                  </a:lnTo>
                  <a:close/>
                </a:path>
                <a:path w="79375" h="521335">
                  <a:moveTo>
                    <a:pt x="51206" y="79171"/>
                  </a:moveTo>
                  <a:lnTo>
                    <a:pt x="41738" y="79171"/>
                  </a:lnTo>
                  <a:lnTo>
                    <a:pt x="51206" y="88613"/>
                  </a:lnTo>
                  <a:lnTo>
                    <a:pt x="51206" y="79171"/>
                  </a:lnTo>
                  <a:close/>
                </a:path>
                <a:path w="79375" h="521335">
                  <a:moveTo>
                    <a:pt x="46569" y="69623"/>
                  </a:moveTo>
                  <a:lnTo>
                    <a:pt x="32656" y="69623"/>
                  </a:lnTo>
                  <a:lnTo>
                    <a:pt x="32656" y="87263"/>
                  </a:lnTo>
                  <a:lnTo>
                    <a:pt x="41738" y="79171"/>
                  </a:lnTo>
                  <a:lnTo>
                    <a:pt x="51206" y="79171"/>
                  </a:lnTo>
                  <a:lnTo>
                    <a:pt x="51206" y="74397"/>
                  </a:lnTo>
                  <a:lnTo>
                    <a:pt x="46569" y="69623"/>
                  </a:lnTo>
                  <a:close/>
                </a:path>
              </a:pathLst>
            </a:custGeom>
            <a:solidFill>
              <a:srgbClr val="000000"/>
            </a:solidFill>
          </p:spPr>
          <p:txBody>
            <a:bodyPr wrap="square" lIns="0" tIns="0" rIns="0" bIns="0" rtlCol="0"/>
            <a:lstStyle/>
            <a:p/>
          </p:txBody>
        </p:sp>
        <p:sp>
          <p:nvSpPr>
            <p:cNvPr id="74" name="object 74" descr=""/>
            <p:cNvSpPr/>
            <p:nvPr/>
          </p:nvSpPr>
          <p:spPr>
            <a:xfrm>
              <a:off x="8550733" y="4840840"/>
              <a:ext cx="79375" cy="521334"/>
            </a:xfrm>
            <a:custGeom>
              <a:avLst/>
              <a:gdLst/>
              <a:ahLst/>
              <a:cxnLst/>
              <a:rect l="l" t="t" r="r" b="b"/>
              <a:pathLst>
                <a:path w="79375" h="521335">
                  <a:moveTo>
                    <a:pt x="32656" y="511232"/>
                  </a:moveTo>
                  <a:lnTo>
                    <a:pt x="32656" y="79171"/>
                  </a:lnTo>
                  <a:lnTo>
                    <a:pt x="32656" y="74397"/>
                  </a:lnTo>
                  <a:lnTo>
                    <a:pt x="32656" y="69623"/>
                  </a:lnTo>
                  <a:lnTo>
                    <a:pt x="37487" y="69623"/>
                  </a:lnTo>
                  <a:lnTo>
                    <a:pt x="41738" y="69623"/>
                  </a:lnTo>
                  <a:lnTo>
                    <a:pt x="46569" y="69623"/>
                  </a:lnTo>
                  <a:lnTo>
                    <a:pt x="51206" y="74397"/>
                  </a:lnTo>
                  <a:lnTo>
                    <a:pt x="51206" y="79171"/>
                  </a:lnTo>
                  <a:lnTo>
                    <a:pt x="51206" y="511232"/>
                  </a:lnTo>
                  <a:lnTo>
                    <a:pt x="51206" y="515987"/>
                  </a:lnTo>
                  <a:lnTo>
                    <a:pt x="46569" y="515987"/>
                  </a:lnTo>
                  <a:lnTo>
                    <a:pt x="46569" y="520761"/>
                  </a:lnTo>
                  <a:lnTo>
                    <a:pt x="41738" y="520761"/>
                  </a:lnTo>
                  <a:lnTo>
                    <a:pt x="37487" y="520761"/>
                  </a:lnTo>
                  <a:lnTo>
                    <a:pt x="32656" y="515987"/>
                  </a:lnTo>
                  <a:lnTo>
                    <a:pt x="32656" y="511232"/>
                  </a:lnTo>
                  <a:close/>
                </a:path>
                <a:path w="79375" h="521335">
                  <a:moveTo>
                    <a:pt x="41738" y="79171"/>
                  </a:moveTo>
                  <a:lnTo>
                    <a:pt x="0" y="116360"/>
                  </a:lnTo>
                  <a:lnTo>
                    <a:pt x="41738" y="0"/>
                  </a:lnTo>
                  <a:lnTo>
                    <a:pt x="79032" y="116360"/>
                  </a:lnTo>
                  <a:lnTo>
                    <a:pt x="41738" y="79171"/>
                  </a:lnTo>
                  <a:close/>
                </a:path>
              </a:pathLst>
            </a:custGeom>
            <a:ln w="4787">
              <a:solidFill>
                <a:srgbClr val="000000"/>
              </a:solidFill>
            </a:ln>
          </p:spPr>
          <p:txBody>
            <a:bodyPr wrap="square" lIns="0" tIns="0" rIns="0" bIns="0" rtlCol="0"/>
            <a:lstStyle/>
            <a:p/>
          </p:txBody>
        </p:sp>
        <p:sp>
          <p:nvSpPr>
            <p:cNvPr id="75" name="object 75" descr=""/>
            <p:cNvSpPr/>
            <p:nvPr/>
          </p:nvSpPr>
          <p:spPr>
            <a:xfrm>
              <a:off x="6823806" y="5314864"/>
              <a:ext cx="1778635" cy="74930"/>
            </a:xfrm>
            <a:custGeom>
              <a:avLst/>
              <a:gdLst/>
              <a:ahLst/>
              <a:cxnLst/>
              <a:rect l="l" t="t" r="r" b="b"/>
              <a:pathLst>
                <a:path w="1778634" h="74929">
                  <a:moveTo>
                    <a:pt x="116326" y="0"/>
                  </a:moveTo>
                  <a:lnTo>
                    <a:pt x="0" y="37208"/>
                  </a:lnTo>
                  <a:lnTo>
                    <a:pt x="116326" y="74397"/>
                  </a:lnTo>
                  <a:lnTo>
                    <a:pt x="88588" y="46737"/>
                  </a:lnTo>
                  <a:lnTo>
                    <a:pt x="74201" y="46737"/>
                  </a:lnTo>
                  <a:lnTo>
                    <a:pt x="69950" y="41963"/>
                  </a:lnTo>
                  <a:lnTo>
                    <a:pt x="69950" y="28143"/>
                  </a:lnTo>
                  <a:lnTo>
                    <a:pt x="88118" y="28143"/>
                  </a:lnTo>
                  <a:lnTo>
                    <a:pt x="116326" y="0"/>
                  </a:lnTo>
                  <a:close/>
                </a:path>
                <a:path w="1778634" h="74929">
                  <a:moveTo>
                    <a:pt x="88118" y="28143"/>
                  </a:moveTo>
                  <a:lnTo>
                    <a:pt x="69950" y="28143"/>
                  </a:lnTo>
                  <a:lnTo>
                    <a:pt x="69950" y="41963"/>
                  </a:lnTo>
                  <a:lnTo>
                    <a:pt x="74201" y="46737"/>
                  </a:lnTo>
                  <a:lnTo>
                    <a:pt x="88588" y="46737"/>
                  </a:lnTo>
                  <a:lnTo>
                    <a:pt x="79032" y="37208"/>
                  </a:lnTo>
                  <a:lnTo>
                    <a:pt x="88118" y="28143"/>
                  </a:lnTo>
                  <a:close/>
                </a:path>
                <a:path w="1778634" h="74929">
                  <a:moveTo>
                    <a:pt x="1773495" y="28143"/>
                  </a:moveTo>
                  <a:lnTo>
                    <a:pt x="88118" y="28143"/>
                  </a:lnTo>
                  <a:lnTo>
                    <a:pt x="79032" y="37208"/>
                  </a:lnTo>
                  <a:lnTo>
                    <a:pt x="88588" y="46737"/>
                  </a:lnTo>
                  <a:lnTo>
                    <a:pt x="1773495" y="46737"/>
                  </a:lnTo>
                  <a:lnTo>
                    <a:pt x="1773495" y="41963"/>
                  </a:lnTo>
                  <a:lnTo>
                    <a:pt x="1778133" y="41963"/>
                  </a:lnTo>
                  <a:lnTo>
                    <a:pt x="1778133" y="32897"/>
                  </a:lnTo>
                  <a:lnTo>
                    <a:pt x="1773495" y="28143"/>
                  </a:lnTo>
                  <a:close/>
                </a:path>
              </a:pathLst>
            </a:custGeom>
            <a:solidFill>
              <a:srgbClr val="000000"/>
            </a:solidFill>
          </p:spPr>
          <p:txBody>
            <a:bodyPr wrap="square" lIns="0" tIns="0" rIns="0" bIns="0" rtlCol="0"/>
            <a:lstStyle/>
            <a:p/>
          </p:txBody>
        </p:sp>
        <p:sp>
          <p:nvSpPr>
            <p:cNvPr id="76" name="object 76" descr=""/>
            <p:cNvSpPr/>
            <p:nvPr/>
          </p:nvSpPr>
          <p:spPr>
            <a:xfrm>
              <a:off x="6823806" y="5314864"/>
              <a:ext cx="1778635" cy="74930"/>
            </a:xfrm>
            <a:custGeom>
              <a:avLst/>
              <a:gdLst/>
              <a:ahLst/>
              <a:cxnLst/>
              <a:rect l="l" t="t" r="r" b="b"/>
              <a:pathLst>
                <a:path w="1778634" h="74929">
                  <a:moveTo>
                    <a:pt x="1768664" y="46737"/>
                  </a:moveTo>
                  <a:lnTo>
                    <a:pt x="79032" y="46737"/>
                  </a:lnTo>
                  <a:lnTo>
                    <a:pt x="74201" y="46737"/>
                  </a:lnTo>
                  <a:lnTo>
                    <a:pt x="69950" y="41963"/>
                  </a:lnTo>
                  <a:lnTo>
                    <a:pt x="69950" y="37208"/>
                  </a:lnTo>
                  <a:lnTo>
                    <a:pt x="69950" y="32897"/>
                  </a:lnTo>
                  <a:lnTo>
                    <a:pt x="69950" y="28143"/>
                  </a:lnTo>
                  <a:lnTo>
                    <a:pt x="74201" y="28143"/>
                  </a:lnTo>
                  <a:lnTo>
                    <a:pt x="79032" y="28143"/>
                  </a:lnTo>
                  <a:lnTo>
                    <a:pt x="1768664" y="28143"/>
                  </a:lnTo>
                  <a:lnTo>
                    <a:pt x="1773495" y="28143"/>
                  </a:lnTo>
                  <a:lnTo>
                    <a:pt x="1778133" y="32897"/>
                  </a:lnTo>
                  <a:lnTo>
                    <a:pt x="1778133" y="37208"/>
                  </a:lnTo>
                  <a:lnTo>
                    <a:pt x="1778133" y="41963"/>
                  </a:lnTo>
                  <a:lnTo>
                    <a:pt x="1773495" y="41963"/>
                  </a:lnTo>
                  <a:lnTo>
                    <a:pt x="1773495" y="46737"/>
                  </a:lnTo>
                  <a:lnTo>
                    <a:pt x="1768664" y="46737"/>
                  </a:lnTo>
                  <a:close/>
                </a:path>
                <a:path w="1778634" h="74929">
                  <a:moveTo>
                    <a:pt x="79032" y="37208"/>
                  </a:moveTo>
                  <a:lnTo>
                    <a:pt x="116326" y="74397"/>
                  </a:lnTo>
                  <a:lnTo>
                    <a:pt x="0" y="37208"/>
                  </a:lnTo>
                  <a:lnTo>
                    <a:pt x="116326" y="0"/>
                  </a:lnTo>
                  <a:lnTo>
                    <a:pt x="79032" y="37208"/>
                  </a:lnTo>
                  <a:close/>
                </a:path>
              </a:pathLst>
            </a:custGeom>
            <a:ln w="4787">
              <a:solidFill>
                <a:srgbClr val="000000"/>
              </a:solidFill>
            </a:ln>
          </p:spPr>
          <p:txBody>
            <a:bodyPr wrap="square" lIns="0" tIns="0" rIns="0" bIns="0" rtlCol="0"/>
            <a:lstStyle/>
            <a:p/>
          </p:txBody>
        </p:sp>
        <p:sp>
          <p:nvSpPr>
            <p:cNvPr id="77" name="object 77" descr=""/>
            <p:cNvSpPr/>
            <p:nvPr/>
          </p:nvSpPr>
          <p:spPr>
            <a:xfrm>
              <a:off x="8573728" y="1559472"/>
              <a:ext cx="79375" cy="1961514"/>
            </a:xfrm>
            <a:custGeom>
              <a:avLst/>
              <a:gdLst/>
              <a:ahLst/>
              <a:cxnLst/>
              <a:rect l="l" t="t" r="r" b="b"/>
              <a:pathLst>
                <a:path w="79375" h="1961514">
                  <a:moveTo>
                    <a:pt x="0" y="1845532"/>
                  </a:moveTo>
                  <a:lnTo>
                    <a:pt x="37487" y="1961313"/>
                  </a:lnTo>
                  <a:lnTo>
                    <a:pt x="62455" y="1891728"/>
                  </a:lnTo>
                  <a:lnTo>
                    <a:pt x="32656" y="1891728"/>
                  </a:lnTo>
                  <a:lnTo>
                    <a:pt x="28212" y="1886896"/>
                  </a:lnTo>
                  <a:lnTo>
                    <a:pt x="28212" y="1873462"/>
                  </a:lnTo>
                  <a:lnTo>
                    <a:pt x="0" y="1845532"/>
                  </a:lnTo>
                  <a:close/>
                </a:path>
                <a:path w="79375" h="1961514">
                  <a:moveTo>
                    <a:pt x="28212" y="1873462"/>
                  </a:moveTo>
                  <a:lnTo>
                    <a:pt x="28212" y="1886896"/>
                  </a:lnTo>
                  <a:lnTo>
                    <a:pt x="32656" y="1891728"/>
                  </a:lnTo>
                  <a:lnTo>
                    <a:pt x="46569" y="1891728"/>
                  </a:lnTo>
                  <a:lnTo>
                    <a:pt x="46569" y="1882644"/>
                  </a:lnTo>
                  <a:lnTo>
                    <a:pt x="37487" y="1882644"/>
                  </a:lnTo>
                  <a:lnTo>
                    <a:pt x="28212" y="1873462"/>
                  </a:lnTo>
                  <a:close/>
                </a:path>
                <a:path w="79375" h="1961514">
                  <a:moveTo>
                    <a:pt x="79032" y="1845532"/>
                  </a:moveTo>
                  <a:lnTo>
                    <a:pt x="46569" y="1874531"/>
                  </a:lnTo>
                  <a:lnTo>
                    <a:pt x="46569" y="1891728"/>
                  </a:lnTo>
                  <a:lnTo>
                    <a:pt x="62455" y="1891728"/>
                  </a:lnTo>
                  <a:lnTo>
                    <a:pt x="79032" y="1845532"/>
                  </a:lnTo>
                  <a:close/>
                </a:path>
                <a:path w="79375" h="1961514">
                  <a:moveTo>
                    <a:pt x="42124" y="0"/>
                  </a:moveTo>
                  <a:lnTo>
                    <a:pt x="32656" y="0"/>
                  </a:lnTo>
                  <a:lnTo>
                    <a:pt x="32656" y="4638"/>
                  </a:lnTo>
                  <a:lnTo>
                    <a:pt x="28211" y="4638"/>
                  </a:lnTo>
                  <a:lnTo>
                    <a:pt x="28212" y="1873462"/>
                  </a:lnTo>
                  <a:lnTo>
                    <a:pt x="37487" y="1882644"/>
                  </a:lnTo>
                  <a:lnTo>
                    <a:pt x="46569" y="1874531"/>
                  </a:lnTo>
                  <a:lnTo>
                    <a:pt x="46569" y="4638"/>
                  </a:lnTo>
                  <a:lnTo>
                    <a:pt x="42124" y="0"/>
                  </a:lnTo>
                  <a:close/>
                </a:path>
                <a:path w="79375" h="1961514">
                  <a:moveTo>
                    <a:pt x="46569" y="1874531"/>
                  </a:moveTo>
                  <a:lnTo>
                    <a:pt x="37487" y="1882644"/>
                  </a:lnTo>
                  <a:lnTo>
                    <a:pt x="46569" y="1882644"/>
                  </a:lnTo>
                  <a:lnTo>
                    <a:pt x="46569" y="1874531"/>
                  </a:lnTo>
                  <a:close/>
                </a:path>
              </a:pathLst>
            </a:custGeom>
            <a:solidFill>
              <a:srgbClr val="000000"/>
            </a:solidFill>
          </p:spPr>
          <p:txBody>
            <a:bodyPr wrap="square" lIns="0" tIns="0" rIns="0" bIns="0" rtlCol="0"/>
            <a:lstStyle/>
            <a:p/>
          </p:txBody>
        </p:sp>
        <p:sp>
          <p:nvSpPr>
            <p:cNvPr id="78" name="object 78" descr=""/>
            <p:cNvSpPr/>
            <p:nvPr/>
          </p:nvSpPr>
          <p:spPr>
            <a:xfrm>
              <a:off x="8573728" y="1559472"/>
              <a:ext cx="79375" cy="1961514"/>
            </a:xfrm>
            <a:custGeom>
              <a:avLst/>
              <a:gdLst/>
              <a:ahLst/>
              <a:cxnLst/>
              <a:rect l="l" t="t" r="r" b="b"/>
              <a:pathLst>
                <a:path w="79375" h="1961514">
                  <a:moveTo>
                    <a:pt x="46569" y="9471"/>
                  </a:moveTo>
                  <a:lnTo>
                    <a:pt x="46569" y="1882644"/>
                  </a:lnTo>
                  <a:lnTo>
                    <a:pt x="46569" y="1886896"/>
                  </a:lnTo>
                  <a:lnTo>
                    <a:pt x="46569" y="1891728"/>
                  </a:lnTo>
                  <a:lnTo>
                    <a:pt x="42124" y="1891728"/>
                  </a:lnTo>
                  <a:lnTo>
                    <a:pt x="37487" y="1891728"/>
                  </a:lnTo>
                  <a:lnTo>
                    <a:pt x="32656" y="1891728"/>
                  </a:lnTo>
                  <a:lnTo>
                    <a:pt x="28212" y="1886896"/>
                  </a:lnTo>
                  <a:lnTo>
                    <a:pt x="28212" y="1882644"/>
                  </a:lnTo>
                  <a:lnTo>
                    <a:pt x="28211" y="9471"/>
                  </a:lnTo>
                  <a:lnTo>
                    <a:pt x="28211" y="4638"/>
                  </a:lnTo>
                  <a:lnTo>
                    <a:pt x="32656" y="4638"/>
                  </a:lnTo>
                  <a:lnTo>
                    <a:pt x="32656" y="0"/>
                  </a:lnTo>
                  <a:lnTo>
                    <a:pt x="37487" y="0"/>
                  </a:lnTo>
                  <a:lnTo>
                    <a:pt x="42124" y="0"/>
                  </a:lnTo>
                  <a:lnTo>
                    <a:pt x="46569" y="4638"/>
                  </a:lnTo>
                  <a:lnTo>
                    <a:pt x="46569" y="9471"/>
                  </a:lnTo>
                  <a:close/>
                </a:path>
                <a:path w="79375" h="1961514">
                  <a:moveTo>
                    <a:pt x="37487" y="1882644"/>
                  </a:moveTo>
                  <a:lnTo>
                    <a:pt x="79032" y="1845532"/>
                  </a:lnTo>
                  <a:lnTo>
                    <a:pt x="37487" y="1961313"/>
                  </a:lnTo>
                  <a:lnTo>
                    <a:pt x="0" y="1845532"/>
                  </a:lnTo>
                  <a:lnTo>
                    <a:pt x="37487" y="1882644"/>
                  </a:lnTo>
                  <a:close/>
                </a:path>
              </a:pathLst>
            </a:custGeom>
            <a:ln w="4787">
              <a:solidFill>
                <a:srgbClr val="000000"/>
              </a:solidFill>
            </a:ln>
          </p:spPr>
          <p:txBody>
            <a:bodyPr wrap="square" lIns="0" tIns="0" rIns="0" bIns="0" rtlCol="0"/>
            <a:lstStyle/>
            <a:p/>
          </p:txBody>
        </p:sp>
        <p:sp>
          <p:nvSpPr>
            <p:cNvPr id="79" name="object 79" descr=""/>
            <p:cNvSpPr/>
            <p:nvPr/>
          </p:nvSpPr>
          <p:spPr>
            <a:xfrm>
              <a:off x="6150968" y="1559472"/>
              <a:ext cx="74295" cy="339725"/>
            </a:xfrm>
            <a:custGeom>
              <a:avLst/>
              <a:gdLst/>
              <a:ahLst/>
              <a:cxnLst/>
              <a:rect l="l" t="t" r="r" b="b"/>
              <a:pathLst>
                <a:path w="74295" h="339725">
                  <a:moveTo>
                    <a:pt x="0" y="223056"/>
                  </a:moveTo>
                  <a:lnTo>
                    <a:pt x="36714" y="339417"/>
                  </a:lnTo>
                  <a:lnTo>
                    <a:pt x="57653" y="274085"/>
                  </a:lnTo>
                  <a:lnTo>
                    <a:pt x="36714" y="274085"/>
                  </a:lnTo>
                  <a:lnTo>
                    <a:pt x="32463" y="269832"/>
                  </a:lnTo>
                  <a:lnTo>
                    <a:pt x="27632" y="269832"/>
                  </a:lnTo>
                  <a:lnTo>
                    <a:pt x="27632" y="254624"/>
                  </a:lnTo>
                  <a:lnTo>
                    <a:pt x="0" y="223056"/>
                  </a:lnTo>
                  <a:close/>
                </a:path>
                <a:path w="74295" h="339725">
                  <a:moveTo>
                    <a:pt x="27632" y="254624"/>
                  </a:moveTo>
                  <a:lnTo>
                    <a:pt x="27632" y="269832"/>
                  </a:lnTo>
                  <a:lnTo>
                    <a:pt x="32463" y="269832"/>
                  </a:lnTo>
                  <a:lnTo>
                    <a:pt x="36714" y="274085"/>
                  </a:lnTo>
                  <a:lnTo>
                    <a:pt x="41545" y="269832"/>
                  </a:lnTo>
                  <a:lnTo>
                    <a:pt x="46376" y="265000"/>
                  </a:lnTo>
                  <a:lnTo>
                    <a:pt x="36714" y="265000"/>
                  </a:lnTo>
                  <a:lnTo>
                    <a:pt x="27632" y="254624"/>
                  </a:lnTo>
                  <a:close/>
                </a:path>
                <a:path w="74295" h="339725">
                  <a:moveTo>
                    <a:pt x="74008" y="223056"/>
                  </a:moveTo>
                  <a:lnTo>
                    <a:pt x="46376" y="254134"/>
                  </a:lnTo>
                  <a:lnTo>
                    <a:pt x="46376" y="265000"/>
                  </a:lnTo>
                  <a:lnTo>
                    <a:pt x="41545" y="269832"/>
                  </a:lnTo>
                  <a:lnTo>
                    <a:pt x="36714" y="274085"/>
                  </a:lnTo>
                  <a:lnTo>
                    <a:pt x="57653" y="274085"/>
                  </a:lnTo>
                  <a:lnTo>
                    <a:pt x="74008" y="223056"/>
                  </a:lnTo>
                  <a:close/>
                </a:path>
                <a:path w="74295" h="339725">
                  <a:moveTo>
                    <a:pt x="41545" y="0"/>
                  </a:moveTo>
                  <a:lnTo>
                    <a:pt x="32463" y="0"/>
                  </a:lnTo>
                  <a:lnTo>
                    <a:pt x="27632" y="4638"/>
                  </a:lnTo>
                  <a:lnTo>
                    <a:pt x="27632" y="254624"/>
                  </a:lnTo>
                  <a:lnTo>
                    <a:pt x="36714" y="265000"/>
                  </a:lnTo>
                  <a:lnTo>
                    <a:pt x="46376" y="254134"/>
                  </a:lnTo>
                  <a:lnTo>
                    <a:pt x="46375" y="4638"/>
                  </a:lnTo>
                  <a:lnTo>
                    <a:pt x="41545" y="4638"/>
                  </a:lnTo>
                  <a:lnTo>
                    <a:pt x="41545" y="0"/>
                  </a:lnTo>
                  <a:close/>
                </a:path>
                <a:path w="74295" h="339725">
                  <a:moveTo>
                    <a:pt x="46376" y="254134"/>
                  </a:moveTo>
                  <a:lnTo>
                    <a:pt x="36714" y="265000"/>
                  </a:lnTo>
                  <a:lnTo>
                    <a:pt x="46376" y="265000"/>
                  </a:lnTo>
                  <a:lnTo>
                    <a:pt x="46376" y="254134"/>
                  </a:lnTo>
                  <a:close/>
                </a:path>
              </a:pathLst>
            </a:custGeom>
            <a:solidFill>
              <a:srgbClr val="000000"/>
            </a:solidFill>
          </p:spPr>
          <p:txBody>
            <a:bodyPr wrap="square" lIns="0" tIns="0" rIns="0" bIns="0" rtlCol="0"/>
            <a:lstStyle/>
            <a:p/>
          </p:txBody>
        </p:sp>
        <p:sp>
          <p:nvSpPr>
            <p:cNvPr id="80" name="object 80" descr=""/>
            <p:cNvSpPr/>
            <p:nvPr/>
          </p:nvSpPr>
          <p:spPr>
            <a:xfrm>
              <a:off x="6150968" y="1559472"/>
              <a:ext cx="74295" cy="339725"/>
            </a:xfrm>
            <a:custGeom>
              <a:avLst/>
              <a:gdLst/>
              <a:ahLst/>
              <a:cxnLst/>
              <a:rect l="l" t="t" r="r" b="b"/>
              <a:pathLst>
                <a:path w="74295" h="339725">
                  <a:moveTo>
                    <a:pt x="46375" y="9471"/>
                  </a:moveTo>
                  <a:lnTo>
                    <a:pt x="46376" y="265000"/>
                  </a:lnTo>
                  <a:lnTo>
                    <a:pt x="41545" y="269832"/>
                  </a:lnTo>
                  <a:lnTo>
                    <a:pt x="36714" y="274085"/>
                  </a:lnTo>
                  <a:lnTo>
                    <a:pt x="32463" y="269832"/>
                  </a:lnTo>
                  <a:lnTo>
                    <a:pt x="27632" y="269832"/>
                  </a:lnTo>
                  <a:lnTo>
                    <a:pt x="27632" y="265000"/>
                  </a:lnTo>
                  <a:lnTo>
                    <a:pt x="27632" y="9471"/>
                  </a:lnTo>
                  <a:lnTo>
                    <a:pt x="27632" y="4638"/>
                  </a:lnTo>
                  <a:lnTo>
                    <a:pt x="32463" y="0"/>
                  </a:lnTo>
                  <a:lnTo>
                    <a:pt x="36714" y="0"/>
                  </a:lnTo>
                  <a:lnTo>
                    <a:pt x="41545" y="0"/>
                  </a:lnTo>
                  <a:lnTo>
                    <a:pt x="41545" y="4638"/>
                  </a:lnTo>
                  <a:lnTo>
                    <a:pt x="46375" y="4638"/>
                  </a:lnTo>
                  <a:lnTo>
                    <a:pt x="46375" y="9471"/>
                  </a:lnTo>
                  <a:close/>
                </a:path>
                <a:path w="74295" h="339725">
                  <a:moveTo>
                    <a:pt x="36714" y="265000"/>
                  </a:moveTo>
                  <a:lnTo>
                    <a:pt x="74008" y="223056"/>
                  </a:lnTo>
                  <a:lnTo>
                    <a:pt x="36714" y="339417"/>
                  </a:lnTo>
                  <a:lnTo>
                    <a:pt x="0" y="223056"/>
                  </a:lnTo>
                  <a:lnTo>
                    <a:pt x="36714" y="265000"/>
                  </a:lnTo>
                  <a:close/>
                </a:path>
              </a:pathLst>
            </a:custGeom>
            <a:ln w="4787">
              <a:solidFill>
                <a:srgbClr val="000000"/>
              </a:solidFill>
            </a:ln>
          </p:spPr>
          <p:txBody>
            <a:bodyPr wrap="square" lIns="0" tIns="0" rIns="0" bIns="0" rtlCol="0"/>
            <a:lstStyle/>
            <a:p/>
          </p:txBody>
        </p:sp>
        <p:sp>
          <p:nvSpPr>
            <p:cNvPr id="81" name="object 81" descr=""/>
            <p:cNvSpPr/>
            <p:nvPr/>
          </p:nvSpPr>
          <p:spPr>
            <a:xfrm>
              <a:off x="6350385" y="6118892"/>
              <a:ext cx="2251710" cy="19050"/>
            </a:xfrm>
            <a:custGeom>
              <a:avLst/>
              <a:gdLst/>
              <a:ahLst/>
              <a:cxnLst/>
              <a:rect l="l" t="t" r="r" b="b"/>
              <a:pathLst>
                <a:path w="2251709" h="19050">
                  <a:moveTo>
                    <a:pt x="51400" y="0"/>
                  </a:moveTo>
                  <a:lnTo>
                    <a:pt x="9275" y="0"/>
                  </a:lnTo>
                  <a:lnTo>
                    <a:pt x="4830" y="4774"/>
                  </a:lnTo>
                  <a:lnTo>
                    <a:pt x="0" y="9529"/>
                  </a:lnTo>
                  <a:lnTo>
                    <a:pt x="4830" y="14303"/>
                  </a:lnTo>
                  <a:lnTo>
                    <a:pt x="9275" y="18594"/>
                  </a:lnTo>
                  <a:lnTo>
                    <a:pt x="51400" y="18594"/>
                  </a:lnTo>
                  <a:lnTo>
                    <a:pt x="55651" y="14303"/>
                  </a:lnTo>
                  <a:lnTo>
                    <a:pt x="60482" y="14303"/>
                  </a:lnTo>
                  <a:lnTo>
                    <a:pt x="60482" y="4774"/>
                  </a:lnTo>
                  <a:lnTo>
                    <a:pt x="55651" y="4774"/>
                  </a:lnTo>
                  <a:lnTo>
                    <a:pt x="51400" y="0"/>
                  </a:lnTo>
                  <a:close/>
                </a:path>
                <a:path w="2251709" h="19050">
                  <a:moveTo>
                    <a:pt x="153234" y="0"/>
                  </a:moveTo>
                  <a:lnTo>
                    <a:pt x="111688" y="0"/>
                  </a:lnTo>
                  <a:lnTo>
                    <a:pt x="102027" y="9529"/>
                  </a:lnTo>
                  <a:lnTo>
                    <a:pt x="106858" y="14303"/>
                  </a:lnTo>
                  <a:lnTo>
                    <a:pt x="111688" y="18594"/>
                  </a:lnTo>
                  <a:lnTo>
                    <a:pt x="153234" y="18594"/>
                  </a:lnTo>
                  <a:lnTo>
                    <a:pt x="158064" y="14303"/>
                  </a:lnTo>
                  <a:lnTo>
                    <a:pt x="162316" y="9529"/>
                  </a:lnTo>
                  <a:lnTo>
                    <a:pt x="158064" y="4774"/>
                  </a:lnTo>
                  <a:lnTo>
                    <a:pt x="153234" y="0"/>
                  </a:lnTo>
                  <a:close/>
                </a:path>
                <a:path w="2251709" h="19050">
                  <a:moveTo>
                    <a:pt x="255261" y="0"/>
                  </a:moveTo>
                  <a:lnTo>
                    <a:pt x="213522" y="0"/>
                  </a:lnTo>
                  <a:lnTo>
                    <a:pt x="208692" y="4774"/>
                  </a:lnTo>
                  <a:lnTo>
                    <a:pt x="204440" y="4774"/>
                  </a:lnTo>
                  <a:lnTo>
                    <a:pt x="204440" y="14303"/>
                  </a:lnTo>
                  <a:lnTo>
                    <a:pt x="213522" y="18594"/>
                  </a:lnTo>
                  <a:lnTo>
                    <a:pt x="255261" y="18594"/>
                  </a:lnTo>
                  <a:lnTo>
                    <a:pt x="260092" y="14303"/>
                  </a:lnTo>
                  <a:lnTo>
                    <a:pt x="260092" y="4774"/>
                  </a:lnTo>
                  <a:lnTo>
                    <a:pt x="255261" y="0"/>
                  </a:lnTo>
                  <a:close/>
                </a:path>
                <a:path w="2251709" h="19050">
                  <a:moveTo>
                    <a:pt x="361926" y="4774"/>
                  </a:moveTo>
                  <a:lnTo>
                    <a:pt x="306468" y="4774"/>
                  </a:lnTo>
                  <a:lnTo>
                    <a:pt x="306468" y="14303"/>
                  </a:lnTo>
                  <a:lnTo>
                    <a:pt x="311298" y="18594"/>
                  </a:lnTo>
                  <a:lnTo>
                    <a:pt x="357674" y="18594"/>
                  </a:lnTo>
                  <a:lnTo>
                    <a:pt x="361926" y="14303"/>
                  </a:lnTo>
                  <a:lnTo>
                    <a:pt x="361926" y="4774"/>
                  </a:lnTo>
                  <a:close/>
                </a:path>
                <a:path w="2251709" h="19050">
                  <a:moveTo>
                    <a:pt x="357674" y="0"/>
                  </a:moveTo>
                  <a:lnTo>
                    <a:pt x="311298" y="0"/>
                  </a:lnTo>
                  <a:lnTo>
                    <a:pt x="311298" y="4774"/>
                  </a:lnTo>
                  <a:lnTo>
                    <a:pt x="357674" y="4774"/>
                  </a:lnTo>
                  <a:lnTo>
                    <a:pt x="357674" y="0"/>
                  </a:lnTo>
                  <a:close/>
                </a:path>
                <a:path w="2251709" h="19050">
                  <a:moveTo>
                    <a:pt x="464339" y="4774"/>
                  </a:moveTo>
                  <a:lnTo>
                    <a:pt x="408302" y="4774"/>
                  </a:lnTo>
                  <a:lnTo>
                    <a:pt x="408302" y="14303"/>
                  </a:lnTo>
                  <a:lnTo>
                    <a:pt x="413132" y="18594"/>
                  </a:lnTo>
                  <a:lnTo>
                    <a:pt x="459508" y="18594"/>
                  </a:lnTo>
                  <a:lnTo>
                    <a:pt x="464339" y="14303"/>
                  </a:lnTo>
                  <a:lnTo>
                    <a:pt x="464339" y="4774"/>
                  </a:lnTo>
                  <a:close/>
                </a:path>
                <a:path w="2251709" h="19050">
                  <a:moveTo>
                    <a:pt x="459508" y="0"/>
                  </a:moveTo>
                  <a:lnTo>
                    <a:pt x="413132" y="0"/>
                  </a:lnTo>
                  <a:lnTo>
                    <a:pt x="413132" y="4774"/>
                  </a:lnTo>
                  <a:lnTo>
                    <a:pt x="459508" y="4774"/>
                  </a:lnTo>
                  <a:lnTo>
                    <a:pt x="459508" y="0"/>
                  </a:lnTo>
                  <a:close/>
                </a:path>
                <a:path w="2251709" h="19050">
                  <a:moveTo>
                    <a:pt x="566366" y="4774"/>
                  </a:moveTo>
                  <a:lnTo>
                    <a:pt x="510715" y="4774"/>
                  </a:lnTo>
                  <a:lnTo>
                    <a:pt x="510715" y="14303"/>
                  </a:lnTo>
                  <a:lnTo>
                    <a:pt x="515160" y="18594"/>
                  </a:lnTo>
                  <a:lnTo>
                    <a:pt x="561536" y="18594"/>
                  </a:lnTo>
                  <a:lnTo>
                    <a:pt x="566366" y="14303"/>
                  </a:lnTo>
                  <a:lnTo>
                    <a:pt x="566366" y="4774"/>
                  </a:lnTo>
                  <a:close/>
                </a:path>
                <a:path w="2251709" h="19050">
                  <a:moveTo>
                    <a:pt x="561536" y="0"/>
                  </a:moveTo>
                  <a:lnTo>
                    <a:pt x="515160" y="0"/>
                  </a:lnTo>
                  <a:lnTo>
                    <a:pt x="515160" y="4774"/>
                  </a:lnTo>
                  <a:lnTo>
                    <a:pt x="561536" y="4774"/>
                  </a:lnTo>
                  <a:lnTo>
                    <a:pt x="561536" y="0"/>
                  </a:lnTo>
                  <a:close/>
                </a:path>
                <a:path w="2251709" h="19050">
                  <a:moveTo>
                    <a:pt x="659118" y="0"/>
                  </a:moveTo>
                  <a:lnTo>
                    <a:pt x="617573" y="0"/>
                  </a:lnTo>
                  <a:lnTo>
                    <a:pt x="607912" y="9529"/>
                  </a:lnTo>
                  <a:lnTo>
                    <a:pt x="612742" y="14303"/>
                  </a:lnTo>
                  <a:lnTo>
                    <a:pt x="617573" y="18594"/>
                  </a:lnTo>
                  <a:lnTo>
                    <a:pt x="659118" y="18594"/>
                  </a:lnTo>
                  <a:lnTo>
                    <a:pt x="668200" y="14303"/>
                  </a:lnTo>
                  <a:lnTo>
                    <a:pt x="668200" y="4774"/>
                  </a:lnTo>
                  <a:lnTo>
                    <a:pt x="663949" y="4774"/>
                  </a:lnTo>
                  <a:lnTo>
                    <a:pt x="659118" y="0"/>
                  </a:lnTo>
                  <a:close/>
                </a:path>
                <a:path w="2251709" h="19050">
                  <a:moveTo>
                    <a:pt x="761146" y="0"/>
                  </a:moveTo>
                  <a:lnTo>
                    <a:pt x="719407" y="0"/>
                  </a:lnTo>
                  <a:lnTo>
                    <a:pt x="714770" y="4774"/>
                  </a:lnTo>
                  <a:lnTo>
                    <a:pt x="710325" y="9529"/>
                  </a:lnTo>
                  <a:lnTo>
                    <a:pt x="714770" y="14303"/>
                  </a:lnTo>
                  <a:lnTo>
                    <a:pt x="719407" y="18594"/>
                  </a:lnTo>
                  <a:lnTo>
                    <a:pt x="761146" y="18594"/>
                  </a:lnTo>
                  <a:lnTo>
                    <a:pt x="765977" y="14303"/>
                  </a:lnTo>
                  <a:lnTo>
                    <a:pt x="770807" y="14303"/>
                  </a:lnTo>
                  <a:lnTo>
                    <a:pt x="770807" y="4774"/>
                  </a:lnTo>
                  <a:lnTo>
                    <a:pt x="765977" y="4774"/>
                  </a:lnTo>
                  <a:lnTo>
                    <a:pt x="761146" y="0"/>
                  </a:lnTo>
                  <a:close/>
                </a:path>
                <a:path w="2251709" h="19050">
                  <a:moveTo>
                    <a:pt x="863559" y="0"/>
                  </a:moveTo>
                  <a:lnTo>
                    <a:pt x="821434" y="0"/>
                  </a:lnTo>
                  <a:lnTo>
                    <a:pt x="817183" y="4774"/>
                  </a:lnTo>
                  <a:lnTo>
                    <a:pt x="812353" y="9529"/>
                  </a:lnTo>
                  <a:lnTo>
                    <a:pt x="817183" y="14303"/>
                  </a:lnTo>
                  <a:lnTo>
                    <a:pt x="821434" y="18594"/>
                  </a:lnTo>
                  <a:lnTo>
                    <a:pt x="863559" y="18594"/>
                  </a:lnTo>
                  <a:lnTo>
                    <a:pt x="867811" y="14303"/>
                  </a:lnTo>
                  <a:lnTo>
                    <a:pt x="872641" y="14303"/>
                  </a:lnTo>
                  <a:lnTo>
                    <a:pt x="872641" y="4774"/>
                  </a:lnTo>
                  <a:lnTo>
                    <a:pt x="867811" y="4774"/>
                  </a:lnTo>
                  <a:lnTo>
                    <a:pt x="863559" y="0"/>
                  </a:lnTo>
                  <a:close/>
                </a:path>
                <a:path w="2251709" h="19050">
                  <a:moveTo>
                    <a:pt x="965587" y="0"/>
                  </a:moveTo>
                  <a:lnTo>
                    <a:pt x="923848" y="0"/>
                  </a:lnTo>
                  <a:lnTo>
                    <a:pt x="919017" y="4774"/>
                  </a:lnTo>
                  <a:lnTo>
                    <a:pt x="914380" y="9529"/>
                  </a:lnTo>
                  <a:lnTo>
                    <a:pt x="919017" y="14303"/>
                  </a:lnTo>
                  <a:lnTo>
                    <a:pt x="923848" y="18594"/>
                  </a:lnTo>
                  <a:lnTo>
                    <a:pt x="965587" y="18594"/>
                  </a:lnTo>
                  <a:lnTo>
                    <a:pt x="970224" y="14303"/>
                  </a:lnTo>
                  <a:lnTo>
                    <a:pt x="975055" y="9529"/>
                  </a:lnTo>
                  <a:lnTo>
                    <a:pt x="970224" y="4774"/>
                  </a:lnTo>
                  <a:lnTo>
                    <a:pt x="965587" y="0"/>
                  </a:lnTo>
                  <a:close/>
                </a:path>
                <a:path w="2251709" h="19050">
                  <a:moveTo>
                    <a:pt x="1068000" y="0"/>
                  </a:moveTo>
                  <a:lnTo>
                    <a:pt x="1025875" y="0"/>
                  </a:lnTo>
                  <a:lnTo>
                    <a:pt x="1021431" y="4774"/>
                  </a:lnTo>
                  <a:lnTo>
                    <a:pt x="1016793" y="4774"/>
                  </a:lnTo>
                  <a:lnTo>
                    <a:pt x="1016793" y="14303"/>
                  </a:lnTo>
                  <a:lnTo>
                    <a:pt x="1025875" y="18594"/>
                  </a:lnTo>
                  <a:lnTo>
                    <a:pt x="1068000" y="18594"/>
                  </a:lnTo>
                  <a:lnTo>
                    <a:pt x="1072251" y="14303"/>
                  </a:lnTo>
                  <a:lnTo>
                    <a:pt x="1072251" y="4774"/>
                  </a:lnTo>
                  <a:lnTo>
                    <a:pt x="1068000" y="0"/>
                  </a:lnTo>
                  <a:close/>
                </a:path>
                <a:path w="2251709" h="19050">
                  <a:moveTo>
                    <a:pt x="1174665" y="4774"/>
                  </a:moveTo>
                  <a:lnTo>
                    <a:pt x="1118627" y="4774"/>
                  </a:lnTo>
                  <a:lnTo>
                    <a:pt x="1118627" y="14303"/>
                  </a:lnTo>
                  <a:lnTo>
                    <a:pt x="1123458" y="18594"/>
                  </a:lnTo>
                  <a:lnTo>
                    <a:pt x="1169834" y="18594"/>
                  </a:lnTo>
                  <a:lnTo>
                    <a:pt x="1174665" y="14303"/>
                  </a:lnTo>
                  <a:lnTo>
                    <a:pt x="1174665" y="4774"/>
                  </a:lnTo>
                  <a:close/>
                </a:path>
                <a:path w="2251709" h="19050">
                  <a:moveTo>
                    <a:pt x="1169834" y="0"/>
                  </a:moveTo>
                  <a:lnTo>
                    <a:pt x="1123458" y="0"/>
                  </a:lnTo>
                  <a:lnTo>
                    <a:pt x="1123458" y="4774"/>
                  </a:lnTo>
                  <a:lnTo>
                    <a:pt x="1169834" y="4774"/>
                  </a:lnTo>
                  <a:lnTo>
                    <a:pt x="1169834" y="0"/>
                  </a:lnTo>
                  <a:close/>
                </a:path>
                <a:path w="2251709" h="19050">
                  <a:moveTo>
                    <a:pt x="1276692" y="4774"/>
                  </a:moveTo>
                  <a:lnTo>
                    <a:pt x="1221041" y="4774"/>
                  </a:lnTo>
                  <a:lnTo>
                    <a:pt x="1221041" y="14303"/>
                  </a:lnTo>
                  <a:lnTo>
                    <a:pt x="1225485" y="18594"/>
                  </a:lnTo>
                  <a:lnTo>
                    <a:pt x="1271861" y="18594"/>
                  </a:lnTo>
                  <a:lnTo>
                    <a:pt x="1276692" y="14303"/>
                  </a:lnTo>
                  <a:lnTo>
                    <a:pt x="1276692" y="4774"/>
                  </a:lnTo>
                  <a:close/>
                </a:path>
                <a:path w="2251709" h="19050">
                  <a:moveTo>
                    <a:pt x="1271861" y="0"/>
                  </a:moveTo>
                  <a:lnTo>
                    <a:pt x="1225485" y="0"/>
                  </a:lnTo>
                  <a:lnTo>
                    <a:pt x="1225485" y="4774"/>
                  </a:lnTo>
                  <a:lnTo>
                    <a:pt x="1271861" y="4774"/>
                  </a:lnTo>
                  <a:lnTo>
                    <a:pt x="1271861" y="0"/>
                  </a:lnTo>
                  <a:close/>
                </a:path>
                <a:path w="2251709" h="19050">
                  <a:moveTo>
                    <a:pt x="1378526" y="4774"/>
                  </a:moveTo>
                  <a:lnTo>
                    <a:pt x="1323068" y="4774"/>
                  </a:lnTo>
                  <a:lnTo>
                    <a:pt x="1323068" y="14303"/>
                  </a:lnTo>
                  <a:lnTo>
                    <a:pt x="1327899" y="18594"/>
                  </a:lnTo>
                  <a:lnTo>
                    <a:pt x="1374275" y="18594"/>
                  </a:lnTo>
                  <a:lnTo>
                    <a:pt x="1378526" y="14303"/>
                  </a:lnTo>
                  <a:lnTo>
                    <a:pt x="1378526" y="4774"/>
                  </a:lnTo>
                  <a:close/>
                </a:path>
                <a:path w="2251709" h="19050">
                  <a:moveTo>
                    <a:pt x="1374275" y="0"/>
                  </a:moveTo>
                  <a:lnTo>
                    <a:pt x="1327899" y="0"/>
                  </a:lnTo>
                  <a:lnTo>
                    <a:pt x="1327899" y="4774"/>
                  </a:lnTo>
                  <a:lnTo>
                    <a:pt x="1374275" y="4774"/>
                  </a:lnTo>
                  <a:lnTo>
                    <a:pt x="1374275" y="0"/>
                  </a:lnTo>
                  <a:close/>
                </a:path>
                <a:path w="2251709" h="19050">
                  <a:moveTo>
                    <a:pt x="1471472" y="0"/>
                  </a:moveTo>
                  <a:lnTo>
                    <a:pt x="1429733" y="0"/>
                  </a:lnTo>
                  <a:lnTo>
                    <a:pt x="1425096" y="4774"/>
                  </a:lnTo>
                  <a:lnTo>
                    <a:pt x="1420651" y="9529"/>
                  </a:lnTo>
                  <a:lnTo>
                    <a:pt x="1425096" y="14303"/>
                  </a:lnTo>
                  <a:lnTo>
                    <a:pt x="1429733" y="18594"/>
                  </a:lnTo>
                  <a:lnTo>
                    <a:pt x="1471472" y="18594"/>
                  </a:lnTo>
                  <a:lnTo>
                    <a:pt x="1480940" y="14303"/>
                  </a:lnTo>
                  <a:lnTo>
                    <a:pt x="1480940" y="4774"/>
                  </a:lnTo>
                  <a:lnTo>
                    <a:pt x="1476302" y="4774"/>
                  </a:lnTo>
                  <a:lnTo>
                    <a:pt x="1471472" y="0"/>
                  </a:lnTo>
                  <a:close/>
                </a:path>
                <a:path w="2251709" h="19050">
                  <a:moveTo>
                    <a:pt x="1573885" y="0"/>
                  </a:moveTo>
                  <a:lnTo>
                    <a:pt x="1531760" y="0"/>
                  </a:lnTo>
                  <a:lnTo>
                    <a:pt x="1527509" y="4774"/>
                  </a:lnTo>
                  <a:lnTo>
                    <a:pt x="1522678" y="9529"/>
                  </a:lnTo>
                  <a:lnTo>
                    <a:pt x="1527509" y="14303"/>
                  </a:lnTo>
                  <a:lnTo>
                    <a:pt x="1531760" y="18594"/>
                  </a:lnTo>
                  <a:lnTo>
                    <a:pt x="1573885" y="18594"/>
                  </a:lnTo>
                  <a:lnTo>
                    <a:pt x="1578136" y="14303"/>
                  </a:lnTo>
                  <a:lnTo>
                    <a:pt x="1582967" y="14303"/>
                  </a:lnTo>
                  <a:lnTo>
                    <a:pt x="1582967" y="4774"/>
                  </a:lnTo>
                  <a:lnTo>
                    <a:pt x="1578136" y="4774"/>
                  </a:lnTo>
                  <a:lnTo>
                    <a:pt x="1573885" y="0"/>
                  </a:lnTo>
                  <a:close/>
                </a:path>
                <a:path w="2251709" h="19050">
                  <a:moveTo>
                    <a:pt x="1675912" y="0"/>
                  </a:moveTo>
                  <a:lnTo>
                    <a:pt x="1634174" y="0"/>
                  </a:lnTo>
                  <a:lnTo>
                    <a:pt x="1629343" y="4774"/>
                  </a:lnTo>
                  <a:lnTo>
                    <a:pt x="1624706" y="9529"/>
                  </a:lnTo>
                  <a:lnTo>
                    <a:pt x="1629343" y="14303"/>
                  </a:lnTo>
                  <a:lnTo>
                    <a:pt x="1634174" y="18594"/>
                  </a:lnTo>
                  <a:lnTo>
                    <a:pt x="1675912" y="18594"/>
                  </a:lnTo>
                  <a:lnTo>
                    <a:pt x="1680550" y="14303"/>
                  </a:lnTo>
                  <a:lnTo>
                    <a:pt x="1684994" y="14303"/>
                  </a:lnTo>
                  <a:lnTo>
                    <a:pt x="1684994" y="4774"/>
                  </a:lnTo>
                  <a:lnTo>
                    <a:pt x="1680550" y="4774"/>
                  </a:lnTo>
                  <a:lnTo>
                    <a:pt x="1675912" y="0"/>
                  </a:lnTo>
                  <a:close/>
                </a:path>
                <a:path w="2251709" h="19050">
                  <a:moveTo>
                    <a:pt x="1777746" y="0"/>
                  </a:moveTo>
                  <a:lnTo>
                    <a:pt x="1736201" y="0"/>
                  </a:lnTo>
                  <a:lnTo>
                    <a:pt x="1731370" y="4774"/>
                  </a:lnTo>
                  <a:lnTo>
                    <a:pt x="1727119" y="9529"/>
                  </a:lnTo>
                  <a:lnTo>
                    <a:pt x="1731370" y="14303"/>
                  </a:lnTo>
                  <a:lnTo>
                    <a:pt x="1736201" y="18594"/>
                  </a:lnTo>
                  <a:lnTo>
                    <a:pt x="1777746" y="18594"/>
                  </a:lnTo>
                  <a:lnTo>
                    <a:pt x="1782577" y="14303"/>
                  </a:lnTo>
                  <a:lnTo>
                    <a:pt x="1787408" y="9529"/>
                  </a:lnTo>
                  <a:lnTo>
                    <a:pt x="1777746" y="0"/>
                  </a:lnTo>
                  <a:close/>
                </a:path>
                <a:path w="2251709" h="19050">
                  <a:moveTo>
                    <a:pt x="1880160" y="0"/>
                  </a:moveTo>
                  <a:lnTo>
                    <a:pt x="1838615" y="0"/>
                  </a:lnTo>
                  <a:lnTo>
                    <a:pt x="1833784" y="4774"/>
                  </a:lnTo>
                  <a:lnTo>
                    <a:pt x="1828953" y="4774"/>
                  </a:lnTo>
                  <a:lnTo>
                    <a:pt x="1828953" y="14303"/>
                  </a:lnTo>
                  <a:lnTo>
                    <a:pt x="1838615" y="18594"/>
                  </a:lnTo>
                  <a:lnTo>
                    <a:pt x="1880160" y="18594"/>
                  </a:lnTo>
                  <a:lnTo>
                    <a:pt x="1884604" y="14303"/>
                  </a:lnTo>
                  <a:lnTo>
                    <a:pt x="1884604" y="4774"/>
                  </a:lnTo>
                  <a:lnTo>
                    <a:pt x="1880160" y="0"/>
                  </a:lnTo>
                  <a:close/>
                </a:path>
                <a:path w="2251709" h="19050">
                  <a:moveTo>
                    <a:pt x="1987018" y="4774"/>
                  </a:moveTo>
                  <a:lnTo>
                    <a:pt x="1930980" y="4774"/>
                  </a:lnTo>
                  <a:lnTo>
                    <a:pt x="1930980" y="14303"/>
                  </a:lnTo>
                  <a:lnTo>
                    <a:pt x="1935811" y="18594"/>
                  </a:lnTo>
                  <a:lnTo>
                    <a:pt x="1982187" y="18594"/>
                  </a:lnTo>
                  <a:lnTo>
                    <a:pt x="1987018" y="14303"/>
                  </a:lnTo>
                  <a:lnTo>
                    <a:pt x="1987018" y="4774"/>
                  </a:lnTo>
                  <a:close/>
                </a:path>
                <a:path w="2251709" h="19050">
                  <a:moveTo>
                    <a:pt x="1982187" y="0"/>
                  </a:moveTo>
                  <a:lnTo>
                    <a:pt x="1935811" y="0"/>
                  </a:lnTo>
                  <a:lnTo>
                    <a:pt x="1935811" y="4774"/>
                  </a:lnTo>
                  <a:lnTo>
                    <a:pt x="1982187" y="4774"/>
                  </a:lnTo>
                  <a:lnTo>
                    <a:pt x="1982187" y="0"/>
                  </a:lnTo>
                  <a:close/>
                </a:path>
                <a:path w="2251709" h="19050">
                  <a:moveTo>
                    <a:pt x="2088852" y="4774"/>
                  </a:moveTo>
                  <a:lnTo>
                    <a:pt x="2033394" y="4774"/>
                  </a:lnTo>
                  <a:lnTo>
                    <a:pt x="2033394" y="14303"/>
                  </a:lnTo>
                  <a:lnTo>
                    <a:pt x="2038225" y="18594"/>
                  </a:lnTo>
                  <a:lnTo>
                    <a:pt x="2084601" y="18594"/>
                  </a:lnTo>
                  <a:lnTo>
                    <a:pt x="2088852" y="14303"/>
                  </a:lnTo>
                  <a:lnTo>
                    <a:pt x="2088852" y="4774"/>
                  </a:lnTo>
                  <a:close/>
                </a:path>
                <a:path w="2251709" h="19050">
                  <a:moveTo>
                    <a:pt x="2084601" y="0"/>
                  </a:moveTo>
                  <a:lnTo>
                    <a:pt x="2038225" y="0"/>
                  </a:lnTo>
                  <a:lnTo>
                    <a:pt x="2038225" y="4774"/>
                  </a:lnTo>
                  <a:lnTo>
                    <a:pt x="2084601" y="4774"/>
                  </a:lnTo>
                  <a:lnTo>
                    <a:pt x="2084601" y="0"/>
                  </a:lnTo>
                  <a:close/>
                </a:path>
                <a:path w="2251709" h="19050">
                  <a:moveTo>
                    <a:pt x="2191266" y="4774"/>
                  </a:moveTo>
                  <a:lnTo>
                    <a:pt x="2135421" y="4774"/>
                  </a:lnTo>
                  <a:lnTo>
                    <a:pt x="2135421" y="14303"/>
                  </a:lnTo>
                  <a:lnTo>
                    <a:pt x="2140059" y="18594"/>
                  </a:lnTo>
                  <a:lnTo>
                    <a:pt x="2186628" y="18594"/>
                  </a:lnTo>
                  <a:lnTo>
                    <a:pt x="2191266" y="14303"/>
                  </a:lnTo>
                  <a:lnTo>
                    <a:pt x="2191266" y="4774"/>
                  </a:lnTo>
                  <a:close/>
                </a:path>
                <a:path w="2251709" h="19050">
                  <a:moveTo>
                    <a:pt x="2186628" y="0"/>
                  </a:moveTo>
                  <a:lnTo>
                    <a:pt x="2140059" y="0"/>
                  </a:lnTo>
                  <a:lnTo>
                    <a:pt x="2140059" y="4774"/>
                  </a:lnTo>
                  <a:lnTo>
                    <a:pt x="2186628" y="4774"/>
                  </a:lnTo>
                  <a:lnTo>
                    <a:pt x="2186628" y="0"/>
                  </a:lnTo>
                  <a:close/>
                </a:path>
                <a:path w="2251709" h="19050">
                  <a:moveTo>
                    <a:pt x="2242086" y="0"/>
                  </a:moveTo>
                  <a:lnTo>
                    <a:pt x="2237835" y="4774"/>
                  </a:lnTo>
                  <a:lnTo>
                    <a:pt x="2233004" y="9529"/>
                  </a:lnTo>
                  <a:lnTo>
                    <a:pt x="2237835" y="14303"/>
                  </a:lnTo>
                  <a:lnTo>
                    <a:pt x="2242086" y="18594"/>
                  </a:lnTo>
                  <a:lnTo>
                    <a:pt x="2246917" y="14303"/>
                  </a:lnTo>
                  <a:lnTo>
                    <a:pt x="2251555" y="9529"/>
                  </a:lnTo>
                  <a:lnTo>
                    <a:pt x="2246917" y="4774"/>
                  </a:lnTo>
                  <a:lnTo>
                    <a:pt x="2242086" y="0"/>
                  </a:lnTo>
                  <a:close/>
                </a:path>
              </a:pathLst>
            </a:custGeom>
            <a:solidFill>
              <a:srgbClr val="000000"/>
            </a:solidFill>
          </p:spPr>
          <p:txBody>
            <a:bodyPr wrap="square" lIns="0" tIns="0" rIns="0" bIns="0" rtlCol="0"/>
            <a:lstStyle/>
            <a:p/>
          </p:txBody>
        </p:sp>
        <p:sp>
          <p:nvSpPr>
            <p:cNvPr id="82" name="object 82" descr=""/>
            <p:cNvSpPr/>
            <p:nvPr/>
          </p:nvSpPr>
          <p:spPr>
            <a:xfrm>
              <a:off x="6350385" y="6118892"/>
              <a:ext cx="2251710" cy="19050"/>
            </a:xfrm>
            <a:custGeom>
              <a:avLst/>
              <a:gdLst/>
              <a:ahLst/>
              <a:cxnLst/>
              <a:rect l="l" t="t" r="r" b="b"/>
              <a:pathLst>
                <a:path w="2251709" h="19050">
                  <a:moveTo>
                    <a:pt x="9275" y="0"/>
                  </a:moveTo>
                  <a:lnTo>
                    <a:pt x="51400" y="0"/>
                  </a:lnTo>
                  <a:lnTo>
                    <a:pt x="55651" y="4774"/>
                  </a:lnTo>
                  <a:lnTo>
                    <a:pt x="60482" y="4774"/>
                  </a:lnTo>
                  <a:lnTo>
                    <a:pt x="60482" y="9529"/>
                  </a:lnTo>
                  <a:lnTo>
                    <a:pt x="60482" y="14303"/>
                  </a:lnTo>
                  <a:lnTo>
                    <a:pt x="55651" y="14303"/>
                  </a:lnTo>
                  <a:lnTo>
                    <a:pt x="51400" y="18594"/>
                  </a:lnTo>
                  <a:lnTo>
                    <a:pt x="9275" y="18594"/>
                  </a:lnTo>
                  <a:lnTo>
                    <a:pt x="4830" y="14303"/>
                  </a:lnTo>
                  <a:lnTo>
                    <a:pt x="0" y="9529"/>
                  </a:lnTo>
                  <a:lnTo>
                    <a:pt x="4830" y="4774"/>
                  </a:lnTo>
                  <a:lnTo>
                    <a:pt x="9275" y="0"/>
                  </a:lnTo>
                  <a:close/>
                </a:path>
                <a:path w="2251709" h="19050">
                  <a:moveTo>
                    <a:pt x="111688" y="0"/>
                  </a:moveTo>
                  <a:lnTo>
                    <a:pt x="153234" y="0"/>
                  </a:lnTo>
                  <a:lnTo>
                    <a:pt x="158064" y="4774"/>
                  </a:lnTo>
                  <a:lnTo>
                    <a:pt x="162316" y="9529"/>
                  </a:lnTo>
                  <a:lnTo>
                    <a:pt x="158064" y="14303"/>
                  </a:lnTo>
                  <a:lnTo>
                    <a:pt x="153234" y="18594"/>
                  </a:lnTo>
                  <a:lnTo>
                    <a:pt x="111688" y="18594"/>
                  </a:lnTo>
                  <a:lnTo>
                    <a:pt x="106858" y="14303"/>
                  </a:lnTo>
                  <a:lnTo>
                    <a:pt x="102027" y="9529"/>
                  </a:lnTo>
                  <a:lnTo>
                    <a:pt x="106858" y="4774"/>
                  </a:lnTo>
                  <a:lnTo>
                    <a:pt x="111688" y="0"/>
                  </a:lnTo>
                  <a:close/>
                </a:path>
                <a:path w="2251709" h="19050">
                  <a:moveTo>
                    <a:pt x="213522" y="0"/>
                  </a:moveTo>
                  <a:lnTo>
                    <a:pt x="255261" y="0"/>
                  </a:lnTo>
                  <a:lnTo>
                    <a:pt x="260092" y="4774"/>
                  </a:lnTo>
                  <a:lnTo>
                    <a:pt x="260092" y="9529"/>
                  </a:lnTo>
                  <a:lnTo>
                    <a:pt x="260092" y="14303"/>
                  </a:lnTo>
                  <a:lnTo>
                    <a:pt x="255261" y="18594"/>
                  </a:lnTo>
                  <a:lnTo>
                    <a:pt x="213522" y="18594"/>
                  </a:lnTo>
                  <a:lnTo>
                    <a:pt x="204440" y="14303"/>
                  </a:lnTo>
                  <a:lnTo>
                    <a:pt x="204440" y="9529"/>
                  </a:lnTo>
                  <a:lnTo>
                    <a:pt x="204440" y="4774"/>
                  </a:lnTo>
                  <a:lnTo>
                    <a:pt x="208692" y="4774"/>
                  </a:lnTo>
                  <a:lnTo>
                    <a:pt x="213522" y="0"/>
                  </a:lnTo>
                  <a:close/>
                </a:path>
                <a:path w="2251709" h="19050">
                  <a:moveTo>
                    <a:pt x="311298" y="0"/>
                  </a:moveTo>
                  <a:lnTo>
                    <a:pt x="357674" y="0"/>
                  </a:lnTo>
                  <a:lnTo>
                    <a:pt x="357674" y="4774"/>
                  </a:lnTo>
                  <a:lnTo>
                    <a:pt x="361926" y="4774"/>
                  </a:lnTo>
                  <a:lnTo>
                    <a:pt x="361926" y="9529"/>
                  </a:lnTo>
                  <a:lnTo>
                    <a:pt x="361926" y="14303"/>
                  </a:lnTo>
                  <a:lnTo>
                    <a:pt x="357674" y="18594"/>
                  </a:lnTo>
                  <a:lnTo>
                    <a:pt x="311298" y="18594"/>
                  </a:lnTo>
                  <a:lnTo>
                    <a:pt x="306468" y="14303"/>
                  </a:lnTo>
                  <a:lnTo>
                    <a:pt x="306468" y="9529"/>
                  </a:lnTo>
                  <a:lnTo>
                    <a:pt x="306468" y="4774"/>
                  </a:lnTo>
                  <a:lnTo>
                    <a:pt x="311298" y="4774"/>
                  </a:lnTo>
                  <a:lnTo>
                    <a:pt x="311298" y="0"/>
                  </a:lnTo>
                  <a:close/>
                </a:path>
                <a:path w="2251709" h="19050">
                  <a:moveTo>
                    <a:pt x="413132" y="0"/>
                  </a:moveTo>
                  <a:lnTo>
                    <a:pt x="459508" y="0"/>
                  </a:lnTo>
                  <a:lnTo>
                    <a:pt x="459508" y="4774"/>
                  </a:lnTo>
                  <a:lnTo>
                    <a:pt x="464339" y="4774"/>
                  </a:lnTo>
                  <a:lnTo>
                    <a:pt x="464339" y="9529"/>
                  </a:lnTo>
                  <a:lnTo>
                    <a:pt x="464339" y="14303"/>
                  </a:lnTo>
                  <a:lnTo>
                    <a:pt x="459508" y="18594"/>
                  </a:lnTo>
                  <a:lnTo>
                    <a:pt x="413132" y="18594"/>
                  </a:lnTo>
                  <a:lnTo>
                    <a:pt x="408302" y="14303"/>
                  </a:lnTo>
                  <a:lnTo>
                    <a:pt x="408302" y="9529"/>
                  </a:lnTo>
                  <a:lnTo>
                    <a:pt x="408302" y="4774"/>
                  </a:lnTo>
                  <a:lnTo>
                    <a:pt x="413132" y="4774"/>
                  </a:lnTo>
                  <a:lnTo>
                    <a:pt x="413132" y="0"/>
                  </a:lnTo>
                  <a:close/>
                </a:path>
                <a:path w="2251709" h="19050">
                  <a:moveTo>
                    <a:pt x="515160" y="0"/>
                  </a:moveTo>
                  <a:lnTo>
                    <a:pt x="561536" y="0"/>
                  </a:lnTo>
                  <a:lnTo>
                    <a:pt x="561536" y="4774"/>
                  </a:lnTo>
                  <a:lnTo>
                    <a:pt x="566366" y="4774"/>
                  </a:lnTo>
                  <a:lnTo>
                    <a:pt x="566366" y="9529"/>
                  </a:lnTo>
                  <a:lnTo>
                    <a:pt x="566366" y="14303"/>
                  </a:lnTo>
                  <a:lnTo>
                    <a:pt x="561536" y="18594"/>
                  </a:lnTo>
                  <a:lnTo>
                    <a:pt x="515160" y="18594"/>
                  </a:lnTo>
                  <a:lnTo>
                    <a:pt x="510715" y="14303"/>
                  </a:lnTo>
                  <a:lnTo>
                    <a:pt x="510715" y="9529"/>
                  </a:lnTo>
                  <a:lnTo>
                    <a:pt x="510715" y="4774"/>
                  </a:lnTo>
                  <a:lnTo>
                    <a:pt x="515160" y="4774"/>
                  </a:lnTo>
                  <a:lnTo>
                    <a:pt x="515160" y="0"/>
                  </a:lnTo>
                  <a:close/>
                </a:path>
                <a:path w="2251709" h="19050">
                  <a:moveTo>
                    <a:pt x="617573" y="0"/>
                  </a:moveTo>
                  <a:lnTo>
                    <a:pt x="659118" y="0"/>
                  </a:lnTo>
                  <a:lnTo>
                    <a:pt x="663949" y="4774"/>
                  </a:lnTo>
                  <a:lnTo>
                    <a:pt x="668200" y="4774"/>
                  </a:lnTo>
                  <a:lnTo>
                    <a:pt x="668200" y="9529"/>
                  </a:lnTo>
                  <a:lnTo>
                    <a:pt x="668200" y="14303"/>
                  </a:lnTo>
                  <a:lnTo>
                    <a:pt x="659118" y="18594"/>
                  </a:lnTo>
                  <a:lnTo>
                    <a:pt x="617573" y="18594"/>
                  </a:lnTo>
                  <a:lnTo>
                    <a:pt x="612742" y="14303"/>
                  </a:lnTo>
                  <a:lnTo>
                    <a:pt x="607912" y="9529"/>
                  </a:lnTo>
                  <a:lnTo>
                    <a:pt x="612742" y="4774"/>
                  </a:lnTo>
                  <a:lnTo>
                    <a:pt x="617573" y="0"/>
                  </a:lnTo>
                  <a:close/>
                </a:path>
                <a:path w="2251709" h="19050">
                  <a:moveTo>
                    <a:pt x="719407" y="0"/>
                  </a:moveTo>
                  <a:lnTo>
                    <a:pt x="761146" y="0"/>
                  </a:lnTo>
                  <a:lnTo>
                    <a:pt x="765977" y="4774"/>
                  </a:lnTo>
                  <a:lnTo>
                    <a:pt x="770807" y="4774"/>
                  </a:lnTo>
                  <a:lnTo>
                    <a:pt x="770807" y="9529"/>
                  </a:lnTo>
                  <a:lnTo>
                    <a:pt x="770807" y="14303"/>
                  </a:lnTo>
                  <a:lnTo>
                    <a:pt x="765977" y="14303"/>
                  </a:lnTo>
                  <a:lnTo>
                    <a:pt x="761146" y="18594"/>
                  </a:lnTo>
                  <a:lnTo>
                    <a:pt x="719407" y="18594"/>
                  </a:lnTo>
                  <a:lnTo>
                    <a:pt x="714770" y="14303"/>
                  </a:lnTo>
                  <a:lnTo>
                    <a:pt x="710325" y="9529"/>
                  </a:lnTo>
                  <a:lnTo>
                    <a:pt x="714770" y="4774"/>
                  </a:lnTo>
                  <a:lnTo>
                    <a:pt x="719407" y="0"/>
                  </a:lnTo>
                  <a:close/>
                </a:path>
                <a:path w="2251709" h="19050">
                  <a:moveTo>
                    <a:pt x="821435" y="0"/>
                  </a:moveTo>
                  <a:lnTo>
                    <a:pt x="863559" y="0"/>
                  </a:lnTo>
                  <a:lnTo>
                    <a:pt x="867811" y="4774"/>
                  </a:lnTo>
                  <a:lnTo>
                    <a:pt x="872641" y="4774"/>
                  </a:lnTo>
                  <a:lnTo>
                    <a:pt x="872641" y="9529"/>
                  </a:lnTo>
                  <a:lnTo>
                    <a:pt x="872641" y="14303"/>
                  </a:lnTo>
                  <a:lnTo>
                    <a:pt x="867811" y="14303"/>
                  </a:lnTo>
                  <a:lnTo>
                    <a:pt x="863559" y="18594"/>
                  </a:lnTo>
                  <a:lnTo>
                    <a:pt x="821435" y="18594"/>
                  </a:lnTo>
                  <a:lnTo>
                    <a:pt x="817183" y="14303"/>
                  </a:lnTo>
                  <a:lnTo>
                    <a:pt x="812353" y="9529"/>
                  </a:lnTo>
                  <a:lnTo>
                    <a:pt x="817183" y="4774"/>
                  </a:lnTo>
                  <a:lnTo>
                    <a:pt x="821435" y="0"/>
                  </a:lnTo>
                  <a:close/>
                </a:path>
                <a:path w="2251709" h="19050">
                  <a:moveTo>
                    <a:pt x="923848" y="0"/>
                  </a:moveTo>
                  <a:lnTo>
                    <a:pt x="965587" y="0"/>
                  </a:lnTo>
                  <a:lnTo>
                    <a:pt x="970224" y="4774"/>
                  </a:lnTo>
                  <a:lnTo>
                    <a:pt x="975055" y="9529"/>
                  </a:lnTo>
                  <a:lnTo>
                    <a:pt x="970224" y="14303"/>
                  </a:lnTo>
                  <a:lnTo>
                    <a:pt x="965587" y="18594"/>
                  </a:lnTo>
                  <a:lnTo>
                    <a:pt x="923848" y="18594"/>
                  </a:lnTo>
                  <a:lnTo>
                    <a:pt x="919017" y="14303"/>
                  </a:lnTo>
                  <a:lnTo>
                    <a:pt x="914380" y="9529"/>
                  </a:lnTo>
                  <a:lnTo>
                    <a:pt x="919017" y="4774"/>
                  </a:lnTo>
                  <a:lnTo>
                    <a:pt x="923848" y="0"/>
                  </a:lnTo>
                  <a:close/>
                </a:path>
                <a:path w="2251709" h="19050">
                  <a:moveTo>
                    <a:pt x="1025875" y="0"/>
                  </a:moveTo>
                  <a:lnTo>
                    <a:pt x="1068000" y="0"/>
                  </a:lnTo>
                  <a:lnTo>
                    <a:pt x="1072251" y="4774"/>
                  </a:lnTo>
                  <a:lnTo>
                    <a:pt x="1072251" y="9529"/>
                  </a:lnTo>
                  <a:lnTo>
                    <a:pt x="1072251" y="14303"/>
                  </a:lnTo>
                  <a:lnTo>
                    <a:pt x="1068000" y="18594"/>
                  </a:lnTo>
                  <a:lnTo>
                    <a:pt x="1025875" y="18594"/>
                  </a:lnTo>
                  <a:lnTo>
                    <a:pt x="1016793" y="14303"/>
                  </a:lnTo>
                  <a:lnTo>
                    <a:pt x="1016793" y="9529"/>
                  </a:lnTo>
                  <a:lnTo>
                    <a:pt x="1016793" y="4774"/>
                  </a:lnTo>
                  <a:lnTo>
                    <a:pt x="1021431" y="4774"/>
                  </a:lnTo>
                  <a:lnTo>
                    <a:pt x="1025875" y="0"/>
                  </a:lnTo>
                  <a:close/>
                </a:path>
                <a:path w="2251709" h="19050">
                  <a:moveTo>
                    <a:pt x="1123458" y="0"/>
                  </a:moveTo>
                  <a:lnTo>
                    <a:pt x="1169834" y="0"/>
                  </a:lnTo>
                  <a:lnTo>
                    <a:pt x="1169834" y="4774"/>
                  </a:lnTo>
                  <a:lnTo>
                    <a:pt x="1174665" y="4774"/>
                  </a:lnTo>
                  <a:lnTo>
                    <a:pt x="1174665" y="9529"/>
                  </a:lnTo>
                  <a:lnTo>
                    <a:pt x="1174665" y="14303"/>
                  </a:lnTo>
                  <a:lnTo>
                    <a:pt x="1169834" y="18594"/>
                  </a:lnTo>
                  <a:lnTo>
                    <a:pt x="1123458" y="18594"/>
                  </a:lnTo>
                  <a:lnTo>
                    <a:pt x="1118627" y="14303"/>
                  </a:lnTo>
                  <a:lnTo>
                    <a:pt x="1118627" y="9529"/>
                  </a:lnTo>
                  <a:lnTo>
                    <a:pt x="1118627" y="4774"/>
                  </a:lnTo>
                  <a:lnTo>
                    <a:pt x="1123458" y="4774"/>
                  </a:lnTo>
                  <a:lnTo>
                    <a:pt x="1123458" y="0"/>
                  </a:lnTo>
                  <a:close/>
                </a:path>
                <a:path w="2251709" h="19050">
                  <a:moveTo>
                    <a:pt x="1225485" y="0"/>
                  </a:moveTo>
                  <a:lnTo>
                    <a:pt x="1271861" y="0"/>
                  </a:lnTo>
                  <a:lnTo>
                    <a:pt x="1271861" y="4774"/>
                  </a:lnTo>
                  <a:lnTo>
                    <a:pt x="1276692" y="4774"/>
                  </a:lnTo>
                  <a:lnTo>
                    <a:pt x="1276692" y="9529"/>
                  </a:lnTo>
                  <a:lnTo>
                    <a:pt x="1276692" y="14303"/>
                  </a:lnTo>
                  <a:lnTo>
                    <a:pt x="1271861" y="18594"/>
                  </a:lnTo>
                  <a:lnTo>
                    <a:pt x="1225485" y="18594"/>
                  </a:lnTo>
                  <a:lnTo>
                    <a:pt x="1221041" y="14303"/>
                  </a:lnTo>
                  <a:lnTo>
                    <a:pt x="1221041" y="9529"/>
                  </a:lnTo>
                  <a:lnTo>
                    <a:pt x="1221041" y="4774"/>
                  </a:lnTo>
                  <a:lnTo>
                    <a:pt x="1225485" y="4774"/>
                  </a:lnTo>
                  <a:lnTo>
                    <a:pt x="1225485" y="0"/>
                  </a:lnTo>
                  <a:close/>
                </a:path>
                <a:path w="2251709" h="19050">
                  <a:moveTo>
                    <a:pt x="1327899" y="0"/>
                  </a:moveTo>
                  <a:lnTo>
                    <a:pt x="1374275" y="0"/>
                  </a:lnTo>
                  <a:lnTo>
                    <a:pt x="1374275" y="4774"/>
                  </a:lnTo>
                  <a:lnTo>
                    <a:pt x="1378526" y="4774"/>
                  </a:lnTo>
                  <a:lnTo>
                    <a:pt x="1378526" y="9529"/>
                  </a:lnTo>
                  <a:lnTo>
                    <a:pt x="1378526" y="14303"/>
                  </a:lnTo>
                  <a:lnTo>
                    <a:pt x="1374275" y="18594"/>
                  </a:lnTo>
                  <a:lnTo>
                    <a:pt x="1327899" y="18594"/>
                  </a:lnTo>
                  <a:lnTo>
                    <a:pt x="1323068" y="14303"/>
                  </a:lnTo>
                  <a:lnTo>
                    <a:pt x="1323068" y="9529"/>
                  </a:lnTo>
                  <a:lnTo>
                    <a:pt x="1323068" y="4774"/>
                  </a:lnTo>
                  <a:lnTo>
                    <a:pt x="1327899" y="4774"/>
                  </a:lnTo>
                  <a:lnTo>
                    <a:pt x="1327899" y="0"/>
                  </a:lnTo>
                  <a:close/>
                </a:path>
                <a:path w="2251709" h="19050">
                  <a:moveTo>
                    <a:pt x="1429733" y="0"/>
                  </a:moveTo>
                  <a:lnTo>
                    <a:pt x="1471472" y="0"/>
                  </a:lnTo>
                  <a:lnTo>
                    <a:pt x="1476302" y="4774"/>
                  </a:lnTo>
                  <a:lnTo>
                    <a:pt x="1480940" y="4774"/>
                  </a:lnTo>
                  <a:lnTo>
                    <a:pt x="1480940" y="9529"/>
                  </a:lnTo>
                  <a:lnTo>
                    <a:pt x="1480940" y="14303"/>
                  </a:lnTo>
                  <a:lnTo>
                    <a:pt x="1471472" y="18594"/>
                  </a:lnTo>
                  <a:lnTo>
                    <a:pt x="1429733" y="18594"/>
                  </a:lnTo>
                  <a:lnTo>
                    <a:pt x="1425096" y="14303"/>
                  </a:lnTo>
                  <a:lnTo>
                    <a:pt x="1420651" y="9529"/>
                  </a:lnTo>
                  <a:lnTo>
                    <a:pt x="1425096" y="4774"/>
                  </a:lnTo>
                  <a:lnTo>
                    <a:pt x="1429733" y="0"/>
                  </a:lnTo>
                  <a:close/>
                </a:path>
                <a:path w="2251709" h="19050">
                  <a:moveTo>
                    <a:pt x="1531760" y="0"/>
                  </a:moveTo>
                  <a:lnTo>
                    <a:pt x="1573885" y="0"/>
                  </a:lnTo>
                  <a:lnTo>
                    <a:pt x="1578136" y="4774"/>
                  </a:lnTo>
                  <a:lnTo>
                    <a:pt x="1582967" y="4774"/>
                  </a:lnTo>
                  <a:lnTo>
                    <a:pt x="1582967" y="9529"/>
                  </a:lnTo>
                  <a:lnTo>
                    <a:pt x="1582967" y="14303"/>
                  </a:lnTo>
                  <a:lnTo>
                    <a:pt x="1578136" y="14303"/>
                  </a:lnTo>
                  <a:lnTo>
                    <a:pt x="1573885" y="18594"/>
                  </a:lnTo>
                  <a:lnTo>
                    <a:pt x="1531760" y="18594"/>
                  </a:lnTo>
                  <a:lnTo>
                    <a:pt x="1527509" y="14303"/>
                  </a:lnTo>
                  <a:lnTo>
                    <a:pt x="1522678" y="9529"/>
                  </a:lnTo>
                  <a:lnTo>
                    <a:pt x="1527509" y="4774"/>
                  </a:lnTo>
                  <a:lnTo>
                    <a:pt x="1531760" y="0"/>
                  </a:lnTo>
                  <a:close/>
                </a:path>
                <a:path w="2251709" h="19050">
                  <a:moveTo>
                    <a:pt x="1634174" y="0"/>
                  </a:moveTo>
                  <a:lnTo>
                    <a:pt x="1675912" y="0"/>
                  </a:lnTo>
                  <a:lnTo>
                    <a:pt x="1680550" y="4774"/>
                  </a:lnTo>
                  <a:lnTo>
                    <a:pt x="1684994" y="4774"/>
                  </a:lnTo>
                  <a:lnTo>
                    <a:pt x="1684994" y="9529"/>
                  </a:lnTo>
                  <a:lnTo>
                    <a:pt x="1684994" y="14303"/>
                  </a:lnTo>
                  <a:lnTo>
                    <a:pt x="1680550" y="14303"/>
                  </a:lnTo>
                  <a:lnTo>
                    <a:pt x="1675912" y="18594"/>
                  </a:lnTo>
                  <a:lnTo>
                    <a:pt x="1634174" y="18594"/>
                  </a:lnTo>
                  <a:lnTo>
                    <a:pt x="1629343" y="14303"/>
                  </a:lnTo>
                  <a:lnTo>
                    <a:pt x="1624706" y="9529"/>
                  </a:lnTo>
                  <a:lnTo>
                    <a:pt x="1629343" y="4774"/>
                  </a:lnTo>
                  <a:lnTo>
                    <a:pt x="1634174" y="0"/>
                  </a:lnTo>
                  <a:close/>
                </a:path>
                <a:path w="2251709" h="19050">
                  <a:moveTo>
                    <a:pt x="1736201" y="0"/>
                  </a:moveTo>
                  <a:lnTo>
                    <a:pt x="1777746" y="0"/>
                  </a:lnTo>
                  <a:lnTo>
                    <a:pt x="1782577" y="4774"/>
                  </a:lnTo>
                  <a:lnTo>
                    <a:pt x="1787408" y="9529"/>
                  </a:lnTo>
                  <a:lnTo>
                    <a:pt x="1782577" y="14303"/>
                  </a:lnTo>
                  <a:lnTo>
                    <a:pt x="1777746" y="18594"/>
                  </a:lnTo>
                  <a:lnTo>
                    <a:pt x="1736201" y="18594"/>
                  </a:lnTo>
                  <a:lnTo>
                    <a:pt x="1731370" y="14303"/>
                  </a:lnTo>
                  <a:lnTo>
                    <a:pt x="1727119" y="9529"/>
                  </a:lnTo>
                  <a:lnTo>
                    <a:pt x="1731370" y="4774"/>
                  </a:lnTo>
                  <a:lnTo>
                    <a:pt x="1736201" y="0"/>
                  </a:lnTo>
                  <a:close/>
                </a:path>
                <a:path w="2251709" h="19050">
                  <a:moveTo>
                    <a:pt x="1838615" y="0"/>
                  </a:moveTo>
                  <a:lnTo>
                    <a:pt x="1880160" y="0"/>
                  </a:lnTo>
                  <a:lnTo>
                    <a:pt x="1884604" y="4774"/>
                  </a:lnTo>
                  <a:lnTo>
                    <a:pt x="1884604" y="9529"/>
                  </a:lnTo>
                  <a:lnTo>
                    <a:pt x="1884604" y="14303"/>
                  </a:lnTo>
                  <a:lnTo>
                    <a:pt x="1880160" y="18594"/>
                  </a:lnTo>
                  <a:lnTo>
                    <a:pt x="1838615" y="18594"/>
                  </a:lnTo>
                  <a:lnTo>
                    <a:pt x="1828953" y="14303"/>
                  </a:lnTo>
                  <a:lnTo>
                    <a:pt x="1828953" y="9529"/>
                  </a:lnTo>
                  <a:lnTo>
                    <a:pt x="1828953" y="4774"/>
                  </a:lnTo>
                  <a:lnTo>
                    <a:pt x="1833784" y="4774"/>
                  </a:lnTo>
                  <a:lnTo>
                    <a:pt x="1838615" y="0"/>
                  </a:lnTo>
                  <a:close/>
                </a:path>
                <a:path w="2251709" h="19050">
                  <a:moveTo>
                    <a:pt x="1935811" y="0"/>
                  </a:moveTo>
                  <a:lnTo>
                    <a:pt x="1982187" y="0"/>
                  </a:lnTo>
                  <a:lnTo>
                    <a:pt x="1982187" y="4774"/>
                  </a:lnTo>
                  <a:lnTo>
                    <a:pt x="1987018" y="4774"/>
                  </a:lnTo>
                  <a:lnTo>
                    <a:pt x="1987018" y="9529"/>
                  </a:lnTo>
                  <a:lnTo>
                    <a:pt x="1987018" y="14303"/>
                  </a:lnTo>
                  <a:lnTo>
                    <a:pt x="1982187" y="18594"/>
                  </a:lnTo>
                  <a:lnTo>
                    <a:pt x="1935811" y="18594"/>
                  </a:lnTo>
                  <a:lnTo>
                    <a:pt x="1930980" y="14303"/>
                  </a:lnTo>
                  <a:lnTo>
                    <a:pt x="1930980" y="9529"/>
                  </a:lnTo>
                  <a:lnTo>
                    <a:pt x="1930980" y="4774"/>
                  </a:lnTo>
                  <a:lnTo>
                    <a:pt x="1935811" y="4774"/>
                  </a:lnTo>
                  <a:lnTo>
                    <a:pt x="1935811" y="0"/>
                  </a:lnTo>
                  <a:close/>
                </a:path>
                <a:path w="2251709" h="19050">
                  <a:moveTo>
                    <a:pt x="2038225" y="0"/>
                  </a:moveTo>
                  <a:lnTo>
                    <a:pt x="2084601" y="0"/>
                  </a:lnTo>
                  <a:lnTo>
                    <a:pt x="2084601" y="4774"/>
                  </a:lnTo>
                  <a:lnTo>
                    <a:pt x="2088852" y="4774"/>
                  </a:lnTo>
                  <a:lnTo>
                    <a:pt x="2088852" y="9529"/>
                  </a:lnTo>
                  <a:lnTo>
                    <a:pt x="2088852" y="14303"/>
                  </a:lnTo>
                  <a:lnTo>
                    <a:pt x="2084601" y="18594"/>
                  </a:lnTo>
                  <a:lnTo>
                    <a:pt x="2038225" y="18594"/>
                  </a:lnTo>
                  <a:lnTo>
                    <a:pt x="2033394" y="14303"/>
                  </a:lnTo>
                  <a:lnTo>
                    <a:pt x="2033394" y="9529"/>
                  </a:lnTo>
                  <a:lnTo>
                    <a:pt x="2033394" y="4774"/>
                  </a:lnTo>
                  <a:lnTo>
                    <a:pt x="2038225" y="4774"/>
                  </a:lnTo>
                  <a:lnTo>
                    <a:pt x="2038225" y="0"/>
                  </a:lnTo>
                  <a:close/>
                </a:path>
                <a:path w="2251709" h="19050">
                  <a:moveTo>
                    <a:pt x="2140059" y="0"/>
                  </a:moveTo>
                  <a:lnTo>
                    <a:pt x="2186628" y="0"/>
                  </a:lnTo>
                  <a:lnTo>
                    <a:pt x="2186628" y="4774"/>
                  </a:lnTo>
                  <a:lnTo>
                    <a:pt x="2191266" y="4774"/>
                  </a:lnTo>
                  <a:lnTo>
                    <a:pt x="2191266" y="9529"/>
                  </a:lnTo>
                  <a:lnTo>
                    <a:pt x="2191266" y="14303"/>
                  </a:lnTo>
                  <a:lnTo>
                    <a:pt x="2186628" y="18594"/>
                  </a:lnTo>
                  <a:lnTo>
                    <a:pt x="2140059" y="18594"/>
                  </a:lnTo>
                  <a:lnTo>
                    <a:pt x="2135421" y="14303"/>
                  </a:lnTo>
                  <a:lnTo>
                    <a:pt x="2135421" y="9529"/>
                  </a:lnTo>
                  <a:lnTo>
                    <a:pt x="2135421" y="4774"/>
                  </a:lnTo>
                  <a:lnTo>
                    <a:pt x="2140059" y="4774"/>
                  </a:lnTo>
                  <a:lnTo>
                    <a:pt x="2140059" y="0"/>
                  </a:lnTo>
                  <a:close/>
                </a:path>
                <a:path w="2251709" h="19050">
                  <a:moveTo>
                    <a:pt x="2242086" y="0"/>
                  </a:moveTo>
                  <a:lnTo>
                    <a:pt x="2246917" y="4774"/>
                  </a:lnTo>
                  <a:lnTo>
                    <a:pt x="2251555" y="9529"/>
                  </a:lnTo>
                  <a:lnTo>
                    <a:pt x="2246917" y="14303"/>
                  </a:lnTo>
                  <a:lnTo>
                    <a:pt x="2242086" y="18594"/>
                  </a:lnTo>
                  <a:lnTo>
                    <a:pt x="2237835" y="14303"/>
                  </a:lnTo>
                  <a:lnTo>
                    <a:pt x="2233004" y="9529"/>
                  </a:lnTo>
                  <a:lnTo>
                    <a:pt x="2237835" y="4774"/>
                  </a:lnTo>
                  <a:lnTo>
                    <a:pt x="2242086" y="0"/>
                  </a:lnTo>
                  <a:close/>
                </a:path>
              </a:pathLst>
            </a:custGeom>
            <a:ln w="4787">
              <a:solidFill>
                <a:srgbClr val="000000"/>
              </a:solidFill>
            </a:ln>
          </p:spPr>
          <p:txBody>
            <a:bodyPr wrap="square" lIns="0" tIns="0" rIns="0" bIns="0" rtlCol="0"/>
            <a:lstStyle/>
            <a:p/>
          </p:txBody>
        </p:sp>
        <p:sp>
          <p:nvSpPr>
            <p:cNvPr id="83" name="object 83" descr=""/>
            <p:cNvSpPr/>
            <p:nvPr/>
          </p:nvSpPr>
          <p:spPr>
            <a:xfrm>
              <a:off x="8578558" y="5343007"/>
              <a:ext cx="13970" cy="772160"/>
            </a:xfrm>
            <a:custGeom>
              <a:avLst/>
              <a:gdLst/>
              <a:ahLst/>
              <a:cxnLst/>
              <a:rect l="l" t="t" r="r" b="b"/>
              <a:pathLst>
                <a:path w="13970" h="772160">
                  <a:moveTo>
                    <a:pt x="9661" y="55783"/>
                  </a:moveTo>
                  <a:lnTo>
                    <a:pt x="4830" y="55783"/>
                  </a:lnTo>
                  <a:lnTo>
                    <a:pt x="9661" y="60074"/>
                  </a:lnTo>
                  <a:lnTo>
                    <a:pt x="9661" y="55783"/>
                  </a:lnTo>
                  <a:close/>
                </a:path>
                <a:path w="13970" h="772160">
                  <a:moveTo>
                    <a:pt x="9661" y="0"/>
                  </a:moveTo>
                  <a:lnTo>
                    <a:pt x="4830" y="0"/>
                  </a:lnTo>
                  <a:lnTo>
                    <a:pt x="0" y="4754"/>
                  </a:lnTo>
                  <a:lnTo>
                    <a:pt x="0" y="55783"/>
                  </a:lnTo>
                  <a:lnTo>
                    <a:pt x="13912" y="55783"/>
                  </a:lnTo>
                  <a:lnTo>
                    <a:pt x="13912" y="4754"/>
                  </a:lnTo>
                  <a:lnTo>
                    <a:pt x="9661" y="0"/>
                  </a:lnTo>
                  <a:close/>
                </a:path>
                <a:path w="13970" h="772160">
                  <a:moveTo>
                    <a:pt x="13912" y="102057"/>
                  </a:moveTo>
                  <a:lnTo>
                    <a:pt x="0" y="102057"/>
                  </a:lnTo>
                  <a:lnTo>
                    <a:pt x="0" y="157840"/>
                  </a:lnTo>
                  <a:lnTo>
                    <a:pt x="13912" y="157840"/>
                  </a:lnTo>
                  <a:lnTo>
                    <a:pt x="13912" y="102057"/>
                  </a:lnTo>
                  <a:close/>
                </a:path>
                <a:path w="13970" h="772160">
                  <a:moveTo>
                    <a:pt x="13912" y="204578"/>
                  </a:moveTo>
                  <a:lnTo>
                    <a:pt x="0" y="204578"/>
                  </a:lnTo>
                  <a:lnTo>
                    <a:pt x="0" y="260380"/>
                  </a:lnTo>
                  <a:lnTo>
                    <a:pt x="13912" y="260380"/>
                  </a:lnTo>
                  <a:lnTo>
                    <a:pt x="13912" y="204578"/>
                  </a:lnTo>
                  <a:close/>
                </a:path>
                <a:path w="13970" h="772160">
                  <a:moveTo>
                    <a:pt x="13912" y="306635"/>
                  </a:moveTo>
                  <a:lnTo>
                    <a:pt x="0" y="306635"/>
                  </a:lnTo>
                  <a:lnTo>
                    <a:pt x="0" y="362418"/>
                  </a:lnTo>
                  <a:lnTo>
                    <a:pt x="13912" y="362418"/>
                  </a:lnTo>
                  <a:lnTo>
                    <a:pt x="13912" y="306635"/>
                  </a:lnTo>
                  <a:close/>
                </a:path>
                <a:path w="13970" h="772160">
                  <a:moveTo>
                    <a:pt x="13912" y="408692"/>
                  </a:moveTo>
                  <a:lnTo>
                    <a:pt x="0" y="408692"/>
                  </a:lnTo>
                  <a:lnTo>
                    <a:pt x="0" y="464475"/>
                  </a:lnTo>
                  <a:lnTo>
                    <a:pt x="13912" y="464475"/>
                  </a:lnTo>
                  <a:lnTo>
                    <a:pt x="13912" y="408692"/>
                  </a:lnTo>
                  <a:close/>
                </a:path>
                <a:path w="13970" h="772160">
                  <a:moveTo>
                    <a:pt x="13912" y="511213"/>
                  </a:moveTo>
                  <a:lnTo>
                    <a:pt x="0" y="511213"/>
                  </a:lnTo>
                  <a:lnTo>
                    <a:pt x="0" y="567016"/>
                  </a:lnTo>
                  <a:lnTo>
                    <a:pt x="13912" y="567016"/>
                  </a:lnTo>
                  <a:lnTo>
                    <a:pt x="13912" y="511213"/>
                  </a:lnTo>
                  <a:close/>
                </a:path>
                <a:path w="13970" h="772160">
                  <a:moveTo>
                    <a:pt x="9661" y="506439"/>
                  </a:moveTo>
                  <a:lnTo>
                    <a:pt x="4830" y="511213"/>
                  </a:lnTo>
                  <a:lnTo>
                    <a:pt x="9661" y="511213"/>
                  </a:lnTo>
                  <a:lnTo>
                    <a:pt x="9661" y="506439"/>
                  </a:lnTo>
                  <a:close/>
                </a:path>
                <a:path w="13970" h="772160">
                  <a:moveTo>
                    <a:pt x="9661" y="608979"/>
                  </a:moveTo>
                  <a:lnTo>
                    <a:pt x="4830" y="608979"/>
                  </a:lnTo>
                  <a:lnTo>
                    <a:pt x="0" y="613270"/>
                  </a:lnTo>
                  <a:lnTo>
                    <a:pt x="0" y="664762"/>
                  </a:lnTo>
                  <a:lnTo>
                    <a:pt x="4830" y="669053"/>
                  </a:lnTo>
                  <a:lnTo>
                    <a:pt x="9661" y="669053"/>
                  </a:lnTo>
                  <a:lnTo>
                    <a:pt x="13912" y="664762"/>
                  </a:lnTo>
                  <a:lnTo>
                    <a:pt x="13912" y="613270"/>
                  </a:lnTo>
                  <a:lnTo>
                    <a:pt x="9661" y="608979"/>
                  </a:lnTo>
                  <a:close/>
                </a:path>
                <a:path w="13970" h="772160">
                  <a:moveTo>
                    <a:pt x="9661" y="711036"/>
                  </a:moveTo>
                  <a:lnTo>
                    <a:pt x="4830" y="711036"/>
                  </a:lnTo>
                  <a:lnTo>
                    <a:pt x="0" y="715791"/>
                  </a:lnTo>
                  <a:lnTo>
                    <a:pt x="0" y="766819"/>
                  </a:lnTo>
                  <a:lnTo>
                    <a:pt x="4830" y="771594"/>
                  </a:lnTo>
                  <a:lnTo>
                    <a:pt x="9661" y="771594"/>
                  </a:lnTo>
                  <a:lnTo>
                    <a:pt x="13912" y="766819"/>
                  </a:lnTo>
                  <a:lnTo>
                    <a:pt x="13912" y="715791"/>
                  </a:lnTo>
                  <a:lnTo>
                    <a:pt x="9661" y="711036"/>
                  </a:lnTo>
                  <a:close/>
                </a:path>
              </a:pathLst>
            </a:custGeom>
            <a:solidFill>
              <a:srgbClr val="000000"/>
            </a:solidFill>
          </p:spPr>
          <p:txBody>
            <a:bodyPr wrap="square" lIns="0" tIns="0" rIns="0" bIns="0" rtlCol="0"/>
            <a:lstStyle/>
            <a:p/>
          </p:txBody>
        </p:sp>
        <p:sp>
          <p:nvSpPr>
            <p:cNvPr id="84" name="object 84" descr=""/>
            <p:cNvSpPr/>
            <p:nvPr/>
          </p:nvSpPr>
          <p:spPr>
            <a:xfrm>
              <a:off x="8578559" y="5343007"/>
              <a:ext cx="13970" cy="772160"/>
            </a:xfrm>
            <a:custGeom>
              <a:avLst/>
              <a:gdLst/>
              <a:ahLst/>
              <a:cxnLst/>
              <a:rect l="l" t="t" r="r" b="b"/>
              <a:pathLst>
                <a:path w="13970" h="772160">
                  <a:moveTo>
                    <a:pt x="13912" y="9065"/>
                  </a:moveTo>
                  <a:lnTo>
                    <a:pt x="13912" y="51028"/>
                  </a:lnTo>
                  <a:lnTo>
                    <a:pt x="13912" y="55783"/>
                  </a:lnTo>
                  <a:lnTo>
                    <a:pt x="9661" y="55783"/>
                  </a:lnTo>
                  <a:lnTo>
                    <a:pt x="9661" y="60074"/>
                  </a:lnTo>
                  <a:lnTo>
                    <a:pt x="4830" y="55783"/>
                  </a:lnTo>
                  <a:lnTo>
                    <a:pt x="0" y="55783"/>
                  </a:lnTo>
                  <a:lnTo>
                    <a:pt x="0" y="51028"/>
                  </a:lnTo>
                  <a:lnTo>
                    <a:pt x="0" y="9065"/>
                  </a:lnTo>
                  <a:lnTo>
                    <a:pt x="0" y="4754"/>
                  </a:lnTo>
                  <a:lnTo>
                    <a:pt x="4830" y="0"/>
                  </a:lnTo>
                  <a:lnTo>
                    <a:pt x="9661" y="0"/>
                  </a:lnTo>
                  <a:lnTo>
                    <a:pt x="13912" y="4754"/>
                  </a:lnTo>
                  <a:lnTo>
                    <a:pt x="13912" y="9065"/>
                  </a:lnTo>
                  <a:close/>
                </a:path>
                <a:path w="13970" h="772160">
                  <a:moveTo>
                    <a:pt x="13912" y="111586"/>
                  </a:moveTo>
                  <a:lnTo>
                    <a:pt x="13912" y="153066"/>
                  </a:lnTo>
                  <a:lnTo>
                    <a:pt x="13912" y="157840"/>
                  </a:lnTo>
                  <a:lnTo>
                    <a:pt x="9661" y="157840"/>
                  </a:lnTo>
                  <a:lnTo>
                    <a:pt x="4830" y="157840"/>
                  </a:lnTo>
                  <a:lnTo>
                    <a:pt x="0" y="157840"/>
                  </a:lnTo>
                  <a:lnTo>
                    <a:pt x="0" y="153066"/>
                  </a:lnTo>
                  <a:lnTo>
                    <a:pt x="0" y="111586"/>
                  </a:lnTo>
                  <a:lnTo>
                    <a:pt x="0" y="106812"/>
                  </a:lnTo>
                  <a:lnTo>
                    <a:pt x="0" y="102057"/>
                  </a:lnTo>
                  <a:lnTo>
                    <a:pt x="4830" y="102057"/>
                  </a:lnTo>
                  <a:lnTo>
                    <a:pt x="9661" y="102057"/>
                  </a:lnTo>
                  <a:lnTo>
                    <a:pt x="13912" y="102057"/>
                  </a:lnTo>
                  <a:lnTo>
                    <a:pt x="13912" y="106812"/>
                  </a:lnTo>
                  <a:lnTo>
                    <a:pt x="13912" y="111586"/>
                  </a:lnTo>
                  <a:close/>
                </a:path>
                <a:path w="13970" h="772160">
                  <a:moveTo>
                    <a:pt x="13912" y="208869"/>
                  </a:moveTo>
                  <a:lnTo>
                    <a:pt x="13912" y="255606"/>
                  </a:lnTo>
                  <a:lnTo>
                    <a:pt x="13912" y="260380"/>
                  </a:lnTo>
                  <a:lnTo>
                    <a:pt x="9661" y="260380"/>
                  </a:lnTo>
                  <a:lnTo>
                    <a:pt x="4830" y="260380"/>
                  </a:lnTo>
                  <a:lnTo>
                    <a:pt x="0" y="260380"/>
                  </a:lnTo>
                  <a:lnTo>
                    <a:pt x="0" y="255606"/>
                  </a:lnTo>
                  <a:lnTo>
                    <a:pt x="0" y="208869"/>
                  </a:lnTo>
                  <a:lnTo>
                    <a:pt x="0" y="204578"/>
                  </a:lnTo>
                  <a:lnTo>
                    <a:pt x="4830" y="204578"/>
                  </a:lnTo>
                  <a:lnTo>
                    <a:pt x="9661" y="204578"/>
                  </a:lnTo>
                  <a:lnTo>
                    <a:pt x="13912" y="204578"/>
                  </a:lnTo>
                  <a:lnTo>
                    <a:pt x="13912" y="208869"/>
                  </a:lnTo>
                  <a:close/>
                </a:path>
                <a:path w="13970" h="772160">
                  <a:moveTo>
                    <a:pt x="13912" y="311409"/>
                  </a:moveTo>
                  <a:lnTo>
                    <a:pt x="13912" y="357663"/>
                  </a:lnTo>
                  <a:lnTo>
                    <a:pt x="13912" y="362418"/>
                  </a:lnTo>
                  <a:lnTo>
                    <a:pt x="9661" y="362418"/>
                  </a:lnTo>
                  <a:lnTo>
                    <a:pt x="4830" y="362418"/>
                  </a:lnTo>
                  <a:lnTo>
                    <a:pt x="0" y="362418"/>
                  </a:lnTo>
                  <a:lnTo>
                    <a:pt x="0" y="357663"/>
                  </a:lnTo>
                  <a:lnTo>
                    <a:pt x="0" y="311409"/>
                  </a:lnTo>
                  <a:lnTo>
                    <a:pt x="0" y="306635"/>
                  </a:lnTo>
                  <a:lnTo>
                    <a:pt x="4830" y="306635"/>
                  </a:lnTo>
                  <a:lnTo>
                    <a:pt x="9661" y="306635"/>
                  </a:lnTo>
                  <a:lnTo>
                    <a:pt x="13912" y="306635"/>
                  </a:lnTo>
                  <a:lnTo>
                    <a:pt x="13912" y="311409"/>
                  </a:lnTo>
                  <a:close/>
                </a:path>
                <a:path w="13970" h="772160">
                  <a:moveTo>
                    <a:pt x="13912" y="413447"/>
                  </a:moveTo>
                  <a:lnTo>
                    <a:pt x="13912" y="460184"/>
                  </a:lnTo>
                  <a:lnTo>
                    <a:pt x="13912" y="464475"/>
                  </a:lnTo>
                  <a:lnTo>
                    <a:pt x="9661" y="464475"/>
                  </a:lnTo>
                  <a:lnTo>
                    <a:pt x="4830" y="464475"/>
                  </a:lnTo>
                  <a:lnTo>
                    <a:pt x="0" y="464475"/>
                  </a:lnTo>
                  <a:lnTo>
                    <a:pt x="0" y="460184"/>
                  </a:lnTo>
                  <a:lnTo>
                    <a:pt x="0" y="413447"/>
                  </a:lnTo>
                  <a:lnTo>
                    <a:pt x="0" y="408692"/>
                  </a:lnTo>
                  <a:lnTo>
                    <a:pt x="4830" y="408692"/>
                  </a:lnTo>
                  <a:lnTo>
                    <a:pt x="9661" y="408692"/>
                  </a:lnTo>
                  <a:lnTo>
                    <a:pt x="13912" y="408692"/>
                  </a:lnTo>
                  <a:lnTo>
                    <a:pt x="13912" y="413447"/>
                  </a:lnTo>
                  <a:close/>
                </a:path>
                <a:path w="13970" h="772160">
                  <a:moveTo>
                    <a:pt x="13912" y="515987"/>
                  </a:moveTo>
                  <a:lnTo>
                    <a:pt x="13912" y="557467"/>
                  </a:lnTo>
                  <a:lnTo>
                    <a:pt x="13912" y="562241"/>
                  </a:lnTo>
                  <a:lnTo>
                    <a:pt x="13912" y="567016"/>
                  </a:lnTo>
                  <a:lnTo>
                    <a:pt x="9661" y="567016"/>
                  </a:lnTo>
                  <a:lnTo>
                    <a:pt x="4830" y="567016"/>
                  </a:lnTo>
                  <a:lnTo>
                    <a:pt x="0" y="567016"/>
                  </a:lnTo>
                  <a:lnTo>
                    <a:pt x="0" y="562241"/>
                  </a:lnTo>
                  <a:lnTo>
                    <a:pt x="0" y="557467"/>
                  </a:lnTo>
                  <a:lnTo>
                    <a:pt x="0" y="515987"/>
                  </a:lnTo>
                  <a:lnTo>
                    <a:pt x="0" y="511213"/>
                  </a:lnTo>
                  <a:lnTo>
                    <a:pt x="4830" y="511213"/>
                  </a:lnTo>
                  <a:lnTo>
                    <a:pt x="9661" y="506439"/>
                  </a:lnTo>
                  <a:lnTo>
                    <a:pt x="9661" y="511213"/>
                  </a:lnTo>
                  <a:lnTo>
                    <a:pt x="13912" y="511213"/>
                  </a:lnTo>
                  <a:lnTo>
                    <a:pt x="13912" y="515987"/>
                  </a:lnTo>
                  <a:close/>
                </a:path>
                <a:path w="13970" h="772160">
                  <a:moveTo>
                    <a:pt x="13912" y="618044"/>
                  </a:moveTo>
                  <a:lnTo>
                    <a:pt x="13912" y="660007"/>
                  </a:lnTo>
                  <a:lnTo>
                    <a:pt x="13912" y="664762"/>
                  </a:lnTo>
                  <a:lnTo>
                    <a:pt x="9661" y="669053"/>
                  </a:lnTo>
                  <a:lnTo>
                    <a:pt x="4830" y="669053"/>
                  </a:lnTo>
                  <a:lnTo>
                    <a:pt x="0" y="664762"/>
                  </a:lnTo>
                  <a:lnTo>
                    <a:pt x="0" y="660007"/>
                  </a:lnTo>
                  <a:lnTo>
                    <a:pt x="0" y="618044"/>
                  </a:lnTo>
                  <a:lnTo>
                    <a:pt x="0" y="613270"/>
                  </a:lnTo>
                  <a:lnTo>
                    <a:pt x="4830" y="608979"/>
                  </a:lnTo>
                  <a:lnTo>
                    <a:pt x="9661" y="608979"/>
                  </a:lnTo>
                  <a:lnTo>
                    <a:pt x="13912" y="613270"/>
                  </a:lnTo>
                  <a:lnTo>
                    <a:pt x="13912" y="618044"/>
                  </a:lnTo>
                  <a:close/>
                </a:path>
                <a:path w="13970" h="772160">
                  <a:moveTo>
                    <a:pt x="13912" y="720082"/>
                  </a:moveTo>
                  <a:lnTo>
                    <a:pt x="13912" y="762045"/>
                  </a:lnTo>
                  <a:lnTo>
                    <a:pt x="13912" y="766819"/>
                  </a:lnTo>
                  <a:lnTo>
                    <a:pt x="9661" y="771594"/>
                  </a:lnTo>
                  <a:lnTo>
                    <a:pt x="4830" y="771594"/>
                  </a:lnTo>
                  <a:lnTo>
                    <a:pt x="0" y="766819"/>
                  </a:lnTo>
                  <a:lnTo>
                    <a:pt x="0" y="762045"/>
                  </a:lnTo>
                  <a:lnTo>
                    <a:pt x="0" y="720082"/>
                  </a:lnTo>
                  <a:lnTo>
                    <a:pt x="0" y="715791"/>
                  </a:lnTo>
                  <a:lnTo>
                    <a:pt x="4830" y="711036"/>
                  </a:lnTo>
                  <a:lnTo>
                    <a:pt x="9661" y="711036"/>
                  </a:lnTo>
                  <a:lnTo>
                    <a:pt x="13912" y="715791"/>
                  </a:lnTo>
                  <a:lnTo>
                    <a:pt x="13912" y="720082"/>
                  </a:lnTo>
                  <a:close/>
                </a:path>
              </a:pathLst>
            </a:custGeom>
            <a:ln w="4787">
              <a:solidFill>
                <a:srgbClr val="000000"/>
              </a:solidFill>
            </a:ln>
          </p:spPr>
          <p:txBody>
            <a:bodyPr wrap="square" lIns="0" tIns="0" rIns="0" bIns="0" rtlCol="0"/>
            <a:lstStyle/>
            <a:p/>
          </p:txBody>
        </p:sp>
      </p:grpSp>
      <p:sp>
        <p:nvSpPr>
          <p:cNvPr id="85" name="object 85" descr=""/>
          <p:cNvSpPr txBox="1"/>
          <p:nvPr/>
        </p:nvSpPr>
        <p:spPr>
          <a:xfrm>
            <a:off x="3674600" y="5443091"/>
            <a:ext cx="494665" cy="238125"/>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FF6600"/>
                </a:solidFill>
                <a:latin typeface="Times New Roman"/>
                <a:cs typeface="Times New Roman"/>
              </a:rPr>
              <a:t>Cache</a:t>
            </a:r>
            <a:endParaRPr sz="14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53670"/>
            <a:ext cx="2506345" cy="422275"/>
          </a:xfrm>
          <a:prstGeom prst="rect"/>
        </p:spPr>
        <p:txBody>
          <a:bodyPr wrap="square" lIns="0" tIns="12700" rIns="0" bIns="0" rtlCol="0" vert="horz">
            <a:spAutoFit/>
          </a:bodyPr>
          <a:lstStyle/>
          <a:p>
            <a:pPr marL="12700">
              <a:lnSpc>
                <a:spcPct val="100000"/>
              </a:lnSpc>
              <a:spcBef>
                <a:spcPts val="100"/>
              </a:spcBef>
              <a:tabLst>
                <a:tab pos="1167765" algn="l"/>
              </a:tabLst>
            </a:pPr>
            <a:r>
              <a:rPr dirty="0" u="none" sz="2600" spc="-10">
                <a:solidFill>
                  <a:srgbClr val="0000CC"/>
                </a:solidFill>
              </a:rPr>
              <a:t>7.2.2</a:t>
            </a:r>
            <a:r>
              <a:rPr dirty="0" u="none" sz="2600">
                <a:solidFill>
                  <a:srgbClr val="0000CC"/>
                </a:solidFill>
              </a:rPr>
              <a:t>	</a:t>
            </a:r>
            <a:r>
              <a:rPr dirty="0" u="none" sz="2600" spc="-15">
                <a:solidFill>
                  <a:srgbClr val="0000CC"/>
                </a:solidFill>
              </a:rPr>
              <a:t>映象规则</a:t>
            </a:r>
            <a:endParaRPr sz="2600"/>
          </a:p>
        </p:txBody>
      </p:sp>
      <p:pic>
        <p:nvPicPr>
          <p:cNvPr id="10" name="object 10"/>
          <p:cNvPicPr/>
          <p:nvPr/>
        </p:nvPicPr>
        <p:blipFill>
          <a:blip r:embed="rId3" cstate="print"/>
          <a:stretch>
            <a:fillRect/>
          </a:stretch>
        </p:blipFill>
        <p:spPr>
          <a:xfrm>
            <a:off x="7824723" y="476250"/>
            <a:ext cx="3600450" cy="3746500"/>
          </a:xfrm>
          <a:prstGeom prst="rect">
            <a:avLst/>
          </a:prstGeom>
        </p:spPr>
      </p:pic>
      <p:sp>
        <p:nvSpPr>
          <p:cNvPr id="11" name="object 11" descr=""/>
          <p:cNvSpPr txBox="1"/>
          <p:nvPr/>
        </p:nvSpPr>
        <p:spPr>
          <a:xfrm>
            <a:off x="702665" y="846581"/>
            <a:ext cx="9799955" cy="5223510"/>
          </a:xfrm>
          <a:prstGeom prst="rect">
            <a:avLst/>
          </a:prstGeom>
        </p:spPr>
        <p:txBody>
          <a:bodyPr wrap="square" lIns="0" tIns="158750" rIns="0" bIns="0" rtlCol="0" vert="horz">
            <a:spAutoFit/>
          </a:bodyPr>
          <a:lstStyle/>
          <a:p>
            <a:pPr marL="515620">
              <a:lnSpc>
                <a:spcPct val="100000"/>
              </a:lnSpc>
              <a:spcBef>
                <a:spcPts val="1250"/>
              </a:spcBef>
            </a:pPr>
            <a:r>
              <a:rPr dirty="0" sz="2400" spc="-10">
                <a:solidFill>
                  <a:srgbClr val="E14B04"/>
                </a:solidFill>
                <a:latin typeface="黑体"/>
                <a:cs typeface="黑体"/>
              </a:rPr>
              <a:t>三种映像规则</a:t>
            </a:r>
            <a:endParaRPr sz="2400">
              <a:latin typeface="黑体"/>
              <a:cs typeface="黑体"/>
            </a:endParaRPr>
          </a:p>
          <a:p>
            <a:pPr marL="1602740" indent="-457200">
              <a:lnSpc>
                <a:spcPct val="100000"/>
              </a:lnSpc>
              <a:spcBef>
                <a:spcPts val="1155"/>
              </a:spcBef>
              <a:buSzPct val="89583"/>
              <a:buFont typeface="Wingdings"/>
              <a:buChar char=""/>
              <a:tabLst>
                <a:tab pos="1602740" algn="l"/>
              </a:tabLst>
            </a:pPr>
            <a:r>
              <a:rPr dirty="0" sz="2400" spc="-10">
                <a:solidFill>
                  <a:srgbClr val="40458B"/>
                </a:solidFill>
                <a:latin typeface="黑体"/>
                <a:cs typeface="黑体"/>
              </a:rPr>
              <a:t>全相联映像</a:t>
            </a:r>
            <a:endParaRPr sz="2400">
              <a:latin typeface="黑体"/>
              <a:cs typeface="黑体"/>
            </a:endParaRPr>
          </a:p>
          <a:p>
            <a:pPr marL="1602740" indent="-457200">
              <a:lnSpc>
                <a:spcPct val="100000"/>
              </a:lnSpc>
              <a:spcBef>
                <a:spcPts val="1150"/>
              </a:spcBef>
              <a:buSzPct val="89583"/>
              <a:buFont typeface="Wingdings"/>
              <a:buChar char=""/>
              <a:tabLst>
                <a:tab pos="1602740" algn="l"/>
              </a:tabLst>
            </a:pPr>
            <a:r>
              <a:rPr dirty="0" sz="2400" spc="-20">
                <a:solidFill>
                  <a:srgbClr val="40458B"/>
                </a:solidFill>
                <a:latin typeface="黑体"/>
                <a:cs typeface="黑体"/>
              </a:rPr>
              <a:t>直接映象</a:t>
            </a:r>
            <a:endParaRPr sz="2400">
              <a:latin typeface="黑体"/>
              <a:cs typeface="黑体"/>
            </a:endParaRPr>
          </a:p>
          <a:p>
            <a:pPr marL="1602740" indent="-457200">
              <a:lnSpc>
                <a:spcPct val="100000"/>
              </a:lnSpc>
              <a:spcBef>
                <a:spcPts val="1155"/>
              </a:spcBef>
              <a:buSzPct val="89583"/>
              <a:buFont typeface="Wingdings"/>
              <a:buChar char=""/>
              <a:tabLst>
                <a:tab pos="1602740" algn="l"/>
              </a:tabLst>
            </a:pPr>
            <a:r>
              <a:rPr dirty="0" sz="2400" spc="-10">
                <a:solidFill>
                  <a:srgbClr val="40458B"/>
                </a:solidFill>
                <a:latin typeface="黑体"/>
                <a:cs typeface="黑体"/>
              </a:rPr>
              <a:t>组相连映像</a:t>
            </a:r>
            <a:endParaRPr sz="2400">
              <a:latin typeface="黑体"/>
              <a:cs typeface="黑体"/>
            </a:endParaRPr>
          </a:p>
          <a:p>
            <a:pPr>
              <a:lnSpc>
                <a:spcPct val="100000"/>
              </a:lnSpc>
            </a:pPr>
            <a:endParaRPr sz="2400">
              <a:latin typeface="黑体"/>
              <a:cs typeface="黑体"/>
            </a:endParaRPr>
          </a:p>
          <a:p>
            <a:pPr>
              <a:lnSpc>
                <a:spcPct val="100000"/>
              </a:lnSpc>
              <a:spcBef>
                <a:spcPts val="120"/>
              </a:spcBef>
            </a:pPr>
            <a:endParaRPr sz="2400">
              <a:latin typeface="黑体"/>
              <a:cs typeface="黑体"/>
            </a:endParaRPr>
          </a:p>
          <a:p>
            <a:pPr marL="469265" indent="-456565">
              <a:lnSpc>
                <a:spcPct val="100000"/>
              </a:lnSpc>
              <a:buClr>
                <a:srgbClr val="40458B"/>
              </a:buClr>
              <a:buFont typeface="Tahoma"/>
              <a:buAutoNum type="arabicPeriod"/>
              <a:tabLst>
                <a:tab pos="469265" algn="l"/>
              </a:tabLst>
            </a:pPr>
            <a:r>
              <a:rPr dirty="0" sz="2400" spc="-10">
                <a:solidFill>
                  <a:srgbClr val="E14B04"/>
                </a:solidFill>
                <a:latin typeface="黑体"/>
                <a:cs typeface="黑体"/>
              </a:rPr>
              <a:t>全相联映象</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FF0000"/>
                </a:solidFill>
                <a:latin typeface="黑体"/>
                <a:cs typeface="黑体"/>
              </a:rPr>
              <a:t>全相联：</a:t>
            </a:r>
            <a:r>
              <a:rPr dirty="0" sz="2400">
                <a:solidFill>
                  <a:srgbClr val="40458B"/>
                </a:solidFill>
                <a:latin typeface="黑体"/>
                <a:cs typeface="黑体"/>
              </a:rPr>
              <a:t>主存中的任一块可以被放置到Cache</a:t>
            </a:r>
            <a:r>
              <a:rPr dirty="0" sz="2400" spc="-10">
                <a:solidFill>
                  <a:srgbClr val="40458B"/>
                </a:solidFill>
                <a:latin typeface="黑体"/>
                <a:cs typeface="黑体"/>
              </a:rPr>
              <a:t>中的任意一个位置。</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D50092"/>
                </a:solidFill>
                <a:latin typeface="黑体"/>
                <a:cs typeface="黑体"/>
              </a:rPr>
              <a:t>对比：</a:t>
            </a:r>
            <a:r>
              <a:rPr dirty="0" sz="2400" spc="-75">
                <a:solidFill>
                  <a:srgbClr val="40458B"/>
                </a:solidFill>
                <a:latin typeface="黑体"/>
                <a:cs typeface="黑体"/>
              </a:rPr>
              <a:t>阅览室位置 </a:t>
            </a:r>
            <a:r>
              <a:rPr dirty="0" sz="2400" spc="-5">
                <a:solidFill>
                  <a:srgbClr val="40458B"/>
                </a:solidFill>
                <a:latin typeface="Tahoma"/>
                <a:cs typeface="Tahoma"/>
              </a:rPr>
              <a:t>── </a:t>
            </a:r>
            <a:r>
              <a:rPr dirty="0" sz="2400" spc="-20">
                <a:solidFill>
                  <a:srgbClr val="40458B"/>
                </a:solidFill>
                <a:latin typeface="黑体"/>
                <a:cs typeface="黑体"/>
              </a:rPr>
              <a:t>随便坐</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spc="-10">
                <a:solidFill>
                  <a:srgbClr val="D50092"/>
                </a:solidFill>
                <a:latin typeface="黑体"/>
                <a:cs typeface="黑体"/>
              </a:rPr>
              <a:t>特点：</a:t>
            </a:r>
            <a:r>
              <a:rPr dirty="0" sz="2400" spc="-10">
                <a:solidFill>
                  <a:srgbClr val="40458B"/>
                </a:solidFill>
                <a:latin typeface="黑体"/>
                <a:cs typeface="黑体"/>
              </a:rPr>
              <a:t>空间利用率最高，冲突概率最低，实现最复杂（</a:t>
            </a:r>
            <a:r>
              <a:rPr dirty="0" sz="2400" spc="-20">
                <a:solidFill>
                  <a:srgbClr val="40458B"/>
                </a:solidFill>
                <a:latin typeface="黑体"/>
                <a:cs typeface="黑体"/>
              </a:rPr>
              <a:t>需要遍历</a:t>
            </a:r>
            <a:endParaRPr sz="2400">
              <a:latin typeface="黑体"/>
              <a:cs typeface="黑体"/>
            </a:endParaRPr>
          </a:p>
          <a:p>
            <a:pPr marL="1099185">
              <a:lnSpc>
                <a:spcPct val="100000"/>
              </a:lnSpc>
              <a:spcBef>
                <a:spcPts val="580"/>
              </a:spcBef>
            </a:pPr>
            <a:r>
              <a:rPr dirty="0" sz="2400">
                <a:solidFill>
                  <a:srgbClr val="40458B"/>
                </a:solidFill>
                <a:latin typeface="黑体"/>
                <a:cs typeface="黑体"/>
              </a:rPr>
              <a:t>比较）</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58089" y="639054"/>
            <a:ext cx="10130155" cy="4333875"/>
          </a:xfrm>
          <a:prstGeom prst="rect">
            <a:avLst/>
          </a:prstGeom>
        </p:spPr>
        <p:txBody>
          <a:bodyPr wrap="square" lIns="0" tIns="159385" rIns="0" bIns="0" rtlCol="0" vert="horz">
            <a:spAutoFit/>
          </a:bodyPr>
          <a:lstStyle/>
          <a:p>
            <a:pPr marL="481965" indent="-456565">
              <a:lnSpc>
                <a:spcPct val="100000"/>
              </a:lnSpc>
              <a:spcBef>
                <a:spcPts val="1255"/>
              </a:spcBef>
              <a:buClr>
                <a:srgbClr val="40458B"/>
              </a:buClr>
              <a:buFont typeface="Tahoma"/>
              <a:buAutoNum type="arabicPeriod" startAt="2"/>
              <a:tabLst>
                <a:tab pos="481965" algn="l"/>
              </a:tabLst>
            </a:pPr>
            <a:r>
              <a:rPr dirty="0" sz="2400" spc="-20">
                <a:solidFill>
                  <a:srgbClr val="E14B04"/>
                </a:solidFill>
                <a:latin typeface="黑体"/>
                <a:cs typeface="黑体"/>
              </a:rPr>
              <a:t>直接映象</a:t>
            </a:r>
            <a:endParaRPr sz="2400">
              <a:latin typeface="黑体"/>
              <a:cs typeface="黑体"/>
            </a:endParaRPr>
          </a:p>
          <a:p>
            <a:pPr lvl="1" marL="1111885" indent="-457200">
              <a:lnSpc>
                <a:spcPct val="100000"/>
              </a:lnSpc>
              <a:spcBef>
                <a:spcPts val="1155"/>
              </a:spcBef>
              <a:buClr>
                <a:srgbClr val="40458B"/>
              </a:buClr>
              <a:buSzPct val="89583"/>
              <a:buFont typeface="Wingdings"/>
              <a:buChar char=""/>
              <a:tabLst>
                <a:tab pos="1111885" algn="l"/>
              </a:tabLst>
            </a:pPr>
            <a:r>
              <a:rPr dirty="0" sz="2400">
                <a:solidFill>
                  <a:srgbClr val="FF0000"/>
                </a:solidFill>
                <a:latin typeface="黑体"/>
                <a:cs typeface="黑体"/>
              </a:rPr>
              <a:t>直接映象：</a:t>
            </a:r>
            <a:r>
              <a:rPr dirty="0" sz="2400">
                <a:solidFill>
                  <a:srgbClr val="40458B"/>
                </a:solidFill>
                <a:latin typeface="黑体"/>
                <a:cs typeface="黑体"/>
              </a:rPr>
              <a:t>主存中的每一块只能被放置到Cache</a:t>
            </a:r>
            <a:r>
              <a:rPr dirty="0" sz="2400" spc="-10">
                <a:solidFill>
                  <a:srgbClr val="40458B"/>
                </a:solidFill>
                <a:latin typeface="黑体"/>
                <a:cs typeface="黑体"/>
              </a:rPr>
              <a:t>中唯一的一个位置。</a:t>
            </a:r>
            <a:endParaRPr sz="2400">
              <a:latin typeface="黑体"/>
              <a:cs typeface="黑体"/>
            </a:endParaRPr>
          </a:p>
          <a:p>
            <a:pPr marL="2305050">
              <a:lnSpc>
                <a:spcPct val="100000"/>
              </a:lnSpc>
              <a:spcBef>
                <a:spcPts val="1025"/>
              </a:spcBef>
            </a:pPr>
            <a:r>
              <a:rPr dirty="0" sz="2000" spc="-10" b="1">
                <a:solidFill>
                  <a:srgbClr val="00AFEF"/>
                </a:solidFill>
                <a:latin typeface="宋体"/>
                <a:cs typeface="宋体"/>
              </a:rPr>
              <a:t>（循环分配</a:t>
            </a:r>
            <a:r>
              <a:rPr dirty="0" sz="2000" spc="-50" b="1">
                <a:solidFill>
                  <a:srgbClr val="00AFEF"/>
                </a:solidFill>
                <a:latin typeface="宋体"/>
                <a:cs typeface="宋体"/>
              </a:rPr>
              <a:t>）</a:t>
            </a:r>
            <a:endParaRPr sz="2000">
              <a:latin typeface="宋体"/>
              <a:cs typeface="宋体"/>
            </a:endParaRPr>
          </a:p>
          <a:p>
            <a:pPr lvl="1" marL="1111885" indent="-457200">
              <a:lnSpc>
                <a:spcPct val="100000"/>
              </a:lnSpc>
              <a:spcBef>
                <a:spcPts val="1090"/>
              </a:spcBef>
              <a:buClr>
                <a:srgbClr val="40458B"/>
              </a:buClr>
              <a:buSzPct val="89583"/>
              <a:buFont typeface="Wingdings"/>
              <a:buChar char=""/>
              <a:tabLst>
                <a:tab pos="1111885" algn="l"/>
              </a:tabLst>
            </a:pPr>
            <a:r>
              <a:rPr dirty="0" sz="2400">
                <a:solidFill>
                  <a:srgbClr val="D50092"/>
                </a:solidFill>
                <a:latin typeface="黑体"/>
                <a:cs typeface="黑体"/>
              </a:rPr>
              <a:t>对比：</a:t>
            </a:r>
            <a:r>
              <a:rPr dirty="0" sz="2400" spc="-75">
                <a:solidFill>
                  <a:srgbClr val="40458B"/>
                </a:solidFill>
                <a:latin typeface="黑体"/>
                <a:cs typeface="黑体"/>
              </a:rPr>
              <a:t>阅览室位置 </a:t>
            </a:r>
            <a:r>
              <a:rPr dirty="0" sz="2400" spc="-5">
                <a:solidFill>
                  <a:srgbClr val="40458B"/>
                </a:solidFill>
                <a:latin typeface="Tahoma"/>
                <a:cs typeface="Tahoma"/>
              </a:rPr>
              <a:t>── </a:t>
            </a:r>
            <a:r>
              <a:rPr dirty="0" sz="2400" spc="-10">
                <a:solidFill>
                  <a:srgbClr val="40458B"/>
                </a:solidFill>
                <a:latin typeface="黑体"/>
                <a:cs typeface="黑体"/>
              </a:rPr>
              <a:t>只有一个位置可以坐</a:t>
            </a:r>
            <a:endParaRPr sz="2400">
              <a:latin typeface="黑体"/>
              <a:cs typeface="黑体"/>
            </a:endParaRPr>
          </a:p>
          <a:p>
            <a:pPr lvl="1" marL="1111885" indent="-457200">
              <a:lnSpc>
                <a:spcPct val="100000"/>
              </a:lnSpc>
              <a:spcBef>
                <a:spcPts val="1155"/>
              </a:spcBef>
              <a:buClr>
                <a:srgbClr val="40458B"/>
              </a:buClr>
              <a:buSzPct val="89583"/>
              <a:buFont typeface="Wingdings"/>
              <a:buChar char=""/>
              <a:tabLst>
                <a:tab pos="1111885" algn="l"/>
              </a:tabLst>
            </a:pPr>
            <a:r>
              <a:rPr dirty="0" sz="2400">
                <a:solidFill>
                  <a:srgbClr val="D50092"/>
                </a:solidFill>
                <a:latin typeface="黑体"/>
                <a:cs typeface="黑体"/>
              </a:rPr>
              <a:t>特点：</a:t>
            </a:r>
            <a:r>
              <a:rPr dirty="0" sz="2400" spc="-35">
                <a:solidFill>
                  <a:srgbClr val="40458B"/>
                </a:solidFill>
                <a:latin typeface="黑体"/>
                <a:cs typeface="黑体"/>
              </a:rPr>
              <a:t>空间利用率最低，冲突概率最高， 实现最简单。</a:t>
            </a:r>
            <a:endParaRPr sz="2400">
              <a:latin typeface="黑体"/>
              <a:cs typeface="黑体"/>
            </a:endParaRPr>
          </a:p>
          <a:p>
            <a:pPr lvl="1" marL="1111885" indent="-457200">
              <a:lnSpc>
                <a:spcPct val="100000"/>
              </a:lnSpc>
              <a:spcBef>
                <a:spcPts val="1050"/>
              </a:spcBef>
              <a:buSzPct val="89583"/>
              <a:buFont typeface="Wingdings"/>
              <a:buChar char=""/>
              <a:tabLst>
                <a:tab pos="1111885" algn="l"/>
              </a:tabLst>
            </a:pPr>
            <a:r>
              <a:rPr dirty="0" sz="2400" spc="-10">
                <a:solidFill>
                  <a:srgbClr val="40458B"/>
                </a:solidFill>
                <a:latin typeface="黑体"/>
                <a:cs typeface="黑体"/>
              </a:rPr>
              <a:t>对于主存的第</a:t>
            </a:r>
            <a:r>
              <a:rPr dirty="0" sz="2500" i="1">
                <a:solidFill>
                  <a:srgbClr val="9933FF"/>
                </a:solidFill>
                <a:latin typeface="黑体"/>
                <a:cs typeface="黑体"/>
              </a:rPr>
              <a:t>i</a:t>
            </a:r>
            <a:r>
              <a:rPr dirty="0" sz="2500" spc="-65" i="1">
                <a:solidFill>
                  <a:srgbClr val="9933FF"/>
                </a:solidFill>
                <a:latin typeface="黑体"/>
                <a:cs typeface="黑体"/>
              </a:rPr>
              <a:t> </a:t>
            </a:r>
            <a:r>
              <a:rPr dirty="0" sz="2400" spc="-5">
                <a:solidFill>
                  <a:srgbClr val="40458B"/>
                </a:solidFill>
                <a:latin typeface="黑体"/>
                <a:cs typeface="黑体"/>
              </a:rPr>
              <a:t>块，若它映象到</a:t>
            </a:r>
            <a:r>
              <a:rPr dirty="0" sz="2400" spc="-10">
                <a:solidFill>
                  <a:srgbClr val="40458B"/>
                </a:solidFill>
                <a:latin typeface="黑体"/>
                <a:cs typeface="黑体"/>
              </a:rPr>
              <a:t>Cache的第</a:t>
            </a:r>
            <a:r>
              <a:rPr dirty="0" sz="2500" i="1">
                <a:solidFill>
                  <a:srgbClr val="9933FF"/>
                </a:solidFill>
                <a:latin typeface="黑体"/>
                <a:cs typeface="黑体"/>
              </a:rPr>
              <a:t>j</a:t>
            </a:r>
            <a:r>
              <a:rPr dirty="0" sz="2500" spc="-60" i="1">
                <a:solidFill>
                  <a:srgbClr val="9933FF"/>
                </a:solidFill>
                <a:latin typeface="黑体"/>
                <a:cs typeface="黑体"/>
              </a:rPr>
              <a:t> </a:t>
            </a:r>
            <a:r>
              <a:rPr dirty="0" sz="2400" spc="-20">
                <a:solidFill>
                  <a:srgbClr val="40458B"/>
                </a:solidFill>
                <a:latin typeface="黑体"/>
                <a:cs typeface="黑体"/>
              </a:rPr>
              <a:t>块，则:</a:t>
            </a:r>
            <a:endParaRPr sz="2400">
              <a:latin typeface="黑体"/>
              <a:cs typeface="黑体"/>
            </a:endParaRPr>
          </a:p>
          <a:p>
            <a:pPr marL="2026285">
              <a:lnSpc>
                <a:spcPct val="100000"/>
              </a:lnSpc>
              <a:spcBef>
                <a:spcPts val="1035"/>
              </a:spcBef>
              <a:tabLst>
                <a:tab pos="3397885" algn="l"/>
                <a:tab pos="4312920" algn="l"/>
              </a:tabLst>
            </a:pPr>
            <a:r>
              <a:rPr dirty="0" sz="2500" i="1">
                <a:solidFill>
                  <a:srgbClr val="9933FF"/>
                </a:solidFill>
                <a:latin typeface="黑体"/>
                <a:cs typeface="黑体"/>
              </a:rPr>
              <a:t>j</a:t>
            </a:r>
            <a:r>
              <a:rPr dirty="0" sz="2400">
                <a:solidFill>
                  <a:srgbClr val="9933FF"/>
                </a:solidFill>
                <a:latin typeface="黑体"/>
                <a:cs typeface="黑体"/>
              </a:rPr>
              <a:t>＝</a:t>
            </a:r>
            <a:r>
              <a:rPr dirty="0" sz="2500" i="1">
                <a:solidFill>
                  <a:srgbClr val="9933FF"/>
                </a:solidFill>
                <a:latin typeface="黑体"/>
                <a:cs typeface="黑体"/>
              </a:rPr>
              <a:t>i</a:t>
            </a:r>
            <a:r>
              <a:rPr dirty="0" sz="2500" spc="-150" i="1">
                <a:solidFill>
                  <a:srgbClr val="9933FF"/>
                </a:solidFill>
                <a:latin typeface="黑体"/>
                <a:cs typeface="黑体"/>
              </a:rPr>
              <a:t> </a:t>
            </a:r>
            <a:r>
              <a:rPr dirty="0" sz="2400" spc="-25">
                <a:solidFill>
                  <a:srgbClr val="9933FF"/>
                </a:solidFill>
                <a:latin typeface="黑体"/>
                <a:cs typeface="黑体"/>
              </a:rPr>
              <a:t>mod</a:t>
            </a:r>
            <a:r>
              <a:rPr dirty="0" sz="2400">
                <a:solidFill>
                  <a:srgbClr val="9933FF"/>
                </a:solidFill>
                <a:latin typeface="黑体"/>
                <a:cs typeface="黑体"/>
              </a:rPr>
              <a:t>	(</a:t>
            </a:r>
            <a:r>
              <a:rPr dirty="0" sz="2500" i="1">
                <a:solidFill>
                  <a:srgbClr val="9933FF"/>
                </a:solidFill>
                <a:latin typeface="黑体"/>
                <a:cs typeface="黑体"/>
              </a:rPr>
              <a:t>M</a:t>
            </a:r>
            <a:r>
              <a:rPr dirty="0" sz="2500" spc="-100" i="1">
                <a:solidFill>
                  <a:srgbClr val="9933FF"/>
                </a:solidFill>
                <a:latin typeface="黑体"/>
                <a:cs typeface="黑体"/>
              </a:rPr>
              <a:t> </a:t>
            </a:r>
            <a:r>
              <a:rPr dirty="0" sz="2400" spc="-50">
                <a:solidFill>
                  <a:srgbClr val="9933FF"/>
                </a:solidFill>
                <a:latin typeface="黑体"/>
                <a:cs typeface="黑体"/>
              </a:rPr>
              <a:t>)</a:t>
            </a:r>
            <a:r>
              <a:rPr dirty="0" sz="2400">
                <a:solidFill>
                  <a:srgbClr val="9933FF"/>
                </a:solidFill>
                <a:latin typeface="黑体"/>
                <a:cs typeface="黑体"/>
              </a:rPr>
              <a:t>	</a:t>
            </a:r>
            <a:r>
              <a:rPr dirty="0" sz="2400" spc="-25">
                <a:latin typeface="黑体"/>
                <a:cs typeface="黑体"/>
              </a:rPr>
              <a:t>（</a:t>
            </a:r>
            <a:r>
              <a:rPr dirty="0" sz="2500" spc="-25" i="1">
                <a:latin typeface="黑体"/>
                <a:cs typeface="黑体"/>
              </a:rPr>
              <a:t>M</a:t>
            </a:r>
            <a:r>
              <a:rPr dirty="0" sz="2400">
                <a:latin typeface="黑体"/>
                <a:cs typeface="黑体"/>
              </a:rPr>
              <a:t>为Cache的块数</a:t>
            </a:r>
            <a:r>
              <a:rPr dirty="0" sz="2400" spc="-50">
                <a:latin typeface="黑体"/>
                <a:cs typeface="黑体"/>
              </a:rPr>
              <a:t>）</a:t>
            </a:r>
            <a:endParaRPr sz="2400">
              <a:latin typeface="黑体"/>
              <a:cs typeface="黑体"/>
            </a:endParaRPr>
          </a:p>
          <a:p>
            <a:pPr>
              <a:lnSpc>
                <a:spcPct val="100000"/>
              </a:lnSpc>
              <a:spcBef>
                <a:spcPts val="335"/>
              </a:spcBef>
            </a:pPr>
            <a:endParaRPr sz="2400">
              <a:latin typeface="黑体"/>
              <a:cs typeface="黑体"/>
            </a:endParaRPr>
          </a:p>
          <a:p>
            <a:pPr marL="778510" indent="-457200">
              <a:lnSpc>
                <a:spcPct val="100000"/>
              </a:lnSpc>
              <a:buSzPct val="89583"/>
              <a:buFont typeface="Wingdings"/>
              <a:buChar char=""/>
              <a:tabLst>
                <a:tab pos="778510" algn="l"/>
              </a:tabLst>
            </a:pPr>
            <a:r>
              <a:rPr dirty="0" sz="2400">
                <a:solidFill>
                  <a:srgbClr val="40458B"/>
                </a:solidFill>
                <a:latin typeface="黑体"/>
                <a:cs typeface="黑体"/>
              </a:rPr>
              <a:t>设</a:t>
            </a:r>
            <a:r>
              <a:rPr dirty="0" sz="2400" spc="-10">
                <a:solidFill>
                  <a:srgbClr val="9933FF"/>
                </a:solidFill>
                <a:latin typeface="黑体"/>
                <a:cs typeface="黑体"/>
              </a:rPr>
              <a:t>M=2</a:t>
            </a:r>
            <a:r>
              <a:rPr dirty="0" baseline="24305" sz="2400" spc="-15">
                <a:solidFill>
                  <a:srgbClr val="9933FF"/>
                </a:solidFill>
                <a:latin typeface="黑体"/>
                <a:cs typeface="黑体"/>
              </a:rPr>
              <a:t>m</a:t>
            </a:r>
            <a:r>
              <a:rPr dirty="0" sz="2400" spc="-5">
                <a:solidFill>
                  <a:srgbClr val="40458B"/>
                </a:solidFill>
                <a:latin typeface="黑体"/>
                <a:cs typeface="黑体"/>
              </a:rPr>
              <a:t>，则当表示为二进制数时</a:t>
            </a:r>
            <a:r>
              <a:rPr dirty="0" sz="2400">
                <a:solidFill>
                  <a:srgbClr val="40458B"/>
                </a:solidFill>
                <a:latin typeface="黑体"/>
                <a:cs typeface="黑体"/>
              </a:rPr>
              <a:t>，j实际上就是i的低m</a:t>
            </a:r>
            <a:r>
              <a:rPr dirty="0" sz="2400" spc="-25">
                <a:solidFill>
                  <a:srgbClr val="40458B"/>
                </a:solidFill>
                <a:latin typeface="黑体"/>
                <a:cs typeface="黑体"/>
              </a:rPr>
              <a:t>位:</a:t>
            </a:r>
            <a:endParaRPr sz="2400">
              <a:latin typeface="黑体"/>
              <a:cs typeface="黑体"/>
            </a:endParaRPr>
          </a:p>
        </p:txBody>
      </p:sp>
      <p:sp>
        <p:nvSpPr>
          <p:cNvPr id="10" name="object 10"/>
          <p:cNvSpPr txBox="1">
            <a:spLocks noGrp="1"/>
          </p:cNvSpPr>
          <p:nvPr>
            <p:ph type="title"/>
          </p:nvPr>
        </p:nvSpPr>
        <p:spPr>
          <a:xfrm>
            <a:off x="1782317" y="153670"/>
            <a:ext cx="2506345" cy="422275"/>
          </a:xfrm>
          <a:prstGeom prst="rect"/>
        </p:spPr>
        <p:txBody>
          <a:bodyPr wrap="square" lIns="0" tIns="12700" rIns="0" bIns="0" rtlCol="0" vert="horz">
            <a:spAutoFit/>
          </a:bodyPr>
          <a:lstStyle/>
          <a:p>
            <a:pPr marL="12700">
              <a:lnSpc>
                <a:spcPct val="100000"/>
              </a:lnSpc>
              <a:spcBef>
                <a:spcPts val="100"/>
              </a:spcBef>
              <a:tabLst>
                <a:tab pos="1167765" algn="l"/>
              </a:tabLst>
            </a:pPr>
            <a:r>
              <a:rPr dirty="0" u="none" sz="2600" spc="-10">
                <a:solidFill>
                  <a:srgbClr val="0000CC"/>
                </a:solidFill>
              </a:rPr>
              <a:t>7.2.2</a:t>
            </a:r>
            <a:r>
              <a:rPr dirty="0" u="none" sz="2600">
                <a:solidFill>
                  <a:srgbClr val="0000CC"/>
                </a:solidFill>
              </a:rPr>
              <a:t>	</a:t>
            </a:r>
            <a:r>
              <a:rPr dirty="0" u="none" sz="2600" spc="-15">
                <a:solidFill>
                  <a:srgbClr val="0000CC"/>
                </a:solidFill>
              </a:rPr>
              <a:t>映象规则</a:t>
            </a:r>
            <a:endParaRPr sz="2600"/>
          </a:p>
        </p:txBody>
      </p:sp>
      <p:grpSp>
        <p:nvGrpSpPr>
          <p:cNvPr id="11" name="object 11" descr=""/>
          <p:cNvGrpSpPr/>
          <p:nvPr/>
        </p:nvGrpSpPr>
        <p:grpSpPr>
          <a:xfrm>
            <a:off x="5222875" y="5507037"/>
            <a:ext cx="4610100" cy="628650"/>
            <a:chOff x="5222875" y="5507037"/>
            <a:chExt cx="4610100" cy="628650"/>
          </a:xfrm>
        </p:grpSpPr>
        <p:sp>
          <p:nvSpPr>
            <p:cNvPr id="12" name="object 12" descr=""/>
            <p:cNvSpPr/>
            <p:nvPr/>
          </p:nvSpPr>
          <p:spPr>
            <a:xfrm>
              <a:off x="5232400" y="5516562"/>
              <a:ext cx="4591050" cy="609600"/>
            </a:xfrm>
            <a:custGeom>
              <a:avLst/>
              <a:gdLst/>
              <a:ahLst/>
              <a:cxnLst/>
              <a:rect l="l" t="t" r="r" b="b"/>
              <a:pathLst>
                <a:path w="4591050" h="609600">
                  <a:moveTo>
                    <a:pt x="3044825" y="0"/>
                  </a:moveTo>
                  <a:lnTo>
                    <a:pt x="0" y="0"/>
                  </a:lnTo>
                  <a:lnTo>
                    <a:pt x="0" y="609600"/>
                  </a:lnTo>
                  <a:lnTo>
                    <a:pt x="3044825" y="609600"/>
                  </a:lnTo>
                  <a:lnTo>
                    <a:pt x="3044825" y="0"/>
                  </a:lnTo>
                  <a:close/>
                </a:path>
                <a:path w="4591050" h="609600">
                  <a:moveTo>
                    <a:pt x="4591050" y="0"/>
                  </a:moveTo>
                  <a:lnTo>
                    <a:pt x="4587875" y="0"/>
                  </a:lnTo>
                  <a:lnTo>
                    <a:pt x="4587875" y="609600"/>
                  </a:lnTo>
                  <a:lnTo>
                    <a:pt x="4591050" y="609600"/>
                  </a:lnTo>
                  <a:lnTo>
                    <a:pt x="4591050" y="0"/>
                  </a:lnTo>
                  <a:close/>
                </a:path>
              </a:pathLst>
            </a:custGeom>
            <a:solidFill>
              <a:srgbClr val="FBFCCD"/>
            </a:solidFill>
          </p:spPr>
          <p:txBody>
            <a:bodyPr wrap="square" lIns="0" tIns="0" rIns="0" bIns="0" rtlCol="0"/>
            <a:lstStyle/>
            <a:p/>
          </p:txBody>
        </p:sp>
        <p:sp>
          <p:nvSpPr>
            <p:cNvPr id="13" name="object 13" descr=""/>
            <p:cNvSpPr/>
            <p:nvPr/>
          </p:nvSpPr>
          <p:spPr>
            <a:xfrm>
              <a:off x="5232400" y="5516562"/>
              <a:ext cx="4591050" cy="609600"/>
            </a:xfrm>
            <a:custGeom>
              <a:avLst/>
              <a:gdLst/>
              <a:ahLst/>
              <a:cxnLst/>
              <a:rect l="l" t="t" r="r" b="b"/>
              <a:pathLst>
                <a:path w="4591050" h="609600">
                  <a:moveTo>
                    <a:pt x="0" y="609600"/>
                  </a:moveTo>
                  <a:lnTo>
                    <a:pt x="4591050" y="609600"/>
                  </a:lnTo>
                  <a:lnTo>
                    <a:pt x="4591050" y="0"/>
                  </a:lnTo>
                  <a:lnTo>
                    <a:pt x="0" y="0"/>
                  </a:lnTo>
                  <a:lnTo>
                    <a:pt x="0" y="609600"/>
                  </a:lnTo>
                  <a:close/>
                </a:path>
              </a:pathLst>
            </a:custGeom>
            <a:ln w="19050">
              <a:solidFill>
                <a:srgbClr val="B1B1B1"/>
              </a:solidFill>
            </a:ln>
          </p:spPr>
          <p:txBody>
            <a:bodyPr wrap="square" lIns="0" tIns="0" rIns="0" bIns="0" rtlCol="0"/>
            <a:lstStyle/>
            <a:p/>
          </p:txBody>
        </p:sp>
        <p:sp>
          <p:nvSpPr>
            <p:cNvPr id="14" name="object 14" descr=""/>
            <p:cNvSpPr/>
            <p:nvPr/>
          </p:nvSpPr>
          <p:spPr>
            <a:xfrm>
              <a:off x="8277225" y="5516562"/>
              <a:ext cx="1543050" cy="609600"/>
            </a:xfrm>
            <a:custGeom>
              <a:avLst/>
              <a:gdLst/>
              <a:ahLst/>
              <a:cxnLst/>
              <a:rect l="l" t="t" r="r" b="b"/>
              <a:pathLst>
                <a:path w="1543050" h="609600">
                  <a:moveTo>
                    <a:pt x="0" y="609600"/>
                  </a:moveTo>
                  <a:lnTo>
                    <a:pt x="1543050" y="609600"/>
                  </a:lnTo>
                  <a:lnTo>
                    <a:pt x="1543050" y="0"/>
                  </a:lnTo>
                  <a:lnTo>
                    <a:pt x="0" y="0"/>
                  </a:lnTo>
                  <a:lnTo>
                    <a:pt x="0" y="609600"/>
                  </a:lnTo>
                  <a:close/>
                </a:path>
              </a:pathLst>
            </a:custGeom>
            <a:ln w="9525">
              <a:solidFill>
                <a:srgbClr val="000000"/>
              </a:solidFill>
            </a:ln>
          </p:spPr>
          <p:txBody>
            <a:bodyPr wrap="square" lIns="0" tIns="0" rIns="0" bIns="0" rtlCol="0"/>
            <a:lstStyle/>
            <a:p/>
          </p:txBody>
        </p:sp>
      </p:grpSp>
      <p:sp>
        <p:nvSpPr>
          <p:cNvPr id="15" name="object 15" descr=""/>
          <p:cNvSpPr txBox="1"/>
          <p:nvPr/>
        </p:nvSpPr>
        <p:spPr>
          <a:xfrm>
            <a:off x="4778502" y="5604112"/>
            <a:ext cx="415925" cy="411480"/>
          </a:xfrm>
          <a:prstGeom prst="rect">
            <a:avLst/>
          </a:prstGeom>
        </p:spPr>
        <p:txBody>
          <a:bodyPr wrap="square" lIns="0" tIns="16510" rIns="0" bIns="0" rtlCol="0" vert="horz">
            <a:spAutoFit/>
          </a:bodyPr>
          <a:lstStyle/>
          <a:p>
            <a:pPr marL="12700">
              <a:lnSpc>
                <a:spcPct val="100000"/>
              </a:lnSpc>
              <a:spcBef>
                <a:spcPts val="130"/>
              </a:spcBef>
            </a:pPr>
            <a:r>
              <a:rPr dirty="0" sz="2400" spc="-25" b="1" i="1">
                <a:solidFill>
                  <a:srgbClr val="D50092"/>
                </a:solidFill>
                <a:latin typeface="Times New Roman"/>
                <a:cs typeface="Times New Roman"/>
              </a:rPr>
              <a:t>i</a:t>
            </a:r>
            <a:r>
              <a:rPr dirty="0" sz="2500" spc="-25" b="1" i="1">
                <a:solidFill>
                  <a:srgbClr val="D50092"/>
                </a:solidFill>
                <a:latin typeface="宋体"/>
                <a:cs typeface="宋体"/>
              </a:rPr>
              <a:t>：</a:t>
            </a:r>
            <a:endParaRPr sz="2500">
              <a:latin typeface="宋体"/>
              <a:cs typeface="宋体"/>
            </a:endParaRPr>
          </a:p>
        </p:txBody>
      </p:sp>
      <p:sp>
        <p:nvSpPr>
          <p:cNvPr id="16" name="object 16" descr=""/>
          <p:cNvSpPr/>
          <p:nvPr/>
        </p:nvSpPr>
        <p:spPr>
          <a:xfrm>
            <a:off x="9363075" y="6327775"/>
            <a:ext cx="457200" cy="76200"/>
          </a:xfrm>
          <a:custGeom>
            <a:avLst/>
            <a:gdLst/>
            <a:ahLst/>
            <a:cxnLst/>
            <a:rect l="l" t="t" r="r" b="b"/>
            <a:pathLst>
              <a:path w="457200" h="76200">
                <a:moveTo>
                  <a:pt x="406400" y="38100"/>
                </a:moveTo>
                <a:lnTo>
                  <a:pt x="381000" y="76200"/>
                </a:lnTo>
                <a:lnTo>
                  <a:pt x="447675" y="42862"/>
                </a:lnTo>
                <a:lnTo>
                  <a:pt x="406400" y="42862"/>
                </a:lnTo>
                <a:lnTo>
                  <a:pt x="406400" y="38100"/>
                </a:lnTo>
                <a:close/>
              </a:path>
              <a:path w="457200" h="76200">
                <a:moveTo>
                  <a:pt x="403225" y="33337"/>
                </a:moveTo>
                <a:lnTo>
                  <a:pt x="0" y="33337"/>
                </a:lnTo>
                <a:lnTo>
                  <a:pt x="0" y="42862"/>
                </a:lnTo>
                <a:lnTo>
                  <a:pt x="403225" y="42862"/>
                </a:lnTo>
                <a:lnTo>
                  <a:pt x="406400" y="38100"/>
                </a:lnTo>
                <a:lnTo>
                  <a:pt x="403225" y="33337"/>
                </a:lnTo>
                <a:close/>
              </a:path>
              <a:path w="457200" h="76200">
                <a:moveTo>
                  <a:pt x="447675" y="33337"/>
                </a:moveTo>
                <a:lnTo>
                  <a:pt x="406400" y="33337"/>
                </a:lnTo>
                <a:lnTo>
                  <a:pt x="406400" y="42862"/>
                </a:lnTo>
                <a:lnTo>
                  <a:pt x="447675" y="42862"/>
                </a:lnTo>
                <a:lnTo>
                  <a:pt x="457200" y="38100"/>
                </a:lnTo>
                <a:lnTo>
                  <a:pt x="447675" y="33337"/>
                </a:lnTo>
                <a:close/>
              </a:path>
              <a:path w="457200" h="76200">
                <a:moveTo>
                  <a:pt x="381000" y="0"/>
                </a:moveTo>
                <a:lnTo>
                  <a:pt x="406400" y="38100"/>
                </a:lnTo>
                <a:lnTo>
                  <a:pt x="406400" y="33337"/>
                </a:lnTo>
                <a:lnTo>
                  <a:pt x="447675" y="33337"/>
                </a:lnTo>
                <a:lnTo>
                  <a:pt x="381000" y="0"/>
                </a:lnTo>
                <a:close/>
              </a:path>
            </a:pathLst>
          </a:custGeom>
          <a:solidFill>
            <a:srgbClr val="000000"/>
          </a:solidFill>
        </p:spPr>
        <p:txBody>
          <a:bodyPr wrap="square" lIns="0" tIns="0" rIns="0" bIns="0" rtlCol="0"/>
          <a:lstStyle/>
          <a:p/>
        </p:txBody>
      </p:sp>
      <p:sp>
        <p:nvSpPr>
          <p:cNvPr id="17" name="object 17" descr=""/>
          <p:cNvSpPr/>
          <p:nvPr/>
        </p:nvSpPr>
        <p:spPr>
          <a:xfrm>
            <a:off x="8296275" y="6327775"/>
            <a:ext cx="457200" cy="76200"/>
          </a:xfrm>
          <a:custGeom>
            <a:avLst/>
            <a:gdLst/>
            <a:ahLst/>
            <a:cxnLst/>
            <a:rect l="l" t="t" r="r" b="b"/>
            <a:pathLst>
              <a:path w="457200" h="76200">
                <a:moveTo>
                  <a:pt x="76200" y="0"/>
                </a:moveTo>
                <a:lnTo>
                  <a:pt x="0" y="38100"/>
                </a:lnTo>
                <a:lnTo>
                  <a:pt x="76200" y="76200"/>
                </a:lnTo>
                <a:lnTo>
                  <a:pt x="53975" y="42862"/>
                </a:lnTo>
                <a:lnTo>
                  <a:pt x="50800" y="42862"/>
                </a:lnTo>
                <a:lnTo>
                  <a:pt x="50800" y="33337"/>
                </a:lnTo>
                <a:lnTo>
                  <a:pt x="53975" y="33337"/>
                </a:lnTo>
                <a:lnTo>
                  <a:pt x="76200" y="0"/>
                </a:lnTo>
                <a:close/>
              </a:path>
              <a:path w="457200" h="76200">
                <a:moveTo>
                  <a:pt x="50800" y="38100"/>
                </a:moveTo>
                <a:lnTo>
                  <a:pt x="50800" y="42862"/>
                </a:lnTo>
                <a:lnTo>
                  <a:pt x="53975" y="42862"/>
                </a:lnTo>
                <a:lnTo>
                  <a:pt x="50800" y="38100"/>
                </a:lnTo>
                <a:close/>
              </a:path>
              <a:path w="457200" h="76200">
                <a:moveTo>
                  <a:pt x="457200" y="33337"/>
                </a:moveTo>
                <a:lnTo>
                  <a:pt x="53975" y="33337"/>
                </a:lnTo>
                <a:lnTo>
                  <a:pt x="50800" y="38100"/>
                </a:lnTo>
                <a:lnTo>
                  <a:pt x="53975" y="42862"/>
                </a:lnTo>
                <a:lnTo>
                  <a:pt x="457200" y="42862"/>
                </a:lnTo>
                <a:lnTo>
                  <a:pt x="457200" y="33337"/>
                </a:lnTo>
                <a:close/>
              </a:path>
              <a:path w="457200" h="76200">
                <a:moveTo>
                  <a:pt x="53975" y="33337"/>
                </a:moveTo>
                <a:lnTo>
                  <a:pt x="50800" y="33337"/>
                </a:lnTo>
                <a:lnTo>
                  <a:pt x="50800" y="38100"/>
                </a:lnTo>
                <a:lnTo>
                  <a:pt x="53975" y="33337"/>
                </a:lnTo>
                <a:close/>
              </a:path>
            </a:pathLst>
          </a:custGeom>
          <a:solidFill>
            <a:srgbClr val="000000"/>
          </a:solidFill>
        </p:spPr>
        <p:txBody>
          <a:bodyPr wrap="square" lIns="0" tIns="0" rIns="0" bIns="0" rtlCol="0"/>
          <a:lstStyle/>
          <a:p/>
        </p:txBody>
      </p:sp>
      <p:sp>
        <p:nvSpPr>
          <p:cNvPr id="18" name="object 18" descr=""/>
          <p:cNvSpPr txBox="1"/>
          <p:nvPr/>
        </p:nvSpPr>
        <p:spPr>
          <a:xfrm>
            <a:off x="8852407" y="6181445"/>
            <a:ext cx="432434" cy="299720"/>
          </a:xfrm>
          <a:prstGeom prst="rect">
            <a:avLst/>
          </a:prstGeom>
        </p:spPr>
        <p:txBody>
          <a:bodyPr wrap="square" lIns="0" tIns="12700" rIns="0" bIns="0" rtlCol="0" vert="horz">
            <a:spAutoFit/>
          </a:bodyPr>
          <a:lstStyle/>
          <a:p>
            <a:pPr marL="12700">
              <a:lnSpc>
                <a:spcPct val="100000"/>
              </a:lnSpc>
              <a:spcBef>
                <a:spcPts val="100"/>
              </a:spcBef>
            </a:pPr>
            <a:r>
              <a:rPr dirty="0" sz="1800" b="1" i="1">
                <a:solidFill>
                  <a:srgbClr val="D50092"/>
                </a:solidFill>
                <a:latin typeface="Times New Roman"/>
                <a:cs typeface="Times New Roman"/>
              </a:rPr>
              <a:t>m</a:t>
            </a:r>
            <a:r>
              <a:rPr dirty="0" sz="1800" spc="-50" b="1">
                <a:solidFill>
                  <a:srgbClr val="D50092"/>
                </a:solidFill>
                <a:latin typeface="宋体"/>
                <a:cs typeface="宋体"/>
              </a:rPr>
              <a:t>位</a:t>
            </a:r>
            <a:endParaRPr sz="1800">
              <a:latin typeface="宋体"/>
              <a:cs typeface="宋体"/>
            </a:endParaRPr>
          </a:p>
        </p:txBody>
      </p:sp>
      <p:sp>
        <p:nvSpPr>
          <p:cNvPr id="19" name="object 19" descr=""/>
          <p:cNvSpPr txBox="1"/>
          <p:nvPr/>
        </p:nvSpPr>
        <p:spPr>
          <a:xfrm>
            <a:off x="8277225" y="5516562"/>
            <a:ext cx="1543050" cy="609600"/>
          </a:xfrm>
          <a:prstGeom prst="rect">
            <a:avLst/>
          </a:prstGeom>
          <a:solidFill>
            <a:srgbClr val="FCE994"/>
          </a:solidFill>
        </p:spPr>
        <p:txBody>
          <a:bodyPr wrap="square" lIns="0" tIns="112395" rIns="0" bIns="0" rtlCol="0" vert="horz">
            <a:spAutoFit/>
          </a:bodyPr>
          <a:lstStyle/>
          <a:p>
            <a:pPr algn="ctr" marR="318770">
              <a:lnSpc>
                <a:spcPct val="100000"/>
              </a:lnSpc>
              <a:spcBef>
                <a:spcPts val="885"/>
              </a:spcBef>
            </a:pPr>
            <a:r>
              <a:rPr dirty="0" sz="2400" spc="-50" b="1" i="1">
                <a:solidFill>
                  <a:srgbClr val="D50092"/>
                </a:solidFill>
                <a:latin typeface="Times New Roman"/>
                <a:cs typeface="Times New Roman"/>
              </a:rPr>
              <a:t>j</a:t>
            </a:r>
            <a:endParaRPr sz="2400">
              <a:latin typeface="Times New Roman"/>
              <a:cs typeface="Times New Roman"/>
            </a:endParaRPr>
          </a:p>
        </p:txBody>
      </p:sp>
      <p:pic>
        <p:nvPicPr>
          <p:cNvPr id="20" name="object 20"/>
          <p:cNvPicPr/>
          <p:nvPr/>
        </p:nvPicPr>
        <p:blipFill>
          <a:blip r:embed="rId3" cstate="print"/>
          <a:stretch>
            <a:fillRect/>
          </a:stretch>
        </p:blipFill>
        <p:spPr>
          <a:xfrm>
            <a:off x="9385300" y="1838325"/>
            <a:ext cx="2709799" cy="36019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19/170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8" name="object 8" descr=""/>
          <p:cNvGrpSpPr/>
          <p:nvPr/>
        </p:nvGrpSpPr>
        <p:grpSpPr>
          <a:xfrm>
            <a:off x="5951601" y="0"/>
            <a:ext cx="6240780" cy="5330825"/>
            <a:chOff x="5951601" y="0"/>
            <a:chExt cx="6240780" cy="5330825"/>
          </a:xfrm>
        </p:grpSpPr>
        <p:pic>
          <p:nvPicPr>
            <p:cNvPr id="9" name="object 9"/>
            <p:cNvPicPr/>
            <p:nvPr/>
          </p:nvPicPr>
          <p:blipFill>
            <a:blip r:embed="rId3" cstate="print"/>
            <a:stretch>
              <a:fillRect/>
            </a:stretch>
          </p:blipFill>
          <p:spPr>
            <a:xfrm>
              <a:off x="6888226" y="0"/>
              <a:ext cx="5303647" cy="5192649"/>
            </a:xfrm>
            <a:prstGeom prst="rect">
              <a:avLst/>
            </a:prstGeom>
          </p:spPr>
        </p:pic>
        <p:sp>
          <p:nvSpPr>
            <p:cNvPr id="10" name="object 10" descr=""/>
            <p:cNvSpPr/>
            <p:nvPr/>
          </p:nvSpPr>
          <p:spPr>
            <a:xfrm>
              <a:off x="5951601" y="0"/>
              <a:ext cx="6240780" cy="5330825"/>
            </a:xfrm>
            <a:custGeom>
              <a:avLst/>
              <a:gdLst/>
              <a:ahLst/>
              <a:cxnLst/>
              <a:rect l="l" t="t" r="r" b="b"/>
              <a:pathLst>
                <a:path w="6240780" h="5330825">
                  <a:moveTo>
                    <a:pt x="6240399" y="0"/>
                  </a:moveTo>
                  <a:lnTo>
                    <a:pt x="6049899" y="0"/>
                  </a:lnTo>
                  <a:lnTo>
                    <a:pt x="6049899" y="1082675"/>
                  </a:lnTo>
                  <a:lnTo>
                    <a:pt x="6049899" y="4754562"/>
                  </a:lnTo>
                  <a:lnTo>
                    <a:pt x="1296924" y="4754562"/>
                  </a:lnTo>
                  <a:lnTo>
                    <a:pt x="1296924" y="1082675"/>
                  </a:lnTo>
                  <a:lnTo>
                    <a:pt x="6049899" y="1082675"/>
                  </a:lnTo>
                  <a:lnTo>
                    <a:pt x="6049899" y="0"/>
                  </a:lnTo>
                  <a:lnTo>
                    <a:pt x="0" y="0"/>
                  </a:lnTo>
                  <a:lnTo>
                    <a:pt x="0" y="1082675"/>
                  </a:lnTo>
                  <a:lnTo>
                    <a:pt x="865124" y="1082675"/>
                  </a:lnTo>
                  <a:lnTo>
                    <a:pt x="865124" y="5330825"/>
                  </a:lnTo>
                  <a:lnTo>
                    <a:pt x="936625" y="5330825"/>
                  </a:lnTo>
                  <a:lnTo>
                    <a:pt x="1296924" y="5330825"/>
                  </a:lnTo>
                  <a:lnTo>
                    <a:pt x="6240399" y="5330825"/>
                  </a:lnTo>
                  <a:lnTo>
                    <a:pt x="6240399" y="5114925"/>
                  </a:lnTo>
                  <a:lnTo>
                    <a:pt x="6240399" y="4754562"/>
                  </a:lnTo>
                  <a:lnTo>
                    <a:pt x="6240399" y="1082675"/>
                  </a:lnTo>
                  <a:lnTo>
                    <a:pt x="6240399" y="1009650"/>
                  </a:lnTo>
                  <a:lnTo>
                    <a:pt x="6240399" y="0"/>
                  </a:lnTo>
                  <a:close/>
                </a:path>
              </a:pathLst>
            </a:custGeom>
            <a:solidFill>
              <a:srgbClr val="FFFFFF"/>
            </a:solidFill>
          </p:spPr>
          <p:txBody>
            <a:bodyPr wrap="square" lIns="0" tIns="0" rIns="0" bIns="0" rtlCol="0"/>
            <a:lstStyle/>
            <a:p/>
          </p:txBody>
        </p:sp>
      </p:grpSp>
      <p:sp>
        <p:nvSpPr>
          <p:cNvPr id="11" name="object 11"/>
          <p:cNvSpPr txBox="1">
            <a:spLocks noGrp="1"/>
          </p:cNvSpPr>
          <p:nvPr>
            <p:ph type="title"/>
          </p:nvPr>
        </p:nvSpPr>
        <p:spPr>
          <a:xfrm>
            <a:off x="1543050" y="153670"/>
            <a:ext cx="4421505" cy="422275"/>
          </a:xfrm>
          <a:prstGeom prst="rect"/>
        </p:spPr>
        <p:txBody>
          <a:bodyPr wrap="square" lIns="0" tIns="12700" rIns="0" bIns="0" rtlCol="0" vert="horz">
            <a:spAutoFit/>
          </a:bodyPr>
          <a:lstStyle/>
          <a:p>
            <a:pPr marL="12700">
              <a:lnSpc>
                <a:spcPct val="100000"/>
              </a:lnSpc>
              <a:spcBef>
                <a:spcPts val="100"/>
              </a:spcBef>
              <a:tabLst>
                <a:tab pos="1407160" algn="l"/>
                <a:tab pos="4408170" algn="l"/>
              </a:tabLst>
            </a:pPr>
            <a:r>
              <a:rPr dirty="0" sz="2600" spc="580">
                <a:solidFill>
                  <a:srgbClr val="0000CC"/>
                </a:solidFill>
              </a:rPr>
              <a:t> </a:t>
            </a:r>
            <a:r>
              <a:rPr dirty="0" sz="2600" spc="-10">
                <a:solidFill>
                  <a:srgbClr val="0000CC"/>
                </a:solidFill>
              </a:rPr>
              <a:t>7.2.2</a:t>
            </a:r>
            <a:r>
              <a:rPr dirty="0" sz="2600">
                <a:solidFill>
                  <a:srgbClr val="0000CC"/>
                </a:solidFill>
              </a:rPr>
              <a:t>	映象规</a:t>
            </a:r>
            <a:r>
              <a:rPr dirty="0" sz="2600" spc="-50">
                <a:solidFill>
                  <a:srgbClr val="0000CC"/>
                </a:solidFill>
              </a:rPr>
              <a:t>则</a:t>
            </a:r>
            <a:r>
              <a:rPr dirty="0" sz="2600">
                <a:solidFill>
                  <a:srgbClr val="0000CC"/>
                </a:solidFill>
              </a:rPr>
              <a:t>	</a:t>
            </a:r>
            <a:endParaRPr sz="2600"/>
          </a:p>
        </p:txBody>
      </p:sp>
      <p:sp>
        <p:nvSpPr>
          <p:cNvPr id="12" name="object 12" descr=""/>
          <p:cNvSpPr txBox="1"/>
          <p:nvPr/>
        </p:nvSpPr>
        <p:spPr>
          <a:xfrm>
            <a:off x="394614" y="523620"/>
            <a:ext cx="11172825" cy="5847715"/>
          </a:xfrm>
          <a:prstGeom prst="rect">
            <a:avLst/>
          </a:prstGeom>
        </p:spPr>
        <p:txBody>
          <a:bodyPr wrap="square" lIns="0" tIns="159385" rIns="0" bIns="0" rtlCol="0" vert="horz">
            <a:spAutoFit/>
          </a:bodyPr>
          <a:lstStyle/>
          <a:p>
            <a:pPr marL="520700" indent="-457200">
              <a:lnSpc>
                <a:spcPct val="100000"/>
              </a:lnSpc>
              <a:spcBef>
                <a:spcPts val="1255"/>
              </a:spcBef>
              <a:buClr>
                <a:srgbClr val="40458B"/>
              </a:buClr>
              <a:buFont typeface="Tahoma"/>
              <a:buAutoNum type="arabicPeriod" startAt="3"/>
              <a:tabLst>
                <a:tab pos="520700" algn="l"/>
              </a:tabLst>
            </a:pPr>
            <a:r>
              <a:rPr dirty="0" sz="2400" spc="-10">
                <a:solidFill>
                  <a:srgbClr val="E14B04"/>
                </a:solidFill>
                <a:latin typeface="黑体"/>
                <a:cs typeface="黑体"/>
              </a:rPr>
              <a:t>组相联映象</a:t>
            </a:r>
            <a:endParaRPr sz="2400">
              <a:latin typeface="黑体"/>
              <a:cs typeface="黑体"/>
            </a:endParaRPr>
          </a:p>
          <a:p>
            <a:pPr lvl="1" marL="1149985" marR="55880" indent="-457834">
              <a:lnSpc>
                <a:spcPct val="120000"/>
              </a:lnSpc>
              <a:spcBef>
                <a:spcPts val="580"/>
              </a:spcBef>
              <a:buSzPct val="89583"/>
              <a:buFont typeface="Wingdings"/>
              <a:buChar char=""/>
              <a:tabLst>
                <a:tab pos="1149985" algn="l"/>
              </a:tabLst>
            </a:pPr>
            <a:r>
              <a:rPr dirty="0" sz="2400">
                <a:solidFill>
                  <a:srgbClr val="40458B"/>
                </a:solidFill>
                <a:latin typeface="黑体"/>
                <a:cs typeface="黑体"/>
              </a:rPr>
              <a:t>组相联：主存中的每一块可以被放置到</a:t>
            </a:r>
            <a:r>
              <a:rPr dirty="0" sz="2400" spc="-25">
                <a:solidFill>
                  <a:srgbClr val="40458B"/>
                </a:solidFill>
                <a:latin typeface="Tahoma"/>
                <a:cs typeface="Tahoma"/>
              </a:rPr>
              <a:t>Cache</a:t>
            </a:r>
            <a:r>
              <a:rPr dirty="0" sz="2400" spc="-5">
                <a:solidFill>
                  <a:srgbClr val="40458B"/>
                </a:solidFill>
                <a:latin typeface="黑体"/>
                <a:cs typeface="黑体"/>
              </a:rPr>
              <a:t>中唯一的一个组中的任何一个</a:t>
            </a:r>
            <a:r>
              <a:rPr dirty="0" sz="2400" spc="-20">
                <a:solidFill>
                  <a:srgbClr val="40458B"/>
                </a:solidFill>
                <a:latin typeface="黑体"/>
                <a:cs typeface="黑体"/>
              </a:rPr>
              <a:t>位置。</a:t>
            </a:r>
            <a:endParaRPr sz="2400">
              <a:latin typeface="黑体"/>
              <a:cs typeface="黑体"/>
            </a:endParaRPr>
          </a:p>
          <a:p>
            <a:pPr lvl="1" marL="1149985" indent="-457200">
              <a:lnSpc>
                <a:spcPct val="100000"/>
              </a:lnSpc>
              <a:spcBef>
                <a:spcPts val="1150"/>
              </a:spcBef>
              <a:buSzPct val="89583"/>
              <a:buFont typeface="Wingdings"/>
              <a:buChar char=""/>
              <a:tabLst>
                <a:tab pos="1149985" algn="l"/>
              </a:tabLst>
            </a:pPr>
            <a:r>
              <a:rPr dirty="0" sz="2400" spc="-15">
                <a:solidFill>
                  <a:srgbClr val="40458B"/>
                </a:solidFill>
                <a:latin typeface="黑体"/>
                <a:cs typeface="黑体"/>
              </a:rPr>
              <a:t>组相联是直接映象和全相联的一种折衷</a:t>
            </a:r>
            <a:endParaRPr sz="2400">
              <a:latin typeface="黑体"/>
              <a:cs typeface="黑体"/>
            </a:endParaRPr>
          </a:p>
          <a:p>
            <a:pPr marL="1076960" indent="-457200">
              <a:lnSpc>
                <a:spcPct val="100000"/>
              </a:lnSpc>
              <a:spcBef>
                <a:spcPts val="325"/>
              </a:spcBef>
              <a:buSzPct val="89583"/>
              <a:buFont typeface="Wingdings"/>
              <a:buChar char=""/>
              <a:tabLst>
                <a:tab pos="1076960" algn="l"/>
              </a:tabLst>
            </a:pPr>
            <a:r>
              <a:rPr dirty="0" sz="2400" spc="-5">
                <a:solidFill>
                  <a:srgbClr val="40458B"/>
                </a:solidFill>
                <a:latin typeface="黑体"/>
                <a:cs typeface="黑体"/>
              </a:rPr>
              <a:t>组的选择常采用位选择算法</a:t>
            </a:r>
            <a:endParaRPr sz="2400">
              <a:latin typeface="黑体"/>
              <a:cs typeface="黑体"/>
            </a:endParaRPr>
          </a:p>
          <a:p>
            <a:pPr lvl="1" marL="1704975" indent="-457200">
              <a:lnSpc>
                <a:spcPct val="100000"/>
              </a:lnSpc>
              <a:spcBef>
                <a:spcPts val="925"/>
              </a:spcBef>
              <a:buClr>
                <a:srgbClr val="4668F5"/>
              </a:buClr>
              <a:buSzPct val="60000"/>
              <a:buFont typeface="Wingdings"/>
              <a:buChar char=""/>
              <a:tabLst>
                <a:tab pos="1704975" algn="l"/>
              </a:tabLst>
            </a:pPr>
            <a:r>
              <a:rPr dirty="0" sz="2000" spc="-15" b="1">
                <a:solidFill>
                  <a:srgbClr val="00AFEF"/>
                </a:solidFill>
                <a:latin typeface="宋体"/>
                <a:cs typeface="宋体"/>
              </a:rPr>
              <a:t>若主存第</a:t>
            </a:r>
            <a:r>
              <a:rPr dirty="0" sz="2100" b="1" i="1">
                <a:solidFill>
                  <a:srgbClr val="9933FF"/>
                </a:solidFill>
                <a:latin typeface="宋体"/>
                <a:cs typeface="宋体"/>
              </a:rPr>
              <a:t>i</a:t>
            </a:r>
            <a:r>
              <a:rPr dirty="0" sz="2100" spc="-114" b="1" i="1">
                <a:solidFill>
                  <a:srgbClr val="9933FF"/>
                </a:solidFill>
                <a:latin typeface="宋体"/>
                <a:cs typeface="宋体"/>
              </a:rPr>
              <a:t> </a:t>
            </a:r>
            <a:r>
              <a:rPr dirty="0" sz="2000" spc="-15" b="1">
                <a:solidFill>
                  <a:srgbClr val="00AFEF"/>
                </a:solidFill>
                <a:latin typeface="宋体"/>
                <a:cs typeface="宋体"/>
              </a:rPr>
              <a:t>块映象到第</a:t>
            </a:r>
            <a:r>
              <a:rPr dirty="0" sz="2100" b="1" i="1">
                <a:solidFill>
                  <a:srgbClr val="9933FF"/>
                </a:solidFill>
                <a:latin typeface="宋体"/>
                <a:cs typeface="宋体"/>
              </a:rPr>
              <a:t>k</a:t>
            </a:r>
            <a:r>
              <a:rPr dirty="0" sz="2100" spc="-125" b="1" i="1">
                <a:solidFill>
                  <a:srgbClr val="9933FF"/>
                </a:solidFill>
                <a:latin typeface="宋体"/>
                <a:cs typeface="宋体"/>
              </a:rPr>
              <a:t> </a:t>
            </a:r>
            <a:r>
              <a:rPr dirty="0" sz="2000" spc="-25" b="1">
                <a:solidFill>
                  <a:srgbClr val="00AFEF"/>
                </a:solidFill>
                <a:latin typeface="宋体"/>
                <a:cs typeface="宋体"/>
              </a:rPr>
              <a:t>组，则:</a:t>
            </a:r>
            <a:endParaRPr sz="2000">
              <a:latin typeface="宋体"/>
              <a:cs typeface="宋体"/>
            </a:endParaRPr>
          </a:p>
          <a:p>
            <a:pPr marL="2148840">
              <a:lnSpc>
                <a:spcPct val="100000"/>
              </a:lnSpc>
              <a:spcBef>
                <a:spcPts val="845"/>
              </a:spcBef>
            </a:pPr>
            <a:r>
              <a:rPr dirty="0" sz="2100" b="1" i="1">
                <a:solidFill>
                  <a:srgbClr val="9933FF"/>
                </a:solidFill>
                <a:latin typeface="宋体"/>
                <a:cs typeface="宋体"/>
              </a:rPr>
              <a:t>k</a:t>
            </a:r>
            <a:r>
              <a:rPr dirty="0" sz="2000" b="1">
                <a:solidFill>
                  <a:srgbClr val="9933FF"/>
                </a:solidFill>
                <a:latin typeface="宋体"/>
                <a:cs typeface="宋体"/>
              </a:rPr>
              <a:t>＝</a:t>
            </a:r>
            <a:r>
              <a:rPr dirty="0" sz="2100" b="1" i="1">
                <a:solidFill>
                  <a:srgbClr val="9933FF"/>
                </a:solidFill>
                <a:latin typeface="宋体"/>
                <a:cs typeface="宋体"/>
              </a:rPr>
              <a:t>i</a:t>
            </a:r>
            <a:r>
              <a:rPr dirty="0" sz="2100" spc="-160" b="1" i="1">
                <a:solidFill>
                  <a:srgbClr val="9933FF"/>
                </a:solidFill>
                <a:latin typeface="宋体"/>
                <a:cs typeface="宋体"/>
              </a:rPr>
              <a:t> </a:t>
            </a:r>
            <a:r>
              <a:rPr dirty="0" sz="2000" b="1">
                <a:solidFill>
                  <a:srgbClr val="9933FF"/>
                </a:solidFill>
                <a:latin typeface="宋体"/>
                <a:cs typeface="宋体"/>
              </a:rPr>
              <a:t>mod（</a:t>
            </a:r>
            <a:r>
              <a:rPr dirty="0" sz="2100" b="1" i="1">
                <a:solidFill>
                  <a:srgbClr val="9933FF"/>
                </a:solidFill>
                <a:latin typeface="宋体"/>
                <a:cs typeface="宋体"/>
              </a:rPr>
              <a:t>G</a:t>
            </a:r>
            <a:r>
              <a:rPr dirty="0" sz="2000" b="1">
                <a:solidFill>
                  <a:srgbClr val="9933FF"/>
                </a:solidFill>
                <a:latin typeface="宋体"/>
                <a:cs typeface="宋体"/>
              </a:rPr>
              <a:t>）</a:t>
            </a:r>
            <a:r>
              <a:rPr dirty="0" sz="2000" spc="-110" b="1">
                <a:solidFill>
                  <a:srgbClr val="9933FF"/>
                </a:solidFill>
                <a:latin typeface="宋体"/>
                <a:cs typeface="宋体"/>
              </a:rPr>
              <a:t> </a:t>
            </a:r>
            <a:r>
              <a:rPr dirty="0" sz="2000" spc="-35" b="1">
                <a:solidFill>
                  <a:srgbClr val="00AFEF"/>
                </a:solidFill>
                <a:latin typeface="宋体"/>
                <a:cs typeface="宋体"/>
              </a:rPr>
              <a:t>（</a:t>
            </a:r>
            <a:r>
              <a:rPr dirty="0" sz="2100" spc="-35" b="1" i="1">
                <a:solidFill>
                  <a:srgbClr val="00AFEF"/>
                </a:solidFill>
                <a:latin typeface="宋体"/>
                <a:cs typeface="宋体"/>
              </a:rPr>
              <a:t>G</a:t>
            </a:r>
            <a:r>
              <a:rPr dirty="0" sz="2000" spc="-10" b="1">
                <a:solidFill>
                  <a:srgbClr val="00AFEF"/>
                </a:solidFill>
                <a:latin typeface="宋体"/>
                <a:cs typeface="宋体"/>
              </a:rPr>
              <a:t>为Cache的组数</a:t>
            </a:r>
            <a:r>
              <a:rPr dirty="0" sz="2000" spc="-50" b="1">
                <a:solidFill>
                  <a:srgbClr val="00AFEF"/>
                </a:solidFill>
                <a:latin typeface="宋体"/>
                <a:cs typeface="宋体"/>
              </a:rPr>
              <a:t>）</a:t>
            </a:r>
            <a:endParaRPr sz="2000">
              <a:latin typeface="宋体"/>
              <a:cs typeface="宋体"/>
            </a:endParaRPr>
          </a:p>
          <a:p>
            <a:pPr lvl="1" marL="1704975" marR="3872229" indent="-457200">
              <a:lnSpc>
                <a:spcPct val="114300"/>
              </a:lnSpc>
              <a:spcBef>
                <a:spcPts val="475"/>
              </a:spcBef>
              <a:buClr>
                <a:srgbClr val="4668F5"/>
              </a:buClr>
              <a:buSzPct val="60000"/>
              <a:buFont typeface="Wingdings"/>
              <a:buChar char=""/>
              <a:tabLst>
                <a:tab pos="1704975" algn="l"/>
              </a:tabLst>
            </a:pPr>
            <a:r>
              <a:rPr dirty="0" sz="2000" spc="-10" b="1">
                <a:solidFill>
                  <a:srgbClr val="00AFEF"/>
                </a:solidFill>
                <a:latin typeface="宋体"/>
                <a:cs typeface="宋体"/>
              </a:rPr>
              <a:t>设</a:t>
            </a:r>
            <a:r>
              <a:rPr dirty="0" sz="2100" spc="-10" b="1" i="1">
                <a:solidFill>
                  <a:srgbClr val="9933FF"/>
                </a:solidFill>
                <a:latin typeface="宋体"/>
                <a:cs typeface="宋体"/>
              </a:rPr>
              <a:t>G</a:t>
            </a:r>
            <a:r>
              <a:rPr dirty="0" sz="2000" spc="-10" b="1">
                <a:solidFill>
                  <a:srgbClr val="9933FF"/>
                </a:solidFill>
                <a:latin typeface="宋体"/>
                <a:cs typeface="宋体"/>
              </a:rPr>
              <a:t>＝2</a:t>
            </a:r>
            <a:r>
              <a:rPr dirty="0" baseline="25641" sz="1950" spc="-15" b="1">
                <a:solidFill>
                  <a:srgbClr val="9933FF"/>
                </a:solidFill>
                <a:latin typeface="宋体"/>
                <a:cs typeface="宋体"/>
              </a:rPr>
              <a:t>g</a:t>
            </a:r>
            <a:r>
              <a:rPr dirty="0" sz="2000" spc="-20" b="1">
                <a:solidFill>
                  <a:srgbClr val="00AFEF"/>
                </a:solidFill>
                <a:latin typeface="宋体"/>
                <a:cs typeface="宋体"/>
              </a:rPr>
              <a:t>，则当表示为二进制数时，</a:t>
            </a:r>
            <a:r>
              <a:rPr dirty="0" sz="2100" b="1" i="1">
                <a:solidFill>
                  <a:srgbClr val="00AFEF"/>
                </a:solidFill>
                <a:latin typeface="宋体"/>
                <a:cs typeface="宋体"/>
              </a:rPr>
              <a:t>k</a:t>
            </a:r>
            <a:r>
              <a:rPr dirty="0" sz="2100" spc="-120" b="1" i="1">
                <a:solidFill>
                  <a:srgbClr val="00AFEF"/>
                </a:solidFill>
                <a:latin typeface="宋体"/>
                <a:cs typeface="宋体"/>
              </a:rPr>
              <a:t> </a:t>
            </a:r>
            <a:r>
              <a:rPr dirty="0" sz="2000" spc="-10" b="1">
                <a:solidFill>
                  <a:srgbClr val="00AFEF"/>
                </a:solidFill>
                <a:latin typeface="宋体"/>
                <a:cs typeface="宋体"/>
              </a:rPr>
              <a:t>实际上就是</a:t>
            </a:r>
            <a:r>
              <a:rPr dirty="0" sz="2100" spc="-50" b="1" i="1">
                <a:solidFill>
                  <a:srgbClr val="00AFEF"/>
                </a:solidFill>
                <a:latin typeface="宋体"/>
                <a:cs typeface="宋体"/>
              </a:rPr>
              <a:t>i</a:t>
            </a:r>
            <a:r>
              <a:rPr dirty="0" sz="2000" spc="-15" b="1">
                <a:solidFill>
                  <a:srgbClr val="00AFEF"/>
                </a:solidFill>
                <a:latin typeface="宋体"/>
                <a:cs typeface="宋体"/>
              </a:rPr>
              <a:t>的低 </a:t>
            </a:r>
            <a:r>
              <a:rPr dirty="0" sz="2100" b="1" i="1">
                <a:solidFill>
                  <a:srgbClr val="00AFEF"/>
                </a:solidFill>
                <a:latin typeface="宋体"/>
                <a:cs typeface="宋体"/>
              </a:rPr>
              <a:t>g</a:t>
            </a:r>
            <a:r>
              <a:rPr dirty="0" sz="2100" spc="-75" b="1" i="1">
                <a:solidFill>
                  <a:srgbClr val="00AFEF"/>
                </a:solidFill>
                <a:latin typeface="宋体"/>
                <a:cs typeface="宋体"/>
              </a:rPr>
              <a:t> </a:t>
            </a:r>
            <a:r>
              <a:rPr dirty="0" sz="2000" spc="-30" b="1">
                <a:solidFill>
                  <a:srgbClr val="00AFEF"/>
                </a:solidFill>
                <a:latin typeface="宋体"/>
                <a:cs typeface="宋体"/>
              </a:rPr>
              <a:t>位:</a:t>
            </a:r>
            <a:endParaRPr sz="2000">
              <a:latin typeface="宋体"/>
              <a:cs typeface="宋体"/>
            </a:endParaRPr>
          </a:p>
          <a:p>
            <a:pPr lvl="1">
              <a:lnSpc>
                <a:spcPct val="100000"/>
              </a:lnSpc>
              <a:spcBef>
                <a:spcPts val="640"/>
              </a:spcBef>
              <a:buClr>
                <a:srgbClr val="4668F5"/>
              </a:buClr>
              <a:buFont typeface="Wingdings"/>
              <a:buChar char=""/>
            </a:pPr>
            <a:endParaRPr sz="2000">
              <a:latin typeface="宋体"/>
              <a:cs typeface="宋体"/>
            </a:endParaRPr>
          </a:p>
          <a:p>
            <a:pPr marL="1082675">
              <a:lnSpc>
                <a:spcPct val="100000"/>
              </a:lnSpc>
            </a:pPr>
            <a:r>
              <a:rPr dirty="0" sz="2400" spc="-25" b="1" i="1">
                <a:solidFill>
                  <a:srgbClr val="D50092"/>
                </a:solidFill>
                <a:latin typeface="Times New Roman"/>
                <a:cs typeface="Times New Roman"/>
              </a:rPr>
              <a:t>i</a:t>
            </a:r>
            <a:r>
              <a:rPr dirty="0" sz="2500" spc="-25" b="1" i="1">
                <a:solidFill>
                  <a:srgbClr val="D50092"/>
                </a:solidFill>
                <a:latin typeface="宋体"/>
                <a:cs typeface="宋体"/>
              </a:rPr>
              <a:t>：</a:t>
            </a:r>
            <a:endParaRPr sz="2500">
              <a:latin typeface="宋体"/>
              <a:cs typeface="宋体"/>
            </a:endParaRPr>
          </a:p>
          <a:p>
            <a:pPr>
              <a:lnSpc>
                <a:spcPct val="100000"/>
              </a:lnSpc>
              <a:spcBef>
                <a:spcPts val="1795"/>
              </a:spcBef>
            </a:pPr>
            <a:endParaRPr sz="2400">
              <a:latin typeface="宋体"/>
              <a:cs typeface="宋体"/>
            </a:endParaRPr>
          </a:p>
          <a:p>
            <a:pPr marL="1076960" indent="-457200">
              <a:lnSpc>
                <a:spcPct val="100000"/>
              </a:lnSpc>
              <a:buClr>
                <a:srgbClr val="40458B"/>
              </a:buClr>
              <a:buSzPct val="89583"/>
              <a:buFont typeface="Wingdings"/>
              <a:buChar char=""/>
              <a:tabLst>
                <a:tab pos="1076960" algn="l"/>
              </a:tabLst>
            </a:pPr>
            <a:r>
              <a:rPr dirty="0" sz="2400">
                <a:solidFill>
                  <a:srgbClr val="D50092"/>
                </a:solidFill>
                <a:latin typeface="黑体"/>
                <a:cs typeface="黑体"/>
              </a:rPr>
              <a:t>低</a:t>
            </a:r>
            <a:r>
              <a:rPr dirty="0" sz="2400">
                <a:solidFill>
                  <a:srgbClr val="D50092"/>
                </a:solidFill>
                <a:latin typeface="Tahoma"/>
                <a:cs typeface="Tahoma"/>
              </a:rPr>
              <a:t>g</a:t>
            </a:r>
            <a:r>
              <a:rPr dirty="0" sz="2400">
                <a:solidFill>
                  <a:srgbClr val="D50092"/>
                </a:solidFill>
                <a:latin typeface="黑体"/>
                <a:cs typeface="黑体"/>
              </a:rPr>
              <a:t>位</a:t>
            </a:r>
            <a:r>
              <a:rPr dirty="0" sz="2400" spc="-5">
                <a:solidFill>
                  <a:srgbClr val="40458B"/>
                </a:solidFill>
                <a:latin typeface="黑体"/>
                <a:cs typeface="黑体"/>
              </a:rPr>
              <a:t>以及直接映象中的</a:t>
            </a:r>
            <a:r>
              <a:rPr dirty="0" sz="2400">
                <a:solidFill>
                  <a:srgbClr val="D50092"/>
                </a:solidFill>
                <a:latin typeface="黑体"/>
                <a:cs typeface="黑体"/>
              </a:rPr>
              <a:t>低</a:t>
            </a:r>
            <a:r>
              <a:rPr dirty="0" sz="2400">
                <a:solidFill>
                  <a:srgbClr val="D50092"/>
                </a:solidFill>
                <a:latin typeface="Tahoma"/>
                <a:cs typeface="Tahoma"/>
              </a:rPr>
              <a:t>m</a:t>
            </a:r>
            <a:r>
              <a:rPr dirty="0" sz="2400">
                <a:solidFill>
                  <a:srgbClr val="D50092"/>
                </a:solidFill>
                <a:latin typeface="黑体"/>
                <a:cs typeface="黑体"/>
              </a:rPr>
              <a:t>位</a:t>
            </a:r>
            <a:r>
              <a:rPr dirty="0" sz="2400">
                <a:solidFill>
                  <a:srgbClr val="40458B"/>
                </a:solidFill>
                <a:latin typeface="黑体"/>
                <a:cs typeface="黑体"/>
              </a:rPr>
              <a:t>通常称为</a:t>
            </a:r>
            <a:r>
              <a:rPr dirty="0" sz="2400" spc="-20">
                <a:solidFill>
                  <a:srgbClr val="FF0000"/>
                </a:solidFill>
                <a:latin typeface="黑体"/>
                <a:cs typeface="黑体"/>
              </a:rPr>
              <a:t>索引。</a:t>
            </a:r>
            <a:endParaRPr sz="2400">
              <a:latin typeface="黑体"/>
              <a:cs typeface="黑体"/>
            </a:endParaRPr>
          </a:p>
        </p:txBody>
      </p:sp>
      <p:graphicFrame>
        <p:nvGraphicFramePr>
          <p:cNvPr id="13" name="object 13" descr=""/>
          <p:cNvGraphicFramePr>
            <a:graphicFrameLocks noGrp="1"/>
          </p:cNvGraphicFramePr>
          <p:nvPr/>
        </p:nvGraphicFramePr>
        <p:xfrm>
          <a:off x="1909826" y="4873625"/>
          <a:ext cx="4686300" cy="1001394"/>
        </p:xfrm>
        <a:graphic>
          <a:graphicData uri="http://schemas.openxmlformats.org/drawingml/2006/table">
            <a:tbl>
              <a:tblPr firstRow="1" bandRow="1">
                <a:tableStyleId>{2D5ABB26-0587-4C30-8999-92F81FD0307C}</a:tableStyleId>
              </a:tblPr>
              <a:tblGrid>
                <a:gridCol w="3048635"/>
                <a:gridCol w="1542414"/>
              </a:tblGrid>
              <a:tr h="609600">
                <a:tc>
                  <a:txBody>
                    <a:bodyPr/>
                    <a:lstStyle/>
                    <a:p>
                      <a:pPr>
                        <a:lnSpc>
                          <a:spcPct val="100000"/>
                        </a:lnSpc>
                      </a:pPr>
                      <a:endParaRPr sz="2200">
                        <a:latin typeface="Times New Roman"/>
                        <a:cs typeface="Times New Roman"/>
                      </a:endParaRPr>
                    </a:p>
                  </a:txBody>
                  <a:tcPr marL="0" marR="0" marB="0" marT="0">
                    <a:lnL w="19050">
                      <a:solidFill>
                        <a:srgbClr val="B1B1B1"/>
                      </a:solidFill>
                      <a:prstDash val="solid"/>
                    </a:lnL>
                    <a:lnR w="9525">
                      <a:solidFill>
                        <a:srgbClr val="000000"/>
                      </a:solidFill>
                      <a:prstDash val="solid"/>
                    </a:lnR>
                    <a:lnT w="19050">
                      <a:solidFill>
                        <a:srgbClr val="B1B1B1"/>
                      </a:solidFill>
                      <a:prstDash val="solid"/>
                    </a:lnT>
                    <a:lnB w="19050">
                      <a:solidFill>
                        <a:srgbClr val="B1B1B1"/>
                      </a:solidFill>
                      <a:prstDash val="solid"/>
                    </a:lnB>
                    <a:solidFill>
                      <a:srgbClr val="FFFFCC"/>
                    </a:solidFill>
                  </a:tcPr>
                </a:tc>
                <a:tc>
                  <a:txBody>
                    <a:bodyPr/>
                    <a:lstStyle/>
                    <a:p>
                      <a:pPr algn="ctr" marL="59055">
                        <a:lnSpc>
                          <a:spcPct val="100000"/>
                        </a:lnSpc>
                        <a:spcBef>
                          <a:spcPts val="885"/>
                        </a:spcBef>
                      </a:pPr>
                      <a:r>
                        <a:rPr dirty="0" sz="2400" spc="-50" b="1" i="1">
                          <a:solidFill>
                            <a:srgbClr val="D50092"/>
                          </a:solidFill>
                          <a:latin typeface="Times New Roman"/>
                          <a:cs typeface="Times New Roman"/>
                        </a:rPr>
                        <a:t>k</a:t>
                      </a:r>
                      <a:endParaRPr sz="2400">
                        <a:latin typeface="Times New Roman"/>
                        <a:cs typeface="Times New Roman"/>
                      </a:endParaRPr>
                    </a:p>
                  </a:txBody>
                  <a:tcPr marL="0" marR="0" marB="0" marT="112395">
                    <a:lnL w="9525">
                      <a:solidFill>
                        <a:srgbClr val="000000"/>
                      </a:solidFill>
                      <a:prstDash val="solid"/>
                    </a:lnL>
                    <a:lnR w="19050">
                      <a:solidFill>
                        <a:srgbClr val="B1B1B1"/>
                      </a:solidFill>
                      <a:prstDash val="solid"/>
                    </a:lnR>
                    <a:lnT w="19050">
                      <a:solidFill>
                        <a:srgbClr val="B1B1B1"/>
                      </a:solidFill>
                      <a:prstDash val="solid"/>
                    </a:lnT>
                    <a:lnB w="19050">
                      <a:solidFill>
                        <a:srgbClr val="B1B1B1"/>
                      </a:solidFill>
                      <a:prstDash val="solid"/>
                    </a:lnB>
                    <a:solidFill>
                      <a:srgbClr val="FCE994"/>
                    </a:solidFill>
                  </a:tcPr>
                </a:tc>
              </a:tr>
              <a:tr h="391795">
                <a:tc>
                  <a:txBody>
                    <a:bodyPr/>
                    <a:lstStyle/>
                    <a:p>
                      <a:pPr>
                        <a:lnSpc>
                          <a:spcPct val="100000"/>
                        </a:lnSpc>
                      </a:pPr>
                      <a:endParaRPr sz="2200">
                        <a:latin typeface="Times New Roman"/>
                        <a:cs typeface="Times New Roman"/>
                      </a:endParaRPr>
                    </a:p>
                  </a:txBody>
                  <a:tcPr marL="0" marR="0" marB="0" marT="0">
                    <a:lnR w="9525">
                      <a:solidFill>
                        <a:srgbClr val="000000"/>
                      </a:solidFill>
                      <a:prstDash val="solid"/>
                    </a:lnR>
                    <a:lnT w="19050">
                      <a:solidFill>
                        <a:srgbClr val="B1B1B1"/>
                      </a:solidFill>
                      <a:prstDash val="solid"/>
                    </a:lnT>
                  </a:tcPr>
                </a:tc>
                <a:tc>
                  <a:txBody>
                    <a:bodyPr/>
                    <a:lstStyle/>
                    <a:p>
                      <a:pPr algn="ctr" marR="24130">
                        <a:lnSpc>
                          <a:spcPct val="100000"/>
                        </a:lnSpc>
                        <a:spcBef>
                          <a:spcPts val="535"/>
                        </a:spcBef>
                      </a:pPr>
                      <a:r>
                        <a:rPr dirty="0" sz="1800" b="1" i="1">
                          <a:solidFill>
                            <a:srgbClr val="D50092"/>
                          </a:solidFill>
                          <a:latin typeface="Times New Roman"/>
                          <a:cs typeface="Times New Roman"/>
                        </a:rPr>
                        <a:t>g</a:t>
                      </a:r>
                      <a:r>
                        <a:rPr dirty="0" sz="1800" spc="-50" b="1">
                          <a:solidFill>
                            <a:srgbClr val="D50092"/>
                          </a:solidFill>
                          <a:latin typeface="宋体"/>
                          <a:cs typeface="宋体"/>
                        </a:rPr>
                        <a:t>位</a:t>
                      </a:r>
                      <a:endParaRPr sz="1800">
                        <a:latin typeface="宋体"/>
                        <a:cs typeface="宋体"/>
                      </a:endParaRPr>
                    </a:p>
                  </a:txBody>
                  <a:tcPr marL="0" marR="0" marB="0" marT="67945">
                    <a:lnL w="9525">
                      <a:solidFill>
                        <a:srgbClr val="000000"/>
                      </a:solidFill>
                      <a:prstDash val="solid"/>
                    </a:lnL>
                    <a:lnR w="9525">
                      <a:solidFill>
                        <a:srgbClr val="000000"/>
                      </a:solidFill>
                      <a:prstDash val="solid"/>
                    </a:lnR>
                    <a:lnT w="19050">
                      <a:solidFill>
                        <a:srgbClr val="B1B1B1"/>
                      </a:solidFill>
                      <a:prstDash val="solid"/>
                    </a:lnT>
                  </a:tcPr>
                </a:tc>
              </a:tr>
            </a:tbl>
          </a:graphicData>
        </a:graphic>
      </p:graphicFrame>
      <p:sp>
        <p:nvSpPr>
          <p:cNvPr id="14" name="object 14" descr=""/>
          <p:cNvSpPr/>
          <p:nvPr/>
        </p:nvSpPr>
        <p:spPr>
          <a:xfrm>
            <a:off x="6049898" y="5694362"/>
            <a:ext cx="457200" cy="76200"/>
          </a:xfrm>
          <a:custGeom>
            <a:avLst/>
            <a:gdLst/>
            <a:ahLst/>
            <a:cxnLst/>
            <a:rect l="l" t="t" r="r" b="b"/>
            <a:pathLst>
              <a:path w="457200" h="76200">
                <a:moveTo>
                  <a:pt x="406400" y="38100"/>
                </a:moveTo>
                <a:lnTo>
                  <a:pt x="381000" y="76200"/>
                </a:lnTo>
                <a:lnTo>
                  <a:pt x="447675" y="42862"/>
                </a:lnTo>
                <a:lnTo>
                  <a:pt x="406400" y="42862"/>
                </a:lnTo>
                <a:lnTo>
                  <a:pt x="406400" y="38100"/>
                </a:lnTo>
                <a:close/>
              </a:path>
              <a:path w="457200" h="76200">
                <a:moveTo>
                  <a:pt x="403225" y="33337"/>
                </a:moveTo>
                <a:lnTo>
                  <a:pt x="0" y="33337"/>
                </a:lnTo>
                <a:lnTo>
                  <a:pt x="0" y="42862"/>
                </a:lnTo>
                <a:lnTo>
                  <a:pt x="403225" y="42862"/>
                </a:lnTo>
                <a:lnTo>
                  <a:pt x="406400" y="38100"/>
                </a:lnTo>
                <a:lnTo>
                  <a:pt x="403225" y="33337"/>
                </a:lnTo>
                <a:close/>
              </a:path>
              <a:path w="457200" h="76200">
                <a:moveTo>
                  <a:pt x="447675" y="33337"/>
                </a:moveTo>
                <a:lnTo>
                  <a:pt x="406400" y="33337"/>
                </a:lnTo>
                <a:lnTo>
                  <a:pt x="406400" y="42862"/>
                </a:lnTo>
                <a:lnTo>
                  <a:pt x="447675" y="42862"/>
                </a:lnTo>
                <a:lnTo>
                  <a:pt x="457200" y="38100"/>
                </a:lnTo>
                <a:lnTo>
                  <a:pt x="447675" y="33337"/>
                </a:lnTo>
                <a:close/>
              </a:path>
              <a:path w="457200" h="76200">
                <a:moveTo>
                  <a:pt x="381000" y="0"/>
                </a:moveTo>
                <a:lnTo>
                  <a:pt x="406400" y="38100"/>
                </a:lnTo>
                <a:lnTo>
                  <a:pt x="406400" y="33337"/>
                </a:lnTo>
                <a:lnTo>
                  <a:pt x="447675" y="33337"/>
                </a:lnTo>
                <a:lnTo>
                  <a:pt x="381000" y="0"/>
                </a:lnTo>
                <a:close/>
              </a:path>
            </a:pathLst>
          </a:custGeom>
          <a:solidFill>
            <a:srgbClr val="000000"/>
          </a:solidFill>
        </p:spPr>
        <p:txBody>
          <a:bodyPr wrap="square" lIns="0" tIns="0" rIns="0" bIns="0" rtlCol="0"/>
          <a:lstStyle/>
          <a:p/>
        </p:txBody>
      </p:sp>
      <p:sp>
        <p:nvSpPr>
          <p:cNvPr id="15" name="object 15" descr=""/>
          <p:cNvSpPr/>
          <p:nvPr/>
        </p:nvSpPr>
        <p:spPr>
          <a:xfrm>
            <a:off x="4983226" y="5694362"/>
            <a:ext cx="457200" cy="76200"/>
          </a:xfrm>
          <a:custGeom>
            <a:avLst/>
            <a:gdLst/>
            <a:ahLst/>
            <a:cxnLst/>
            <a:rect l="l" t="t" r="r" b="b"/>
            <a:pathLst>
              <a:path w="457200" h="76200">
                <a:moveTo>
                  <a:pt x="76200" y="0"/>
                </a:moveTo>
                <a:lnTo>
                  <a:pt x="0" y="38100"/>
                </a:lnTo>
                <a:lnTo>
                  <a:pt x="76200" y="76200"/>
                </a:lnTo>
                <a:lnTo>
                  <a:pt x="53975" y="42862"/>
                </a:lnTo>
                <a:lnTo>
                  <a:pt x="50800" y="42862"/>
                </a:lnTo>
                <a:lnTo>
                  <a:pt x="50800" y="33337"/>
                </a:lnTo>
                <a:lnTo>
                  <a:pt x="53975" y="33337"/>
                </a:lnTo>
                <a:lnTo>
                  <a:pt x="76200" y="0"/>
                </a:lnTo>
                <a:close/>
              </a:path>
              <a:path w="457200" h="76200">
                <a:moveTo>
                  <a:pt x="50800" y="38100"/>
                </a:moveTo>
                <a:lnTo>
                  <a:pt x="50800" y="42862"/>
                </a:lnTo>
                <a:lnTo>
                  <a:pt x="53975" y="42862"/>
                </a:lnTo>
                <a:lnTo>
                  <a:pt x="50800" y="38100"/>
                </a:lnTo>
                <a:close/>
              </a:path>
              <a:path w="457200" h="76200">
                <a:moveTo>
                  <a:pt x="457200" y="33337"/>
                </a:moveTo>
                <a:lnTo>
                  <a:pt x="53975" y="33337"/>
                </a:lnTo>
                <a:lnTo>
                  <a:pt x="50800" y="38100"/>
                </a:lnTo>
                <a:lnTo>
                  <a:pt x="53975" y="42862"/>
                </a:lnTo>
                <a:lnTo>
                  <a:pt x="457200" y="42862"/>
                </a:lnTo>
                <a:lnTo>
                  <a:pt x="457200" y="33337"/>
                </a:lnTo>
                <a:close/>
              </a:path>
              <a:path w="457200" h="76200">
                <a:moveTo>
                  <a:pt x="53975" y="33337"/>
                </a:moveTo>
                <a:lnTo>
                  <a:pt x="50800" y="33337"/>
                </a:lnTo>
                <a:lnTo>
                  <a:pt x="50800" y="38100"/>
                </a:lnTo>
                <a:lnTo>
                  <a:pt x="53975" y="33337"/>
                </a:lnTo>
                <a:close/>
              </a:path>
            </a:pathLst>
          </a:custGeom>
          <a:solidFill>
            <a:srgbClr val="000000"/>
          </a:solidFill>
        </p:spPr>
        <p:txBody>
          <a:bodyPr wrap="square" lIns="0" tIns="0" rIns="0" bIns="0" rtlCol="0"/>
          <a:lstStyl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79628" y="809238"/>
            <a:ext cx="11151870" cy="1631314"/>
          </a:xfrm>
          <a:prstGeom prst="rect">
            <a:avLst/>
          </a:prstGeom>
        </p:spPr>
        <p:txBody>
          <a:bodyPr wrap="square" lIns="0" tIns="69850" rIns="0" bIns="0" rtlCol="0" vert="horz">
            <a:spAutoFit/>
          </a:bodyPr>
          <a:lstStyle/>
          <a:p>
            <a:pPr marL="469265" indent="-456565">
              <a:lnSpc>
                <a:spcPct val="100000"/>
              </a:lnSpc>
              <a:spcBef>
                <a:spcPts val="550"/>
              </a:spcBef>
              <a:buClr>
                <a:srgbClr val="40458B"/>
              </a:buClr>
              <a:buSzPct val="86000"/>
              <a:buFont typeface="Wingdings"/>
              <a:buChar char=""/>
              <a:tabLst>
                <a:tab pos="469265" algn="l"/>
              </a:tabLst>
            </a:pPr>
            <a:r>
              <a:rPr dirty="0" sz="2500" i="1">
                <a:solidFill>
                  <a:srgbClr val="FF0000"/>
                </a:solidFill>
                <a:latin typeface="黑体"/>
                <a:cs typeface="黑体"/>
              </a:rPr>
              <a:t>n</a:t>
            </a:r>
            <a:r>
              <a:rPr dirty="0" sz="2500" spc="-150" i="1">
                <a:solidFill>
                  <a:srgbClr val="FF0000"/>
                </a:solidFill>
                <a:latin typeface="黑体"/>
                <a:cs typeface="黑体"/>
              </a:rPr>
              <a:t> </a:t>
            </a:r>
            <a:r>
              <a:rPr dirty="0" sz="2400">
                <a:solidFill>
                  <a:srgbClr val="FF0000"/>
                </a:solidFill>
                <a:latin typeface="黑体"/>
                <a:cs typeface="黑体"/>
              </a:rPr>
              <a:t>路组相联：</a:t>
            </a:r>
            <a:r>
              <a:rPr dirty="0" sz="2400">
                <a:solidFill>
                  <a:srgbClr val="40458B"/>
                </a:solidFill>
                <a:latin typeface="黑体"/>
                <a:cs typeface="黑体"/>
              </a:rPr>
              <a:t>每组中有</a:t>
            </a:r>
            <a:r>
              <a:rPr dirty="0" sz="2400">
                <a:solidFill>
                  <a:srgbClr val="9933FF"/>
                </a:solidFill>
                <a:latin typeface="黑体"/>
                <a:cs typeface="黑体"/>
              </a:rPr>
              <a:t>n</a:t>
            </a:r>
            <a:r>
              <a:rPr dirty="0" sz="2400">
                <a:solidFill>
                  <a:srgbClr val="40458B"/>
                </a:solidFill>
                <a:latin typeface="黑体"/>
                <a:cs typeface="黑体"/>
              </a:rPr>
              <a:t>个块(</a:t>
            </a:r>
            <a:r>
              <a:rPr dirty="0" sz="2500" i="1">
                <a:solidFill>
                  <a:srgbClr val="40458B"/>
                </a:solidFill>
                <a:latin typeface="黑体"/>
                <a:cs typeface="黑体"/>
              </a:rPr>
              <a:t>n</a:t>
            </a:r>
            <a:r>
              <a:rPr dirty="0" sz="2400">
                <a:solidFill>
                  <a:srgbClr val="40458B"/>
                </a:solidFill>
                <a:latin typeface="黑体"/>
                <a:cs typeface="黑体"/>
              </a:rPr>
              <a:t>＝</a:t>
            </a:r>
            <a:r>
              <a:rPr dirty="0" sz="2500" i="1">
                <a:solidFill>
                  <a:srgbClr val="40458B"/>
                </a:solidFill>
                <a:latin typeface="黑体"/>
                <a:cs typeface="黑体"/>
              </a:rPr>
              <a:t>M</a:t>
            </a:r>
            <a:r>
              <a:rPr dirty="0" sz="2400">
                <a:solidFill>
                  <a:srgbClr val="40458B"/>
                </a:solidFill>
                <a:latin typeface="黑体"/>
                <a:cs typeface="黑体"/>
              </a:rPr>
              <a:t>/</a:t>
            </a:r>
            <a:r>
              <a:rPr dirty="0" sz="2500" i="1">
                <a:solidFill>
                  <a:srgbClr val="40458B"/>
                </a:solidFill>
                <a:latin typeface="黑体"/>
                <a:cs typeface="黑体"/>
              </a:rPr>
              <a:t>G</a:t>
            </a:r>
            <a:r>
              <a:rPr dirty="0" sz="2500" spc="-150" i="1">
                <a:solidFill>
                  <a:srgbClr val="40458B"/>
                </a:solidFill>
                <a:latin typeface="黑体"/>
                <a:cs typeface="黑体"/>
              </a:rPr>
              <a:t> </a:t>
            </a:r>
            <a:r>
              <a:rPr dirty="0" sz="2400">
                <a:solidFill>
                  <a:srgbClr val="40458B"/>
                </a:solidFill>
                <a:latin typeface="黑体"/>
                <a:cs typeface="黑体"/>
              </a:rPr>
              <a:t>)。（</a:t>
            </a:r>
            <a:r>
              <a:rPr dirty="0" sz="2400">
                <a:solidFill>
                  <a:srgbClr val="FF0000"/>
                </a:solidFill>
                <a:latin typeface="宋体"/>
                <a:cs typeface="宋体"/>
              </a:rPr>
              <a:t>M</a:t>
            </a:r>
            <a:r>
              <a:rPr dirty="0" sz="2400">
                <a:solidFill>
                  <a:srgbClr val="40458B"/>
                </a:solidFill>
                <a:latin typeface="黑体"/>
                <a:cs typeface="黑体"/>
              </a:rPr>
              <a:t>为</a:t>
            </a:r>
            <a:r>
              <a:rPr dirty="0" sz="2400">
                <a:solidFill>
                  <a:srgbClr val="40458B"/>
                </a:solidFill>
                <a:latin typeface="宋体"/>
                <a:cs typeface="宋体"/>
              </a:rPr>
              <a:t>Cache</a:t>
            </a:r>
            <a:r>
              <a:rPr dirty="0" sz="2400" spc="-10">
                <a:solidFill>
                  <a:srgbClr val="40458B"/>
                </a:solidFill>
                <a:latin typeface="黑体"/>
                <a:cs typeface="黑体"/>
              </a:rPr>
              <a:t>的块数，</a:t>
            </a:r>
            <a:r>
              <a:rPr dirty="0" sz="2500" spc="-25" i="1">
                <a:solidFill>
                  <a:srgbClr val="FF0000"/>
                </a:solidFill>
                <a:latin typeface="宋体"/>
                <a:cs typeface="宋体"/>
              </a:rPr>
              <a:t>G</a:t>
            </a:r>
            <a:r>
              <a:rPr dirty="0" sz="2400">
                <a:solidFill>
                  <a:srgbClr val="40458B"/>
                </a:solidFill>
                <a:latin typeface="黑体"/>
                <a:cs typeface="黑体"/>
              </a:rPr>
              <a:t>为</a:t>
            </a:r>
            <a:r>
              <a:rPr dirty="0" sz="2400">
                <a:solidFill>
                  <a:srgbClr val="40458B"/>
                </a:solidFill>
                <a:latin typeface="宋体"/>
                <a:cs typeface="宋体"/>
              </a:rPr>
              <a:t>Cache</a:t>
            </a:r>
            <a:r>
              <a:rPr dirty="0" sz="2400">
                <a:solidFill>
                  <a:srgbClr val="40458B"/>
                </a:solidFill>
                <a:latin typeface="黑体"/>
                <a:cs typeface="黑体"/>
              </a:rPr>
              <a:t>的组数</a:t>
            </a:r>
            <a:r>
              <a:rPr dirty="0" sz="2400" spc="-50">
                <a:solidFill>
                  <a:srgbClr val="40458B"/>
                </a:solidFill>
                <a:latin typeface="黑体"/>
                <a:cs typeface="黑体"/>
              </a:rPr>
              <a:t>）</a:t>
            </a:r>
            <a:endParaRPr sz="2400">
              <a:latin typeface="黑体"/>
              <a:cs typeface="黑体"/>
            </a:endParaRPr>
          </a:p>
          <a:p>
            <a:pPr marL="1231265">
              <a:lnSpc>
                <a:spcPct val="100000"/>
              </a:lnSpc>
              <a:spcBef>
                <a:spcPts val="455"/>
              </a:spcBef>
            </a:pPr>
            <a:r>
              <a:rPr dirty="0" sz="2500" i="1">
                <a:solidFill>
                  <a:srgbClr val="40458B"/>
                </a:solidFill>
                <a:latin typeface="黑体"/>
                <a:cs typeface="黑体"/>
              </a:rPr>
              <a:t>n</a:t>
            </a:r>
            <a:r>
              <a:rPr dirty="0" sz="2500" spc="-100" i="1">
                <a:solidFill>
                  <a:srgbClr val="40458B"/>
                </a:solidFill>
                <a:latin typeface="黑体"/>
                <a:cs typeface="黑体"/>
              </a:rPr>
              <a:t> </a:t>
            </a:r>
            <a:r>
              <a:rPr dirty="0" sz="2400">
                <a:solidFill>
                  <a:srgbClr val="40458B"/>
                </a:solidFill>
                <a:latin typeface="黑体"/>
                <a:cs typeface="黑体"/>
              </a:rPr>
              <a:t>称为</a:t>
            </a:r>
            <a:r>
              <a:rPr dirty="0" sz="2400" spc="-15">
                <a:solidFill>
                  <a:srgbClr val="FF0000"/>
                </a:solidFill>
                <a:latin typeface="黑体"/>
                <a:cs typeface="黑体"/>
              </a:rPr>
              <a:t>相联度。</a:t>
            </a:r>
            <a:endParaRPr sz="2400">
              <a:latin typeface="黑体"/>
              <a:cs typeface="黑体"/>
            </a:endParaRPr>
          </a:p>
          <a:p>
            <a:pPr marL="1150620">
              <a:lnSpc>
                <a:spcPct val="100000"/>
              </a:lnSpc>
              <a:spcBef>
                <a:spcPts val="450"/>
              </a:spcBef>
            </a:pPr>
            <a:r>
              <a:rPr dirty="0" sz="2000" spc="-15" b="1">
                <a:solidFill>
                  <a:srgbClr val="00AFEF"/>
                </a:solidFill>
                <a:latin typeface="宋体"/>
                <a:cs typeface="宋体"/>
              </a:rPr>
              <a:t>相联度越高，</a:t>
            </a:r>
            <a:r>
              <a:rPr dirty="0" sz="2000" spc="-10" b="1">
                <a:solidFill>
                  <a:srgbClr val="00AFEF"/>
                </a:solidFill>
                <a:latin typeface="宋体"/>
                <a:cs typeface="宋体"/>
              </a:rPr>
              <a:t>Cache</a:t>
            </a:r>
            <a:r>
              <a:rPr dirty="0" sz="2000" spc="-25" b="1">
                <a:solidFill>
                  <a:srgbClr val="00AFEF"/>
                </a:solidFill>
                <a:latin typeface="宋体"/>
                <a:cs typeface="宋体"/>
              </a:rPr>
              <a:t>空间的利用率就越高，块冲突</a:t>
            </a:r>
            <a:endParaRPr sz="2000">
              <a:latin typeface="宋体"/>
              <a:cs typeface="宋体"/>
            </a:endParaRPr>
          </a:p>
          <a:p>
            <a:pPr marL="640080">
              <a:lnSpc>
                <a:spcPct val="100000"/>
              </a:lnSpc>
              <a:spcBef>
                <a:spcPts val="484"/>
              </a:spcBef>
            </a:pPr>
            <a:r>
              <a:rPr dirty="0" sz="2000" spc="-20" b="1">
                <a:solidFill>
                  <a:srgbClr val="00AFEF"/>
                </a:solidFill>
                <a:latin typeface="宋体"/>
                <a:cs typeface="宋体"/>
              </a:rPr>
              <a:t>概率就越低，不命中率也就越低。</a:t>
            </a:r>
            <a:endParaRPr sz="2000">
              <a:latin typeface="宋体"/>
              <a:cs typeface="宋体"/>
            </a:endParaRPr>
          </a:p>
        </p:txBody>
      </p:sp>
      <p:sp>
        <p:nvSpPr>
          <p:cNvPr id="10" name="object 10" descr=""/>
          <p:cNvSpPr txBox="1"/>
          <p:nvPr/>
        </p:nvSpPr>
        <p:spPr>
          <a:xfrm>
            <a:off x="179628" y="4972104"/>
            <a:ext cx="4751070" cy="826135"/>
          </a:xfrm>
          <a:prstGeom prst="rect">
            <a:avLst/>
          </a:prstGeom>
        </p:spPr>
        <p:txBody>
          <a:bodyPr wrap="square" lIns="0" tIns="77470" rIns="0" bIns="0" rtlCol="0" vert="horz">
            <a:spAutoFit/>
          </a:bodyPr>
          <a:lstStyle/>
          <a:p>
            <a:pPr marL="469265" indent="-456565">
              <a:lnSpc>
                <a:spcPct val="100000"/>
              </a:lnSpc>
              <a:spcBef>
                <a:spcPts val="610"/>
              </a:spcBef>
              <a:buSzPct val="89583"/>
              <a:buFont typeface="Wingdings"/>
              <a:buChar char=""/>
              <a:tabLst>
                <a:tab pos="469265" algn="l"/>
                <a:tab pos="3975100" algn="l"/>
              </a:tabLst>
            </a:pPr>
            <a:r>
              <a:rPr dirty="0" sz="2400">
                <a:solidFill>
                  <a:srgbClr val="40458B"/>
                </a:solidFill>
                <a:latin typeface="黑体"/>
                <a:cs typeface="黑体"/>
              </a:rPr>
              <a:t>绝大多数计算机的</a:t>
            </a:r>
            <a:r>
              <a:rPr dirty="0" sz="2400" spc="-10">
                <a:solidFill>
                  <a:srgbClr val="40458B"/>
                </a:solidFill>
                <a:latin typeface="黑体"/>
                <a:cs typeface="黑体"/>
              </a:rPr>
              <a:t>Cache:</a:t>
            </a:r>
            <a:r>
              <a:rPr dirty="0" sz="2400">
                <a:solidFill>
                  <a:srgbClr val="40458B"/>
                </a:solidFill>
                <a:latin typeface="黑体"/>
                <a:cs typeface="黑体"/>
              </a:rPr>
              <a:t>	</a:t>
            </a:r>
            <a:r>
              <a:rPr dirty="0" sz="2500" i="1">
                <a:solidFill>
                  <a:srgbClr val="D50092"/>
                </a:solidFill>
                <a:latin typeface="黑体"/>
                <a:cs typeface="黑体"/>
              </a:rPr>
              <a:t>n</a:t>
            </a:r>
            <a:r>
              <a:rPr dirty="0" sz="2500" spc="-100" i="1">
                <a:solidFill>
                  <a:srgbClr val="D50092"/>
                </a:solidFill>
                <a:latin typeface="黑体"/>
                <a:cs typeface="黑体"/>
              </a:rPr>
              <a:t> </a:t>
            </a:r>
            <a:r>
              <a:rPr dirty="0" sz="2400" spc="-25">
                <a:solidFill>
                  <a:srgbClr val="D50092"/>
                </a:solidFill>
                <a:latin typeface="黑体"/>
                <a:cs typeface="黑体"/>
              </a:rPr>
              <a:t>≤4</a:t>
            </a:r>
            <a:endParaRPr sz="2400">
              <a:latin typeface="黑体"/>
              <a:cs typeface="黑体"/>
            </a:endParaRPr>
          </a:p>
          <a:p>
            <a:pPr algn="ctr" marL="372110">
              <a:lnSpc>
                <a:spcPct val="100000"/>
              </a:lnSpc>
              <a:spcBef>
                <a:spcPts val="390"/>
              </a:spcBef>
            </a:pPr>
            <a:r>
              <a:rPr dirty="0" sz="2000" spc="-10" b="1">
                <a:solidFill>
                  <a:srgbClr val="D50092"/>
                </a:solidFill>
                <a:latin typeface="宋体"/>
                <a:cs typeface="宋体"/>
              </a:rPr>
              <a:t>想一想：</a:t>
            </a:r>
            <a:r>
              <a:rPr dirty="0" sz="2000" spc="-20" b="1">
                <a:solidFill>
                  <a:srgbClr val="00AFEF"/>
                </a:solidFill>
                <a:latin typeface="宋体"/>
                <a:cs typeface="宋体"/>
              </a:rPr>
              <a:t>相联度一定是越大越好？</a:t>
            </a:r>
            <a:endParaRPr sz="2000">
              <a:latin typeface="宋体"/>
              <a:cs typeface="宋体"/>
            </a:endParaRPr>
          </a:p>
        </p:txBody>
      </p:sp>
      <p:sp>
        <p:nvSpPr>
          <p:cNvPr id="11" name="object 11" descr=""/>
          <p:cNvSpPr/>
          <p:nvPr/>
        </p:nvSpPr>
        <p:spPr>
          <a:xfrm>
            <a:off x="2851150" y="2963798"/>
            <a:ext cx="6629400" cy="1885950"/>
          </a:xfrm>
          <a:custGeom>
            <a:avLst/>
            <a:gdLst/>
            <a:ahLst/>
            <a:cxnLst/>
            <a:rect l="l" t="t" r="r" b="b"/>
            <a:pathLst>
              <a:path w="6629400" h="1885950">
                <a:moveTo>
                  <a:pt x="6629400" y="0"/>
                </a:moveTo>
                <a:lnTo>
                  <a:pt x="0" y="0"/>
                </a:lnTo>
                <a:lnTo>
                  <a:pt x="0" y="1885950"/>
                </a:lnTo>
                <a:lnTo>
                  <a:pt x="6629400" y="1885950"/>
                </a:lnTo>
                <a:lnTo>
                  <a:pt x="6629400" y="0"/>
                </a:lnTo>
                <a:close/>
              </a:path>
            </a:pathLst>
          </a:custGeom>
          <a:solidFill>
            <a:srgbClr val="FDF3C2"/>
          </a:solidFill>
        </p:spPr>
        <p:txBody>
          <a:bodyPr wrap="square" lIns="0" tIns="0" rIns="0" bIns="0" rtlCol="0"/>
          <a:lstStyle/>
          <a:p/>
        </p:txBody>
      </p:sp>
      <p:graphicFrame>
        <p:nvGraphicFramePr>
          <p:cNvPr id="12" name="object 12" descr=""/>
          <p:cNvGraphicFramePr>
            <a:graphicFrameLocks noGrp="1"/>
          </p:cNvGraphicFramePr>
          <p:nvPr/>
        </p:nvGraphicFramePr>
        <p:xfrm>
          <a:off x="2851150" y="2959163"/>
          <a:ext cx="6705600" cy="1885950"/>
        </p:xfrm>
        <a:graphic>
          <a:graphicData uri="http://schemas.openxmlformats.org/drawingml/2006/table">
            <a:tbl>
              <a:tblPr firstRow="1" bandRow="1">
                <a:tableStyleId>{2D5ABB26-0587-4C30-8999-92F81FD0307C}</a:tableStyleId>
              </a:tblPr>
              <a:tblGrid>
                <a:gridCol w="2089150"/>
                <a:gridCol w="2178050"/>
                <a:gridCol w="2209800"/>
                <a:gridCol w="152400"/>
              </a:tblGrid>
              <a:tr h="514350">
                <a:tc>
                  <a:txBody>
                    <a:bodyPr/>
                    <a:lstStyle/>
                    <a:p>
                      <a:pPr>
                        <a:lnSpc>
                          <a:spcPct val="100000"/>
                        </a:lnSpc>
                      </a:pPr>
                      <a:endParaRPr sz="2200">
                        <a:latin typeface="Times New Roman"/>
                        <a:cs typeface="Times New Roman"/>
                      </a:endParaRPr>
                    </a:p>
                  </a:txBody>
                  <a:tcPr marL="0" marR="0" marB="0" marT="0">
                    <a:lnR w="9525">
                      <a:solidFill>
                        <a:srgbClr val="40458B"/>
                      </a:solidFill>
                      <a:prstDash val="solid"/>
                    </a:lnR>
                    <a:lnB w="9525">
                      <a:solidFill>
                        <a:srgbClr val="40458B"/>
                      </a:solidFill>
                      <a:prstDash val="solid"/>
                    </a:lnB>
                    <a:solidFill>
                      <a:srgbClr val="FDF3C2"/>
                    </a:solidFill>
                  </a:tcPr>
                </a:tc>
                <a:tc>
                  <a:txBody>
                    <a:bodyPr/>
                    <a:lstStyle/>
                    <a:p>
                      <a:pPr marL="384175">
                        <a:lnSpc>
                          <a:spcPct val="100000"/>
                        </a:lnSpc>
                        <a:spcBef>
                          <a:spcPts val="780"/>
                        </a:spcBef>
                      </a:pPr>
                      <a:r>
                        <a:rPr dirty="0" sz="2100" b="1" i="1">
                          <a:solidFill>
                            <a:srgbClr val="E14B04"/>
                          </a:solidFill>
                          <a:latin typeface="宋体"/>
                          <a:cs typeface="宋体"/>
                        </a:rPr>
                        <a:t>n</a:t>
                      </a:r>
                      <a:r>
                        <a:rPr dirty="0" sz="2100" spc="-95" b="1" i="1">
                          <a:solidFill>
                            <a:srgbClr val="E14B04"/>
                          </a:solidFill>
                          <a:latin typeface="宋体"/>
                          <a:cs typeface="宋体"/>
                        </a:rPr>
                        <a:t> </a:t>
                      </a:r>
                      <a:r>
                        <a:rPr dirty="0" sz="2000" spc="-20" b="1">
                          <a:solidFill>
                            <a:srgbClr val="E14B04"/>
                          </a:solidFill>
                          <a:latin typeface="宋体"/>
                          <a:cs typeface="宋体"/>
                        </a:rPr>
                        <a:t>(路数)</a:t>
                      </a:r>
                      <a:endParaRPr sz="2000">
                        <a:latin typeface="宋体"/>
                        <a:cs typeface="宋体"/>
                      </a:endParaRPr>
                    </a:p>
                  </a:txBody>
                  <a:tcPr marL="0" marR="0" marB="0" marT="99060">
                    <a:lnL w="9525">
                      <a:solidFill>
                        <a:srgbClr val="40458B"/>
                      </a:solidFill>
                      <a:prstDash val="solid"/>
                    </a:lnL>
                    <a:lnR w="9525">
                      <a:solidFill>
                        <a:srgbClr val="40458B"/>
                      </a:solidFill>
                      <a:prstDash val="solid"/>
                    </a:lnR>
                    <a:lnB w="9525">
                      <a:solidFill>
                        <a:srgbClr val="40458B"/>
                      </a:solidFill>
                      <a:prstDash val="solid"/>
                    </a:lnB>
                    <a:solidFill>
                      <a:srgbClr val="FDF3C2"/>
                    </a:solidFill>
                  </a:tcPr>
                </a:tc>
                <a:tc gridSpan="2">
                  <a:txBody>
                    <a:bodyPr/>
                    <a:lstStyle/>
                    <a:p>
                      <a:pPr marL="720725">
                        <a:lnSpc>
                          <a:spcPct val="100000"/>
                        </a:lnSpc>
                        <a:spcBef>
                          <a:spcPts val="780"/>
                        </a:spcBef>
                      </a:pPr>
                      <a:r>
                        <a:rPr dirty="0" sz="2100" b="1" i="1">
                          <a:solidFill>
                            <a:srgbClr val="E14B04"/>
                          </a:solidFill>
                          <a:latin typeface="宋体"/>
                          <a:cs typeface="宋体"/>
                        </a:rPr>
                        <a:t>G</a:t>
                      </a:r>
                      <a:r>
                        <a:rPr dirty="0" sz="2100" spc="-95" b="1" i="1">
                          <a:solidFill>
                            <a:srgbClr val="E14B04"/>
                          </a:solidFill>
                          <a:latin typeface="宋体"/>
                          <a:cs typeface="宋体"/>
                        </a:rPr>
                        <a:t> </a:t>
                      </a:r>
                      <a:r>
                        <a:rPr dirty="0" sz="2000" spc="-20" b="1">
                          <a:solidFill>
                            <a:srgbClr val="E14B04"/>
                          </a:solidFill>
                          <a:latin typeface="宋体"/>
                          <a:cs typeface="宋体"/>
                        </a:rPr>
                        <a:t>(组数)</a:t>
                      </a:r>
                      <a:endParaRPr sz="2000">
                        <a:latin typeface="宋体"/>
                        <a:cs typeface="宋体"/>
                      </a:endParaRPr>
                    </a:p>
                  </a:txBody>
                  <a:tcPr marL="0" marR="0" marB="0" marT="99060">
                    <a:lnL w="9525">
                      <a:solidFill>
                        <a:srgbClr val="40458B"/>
                      </a:solidFill>
                      <a:prstDash val="solid"/>
                    </a:lnL>
                    <a:lnB w="9525">
                      <a:solidFill>
                        <a:srgbClr val="40458B"/>
                      </a:solidFill>
                      <a:prstDash val="solid"/>
                    </a:lnB>
                    <a:solidFill>
                      <a:srgbClr val="FDF3C2"/>
                    </a:solidFill>
                  </a:tcPr>
                </a:tc>
                <a:tc hMerge="1">
                  <a:txBody>
                    <a:bodyPr/>
                    <a:lstStyle/>
                    <a:p>
                      <a:pPr/>
                    </a:p>
                  </a:txBody>
                  <a:tcPr marL="0" marR="0" marB="0" marT="0"/>
                </a:tc>
              </a:tr>
              <a:tr h="457200">
                <a:tc>
                  <a:txBody>
                    <a:bodyPr/>
                    <a:lstStyle/>
                    <a:p>
                      <a:pPr algn="ctr" marR="214629">
                        <a:lnSpc>
                          <a:spcPct val="100000"/>
                        </a:lnSpc>
                        <a:spcBef>
                          <a:spcPts val="320"/>
                        </a:spcBef>
                      </a:pPr>
                      <a:r>
                        <a:rPr dirty="0" sz="2000" spc="-25" b="1">
                          <a:solidFill>
                            <a:srgbClr val="008000"/>
                          </a:solidFill>
                          <a:latin typeface="宋体"/>
                          <a:cs typeface="宋体"/>
                        </a:rPr>
                        <a:t>全相联</a:t>
                      </a:r>
                      <a:endParaRPr sz="2000">
                        <a:latin typeface="宋体"/>
                        <a:cs typeface="宋体"/>
                      </a:endParaRPr>
                    </a:p>
                  </a:txBody>
                  <a:tcPr marL="0" marR="0" marB="0" marT="40640">
                    <a:lnR w="9525">
                      <a:solidFill>
                        <a:srgbClr val="40458B"/>
                      </a:solidFill>
                      <a:prstDash val="solid"/>
                    </a:lnR>
                    <a:lnT w="9525">
                      <a:solidFill>
                        <a:srgbClr val="40458B"/>
                      </a:solidFill>
                      <a:prstDash val="solid"/>
                    </a:lnT>
                    <a:lnB w="9525">
                      <a:solidFill>
                        <a:srgbClr val="40458B"/>
                      </a:solidFill>
                      <a:prstDash val="solid"/>
                    </a:lnB>
                    <a:solidFill>
                      <a:srgbClr val="FDF3C2"/>
                    </a:solidFill>
                  </a:tcPr>
                </a:tc>
                <a:tc>
                  <a:txBody>
                    <a:bodyPr/>
                    <a:lstStyle/>
                    <a:p>
                      <a:pPr algn="ctr" marL="85090">
                        <a:lnSpc>
                          <a:spcPct val="100000"/>
                        </a:lnSpc>
                        <a:spcBef>
                          <a:spcPts val="180"/>
                        </a:spcBef>
                      </a:pPr>
                      <a:r>
                        <a:rPr dirty="0" sz="2500" spc="-50" b="1" i="1">
                          <a:solidFill>
                            <a:srgbClr val="40458B"/>
                          </a:solidFill>
                          <a:latin typeface="微软雅黑"/>
                          <a:cs typeface="微软雅黑"/>
                        </a:rPr>
                        <a:t>M</a:t>
                      </a:r>
                      <a:endParaRPr sz="2500">
                        <a:latin typeface="微软雅黑"/>
                        <a:cs typeface="微软雅黑"/>
                      </a:endParaRPr>
                    </a:p>
                  </a:txBody>
                  <a:tcPr marL="0" marR="0" marB="0" marT="228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DF3C2"/>
                    </a:solidFill>
                  </a:tcPr>
                </a:tc>
                <a:tc gridSpan="2">
                  <a:txBody>
                    <a:bodyPr/>
                    <a:lstStyle/>
                    <a:p>
                      <a:pPr algn="ctr" marR="76200">
                        <a:lnSpc>
                          <a:spcPct val="100000"/>
                        </a:lnSpc>
                        <a:spcBef>
                          <a:spcPts val="270"/>
                        </a:spcBef>
                      </a:pPr>
                      <a:r>
                        <a:rPr dirty="0" sz="2400" spc="-50" b="1">
                          <a:solidFill>
                            <a:srgbClr val="40458B"/>
                          </a:solidFill>
                          <a:latin typeface="微软雅黑"/>
                          <a:cs typeface="微软雅黑"/>
                        </a:rPr>
                        <a:t>1</a:t>
                      </a:r>
                      <a:endParaRPr sz="2400">
                        <a:latin typeface="微软雅黑"/>
                        <a:cs typeface="微软雅黑"/>
                      </a:endParaRPr>
                    </a:p>
                  </a:txBody>
                  <a:tcPr marL="0" marR="0" marB="0" marT="34290">
                    <a:lnL w="9525">
                      <a:solidFill>
                        <a:srgbClr val="40458B"/>
                      </a:solidFill>
                      <a:prstDash val="solid"/>
                    </a:lnL>
                    <a:lnT w="9525">
                      <a:solidFill>
                        <a:srgbClr val="40458B"/>
                      </a:solidFill>
                      <a:prstDash val="solid"/>
                    </a:lnT>
                    <a:lnB w="9525">
                      <a:solidFill>
                        <a:srgbClr val="40458B"/>
                      </a:solidFill>
                      <a:prstDash val="solid"/>
                    </a:lnB>
                    <a:solidFill>
                      <a:srgbClr val="FDF3C2"/>
                    </a:solidFill>
                  </a:tcPr>
                </a:tc>
                <a:tc hMerge="1">
                  <a:txBody>
                    <a:bodyPr/>
                    <a:lstStyle/>
                    <a:p>
                      <a:pPr/>
                    </a:p>
                  </a:txBody>
                  <a:tcPr marL="0" marR="0" marB="0" marT="0"/>
                </a:tc>
              </a:tr>
              <a:tr h="457200">
                <a:tc>
                  <a:txBody>
                    <a:bodyPr/>
                    <a:lstStyle/>
                    <a:p>
                      <a:pPr algn="ctr" marR="262890">
                        <a:lnSpc>
                          <a:spcPct val="100000"/>
                        </a:lnSpc>
                        <a:spcBef>
                          <a:spcPts val="320"/>
                        </a:spcBef>
                      </a:pPr>
                      <a:r>
                        <a:rPr dirty="0" sz="2000" spc="-20" b="1">
                          <a:solidFill>
                            <a:srgbClr val="008000"/>
                          </a:solidFill>
                          <a:latin typeface="宋体"/>
                          <a:cs typeface="宋体"/>
                        </a:rPr>
                        <a:t>直接映象</a:t>
                      </a:r>
                      <a:endParaRPr sz="2000">
                        <a:latin typeface="宋体"/>
                        <a:cs typeface="宋体"/>
                      </a:endParaRPr>
                    </a:p>
                  </a:txBody>
                  <a:tcPr marL="0" marR="0" marB="0" marT="40640">
                    <a:lnR w="9525">
                      <a:solidFill>
                        <a:srgbClr val="40458B"/>
                      </a:solidFill>
                      <a:prstDash val="solid"/>
                    </a:lnR>
                    <a:lnT w="9525">
                      <a:solidFill>
                        <a:srgbClr val="40458B"/>
                      </a:solidFill>
                      <a:prstDash val="solid"/>
                    </a:lnT>
                    <a:lnB w="9525">
                      <a:solidFill>
                        <a:srgbClr val="40458B"/>
                      </a:solidFill>
                      <a:prstDash val="solid"/>
                    </a:lnB>
                    <a:solidFill>
                      <a:srgbClr val="FDF3C2"/>
                    </a:solidFill>
                  </a:tcPr>
                </a:tc>
                <a:tc>
                  <a:txBody>
                    <a:bodyPr/>
                    <a:lstStyle/>
                    <a:p>
                      <a:pPr algn="ctr" marL="73660">
                        <a:lnSpc>
                          <a:spcPct val="100000"/>
                        </a:lnSpc>
                        <a:spcBef>
                          <a:spcPts val="284"/>
                        </a:spcBef>
                      </a:pPr>
                      <a:r>
                        <a:rPr dirty="0" sz="2400" spc="-50" b="1">
                          <a:solidFill>
                            <a:srgbClr val="40458B"/>
                          </a:solidFill>
                          <a:latin typeface="微软雅黑"/>
                          <a:cs typeface="微软雅黑"/>
                        </a:rPr>
                        <a:t>1</a:t>
                      </a:r>
                      <a:endParaRPr sz="2400">
                        <a:latin typeface="微软雅黑"/>
                        <a:cs typeface="微软雅黑"/>
                      </a:endParaRPr>
                    </a:p>
                  </a:txBody>
                  <a:tcPr marL="0" marR="0" marB="0" marT="3619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DF3C2"/>
                    </a:solidFill>
                  </a:tcPr>
                </a:tc>
                <a:tc gridSpan="2">
                  <a:txBody>
                    <a:bodyPr/>
                    <a:lstStyle/>
                    <a:p>
                      <a:pPr algn="ctr" marR="27305">
                        <a:lnSpc>
                          <a:spcPct val="100000"/>
                        </a:lnSpc>
                        <a:spcBef>
                          <a:spcPts val="30"/>
                        </a:spcBef>
                      </a:pPr>
                      <a:r>
                        <a:rPr dirty="0" sz="2500" spc="-50" b="1" i="1">
                          <a:solidFill>
                            <a:srgbClr val="40458B"/>
                          </a:solidFill>
                          <a:latin typeface="微软雅黑"/>
                          <a:cs typeface="微软雅黑"/>
                        </a:rPr>
                        <a:t>M</a:t>
                      </a:r>
                      <a:endParaRPr sz="2500">
                        <a:latin typeface="微软雅黑"/>
                        <a:cs typeface="微软雅黑"/>
                      </a:endParaRPr>
                    </a:p>
                  </a:txBody>
                  <a:tcPr marL="0" marR="0" marB="0" marT="3810">
                    <a:lnL w="9525">
                      <a:solidFill>
                        <a:srgbClr val="40458B"/>
                      </a:solidFill>
                      <a:prstDash val="solid"/>
                    </a:lnL>
                    <a:lnT w="9525">
                      <a:solidFill>
                        <a:srgbClr val="40458B"/>
                      </a:solidFill>
                      <a:prstDash val="solid"/>
                    </a:lnT>
                    <a:lnB w="9525">
                      <a:solidFill>
                        <a:srgbClr val="40458B"/>
                      </a:solidFill>
                      <a:prstDash val="solid"/>
                    </a:lnB>
                    <a:solidFill>
                      <a:srgbClr val="FDF3C2"/>
                    </a:solidFill>
                  </a:tcPr>
                </a:tc>
                <a:tc hMerge="1">
                  <a:txBody>
                    <a:bodyPr/>
                    <a:lstStyle/>
                    <a:p>
                      <a:pPr/>
                    </a:p>
                  </a:txBody>
                  <a:tcPr marL="0" marR="0" marB="0" marT="0"/>
                </a:tc>
              </a:tr>
              <a:tr h="457200">
                <a:tc>
                  <a:txBody>
                    <a:bodyPr/>
                    <a:lstStyle/>
                    <a:p>
                      <a:pPr algn="ctr" marR="312420">
                        <a:lnSpc>
                          <a:spcPct val="100000"/>
                        </a:lnSpc>
                        <a:spcBef>
                          <a:spcPts val="320"/>
                        </a:spcBef>
                      </a:pPr>
                      <a:r>
                        <a:rPr dirty="0" sz="2000" spc="-25" b="1">
                          <a:solidFill>
                            <a:srgbClr val="008000"/>
                          </a:solidFill>
                          <a:latin typeface="宋体"/>
                          <a:cs typeface="宋体"/>
                        </a:rPr>
                        <a:t>组相联</a:t>
                      </a:r>
                      <a:endParaRPr sz="2000">
                        <a:latin typeface="宋体"/>
                        <a:cs typeface="宋体"/>
                      </a:endParaRPr>
                    </a:p>
                  </a:txBody>
                  <a:tcPr marL="0" marR="0" marB="0" marT="40640">
                    <a:lnR w="9525">
                      <a:solidFill>
                        <a:srgbClr val="40458B"/>
                      </a:solidFill>
                      <a:prstDash val="solid"/>
                    </a:lnR>
                    <a:lnT w="9525">
                      <a:solidFill>
                        <a:srgbClr val="40458B"/>
                      </a:solidFill>
                      <a:prstDash val="solid"/>
                    </a:lnT>
                    <a:lnB w="9525">
                      <a:solidFill>
                        <a:srgbClr val="40458B"/>
                      </a:solidFill>
                      <a:prstDash val="solid"/>
                    </a:lnB>
                    <a:solidFill>
                      <a:srgbClr val="FDF3C2"/>
                    </a:solidFill>
                  </a:tcPr>
                </a:tc>
                <a:tc>
                  <a:txBody>
                    <a:bodyPr/>
                    <a:lstStyle/>
                    <a:p>
                      <a:pPr marL="516890">
                        <a:lnSpc>
                          <a:spcPct val="100000"/>
                        </a:lnSpc>
                        <a:spcBef>
                          <a:spcPts val="334"/>
                        </a:spcBef>
                      </a:pPr>
                      <a:r>
                        <a:rPr dirty="0" sz="2500" spc="-10" b="1" i="1">
                          <a:solidFill>
                            <a:srgbClr val="40458B"/>
                          </a:solidFill>
                          <a:latin typeface="微软雅黑"/>
                          <a:cs typeface="微软雅黑"/>
                        </a:rPr>
                        <a:t>1＜n＜M</a:t>
                      </a:r>
                      <a:endParaRPr sz="2500">
                        <a:latin typeface="微软雅黑"/>
                        <a:cs typeface="微软雅黑"/>
                      </a:endParaRPr>
                    </a:p>
                  </a:txBody>
                  <a:tcPr marL="0" marR="0" marB="0" marT="42544">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DF3C2"/>
                    </a:solidFill>
                  </a:tcPr>
                </a:tc>
                <a:tc>
                  <a:txBody>
                    <a:bodyPr/>
                    <a:lstStyle/>
                    <a:p>
                      <a:pPr marL="568325">
                        <a:lnSpc>
                          <a:spcPct val="100000"/>
                        </a:lnSpc>
                        <a:spcBef>
                          <a:spcPts val="320"/>
                        </a:spcBef>
                      </a:pPr>
                      <a:r>
                        <a:rPr dirty="0" sz="2500" spc="-10" b="1" i="1">
                          <a:solidFill>
                            <a:srgbClr val="40458B"/>
                          </a:solidFill>
                          <a:latin typeface="微软雅黑"/>
                          <a:cs typeface="微软雅黑"/>
                        </a:rPr>
                        <a:t>1＜G＜M</a:t>
                      </a:r>
                      <a:endParaRPr sz="2500">
                        <a:latin typeface="微软雅黑"/>
                        <a:cs typeface="微软雅黑"/>
                      </a:endParaRPr>
                    </a:p>
                  </a:txBody>
                  <a:tcPr marL="0" marR="0" marB="0" marT="40640">
                    <a:lnL w="9525">
                      <a:solidFill>
                        <a:srgbClr val="40458B"/>
                      </a:solidFill>
                      <a:prstDash val="solid"/>
                    </a:lnL>
                    <a:lnT w="9525">
                      <a:solidFill>
                        <a:srgbClr val="40458B"/>
                      </a:solidFill>
                      <a:prstDash val="solid"/>
                    </a:lnT>
                    <a:lnB w="9525">
                      <a:solidFill>
                        <a:srgbClr val="40458B"/>
                      </a:solidFill>
                      <a:prstDash val="solid"/>
                    </a:lnB>
                    <a:solidFill>
                      <a:srgbClr val="FDF3C2"/>
                    </a:solidFill>
                  </a:tcPr>
                </a:tc>
                <a:tc>
                  <a:txBody>
                    <a:bodyPr/>
                    <a:lstStyle/>
                    <a:p>
                      <a:pPr>
                        <a:lnSpc>
                          <a:spcPct val="100000"/>
                        </a:lnSpc>
                      </a:pPr>
                      <a:endParaRPr sz="2200">
                        <a:latin typeface="Times New Roman"/>
                        <a:cs typeface="Times New Roman"/>
                      </a:endParaRPr>
                    </a:p>
                  </a:txBody>
                  <a:tcPr marL="0" marR="0" marB="0" marT="0">
                    <a:lnT w="9525">
                      <a:solidFill>
                        <a:srgbClr val="40458B"/>
                      </a:solidFill>
                      <a:prstDash val="solid"/>
                    </a:lnT>
                    <a:solidFill>
                      <a:srgbClr val="FDF3C2"/>
                    </a:solidFill>
                  </a:tcPr>
                </a:tc>
              </a:tr>
            </a:tbl>
          </a:graphicData>
        </a:graphic>
      </p:graphicFrame>
      <p:sp>
        <p:nvSpPr>
          <p:cNvPr id="13" name="object 13"/>
          <p:cNvSpPr txBox="1">
            <a:spLocks noGrp="1"/>
          </p:cNvSpPr>
          <p:nvPr>
            <p:ph type="title"/>
          </p:nvPr>
        </p:nvSpPr>
        <p:spPr>
          <a:xfrm>
            <a:off x="1782317" y="153670"/>
            <a:ext cx="2506345" cy="422275"/>
          </a:xfrm>
          <a:prstGeom prst="rect"/>
        </p:spPr>
        <p:txBody>
          <a:bodyPr wrap="square" lIns="0" tIns="12700" rIns="0" bIns="0" rtlCol="0" vert="horz">
            <a:spAutoFit/>
          </a:bodyPr>
          <a:lstStyle/>
          <a:p>
            <a:pPr marL="12700">
              <a:lnSpc>
                <a:spcPct val="100000"/>
              </a:lnSpc>
              <a:spcBef>
                <a:spcPts val="100"/>
              </a:spcBef>
              <a:tabLst>
                <a:tab pos="1167765" algn="l"/>
              </a:tabLst>
            </a:pPr>
            <a:r>
              <a:rPr dirty="0" u="none" sz="2600" spc="-10">
                <a:solidFill>
                  <a:srgbClr val="0000CC"/>
                </a:solidFill>
              </a:rPr>
              <a:t>7.2.2</a:t>
            </a:r>
            <a:r>
              <a:rPr dirty="0" u="none" sz="2600">
                <a:solidFill>
                  <a:srgbClr val="0000CC"/>
                </a:solidFill>
              </a:rPr>
              <a:t>	</a:t>
            </a:r>
            <a:r>
              <a:rPr dirty="0" u="none" sz="2600" spc="-15">
                <a:solidFill>
                  <a:srgbClr val="0000CC"/>
                </a:solidFill>
              </a:rPr>
              <a:t>映象规则</a:t>
            </a:r>
            <a:endParaRPr sz="2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02665" y="612775"/>
            <a:ext cx="9190355" cy="3599179"/>
          </a:xfrm>
          <a:prstGeom prst="rect">
            <a:avLst/>
          </a:prstGeom>
        </p:spPr>
        <p:txBody>
          <a:bodyPr wrap="square" lIns="0" tIns="121920" rIns="0" bIns="0" rtlCol="0" vert="horz">
            <a:spAutoFit/>
          </a:bodyPr>
          <a:lstStyle/>
          <a:p>
            <a:pPr marL="1099185" indent="-457200">
              <a:lnSpc>
                <a:spcPct val="100000"/>
              </a:lnSpc>
              <a:spcBef>
                <a:spcPts val="960"/>
              </a:spcBef>
              <a:buSzPct val="89583"/>
              <a:buFont typeface="Wingdings"/>
              <a:buChar char=""/>
              <a:tabLst>
                <a:tab pos="1099185" algn="l"/>
              </a:tabLst>
            </a:pPr>
            <a:r>
              <a:rPr dirty="0" sz="2400">
                <a:solidFill>
                  <a:srgbClr val="40458B"/>
                </a:solidFill>
                <a:latin typeface="黑体"/>
                <a:cs typeface="黑体"/>
              </a:rPr>
              <a:t>当CPU访问Cache</a:t>
            </a:r>
            <a:r>
              <a:rPr dirty="0" sz="2400" spc="-5">
                <a:solidFill>
                  <a:srgbClr val="40458B"/>
                </a:solidFill>
                <a:latin typeface="黑体"/>
                <a:cs typeface="黑体"/>
              </a:rPr>
              <a:t>时，如何确定</a:t>
            </a:r>
            <a:r>
              <a:rPr dirty="0" sz="2400">
                <a:solidFill>
                  <a:srgbClr val="40458B"/>
                </a:solidFill>
                <a:latin typeface="黑体"/>
                <a:cs typeface="黑体"/>
              </a:rPr>
              <a:t>Cache</a:t>
            </a:r>
            <a:r>
              <a:rPr dirty="0" sz="2400" spc="-5">
                <a:solidFill>
                  <a:srgbClr val="40458B"/>
                </a:solidFill>
                <a:latin typeface="黑体"/>
                <a:cs typeface="黑体"/>
              </a:rPr>
              <a:t>中是否有所要访问的块？</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5">
                <a:solidFill>
                  <a:srgbClr val="40458B"/>
                </a:solidFill>
                <a:latin typeface="黑体"/>
                <a:cs typeface="黑体"/>
              </a:rPr>
              <a:t>若有的话，如何确定其位置？</a:t>
            </a:r>
            <a:endParaRPr sz="2400">
              <a:latin typeface="黑体"/>
              <a:cs typeface="黑体"/>
            </a:endParaRPr>
          </a:p>
          <a:p>
            <a:pPr marL="12700">
              <a:lnSpc>
                <a:spcPct val="100000"/>
              </a:lnSpc>
              <a:spcBef>
                <a:spcPts val="865"/>
              </a:spcBef>
              <a:tabLst>
                <a:tab pos="469265"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5">
                <a:solidFill>
                  <a:srgbClr val="E14B04"/>
                </a:solidFill>
                <a:latin typeface="黑体"/>
                <a:cs typeface="黑体"/>
              </a:rPr>
              <a:t>通过查找目录表来实现</a:t>
            </a:r>
            <a:endParaRPr sz="2400">
              <a:latin typeface="黑体"/>
              <a:cs typeface="黑体"/>
            </a:endParaRPr>
          </a:p>
          <a:p>
            <a:pPr marL="1099185" indent="-457200">
              <a:lnSpc>
                <a:spcPct val="100000"/>
              </a:lnSpc>
              <a:spcBef>
                <a:spcPts val="865"/>
              </a:spcBef>
              <a:buClr>
                <a:srgbClr val="40458B"/>
              </a:buClr>
              <a:buSzPct val="89583"/>
              <a:buFont typeface="Wingdings"/>
              <a:buChar char=""/>
              <a:tabLst>
                <a:tab pos="1099185" algn="l"/>
              </a:tabLst>
            </a:pPr>
            <a:r>
              <a:rPr dirty="0" sz="2400">
                <a:solidFill>
                  <a:srgbClr val="2C44A3"/>
                </a:solidFill>
                <a:latin typeface="黑体"/>
                <a:cs typeface="黑体"/>
              </a:rPr>
              <a:t>一个目录表项对应一个</a:t>
            </a:r>
            <a:r>
              <a:rPr dirty="0" sz="2400" spc="-25">
                <a:solidFill>
                  <a:srgbClr val="2C44A3"/>
                </a:solidFill>
                <a:latin typeface="Tahoma"/>
                <a:cs typeface="Tahoma"/>
              </a:rPr>
              <a:t>cache</a:t>
            </a:r>
            <a:r>
              <a:rPr dirty="0" sz="2400" spc="-50">
                <a:solidFill>
                  <a:srgbClr val="2C44A3"/>
                </a:solidFill>
                <a:latin typeface="黑体"/>
                <a:cs typeface="黑体"/>
              </a:rPr>
              <a:t>块</a:t>
            </a:r>
            <a:endParaRPr sz="2400">
              <a:latin typeface="黑体"/>
              <a:cs typeface="黑体"/>
            </a:endParaRPr>
          </a:p>
          <a:p>
            <a:pPr marL="1099185" indent="-457200">
              <a:lnSpc>
                <a:spcPct val="100000"/>
              </a:lnSpc>
              <a:spcBef>
                <a:spcPts val="865"/>
              </a:spcBef>
              <a:buClr>
                <a:srgbClr val="40458B"/>
              </a:buClr>
              <a:buSzPct val="89583"/>
              <a:buFont typeface="Wingdings"/>
              <a:buChar char=""/>
              <a:tabLst>
                <a:tab pos="1099185" algn="l"/>
              </a:tabLst>
            </a:pPr>
            <a:r>
              <a:rPr dirty="0" sz="2400" spc="-10">
                <a:solidFill>
                  <a:srgbClr val="2C44A3"/>
                </a:solidFill>
                <a:latin typeface="黑体"/>
                <a:cs typeface="黑体"/>
              </a:rPr>
              <a:t>目录表的结构</a:t>
            </a:r>
            <a:endParaRPr sz="2400">
              <a:latin typeface="黑体"/>
              <a:cs typeface="黑体"/>
            </a:endParaRPr>
          </a:p>
          <a:p>
            <a:pPr lvl="1" marL="1727200" indent="-457200">
              <a:lnSpc>
                <a:spcPct val="100000"/>
              </a:lnSpc>
              <a:spcBef>
                <a:spcPts val="770"/>
              </a:spcBef>
              <a:buClr>
                <a:srgbClr val="4668F5"/>
              </a:buClr>
              <a:buSzPct val="60000"/>
              <a:buFont typeface="Wingdings"/>
              <a:buChar char=""/>
              <a:tabLst>
                <a:tab pos="1727200" algn="l"/>
              </a:tabLst>
            </a:pPr>
            <a:r>
              <a:rPr dirty="0" sz="2000" spc="-15" b="1">
                <a:latin typeface="宋体"/>
                <a:cs typeface="宋体"/>
              </a:rPr>
              <a:t>主存块的块地址的</a:t>
            </a:r>
            <a:r>
              <a:rPr dirty="0" sz="2000" spc="-15" b="1">
                <a:solidFill>
                  <a:srgbClr val="FF0000"/>
                </a:solidFill>
                <a:latin typeface="宋体"/>
                <a:cs typeface="宋体"/>
              </a:rPr>
              <a:t>高位部分</a:t>
            </a:r>
            <a:r>
              <a:rPr dirty="0" sz="2000" spc="-20" b="1">
                <a:latin typeface="宋体"/>
                <a:cs typeface="宋体"/>
              </a:rPr>
              <a:t>，称为</a:t>
            </a:r>
            <a:r>
              <a:rPr dirty="0" sz="2000" spc="-140" b="1">
                <a:solidFill>
                  <a:srgbClr val="FF0000"/>
                </a:solidFill>
                <a:latin typeface="宋体"/>
                <a:cs typeface="宋体"/>
              </a:rPr>
              <a:t>标识 。</a:t>
            </a:r>
            <a:endParaRPr sz="2000">
              <a:latin typeface="宋体"/>
              <a:cs typeface="宋体"/>
            </a:endParaRPr>
          </a:p>
          <a:p>
            <a:pPr lvl="1" marL="1727200" indent="-457200">
              <a:lnSpc>
                <a:spcPct val="100000"/>
              </a:lnSpc>
              <a:spcBef>
                <a:spcPts val="725"/>
              </a:spcBef>
              <a:buClr>
                <a:srgbClr val="4668F5"/>
              </a:buClr>
              <a:buSzPct val="60000"/>
              <a:buFont typeface="Wingdings"/>
              <a:buChar char=""/>
              <a:tabLst>
                <a:tab pos="1727200" algn="l"/>
              </a:tabLst>
            </a:pPr>
            <a:r>
              <a:rPr dirty="0" sz="2000" spc="-20" b="1">
                <a:latin typeface="宋体"/>
                <a:cs typeface="宋体"/>
              </a:rPr>
              <a:t>每个主存块能唯一地由其标识来确定</a:t>
            </a:r>
            <a:endParaRPr sz="2000">
              <a:latin typeface="宋体"/>
              <a:cs typeface="宋体"/>
            </a:endParaRPr>
          </a:p>
          <a:p>
            <a:pPr lvl="1" marL="1727200" indent="-457200">
              <a:lnSpc>
                <a:spcPct val="100000"/>
              </a:lnSpc>
              <a:spcBef>
                <a:spcPts val="720"/>
              </a:spcBef>
              <a:buClr>
                <a:srgbClr val="4668F5"/>
              </a:buClr>
              <a:buSzPct val="60000"/>
              <a:buFont typeface="Wingdings"/>
              <a:buChar char=""/>
              <a:tabLst>
                <a:tab pos="1727200" algn="l"/>
              </a:tabLst>
            </a:pPr>
            <a:r>
              <a:rPr dirty="0" sz="2000" spc="-25" b="1">
                <a:latin typeface="宋体"/>
                <a:cs typeface="宋体"/>
              </a:rPr>
              <a:t>存放目录表的寄存器又叫做标识寄存器</a:t>
            </a:r>
            <a:endParaRPr sz="2000">
              <a:latin typeface="宋体"/>
              <a:cs typeface="宋体"/>
            </a:endParaRPr>
          </a:p>
        </p:txBody>
      </p:sp>
      <p:sp>
        <p:nvSpPr>
          <p:cNvPr id="10" name="object 10"/>
          <p:cNvSpPr txBox="1">
            <a:spLocks noGrp="1"/>
          </p:cNvSpPr>
          <p:nvPr>
            <p:ph type="title"/>
          </p:nvPr>
        </p:nvSpPr>
        <p:spPr>
          <a:xfrm>
            <a:off x="1782317" y="48590"/>
            <a:ext cx="23393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7.2.3</a:t>
            </a:r>
            <a:r>
              <a:rPr dirty="0" u="none" sz="2600" spc="-25">
                <a:solidFill>
                  <a:srgbClr val="0000CC"/>
                </a:solidFill>
              </a:rPr>
              <a:t> 查找算法</a:t>
            </a:r>
            <a:endParaRPr sz="2600"/>
          </a:p>
        </p:txBody>
      </p:sp>
      <p:graphicFrame>
        <p:nvGraphicFramePr>
          <p:cNvPr id="11" name="object 11" descr=""/>
          <p:cNvGraphicFramePr>
            <a:graphicFrameLocks noGrp="1"/>
          </p:cNvGraphicFramePr>
          <p:nvPr/>
        </p:nvGraphicFramePr>
        <p:xfrm>
          <a:off x="2185387" y="4715287"/>
          <a:ext cx="4178935" cy="584835"/>
        </p:xfrm>
        <a:graphic>
          <a:graphicData uri="http://schemas.openxmlformats.org/drawingml/2006/table">
            <a:tbl>
              <a:tblPr firstRow="1" bandRow="1">
                <a:tableStyleId>{2D5ABB26-0587-4C30-8999-92F81FD0307C}</a:tableStyleId>
              </a:tblPr>
              <a:tblGrid>
                <a:gridCol w="1764030"/>
                <a:gridCol w="1360805"/>
                <a:gridCol w="960755"/>
              </a:tblGrid>
              <a:tr h="584835">
                <a:tc>
                  <a:txBody>
                    <a:bodyPr/>
                    <a:lstStyle/>
                    <a:p>
                      <a:pPr algn="ctr" marL="29845">
                        <a:lnSpc>
                          <a:spcPct val="100000"/>
                        </a:lnSpc>
                        <a:spcBef>
                          <a:spcPts val="1440"/>
                        </a:spcBef>
                      </a:pPr>
                      <a:r>
                        <a:rPr dirty="0" sz="1650" spc="-60">
                          <a:latin typeface="宋体"/>
                          <a:cs typeface="宋体"/>
                        </a:rPr>
                        <a:t>标 识</a:t>
                      </a:r>
                      <a:endParaRPr sz="1650">
                        <a:latin typeface="宋体"/>
                        <a:cs typeface="宋体"/>
                      </a:endParaRPr>
                    </a:p>
                  </a:txBody>
                  <a:tcPr marL="0" marR="0" marB="0" marT="1828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99"/>
                    </a:solidFill>
                  </a:tcPr>
                </a:tc>
                <a:tc>
                  <a:txBody>
                    <a:bodyPr/>
                    <a:lstStyle/>
                    <a:p>
                      <a:pPr marL="419100">
                        <a:lnSpc>
                          <a:spcPct val="100000"/>
                        </a:lnSpc>
                        <a:spcBef>
                          <a:spcPts val="1440"/>
                        </a:spcBef>
                      </a:pPr>
                      <a:r>
                        <a:rPr dirty="0" sz="1650" spc="-60">
                          <a:latin typeface="宋体"/>
                          <a:cs typeface="宋体"/>
                        </a:rPr>
                        <a:t>索 引</a:t>
                      </a:r>
                      <a:endParaRPr sz="1650">
                        <a:latin typeface="宋体"/>
                        <a:cs typeface="宋体"/>
                      </a:endParaRPr>
                    </a:p>
                  </a:txBody>
                  <a:tcPr marL="0" marR="0" marB="0" marT="1828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marL="92710">
                        <a:lnSpc>
                          <a:spcPct val="100000"/>
                        </a:lnSpc>
                        <a:spcBef>
                          <a:spcPts val="1440"/>
                        </a:spcBef>
                      </a:pPr>
                      <a:r>
                        <a:rPr dirty="0" sz="1650" spc="-90">
                          <a:latin typeface="宋体"/>
                          <a:cs typeface="宋体"/>
                        </a:rPr>
                        <a:t>块内位移</a:t>
                      </a:r>
                      <a:endParaRPr sz="1650">
                        <a:latin typeface="宋体"/>
                        <a:cs typeface="宋体"/>
                      </a:endParaRPr>
                    </a:p>
                  </a:txBody>
                  <a:tcPr marL="0" marR="0" marB="0" marT="1828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CC"/>
                    </a:solidFill>
                  </a:tcPr>
                </a:tc>
              </a:tr>
            </a:tbl>
          </a:graphicData>
        </a:graphic>
      </p:graphicFrame>
      <p:sp>
        <p:nvSpPr>
          <p:cNvPr id="12" name="object 12" descr=""/>
          <p:cNvSpPr/>
          <p:nvPr/>
        </p:nvSpPr>
        <p:spPr>
          <a:xfrm>
            <a:off x="2188331" y="5371579"/>
            <a:ext cx="3109595" cy="146685"/>
          </a:xfrm>
          <a:custGeom>
            <a:avLst/>
            <a:gdLst/>
            <a:ahLst/>
            <a:cxnLst/>
            <a:rect l="l" t="t" r="r" b="b"/>
            <a:pathLst>
              <a:path w="3109595" h="146685">
                <a:moveTo>
                  <a:pt x="0" y="0"/>
                </a:moveTo>
                <a:lnTo>
                  <a:pt x="0" y="2889"/>
                </a:lnTo>
                <a:lnTo>
                  <a:pt x="0" y="8103"/>
                </a:lnTo>
                <a:lnTo>
                  <a:pt x="5446" y="13905"/>
                </a:lnTo>
                <a:lnTo>
                  <a:pt x="10914" y="22596"/>
                </a:lnTo>
                <a:lnTo>
                  <a:pt x="18565" y="27811"/>
                </a:lnTo>
                <a:lnTo>
                  <a:pt x="29479" y="33612"/>
                </a:lnTo>
                <a:lnTo>
                  <a:pt x="42599" y="42303"/>
                </a:lnTo>
                <a:lnTo>
                  <a:pt x="58430" y="48105"/>
                </a:lnTo>
                <a:lnTo>
                  <a:pt x="74283" y="50431"/>
                </a:lnTo>
                <a:lnTo>
                  <a:pt x="92849" y="56209"/>
                </a:lnTo>
                <a:lnTo>
                  <a:pt x="114148" y="62011"/>
                </a:lnTo>
                <a:lnTo>
                  <a:pt x="135448" y="64900"/>
                </a:lnTo>
                <a:lnTo>
                  <a:pt x="156747" y="67813"/>
                </a:lnTo>
                <a:lnTo>
                  <a:pt x="180230" y="70702"/>
                </a:lnTo>
                <a:lnTo>
                  <a:pt x="206998" y="70702"/>
                </a:lnTo>
                <a:lnTo>
                  <a:pt x="231031" y="73591"/>
                </a:lnTo>
                <a:lnTo>
                  <a:pt x="257248" y="73591"/>
                </a:lnTo>
                <a:lnTo>
                  <a:pt x="1294972" y="73591"/>
                </a:lnTo>
                <a:lnTo>
                  <a:pt x="1321211" y="73591"/>
                </a:lnTo>
                <a:lnTo>
                  <a:pt x="1347890" y="75916"/>
                </a:lnTo>
                <a:lnTo>
                  <a:pt x="1371924" y="75916"/>
                </a:lnTo>
                <a:lnTo>
                  <a:pt x="1395517" y="78806"/>
                </a:lnTo>
                <a:lnTo>
                  <a:pt x="1419550" y="81718"/>
                </a:lnTo>
                <a:lnTo>
                  <a:pt x="1440718" y="84607"/>
                </a:lnTo>
                <a:lnTo>
                  <a:pt x="1459459" y="90409"/>
                </a:lnTo>
                <a:lnTo>
                  <a:pt x="1477981" y="96211"/>
                </a:lnTo>
                <a:lnTo>
                  <a:pt x="1493856" y="98513"/>
                </a:lnTo>
                <a:lnTo>
                  <a:pt x="1509511" y="104315"/>
                </a:lnTo>
                <a:lnTo>
                  <a:pt x="1523182" y="110117"/>
                </a:lnTo>
                <a:lnTo>
                  <a:pt x="1533545" y="118808"/>
                </a:lnTo>
                <a:lnTo>
                  <a:pt x="1541924" y="124022"/>
                </a:lnTo>
                <a:lnTo>
                  <a:pt x="1549420" y="132713"/>
                </a:lnTo>
                <a:lnTo>
                  <a:pt x="1552287" y="138515"/>
                </a:lnTo>
                <a:lnTo>
                  <a:pt x="1554933" y="141404"/>
                </a:lnTo>
                <a:lnTo>
                  <a:pt x="1554933" y="146619"/>
                </a:lnTo>
                <a:lnTo>
                  <a:pt x="1554933" y="141404"/>
                </a:lnTo>
                <a:lnTo>
                  <a:pt x="1554933" y="138515"/>
                </a:lnTo>
                <a:lnTo>
                  <a:pt x="1560445" y="132713"/>
                </a:lnTo>
                <a:lnTo>
                  <a:pt x="1565296" y="124022"/>
                </a:lnTo>
                <a:lnTo>
                  <a:pt x="1573454" y="118808"/>
                </a:lnTo>
                <a:lnTo>
                  <a:pt x="1586683" y="110117"/>
                </a:lnTo>
                <a:lnTo>
                  <a:pt x="1597488" y="104315"/>
                </a:lnTo>
                <a:lnTo>
                  <a:pt x="1613363" y="98513"/>
                </a:lnTo>
                <a:lnTo>
                  <a:pt x="1629238" y="96211"/>
                </a:lnTo>
                <a:lnTo>
                  <a:pt x="1647760" y="90409"/>
                </a:lnTo>
                <a:lnTo>
                  <a:pt x="1669148" y="84607"/>
                </a:lnTo>
                <a:lnTo>
                  <a:pt x="1690315" y="81718"/>
                </a:lnTo>
                <a:lnTo>
                  <a:pt x="1711041" y="78806"/>
                </a:lnTo>
                <a:lnTo>
                  <a:pt x="1735075" y="75916"/>
                </a:lnTo>
                <a:lnTo>
                  <a:pt x="1761975" y="75916"/>
                </a:lnTo>
                <a:lnTo>
                  <a:pt x="1788213" y="73591"/>
                </a:lnTo>
                <a:lnTo>
                  <a:pt x="1814893" y="73591"/>
                </a:lnTo>
                <a:lnTo>
                  <a:pt x="2849442" y="73591"/>
                </a:lnTo>
                <a:lnTo>
                  <a:pt x="2876122" y="73591"/>
                </a:lnTo>
                <a:lnTo>
                  <a:pt x="2902801" y="70702"/>
                </a:lnTo>
                <a:lnTo>
                  <a:pt x="2926394" y="70702"/>
                </a:lnTo>
                <a:lnTo>
                  <a:pt x="2950428" y="67813"/>
                </a:lnTo>
                <a:lnTo>
                  <a:pt x="2974461" y="64900"/>
                </a:lnTo>
                <a:lnTo>
                  <a:pt x="2995629" y="62011"/>
                </a:lnTo>
                <a:lnTo>
                  <a:pt x="3014370" y="56209"/>
                </a:lnTo>
                <a:lnTo>
                  <a:pt x="3032892" y="50431"/>
                </a:lnTo>
                <a:lnTo>
                  <a:pt x="3051413" y="48105"/>
                </a:lnTo>
                <a:lnTo>
                  <a:pt x="3064643" y="42303"/>
                </a:lnTo>
                <a:lnTo>
                  <a:pt x="3077652" y="33612"/>
                </a:lnTo>
                <a:lnTo>
                  <a:pt x="3088676" y="27811"/>
                </a:lnTo>
                <a:lnTo>
                  <a:pt x="3099039" y="22596"/>
                </a:lnTo>
                <a:lnTo>
                  <a:pt x="3104331" y="13905"/>
                </a:lnTo>
                <a:lnTo>
                  <a:pt x="3109403" y="8103"/>
                </a:lnTo>
                <a:lnTo>
                  <a:pt x="3109403" y="2889"/>
                </a:lnTo>
                <a:lnTo>
                  <a:pt x="3109403" y="0"/>
                </a:lnTo>
              </a:path>
            </a:pathLst>
          </a:custGeom>
          <a:ln w="11053">
            <a:solidFill>
              <a:srgbClr val="000000"/>
            </a:solidFill>
          </a:ln>
        </p:spPr>
        <p:txBody>
          <a:bodyPr wrap="square" lIns="0" tIns="0" rIns="0" bIns="0" rtlCol="0"/>
          <a:lstStyle/>
          <a:p/>
        </p:txBody>
      </p:sp>
      <p:sp>
        <p:nvSpPr>
          <p:cNvPr id="13" name="object 13" descr=""/>
          <p:cNvSpPr txBox="1"/>
          <p:nvPr/>
        </p:nvSpPr>
        <p:spPr>
          <a:xfrm>
            <a:off x="1207274" y="4905423"/>
            <a:ext cx="2854960" cy="934085"/>
          </a:xfrm>
          <a:prstGeom prst="rect">
            <a:avLst/>
          </a:prstGeom>
        </p:spPr>
        <p:txBody>
          <a:bodyPr wrap="square" lIns="0" tIns="15875" rIns="0" bIns="0" rtlCol="0" vert="horz">
            <a:spAutoFit/>
          </a:bodyPr>
          <a:lstStyle/>
          <a:p>
            <a:pPr marL="12700">
              <a:lnSpc>
                <a:spcPct val="100000"/>
              </a:lnSpc>
              <a:spcBef>
                <a:spcPts val="125"/>
              </a:spcBef>
            </a:pPr>
            <a:r>
              <a:rPr dirty="0" sz="1650" spc="-85">
                <a:solidFill>
                  <a:srgbClr val="800000"/>
                </a:solidFill>
                <a:latin typeface="宋体"/>
                <a:cs typeface="宋体"/>
              </a:rPr>
              <a:t>主存地址：</a:t>
            </a:r>
            <a:endParaRPr sz="1650">
              <a:latin typeface="宋体"/>
              <a:cs typeface="宋体"/>
            </a:endParaRPr>
          </a:p>
          <a:p>
            <a:pPr>
              <a:lnSpc>
                <a:spcPct val="100000"/>
              </a:lnSpc>
              <a:spcBef>
                <a:spcPts val="1015"/>
              </a:spcBef>
            </a:pPr>
            <a:endParaRPr sz="1650">
              <a:latin typeface="宋体"/>
              <a:cs typeface="宋体"/>
            </a:endParaRPr>
          </a:p>
          <a:p>
            <a:pPr algn="r" marR="5080">
              <a:lnSpc>
                <a:spcPct val="100000"/>
              </a:lnSpc>
              <a:spcBef>
                <a:spcPts val="5"/>
              </a:spcBef>
            </a:pPr>
            <a:r>
              <a:rPr dirty="0" sz="1650" spc="-80">
                <a:solidFill>
                  <a:srgbClr val="003366"/>
                </a:solidFill>
                <a:latin typeface="宋体"/>
                <a:cs typeface="宋体"/>
              </a:rPr>
              <a:t>块地址</a:t>
            </a:r>
            <a:endParaRPr sz="1650">
              <a:latin typeface="宋体"/>
              <a:cs typeface="宋体"/>
            </a:endParaRPr>
          </a:p>
        </p:txBody>
      </p:sp>
      <p:pic>
        <p:nvPicPr>
          <p:cNvPr id="14" name="object 14"/>
          <p:cNvPicPr/>
          <p:nvPr/>
        </p:nvPicPr>
        <p:blipFill>
          <a:blip r:embed="rId3" cstate="print"/>
          <a:stretch>
            <a:fillRect/>
          </a:stretch>
        </p:blipFill>
        <p:spPr>
          <a:xfrm>
            <a:off x="7464425" y="1412875"/>
            <a:ext cx="4124325" cy="47529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8343925" y="649414"/>
            <a:ext cx="915669" cy="304800"/>
          </a:xfrm>
          <a:prstGeom prst="rect">
            <a:avLst/>
          </a:prstGeom>
        </p:spPr>
        <p:txBody>
          <a:bodyPr wrap="square" lIns="0" tIns="0" rIns="0" bIns="0" rtlCol="0" vert="horz">
            <a:spAutoFit/>
          </a:bodyPr>
          <a:lstStyle/>
          <a:p>
            <a:pPr>
              <a:lnSpc>
                <a:spcPts val="2400"/>
              </a:lnSpc>
            </a:pPr>
            <a:r>
              <a:rPr dirty="0" sz="2400" spc="-20">
                <a:solidFill>
                  <a:srgbClr val="40458B"/>
                </a:solidFill>
                <a:latin typeface="黑体"/>
                <a:cs typeface="黑体"/>
              </a:rPr>
              <a:t>的块？</a:t>
            </a:r>
            <a:endParaRPr sz="2400">
              <a:latin typeface="黑体"/>
              <a:cs typeface="黑体"/>
            </a:endParaRPr>
          </a:p>
        </p:txBody>
      </p:sp>
      <p:sp>
        <p:nvSpPr>
          <p:cNvPr id="10" name="object 10"/>
          <p:cNvSpPr txBox="1">
            <a:spLocks noGrp="1"/>
          </p:cNvSpPr>
          <p:nvPr>
            <p:ph type="title"/>
          </p:nvPr>
        </p:nvSpPr>
        <p:spPr>
          <a:xfrm>
            <a:off x="1782317" y="48590"/>
            <a:ext cx="23393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7.2.3</a:t>
            </a:r>
            <a:r>
              <a:rPr dirty="0" u="none" sz="2600" spc="-25">
                <a:solidFill>
                  <a:srgbClr val="0000CC"/>
                </a:solidFill>
              </a:rPr>
              <a:t> 查找算法</a:t>
            </a:r>
            <a:endParaRPr sz="2600"/>
          </a:p>
        </p:txBody>
      </p:sp>
      <p:pic>
        <p:nvPicPr>
          <p:cNvPr id="11" name="object 11"/>
          <p:cNvPicPr/>
          <p:nvPr/>
        </p:nvPicPr>
        <p:blipFill>
          <a:blip r:embed="rId3" cstate="print"/>
          <a:stretch>
            <a:fillRect/>
          </a:stretch>
        </p:blipFill>
        <p:spPr>
          <a:xfrm>
            <a:off x="8569325" y="593725"/>
            <a:ext cx="3384550" cy="4357624"/>
          </a:xfrm>
          <a:prstGeom prst="rect">
            <a:avLst/>
          </a:prstGeom>
        </p:spPr>
      </p:pic>
      <p:sp>
        <p:nvSpPr>
          <p:cNvPr id="12" name="object 12" descr=""/>
          <p:cNvSpPr txBox="1"/>
          <p:nvPr/>
        </p:nvSpPr>
        <p:spPr>
          <a:xfrm>
            <a:off x="78739" y="484124"/>
            <a:ext cx="8278495" cy="4389120"/>
          </a:xfrm>
          <a:prstGeom prst="rect">
            <a:avLst/>
          </a:prstGeom>
        </p:spPr>
        <p:txBody>
          <a:bodyPr wrap="square" lIns="0" tIns="122555" rIns="0" bIns="0" rtlCol="0" vert="horz">
            <a:spAutoFit/>
          </a:bodyPr>
          <a:lstStyle/>
          <a:p>
            <a:pPr marL="1099185" indent="-457200">
              <a:lnSpc>
                <a:spcPct val="100000"/>
              </a:lnSpc>
              <a:spcBef>
                <a:spcPts val="965"/>
              </a:spcBef>
              <a:buSzPct val="89583"/>
              <a:buFont typeface="Wingdings"/>
              <a:buChar char=""/>
              <a:tabLst>
                <a:tab pos="1099185" algn="l"/>
              </a:tabLst>
            </a:pPr>
            <a:r>
              <a:rPr dirty="0" sz="2400" spc="-10">
                <a:solidFill>
                  <a:srgbClr val="40458B"/>
                </a:solidFill>
                <a:latin typeface="黑体"/>
                <a:cs typeface="黑体"/>
              </a:rPr>
              <a:t>当</a:t>
            </a:r>
            <a:r>
              <a:rPr dirty="0" sz="2400">
                <a:solidFill>
                  <a:srgbClr val="40458B"/>
                </a:solidFill>
                <a:latin typeface="黑体"/>
                <a:cs typeface="黑体"/>
              </a:rPr>
              <a:t>CPU访问Cache时，如何确定Cache</a:t>
            </a:r>
            <a:r>
              <a:rPr dirty="0" sz="2400" spc="-10">
                <a:solidFill>
                  <a:srgbClr val="40458B"/>
                </a:solidFill>
                <a:latin typeface="黑体"/>
                <a:cs typeface="黑体"/>
              </a:rPr>
              <a:t>中是否有所要访问</a:t>
            </a:r>
            <a:endParaRPr sz="2400">
              <a:latin typeface="黑体"/>
              <a:cs typeface="黑体"/>
            </a:endParaRPr>
          </a:p>
          <a:p>
            <a:pPr marL="1099185" indent="-457200">
              <a:lnSpc>
                <a:spcPct val="100000"/>
              </a:lnSpc>
              <a:spcBef>
                <a:spcPts val="860"/>
              </a:spcBef>
              <a:buSzPct val="89583"/>
              <a:buFont typeface="Wingdings"/>
              <a:buChar char=""/>
              <a:tabLst>
                <a:tab pos="1099185" algn="l"/>
              </a:tabLst>
            </a:pPr>
            <a:r>
              <a:rPr dirty="0" sz="2400" spc="-5">
                <a:solidFill>
                  <a:srgbClr val="40458B"/>
                </a:solidFill>
                <a:latin typeface="黑体"/>
                <a:cs typeface="黑体"/>
              </a:rPr>
              <a:t>若有的话，如何确定其位置？</a:t>
            </a:r>
            <a:endParaRPr sz="2400">
              <a:latin typeface="黑体"/>
              <a:cs typeface="黑体"/>
            </a:endParaRPr>
          </a:p>
          <a:p>
            <a:pPr marL="12700">
              <a:lnSpc>
                <a:spcPct val="100000"/>
              </a:lnSpc>
              <a:spcBef>
                <a:spcPts val="865"/>
              </a:spcBef>
              <a:tabLst>
                <a:tab pos="469265"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15">
                <a:solidFill>
                  <a:srgbClr val="E14B04"/>
                </a:solidFill>
                <a:latin typeface="黑体"/>
                <a:cs typeface="黑体"/>
              </a:rPr>
              <a:t>通过查找目录表来实现</a:t>
            </a:r>
            <a:endParaRPr sz="2400">
              <a:latin typeface="黑体"/>
              <a:cs typeface="黑体"/>
            </a:endParaRPr>
          </a:p>
          <a:p>
            <a:pPr marL="763270" marR="588010" indent="-342900">
              <a:lnSpc>
                <a:spcPct val="150000"/>
              </a:lnSpc>
              <a:spcBef>
                <a:spcPts val="1520"/>
              </a:spcBef>
              <a:buClr>
                <a:srgbClr val="006FC0"/>
              </a:buClr>
              <a:buFont typeface="Wingdings"/>
              <a:buChar char=""/>
              <a:tabLst>
                <a:tab pos="763270" algn="l"/>
              </a:tabLst>
            </a:pPr>
            <a:r>
              <a:rPr dirty="0" sz="2000">
                <a:solidFill>
                  <a:srgbClr val="40458B"/>
                </a:solidFill>
                <a:latin typeface="黑体"/>
                <a:cs typeface="黑体"/>
              </a:rPr>
              <a:t>有效位为</a:t>
            </a:r>
            <a:r>
              <a:rPr dirty="0" sz="2000" spc="-10">
                <a:solidFill>
                  <a:srgbClr val="FF0000"/>
                </a:solidFill>
                <a:latin typeface="Tahoma"/>
                <a:cs typeface="Tahoma"/>
              </a:rPr>
              <a:t>1</a:t>
            </a:r>
            <a:r>
              <a:rPr dirty="0" sz="2000" spc="-15">
                <a:solidFill>
                  <a:srgbClr val="40458B"/>
                </a:solidFill>
                <a:latin typeface="黑体"/>
                <a:cs typeface="黑体"/>
              </a:rPr>
              <a:t>：表示该目录项</a:t>
            </a:r>
            <a:r>
              <a:rPr dirty="0" sz="2000" spc="-10">
                <a:solidFill>
                  <a:srgbClr val="FF0000"/>
                </a:solidFill>
                <a:latin typeface="黑体"/>
                <a:cs typeface="黑体"/>
              </a:rPr>
              <a:t>有效</a:t>
            </a:r>
            <a:r>
              <a:rPr dirty="0" sz="2000" spc="-10">
                <a:solidFill>
                  <a:srgbClr val="40458B"/>
                </a:solidFill>
                <a:latin typeface="黑体"/>
                <a:cs typeface="黑体"/>
              </a:rPr>
              <a:t>，</a:t>
            </a:r>
            <a:r>
              <a:rPr dirty="0" sz="2000" spc="-10">
                <a:solidFill>
                  <a:srgbClr val="40458B"/>
                </a:solidFill>
                <a:latin typeface="Tahoma"/>
                <a:cs typeface="Tahoma"/>
              </a:rPr>
              <a:t>Cache</a:t>
            </a:r>
            <a:r>
              <a:rPr dirty="0" sz="2000" spc="-15">
                <a:solidFill>
                  <a:srgbClr val="40458B"/>
                </a:solidFill>
                <a:latin typeface="黑体"/>
                <a:cs typeface="黑体"/>
              </a:rPr>
              <a:t>中相应的块所包含的信息有效。</a:t>
            </a:r>
            <a:endParaRPr sz="2000">
              <a:latin typeface="黑体"/>
              <a:cs typeface="黑体"/>
            </a:endParaRPr>
          </a:p>
          <a:p>
            <a:pPr marL="763270" marR="588645" indent="-342900">
              <a:lnSpc>
                <a:spcPct val="150000"/>
              </a:lnSpc>
              <a:spcBef>
                <a:spcPts val="5"/>
              </a:spcBef>
              <a:buClr>
                <a:srgbClr val="006FC0"/>
              </a:buClr>
              <a:buFont typeface="Wingdings"/>
              <a:buChar char=""/>
              <a:tabLst>
                <a:tab pos="763270" algn="l"/>
              </a:tabLst>
            </a:pPr>
            <a:r>
              <a:rPr dirty="0" sz="2000" spc="-80">
                <a:solidFill>
                  <a:srgbClr val="40458B"/>
                </a:solidFill>
                <a:latin typeface="Tahoma"/>
                <a:cs typeface="Tahoma"/>
              </a:rPr>
              <a:t>Tag</a:t>
            </a:r>
            <a:r>
              <a:rPr dirty="0" sz="2000" spc="-5">
                <a:solidFill>
                  <a:srgbClr val="40458B"/>
                </a:solidFill>
                <a:latin typeface="黑体"/>
                <a:cs typeface="黑体"/>
              </a:rPr>
              <a:t>作用：标识</a:t>
            </a:r>
            <a:r>
              <a:rPr dirty="0" sz="2000" spc="-10">
                <a:solidFill>
                  <a:srgbClr val="40458B"/>
                </a:solidFill>
                <a:latin typeface="Tahoma"/>
                <a:cs typeface="Tahoma"/>
              </a:rPr>
              <a:t>Cache</a:t>
            </a:r>
            <a:r>
              <a:rPr dirty="0" sz="2000" spc="-20">
                <a:solidFill>
                  <a:srgbClr val="40458B"/>
                </a:solidFill>
                <a:latin typeface="黑体"/>
                <a:cs typeface="黑体"/>
              </a:rPr>
              <a:t>中相应的块位置中所存放的信息是哪个主存块的。它唯一标识了一个主存块。</a:t>
            </a:r>
            <a:endParaRPr sz="2000">
              <a:latin typeface="黑体"/>
              <a:cs typeface="黑体"/>
            </a:endParaRPr>
          </a:p>
          <a:p>
            <a:pPr marL="763270" indent="-342900">
              <a:lnSpc>
                <a:spcPct val="100000"/>
              </a:lnSpc>
              <a:spcBef>
                <a:spcPts val="1200"/>
              </a:spcBef>
              <a:buClr>
                <a:srgbClr val="006FC0"/>
              </a:buClr>
              <a:buFont typeface="Wingdings"/>
              <a:buChar char=""/>
              <a:tabLst>
                <a:tab pos="763270" algn="l"/>
              </a:tabLst>
            </a:pPr>
            <a:r>
              <a:rPr dirty="0" sz="2000" spc="-50">
                <a:solidFill>
                  <a:srgbClr val="40458B"/>
                </a:solidFill>
                <a:latin typeface="黑体"/>
                <a:cs typeface="黑体"/>
              </a:rPr>
              <a:t>访存时： 比较目录表项中的标识</a:t>
            </a:r>
            <a:r>
              <a:rPr dirty="0" sz="2000">
                <a:solidFill>
                  <a:srgbClr val="40458B"/>
                </a:solidFill>
                <a:latin typeface="Tahoma"/>
                <a:cs typeface="Tahoma"/>
              </a:rPr>
              <a:t>tag</a:t>
            </a:r>
            <a:r>
              <a:rPr dirty="0" sz="2000" spc="-15">
                <a:solidFill>
                  <a:srgbClr val="FF0000"/>
                </a:solidFill>
                <a:latin typeface="Tahoma"/>
                <a:cs typeface="Tahoma"/>
              </a:rPr>
              <a:t>= </a:t>
            </a:r>
            <a:r>
              <a:rPr dirty="0" sz="2000" spc="-5">
                <a:solidFill>
                  <a:srgbClr val="40458B"/>
                </a:solidFill>
                <a:latin typeface="黑体"/>
                <a:cs typeface="黑体"/>
              </a:rPr>
              <a:t>访存地址中的</a:t>
            </a:r>
            <a:r>
              <a:rPr dirty="0" sz="2000" spc="-20">
                <a:solidFill>
                  <a:srgbClr val="40458B"/>
                </a:solidFill>
                <a:latin typeface="Tahoma"/>
                <a:cs typeface="Tahoma"/>
              </a:rPr>
              <a:t>tag</a:t>
            </a:r>
            <a:r>
              <a:rPr dirty="0" sz="2000" spc="-20">
                <a:solidFill>
                  <a:srgbClr val="FF0000"/>
                </a:solidFill>
                <a:latin typeface="黑体"/>
                <a:cs typeface="黑体"/>
              </a:rPr>
              <a:t>？</a:t>
            </a:r>
            <a:endParaRPr sz="2000">
              <a:latin typeface="黑体"/>
              <a:cs typeface="黑体"/>
            </a:endParaRPr>
          </a:p>
          <a:p>
            <a:pPr algn="ctr" marR="203835">
              <a:lnSpc>
                <a:spcPct val="100000"/>
              </a:lnSpc>
              <a:spcBef>
                <a:spcPts val="1200"/>
              </a:spcBef>
            </a:pPr>
            <a:r>
              <a:rPr dirty="0" sz="2000" spc="-5">
                <a:solidFill>
                  <a:srgbClr val="FF0000"/>
                </a:solidFill>
                <a:latin typeface="黑体"/>
                <a:cs typeface="黑体"/>
              </a:rPr>
              <a:t>找到了对应的</a:t>
            </a:r>
            <a:r>
              <a:rPr dirty="0" sz="2000" spc="-10">
                <a:solidFill>
                  <a:srgbClr val="FF0000"/>
                </a:solidFill>
                <a:latin typeface="Tahoma"/>
                <a:cs typeface="Tahoma"/>
              </a:rPr>
              <a:t>Cache</a:t>
            </a:r>
            <a:r>
              <a:rPr dirty="0" sz="2000" spc="-50">
                <a:solidFill>
                  <a:srgbClr val="FF0000"/>
                </a:solidFill>
                <a:latin typeface="黑体"/>
                <a:cs typeface="黑体"/>
              </a:rPr>
              <a:t>块</a:t>
            </a:r>
            <a:endParaRPr sz="2000">
              <a:latin typeface="黑体"/>
              <a:cs typeface="黑体"/>
            </a:endParaRPr>
          </a:p>
        </p:txBody>
      </p:sp>
      <p:sp>
        <p:nvSpPr>
          <p:cNvPr id="13" name="object 13" descr=""/>
          <p:cNvSpPr/>
          <p:nvPr/>
        </p:nvSpPr>
        <p:spPr>
          <a:xfrm>
            <a:off x="11249492" y="5041177"/>
            <a:ext cx="942975" cy="585470"/>
          </a:xfrm>
          <a:custGeom>
            <a:avLst/>
            <a:gdLst/>
            <a:ahLst/>
            <a:cxnLst/>
            <a:rect l="l" t="t" r="r" b="b"/>
            <a:pathLst>
              <a:path w="942975" h="585470">
                <a:moveTo>
                  <a:pt x="942507" y="0"/>
                </a:moveTo>
                <a:lnTo>
                  <a:pt x="0" y="0"/>
                </a:lnTo>
                <a:lnTo>
                  <a:pt x="0" y="585326"/>
                </a:lnTo>
                <a:lnTo>
                  <a:pt x="942507" y="585326"/>
                </a:lnTo>
              </a:path>
            </a:pathLst>
          </a:custGeom>
          <a:ln w="16585">
            <a:solidFill>
              <a:srgbClr val="000000"/>
            </a:solidFill>
          </a:ln>
        </p:spPr>
        <p:txBody>
          <a:bodyPr wrap="square" lIns="0" tIns="0" rIns="0" bIns="0" rtlCol="0"/>
          <a:lstStyle/>
          <a:p/>
        </p:txBody>
      </p:sp>
      <p:grpSp>
        <p:nvGrpSpPr>
          <p:cNvPr id="14" name="object 14" descr=""/>
          <p:cNvGrpSpPr/>
          <p:nvPr/>
        </p:nvGrpSpPr>
        <p:grpSpPr>
          <a:xfrm>
            <a:off x="8128986" y="5032787"/>
            <a:ext cx="1781175" cy="602615"/>
            <a:chOff x="8128986" y="5032787"/>
            <a:chExt cx="1781175" cy="602615"/>
          </a:xfrm>
        </p:grpSpPr>
        <p:sp>
          <p:nvSpPr>
            <p:cNvPr id="15" name="object 15" descr=""/>
            <p:cNvSpPr/>
            <p:nvPr/>
          </p:nvSpPr>
          <p:spPr>
            <a:xfrm>
              <a:off x="8137377" y="5041178"/>
              <a:ext cx="1764664" cy="585470"/>
            </a:xfrm>
            <a:custGeom>
              <a:avLst/>
              <a:gdLst/>
              <a:ahLst/>
              <a:cxnLst/>
              <a:rect l="l" t="t" r="r" b="b"/>
              <a:pathLst>
                <a:path w="1764665" h="585470">
                  <a:moveTo>
                    <a:pt x="1764114" y="0"/>
                  </a:moveTo>
                  <a:lnTo>
                    <a:pt x="0" y="0"/>
                  </a:lnTo>
                  <a:lnTo>
                    <a:pt x="0" y="585326"/>
                  </a:lnTo>
                  <a:lnTo>
                    <a:pt x="1764114" y="585326"/>
                  </a:lnTo>
                  <a:lnTo>
                    <a:pt x="1764114" y="0"/>
                  </a:lnTo>
                  <a:close/>
                </a:path>
              </a:pathLst>
            </a:custGeom>
            <a:solidFill>
              <a:srgbClr val="FFCC99"/>
            </a:solidFill>
          </p:spPr>
          <p:txBody>
            <a:bodyPr wrap="square" lIns="0" tIns="0" rIns="0" bIns="0" rtlCol="0"/>
            <a:lstStyle/>
            <a:p/>
          </p:txBody>
        </p:sp>
        <p:sp>
          <p:nvSpPr>
            <p:cNvPr id="16" name="object 16" descr=""/>
            <p:cNvSpPr/>
            <p:nvPr/>
          </p:nvSpPr>
          <p:spPr>
            <a:xfrm>
              <a:off x="8137377" y="5041178"/>
              <a:ext cx="1764664" cy="585470"/>
            </a:xfrm>
            <a:custGeom>
              <a:avLst/>
              <a:gdLst/>
              <a:ahLst/>
              <a:cxnLst/>
              <a:rect l="l" t="t" r="r" b="b"/>
              <a:pathLst>
                <a:path w="1764665" h="585470">
                  <a:moveTo>
                    <a:pt x="0" y="585326"/>
                  </a:moveTo>
                  <a:lnTo>
                    <a:pt x="1764114" y="585326"/>
                  </a:lnTo>
                  <a:lnTo>
                    <a:pt x="1764114" y="0"/>
                  </a:lnTo>
                  <a:lnTo>
                    <a:pt x="0" y="0"/>
                  </a:lnTo>
                  <a:lnTo>
                    <a:pt x="0" y="585326"/>
                  </a:lnTo>
                  <a:close/>
                </a:path>
              </a:pathLst>
            </a:custGeom>
            <a:ln w="16770">
              <a:solidFill>
                <a:srgbClr val="000000"/>
              </a:solidFill>
            </a:ln>
          </p:spPr>
          <p:txBody>
            <a:bodyPr wrap="square" lIns="0" tIns="0" rIns="0" bIns="0" rtlCol="0"/>
            <a:lstStyle/>
            <a:p/>
          </p:txBody>
        </p:sp>
      </p:grpSp>
      <p:sp>
        <p:nvSpPr>
          <p:cNvPr id="17" name="object 17" descr=""/>
          <p:cNvSpPr txBox="1"/>
          <p:nvPr/>
        </p:nvSpPr>
        <p:spPr>
          <a:xfrm>
            <a:off x="7150873" y="5222923"/>
            <a:ext cx="1026794" cy="281305"/>
          </a:xfrm>
          <a:prstGeom prst="rect">
            <a:avLst/>
          </a:prstGeom>
        </p:spPr>
        <p:txBody>
          <a:bodyPr wrap="square" lIns="0" tIns="15875" rIns="0" bIns="0" rtlCol="0" vert="horz">
            <a:spAutoFit/>
          </a:bodyPr>
          <a:lstStyle/>
          <a:p>
            <a:pPr marL="12700">
              <a:lnSpc>
                <a:spcPct val="100000"/>
              </a:lnSpc>
              <a:spcBef>
                <a:spcPts val="125"/>
              </a:spcBef>
            </a:pPr>
            <a:r>
              <a:rPr dirty="0" sz="1650" spc="-85">
                <a:solidFill>
                  <a:srgbClr val="800000"/>
                </a:solidFill>
                <a:latin typeface="宋体"/>
                <a:cs typeface="宋体"/>
              </a:rPr>
              <a:t>主存地址：</a:t>
            </a:r>
            <a:endParaRPr sz="1650">
              <a:latin typeface="宋体"/>
              <a:cs typeface="宋体"/>
            </a:endParaRPr>
          </a:p>
        </p:txBody>
      </p:sp>
      <p:sp>
        <p:nvSpPr>
          <p:cNvPr id="18" name="object 18" descr=""/>
          <p:cNvSpPr txBox="1"/>
          <p:nvPr/>
        </p:nvSpPr>
        <p:spPr>
          <a:xfrm>
            <a:off x="11262457" y="5041177"/>
            <a:ext cx="929640" cy="585470"/>
          </a:xfrm>
          <a:prstGeom prst="rect">
            <a:avLst/>
          </a:prstGeom>
          <a:solidFill>
            <a:srgbClr val="CCFFCC"/>
          </a:solidFill>
        </p:spPr>
        <p:txBody>
          <a:bodyPr wrap="square" lIns="0" tIns="182880" rIns="0" bIns="0" rtlCol="0" vert="horz">
            <a:spAutoFit/>
          </a:bodyPr>
          <a:lstStyle/>
          <a:p>
            <a:pPr marL="92710">
              <a:lnSpc>
                <a:spcPct val="100000"/>
              </a:lnSpc>
              <a:spcBef>
                <a:spcPts val="1440"/>
              </a:spcBef>
            </a:pPr>
            <a:r>
              <a:rPr dirty="0" sz="1650" spc="-90">
                <a:latin typeface="宋体"/>
                <a:cs typeface="宋体"/>
              </a:rPr>
              <a:t>块内位移</a:t>
            </a:r>
            <a:endParaRPr sz="1650">
              <a:latin typeface="宋体"/>
              <a:cs typeface="宋体"/>
            </a:endParaRPr>
          </a:p>
        </p:txBody>
      </p:sp>
      <p:sp>
        <p:nvSpPr>
          <p:cNvPr id="19" name="object 19" descr=""/>
          <p:cNvSpPr txBox="1"/>
          <p:nvPr/>
        </p:nvSpPr>
        <p:spPr>
          <a:xfrm>
            <a:off x="9901447" y="5041178"/>
            <a:ext cx="1361440" cy="585470"/>
          </a:xfrm>
          <a:prstGeom prst="rect">
            <a:avLst/>
          </a:prstGeom>
          <a:solidFill>
            <a:srgbClr val="FFFF99"/>
          </a:solidFill>
          <a:ln w="16728">
            <a:solidFill>
              <a:srgbClr val="000000"/>
            </a:solidFill>
          </a:ln>
        </p:spPr>
        <p:txBody>
          <a:bodyPr wrap="square" lIns="0" tIns="182880" rIns="0" bIns="0" rtlCol="0" vert="horz">
            <a:spAutoFit/>
          </a:bodyPr>
          <a:lstStyle/>
          <a:p>
            <a:pPr marL="419100">
              <a:lnSpc>
                <a:spcPct val="100000"/>
              </a:lnSpc>
              <a:spcBef>
                <a:spcPts val="1440"/>
              </a:spcBef>
            </a:pPr>
            <a:r>
              <a:rPr dirty="0" sz="1650" spc="-60">
                <a:latin typeface="宋体"/>
                <a:cs typeface="宋体"/>
              </a:rPr>
              <a:t>索 引</a:t>
            </a:r>
            <a:endParaRPr sz="1650">
              <a:latin typeface="宋体"/>
              <a:cs typeface="宋体"/>
            </a:endParaRPr>
          </a:p>
        </p:txBody>
      </p:sp>
      <p:sp>
        <p:nvSpPr>
          <p:cNvPr id="20" name="object 20" descr=""/>
          <p:cNvSpPr txBox="1"/>
          <p:nvPr/>
        </p:nvSpPr>
        <p:spPr>
          <a:xfrm>
            <a:off x="8771888" y="5208430"/>
            <a:ext cx="525145" cy="281305"/>
          </a:xfrm>
          <a:prstGeom prst="rect">
            <a:avLst/>
          </a:prstGeom>
        </p:spPr>
        <p:txBody>
          <a:bodyPr wrap="square" lIns="0" tIns="15875" rIns="0" bIns="0" rtlCol="0" vert="horz">
            <a:spAutoFit/>
          </a:bodyPr>
          <a:lstStyle/>
          <a:p>
            <a:pPr marL="12700">
              <a:lnSpc>
                <a:spcPct val="100000"/>
              </a:lnSpc>
              <a:spcBef>
                <a:spcPts val="125"/>
              </a:spcBef>
            </a:pPr>
            <a:r>
              <a:rPr dirty="0" sz="1650" spc="-60">
                <a:latin typeface="宋体"/>
                <a:cs typeface="宋体"/>
              </a:rPr>
              <a:t>标 识</a:t>
            </a:r>
            <a:endParaRPr sz="1650">
              <a:latin typeface="宋体"/>
              <a:cs typeface="宋体"/>
            </a:endParaRPr>
          </a:p>
        </p:txBody>
      </p:sp>
      <p:sp>
        <p:nvSpPr>
          <p:cNvPr id="21" name="object 21" descr=""/>
          <p:cNvSpPr/>
          <p:nvPr/>
        </p:nvSpPr>
        <p:spPr>
          <a:xfrm>
            <a:off x="8131931" y="5689079"/>
            <a:ext cx="3109595" cy="146685"/>
          </a:xfrm>
          <a:custGeom>
            <a:avLst/>
            <a:gdLst/>
            <a:ahLst/>
            <a:cxnLst/>
            <a:rect l="l" t="t" r="r" b="b"/>
            <a:pathLst>
              <a:path w="3109595" h="146685">
                <a:moveTo>
                  <a:pt x="0" y="0"/>
                </a:moveTo>
                <a:lnTo>
                  <a:pt x="0" y="2889"/>
                </a:lnTo>
                <a:lnTo>
                  <a:pt x="0" y="8103"/>
                </a:lnTo>
                <a:lnTo>
                  <a:pt x="5446" y="13905"/>
                </a:lnTo>
                <a:lnTo>
                  <a:pt x="10914" y="22596"/>
                </a:lnTo>
                <a:lnTo>
                  <a:pt x="18565" y="27811"/>
                </a:lnTo>
                <a:lnTo>
                  <a:pt x="29479" y="33612"/>
                </a:lnTo>
                <a:lnTo>
                  <a:pt x="42599" y="42303"/>
                </a:lnTo>
                <a:lnTo>
                  <a:pt x="58430" y="48105"/>
                </a:lnTo>
                <a:lnTo>
                  <a:pt x="74283" y="50431"/>
                </a:lnTo>
                <a:lnTo>
                  <a:pt x="92849" y="56209"/>
                </a:lnTo>
                <a:lnTo>
                  <a:pt x="114148" y="62011"/>
                </a:lnTo>
                <a:lnTo>
                  <a:pt x="135448" y="64900"/>
                </a:lnTo>
                <a:lnTo>
                  <a:pt x="156747" y="67813"/>
                </a:lnTo>
                <a:lnTo>
                  <a:pt x="180230" y="70702"/>
                </a:lnTo>
                <a:lnTo>
                  <a:pt x="206998" y="70702"/>
                </a:lnTo>
                <a:lnTo>
                  <a:pt x="231031" y="73591"/>
                </a:lnTo>
                <a:lnTo>
                  <a:pt x="257248" y="73591"/>
                </a:lnTo>
                <a:lnTo>
                  <a:pt x="1294972" y="73591"/>
                </a:lnTo>
                <a:lnTo>
                  <a:pt x="1321211" y="73591"/>
                </a:lnTo>
                <a:lnTo>
                  <a:pt x="1347890" y="75916"/>
                </a:lnTo>
                <a:lnTo>
                  <a:pt x="1371924" y="75916"/>
                </a:lnTo>
                <a:lnTo>
                  <a:pt x="1395517" y="78806"/>
                </a:lnTo>
                <a:lnTo>
                  <a:pt x="1419550" y="81718"/>
                </a:lnTo>
                <a:lnTo>
                  <a:pt x="1440718" y="84607"/>
                </a:lnTo>
                <a:lnTo>
                  <a:pt x="1459459" y="90409"/>
                </a:lnTo>
                <a:lnTo>
                  <a:pt x="1477981" y="96211"/>
                </a:lnTo>
                <a:lnTo>
                  <a:pt x="1493856" y="98513"/>
                </a:lnTo>
                <a:lnTo>
                  <a:pt x="1509511" y="104315"/>
                </a:lnTo>
                <a:lnTo>
                  <a:pt x="1523182" y="110117"/>
                </a:lnTo>
                <a:lnTo>
                  <a:pt x="1533545" y="118808"/>
                </a:lnTo>
                <a:lnTo>
                  <a:pt x="1541924" y="124022"/>
                </a:lnTo>
                <a:lnTo>
                  <a:pt x="1549420" y="132713"/>
                </a:lnTo>
                <a:lnTo>
                  <a:pt x="1552287" y="138515"/>
                </a:lnTo>
                <a:lnTo>
                  <a:pt x="1554933" y="141404"/>
                </a:lnTo>
                <a:lnTo>
                  <a:pt x="1554933" y="146619"/>
                </a:lnTo>
                <a:lnTo>
                  <a:pt x="1554933" y="141404"/>
                </a:lnTo>
                <a:lnTo>
                  <a:pt x="1554933" y="138515"/>
                </a:lnTo>
                <a:lnTo>
                  <a:pt x="1560445" y="132713"/>
                </a:lnTo>
                <a:lnTo>
                  <a:pt x="1565296" y="124022"/>
                </a:lnTo>
                <a:lnTo>
                  <a:pt x="1573454" y="118808"/>
                </a:lnTo>
                <a:lnTo>
                  <a:pt x="1586684" y="110117"/>
                </a:lnTo>
                <a:lnTo>
                  <a:pt x="1597488" y="104315"/>
                </a:lnTo>
                <a:lnTo>
                  <a:pt x="1613363" y="98513"/>
                </a:lnTo>
                <a:lnTo>
                  <a:pt x="1629238" y="96211"/>
                </a:lnTo>
                <a:lnTo>
                  <a:pt x="1647760" y="90409"/>
                </a:lnTo>
                <a:lnTo>
                  <a:pt x="1669148" y="84607"/>
                </a:lnTo>
                <a:lnTo>
                  <a:pt x="1690315" y="81718"/>
                </a:lnTo>
                <a:lnTo>
                  <a:pt x="1711041" y="78806"/>
                </a:lnTo>
                <a:lnTo>
                  <a:pt x="1735075" y="75916"/>
                </a:lnTo>
                <a:lnTo>
                  <a:pt x="1761975" y="75916"/>
                </a:lnTo>
                <a:lnTo>
                  <a:pt x="1788213" y="73591"/>
                </a:lnTo>
                <a:lnTo>
                  <a:pt x="1814893" y="73591"/>
                </a:lnTo>
                <a:lnTo>
                  <a:pt x="2849442" y="73591"/>
                </a:lnTo>
                <a:lnTo>
                  <a:pt x="2876122" y="73591"/>
                </a:lnTo>
                <a:lnTo>
                  <a:pt x="2902801" y="70702"/>
                </a:lnTo>
                <a:lnTo>
                  <a:pt x="2926394" y="70702"/>
                </a:lnTo>
                <a:lnTo>
                  <a:pt x="2950428" y="67813"/>
                </a:lnTo>
                <a:lnTo>
                  <a:pt x="2974461" y="64900"/>
                </a:lnTo>
                <a:lnTo>
                  <a:pt x="2995629" y="62011"/>
                </a:lnTo>
                <a:lnTo>
                  <a:pt x="3014371" y="56209"/>
                </a:lnTo>
                <a:lnTo>
                  <a:pt x="3032892" y="50431"/>
                </a:lnTo>
                <a:lnTo>
                  <a:pt x="3051413" y="48105"/>
                </a:lnTo>
                <a:lnTo>
                  <a:pt x="3064643" y="42303"/>
                </a:lnTo>
                <a:lnTo>
                  <a:pt x="3077652" y="33612"/>
                </a:lnTo>
                <a:lnTo>
                  <a:pt x="3088676" y="27811"/>
                </a:lnTo>
                <a:lnTo>
                  <a:pt x="3099039" y="22596"/>
                </a:lnTo>
                <a:lnTo>
                  <a:pt x="3104331" y="13905"/>
                </a:lnTo>
                <a:lnTo>
                  <a:pt x="3109403" y="8103"/>
                </a:lnTo>
                <a:lnTo>
                  <a:pt x="3109403" y="2889"/>
                </a:lnTo>
                <a:lnTo>
                  <a:pt x="3109403" y="0"/>
                </a:lnTo>
              </a:path>
            </a:pathLst>
          </a:custGeom>
          <a:ln w="11053">
            <a:solidFill>
              <a:srgbClr val="000000"/>
            </a:solidFill>
          </a:ln>
        </p:spPr>
        <p:txBody>
          <a:bodyPr wrap="square" lIns="0" tIns="0" rIns="0" bIns="0" rtlCol="0"/>
          <a:lstStyle/>
          <a:p/>
        </p:txBody>
      </p:sp>
      <p:sp>
        <p:nvSpPr>
          <p:cNvPr id="22" name="object 22" descr=""/>
          <p:cNvSpPr txBox="1"/>
          <p:nvPr/>
        </p:nvSpPr>
        <p:spPr>
          <a:xfrm>
            <a:off x="9379807" y="5876051"/>
            <a:ext cx="626110" cy="281305"/>
          </a:xfrm>
          <a:prstGeom prst="rect">
            <a:avLst/>
          </a:prstGeom>
        </p:spPr>
        <p:txBody>
          <a:bodyPr wrap="square" lIns="0" tIns="15875" rIns="0" bIns="0" rtlCol="0" vert="horz">
            <a:spAutoFit/>
          </a:bodyPr>
          <a:lstStyle/>
          <a:p>
            <a:pPr marL="12700">
              <a:lnSpc>
                <a:spcPct val="100000"/>
              </a:lnSpc>
              <a:spcBef>
                <a:spcPts val="125"/>
              </a:spcBef>
            </a:pPr>
            <a:r>
              <a:rPr dirty="0" sz="1650" spc="-80">
                <a:solidFill>
                  <a:srgbClr val="003366"/>
                </a:solidFill>
                <a:latin typeface="宋体"/>
                <a:cs typeface="宋体"/>
              </a:rPr>
              <a:t>块地址</a:t>
            </a:r>
            <a:endParaRPr sz="1650">
              <a:latin typeface="宋体"/>
              <a:cs typeface="宋体"/>
            </a:endParaRPr>
          </a:p>
        </p:txBody>
      </p:sp>
      <p:grpSp>
        <p:nvGrpSpPr>
          <p:cNvPr id="23" name="object 23" descr=""/>
          <p:cNvGrpSpPr/>
          <p:nvPr/>
        </p:nvGrpSpPr>
        <p:grpSpPr>
          <a:xfrm>
            <a:off x="1843087" y="4144924"/>
            <a:ext cx="5481955" cy="513080"/>
            <a:chOff x="1843087" y="4144924"/>
            <a:chExt cx="5481955" cy="513080"/>
          </a:xfrm>
        </p:grpSpPr>
        <p:sp>
          <p:nvSpPr>
            <p:cNvPr id="24" name="object 24" descr=""/>
            <p:cNvSpPr/>
            <p:nvPr/>
          </p:nvSpPr>
          <p:spPr>
            <a:xfrm>
              <a:off x="3935857" y="4365371"/>
              <a:ext cx="216535" cy="287655"/>
            </a:xfrm>
            <a:custGeom>
              <a:avLst/>
              <a:gdLst/>
              <a:ahLst/>
              <a:cxnLst/>
              <a:rect l="l" t="t" r="r" b="b"/>
              <a:pathLst>
                <a:path w="216535" h="287654">
                  <a:moveTo>
                    <a:pt x="162051" y="0"/>
                  </a:moveTo>
                  <a:lnTo>
                    <a:pt x="53975" y="0"/>
                  </a:lnTo>
                  <a:lnTo>
                    <a:pt x="53975" y="179577"/>
                  </a:lnTo>
                  <a:lnTo>
                    <a:pt x="0" y="179577"/>
                  </a:lnTo>
                  <a:lnTo>
                    <a:pt x="108076" y="287527"/>
                  </a:lnTo>
                  <a:lnTo>
                    <a:pt x="216026" y="179577"/>
                  </a:lnTo>
                  <a:lnTo>
                    <a:pt x="162051" y="179577"/>
                  </a:lnTo>
                  <a:lnTo>
                    <a:pt x="162051" y="0"/>
                  </a:lnTo>
                  <a:close/>
                </a:path>
              </a:pathLst>
            </a:custGeom>
            <a:solidFill>
              <a:srgbClr val="EBD782"/>
            </a:solidFill>
          </p:spPr>
          <p:txBody>
            <a:bodyPr wrap="square" lIns="0" tIns="0" rIns="0" bIns="0" rtlCol="0"/>
            <a:lstStyle/>
            <a:p/>
          </p:txBody>
        </p:sp>
        <p:sp>
          <p:nvSpPr>
            <p:cNvPr id="25" name="object 25" descr=""/>
            <p:cNvSpPr/>
            <p:nvPr/>
          </p:nvSpPr>
          <p:spPr>
            <a:xfrm>
              <a:off x="3935857" y="4365371"/>
              <a:ext cx="216535" cy="287655"/>
            </a:xfrm>
            <a:custGeom>
              <a:avLst/>
              <a:gdLst/>
              <a:ahLst/>
              <a:cxnLst/>
              <a:rect l="l" t="t" r="r" b="b"/>
              <a:pathLst>
                <a:path w="216535" h="287654">
                  <a:moveTo>
                    <a:pt x="0" y="179577"/>
                  </a:moveTo>
                  <a:lnTo>
                    <a:pt x="53975" y="179577"/>
                  </a:lnTo>
                  <a:lnTo>
                    <a:pt x="53975" y="0"/>
                  </a:lnTo>
                  <a:lnTo>
                    <a:pt x="162051" y="0"/>
                  </a:lnTo>
                  <a:lnTo>
                    <a:pt x="162051" y="179577"/>
                  </a:lnTo>
                  <a:lnTo>
                    <a:pt x="216026" y="179577"/>
                  </a:lnTo>
                  <a:lnTo>
                    <a:pt x="108076" y="287527"/>
                  </a:lnTo>
                  <a:lnTo>
                    <a:pt x="0" y="179577"/>
                  </a:lnTo>
                  <a:close/>
                </a:path>
              </a:pathLst>
            </a:custGeom>
            <a:ln w="9525">
              <a:solidFill>
                <a:srgbClr val="40458B"/>
              </a:solidFill>
            </a:ln>
          </p:spPr>
          <p:txBody>
            <a:bodyPr wrap="square" lIns="0" tIns="0" rIns="0" bIns="0" rtlCol="0"/>
            <a:lstStyle/>
            <a:p/>
          </p:txBody>
        </p:sp>
        <p:sp>
          <p:nvSpPr>
            <p:cNvPr id="26" name="object 26" descr=""/>
            <p:cNvSpPr/>
            <p:nvPr/>
          </p:nvSpPr>
          <p:spPr>
            <a:xfrm>
              <a:off x="1847850" y="4149687"/>
              <a:ext cx="5472430" cy="287655"/>
            </a:xfrm>
            <a:custGeom>
              <a:avLst/>
              <a:gdLst/>
              <a:ahLst/>
              <a:cxnLst/>
              <a:rect l="l" t="t" r="r" b="b"/>
              <a:pathLst>
                <a:path w="5472430" h="287654">
                  <a:moveTo>
                    <a:pt x="0" y="287566"/>
                  </a:moveTo>
                  <a:lnTo>
                    <a:pt x="5472176" y="287566"/>
                  </a:lnTo>
                  <a:lnTo>
                    <a:pt x="5472176" y="0"/>
                  </a:lnTo>
                  <a:lnTo>
                    <a:pt x="0" y="0"/>
                  </a:lnTo>
                  <a:lnTo>
                    <a:pt x="0" y="287566"/>
                  </a:lnTo>
                  <a:close/>
                </a:path>
              </a:pathLst>
            </a:custGeom>
            <a:ln w="9525">
              <a:solidFill>
                <a:srgbClr val="FF0000"/>
              </a:solidFill>
            </a:ln>
          </p:spPr>
          <p:txBody>
            <a:bodyPr wrap="square" lIns="0" tIns="0" rIns="0" bIns="0" rtlCol="0"/>
            <a:lstStyle/>
            <a:p/>
          </p:txBody>
        </p:sp>
      </p:grpSp>
      <p:grpSp>
        <p:nvGrpSpPr>
          <p:cNvPr id="27" name="object 27" descr=""/>
          <p:cNvGrpSpPr/>
          <p:nvPr/>
        </p:nvGrpSpPr>
        <p:grpSpPr>
          <a:xfrm>
            <a:off x="3975163" y="4959286"/>
            <a:ext cx="225425" cy="297180"/>
            <a:chOff x="3975163" y="4959286"/>
            <a:chExt cx="225425" cy="297180"/>
          </a:xfrm>
        </p:grpSpPr>
        <p:sp>
          <p:nvSpPr>
            <p:cNvPr id="28" name="object 28" descr=""/>
            <p:cNvSpPr/>
            <p:nvPr/>
          </p:nvSpPr>
          <p:spPr>
            <a:xfrm>
              <a:off x="3979926" y="4964048"/>
              <a:ext cx="215900" cy="287655"/>
            </a:xfrm>
            <a:custGeom>
              <a:avLst/>
              <a:gdLst/>
              <a:ahLst/>
              <a:cxnLst/>
              <a:rect l="l" t="t" r="r" b="b"/>
              <a:pathLst>
                <a:path w="215900" h="287654">
                  <a:moveTo>
                    <a:pt x="161925" y="0"/>
                  </a:moveTo>
                  <a:lnTo>
                    <a:pt x="53975" y="0"/>
                  </a:lnTo>
                  <a:lnTo>
                    <a:pt x="53975" y="179705"/>
                  </a:lnTo>
                  <a:lnTo>
                    <a:pt x="0" y="179705"/>
                  </a:lnTo>
                  <a:lnTo>
                    <a:pt x="107950" y="287400"/>
                  </a:lnTo>
                  <a:lnTo>
                    <a:pt x="215900" y="179705"/>
                  </a:lnTo>
                  <a:lnTo>
                    <a:pt x="161925" y="179705"/>
                  </a:lnTo>
                  <a:lnTo>
                    <a:pt x="161925" y="0"/>
                  </a:lnTo>
                  <a:close/>
                </a:path>
              </a:pathLst>
            </a:custGeom>
            <a:solidFill>
              <a:srgbClr val="EBD782"/>
            </a:solidFill>
          </p:spPr>
          <p:txBody>
            <a:bodyPr wrap="square" lIns="0" tIns="0" rIns="0" bIns="0" rtlCol="0"/>
            <a:lstStyle/>
            <a:p/>
          </p:txBody>
        </p:sp>
        <p:sp>
          <p:nvSpPr>
            <p:cNvPr id="29" name="object 29" descr=""/>
            <p:cNvSpPr/>
            <p:nvPr/>
          </p:nvSpPr>
          <p:spPr>
            <a:xfrm>
              <a:off x="3979926" y="4964048"/>
              <a:ext cx="215900" cy="287655"/>
            </a:xfrm>
            <a:custGeom>
              <a:avLst/>
              <a:gdLst/>
              <a:ahLst/>
              <a:cxnLst/>
              <a:rect l="l" t="t" r="r" b="b"/>
              <a:pathLst>
                <a:path w="215900" h="287654">
                  <a:moveTo>
                    <a:pt x="0" y="179705"/>
                  </a:moveTo>
                  <a:lnTo>
                    <a:pt x="53975" y="179705"/>
                  </a:lnTo>
                  <a:lnTo>
                    <a:pt x="53975" y="0"/>
                  </a:lnTo>
                  <a:lnTo>
                    <a:pt x="161925" y="0"/>
                  </a:lnTo>
                  <a:lnTo>
                    <a:pt x="161925" y="179705"/>
                  </a:lnTo>
                  <a:lnTo>
                    <a:pt x="215900" y="179705"/>
                  </a:lnTo>
                  <a:lnTo>
                    <a:pt x="107950" y="287400"/>
                  </a:lnTo>
                  <a:lnTo>
                    <a:pt x="0" y="179705"/>
                  </a:lnTo>
                  <a:close/>
                </a:path>
              </a:pathLst>
            </a:custGeom>
            <a:ln w="9525">
              <a:solidFill>
                <a:srgbClr val="40458B"/>
              </a:solidFill>
            </a:ln>
          </p:spPr>
          <p:txBody>
            <a:bodyPr wrap="square" lIns="0" tIns="0" rIns="0" bIns="0" rtlCol="0"/>
            <a:lstStyle/>
            <a:p/>
          </p:txBody>
        </p:sp>
      </p:grpSp>
      <p:sp>
        <p:nvSpPr>
          <p:cNvPr id="30" name="object 30" descr=""/>
          <p:cNvSpPr txBox="1"/>
          <p:nvPr/>
        </p:nvSpPr>
        <p:spPr>
          <a:xfrm>
            <a:off x="2358644" y="5387441"/>
            <a:ext cx="3573779"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2C44A3"/>
                </a:solidFill>
                <a:latin typeface="黑体"/>
                <a:cs typeface="黑体"/>
              </a:rPr>
              <a:t>块内位移</a:t>
            </a:r>
            <a:r>
              <a:rPr dirty="0" sz="2400" spc="-20">
                <a:solidFill>
                  <a:srgbClr val="2C44A3"/>
                </a:solidFill>
                <a:latin typeface="Tahoma"/>
                <a:cs typeface="Tahoma"/>
              </a:rPr>
              <a:t>-—-</a:t>
            </a:r>
            <a:r>
              <a:rPr dirty="0" sz="2400" spc="-10">
                <a:solidFill>
                  <a:srgbClr val="2C44A3"/>
                </a:solidFill>
                <a:latin typeface="黑体"/>
                <a:cs typeface="黑体"/>
              </a:rPr>
              <a:t>找到块内地址</a:t>
            </a:r>
            <a:endParaRPr sz="2400">
              <a:latin typeface="黑体"/>
              <a:cs typeface="黑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grpSp>
        <p:nvGrpSpPr>
          <p:cNvPr id="8" name="object 8" descr=""/>
          <p:cNvGrpSpPr/>
          <p:nvPr/>
        </p:nvGrpSpPr>
        <p:grpSpPr>
          <a:xfrm>
            <a:off x="0" y="152462"/>
            <a:ext cx="12192000" cy="6707505"/>
            <a:chOff x="0" y="152462"/>
            <a:chExt cx="12192000" cy="6707505"/>
          </a:xfrm>
        </p:grpSpPr>
        <p:sp>
          <p:nvSpPr>
            <p:cNvPr id="9" name="object 9"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10" name="object 10"/>
            <p:cNvPicPr/>
            <p:nvPr/>
          </p:nvPicPr>
          <p:blipFill>
            <a:blip r:embed="rId3" cstate="print"/>
            <a:stretch>
              <a:fillRect/>
            </a:stretch>
          </p:blipFill>
          <p:spPr>
            <a:xfrm>
              <a:off x="6073775" y="152462"/>
              <a:ext cx="6026150" cy="6634097"/>
            </a:xfrm>
            <a:prstGeom prst="rect">
              <a:avLst/>
            </a:prstGeom>
          </p:spPr>
        </p:pic>
        <p:pic>
          <p:nvPicPr>
            <p:cNvPr id="11" name="object 11" descr=""/>
            <p:cNvPicPr/>
            <p:nvPr/>
          </p:nvPicPr>
          <p:blipFill>
            <a:blip r:embed="rId4" cstate="print"/>
            <a:stretch>
              <a:fillRect/>
            </a:stretch>
          </p:blipFill>
          <p:spPr>
            <a:xfrm>
              <a:off x="5436742" y="5918174"/>
              <a:ext cx="238125" cy="250825"/>
            </a:xfrm>
            <a:prstGeom prst="rect">
              <a:avLst/>
            </a:prstGeom>
          </p:spPr>
        </p:pic>
      </p:grpSp>
      <p:sp>
        <p:nvSpPr>
          <p:cNvPr id="12" name="object 12"/>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3" name="object 13" descr=""/>
          <p:cNvSpPr txBox="1"/>
          <p:nvPr/>
        </p:nvSpPr>
        <p:spPr>
          <a:xfrm>
            <a:off x="246379" y="1036828"/>
            <a:ext cx="5715635" cy="5626100"/>
          </a:xfrm>
          <a:prstGeom prst="rect">
            <a:avLst/>
          </a:prstGeom>
        </p:spPr>
        <p:txBody>
          <a:bodyPr wrap="square" lIns="0" tIns="12700" rIns="0" bIns="0" rtlCol="0" vert="horz">
            <a:spAutoFit/>
          </a:bodyPr>
          <a:lstStyle/>
          <a:p>
            <a:pPr marL="469900" marR="55880" indent="-457200">
              <a:lnSpc>
                <a:spcPct val="120000"/>
              </a:lnSpc>
              <a:spcBef>
                <a:spcPts val="100"/>
              </a:spcBef>
              <a:buClr>
                <a:srgbClr val="40458B"/>
              </a:buClr>
              <a:buSzPct val="89583"/>
              <a:buFont typeface="Wingdings"/>
              <a:buChar char=""/>
              <a:tabLst>
                <a:tab pos="469900" algn="l"/>
              </a:tabLst>
            </a:pPr>
            <a:r>
              <a:rPr dirty="0" sz="2400">
                <a:solidFill>
                  <a:srgbClr val="FF0000"/>
                </a:solidFill>
                <a:latin typeface="黑体"/>
                <a:cs typeface="黑体"/>
              </a:rPr>
              <a:t>候选位置</a:t>
            </a:r>
            <a:r>
              <a:rPr dirty="0" sz="2400" spc="-5">
                <a:solidFill>
                  <a:srgbClr val="40458B"/>
                </a:solidFill>
                <a:latin typeface="黑体"/>
                <a:cs typeface="黑体"/>
              </a:rPr>
              <a:t>：由于映像规则的不同，同一</a:t>
            </a:r>
            <a:r>
              <a:rPr dirty="0" sz="2400">
                <a:solidFill>
                  <a:srgbClr val="40458B"/>
                </a:solidFill>
                <a:latin typeface="黑体"/>
                <a:cs typeface="黑体"/>
              </a:rPr>
              <a:t>个主存块可能映射到</a:t>
            </a:r>
            <a:r>
              <a:rPr dirty="0" sz="2400" spc="-25">
                <a:solidFill>
                  <a:srgbClr val="40458B"/>
                </a:solidFill>
                <a:latin typeface="Tahoma"/>
                <a:cs typeface="Tahoma"/>
              </a:rPr>
              <a:t>Cache</a:t>
            </a:r>
            <a:r>
              <a:rPr dirty="0" sz="2400" spc="-10">
                <a:solidFill>
                  <a:srgbClr val="40458B"/>
                </a:solidFill>
                <a:latin typeface="黑体"/>
                <a:cs typeface="黑体"/>
              </a:rPr>
              <a:t>中的一个或</a:t>
            </a:r>
            <a:r>
              <a:rPr dirty="0" sz="2400">
                <a:solidFill>
                  <a:srgbClr val="40458B"/>
                </a:solidFill>
                <a:latin typeface="黑体"/>
                <a:cs typeface="黑体"/>
              </a:rPr>
              <a:t>多个</a:t>
            </a:r>
            <a:r>
              <a:rPr dirty="0" sz="2400" spc="-25">
                <a:solidFill>
                  <a:srgbClr val="40458B"/>
                </a:solidFill>
                <a:latin typeface="Tahoma"/>
                <a:cs typeface="Tahoma"/>
              </a:rPr>
              <a:t>Cache</a:t>
            </a:r>
            <a:r>
              <a:rPr dirty="0" sz="2400" spc="-15">
                <a:solidFill>
                  <a:srgbClr val="40458B"/>
                </a:solidFill>
                <a:latin typeface="黑体"/>
                <a:cs typeface="黑体"/>
              </a:rPr>
              <a:t>块位置。</a:t>
            </a:r>
            <a:endParaRPr sz="2400">
              <a:latin typeface="黑体"/>
              <a:cs typeface="黑体"/>
            </a:endParaRPr>
          </a:p>
          <a:p>
            <a:pPr lvl="1" marL="1383665" indent="-456565">
              <a:lnSpc>
                <a:spcPct val="100000"/>
              </a:lnSpc>
              <a:spcBef>
                <a:spcPts val="1150"/>
              </a:spcBef>
              <a:buSzPct val="89583"/>
              <a:buFont typeface="Wingdings"/>
              <a:buChar char=""/>
              <a:tabLst>
                <a:tab pos="1383665" algn="l"/>
              </a:tabLst>
            </a:pPr>
            <a:r>
              <a:rPr dirty="0" sz="2400" spc="-10">
                <a:solidFill>
                  <a:srgbClr val="40458B"/>
                </a:solidFill>
                <a:latin typeface="黑体"/>
                <a:cs typeface="黑体"/>
              </a:rPr>
              <a:t>全相联最多，</a:t>
            </a:r>
            <a:r>
              <a:rPr dirty="0" sz="2400" spc="-10">
                <a:solidFill>
                  <a:srgbClr val="40458B"/>
                </a:solidFill>
                <a:latin typeface="Tahoma"/>
                <a:cs typeface="Tahoma"/>
              </a:rPr>
              <a:t>M</a:t>
            </a:r>
            <a:r>
              <a:rPr dirty="0" sz="2400" spc="-10">
                <a:solidFill>
                  <a:srgbClr val="40458B"/>
                </a:solidFill>
                <a:latin typeface="黑体"/>
                <a:cs typeface="黑体"/>
              </a:rPr>
              <a:t>个</a:t>
            </a:r>
            <a:r>
              <a:rPr dirty="0" sz="2400" spc="20">
                <a:solidFill>
                  <a:srgbClr val="40458B"/>
                </a:solidFill>
                <a:latin typeface="Tahoma"/>
                <a:cs typeface="Tahoma"/>
              </a:rPr>
              <a:t>, </a:t>
            </a:r>
            <a:r>
              <a:rPr dirty="0" sz="2400" spc="-10">
                <a:solidFill>
                  <a:srgbClr val="40458B"/>
                </a:solidFill>
                <a:latin typeface="Tahoma"/>
                <a:cs typeface="Tahoma"/>
              </a:rPr>
              <a:t>M</a:t>
            </a:r>
            <a:r>
              <a:rPr dirty="0" sz="2400" spc="-25">
                <a:solidFill>
                  <a:srgbClr val="40458B"/>
                </a:solidFill>
                <a:latin typeface="黑体"/>
                <a:cs typeface="黑体"/>
              </a:rPr>
              <a:t>为块数</a:t>
            </a:r>
            <a:endParaRPr sz="2400">
              <a:latin typeface="黑体"/>
              <a:cs typeface="黑体"/>
            </a:endParaRPr>
          </a:p>
          <a:p>
            <a:pPr lvl="1" marL="1383665" indent="-456565">
              <a:lnSpc>
                <a:spcPct val="100000"/>
              </a:lnSpc>
              <a:spcBef>
                <a:spcPts val="1155"/>
              </a:spcBef>
              <a:buSzPct val="89583"/>
              <a:buFont typeface="Wingdings"/>
              <a:buChar char=""/>
              <a:tabLst>
                <a:tab pos="1383665" algn="l"/>
              </a:tabLst>
            </a:pPr>
            <a:r>
              <a:rPr dirty="0" sz="2400" spc="-5">
                <a:solidFill>
                  <a:srgbClr val="40458B"/>
                </a:solidFill>
                <a:latin typeface="黑体"/>
                <a:cs typeface="黑体"/>
              </a:rPr>
              <a:t>直接映像，</a:t>
            </a:r>
            <a:r>
              <a:rPr dirty="0" sz="2400" spc="-10">
                <a:solidFill>
                  <a:srgbClr val="40458B"/>
                </a:solidFill>
                <a:latin typeface="Tahoma"/>
                <a:cs typeface="Tahoma"/>
              </a:rPr>
              <a:t>1</a:t>
            </a:r>
            <a:r>
              <a:rPr dirty="0" sz="2400" spc="-50">
                <a:solidFill>
                  <a:srgbClr val="40458B"/>
                </a:solidFill>
                <a:latin typeface="黑体"/>
                <a:cs typeface="黑体"/>
              </a:rPr>
              <a:t>个</a:t>
            </a:r>
            <a:endParaRPr sz="2400">
              <a:latin typeface="黑体"/>
              <a:cs typeface="黑体"/>
            </a:endParaRPr>
          </a:p>
          <a:p>
            <a:pPr lvl="1" marL="1383665" indent="-456565">
              <a:lnSpc>
                <a:spcPct val="100000"/>
              </a:lnSpc>
              <a:spcBef>
                <a:spcPts val="1155"/>
              </a:spcBef>
              <a:buSzPct val="89583"/>
              <a:buFont typeface="Wingdings"/>
              <a:buChar char=""/>
              <a:tabLst>
                <a:tab pos="1383665" algn="l"/>
              </a:tabLst>
            </a:pPr>
            <a:r>
              <a:rPr dirty="0" sz="2400">
                <a:solidFill>
                  <a:srgbClr val="40458B"/>
                </a:solidFill>
                <a:latin typeface="黑体"/>
                <a:cs typeface="黑体"/>
              </a:rPr>
              <a:t>组相联，</a:t>
            </a:r>
            <a:r>
              <a:rPr dirty="0" sz="2400">
                <a:solidFill>
                  <a:srgbClr val="40458B"/>
                </a:solidFill>
                <a:latin typeface="Tahoma"/>
                <a:cs typeface="Tahoma"/>
              </a:rPr>
              <a:t>n</a:t>
            </a:r>
            <a:r>
              <a:rPr dirty="0" sz="2400">
                <a:solidFill>
                  <a:srgbClr val="40458B"/>
                </a:solidFill>
                <a:latin typeface="黑体"/>
                <a:cs typeface="黑体"/>
              </a:rPr>
              <a:t>个</a:t>
            </a:r>
            <a:r>
              <a:rPr dirty="0" sz="2400" spc="-10">
                <a:solidFill>
                  <a:srgbClr val="40458B"/>
                </a:solidFill>
                <a:latin typeface="Tahoma"/>
                <a:cs typeface="Tahoma"/>
              </a:rPr>
              <a:t>,n</a:t>
            </a:r>
            <a:r>
              <a:rPr dirty="0" sz="2400" spc="-10">
                <a:solidFill>
                  <a:srgbClr val="40458B"/>
                </a:solidFill>
                <a:latin typeface="Microsoft YaHei UI"/>
                <a:cs typeface="Microsoft YaHei UI"/>
              </a:rPr>
              <a:t>∈</a:t>
            </a:r>
            <a:r>
              <a:rPr dirty="0" sz="2400" spc="-10">
                <a:solidFill>
                  <a:srgbClr val="40458B"/>
                </a:solidFill>
                <a:latin typeface="黑体"/>
                <a:cs typeface="黑体"/>
              </a:rPr>
              <a:t>（</a:t>
            </a:r>
            <a:r>
              <a:rPr dirty="0" sz="2400" spc="-10">
                <a:solidFill>
                  <a:srgbClr val="40458B"/>
                </a:solidFill>
                <a:latin typeface="Tahoma"/>
                <a:cs typeface="Tahoma"/>
              </a:rPr>
              <a:t>1,M</a:t>
            </a:r>
            <a:r>
              <a:rPr dirty="0" sz="2400" spc="-10">
                <a:solidFill>
                  <a:srgbClr val="40458B"/>
                </a:solidFill>
                <a:latin typeface="黑体"/>
                <a:cs typeface="黑体"/>
              </a:rPr>
              <a:t>）</a:t>
            </a:r>
            <a:endParaRPr sz="2400">
              <a:latin typeface="黑体"/>
              <a:cs typeface="黑体"/>
            </a:endParaRPr>
          </a:p>
          <a:p>
            <a:pPr marL="520065" indent="-457200">
              <a:lnSpc>
                <a:spcPct val="100000"/>
              </a:lnSpc>
              <a:spcBef>
                <a:spcPts val="2500"/>
              </a:spcBef>
              <a:buSzPct val="89583"/>
              <a:buFont typeface="Wingdings"/>
              <a:buChar char=""/>
              <a:tabLst>
                <a:tab pos="520065" algn="l"/>
              </a:tabLst>
            </a:pPr>
            <a:r>
              <a:rPr dirty="0" sz="2400" spc="-5">
                <a:solidFill>
                  <a:srgbClr val="40458B"/>
                </a:solidFill>
                <a:latin typeface="黑体"/>
                <a:cs typeface="黑体"/>
              </a:rPr>
              <a:t>只需查找</a:t>
            </a:r>
            <a:r>
              <a:rPr dirty="0" sz="2400">
                <a:solidFill>
                  <a:srgbClr val="FF0000"/>
                </a:solidFill>
                <a:latin typeface="黑体"/>
                <a:cs typeface="黑体"/>
              </a:rPr>
              <a:t>候选位置</a:t>
            </a:r>
            <a:r>
              <a:rPr dirty="0" sz="2400" spc="-10">
                <a:solidFill>
                  <a:srgbClr val="40458B"/>
                </a:solidFill>
                <a:latin typeface="黑体"/>
                <a:cs typeface="黑体"/>
              </a:rPr>
              <a:t>所对应的目录表项</a:t>
            </a:r>
            <a:endParaRPr sz="2400">
              <a:latin typeface="黑体"/>
              <a:cs typeface="黑体"/>
            </a:endParaRPr>
          </a:p>
          <a:p>
            <a:pPr marL="520065" marR="5080" indent="-457200">
              <a:lnSpc>
                <a:spcPct val="120000"/>
              </a:lnSpc>
              <a:spcBef>
                <a:spcPts val="2420"/>
              </a:spcBef>
              <a:buClr>
                <a:srgbClr val="40458B"/>
              </a:buClr>
              <a:buSzPct val="89583"/>
              <a:buFont typeface="Wingdings"/>
              <a:buChar char=""/>
              <a:tabLst>
                <a:tab pos="520065" algn="l"/>
              </a:tabLst>
            </a:pPr>
            <a:r>
              <a:rPr dirty="0" sz="2400" spc="-5">
                <a:solidFill>
                  <a:srgbClr val="FF0000"/>
                </a:solidFill>
                <a:latin typeface="黑体"/>
                <a:cs typeface="黑体"/>
              </a:rPr>
              <a:t>访存时</a:t>
            </a:r>
            <a:r>
              <a:rPr dirty="0" sz="2400" spc="-10">
                <a:solidFill>
                  <a:srgbClr val="40458B"/>
                </a:solidFill>
                <a:latin typeface="黑体"/>
                <a:cs typeface="黑体"/>
              </a:rPr>
              <a:t>：</a:t>
            </a:r>
            <a:r>
              <a:rPr dirty="0" sz="2400" spc="-10">
                <a:solidFill>
                  <a:srgbClr val="40458B"/>
                </a:solidFill>
                <a:latin typeface="Tahoma"/>
                <a:cs typeface="Tahoma"/>
              </a:rPr>
              <a:t>CPU</a:t>
            </a:r>
            <a:r>
              <a:rPr dirty="0" sz="2400" spc="-10">
                <a:solidFill>
                  <a:srgbClr val="40458B"/>
                </a:solidFill>
                <a:latin typeface="黑体"/>
                <a:cs typeface="黑体"/>
              </a:rPr>
              <a:t>发送访存地址</a:t>
            </a:r>
            <a:r>
              <a:rPr dirty="0" sz="2400" spc="-10">
                <a:solidFill>
                  <a:srgbClr val="40458B"/>
                </a:solidFill>
                <a:latin typeface="Tahoma"/>
                <a:cs typeface="Tahoma"/>
              </a:rPr>
              <a:t>→</a:t>
            </a:r>
            <a:r>
              <a:rPr dirty="0" sz="2400" spc="-10">
                <a:solidFill>
                  <a:srgbClr val="40458B"/>
                </a:solidFill>
                <a:latin typeface="黑体"/>
                <a:cs typeface="黑体"/>
              </a:rPr>
              <a:t>先查找</a:t>
            </a:r>
            <a:r>
              <a:rPr dirty="0" sz="2400" spc="-50">
                <a:solidFill>
                  <a:srgbClr val="FF0000"/>
                </a:solidFill>
                <a:latin typeface="黑体"/>
                <a:cs typeface="黑体"/>
              </a:rPr>
              <a:t>候</a:t>
            </a:r>
            <a:r>
              <a:rPr dirty="0" sz="2400" spc="-5">
                <a:solidFill>
                  <a:srgbClr val="FF0000"/>
                </a:solidFill>
                <a:latin typeface="黑体"/>
                <a:cs typeface="黑体"/>
              </a:rPr>
              <a:t>选位置目录项</a:t>
            </a:r>
            <a:r>
              <a:rPr dirty="0" sz="2400">
                <a:solidFill>
                  <a:srgbClr val="40458B"/>
                </a:solidFill>
                <a:latin typeface="黑体"/>
                <a:cs typeface="黑体"/>
              </a:rPr>
              <a:t>（标识）</a:t>
            </a:r>
            <a:r>
              <a:rPr dirty="0" sz="2400">
                <a:solidFill>
                  <a:srgbClr val="40458B"/>
                </a:solidFill>
                <a:latin typeface="Tahoma"/>
                <a:cs typeface="Tahoma"/>
              </a:rPr>
              <a:t>→</a:t>
            </a:r>
            <a:r>
              <a:rPr dirty="0" sz="2400" spc="-10">
                <a:solidFill>
                  <a:srgbClr val="40458B"/>
                </a:solidFill>
                <a:latin typeface="黑体"/>
                <a:cs typeface="黑体"/>
              </a:rPr>
              <a:t>若相等且有效</a:t>
            </a:r>
            <a:r>
              <a:rPr dirty="0" sz="2400">
                <a:solidFill>
                  <a:srgbClr val="40458B"/>
                </a:solidFill>
                <a:latin typeface="黑体"/>
                <a:cs typeface="黑体"/>
              </a:rPr>
              <a:t>位为</a:t>
            </a:r>
            <a:r>
              <a:rPr dirty="0" sz="2400" spc="-10">
                <a:solidFill>
                  <a:srgbClr val="40458B"/>
                </a:solidFill>
                <a:latin typeface="Tahoma"/>
                <a:cs typeface="Tahoma"/>
              </a:rPr>
              <a:t>1→</a:t>
            </a:r>
            <a:r>
              <a:rPr dirty="0" sz="2400">
                <a:solidFill>
                  <a:srgbClr val="40458B"/>
                </a:solidFill>
                <a:latin typeface="黑体"/>
                <a:cs typeface="黑体"/>
              </a:rPr>
              <a:t>查找</a:t>
            </a:r>
            <a:r>
              <a:rPr dirty="0" sz="2400" spc="-25">
                <a:solidFill>
                  <a:srgbClr val="40458B"/>
                </a:solidFill>
                <a:latin typeface="Tahoma"/>
                <a:cs typeface="Tahoma"/>
              </a:rPr>
              <a:t>Cache</a:t>
            </a:r>
            <a:r>
              <a:rPr dirty="0" sz="2400" spc="-5">
                <a:solidFill>
                  <a:srgbClr val="40458B"/>
                </a:solidFill>
                <a:latin typeface="黑体"/>
                <a:cs typeface="黑体"/>
              </a:rPr>
              <a:t>块成功</a:t>
            </a:r>
            <a:r>
              <a:rPr dirty="0" sz="2400">
                <a:solidFill>
                  <a:srgbClr val="40458B"/>
                </a:solidFill>
                <a:latin typeface="Tahoma"/>
                <a:cs typeface="Tahoma"/>
              </a:rPr>
              <a:t>→</a:t>
            </a:r>
            <a:r>
              <a:rPr dirty="0" sz="2400">
                <a:solidFill>
                  <a:srgbClr val="40458B"/>
                </a:solidFill>
                <a:latin typeface="黑体"/>
                <a:cs typeface="黑体"/>
              </a:rPr>
              <a:t>结果返</a:t>
            </a:r>
            <a:r>
              <a:rPr dirty="0" sz="2400" spc="-50">
                <a:solidFill>
                  <a:srgbClr val="40458B"/>
                </a:solidFill>
                <a:latin typeface="黑体"/>
                <a:cs typeface="黑体"/>
              </a:rPr>
              <a:t> </a:t>
            </a:r>
            <a:r>
              <a:rPr dirty="0" sz="2400" spc="-10">
                <a:solidFill>
                  <a:srgbClr val="40458B"/>
                </a:solidFill>
                <a:latin typeface="Tahoma"/>
                <a:cs typeface="Tahoma"/>
              </a:rPr>
              <a:t>CPU</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1558925" y="0"/>
            <a:ext cx="6956425" cy="701675"/>
          </a:xfrm>
          <a:prstGeom prst="rect">
            <a:avLst/>
          </a:prstGeom>
        </p:spPr>
      </p:pic>
      <p:grpSp>
        <p:nvGrpSpPr>
          <p:cNvPr id="10" name="object 10" descr=""/>
          <p:cNvGrpSpPr/>
          <p:nvPr/>
        </p:nvGrpSpPr>
        <p:grpSpPr>
          <a:xfrm>
            <a:off x="5659437" y="3136963"/>
            <a:ext cx="297180" cy="368300"/>
            <a:chOff x="5659437" y="3136963"/>
            <a:chExt cx="297180" cy="368300"/>
          </a:xfrm>
        </p:grpSpPr>
        <p:sp>
          <p:nvSpPr>
            <p:cNvPr id="11" name="object 11" descr=""/>
            <p:cNvSpPr/>
            <p:nvPr/>
          </p:nvSpPr>
          <p:spPr>
            <a:xfrm>
              <a:off x="5664200" y="3141726"/>
              <a:ext cx="287655" cy="358775"/>
            </a:xfrm>
            <a:custGeom>
              <a:avLst/>
              <a:gdLst/>
              <a:ahLst/>
              <a:cxnLst/>
              <a:rect l="l" t="t" r="r" b="b"/>
              <a:pathLst>
                <a:path w="287654" h="358775">
                  <a:moveTo>
                    <a:pt x="215519" y="0"/>
                  </a:moveTo>
                  <a:lnTo>
                    <a:pt x="71882" y="0"/>
                  </a:lnTo>
                  <a:lnTo>
                    <a:pt x="71882" y="215137"/>
                  </a:lnTo>
                  <a:lnTo>
                    <a:pt x="0" y="215137"/>
                  </a:lnTo>
                  <a:lnTo>
                    <a:pt x="143637" y="358775"/>
                  </a:lnTo>
                  <a:lnTo>
                    <a:pt x="287400" y="215137"/>
                  </a:lnTo>
                  <a:lnTo>
                    <a:pt x="215519" y="215137"/>
                  </a:lnTo>
                  <a:lnTo>
                    <a:pt x="215519" y="0"/>
                  </a:lnTo>
                  <a:close/>
                </a:path>
              </a:pathLst>
            </a:custGeom>
            <a:solidFill>
              <a:srgbClr val="EBD782"/>
            </a:solidFill>
          </p:spPr>
          <p:txBody>
            <a:bodyPr wrap="square" lIns="0" tIns="0" rIns="0" bIns="0" rtlCol="0"/>
            <a:lstStyle/>
            <a:p/>
          </p:txBody>
        </p:sp>
        <p:sp>
          <p:nvSpPr>
            <p:cNvPr id="12" name="object 12" descr=""/>
            <p:cNvSpPr/>
            <p:nvPr/>
          </p:nvSpPr>
          <p:spPr>
            <a:xfrm>
              <a:off x="5664200" y="3141726"/>
              <a:ext cx="287655" cy="358775"/>
            </a:xfrm>
            <a:custGeom>
              <a:avLst/>
              <a:gdLst/>
              <a:ahLst/>
              <a:cxnLst/>
              <a:rect l="l" t="t" r="r" b="b"/>
              <a:pathLst>
                <a:path w="287654" h="358775">
                  <a:moveTo>
                    <a:pt x="0" y="215137"/>
                  </a:moveTo>
                  <a:lnTo>
                    <a:pt x="71882" y="215137"/>
                  </a:lnTo>
                  <a:lnTo>
                    <a:pt x="71882" y="0"/>
                  </a:lnTo>
                  <a:lnTo>
                    <a:pt x="215519" y="0"/>
                  </a:lnTo>
                  <a:lnTo>
                    <a:pt x="215519" y="215137"/>
                  </a:lnTo>
                  <a:lnTo>
                    <a:pt x="287400" y="215137"/>
                  </a:lnTo>
                  <a:lnTo>
                    <a:pt x="143637" y="358775"/>
                  </a:lnTo>
                  <a:lnTo>
                    <a:pt x="0" y="215137"/>
                  </a:lnTo>
                  <a:close/>
                </a:path>
              </a:pathLst>
            </a:custGeom>
            <a:ln w="9525">
              <a:solidFill>
                <a:srgbClr val="40458B"/>
              </a:solidFill>
            </a:ln>
          </p:spPr>
          <p:txBody>
            <a:bodyPr wrap="square" lIns="0" tIns="0" rIns="0" bIns="0" rtlCol="0"/>
            <a:lstStyle/>
            <a:p/>
          </p:txBody>
        </p:sp>
      </p:grpSp>
      <p:grpSp>
        <p:nvGrpSpPr>
          <p:cNvPr id="13" name="object 13" descr=""/>
          <p:cNvGrpSpPr/>
          <p:nvPr/>
        </p:nvGrpSpPr>
        <p:grpSpPr>
          <a:xfrm>
            <a:off x="5635688" y="3938587"/>
            <a:ext cx="297180" cy="370205"/>
            <a:chOff x="5635688" y="3938587"/>
            <a:chExt cx="297180" cy="370205"/>
          </a:xfrm>
        </p:grpSpPr>
        <p:sp>
          <p:nvSpPr>
            <p:cNvPr id="14" name="object 14" descr=""/>
            <p:cNvSpPr/>
            <p:nvPr/>
          </p:nvSpPr>
          <p:spPr>
            <a:xfrm>
              <a:off x="5640451" y="3943350"/>
              <a:ext cx="287655" cy="360680"/>
            </a:xfrm>
            <a:custGeom>
              <a:avLst/>
              <a:gdLst/>
              <a:ahLst/>
              <a:cxnLst/>
              <a:rect l="l" t="t" r="r" b="b"/>
              <a:pathLst>
                <a:path w="287654" h="360679">
                  <a:moveTo>
                    <a:pt x="215391" y="0"/>
                  </a:moveTo>
                  <a:lnTo>
                    <a:pt x="71754" y="0"/>
                  </a:lnTo>
                  <a:lnTo>
                    <a:pt x="71754" y="216154"/>
                  </a:lnTo>
                  <a:lnTo>
                    <a:pt x="0" y="216154"/>
                  </a:lnTo>
                  <a:lnTo>
                    <a:pt x="143637" y="360299"/>
                  </a:lnTo>
                  <a:lnTo>
                    <a:pt x="287274" y="216154"/>
                  </a:lnTo>
                  <a:lnTo>
                    <a:pt x="215391" y="216154"/>
                  </a:lnTo>
                  <a:lnTo>
                    <a:pt x="215391" y="0"/>
                  </a:lnTo>
                  <a:close/>
                </a:path>
              </a:pathLst>
            </a:custGeom>
            <a:solidFill>
              <a:srgbClr val="EBD782"/>
            </a:solidFill>
          </p:spPr>
          <p:txBody>
            <a:bodyPr wrap="square" lIns="0" tIns="0" rIns="0" bIns="0" rtlCol="0"/>
            <a:lstStyle/>
            <a:p/>
          </p:txBody>
        </p:sp>
        <p:sp>
          <p:nvSpPr>
            <p:cNvPr id="15" name="object 15" descr=""/>
            <p:cNvSpPr/>
            <p:nvPr/>
          </p:nvSpPr>
          <p:spPr>
            <a:xfrm>
              <a:off x="5640451" y="3943350"/>
              <a:ext cx="287655" cy="360680"/>
            </a:xfrm>
            <a:custGeom>
              <a:avLst/>
              <a:gdLst/>
              <a:ahLst/>
              <a:cxnLst/>
              <a:rect l="l" t="t" r="r" b="b"/>
              <a:pathLst>
                <a:path w="287654" h="360679">
                  <a:moveTo>
                    <a:pt x="0" y="216154"/>
                  </a:moveTo>
                  <a:lnTo>
                    <a:pt x="71754" y="216154"/>
                  </a:lnTo>
                  <a:lnTo>
                    <a:pt x="71754" y="0"/>
                  </a:lnTo>
                  <a:lnTo>
                    <a:pt x="215391" y="0"/>
                  </a:lnTo>
                  <a:lnTo>
                    <a:pt x="215391" y="216154"/>
                  </a:lnTo>
                  <a:lnTo>
                    <a:pt x="287274" y="216154"/>
                  </a:lnTo>
                  <a:lnTo>
                    <a:pt x="143637" y="360299"/>
                  </a:lnTo>
                  <a:lnTo>
                    <a:pt x="0" y="216154"/>
                  </a:lnTo>
                  <a:close/>
                </a:path>
              </a:pathLst>
            </a:custGeom>
            <a:ln w="9525">
              <a:solidFill>
                <a:srgbClr val="40458B"/>
              </a:solidFill>
            </a:ln>
          </p:spPr>
          <p:txBody>
            <a:bodyPr wrap="square" lIns="0" tIns="0" rIns="0" bIns="0" rtlCol="0"/>
            <a:lstStyle/>
            <a:p/>
          </p:txBody>
        </p:sp>
      </p:grpSp>
      <p:sp>
        <p:nvSpPr>
          <p:cNvPr id="16" name="object 16" descr=""/>
          <p:cNvSpPr txBox="1"/>
          <p:nvPr/>
        </p:nvSpPr>
        <p:spPr>
          <a:xfrm>
            <a:off x="35153" y="755142"/>
            <a:ext cx="11666220" cy="4437380"/>
          </a:xfrm>
          <a:prstGeom prst="rect">
            <a:avLst/>
          </a:prstGeom>
        </p:spPr>
        <p:txBody>
          <a:bodyPr wrap="square" lIns="0" tIns="215265" rIns="0" bIns="0" rtlCol="0" vert="horz">
            <a:spAutoFit/>
          </a:bodyPr>
          <a:lstStyle/>
          <a:p>
            <a:pPr marL="1161415" indent="-456565">
              <a:lnSpc>
                <a:spcPct val="100000"/>
              </a:lnSpc>
              <a:spcBef>
                <a:spcPts val="1695"/>
              </a:spcBef>
              <a:buClr>
                <a:srgbClr val="40458B"/>
              </a:buClr>
              <a:buSzPct val="89583"/>
              <a:buFont typeface="Wingdings"/>
              <a:buChar char=""/>
              <a:tabLst>
                <a:tab pos="1161415" algn="l"/>
              </a:tabLst>
            </a:pPr>
            <a:r>
              <a:rPr dirty="0" sz="2400">
                <a:solidFill>
                  <a:srgbClr val="FF0000"/>
                </a:solidFill>
                <a:latin typeface="黑体"/>
                <a:cs typeface="黑体"/>
              </a:rPr>
              <a:t>实际可采用两种方法</a:t>
            </a:r>
            <a:r>
              <a:rPr dirty="0" sz="2400">
                <a:solidFill>
                  <a:srgbClr val="40458B"/>
                </a:solidFill>
                <a:latin typeface="黑体"/>
                <a:cs typeface="黑体"/>
              </a:rPr>
              <a:t>：顺序查找与并行查找（</a:t>
            </a:r>
            <a:r>
              <a:rPr dirty="0" sz="2400" spc="-5">
                <a:solidFill>
                  <a:srgbClr val="FF0000"/>
                </a:solidFill>
                <a:latin typeface="黑体"/>
                <a:cs typeface="黑体"/>
              </a:rPr>
              <a:t>面对</a:t>
            </a:r>
            <a:r>
              <a:rPr dirty="0" sz="2400" spc="-25">
                <a:solidFill>
                  <a:srgbClr val="FF0000"/>
                </a:solidFill>
                <a:latin typeface="Tahoma"/>
                <a:cs typeface="Tahoma"/>
              </a:rPr>
              <a:t>Cache</a:t>
            </a:r>
            <a:r>
              <a:rPr dirty="0" sz="2400">
                <a:solidFill>
                  <a:srgbClr val="FF0000"/>
                </a:solidFill>
                <a:latin typeface="黑体"/>
                <a:cs typeface="黑体"/>
              </a:rPr>
              <a:t>中候选位置查找</a:t>
            </a:r>
            <a:r>
              <a:rPr dirty="0" sz="2400" spc="-50">
                <a:solidFill>
                  <a:srgbClr val="40458B"/>
                </a:solidFill>
                <a:latin typeface="黑体"/>
                <a:cs typeface="黑体"/>
              </a:rPr>
              <a:t>）</a:t>
            </a:r>
            <a:endParaRPr sz="2400">
              <a:latin typeface="黑体"/>
              <a:cs typeface="黑体"/>
            </a:endParaRPr>
          </a:p>
          <a:p>
            <a:pPr lvl="1" marL="1217295" indent="-457200">
              <a:lnSpc>
                <a:spcPct val="100000"/>
              </a:lnSpc>
              <a:spcBef>
                <a:spcPts val="1595"/>
              </a:spcBef>
              <a:buClr>
                <a:srgbClr val="40458B"/>
              </a:buClr>
              <a:buSzPct val="89583"/>
              <a:buFont typeface="Wingdings"/>
              <a:buChar char=""/>
              <a:tabLst>
                <a:tab pos="1217295" algn="l"/>
              </a:tabLst>
            </a:pPr>
            <a:r>
              <a:rPr dirty="0" sz="2400">
                <a:solidFill>
                  <a:srgbClr val="FF0000"/>
                </a:solidFill>
                <a:latin typeface="黑体"/>
                <a:cs typeface="黑体"/>
              </a:rPr>
              <a:t>顺序查找</a:t>
            </a:r>
            <a:r>
              <a:rPr dirty="0" sz="2400">
                <a:solidFill>
                  <a:srgbClr val="40458B"/>
                </a:solidFill>
                <a:latin typeface="黑体"/>
                <a:cs typeface="黑体"/>
              </a:rPr>
              <a:t>：主存地址</a:t>
            </a:r>
            <a:r>
              <a:rPr dirty="0" sz="2400" spc="-20">
                <a:solidFill>
                  <a:srgbClr val="40458B"/>
                </a:solidFill>
                <a:latin typeface="Tahoma"/>
                <a:cs typeface="Tahoma"/>
              </a:rPr>
              <a:t>→Cache</a:t>
            </a:r>
            <a:r>
              <a:rPr dirty="0" sz="2400">
                <a:solidFill>
                  <a:srgbClr val="40458B"/>
                </a:solidFill>
                <a:latin typeface="黑体"/>
                <a:cs typeface="黑体"/>
              </a:rPr>
              <a:t>地址映射</a:t>
            </a:r>
            <a:r>
              <a:rPr dirty="0" sz="2400">
                <a:solidFill>
                  <a:srgbClr val="40458B"/>
                </a:solidFill>
                <a:latin typeface="Tahoma"/>
                <a:cs typeface="Tahoma"/>
              </a:rPr>
              <a:t>→</a:t>
            </a:r>
            <a:r>
              <a:rPr dirty="0" sz="2400" spc="-5">
                <a:solidFill>
                  <a:srgbClr val="40458B"/>
                </a:solidFill>
                <a:latin typeface="黑体"/>
                <a:cs typeface="黑体"/>
              </a:rPr>
              <a:t>得到</a:t>
            </a:r>
            <a:r>
              <a:rPr dirty="0" sz="2400" spc="-25">
                <a:solidFill>
                  <a:srgbClr val="40458B"/>
                </a:solidFill>
                <a:latin typeface="Tahoma"/>
                <a:cs typeface="Tahoma"/>
              </a:rPr>
              <a:t>Cache</a:t>
            </a:r>
            <a:r>
              <a:rPr dirty="0" sz="2400">
                <a:solidFill>
                  <a:srgbClr val="40458B"/>
                </a:solidFill>
                <a:latin typeface="黑体"/>
                <a:cs typeface="黑体"/>
              </a:rPr>
              <a:t>地址访问</a:t>
            </a:r>
            <a:r>
              <a:rPr dirty="0" sz="2400" spc="-10">
                <a:solidFill>
                  <a:srgbClr val="40458B"/>
                </a:solidFill>
                <a:latin typeface="Tahoma"/>
                <a:cs typeface="Tahoma"/>
              </a:rPr>
              <a:t>Cache</a:t>
            </a:r>
            <a:endParaRPr sz="2400">
              <a:latin typeface="Tahoma"/>
              <a:cs typeface="Tahoma"/>
            </a:endParaRPr>
          </a:p>
          <a:p>
            <a:pPr lvl="1" marL="1245870" indent="-457200">
              <a:lnSpc>
                <a:spcPct val="100000"/>
              </a:lnSpc>
              <a:spcBef>
                <a:spcPts val="1695"/>
              </a:spcBef>
              <a:buClr>
                <a:srgbClr val="40458B"/>
              </a:buClr>
              <a:buSzPct val="89583"/>
              <a:buFont typeface="Wingdings"/>
              <a:buChar char=""/>
              <a:tabLst>
                <a:tab pos="1245870" algn="l"/>
              </a:tabLst>
            </a:pPr>
            <a:r>
              <a:rPr dirty="0" sz="2400">
                <a:solidFill>
                  <a:srgbClr val="FF0000"/>
                </a:solidFill>
                <a:latin typeface="黑体"/>
                <a:cs typeface="黑体"/>
              </a:rPr>
              <a:t>为保证速度</a:t>
            </a:r>
            <a:r>
              <a:rPr dirty="0" sz="2400" spc="-5">
                <a:solidFill>
                  <a:srgbClr val="40458B"/>
                </a:solidFill>
                <a:latin typeface="黑体"/>
                <a:cs typeface="黑体"/>
              </a:rPr>
              <a:t>：希望并行检查各个候选位置的标识</a:t>
            </a:r>
            <a:endParaRPr sz="2400">
              <a:latin typeface="黑体"/>
              <a:cs typeface="黑体"/>
            </a:endParaRPr>
          </a:p>
          <a:p>
            <a:pPr marL="469265" indent="-456565">
              <a:lnSpc>
                <a:spcPct val="100000"/>
              </a:lnSpc>
              <a:spcBef>
                <a:spcPts val="2270"/>
              </a:spcBef>
              <a:buClr>
                <a:srgbClr val="40458B"/>
              </a:buClr>
              <a:buSzPct val="89583"/>
              <a:buFont typeface="Wingdings"/>
              <a:buChar char=""/>
              <a:tabLst>
                <a:tab pos="469265" algn="l"/>
              </a:tabLst>
            </a:pPr>
            <a:r>
              <a:rPr dirty="0" sz="2400">
                <a:solidFill>
                  <a:srgbClr val="FF0000"/>
                </a:solidFill>
                <a:latin typeface="黑体"/>
                <a:cs typeface="黑体"/>
              </a:rPr>
              <a:t>顺序查找可转换为并行</a:t>
            </a:r>
            <a:r>
              <a:rPr dirty="0" sz="2400">
                <a:solidFill>
                  <a:srgbClr val="40458B"/>
                </a:solidFill>
                <a:latin typeface="黑体"/>
                <a:cs typeface="黑体"/>
              </a:rPr>
              <a:t>：</a:t>
            </a:r>
            <a:r>
              <a:rPr dirty="0" sz="2200" spc="-20">
                <a:solidFill>
                  <a:srgbClr val="40458B"/>
                </a:solidFill>
                <a:latin typeface="黑体"/>
                <a:cs typeface="黑体"/>
              </a:rPr>
              <a:t>主存地址</a:t>
            </a:r>
            <a:r>
              <a:rPr dirty="0" sz="2200" spc="-25">
                <a:solidFill>
                  <a:srgbClr val="40458B"/>
                </a:solidFill>
                <a:latin typeface="Tahoma"/>
                <a:cs typeface="Tahoma"/>
              </a:rPr>
              <a:t>→Cache</a:t>
            </a:r>
            <a:r>
              <a:rPr dirty="0" sz="2200" spc="-20">
                <a:solidFill>
                  <a:srgbClr val="40458B"/>
                </a:solidFill>
                <a:latin typeface="黑体"/>
                <a:cs typeface="黑体"/>
              </a:rPr>
              <a:t>地址映射</a:t>
            </a:r>
            <a:r>
              <a:rPr dirty="0" sz="2200" spc="-30">
                <a:solidFill>
                  <a:srgbClr val="FF0000"/>
                </a:solidFill>
                <a:latin typeface="黑体"/>
                <a:cs typeface="黑体"/>
              </a:rPr>
              <a:t>和</a:t>
            </a:r>
            <a:r>
              <a:rPr dirty="0" sz="2200" spc="-25">
                <a:solidFill>
                  <a:srgbClr val="40458B"/>
                </a:solidFill>
                <a:latin typeface="黑体"/>
                <a:cs typeface="黑体"/>
              </a:rPr>
              <a:t>得到</a:t>
            </a:r>
            <a:r>
              <a:rPr dirty="0" sz="2200" spc="-25">
                <a:solidFill>
                  <a:srgbClr val="40458B"/>
                </a:solidFill>
                <a:latin typeface="Tahoma"/>
                <a:cs typeface="Tahoma"/>
              </a:rPr>
              <a:t>Cache</a:t>
            </a:r>
            <a:r>
              <a:rPr dirty="0" sz="2200" spc="-25">
                <a:solidFill>
                  <a:srgbClr val="40458B"/>
                </a:solidFill>
                <a:latin typeface="黑体"/>
                <a:cs typeface="黑体"/>
              </a:rPr>
              <a:t>地址访问</a:t>
            </a:r>
            <a:r>
              <a:rPr dirty="0" sz="2200" spc="-25">
                <a:solidFill>
                  <a:srgbClr val="40458B"/>
                </a:solidFill>
                <a:latin typeface="Tahoma"/>
                <a:cs typeface="Tahoma"/>
              </a:rPr>
              <a:t>Cache</a:t>
            </a:r>
            <a:r>
              <a:rPr dirty="0" sz="2200" spc="-35">
                <a:solidFill>
                  <a:srgbClr val="FF0000"/>
                </a:solidFill>
                <a:latin typeface="黑体"/>
                <a:cs typeface="黑体"/>
              </a:rPr>
              <a:t>可以同步</a:t>
            </a:r>
            <a:endParaRPr sz="2200">
              <a:latin typeface="黑体"/>
              <a:cs typeface="黑体"/>
            </a:endParaRPr>
          </a:p>
          <a:p>
            <a:pPr lvl="1" marL="3092450" indent="-342900">
              <a:lnSpc>
                <a:spcPct val="100000"/>
              </a:lnSpc>
              <a:spcBef>
                <a:spcPts val="2310"/>
              </a:spcBef>
              <a:buClr>
                <a:srgbClr val="40458B"/>
              </a:buClr>
              <a:buSzPct val="89583"/>
              <a:buFont typeface="Wingdings"/>
              <a:buChar char=""/>
              <a:tabLst>
                <a:tab pos="3092450" algn="l"/>
              </a:tabLst>
            </a:pPr>
            <a:r>
              <a:rPr dirty="0" sz="2400">
                <a:solidFill>
                  <a:srgbClr val="FF0000"/>
                </a:solidFill>
                <a:latin typeface="黑体"/>
                <a:cs typeface="黑体"/>
              </a:rPr>
              <a:t>问题产生</a:t>
            </a:r>
            <a:r>
              <a:rPr dirty="0" sz="2400" spc="-5">
                <a:solidFill>
                  <a:srgbClr val="40458B"/>
                </a:solidFill>
                <a:latin typeface="黑体"/>
                <a:cs typeface="黑体"/>
              </a:rPr>
              <a:t>：既然同步，哪个候选位置是所找数据？</a:t>
            </a:r>
            <a:endParaRPr sz="2400">
              <a:latin typeface="黑体"/>
              <a:cs typeface="黑体"/>
            </a:endParaRPr>
          </a:p>
          <a:p>
            <a:pPr>
              <a:lnSpc>
                <a:spcPct val="100000"/>
              </a:lnSpc>
              <a:spcBef>
                <a:spcPts val="1415"/>
              </a:spcBef>
            </a:pPr>
            <a:endParaRPr sz="2400">
              <a:latin typeface="黑体"/>
              <a:cs typeface="黑体"/>
            </a:endParaRPr>
          </a:p>
          <a:p>
            <a:pPr marL="2155825" indent="-342900">
              <a:lnSpc>
                <a:spcPct val="100000"/>
              </a:lnSpc>
              <a:buClr>
                <a:srgbClr val="40458B"/>
              </a:buClr>
              <a:buSzPct val="89583"/>
              <a:buFont typeface="Wingdings"/>
              <a:buChar char=""/>
              <a:tabLst>
                <a:tab pos="2155825" algn="l"/>
              </a:tabLst>
            </a:pPr>
            <a:r>
              <a:rPr dirty="0" sz="2400" spc="-10">
                <a:solidFill>
                  <a:srgbClr val="FF0000"/>
                </a:solidFill>
                <a:latin typeface="黑体"/>
                <a:cs typeface="黑体"/>
              </a:rPr>
              <a:t>解决方法</a:t>
            </a:r>
            <a:r>
              <a:rPr dirty="0" sz="2400" spc="-10">
                <a:solidFill>
                  <a:srgbClr val="40458B"/>
                </a:solidFill>
                <a:latin typeface="黑体"/>
                <a:cs typeface="黑体"/>
              </a:rPr>
              <a:t>：所有位置信息都获取，然后完成主存</a:t>
            </a:r>
            <a:r>
              <a:rPr dirty="0" sz="2400" spc="-10">
                <a:solidFill>
                  <a:srgbClr val="40458B"/>
                </a:solidFill>
                <a:latin typeface="Tahoma"/>
                <a:cs typeface="Tahoma"/>
              </a:rPr>
              <a:t>-Cache</a:t>
            </a:r>
            <a:r>
              <a:rPr dirty="0" sz="2400" spc="-20">
                <a:solidFill>
                  <a:srgbClr val="40458B"/>
                </a:solidFill>
                <a:latin typeface="黑体"/>
                <a:cs typeface="黑体"/>
              </a:rPr>
              <a:t>地址映射，根据</a:t>
            </a:r>
            <a:endParaRPr sz="2400">
              <a:latin typeface="黑体"/>
              <a:cs typeface="黑体"/>
            </a:endParaRPr>
          </a:p>
          <a:p>
            <a:pPr marL="2155825">
              <a:lnSpc>
                <a:spcPct val="100000"/>
              </a:lnSpc>
              <a:spcBef>
                <a:spcPts val="580"/>
              </a:spcBef>
            </a:pPr>
            <a:r>
              <a:rPr dirty="0" sz="2400">
                <a:solidFill>
                  <a:srgbClr val="40458B"/>
                </a:solidFill>
                <a:latin typeface="黑体"/>
                <a:cs typeface="黑体"/>
              </a:rPr>
              <a:t>其结果选择一个，发给</a:t>
            </a:r>
            <a:r>
              <a:rPr dirty="0" sz="2400" spc="-25">
                <a:solidFill>
                  <a:srgbClr val="40458B"/>
                </a:solidFill>
                <a:latin typeface="Tahoma"/>
                <a:cs typeface="Tahoma"/>
              </a:rPr>
              <a:t>CPU</a:t>
            </a:r>
            <a:endParaRPr sz="2400">
              <a:latin typeface="Tahoma"/>
              <a:cs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0" name="object 10" descr=""/>
          <p:cNvSpPr txBox="1"/>
          <p:nvPr/>
        </p:nvSpPr>
        <p:spPr>
          <a:xfrm>
            <a:off x="708151" y="551557"/>
            <a:ext cx="11010900" cy="1219200"/>
          </a:xfrm>
          <a:prstGeom prst="rect">
            <a:avLst/>
          </a:prstGeom>
        </p:spPr>
        <p:txBody>
          <a:bodyPr wrap="square" lIns="0" tIns="85090" rIns="0" bIns="0" rtlCol="0" vert="horz">
            <a:spAutoFit/>
          </a:bodyPr>
          <a:lstStyle/>
          <a:p>
            <a:pPr marL="469900" indent="-457200">
              <a:lnSpc>
                <a:spcPct val="100000"/>
              </a:lnSpc>
              <a:spcBef>
                <a:spcPts val="670"/>
              </a:spcBef>
              <a:buClr>
                <a:srgbClr val="40458B"/>
              </a:buClr>
              <a:buSzPct val="89583"/>
              <a:buFont typeface="Wingdings"/>
              <a:buChar char=""/>
              <a:tabLst>
                <a:tab pos="469900" algn="l"/>
              </a:tabLst>
            </a:pPr>
            <a:r>
              <a:rPr dirty="0" sz="2400">
                <a:solidFill>
                  <a:srgbClr val="FF0000"/>
                </a:solidFill>
                <a:latin typeface="黑体"/>
                <a:cs typeface="黑体"/>
              </a:rPr>
              <a:t>实际可采用两种方法</a:t>
            </a:r>
            <a:r>
              <a:rPr dirty="0" sz="2400">
                <a:solidFill>
                  <a:srgbClr val="40458B"/>
                </a:solidFill>
                <a:latin typeface="黑体"/>
                <a:cs typeface="黑体"/>
              </a:rPr>
              <a:t>：顺序查找与并行查找（</a:t>
            </a:r>
            <a:r>
              <a:rPr dirty="0" sz="2400">
                <a:solidFill>
                  <a:srgbClr val="FF0000"/>
                </a:solidFill>
                <a:latin typeface="黑体"/>
                <a:cs typeface="黑体"/>
              </a:rPr>
              <a:t>面对</a:t>
            </a:r>
            <a:r>
              <a:rPr dirty="0" sz="2400" spc="-20">
                <a:solidFill>
                  <a:srgbClr val="FF0000"/>
                </a:solidFill>
                <a:latin typeface="Tahoma"/>
                <a:cs typeface="Tahoma"/>
              </a:rPr>
              <a:t>cache</a:t>
            </a:r>
            <a:r>
              <a:rPr dirty="0" sz="2400">
                <a:solidFill>
                  <a:srgbClr val="FF0000"/>
                </a:solidFill>
                <a:latin typeface="黑体"/>
                <a:cs typeface="黑体"/>
              </a:rPr>
              <a:t>中的候选位置查找</a:t>
            </a:r>
            <a:r>
              <a:rPr dirty="0" sz="2400" spc="-25">
                <a:solidFill>
                  <a:srgbClr val="40458B"/>
                </a:solidFill>
                <a:latin typeface="黑体"/>
                <a:cs typeface="黑体"/>
              </a:rPr>
              <a:t>），</a:t>
            </a:r>
            <a:endParaRPr sz="2400">
              <a:latin typeface="黑体"/>
              <a:cs typeface="黑体"/>
            </a:endParaRPr>
          </a:p>
          <a:p>
            <a:pPr marL="469900">
              <a:lnSpc>
                <a:spcPts val="2685"/>
              </a:lnSpc>
              <a:spcBef>
                <a:spcPts val="580"/>
              </a:spcBef>
            </a:pPr>
            <a:r>
              <a:rPr dirty="0" sz="2400">
                <a:solidFill>
                  <a:srgbClr val="40458B"/>
                </a:solidFill>
                <a:latin typeface="Tahoma"/>
                <a:cs typeface="Tahoma"/>
              </a:rPr>
              <a:t>A,B,C,D</a:t>
            </a:r>
            <a:r>
              <a:rPr dirty="0" sz="2400" spc="-20">
                <a:solidFill>
                  <a:srgbClr val="40458B"/>
                </a:solidFill>
                <a:latin typeface="黑体"/>
                <a:cs typeface="黑体"/>
              </a:rPr>
              <a:t>都是候选位置</a:t>
            </a:r>
            <a:endParaRPr sz="2400">
              <a:latin typeface="黑体"/>
              <a:cs typeface="黑体"/>
            </a:endParaRPr>
          </a:p>
          <a:p>
            <a:pPr algn="ctr" marL="591820">
              <a:lnSpc>
                <a:spcPts val="2685"/>
              </a:lnSpc>
              <a:tabLst>
                <a:tab pos="4912360" algn="l"/>
              </a:tabLst>
            </a:pPr>
            <a:r>
              <a:rPr dirty="0" baseline="1157" sz="3600">
                <a:solidFill>
                  <a:srgbClr val="40458B"/>
                </a:solidFill>
                <a:latin typeface="黑体"/>
                <a:cs typeface="黑体"/>
              </a:rPr>
              <a:t>并行查</a:t>
            </a:r>
            <a:r>
              <a:rPr dirty="0" baseline="1157" sz="3600" spc="-75">
                <a:solidFill>
                  <a:srgbClr val="40458B"/>
                </a:solidFill>
                <a:latin typeface="黑体"/>
                <a:cs typeface="黑体"/>
              </a:rPr>
              <a:t>找</a:t>
            </a:r>
            <a:r>
              <a:rPr dirty="0" baseline="1157" sz="3600">
                <a:solidFill>
                  <a:srgbClr val="40458B"/>
                </a:solidFill>
                <a:latin typeface="黑体"/>
                <a:cs typeface="黑体"/>
              </a:rPr>
              <a:t>	</a:t>
            </a:r>
            <a:r>
              <a:rPr dirty="0" sz="2400">
                <a:solidFill>
                  <a:srgbClr val="40458B"/>
                </a:solidFill>
                <a:latin typeface="黑体"/>
                <a:cs typeface="黑体"/>
              </a:rPr>
              <a:t>顺序查</a:t>
            </a:r>
            <a:r>
              <a:rPr dirty="0" sz="2400" spc="-50">
                <a:solidFill>
                  <a:srgbClr val="40458B"/>
                </a:solidFill>
                <a:latin typeface="黑体"/>
                <a:cs typeface="黑体"/>
              </a:rPr>
              <a:t>找</a:t>
            </a:r>
            <a:endParaRPr sz="2400">
              <a:latin typeface="黑体"/>
              <a:cs typeface="黑体"/>
            </a:endParaRPr>
          </a:p>
        </p:txBody>
      </p:sp>
      <p:pic>
        <p:nvPicPr>
          <p:cNvPr id="11" name="object 11" descr=""/>
          <p:cNvPicPr/>
          <p:nvPr/>
        </p:nvPicPr>
        <p:blipFill>
          <a:blip r:embed="rId3" cstate="print"/>
          <a:stretch>
            <a:fillRect/>
          </a:stretch>
        </p:blipFill>
        <p:spPr>
          <a:xfrm>
            <a:off x="3052826" y="1931987"/>
            <a:ext cx="2733675" cy="3733800"/>
          </a:xfrm>
          <a:prstGeom prst="rect">
            <a:avLst/>
          </a:prstGeom>
        </p:spPr>
      </p:pic>
      <p:grpSp>
        <p:nvGrpSpPr>
          <p:cNvPr id="12" name="object 12" descr=""/>
          <p:cNvGrpSpPr/>
          <p:nvPr/>
        </p:nvGrpSpPr>
        <p:grpSpPr>
          <a:xfrm>
            <a:off x="6911975" y="1928812"/>
            <a:ext cx="3165475" cy="4238625"/>
            <a:chOff x="6911975" y="1928812"/>
            <a:chExt cx="3165475" cy="4238625"/>
          </a:xfrm>
        </p:grpSpPr>
        <p:pic>
          <p:nvPicPr>
            <p:cNvPr id="13" name="object 13" descr=""/>
            <p:cNvPicPr/>
            <p:nvPr/>
          </p:nvPicPr>
          <p:blipFill>
            <a:blip r:embed="rId3" cstate="print"/>
            <a:stretch>
              <a:fillRect/>
            </a:stretch>
          </p:blipFill>
          <p:spPr>
            <a:xfrm>
              <a:off x="7343775" y="1928812"/>
              <a:ext cx="2733675" cy="4238625"/>
            </a:xfrm>
            <a:prstGeom prst="rect">
              <a:avLst/>
            </a:prstGeom>
          </p:spPr>
        </p:pic>
        <p:sp>
          <p:nvSpPr>
            <p:cNvPr id="14" name="object 14" descr=""/>
            <p:cNvSpPr/>
            <p:nvPr/>
          </p:nvSpPr>
          <p:spPr>
            <a:xfrm>
              <a:off x="6911975" y="2743199"/>
              <a:ext cx="897255" cy="2512060"/>
            </a:xfrm>
            <a:custGeom>
              <a:avLst/>
              <a:gdLst/>
              <a:ahLst/>
              <a:cxnLst/>
              <a:rect l="l" t="t" r="r" b="b"/>
              <a:pathLst>
                <a:path w="897254" h="2512060">
                  <a:moveTo>
                    <a:pt x="863600" y="38100"/>
                  </a:moveTo>
                  <a:lnTo>
                    <a:pt x="844550" y="28575"/>
                  </a:lnTo>
                  <a:lnTo>
                    <a:pt x="787400" y="0"/>
                  </a:lnTo>
                  <a:lnTo>
                    <a:pt x="787400" y="28575"/>
                  </a:lnTo>
                  <a:lnTo>
                    <a:pt x="0" y="28575"/>
                  </a:lnTo>
                  <a:lnTo>
                    <a:pt x="0" y="47625"/>
                  </a:lnTo>
                  <a:lnTo>
                    <a:pt x="787400" y="47625"/>
                  </a:lnTo>
                  <a:lnTo>
                    <a:pt x="787400" y="76200"/>
                  </a:lnTo>
                  <a:lnTo>
                    <a:pt x="844550" y="47625"/>
                  </a:lnTo>
                  <a:lnTo>
                    <a:pt x="863600" y="38100"/>
                  </a:lnTo>
                  <a:close/>
                </a:path>
                <a:path w="897254" h="2512060">
                  <a:moveTo>
                    <a:pt x="873633" y="1710055"/>
                  </a:moveTo>
                  <a:lnTo>
                    <a:pt x="841489" y="1679448"/>
                  </a:lnTo>
                  <a:lnTo>
                    <a:pt x="753618" y="1595755"/>
                  </a:lnTo>
                  <a:lnTo>
                    <a:pt x="770801" y="1630692"/>
                  </a:lnTo>
                  <a:lnTo>
                    <a:pt x="738505" y="1592199"/>
                  </a:lnTo>
                  <a:lnTo>
                    <a:pt x="713359" y="1546479"/>
                  </a:lnTo>
                  <a:lnTo>
                    <a:pt x="695960" y="1495425"/>
                  </a:lnTo>
                  <a:lnTo>
                    <a:pt x="686816" y="1439545"/>
                  </a:lnTo>
                  <a:lnTo>
                    <a:pt x="685546" y="1400429"/>
                  </a:lnTo>
                  <a:lnTo>
                    <a:pt x="685546" y="1400175"/>
                  </a:lnTo>
                  <a:lnTo>
                    <a:pt x="688213" y="1359281"/>
                  </a:lnTo>
                  <a:lnTo>
                    <a:pt x="694817" y="1317371"/>
                  </a:lnTo>
                  <a:lnTo>
                    <a:pt x="705485" y="1274445"/>
                  </a:lnTo>
                  <a:lnTo>
                    <a:pt x="720344" y="1230884"/>
                  </a:lnTo>
                  <a:lnTo>
                    <a:pt x="739521" y="1187069"/>
                  </a:lnTo>
                  <a:lnTo>
                    <a:pt x="760095" y="1148334"/>
                  </a:lnTo>
                  <a:lnTo>
                    <a:pt x="791718" y="1098804"/>
                  </a:lnTo>
                  <a:lnTo>
                    <a:pt x="815340" y="1067435"/>
                  </a:lnTo>
                  <a:lnTo>
                    <a:pt x="840867" y="1037209"/>
                  </a:lnTo>
                  <a:lnTo>
                    <a:pt x="816610" y="1016762"/>
                  </a:lnTo>
                  <a:lnTo>
                    <a:pt x="789940" y="1048258"/>
                  </a:lnTo>
                  <a:lnTo>
                    <a:pt x="765175" y="1081278"/>
                  </a:lnTo>
                  <a:lnTo>
                    <a:pt x="742823" y="1115314"/>
                  </a:lnTo>
                  <a:lnTo>
                    <a:pt x="722503" y="1150747"/>
                  </a:lnTo>
                  <a:lnTo>
                    <a:pt x="700151" y="1196848"/>
                  </a:lnTo>
                  <a:lnTo>
                    <a:pt x="682244" y="1243076"/>
                  </a:lnTo>
                  <a:lnTo>
                    <a:pt x="668782" y="1288923"/>
                  </a:lnTo>
                  <a:lnTo>
                    <a:pt x="659511" y="1334135"/>
                  </a:lnTo>
                  <a:lnTo>
                    <a:pt x="654685" y="1378585"/>
                  </a:lnTo>
                  <a:lnTo>
                    <a:pt x="653923" y="1400175"/>
                  </a:lnTo>
                  <a:lnTo>
                    <a:pt x="654050" y="1421892"/>
                  </a:lnTo>
                  <a:lnTo>
                    <a:pt x="657606" y="1463675"/>
                  </a:lnTo>
                  <a:lnTo>
                    <a:pt x="665353" y="1503807"/>
                  </a:lnTo>
                  <a:lnTo>
                    <a:pt x="677164" y="1542034"/>
                  </a:lnTo>
                  <a:lnTo>
                    <a:pt x="693039" y="1577848"/>
                  </a:lnTo>
                  <a:lnTo>
                    <a:pt x="712978" y="1610868"/>
                  </a:lnTo>
                  <a:lnTo>
                    <a:pt x="736727" y="1641094"/>
                  </a:lnTo>
                  <a:lnTo>
                    <a:pt x="764413" y="1668018"/>
                  </a:lnTo>
                  <a:lnTo>
                    <a:pt x="767740" y="1670685"/>
                  </a:lnTo>
                  <a:lnTo>
                    <a:pt x="710565" y="1680718"/>
                  </a:lnTo>
                  <a:lnTo>
                    <a:pt x="873633" y="1710055"/>
                  </a:lnTo>
                  <a:close/>
                </a:path>
                <a:path w="897254" h="2512060">
                  <a:moveTo>
                    <a:pt x="873633" y="865505"/>
                  </a:moveTo>
                  <a:lnTo>
                    <a:pt x="841362" y="834783"/>
                  </a:lnTo>
                  <a:lnTo>
                    <a:pt x="788644" y="784580"/>
                  </a:lnTo>
                  <a:lnTo>
                    <a:pt x="788644" y="822426"/>
                  </a:lnTo>
                  <a:lnTo>
                    <a:pt x="782726" y="810387"/>
                  </a:lnTo>
                  <a:lnTo>
                    <a:pt x="788644" y="822426"/>
                  </a:lnTo>
                  <a:lnTo>
                    <a:pt x="788644" y="784580"/>
                  </a:lnTo>
                  <a:lnTo>
                    <a:pt x="753618" y="751205"/>
                  </a:lnTo>
                  <a:lnTo>
                    <a:pt x="770801" y="786142"/>
                  </a:lnTo>
                  <a:lnTo>
                    <a:pt x="759714" y="774573"/>
                  </a:lnTo>
                  <a:lnTo>
                    <a:pt x="729310" y="733171"/>
                  </a:lnTo>
                  <a:lnTo>
                    <a:pt x="706628" y="685419"/>
                  </a:lnTo>
                  <a:lnTo>
                    <a:pt x="692023" y="632714"/>
                  </a:lnTo>
                  <a:lnTo>
                    <a:pt x="685888" y="577342"/>
                  </a:lnTo>
                  <a:lnTo>
                    <a:pt x="685546" y="555879"/>
                  </a:lnTo>
                  <a:lnTo>
                    <a:pt x="685546" y="555625"/>
                  </a:lnTo>
                  <a:lnTo>
                    <a:pt x="688213" y="514731"/>
                  </a:lnTo>
                  <a:lnTo>
                    <a:pt x="694817" y="472821"/>
                  </a:lnTo>
                  <a:lnTo>
                    <a:pt x="705485" y="429768"/>
                  </a:lnTo>
                  <a:lnTo>
                    <a:pt x="720344" y="386461"/>
                  </a:lnTo>
                  <a:lnTo>
                    <a:pt x="739521" y="342519"/>
                  </a:lnTo>
                  <a:lnTo>
                    <a:pt x="760095" y="303784"/>
                  </a:lnTo>
                  <a:lnTo>
                    <a:pt x="791718" y="254254"/>
                  </a:lnTo>
                  <a:lnTo>
                    <a:pt x="815340" y="222758"/>
                  </a:lnTo>
                  <a:lnTo>
                    <a:pt x="840867" y="192659"/>
                  </a:lnTo>
                  <a:lnTo>
                    <a:pt x="816610" y="172212"/>
                  </a:lnTo>
                  <a:lnTo>
                    <a:pt x="789940" y="203708"/>
                  </a:lnTo>
                  <a:lnTo>
                    <a:pt x="765175" y="236855"/>
                  </a:lnTo>
                  <a:lnTo>
                    <a:pt x="742823" y="270891"/>
                  </a:lnTo>
                  <a:lnTo>
                    <a:pt x="722503" y="306197"/>
                  </a:lnTo>
                  <a:lnTo>
                    <a:pt x="700151" y="352298"/>
                  </a:lnTo>
                  <a:lnTo>
                    <a:pt x="682244" y="398526"/>
                  </a:lnTo>
                  <a:lnTo>
                    <a:pt x="668782" y="444500"/>
                  </a:lnTo>
                  <a:lnTo>
                    <a:pt x="659511" y="489712"/>
                  </a:lnTo>
                  <a:lnTo>
                    <a:pt x="654685" y="534035"/>
                  </a:lnTo>
                  <a:lnTo>
                    <a:pt x="653923" y="555625"/>
                  </a:lnTo>
                  <a:lnTo>
                    <a:pt x="654050" y="577342"/>
                  </a:lnTo>
                  <a:lnTo>
                    <a:pt x="657606" y="619252"/>
                  </a:lnTo>
                  <a:lnTo>
                    <a:pt x="665353" y="659257"/>
                  </a:lnTo>
                  <a:lnTo>
                    <a:pt x="677164" y="697357"/>
                  </a:lnTo>
                  <a:lnTo>
                    <a:pt x="693039" y="733171"/>
                  </a:lnTo>
                  <a:lnTo>
                    <a:pt x="712978" y="766318"/>
                  </a:lnTo>
                  <a:lnTo>
                    <a:pt x="736727" y="796556"/>
                  </a:lnTo>
                  <a:lnTo>
                    <a:pt x="764413" y="823341"/>
                  </a:lnTo>
                  <a:lnTo>
                    <a:pt x="767880" y="826109"/>
                  </a:lnTo>
                  <a:lnTo>
                    <a:pt x="710565" y="836168"/>
                  </a:lnTo>
                  <a:lnTo>
                    <a:pt x="873633" y="865505"/>
                  </a:lnTo>
                  <a:close/>
                </a:path>
                <a:path w="897254" h="2512060">
                  <a:moveTo>
                    <a:pt x="896747" y="2511552"/>
                  </a:moveTo>
                  <a:lnTo>
                    <a:pt x="864539" y="2480945"/>
                  </a:lnTo>
                  <a:lnTo>
                    <a:pt x="811745" y="2430780"/>
                  </a:lnTo>
                  <a:lnTo>
                    <a:pt x="811745" y="2468461"/>
                  </a:lnTo>
                  <a:lnTo>
                    <a:pt x="806107" y="2457056"/>
                  </a:lnTo>
                  <a:lnTo>
                    <a:pt x="811745" y="2468461"/>
                  </a:lnTo>
                  <a:lnTo>
                    <a:pt x="811745" y="2430780"/>
                  </a:lnTo>
                  <a:lnTo>
                    <a:pt x="776605" y="2397379"/>
                  </a:lnTo>
                  <a:lnTo>
                    <a:pt x="793965" y="2432507"/>
                  </a:lnTo>
                  <a:lnTo>
                    <a:pt x="782955" y="2421001"/>
                  </a:lnTo>
                  <a:lnTo>
                    <a:pt x="752602" y="2379599"/>
                  </a:lnTo>
                  <a:lnTo>
                    <a:pt x="729869" y="2332101"/>
                  </a:lnTo>
                  <a:lnTo>
                    <a:pt x="715391" y="2279396"/>
                  </a:lnTo>
                  <a:lnTo>
                    <a:pt x="709269" y="2224151"/>
                  </a:lnTo>
                  <a:lnTo>
                    <a:pt x="709041" y="2202434"/>
                  </a:lnTo>
                  <a:lnTo>
                    <a:pt x="709803" y="2182241"/>
                  </a:lnTo>
                  <a:lnTo>
                    <a:pt x="714375" y="2140839"/>
                  </a:lnTo>
                  <a:lnTo>
                    <a:pt x="723138" y="2098294"/>
                  </a:lnTo>
                  <a:lnTo>
                    <a:pt x="735965" y="2055241"/>
                  </a:lnTo>
                  <a:lnTo>
                    <a:pt x="752856" y="2011553"/>
                  </a:lnTo>
                  <a:lnTo>
                    <a:pt x="774192" y="1967611"/>
                  </a:lnTo>
                  <a:lnTo>
                    <a:pt x="793496" y="1934083"/>
                  </a:lnTo>
                  <a:lnTo>
                    <a:pt x="815213" y="1901190"/>
                  </a:lnTo>
                  <a:lnTo>
                    <a:pt x="838835" y="1869694"/>
                  </a:lnTo>
                  <a:lnTo>
                    <a:pt x="864489" y="1839468"/>
                  </a:lnTo>
                  <a:lnTo>
                    <a:pt x="840232" y="1818894"/>
                  </a:lnTo>
                  <a:lnTo>
                    <a:pt x="813435" y="1850644"/>
                  </a:lnTo>
                  <a:lnTo>
                    <a:pt x="788670" y="1883664"/>
                  </a:lnTo>
                  <a:lnTo>
                    <a:pt x="766318" y="1917700"/>
                  </a:lnTo>
                  <a:lnTo>
                    <a:pt x="745871" y="1953260"/>
                  </a:lnTo>
                  <a:lnTo>
                    <a:pt x="723519" y="1999488"/>
                  </a:lnTo>
                  <a:lnTo>
                    <a:pt x="705612" y="2045462"/>
                  </a:lnTo>
                  <a:lnTo>
                    <a:pt x="692150" y="2091309"/>
                  </a:lnTo>
                  <a:lnTo>
                    <a:pt x="683006" y="2136648"/>
                  </a:lnTo>
                  <a:lnTo>
                    <a:pt x="678053" y="2180971"/>
                  </a:lnTo>
                  <a:lnTo>
                    <a:pt x="677291" y="2202434"/>
                  </a:lnTo>
                  <a:lnTo>
                    <a:pt x="677519" y="2222373"/>
                  </a:lnTo>
                  <a:lnTo>
                    <a:pt x="680974" y="2265934"/>
                  </a:lnTo>
                  <a:lnTo>
                    <a:pt x="688721" y="2306066"/>
                  </a:lnTo>
                  <a:lnTo>
                    <a:pt x="700405" y="2344039"/>
                  </a:lnTo>
                  <a:lnTo>
                    <a:pt x="716280" y="2379599"/>
                  </a:lnTo>
                  <a:lnTo>
                    <a:pt x="736219" y="2412873"/>
                  </a:lnTo>
                  <a:lnTo>
                    <a:pt x="759968" y="2442972"/>
                  </a:lnTo>
                  <a:lnTo>
                    <a:pt x="787781" y="2469769"/>
                  </a:lnTo>
                  <a:lnTo>
                    <a:pt x="790841" y="2472207"/>
                  </a:lnTo>
                  <a:lnTo>
                    <a:pt x="733552" y="2482354"/>
                  </a:lnTo>
                  <a:lnTo>
                    <a:pt x="896747" y="2511552"/>
                  </a:lnTo>
                  <a:close/>
                </a:path>
              </a:pathLst>
            </a:custGeom>
            <a:solidFill>
              <a:srgbClr val="FF0000"/>
            </a:solidFill>
          </p:spPr>
          <p:txBody>
            <a:bodyPr wrap="square" lIns="0" tIns="0" rIns="0" bIns="0" rtlCol="0"/>
            <a:lstStyle/>
            <a:p/>
          </p:txBody>
        </p:sp>
      </p:grpSp>
      <p:grpSp>
        <p:nvGrpSpPr>
          <p:cNvPr id="15" name="object 15" descr=""/>
          <p:cNvGrpSpPr/>
          <p:nvPr/>
        </p:nvGrpSpPr>
        <p:grpSpPr>
          <a:xfrm>
            <a:off x="1308100" y="2598801"/>
            <a:ext cx="1670050" cy="2092325"/>
            <a:chOff x="1308100" y="2598801"/>
            <a:chExt cx="1670050" cy="2092325"/>
          </a:xfrm>
        </p:grpSpPr>
        <p:sp>
          <p:nvSpPr>
            <p:cNvPr id="16" name="object 16" descr=""/>
            <p:cNvSpPr/>
            <p:nvPr/>
          </p:nvSpPr>
          <p:spPr>
            <a:xfrm>
              <a:off x="1308100" y="2636774"/>
              <a:ext cx="792480" cy="2016125"/>
            </a:xfrm>
            <a:custGeom>
              <a:avLst/>
              <a:gdLst/>
              <a:ahLst/>
              <a:cxnLst/>
              <a:rect l="l" t="t" r="r" b="b"/>
              <a:pathLst>
                <a:path w="792480" h="2016125">
                  <a:moveTo>
                    <a:pt x="0" y="996569"/>
                  </a:moveTo>
                  <a:lnTo>
                    <a:pt x="792352" y="996569"/>
                  </a:lnTo>
                </a:path>
                <a:path w="792480" h="2016125">
                  <a:moveTo>
                    <a:pt x="792352" y="0"/>
                  </a:moveTo>
                  <a:lnTo>
                    <a:pt x="792352" y="2016125"/>
                  </a:lnTo>
                </a:path>
              </a:pathLst>
            </a:custGeom>
            <a:ln w="22225">
              <a:solidFill>
                <a:srgbClr val="FF0000"/>
              </a:solidFill>
            </a:ln>
          </p:spPr>
          <p:txBody>
            <a:bodyPr wrap="square" lIns="0" tIns="0" rIns="0" bIns="0" rtlCol="0"/>
            <a:lstStyle/>
            <a:p/>
          </p:txBody>
        </p:sp>
        <p:sp>
          <p:nvSpPr>
            <p:cNvPr id="17" name="object 17" descr=""/>
            <p:cNvSpPr/>
            <p:nvPr/>
          </p:nvSpPr>
          <p:spPr>
            <a:xfrm>
              <a:off x="2100453" y="2598800"/>
              <a:ext cx="878205" cy="2092325"/>
            </a:xfrm>
            <a:custGeom>
              <a:avLst/>
              <a:gdLst/>
              <a:ahLst/>
              <a:cxnLst/>
              <a:rect l="l" t="t" r="r" b="b"/>
              <a:pathLst>
                <a:path w="878205" h="2092325">
                  <a:moveTo>
                    <a:pt x="864235" y="1462659"/>
                  </a:moveTo>
                  <a:lnTo>
                    <a:pt x="845185" y="1453134"/>
                  </a:lnTo>
                  <a:lnTo>
                    <a:pt x="788035" y="1424559"/>
                  </a:lnTo>
                  <a:lnTo>
                    <a:pt x="788035" y="1453134"/>
                  </a:lnTo>
                  <a:lnTo>
                    <a:pt x="0" y="1453134"/>
                  </a:lnTo>
                  <a:lnTo>
                    <a:pt x="0" y="1472184"/>
                  </a:lnTo>
                  <a:lnTo>
                    <a:pt x="788035" y="1472184"/>
                  </a:lnTo>
                  <a:lnTo>
                    <a:pt x="788035" y="1500759"/>
                  </a:lnTo>
                  <a:lnTo>
                    <a:pt x="845185" y="1472184"/>
                  </a:lnTo>
                  <a:lnTo>
                    <a:pt x="864235" y="1462659"/>
                  </a:lnTo>
                  <a:close/>
                </a:path>
                <a:path w="878205" h="2092325">
                  <a:moveTo>
                    <a:pt x="864235" y="38100"/>
                  </a:moveTo>
                  <a:lnTo>
                    <a:pt x="845185" y="28575"/>
                  </a:lnTo>
                  <a:lnTo>
                    <a:pt x="788035" y="0"/>
                  </a:lnTo>
                  <a:lnTo>
                    <a:pt x="788035" y="28575"/>
                  </a:lnTo>
                  <a:lnTo>
                    <a:pt x="0" y="28575"/>
                  </a:lnTo>
                  <a:lnTo>
                    <a:pt x="0" y="47625"/>
                  </a:lnTo>
                  <a:lnTo>
                    <a:pt x="788035" y="47625"/>
                  </a:lnTo>
                  <a:lnTo>
                    <a:pt x="788035" y="76200"/>
                  </a:lnTo>
                  <a:lnTo>
                    <a:pt x="845185" y="47625"/>
                  </a:lnTo>
                  <a:lnTo>
                    <a:pt x="864235" y="38100"/>
                  </a:lnTo>
                  <a:close/>
                </a:path>
                <a:path w="878205" h="2092325">
                  <a:moveTo>
                    <a:pt x="877697" y="2054098"/>
                  </a:moveTo>
                  <a:lnTo>
                    <a:pt x="858647" y="2044573"/>
                  </a:lnTo>
                  <a:lnTo>
                    <a:pt x="801497" y="2015998"/>
                  </a:lnTo>
                  <a:lnTo>
                    <a:pt x="801497" y="2044573"/>
                  </a:lnTo>
                  <a:lnTo>
                    <a:pt x="13335" y="2044573"/>
                  </a:lnTo>
                  <a:lnTo>
                    <a:pt x="13335" y="2063623"/>
                  </a:lnTo>
                  <a:lnTo>
                    <a:pt x="801497" y="2063623"/>
                  </a:lnTo>
                  <a:lnTo>
                    <a:pt x="801497" y="2092198"/>
                  </a:lnTo>
                  <a:lnTo>
                    <a:pt x="858647" y="2063623"/>
                  </a:lnTo>
                  <a:lnTo>
                    <a:pt x="877697" y="2054098"/>
                  </a:lnTo>
                  <a:close/>
                </a:path>
                <a:path w="878205" h="2092325">
                  <a:moveTo>
                    <a:pt x="877697" y="742569"/>
                  </a:moveTo>
                  <a:lnTo>
                    <a:pt x="858647" y="733044"/>
                  </a:lnTo>
                  <a:lnTo>
                    <a:pt x="801497" y="704469"/>
                  </a:lnTo>
                  <a:lnTo>
                    <a:pt x="801497" y="733044"/>
                  </a:lnTo>
                  <a:lnTo>
                    <a:pt x="13335" y="733044"/>
                  </a:lnTo>
                  <a:lnTo>
                    <a:pt x="13335" y="752094"/>
                  </a:lnTo>
                  <a:lnTo>
                    <a:pt x="801497" y="752094"/>
                  </a:lnTo>
                  <a:lnTo>
                    <a:pt x="801497" y="780669"/>
                  </a:lnTo>
                  <a:lnTo>
                    <a:pt x="858647" y="752094"/>
                  </a:lnTo>
                  <a:lnTo>
                    <a:pt x="877697" y="742569"/>
                  </a:lnTo>
                  <a:close/>
                </a:path>
              </a:pathLst>
            </a:custGeom>
            <a:solidFill>
              <a:srgbClr val="FF0000"/>
            </a:solidFill>
          </p:spPr>
          <p:txBody>
            <a:bodyPr wrap="square" lIns="0" tIns="0" rIns="0" bIns="0" rtlCol="0"/>
            <a:lstStyle/>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p:cNvPicPr/>
          <p:nvPr/>
        </p:nvPicPr>
        <p:blipFill>
          <a:blip r:embed="rId3" cstate="print"/>
          <a:stretch>
            <a:fillRect/>
          </a:stretch>
        </p:blipFill>
        <p:spPr>
          <a:xfrm>
            <a:off x="4116451" y="981138"/>
            <a:ext cx="7703947" cy="5310124"/>
          </a:xfrm>
          <a:prstGeom prst="rect">
            <a:avLst/>
          </a:prstGeom>
        </p:spPr>
      </p:pic>
      <p:sp>
        <p:nvSpPr>
          <p:cNvPr id="10" name="object 10"/>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1" name="object 11" descr=""/>
          <p:cNvSpPr txBox="1"/>
          <p:nvPr/>
        </p:nvSpPr>
        <p:spPr>
          <a:xfrm>
            <a:off x="53441" y="1174750"/>
            <a:ext cx="4133850" cy="4645660"/>
          </a:xfrm>
          <a:prstGeom prst="rect">
            <a:avLst/>
          </a:prstGeom>
        </p:spPr>
        <p:txBody>
          <a:bodyPr wrap="square" lIns="0" tIns="12700" rIns="0" bIns="0" rtlCol="0" vert="horz">
            <a:spAutoFit/>
          </a:bodyPr>
          <a:lstStyle/>
          <a:p>
            <a:pPr marL="301625">
              <a:lnSpc>
                <a:spcPct val="100000"/>
              </a:lnSpc>
              <a:spcBef>
                <a:spcPts val="100"/>
              </a:spcBef>
            </a:pPr>
            <a:r>
              <a:rPr dirty="0" sz="2400">
                <a:solidFill>
                  <a:srgbClr val="FF0000"/>
                </a:solidFill>
                <a:latin typeface="Tahoma"/>
                <a:cs typeface="Tahoma"/>
              </a:rPr>
              <a:t>MRU</a:t>
            </a:r>
            <a:r>
              <a:rPr dirty="0" sz="2400">
                <a:solidFill>
                  <a:srgbClr val="40458B"/>
                </a:solidFill>
                <a:latin typeface="Tahoma"/>
                <a:cs typeface="Tahoma"/>
              </a:rPr>
              <a:t>:Most</a:t>
            </a:r>
            <a:r>
              <a:rPr dirty="0" sz="2400" spc="-80">
                <a:solidFill>
                  <a:srgbClr val="40458B"/>
                </a:solidFill>
                <a:latin typeface="Tahoma"/>
                <a:cs typeface="Tahoma"/>
              </a:rPr>
              <a:t> </a:t>
            </a:r>
            <a:r>
              <a:rPr dirty="0" sz="2400">
                <a:solidFill>
                  <a:srgbClr val="40458B"/>
                </a:solidFill>
                <a:latin typeface="Tahoma"/>
                <a:cs typeface="Tahoma"/>
              </a:rPr>
              <a:t>Recently</a:t>
            </a:r>
            <a:r>
              <a:rPr dirty="0" sz="2400" spc="-70">
                <a:solidFill>
                  <a:srgbClr val="40458B"/>
                </a:solidFill>
                <a:latin typeface="Tahoma"/>
                <a:cs typeface="Tahoma"/>
              </a:rPr>
              <a:t> </a:t>
            </a:r>
            <a:r>
              <a:rPr dirty="0" sz="2400" spc="-20">
                <a:solidFill>
                  <a:srgbClr val="40458B"/>
                </a:solidFill>
                <a:latin typeface="Tahoma"/>
                <a:cs typeface="Tahoma"/>
              </a:rPr>
              <a:t>Used</a:t>
            </a:r>
            <a:endParaRPr sz="2400">
              <a:latin typeface="Tahoma"/>
              <a:cs typeface="Tahoma"/>
            </a:endParaRPr>
          </a:p>
          <a:p>
            <a:pPr marL="301625" marR="52069">
              <a:lnSpc>
                <a:spcPct val="100000"/>
              </a:lnSpc>
              <a:spcBef>
                <a:spcPts val="2895"/>
              </a:spcBef>
            </a:pPr>
            <a:r>
              <a:rPr dirty="0" sz="2400" spc="-10">
                <a:solidFill>
                  <a:srgbClr val="40458B"/>
                </a:solidFill>
                <a:latin typeface="Tahoma"/>
                <a:cs typeface="Tahoma"/>
              </a:rPr>
              <a:t>A,B,C,D</a:t>
            </a:r>
            <a:r>
              <a:rPr dirty="0" sz="2400" spc="-10">
                <a:solidFill>
                  <a:srgbClr val="40458B"/>
                </a:solidFill>
                <a:latin typeface="黑体"/>
                <a:cs typeface="黑体"/>
              </a:rPr>
              <a:t>都是候选位置，查找</a:t>
            </a:r>
            <a:r>
              <a:rPr dirty="0" sz="2400">
                <a:solidFill>
                  <a:srgbClr val="40458B"/>
                </a:solidFill>
                <a:latin typeface="黑体"/>
                <a:cs typeface="黑体"/>
              </a:rPr>
              <a:t>的</a:t>
            </a:r>
            <a:r>
              <a:rPr dirty="0" sz="2400">
                <a:solidFill>
                  <a:srgbClr val="FF0000"/>
                </a:solidFill>
                <a:latin typeface="黑体"/>
                <a:cs typeface="黑体"/>
              </a:rPr>
              <a:t>起始位置</a:t>
            </a:r>
            <a:r>
              <a:rPr dirty="0" sz="2400" spc="-25">
                <a:solidFill>
                  <a:srgbClr val="40458B"/>
                </a:solidFill>
                <a:latin typeface="黑体"/>
                <a:cs typeface="黑体"/>
              </a:rPr>
              <a:t>不同</a:t>
            </a:r>
            <a:endParaRPr sz="2400">
              <a:latin typeface="黑体"/>
              <a:cs typeface="黑体"/>
            </a:endParaRPr>
          </a:p>
          <a:p>
            <a:pPr marL="301625">
              <a:lnSpc>
                <a:spcPts val="2845"/>
              </a:lnSpc>
              <a:spcBef>
                <a:spcPts val="2955"/>
              </a:spcBef>
            </a:pPr>
            <a:r>
              <a:rPr dirty="0" sz="2400">
                <a:solidFill>
                  <a:srgbClr val="FF0000"/>
                </a:solidFill>
                <a:latin typeface="黑体"/>
                <a:cs typeface="黑体"/>
              </a:rPr>
              <a:t>直线箭头</a:t>
            </a:r>
            <a:r>
              <a:rPr dirty="0" sz="2400" spc="-10">
                <a:solidFill>
                  <a:srgbClr val="40458B"/>
                </a:solidFill>
                <a:latin typeface="黑体"/>
                <a:cs typeface="黑体"/>
              </a:rPr>
              <a:t>代表查找起始位置</a:t>
            </a:r>
            <a:endParaRPr sz="2400">
              <a:latin typeface="黑体"/>
              <a:cs typeface="黑体"/>
            </a:endParaRPr>
          </a:p>
          <a:p>
            <a:pPr marL="301625">
              <a:lnSpc>
                <a:spcPts val="2845"/>
              </a:lnSpc>
            </a:pPr>
            <a:r>
              <a:rPr dirty="0" sz="2400">
                <a:solidFill>
                  <a:srgbClr val="40458B"/>
                </a:solidFill>
                <a:latin typeface="黑体"/>
                <a:cs typeface="黑体"/>
              </a:rPr>
              <a:t>（即最近访问过的</a:t>
            </a:r>
            <a:r>
              <a:rPr dirty="0" sz="2400" spc="-25">
                <a:solidFill>
                  <a:srgbClr val="40458B"/>
                </a:solidFill>
                <a:latin typeface="Tahoma"/>
                <a:cs typeface="Tahoma"/>
              </a:rPr>
              <a:t>cache</a:t>
            </a:r>
            <a:r>
              <a:rPr dirty="0" sz="2400">
                <a:solidFill>
                  <a:srgbClr val="40458B"/>
                </a:solidFill>
                <a:latin typeface="黑体"/>
                <a:cs typeface="黑体"/>
              </a:rPr>
              <a:t>块</a:t>
            </a:r>
            <a:r>
              <a:rPr dirty="0" sz="2400" spc="-50">
                <a:solidFill>
                  <a:srgbClr val="40458B"/>
                </a:solidFill>
                <a:latin typeface="黑体"/>
                <a:cs typeface="黑体"/>
              </a:rPr>
              <a:t>）</a:t>
            </a:r>
            <a:endParaRPr sz="2400">
              <a:latin typeface="黑体"/>
              <a:cs typeface="黑体"/>
            </a:endParaRPr>
          </a:p>
          <a:p>
            <a:pPr>
              <a:lnSpc>
                <a:spcPct val="100000"/>
              </a:lnSpc>
              <a:spcBef>
                <a:spcPts val="1555"/>
              </a:spcBef>
            </a:pPr>
            <a:endParaRPr sz="2400">
              <a:latin typeface="黑体"/>
              <a:cs typeface="黑体"/>
            </a:endParaRPr>
          </a:p>
          <a:p>
            <a:pPr marL="12700">
              <a:lnSpc>
                <a:spcPct val="100000"/>
              </a:lnSpc>
            </a:pPr>
            <a:r>
              <a:rPr dirty="0" sz="2400" spc="-15">
                <a:solidFill>
                  <a:srgbClr val="C00000"/>
                </a:solidFill>
                <a:latin typeface="黑体"/>
                <a:cs typeface="黑体"/>
              </a:rPr>
              <a:t>并行查找与顺序查找</a:t>
            </a:r>
            <a:endParaRPr sz="2400">
              <a:latin typeface="黑体"/>
              <a:cs typeface="黑体"/>
            </a:endParaRPr>
          </a:p>
          <a:p>
            <a:pPr marL="1099185" marR="435609" indent="-457200">
              <a:lnSpc>
                <a:spcPct val="98800"/>
              </a:lnSpc>
              <a:spcBef>
                <a:spcPts val="110"/>
              </a:spcBef>
            </a:pPr>
            <a:r>
              <a:rPr dirty="0" sz="2400">
                <a:solidFill>
                  <a:srgbClr val="40458B"/>
                </a:solidFill>
                <a:latin typeface="黑体"/>
                <a:cs typeface="黑体"/>
              </a:rPr>
              <a:t>提高性能的</a:t>
            </a:r>
            <a:r>
              <a:rPr dirty="0" sz="2400" spc="-10">
                <a:solidFill>
                  <a:srgbClr val="D50092"/>
                </a:solidFill>
                <a:latin typeface="黑体"/>
                <a:cs typeface="黑体"/>
              </a:rPr>
              <a:t>重要思想：</a:t>
            </a:r>
            <a:r>
              <a:rPr dirty="0" sz="2400">
                <a:solidFill>
                  <a:srgbClr val="40458B"/>
                </a:solidFill>
                <a:latin typeface="黑体"/>
                <a:cs typeface="黑体"/>
              </a:rPr>
              <a:t>主候选位置</a:t>
            </a:r>
            <a:r>
              <a:rPr dirty="0" sz="2400" spc="-20">
                <a:solidFill>
                  <a:srgbClr val="40458B"/>
                </a:solidFill>
                <a:latin typeface="Tahoma"/>
                <a:cs typeface="Tahoma"/>
              </a:rPr>
              <a:t>(MRU</a:t>
            </a:r>
            <a:r>
              <a:rPr dirty="0" sz="2400" spc="-20">
                <a:solidFill>
                  <a:srgbClr val="40458B"/>
                </a:solidFill>
                <a:latin typeface="Tahoma"/>
                <a:cs typeface="Tahoma"/>
              </a:rPr>
              <a:t> </a:t>
            </a:r>
            <a:r>
              <a:rPr dirty="0" sz="2400" spc="-10">
                <a:solidFill>
                  <a:srgbClr val="40458B"/>
                </a:solidFill>
                <a:latin typeface="黑体"/>
                <a:cs typeface="黑体"/>
              </a:rPr>
              <a:t>块</a:t>
            </a:r>
            <a:r>
              <a:rPr dirty="0" sz="2400" spc="-15">
                <a:solidFill>
                  <a:srgbClr val="40458B"/>
                </a:solidFill>
                <a:latin typeface="Tahoma"/>
                <a:cs typeface="Tahoma"/>
              </a:rPr>
              <a:t>) </a:t>
            </a:r>
            <a:r>
              <a:rPr dirty="0" sz="2400" spc="-10">
                <a:solidFill>
                  <a:srgbClr val="40458B"/>
                </a:solidFill>
                <a:latin typeface="黑体"/>
                <a:cs typeface="黑体"/>
              </a:rPr>
              <a:t>（前瞻执行</a:t>
            </a:r>
            <a:r>
              <a:rPr dirty="0" sz="2400" spc="-50">
                <a:solidFill>
                  <a:srgbClr val="40458B"/>
                </a:solidFill>
                <a:latin typeface="黑体"/>
                <a:cs typeface="黑体"/>
              </a:rPr>
              <a:t>）</a:t>
            </a:r>
            <a:endParaRPr sz="2400">
              <a:latin typeface="黑体"/>
              <a:cs typeface="黑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528317" y="2869666"/>
            <a:ext cx="3555365" cy="880110"/>
          </a:xfrm>
          <a:prstGeom prst="rect">
            <a:avLst/>
          </a:prstGeom>
        </p:spPr>
        <p:txBody>
          <a:bodyPr wrap="square" lIns="0" tIns="134620" rIns="0" bIns="0" rtlCol="0" vert="horz">
            <a:spAutoFit/>
          </a:bodyPr>
          <a:lstStyle/>
          <a:p>
            <a:pPr marL="469900">
              <a:lnSpc>
                <a:spcPct val="100000"/>
              </a:lnSpc>
              <a:spcBef>
                <a:spcPts val="1060"/>
              </a:spcBef>
            </a:pPr>
            <a:r>
              <a:rPr dirty="0" sz="2000" spc="-10" b="1">
                <a:solidFill>
                  <a:srgbClr val="00AFEF"/>
                </a:solidFill>
                <a:latin typeface="宋体"/>
                <a:cs typeface="宋体"/>
              </a:rPr>
              <a:t>发送给</a:t>
            </a:r>
            <a:r>
              <a:rPr dirty="0" sz="2000" spc="-20" b="1">
                <a:solidFill>
                  <a:srgbClr val="00AFEF"/>
                </a:solidFill>
                <a:latin typeface="Times New Roman"/>
                <a:cs typeface="Times New Roman"/>
              </a:rPr>
              <a:t>CPU</a:t>
            </a:r>
            <a:r>
              <a:rPr dirty="0" sz="2000" spc="-50" b="1">
                <a:solidFill>
                  <a:srgbClr val="00AFEF"/>
                </a:solidFill>
                <a:latin typeface="宋体"/>
                <a:cs typeface="宋体"/>
              </a:rPr>
              <a:t>。</a:t>
            </a:r>
            <a:endParaRPr sz="2000">
              <a:latin typeface="宋体"/>
              <a:cs typeface="宋体"/>
            </a:endParaRPr>
          </a:p>
          <a:p>
            <a:pPr marL="469265" indent="-456565">
              <a:lnSpc>
                <a:spcPct val="100000"/>
              </a:lnSpc>
              <a:spcBef>
                <a:spcPts val="965"/>
              </a:spcBef>
              <a:buClr>
                <a:srgbClr val="4668F5"/>
              </a:buClr>
              <a:buSzPct val="60000"/>
              <a:buFont typeface="Wingdings"/>
              <a:buChar char=""/>
              <a:tabLst>
                <a:tab pos="469265" algn="l"/>
              </a:tabLst>
            </a:pPr>
            <a:r>
              <a:rPr dirty="0" sz="2000" spc="-15" b="1">
                <a:solidFill>
                  <a:srgbClr val="FF0000"/>
                </a:solidFill>
                <a:latin typeface="宋体"/>
                <a:cs typeface="宋体"/>
              </a:rPr>
              <a:t>同时比较相联存储器的内容</a:t>
            </a:r>
            <a:endParaRPr sz="2000">
              <a:latin typeface="宋体"/>
              <a:cs typeface="宋体"/>
            </a:endParaRPr>
          </a:p>
        </p:txBody>
      </p:sp>
      <p:sp>
        <p:nvSpPr>
          <p:cNvPr id="10" name="object 10" descr=""/>
          <p:cNvSpPr txBox="1"/>
          <p:nvPr/>
        </p:nvSpPr>
        <p:spPr>
          <a:xfrm>
            <a:off x="270763" y="467614"/>
            <a:ext cx="11550015" cy="2489200"/>
          </a:xfrm>
          <a:prstGeom prst="rect">
            <a:avLst/>
          </a:prstGeom>
        </p:spPr>
        <p:txBody>
          <a:bodyPr wrap="square" lIns="0" tIns="191135" rIns="0" bIns="0" rtlCol="0" vert="horz">
            <a:spAutoFit/>
          </a:bodyPr>
          <a:lstStyle/>
          <a:p>
            <a:pPr marL="522605" indent="-457200">
              <a:lnSpc>
                <a:spcPct val="100000"/>
              </a:lnSpc>
              <a:spcBef>
                <a:spcPts val="1505"/>
              </a:spcBef>
              <a:buClr>
                <a:srgbClr val="40458B"/>
              </a:buClr>
              <a:buSzPct val="89583"/>
              <a:buFont typeface="Wingdings"/>
              <a:buChar char=""/>
              <a:tabLst>
                <a:tab pos="522605" algn="l"/>
              </a:tabLst>
            </a:pPr>
            <a:r>
              <a:rPr dirty="0" sz="2400">
                <a:solidFill>
                  <a:srgbClr val="FF0000"/>
                </a:solidFill>
                <a:latin typeface="黑体"/>
                <a:cs typeface="黑体"/>
              </a:rPr>
              <a:t>并行查找实现算法</a:t>
            </a:r>
            <a:r>
              <a:rPr dirty="0" sz="2400" spc="-10">
                <a:solidFill>
                  <a:srgbClr val="40458B"/>
                </a:solidFill>
                <a:latin typeface="黑体"/>
                <a:cs typeface="黑体"/>
              </a:rPr>
              <a:t>：</a:t>
            </a:r>
            <a:r>
              <a:rPr dirty="0" sz="2400" spc="-10">
                <a:solidFill>
                  <a:srgbClr val="40458B"/>
                </a:solidFill>
                <a:latin typeface="Tahoma"/>
                <a:cs typeface="Tahoma"/>
              </a:rPr>
              <a:t>1</a:t>
            </a:r>
            <a:r>
              <a:rPr dirty="0" sz="2400" spc="-5">
                <a:solidFill>
                  <a:srgbClr val="40458B"/>
                </a:solidFill>
                <a:latin typeface="黑体"/>
                <a:cs typeface="黑体"/>
              </a:rPr>
              <a:t>、相联存储器；</a:t>
            </a:r>
            <a:r>
              <a:rPr dirty="0" sz="2400" spc="-10">
                <a:solidFill>
                  <a:srgbClr val="40458B"/>
                </a:solidFill>
                <a:latin typeface="Tahoma"/>
                <a:cs typeface="Tahoma"/>
              </a:rPr>
              <a:t>2</a:t>
            </a:r>
            <a:r>
              <a:rPr dirty="0" sz="2400" spc="-5">
                <a:solidFill>
                  <a:srgbClr val="40458B"/>
                </a:solidFill>
                <a:latin typeface="黑体"/>
                <a:cs typeface="黑体"/>
              </a:rPr>
              <a:t>、单体多字的按地址访问的存储器和比较器</a:t>
            </a:r>
            <a:endParaRPr sz="2400">
              <a:latin typeface="黑体"/>
              <a:cs typeface="黑体"/>
            </a:endParaRPr>
          </a:p>
          <a:p>
            <a:pPr marL="12700">
              <a:lnSpc>
                <a:spcPct val="100000"/>
              </a:lnSpc>
              <a:spcBef>
                <a:spcPts val="1410"/>
              </a:spcBef>
              <a:tabLst>
                <a:tab pos="469900"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a:solidFill>
                  <a:srgbClr val="E14B04"/>
                </a:solidFill>
                <a:latin typeface="黑体"/>
                <a:cs typeface="黑体"/>
              </a:rPr>
              <a:t>并行查找的实现方法（采用直接映像或是组相联映像的情况下</a:t>
            </a:r>
            <a:r>
              <a:rPr dirty="0" sz="2400" spc="-50">
                <a:solidFill>
                  <a:srgbClr val="E14B04"/>
                </a:solidFill>
                <a:latin typeface="黑体"/>
                <a:cs typeface="黑体"/>
              </a:rPr>
              <a:t>）</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20">
                <a:solidFill>
                  <a:srgbClr val="40458B"/>
                </a:solidFill>
                <a:latin typeface="黑体"/>
                <a:cs typeface="黑体"/>
              </a:rPr>
              <a:t>相联存储器</a:t>
            </a:r>
            <a:endParaRPr sz="2400">
              <a:latin typeface="黑体"/>
              <a:cs typeface="黑体"/>
            </a:endParaRPr>
          </a:p>
          <a:p>
            <a:pPr lvl="1" marL="1727200" indent="-457200">
              <a:lnSpc>
                <a:spcPct val="100000"/>
              </a:lnSpc>
              <a:spcBef>
                <a:spcPts val="1025"/>
              </a:spcBef>
              <a:buClr>
                <a:srgbClr val="4668F5"/>
              </a:buClr>
              <a:buSzPct val="60000"/>
              <a:buFont typeface="Wingdings"/>
              <a:buChar char=""/>
              <a:tabLst>
                <a:tab pos="1727200" algn="l"/>
              </a:tabLst>
            </a:pPr>
            <a:r>
              <a:rPr dirty="0" sz="2000" spc="-10" b="1">
                <a:solidFill>
                  <a:srgbClr val="00AFEF"/>
                </a:solidFill>
                <a:latin typeface="宋体"/>
                <a:cs typeface="宋体"/>
              </a:rPr>
              <a:t>目录由</a:t>
            </a:r>
            <a:r>
              <a:rPr dirty="0" sz="2000" b="1">
                <a:solidFill>
                  <a:srgbClr val="9933FF"/>
                </a:solidFill>
                <a:latin typeface="Times New Roman"/>
                <a:cs typeface="Times New Roman"/>
              </a:rPr>
              <a:t>2</a:t>
            </a:r>
            <a:r>
              <a:rPr dirty="0" baseline="25641" sz="1950" b="1">
                <a:solidFill>
                  <a:srgbClr val="9933FF"/>
                </a:solidFill>
                <a:latin typeface="Times New Roman"/>
                <a:cs typeface="Times New Roman"/>
              </a:rPr>
              <a:t>g</a:t>
            </a:r>
            <a:r>
              <a:rPr dirty="0" sz="2000" spc="-20" b="1">
                <a:solidFill>
                  <a:srgbClr val="00AFEF"/>
                </a:solidFill>
                <a:latin typeface="宋体"/>
                <a:cs typeface="宋体"/>
              </a:rPr>
              <a:t>个相联存储区构成，每个相联存储区的大小为</a:t>
            </a:r>
            <a:r>
              <a:rPr dirty="0" sz="2000" spc="-10" b="1">
                <a:solidFill>
                  <a:srgbClr val="9933FF"/>
                </a:solidFill>
                <a:latin typeface="Times New Roman"/>
                <a:cs typeface="Times New Roman"/>
              </a:rPr>
              <a:t>n</a:t>
            </a:r>
            <a:r>
              <a:rPr dirty="0" sz="2000" spc="-10" b="1">
                <a:solidFill>
                  <a:srgbClr val="9933FF"/>
                </a:solidFill>
                <a:latin typeface="宋体"/>
                <a:cs typeface="宋体"/>
              </a:rPr>
              <a:t>×（</a:t>
            </a:r>
            <a:r>
              <a:rPr dirty="0" sz="2000" spc="-10" b="1">
                <a:solidFill>
                  <a:srgbClr val="9933FF"/>
                </a:solidFill>
                <a:latin typeface="Times New Roman"/>
                <a:cs typeface="Times New Roman"/>
              </a:rPr>
              <a:t>h+log</a:t>
            </a:r>
            <a:r>
              <a:rPr dirty="0" baseline="-21367" sz="1950" spc="-15" b="1">
                <a:solidFill>
                  <a:srgbClr val="9933FF"/>
                </a:solidFill>
                <a:latin typeface="Times New Roman"/>
                <a:cs typeface="Times New Roman"/>
              </a:rPr>
              <a:t>2</a:t>
            </a:r>
            <a:r>
              <a:rPr dirty="0" sz="2000" spc="-10" b="1">
                <a:solidFill>
                  <a:srgbClr val="9933FF"/>
                </a:solidFill>
                <a:latin typeface="Times New Roman"/>
                <a:cs typeface="Times New Roman"/>
              </a:rPr>
              <a:t>n</a:t>
            </a:r>
            <a:r>
              <a:rPr dirty="0" sz="2000" spc="-10" b="1">
                <a:solidFill>
                  <a:srgbClr val="9933FF"/>
                </a:solidFill>
                <a:latin typeface="宋体"/>
                <a:cs typeface="宋体"/>
              </a:rPr>
              <a:t>）</a:t>
            </a:r>
            <a:r>
              <a:rPr dirty="0" sz="2000" spc="-35" b="1">
                <a:solidFill>
                  <a:srgbClr val="00AFEF"/>
                </a:solidFill>
                <a:latin typeface="宋体"/>
                <a:cs typeface="宋体"/>
              </a:rPr>
              <a:t>位。</a:t>
            </a:r>
            <a:endParaRPr sz="2000">
              <a:latin typeface="宋体"/>
              <a:cs typeface="宋体"/>
            </a:endParaRPr>
          </a:p>
          <a:p>
            <a:pPr lvl="1" marL="1727200" indent="-457200">
              <a:lnSpc>
                <a:spcPct val="100000"/>
              </a:lnSpc>
              <a:spcBef>
                <a:spcPts val="960"/>
              </a:spcBef>
              <a:buClr>
                <a:srgbClr val="4668F5"/>
              </a:buClr>
              <a:buSzPct val="60000"/>
              <a:buFont typeface="Wingdings"/>
              <a:buChar char=""/>
              <a:tabLst>
                <a:tab pos="1727200" algn="l"/>
              </a:tabLst>
            </a:pPr>
            <a:r>
              <a:rPr dirty="0" sz="2000" spc="-20" b="1">
                <a:solidFill>
                  <a:srgbClr val="00AFEF"/>
                </a:solidFill>
                <a:latin typeface="宋体"/>
                <a:cs typeface="宋体"/>
              </a:rPr>
              <a:t>根据所查找到的组内块地址，从</a:t>
            </a:r>
            <a:r>
              <a:rPr dirty="0" sz="2000" spc="-10" b="1">
                <a:solidFill>
                  <a:srgbClr val="00AFEF"/>
                </a:solidFill>
                <a:latin typeface="Times New Roman"/>
                <a:cs typeface="Times New Roman"/>
              </a:rPr>
              <a:t>Cache</a:t>
            </a:r>
            <a:r>
              <a:rPr dirty="0" sz="2000" spc="-25" b="1">
                <a:solidFill>
                  <a:srgbClr val="00AFEF"/>
                </a:solidFill>
                <a:latin typeface="宋体"/>
                <a:cs typeface="宋体"/>
              </a:rPr>
              <a:t>存储体中读出的多个信息字中选一个，</a:t>
            </a:r>
            <a:endParaRPr sz="2000">
              <a:latin typeface="宋体"/>
              <a:cs typeface="宋体"/>
            </a:endParaRPr>
          </a:p>
        </p:txBody>
      </p:sp>
      <p:grpSp>
        <p:nvGrpSpPr>
          <p:cNvPr id="11" name="object 11" descr=""/>
          <p:cNvGrpSpPr/>
          <p:nvPr/>
        </p:nvGrpSpPr>
        <p:grpSpPr>
          <a:xfrm>
            <a:off x="7882681" y="3378591"/>
            <a:ext cx="1921510" cy="2519680"/>
            <a:chOff x="7882681" y="3378591"/>
            <a:chExt cx="1921510" cy="2519680"/>
          </a:xfrm>
        </p:grpSpPr>
        <p:sp>
          <p:nvSpPr>
            <p:cNvPr id="12" name="object 12" descr=""/>
            <p:cNvSpPr/>
            <p:nvPr/>
          </p:nvSpPr>
          <p:spPr>
            <a:xfrm>
              <a:off x="8445830" y="4129557"/>
              <a:ext cx="1217295" cy="1760855"/>
            </a:xfrm>
            <a:custGeom>
              <a:avLst/>
              <a:gdLst/>
              <a:ahLst/>
              <a:cxnLst/>
              <a:rect l="l" t="t" r="r" b="b"/>
              <a:pathLst>
                <a:path w="1217295" h="1760854">
                  <a:moveTo>
                    <a:pt x="1216850" y="1040168"/>
                  </a:moveTo>
                  <a:lnTo>
                    <a:pt x="0" y="1040168"/>
                  </a:lnTo>
                  <a:lnTo>
                    <a:pt x="0" y="1760842"/>
                  </a:lnTo>
                  <a:lnTo>
                    <a:pt x="1216850" y="1760842"/>
                  </a:lnTo>
                  <a:lnTo>
                    <a:pt x="1216850" y="1040168"/>
                  </a:lnTo>
                  <a:close/>
                </a:path>
                <a:path w="1217295" h="1760854">
                  <a:moveTo>
                    <a:pt x="1216850" y="0"/>
                  </a:moveTo>
                  <a:lnTo>
                    <a:pt x="0" y="0"/>
                  </a:lnTo>
                  <a:lnTo>
                    <a:pt x="0" y="721131"/>
                  </a:lnTo>
                  <a:lnTo>
                    <a:pt x="1216850" y="721131"/>
                  </a:lnTo>
                  <a:lnTo>
                    <a:pt x="1216850" y="0"/>
                  </a:lnTo>
                  <a:close/>
                </a:path>
              </a:pathLst>
            </a:custGeom>
            <a:solidFill>
              <a:srgbClr val="CCFFFF"/>
            </a:solidFill>
          </p:spPr>
          <p:txBody>
            <a:bodyPr wrap="square" lIns="0" tIns="0" rIns="0" bIns="0" rtlCol="0"/>
            <a:lstStyle/>
            <a:p/>
          </p:txBody>
        </p:sp>
        <p:sp>
          <p:nvSpPr>
            <p:cNvPr id="13" name="object 13" descr=""/>
            <p:cNvSpPr/>
            <p:nvPr/>
          </p:nvSpPr>
          <p:spPr>
            <a:xfrm>
              <a:off x="8445841" y="4129549"/>
              <a:ext cx="1217295" cy="1760855"/>
            </a:xfrm>
            <a:custGeom>
              <a:avLst/>
              <a:gdLst/>
              <a:ahLst/>
              <a:cxnLst/>
              <a:rect l="l" t="t" r="r" b="b"/>
              <a:pathLst>
                <a:path w="1217295" h="1760854">
                  <a:moveTo>
                    <a:pt x="0" y="1760842"/>
                  </a:moveTo>
                  <a:lnTo>
                    <a:pt x="1216845" y="1760842"/>
                  </a:lnTo>
                  <a:lnTo>
                    <a:pt x="1216844" y="0"/>
                  </a:lnTo>
                  <a:lnTo>
                    <a:pt x="0" y="0"/>
                  </a:lnTo>
                  <a:lnTo>
                    <a:pt x="0" y="1760842"/>
                  </a:lnTo>
                  <a:close/>
                </a:path>
              </a:pathLst>
            </a:custGeom>
            <a:ln w="14519">
              <a:solidFill>
                <a:srgbClr val="000000"/>
              </a:solidFill>
            </a:ln>
          </p:spPr>
          <p:txBody>
            <a:bodyPr wrap="square" lIns="0" tIns="0" rIns="0" bIns="0" rtlCol="0"/>
            <a:lstStyle/>
            <a:p/>
          </p:txBody>
        </p:sp>
        <p:sp>
          <p:nvSpPr>
            <p:cNvPr id="14" name="object 14" descr=""/>
            <p:cNvSpPr/>
            <p:nvPr/>
          </p:nvSpPr>
          <p:spPr>
            <a:xfrm>
              <a:off x="8445841" y="4850681"/>
              <a:ext cx="1212215" cy="319405"/>
            </a:xfrm>
            <a:custGeom>
              <a:avLst/>
              <a:gdLst/>
              <a:ahLst/>
              <a:cxnLst/>
              <a:rect l="l" t="t" r="r" b="b"/>
              <a:pathLst>
                <a:path w="1212215" h="319404">
                  <a:moveTo>
                    <a:pt x="1211737" y="0"/>
                  </a:moveTo>
                  <a:lnTo>
                    <a:pt x="0" y="0"/>
                  </a:lnTo>
                  <a:lnTo>
                    <a:pt x="0" y="319040"/>
                  </a:lnTo>
                  <a:lnTo>
                    <a:pt x="1211737" y="319040"/>
                  </a:lnTo>
                  <a:lnTo>
                    <a:pt x="1211737" y="0"/>
                  </a:lnTo>
                  <a:close/>
                </a:path>
              </a:pathLst>
            </a:custGeom>
            <a:solidFill>
              <a:srgbClr val="FFCC99"/>
            </a:solidFill>
          </p:spPr>
          <p:txBody>
            <a:bodyPr wrap="square" lIns="0" tIns="0" rIns="0" bIns="0" rtlCol="0"/>
            <a:lstStyle/>
            <a:p/>
          </p:txBody>
        </p:sp>
        <p:sp>
          <p:nvSpPr>
            <p:cNvPr id="15" name="object 15" descr=""/>
            <p:cNvSpPr/>
            <p:nvPr/>
          </p:nvSpPr>
          <p:spPr>
            <a:xfrm>
              <a:off x="7889666" y="3385576"/>
              <a:ext cx="1907539" cy="1784350"/>
            </a:xfrm>
            <a:custGeom>
              <a:avLst/>
              <a:gdLst/>
              <a:ahLst/>
              <a:cxnLst/>
              <a:rect l="l" t="t" r="r" b="b"/>
              <a:pathLst>
                <a:path w="1907540" h="1784350">
                  <a:moveTo>
                    <a:pt x="556175" y="1784145"/>
                  </a:moveTo>
                  <a:lnTo>
                    <a:pt x="1767913" y="1784145"/>
                  </a:lnTo>
                  <a:lnTo>
                    <a:pt x="1767913" y="1465104"/>
                  </a:lnTo>
                  <a:lnTo>
                    <a:pt x="556175" y="1465104"/>
                  </a:lnTo>
                  <a:lnTo>
                    <a:pt x="556175" y="1784145"/>
                  </a:lnTo>
                  <a:close/>
                </a:path>
                <a:path w="1907540" h="1784350">
                  <a:moveTo>
                    <a:pt x="1162095" y="267778"/>
                  </a:moveTo>
                  <a:lnTo>
                    <a:pt x="1907266" y="267778"/>
                  </a:lnTo>
                  <a:lnTo>
                    <a:pt x="1907266" y="19"/>
                  </a:lnTo>
                  <a:lnTo>
                    <a:pt x="1162095" y="19"/>
                  </a:lnTo>
                  <a:lnTo>
                    <a:pt x="1162095" y="267778"/>
                  </a:lnTo>
                  <a:close/>
                </a:path>
                <a:path w="1907540" h="1784350">
                  <a:moveTo>
                    <a:pt x="0" y="258734"/>
                  </a:moveTo>
                  <a:lnTo>
                    <a:pt x="1156926" y="258734"/>
                  </a:lnTo>
                  <a:lnTo>
                    <a:pt x="1156926" y="0"/>
                  </a:lnTo>
                  <a:lnTo>
                    <a:pt x="0" y="0"/>
                  </a:lnTo>
                  <a:lnTo>
                    <a:pt x="0" y="258734"/>
                  </a:lnTo>
                  <a:close/>
                </a:path>
              </a:pathLst>
            </a:custGeom>
            <a:ln w="14337">
              <a:solidFill>
                <a:srgbClr val="000000"/>
              </a:solidFill>
            </a:ln>
          </p:spPr>
          <p:txBody>
            <a:bodyPr wrap="square" lIns="0" tIns="0" rIns="0" bIns="0" rtlCol="0"/>
            <a:lstStyle/>
            <a:p/>
          </p:txBody>
        </p:sp>
      </p:grpSp>
      <p:sp>
        <p:nvSpPr>
          <p:cNvPr id="16" name="object 16" descr=""/>
          <p:cNvSpPr txBox="1"/>
          <p:nvPr/>
        </p:nvSpPr>
        <p:spPr>
          <a:xfrm>
            <a:off x="6898258" y="4130584"/>
            <a:ext cx="826135" cy="504825"/>
          </a:xfrm>
          <a:prstGeom prst="rect">
            <a:avLst/>
          </a:prstGeom>
        </p:spPr>
        <p:txBody>
          <a:bodyPr wrap="square" lIns="0" tIns="13970" rIns="0" bIns="0" rtlCol="0" vert="horz">
            <a:spAutoFit/>
          </a:bodyPr>
          <a:lstStyle/>
          <a:p>
            <a:pPr algn="ctr" marR="74930">
              <a:lnSpc>
                <a:spcPts val="770"/>
              </a:lnSpc>
              <a:spcBef>
                <a:spcPts val="110"/>
              </a:spcBef>
            </a:pPr>
            <a:r>
              <a:rPr dirty="0" sz="900" spc="-50" b="1">
                <a:latin typeface="宋体"/>
                <a:cs typeface="宋体"/>
              </a:rPr>
              <a:t>g</a:t>
            </a:r>
            <a:endParaRPr sz="900">
              <a:latin typeface="宋体"/>
              <a:cs typeface="宋体"/>
            </a:endParaRPr>
          </a:p>
          <a:p>
            <a:pPr marL="12700">
              <a:lnSpc>
                <a:spcPts val="1310"/>
              </a:lnSpc>
            </a:pPr>
            <a:r>
              <a:rPr dirty="0" sz="1350" spc="-100" b="1">
                <a:latin typeface="宋体"/>
                <a:cs typeface="宋体"/>
              </a:rPr>
              <a:t>从 </a:t>
            </a:r>
            <a:r>
              <a:rPr dirty="0" sz="1350" spc="65" b="1">
                <a:latin typeface="宋体"/>
                <a:cs typeface="宋体"/>
              </a:rPr>
              <a:t>2</a:t>
            </a:r>
            <a:r>
              <a:rPr dirty="0" sz="1350" spc="90" b="1">
                <a:latin typeface="宋体"/>
                <a:cs typeface="宋体"/>
              </a:rPr>
              <a:t> 组中</a:t>
            </a:r>
            <a:endParaRPr sz="1350">
              <a:latin typeface="宋体"/>
              <a:cs typeface="宋体"/>
            </a:endParaRPr>
          </a:p>
          <a:p>
            <a:pPr marL="12700">
              <a:lnSpc>
                <a:spcPct val="100000"/>
              </a:lnSpc>
              <a:spcBef>
                <a:spcPts val="55"/>
              </a:spcBef>
            </a:pPr>
            <a:r>
              <a:rPr dirty="0" sz="1350" spc="114" b="1">
                <a:latin typeface="宋体"/>
                <a:cs typeface="宋体"/>
              </a:rPr>
              <a:t>选择一组</a:t>
            </a:r>
            <a:endParaRPr sz="1350">
              <a:latin typeface="宋体"/>
              <a:cs typeface="宋体"/>
            </a:endParaRPr>
          </a:p>
        </p:txBody>
      </p:sp>
      <p:sp>
        <p:nvSpPr>
          <p:cNvPr id="17" name="object 17" descr=""/>
          <p:cNvSpPr txBox="1"/>
          <p:nvPr/>
        </p:nvSpPr>
        <p:spPr>
          <a:xfrm>
            <a:off x="8298977" y="3002285"/>
            <a:ext cx="1317625" cy="237490"/>
          </a:xfrm>
          <a:prstGeom prst="rect">
            <a:avLst/>
          </a:prstGeom>
        </p:spPr>
        <p:txBody>
          <a:bodyPr wrap="square" lIns="0" tIns="17145" rIns="0" bIns="0" rtlCol="0" vert="horz">
            <a:spAutoFit/>
          </a:bodyPr>
          <a:lstStyle/>
          <a:p>
            <a:pPr marL="12700">
              <a:lnSpc>
                <a:spcPct val="100000"/>
              </a:lnSpc>
              <a:spcBef>
                <a:spcPts val="135"/>
              </a:spcBef>
              <a:tabLst>
                <a:tab pos="990600" algn="l"/>
              </a:tabLst>
            </a:pPr>
            <a:r>
              <a:rPr dirty="0" sz="1350" spc="65" b="1">
                <a:latin typeface="宋体"/>
                <a:cs typeface="宋体"/>
              </a:rPr>
              <a:t>h</a:t>
            </a:r>
            <a:r>
              <a:rPr dirty="0" sz="1350" spc="-455" b="1">
                <a:latin typeface="宋体"/>
                <a:cs typeface="宋体"/>
              </a:rPr>
              <a:t> </a:t>
            </a:r>
            <a:r>
              <a:rPr dirty="0" sz="1350" spc="75" b="1">
                <a:latin typeface="宋体"/>
                <a:cs typeface="宋体"/>
              </a:rPr>
              <a:t>位</a:t>
            </a:r>
            <a:r>
              <a:rPr dirty="0" sz="1350" b="1">
                <a:latin typeface="宋体"/>
                <a:cs typeface="宋体"/>
              </a:rPr>
              <a:t>	</a:t>
            </a:r>
            <a:r>
              <a:rPr dirty="0" sz="1350" spc="65" b="1">
                <a:latin typeface="宋体"/>
                <a:cs typeface="宋体"/>
              </a:rPr>
              <a:t>g</a:t>
            </a:r>
            <a:r>
              <a:rPr dirty="0" sz="1350" spc="-450" b="1">
                <a:latin typeface="宋体"/>
                <a:cs typeface="宋体"/>
              </a:rPr>
              <a:t> </a:t>
            </a:r>
            <a:r>
              <a:rPr dirty="0" sz="1350" spc="85" b="1">
                <a:latin typeface="宋体"/>
                <a:cs typeface="宋体"/>
              </a:rPr>
              <a:t>位</a:t>
            </a:r>
            <a:endParaRPr sz="1350">
              <a:latin typeface="宋体"/>
              <a:cs typeface="宋体"/>
            </a:endParaRPr>
          </a:p>
        </p:txBody>
      </p:sp>
      <p:sp>
        <p:nvSpPr>
          <p:cNvPr id="18" name="object 18" descr=""/>
          <p:cNvSpPr/>
          <p:nvPr/>
        </p:nvSpPr>
        <p:spPr>
          <a:xfrm>
            <a:off x="7725771" y="3233291"/>
            <a:ext cx="2066289" cy="1612900"/>
          </a:xfrm>
          <a:custGeom>
            <a:avLst/>
            <a:gdLst/>
            <a:ahLst/>
            <a:cxnLst/>
            <a:rect l="l" t="t" r="r" b="b"/>
            <a:pathLst>
              <a:path w="2066290" h="1612900">
                <a:moveTo>
                  <a:pt x="1305936" y="120073"/>
                </a:moveTo>
                <a:lnTo>
                  <a:pt x="1286087" y="87360"/>
                </a:lnTo>
                <a:lnTo>
                  <a:pt x="1246596" y="64462"/>
                </a:lnTo>
                <a:lnTo>
                  <a:pt x="1226541" y="59651"/>
                </a:lnTo>
                <a:lnTo>
                  <a:pt x="1206692" y="59651"/>
                </a:lnTo>
                <a:lnTo>
                  <a:pt x="824565" y="59651"/>
                </a:lnTo>
                <a:lnTo>
                  <a:pt x="804592" y="59651"/>
                </a:lnTo>
                <a:lnTo>
                  <a:pt x="789727" y="55033"/>
                </a:lnTo>
                <a:lnTo>
                  <a:pt x="769754" y="50800"/>
                </a:lnTo>
                <a:lnTo>
                  <a:pt x="759519" y="41178"/>
                </a:lnTo>
                <a:lnTo>
                  <a:pt x="744654" y="32134"/>
                </a:lnTo>
                <a:lnTo>
                  <a:pt x="734936" y="22706"/>
                </a:lnTo>
                <a:lnTo>
                  <a:pt x="729809" y="13662"/>
                </a:lnTo>
                <a:lnTo>
                  <a:pt x="729809" y="0"/>
                </a:lnTo>
                <a:lnTo>
                  <a:pt x="725198" y="13662"/>
                </a:lnTo>
                <a:lnTo>
                  <a:pt x="720070" y="22706"/>
                </a:lnTo>
                <a:lnTo>
                  <a:pt x="714963" y="32134"/>
                </a:lnTo>
                <a:lnTo>
                  <a:pt x="700098" y="41178"/>
                </a:lnTo>
                <a:lnTo>
                  <a:pt x="685252" y="50800"/>
                </a:lnTo>
                <a:lnTo>
                  <a:pt x="670407" y="55033"/>
                </a:lnTo>
                <a:lnTo>
                  <a:pt x="650435" y="59651"/>
                </a:lnTo>
                <a:lnTo>
                  <a:pt x="635569" y="59651"/>
                </a:lnTo>
                <a:lnTo>
                  <a:pt x="248397" y="59651"/>
                </a:lnTo>
                <a:lnTo>
                  <a:pt x="228424" y="59651"/>
                </a:lnTo>
                <a:lnTo>
                  <a:pt x="213579" y="64462"/>
                </a:lnTo>
                <a:lnTo>
                  <a:pt x="193606" y="69273"/>
                </a:lnTo>
                <a:lnTo>
                  <a:pt x="183868" y="78316"/>
                </a:lnTo>
                <a:lnTo>
                  <a:pt x="168506" y="87360"/>
                </a:lnTo>
                <a:lnTo>
                  <a:pt x="158768" y="96789"/>
                </a:lnTo>
                <a:lnTo>
                  <a:pt x="153640" y="105833"/>
                </a:lnTo>
                <a:lnTo>
                  <a:pt x="153640" y="120073"/>
                </a:lnTo>
              </a:path>
              <a:path w="2066290" h="1612900">
                <a:moveTo>
                  <a:pt x="0" y="715821"/>
                </a:moveTo>
                <a:lnTo>
                  <a:pt x="0" y="1612637"/>
                </a:lnTo>
              </a:path>
              <a:path w="2066290" h="1612900">
                <a:moveTo>
                  <a:pt x="2021520" y="120073"/>
                </a:moveTo>
                <a:lnTo>
                  <a:pt x="2021520" y="105833"/>
                </a:lnTo>
                <a:lnTo>
                  <a:pt x="2016351" y="96789"/>
                </a:lnTo>
                <a:lnTo>
                  <a:pt x="2011182" y="87360"/>
                </a:lnTo>
                <a:lnTo>
                  <a:pt x="2006633" y="78316"/>
                </a:lnTo>
                <a:lnTo>
                  <a:pt x="1996296" y="69273"/>
                </a:lnTo>
                <a:lnTo>
                  <a:pt x="1986578" y="64462"/>
                </a:lnTo>
                <a:lnTo>
                  <a:pt x="1976447" y="59651"/>
                </a:lnTo>
                <a:lnTo>
                  <a:pt x="1966729" y="59651"/>
                </a:lnTo>
                <a:lnTo>
                  <a:pt x="1738263" y="59651"/>
                </a:lnTo>
                <a:lnTo>
                  <a:pt x="1728546" y="59651"/>
                </a:lnTo>
                <a:lnTo>
                  <a:pt x="1718208" y="55033"/>
                </a:lnTo>
                <a:lnTo>
                  <a:pt x="1708490" y="50800"/>
                </a:lnTo>
                <a:lnTo>
                  <a:pt x="1698359" y="41178"/>
                </a:lnTo>
                <a:lnTo>
                  <a:pt x="1693604" y="32134"/>
                </a:lnTo>
                <a:lnTo>
                  <a:pt x="1688642" y="22706"/>
                </a:lnTo>
                <a:lnTo>
                  <a:pt x="1683473" y="13662"/>
                </a:lnTo>
                <a:lnTo>
                  <a:pt x="1683473" y="0"/>
                </a:lnTo>
                <a:lnTo>
                  <a:pt x="1683473" y="13662"/>
                </a:lnTo>
                <a:lnTo>
                  <a:pt x="1658869" y="50800"/>
                </a:lnTo>
                <a:lnTo>
                  <a:pt x="1648531" y="55033"/>
                </a:lnTo>
                <a:lnTo>
                  <a:pt x="1638814" y="59651"/>
                </a:lnTo>
                <a:lnTo>
                  <a:pt x="1623927" y="59651"/>
                </a:lnTo>
                <a:lnTo>
                  <a:pt x="1400217" y="59651"/>
                </a:lnTo>
                <a:lnTo>
                  <a:pt x="1390499" y="59651"/>
                </a:lnTo>
                <a:lnTo>
                  <a:pt x="1375613" y="64462"/>
                </a:lnTo>
                <a:lnTo>
                  <a:pt x="1370444" y="69273"/>
                </a:lnTo>
                <a:lnTo>
                  <a:pt x="1360726" y="78316"/>
                </a:lnTo>
                <a:lnTo>
                  <a:pt x="1350595" y="87360"/>
                </a:lnTo>
                <a:lnTo>
                  <a:pt x="1345840" y="96789"/>
                </a:lnTo>
                <a:lnTo>
                  <a:pt x="1345840" y="105833"/>
                </a:lnTo>
                <a:lnTo>
                  <a:pt x="1345840" y="120073"/>
                </a:lnTo>
              </a:path>
              <a:path w="2066290" h="1612900">
                <a:moveTo>
                  <a:pt x="153640" y="420063"/>
                </a:moveTo>
                <a:lnTo>
                  <a:pt x="2065973" y="420063"/>
                </a:lnTo>
                <a:lnTo>
                  <a:pt x="2065973" y="152304"/>
                </a:lnTo>
                <a:lnTo>
                  <a:pt x="153640" y="152304"/>
                </a:lnTo>
                <a:lnTo>
                  <a:pt x="153640" y="420063"/>
                </a:lnTo>
                <a:close/>
              </a:path>
            </a:pathLst>
          </a:custGeom>
          <a:ln w="14337">
            <a:solidFill>
              <a:srgbClr val="000000"/>
            </a:solidFill>
          </a:ln>
        </p:spPr>
        <p:txBody>
          <a:bodyPr wrap="square" lIns="0" tIns="0" rIns="0" bIns="0" rtlCol="0"/>
          <a:lstStyle/>
          <a:p/>
        </p:txBody>
      </p:sp>
      <p:sp>
        <p:nvSpPr>
          <p:cNvPr id="19" name="object 19" descr=""/>
          <p:cNvSpPr txBox="1"/>
          <p:nvPr/>
        </p:nvSpPr>
        <p:spPr>
          <a:xfrm>
            <a:off x="7889666" y="3385576"/>
            <a:ext cx="1156970" cy="259079"/>
          </a:xfrm>
          <a:prstGeom prst="rect">
            <a:avLst/>
          </a:prstGeom>
          <a:solidFill>
            <a:srgbClr val="FFFF99"/>
          </a:solidFill>
        </p:spPr>
        <p:txBody>
          <a:bodyPr wrap="square" lIns="0" tIns="22860" rIns="0" bIns="0" rtlCol="0" vert="horz">
            <a:spAutoFit/>
          </a:bodyPr>
          <a:lstStyle/>
          <a:p>
            <a:pPr marL="356870">
              <a:lnSpc>
                <a:spcPct val="100000"/>
              </a:lnSpc>
              <a:spcBef>
                <a:spcPts val="180"/>
              </a:spcBef>
            </a:pPr>
            <a:r>
              <a:rPr dirty="0" sz="1350" spc="105" b="1">
                <a:solidFill>
                  <a:srgbClr val="0000FF"/>
                </a:solidFill>
                <a:latin typeface="宋体"/>
                <a:cs typeface="宋体"/>
              </a:rPr>
              <a:t>标识</a:t>
            </a:r>
            <a:endParaRPr sz="1350">
              <a:latin typeface="宋体"/>
              <a:cs typeface="宋体"/>
            </a:endParaRPr>
          </a:p>
        </p:txBody>
      </p:sp>
      <p:sp>
        <p:nvSpPr>
          <p:cNvPr id="20" name="object 20" descr=""/>
          <p:cNvSpPr txBox="1"/>
          <p:nvPr/>
        </p:nvSpPr>
        <p:spPr>
          <a:xfrm>
            <a:off x="9051762" y="3385596"/>
            <a:ext cx="745490" cy="267970"/>
          </a:xfrm>
          <a:prstGeom prst="rect">
            <a:avLst/>
          </a:prstGeom>
          <a:solidFill>
            <a:srgbClr val="CCFFCC"/>
          </a:solidFill>
        </p:spPr>
        <p:txBody>
          <a:bodyPr wrap="square" lIns="0" tIns="22860" rIns="0" bIns="0" rtlCol="0" vert="horz">
            <a:spAutoFit/>
          </a:bodyPr>
          <a:lstStyle/>
          <a:p>
            <a:pPr marL="158750">
              <a:lnSpc>
                <a:spcPct val="100000"/>
              </a:lnSpc>
              <a:spcBef>
                <a:spcPts val="180"/>
              </a:spcBef>
            </a:pPr>
            <a:r>
              <a:rPr dirty="0" sz="1350" spc="105" b="1">
                <a:solidFill>
                  <a:srgbClr val="0000FF"/>
                </a:solidFill>
                <a:latin typeface="宋体"/>
                <a:cs typeface="宋体"/>
              </a:rPr>
              <a:t>索引</a:t>
            </a:r>
            <a:endParaRPr sz="1350">
              <a:latin typeface="宋体"/>
              <a:cs typeface="宋体"/>
            </a:endParaRPr>
          </a:p>
        </p:txBody>
      </p:sp>
      <p:sp>
        <p:nvSpPr>
          <p:cNvPr id="21" name="object 21" descr=""/>
          <p:cNvSpPr/>
          <p:nvPr/>
        </p:nvSpPr>
        <p:spPr>
          <a:xfrm>
            <a:off x="9051762" y="3385692"/>
            <a:ext cx="0" cy="267970"/>
          </a:xfrm>
          <a:custGeom>
            <a:avLst/>
            <a:gdLst/>
            <a:ahLst/>
            <a:cxnLst/>
            <a:rect l="l" t="t" r="r" b="b"/>
            <a:pathLst>
              <a:path w="0" h="267970">
                <a:moveTo>
                  <a:pt x="0" y="0"/>
                </a:moveTo>
                <a:lnTo>
                  <a:pt x="0" y="267663"/>
                </a:lnTo>
              </a:path>
            </a:pathLst>
          </a:custGeom>
          <a:ln w="14852">
            <a:solidFill>
              <a:srgbClr val="000000"/>
            </a:solidFill>
          </a:ln>
        </p:spPr>
        <p:txBody>
          <a:bodyPr wrap="square" lIns="0" tIns="0" rIns="0" bIns="0" rtlCol="0"/>
          <a:lstStyle/>
          <a:p/>
        </p:txBody>
      </p:sp>
      <p:sp>
        <p:nvSpPr>
          <p:cNvPr id="22" name="object 22" descr=""/>
          <p:cNvSpPr txBox="1"/>
          <p:nvPr/>
        </p:nvSpPr>
        <p:spPr>
          <a:xfrm>
            <a:off x="8463114" y="4858037"/>
            <a:ext cx="819785" cy="304800"/>
          </a:xfrm>
          <a:prstGeom prst="rect">
            <a:avLst/>
          </a:prstGeom>
          <a:solidFill>
            <a:srgbClr val="FFCC99"/>
          </a:solidFill>
        </p:spPr>
        <p:txBody>
          <a:bodyPr wrap="square" lIns="0" tIns="47625" rIns="0" bIns="0" rtlCol="0" vert="horz">
            <a:spAutoFit/>
          </a:bodyPr>
          <a:lstStyle/>
          <a:p>
            <a:pPr marL="21590">
              <a:lnSpc>
                <a:spcPct val="100000"/>
              </a:lnSpc>
              <a:spcBef>
                <a:spcPts val="375"/>
              </a:spcBef>
            </a:pPr>
            <a:r>
              <a:rPr dirty="0" sz="1350" spc="114" b="1">
                <a:solidFill>
                  <a:srgbClr val="993300"/>
                </a:solidFill>
                <a:latin typeface="宋体"/>
                <a:cs typeface="宋体"/>
              </a:rPr>
              <a:t>相联比较</a:t>
            </a:r>
            <a:endParaRPr sz="1350">
              <a:latin typeface="宋体"/>
              <a:cs typeface="宋体"/>
            </a:endParaRPr>
          </a:p>
        </p:txBody>
      </p:sp>
      <p:sp>
        <p:nvSpPr>
          <p:cNvPr id="23" name="object 23" descr=""/>
          <p:cNvSpPr/>
          <p:nvPr/>
        </p:nvSpPr>
        <p:spPr>
          <a:xfrm>
            <a:off x="8445841" y="4450588"/>
            <a:ext cx="1217295" cy="13970"/>
          </a:xfrm>
          <a:custGeom>
            <a:avLst/>
            <a:gdLst/>
            <a:ahLst/>
            <a:cxnLst/>
            <a:rect l="l" t="t" r="r" b="b"/>
            <a:pathLst>
              <a:path w="1217295" h="13970">
                <a:moveTo>
                  <a:pt x="0" y="13822"/>
                </a:moveTo>
                <a:lnTo>
                  <a:pt x="1216886" y="13822"/>
                </a:lnTo>
                <a:lnTo>
                  <a:pt x="1216886" y="0"/>
                </a:lnTo>
                <a:lnTo>
                  <a:pt x="0" y="0"/>
                </a:lnTo>
                <a:lnTo>
                  <a:pt x="0" y="13822"/>
                </a:lnTo>
                <a:close/>
              </a:path>
            </a:pathLst>
          </a:custGeom>
          <a:solidFill>
            <a:srgbClr val="000000"/>
          </a:solidFill>
        </p:spPr>
        <p:txBody>
          <a:bodyPr wrap="square" lIns="0" tIns="0" rIns="0" bIns="0" rtlCol="0"/>
          <a:lstStyle/>
          <a:p/>
        </p:txBody>
      </p:sp>
      <p:sp>
        <p:nvSpPr>
          <p:cNvPr id="24" name="object 24" descr=""/>
          <p:cNvSpPr txBox="1"/>
          <p:nvPr/>
        </p:nvSpPr>
        <p:spPr>
          <a:xfrm>
            <a:off x="8828937" y="4517709"/>
            <a:ext cx="454025" cy="270510"/>
          </a:xfrm>
          <a:prstGeom prst="rect">
            <a:avLst/>
          </a:prstGeom>
        </p:spPr>
        <p:txBody>
          <a:bodyPr wrap="square" lIns="0" tIns="13335" rIns="0" bIns="0" rtlCol="0" vert="horz">
            <a:spAutoFit/>
          </a:bodyPr>
          <a:lstStyle/>
          <a:p>
            <a:pPr marL="86995">
              <a:lnSpc>
                <a:spcPct val="100000"/>
              </a:lnSpc>
              <a:spcBef>
                <a:spcPts val="105"/>
              </a:spcBef>
            </a:pPr>
            <a:r>
              <a:rPr dirty="0" sz="1600" spc="60">
                <a:latin typeface="宋体"/>
                <a:cs typeface="宋体"/>
              </a:rPr>
              <a:t>…</a:t>
            </a:r>
            <a:endParaRPr sz="1600">
              <a:latin typeface="宋体"/>
              <a:cs typeface="宋体"/>
            </a:endParaRPr>
          </a:p>
        </p:txBody>
      </p:sp>
      <p:grpSp>
        <p:nvGrpSpPr>
          <p:cNvPr id="25" name="object 25" descr=""/>
          <p:cNvGrpSpPr/>
          <p:nvPr/>
        </p:nvGrpSpPr>
        <p:grpSpPr>
          <a:xfrm>
            <a:off x="8438856" y="4838943"/>
            <a:ext cx="1224280" cy="730885"/>
            <a:chOff x="8438856" y="4838943"/>
            <a:chExt cx="1224280" cy="730885"/>
          </a:xfrm>
        </p:grpSpPr>
        <p:sp>
          <p:nvSpPr>
            <p:cNvPr id="26" name="object 26" descr=""/>
            <p:cNvSpPr/>
            <p:nvPr/>
          </p:nvSpPr>
          <p:spPr>
            <a:xfrm>
              <a:off x="8445841" y="4845928"/>
              <a:ext cx="1191895" cy="0"/>
            </a:xfrm>
            <a:custGeom>
              <a:avLst/>
              <a:gdLst/>
              <a:ahLst/>
              <a:cxnLst/>
              <a:rect l="l" t="t" r="r" b="b"/>
              <a:pathLst>
                <a:path w="1191895" h="0">
                  <a:moveTo>
                    <a:pt x="0" y="0"/>
                  </a:moveTo>
                  <a:lnTo>
                    <a:pt x="1191868" y="0"/>
                  </a:lnTo>
                </a:path>
              </a:pathLst>
            </a:custGeom>
            <a:ln w="13822">
              <a:solidFill>
                <a:srgbClr val="000000"/>
              </a:solidFill>
            </a:ln>
          </p:spPr>
          <p:txBody>
            <a:bodyPr wrap="square" lIns="0" tIns="0" rIns="0" bIns="0" rtlCol="0"/>
            <a:lstStyle/>
            <a:p/>
          </p:txBody>
        </p:sp>
        <p:sp>
          <p:nvSpPr>
            <p:cNvPr id="27" name="object 27" descr=""/>
            <p:cNvSpPr/>
            <p:nvPr/>
          </p:nvSpPr>
          <p:spPr>
            <a:xfrm>
              <a:off x="8445830" y="5167083"/>
              <a:ext cx="1217295" cy="402590"/>
            </a:xfrm>
            <a:custGeom>
              <a:avLst/>
              <a:gdLst/>
              <a:ahLst/>
              <a:cxnLst/>
              <a:rect l="l" t="t" r="r" b="b"/>
              <a:pathLst>
                <a:path w="1217295" h="402589">
                  <a:moveTo>
                    <a:pt x="1216888" y="388340"/>
                  </a:moveTo>
                  <a:lnTo>
                    <a:pt x="0" y="388340"/>
                  </a:lnTo>
                  <a:lnTo>
                    <a:pt x="0" y="402158"/>
                  </a:lnTo>
                  <a:lnTo>
                    <a:pt x="1216888" y="402158"/>
                  </a:lnTo>
                  <a:lnTo>
                    <a:pt x="1216888" y="388340"/>
                  </a:lnTo>
                  <a:close/>
                </a:path>
                <a:path w="1217295" h="402589">
                  <a:moveTo>
                    <a:pt x="1216888" y="0"/>
                  </a:moveTo>
                  <a:lnTo>
                    <a:pt x="0" y="0"/>
                  </a:lnTo>
                  <a:lnTo>
                    <a:pt x="0" y="13830"/>
                  </a:lnTo>
                  <a:lnTo>
                    <a:pt x="1216888" y="13830"/>
                  </a:lnTo>
                  <a:lnTo>
                    <a:pt x="1216888" y="0"/>
                  </a:lnTo>
                  <a:close/>
                </a:path>
              </a:pathLst>
            </a:custGeom>
            <a:solidFill>
              <a:srgbClr val="000000"/>
            </a:solidFill>
          </p:spPr>
          <p:txBody>
            <a:bodyPr wrap="square" lIns="0" tIns="0" rIns="0" bIns="0" rtlCol="0"/>
            <a:lstStyle/>
            <a:p/>
          </p:txBody>
        </p:sp>
      </p:grpSp>
      <p:sp>
        <p:nvSpPr>
          <p:cNvPr id="28" name="object 28" descr=""/>
          <p:cNvSpPr txBox="1"/>
          <p:nvPr/>
        </p:nvSpPr>
        <p:spPr>
          <a:xfrm>
            <a:off x="8463114" y="5180795"/>
            <a:ext cx="819785" cy="374650"/>
          </a:xfrm>
          <a:prstGeom prst="rect">
            <a:avLst/>
          </a:prstGeom>
          <a:solidFill>
            <a:srgbClr val="CCFFFF"/>
          </a:solidFill>
        </p:spPr>
        <p:txBody>
          <a:bodyPr wrap="square" lIns="0" tIns="66675" rIns="0" bIns="0" rtlCol="0" vert="horz">
            <a:spAutoFit/>
          </a:bodyPr>
          <a:lstStyle/>
          <a:p>
            <a:pPr marL="478155">
              <a:lnSpc>
                <a:spcPct val="100000"/>
              </a:lnSpc>
              <a:spcBef>
                <a:spcPts val="525"/>
              </a:spcBef>
            </a:pPr>
            <a:r>
              <a:rPr dirty="0" sz="1600" spc="60">
                <a:latin typeface="宋体"/>
                <a:cs typeface="宋体"/>
              </a:rPr>
              <a:t>…</a:t>
            </a:r>
            <a:endParaRPr sz="1600">
              <a:latin typeface="宋体"/>
              <a:cs typeface="宋体"/>
            </a:endParaRPr>
          </a:p>
        </p:txBody>
      </p:sp>
      <p:grpSp>
        <p:nvGrpSpPr>
          <p:cNvPr id="29" name="object 29" descr=""/>
          <p:cNvGrpSpPr/>
          <p:nvPr/>
        </p:nvGrpSpPr>
        <p:grpSpPr>
          <a:xfrm>
            <a:off x="7716077" y="3645735"/>
            <a:ext cx="2128520" cy="2252345"/>
            <a:chOff x="7716077" y="3645735"/>
            <a:chExt cx="2128520" cy="2252345"/>
          </a:xfrm>
        </p:grpSpPr>
        <p:sp>
          <p:nvSpPr>
            <p:cNvPr id="30" name="object 30" descr=""/>
            <p:cNvSpPr/>
            <p:nvPr/>
          </p:nvSpPr>
          <p:spPr>
            <a:xfrm>
              <a:off x="8311677" y="3653355"/>
              <a:ext cx="1525270" cy="2237105"/>
            </a:xfrm>
            <a:custGeom>
              <a:avLst/>
              <a:gdLst/>
              <a:ahLst/>
              <a:cxnLst/>
              <a:rect l="l" t="t" r="r" b="b"/>
              <a:pathLst>
                <a:path w="1525270" h="2237104">
                  <a:moveTo>
                    <a:pt x="978268" y="476251"/>
                  </a:moveTo>
                  <a:lnTo>
                    <a:pt x="978268" y="2237037"/>
                  </a:lnTo>
                </a:path>
                <a:path w="1525270" h="2237104">
                  <a:moveTo>
                    <a:pt x="1370898" y="476251"/>
                  </a:moveTo>
                  <a:lnTo>
                    <a:pt x="1380823" y="476251"/>
                  </a:lnTo>
                  <a:lnTo>
                    <a:pt x="1385785" y="480870"/>
                  </a:lnTo>
                  <a:lnTo>
                    <a:pt x="1395502" y="480870"/>
                  </a:lnTo>
                  <a:lnTo>
                    <a:pt x="1400671" y="485680"/>
                  </a:lnTo>
                  <a:lnTo>
                    <a:pt x="1405220" y="494724"/>
                  </a:lnTo>
                  <a:lnTo>
                    <a:pt x="1415558" y="499535"/>
                  </a:lnTo>
                  <a:lnTo>
                    <a:pt x="1435613" y="540714"/>
                  </a:lnTo>
                  <a:lnTo>
                    <a:pt x="1445331" y="592091"/>
                  </a:lnTo>
                  <a:lnTo>
                    <a:pt x="1445331" y="1211103"/>
                  </a:lnTo>
                  <a:lnTo>
                    <a:pt x="1450293" y="1238639"/>
                  </a:lnTo>
                  <a:lnTo>
                    <a:pt x="1460011" y="1289901"/>
                  </a:lnTo>
                  <a:lnTo>
                    <a:pt x="1480066" y="1331215"/>
                  </a:lnTo>
                  <a:lnTo>
                    <a:pt x="1494952" y="1344973"/>
                  </a:lnTo>
                  <a:lnTo>
                    <a:pt x="1500121" y="1349726"/>
                  </a:lnTo>
                  <a:lnTo>
                    <a:pt x="1509839" y="1354479"/>
                  </a:lnTo>
                  <a:lnTo>
                    <a:pt x="1515008" y="1354479"/>
                  </a:lnTo>
                  <a:lnTo>
                    <a:pt x="1524725" y="1354479"/>
                  </a:lnTo>
                  <a:lnTo>
                    <a:pt x="1515008" y="1359213"/>
                  </a:lnTo>
                  <a:lnTo>
                    <a:pt x="1509839" y="1359213"/>
                  </a:lnTo>
                  <a:lnTo>
                    <a:pt x="1500121" y="1363485"/>
                  </a:lnTo>
                  <a:lnTo>
                    <a:pt x="1494953" y="1368238"/>
                  </a:lnTo>
                  <a:lnTo>
                    <a:pt x="1485235" y="1372991"/>
                  </a:lnTo>
                  <a:lnTo>
                    <a:pt x="1480066" y="1382015"/>
                  </a:lnTo>
                  <a:lnTo>
                    <a:pt x="1470348" y="1400527"/>
                  </a:lnTo>
                  <a:lnTo>
                    <a:pt x="1460011" y="1423791"/>
                  </a:lnTo>
                  <a:lnTo>
                    <a:pt x="1455049" y="1447055"/>
                  </a:lnTo>
                  <a:lnTo>
                    <a:pt x="1450293" y="1474591"/>
                  </a:lnTo>
                  <a:lnTo>
                    <a:pt x="1445331" y="1502127"/>
                  </a:lnTo>
                  <a:lnTo>
                    <a:pt x="1445331" y="2089389"/>
                  </a:lnTo>
                  <a:lnTo>
                    <a:pt x="1445331" y="2121659"/>
                  </a:lnTo>
                  <a:lnTo>
                    <a:pt x="1440162" y="2149195"/>
                  </a:lnTo>
                  <a:lnTo>
                    <a:pt x="1435614" y="2172459"/>
                  </a:lnTo>
                  <a:lnTo>
                    <a:pt x="1425276" y="2195723"/>
                  </a:lnTo>
                  <a:lnTo>
                    <a:pt x="1415558" y="2214234"/>
                  </a:lnTo>
                  <a:lnTo>
                    <a:pt x="1405220" y="2218506"/>
                  </a:lnTo>
                  <a:lnTo>
                    <a:pt x="1400672" y="2228012"/>
                  </a:lnTo>
                  <a:lnTo>
                    <a:pt x="1395503" y="2232284"/>
                  </a:lnTo>
                  <a:lnTo>
                    <a:pt x="1385785" y="2232284"/>
                  </a:lnTo>
                  <a:lnTo>
                    <a:pt x="1380823" y="2237037"/>
                  </a:lnTo>
                  <a:lnTo>
                    <a:pt x="1370899" y="2237037"/>
                  </a:lnTo>
                </a:path>
                <a:path w="1525270" h="2237104">
                  <a:moveTo>
                    <a:pt x="89608" y="1192573"/>
                  </a:moveTo>
                  <a:lnTo>
                    <a:pt x="74763" y="1192573"/>
                  </a:lnTo>
                  <a:lnTo>
                    <a:pt x="59401" y="1202079"/>
                  </a:lnTo>
                  <a:lnTo>
                    <a:pt x="54790" y="1206350"/>
                  </a:lnTo>
                  <a:lnTo>
                    <a:pt x="49662" y="1211103"/>
                  </a:lnTo>
                  <a:lnTo>
                    <a:pt x="44556" y="1215837"/>
                  </a:lnTo>
                  <a:lnTo>
                    <a:pt x="44556" y="1220109"/>
                  </a:lnTo>
                  <a:lnTo>
                    <a:pt x="44556" y="1331215"/>
                  </a:lnTo>
                  <a:lnTo>
                    <a:pt x="44556" y="1335949"/>
                  </a:lnTo>
                  <a:lnTo>
                    <a:pt x="39945" y="1340702"/>
                  </a:lnTo>
                  <a:lnTo>
                    <a:pt x="39945" y="1344973"/>
                  </a:lnTo>
                  <a:lnTo>
                    <a:pt x="34817" y="1349726"/>
                  </a:lnTo>
                  <a:lnTo>
                    <a:pt x="19972" y="1354479"/>
                  </a:lnTo>
                  <a:lnTo>
                    <a:pt x="0" y="1354479"/>
                  </a:lnTo>
                  <a:lnTo>
                    <a:pt x="19972" y="1359213"/>
                  </a:lnTo>
                  <a:lnTo>
                    <a:pt x="34817" y="1363485"/>
                  </a:lnTo>
                  <a:lnTo>
                    <a:pt x="39945" y="1368238"/>
                  </a:lnTo>
                  <a:lnTo>
                    <a:pt x="39945" y="1372991"/>
                  </a:lnTo>
                  <a:lnTo>
                    <a:pt x="44556" y="1377262"/>
                  </a:lnTo>
                  <a:lnTo>
                    <a:pt x="44556" y="1382015"/>
                  </a:lnTo>
                  <a:lnTo>
                    <a:pt x="44556" y="1493102"/>
                  </a:lnTo>
                  <a:lnTo>
                    <a:pt x="44556" y="1497836"/>
                  </a:lnTo>
                  <a:lnTo>
                    <a:pt x="49662" y="1502127"/>
                  </a:lnTo>
                  <a:lnTo>
                    <a:pt x="54790" y="1506861"/>
                  </a:lnTo>
                  <a:lnTo>
                    <a:pt x="59401" y="1511614"/>
                  </a:lnTo>
                  <a:lnTo>
                    <a:pt x="74763" y="1520638"/>
                  </a:lnTo>
                  <a:lnTo>
                    <a:pt x="89608" y="1520638"/>
                  </a:lnTo>
                </a:path>
                <a:path w="1525270" h="2237104">
                  <a:moveTo>
                    <a:pt x="154157" y="0"/>
                  </a:moveTo>
                  <a:lnTo>
                    <a:pt x="154157" y="148167"/>
                  </a:lnTo>
                </a:path>
                <a:path w="1525270" h="2237104">
                  <a:moveTo>
                    <a:pt x="154157" y="148167"/>
                  </a:moveTo>
                  <a:lnTo>
                    <a:pt x="501901" y="148167"/>
                  </a:lnTo>
                </a:path>
              </a:pathLst>
            </a:custGeom>
            <a:ln w="14337">
              <a:solidFill>
                <a:srgbClr val="000000"/>
              </a:solidFill>
            </a:ln>
          </p:spPr>
          <p:txBody>
            <a:bodyPr wrap="square" lIns="0" tIns="0" rIns="0" bIns="0" rtlCol="0"/>
            <a:lstStyle/>
            <a:p/>
          </p:txBody>
        </p:sp>
        <p:sp>
          <p:nvSpPr>
            <p:cNvPr id="31" name="object 31" descr=""/>
            <p:cNvSpPr/>
            <p:nvPr/>
          </p:nvSpPr>
          <p:spPr>
            <a:xfrm>
              <a:off x="8776693" y="3794787"/>
              <a:ext cx="80010" cy="1054100"/>
            </a:xfrm>
            <a:custGeom>
              <a:avLst/>
              <a:gdLst/>
              <a:ahLst/>
              <a:cxnLst/>
              <a:rect l="l" t="t" r="r" b="b"/>
              <a:pathLst>
                <a:path w="80009" h="1054100">
                  <a:moveTo>
                    <a:pt x="0" y="938630"/>
                  </a:moveTo>
                  <a:lnTo>
                    <a:pt x="39945" y="1053988"/>
                  </a:lnTo>
                  <a:lnTo>
                    <a:pt x="63647" y="984677"/>
                  </a:lnTo>
                  <a:lnTo>
                    <a:pt x="34817" y="984677"/>
                  </a:lnTo>
                  <a:lnTo>
                    <a:pt x="29710" y="979943"/>
                  </a:lnTo>
                  <a:lnTo>
                    <a:pt x="29710" y="966181"/>
                  </a:lnTo>
                  <a:lnTo>
                    <a:pt x="0" y="938630"/>
                  </a:lnTo>
                  <a:close/>
                </a:path>
                <a:path w="80009" h="1054100">
                  <a:moveTo>
                    <a:pt x="29710" y="966181"/>
                  </a:moveTo>
                  <a:lnTo>
                    <a:pt x="29710" y="979943"/>
                  </a:lnTo>
                  <a:lnTo>
                    <a:pt x="34817" y="984677"/>
                  </a:lnTo>
                  <a:lnTo>
                    <a:pt x="49683" y="984677"/>
                  </a:lnTo>
                  <a:lnTo>
                    <a:pt x="49683" y="975671"/>
                  </a:lnTo>
                  <a:lnTo>
                    <a:pt x="39945" y="975671"/>
                  </a:lnTo>
                  <a:lnTo>
                    <a:pt x="29710" y="966181"/>
                  </a:lnTo>
                  <a:close/>
                </a:path>
                <a:path w="80009" h="1054100">
                  <a:moveTo>
                    <a:pt x="79394" y="938630"/>
                  </a:moveTo>
                  <a:lnTo>
                    <a:pt x="49683" y="966527"/>
                  </a:lnTo>
                  <a:lnTo>
                    <a:pt x="49683" y="984677"/>
                  </a:lnTo>
                  <a:lnTo>
                    <a:pt x="63647" y="984677"/>
                  </a:lnTo>
                  <a:lnTo>
                    <a:pt x="79394" y="938630"/>
                  </a:lnTo>
                  <a:close/>
                </a:path>
                <a:path w="80009" h="1054100">
                  <a:moveTo>
                    <a:pt x="49683" y="0"/>
                  </a:moveTo>
                  <a:lnTo>
                    <a:pt x="34817" y="0"/>
                  </a:lnTo>
                  <a:lnTo>
                    <a:pt x="29710" y="4810"/>
                  </a:lnTo>
                  <a:lnTo>
                    <a:pt x="29710" y="966181"/>
                  </a:lnTo>
                  <a:lnTo>
                    <a:pt x="39945" y="975671"/>
                  </a:lnTo>
                  <a:lnTo>
                    <a:pt x="49683" y="966527"/>
                  </a:lnTo>
                  <a:lnTo>
                    <a:pt x="49683" y="0"/>
                  </a:lnTo>
                  <a:close/>
                </a:path>
                <a:path w="80009" h="1054100">
                  <a:moveTo>
                    <a:pt x="49683" y="966527"/>
                  </a:moveTo>
                  <a:lnTo>
                    <a:pt x="39945" y="975671"/>
                  </a:lnTo>
                  <a:lnTo>
                    <a:pt x="49683" y="975671"/>
                  </a:lnTo>
                  <a:lnTo>
                    <a:pt x="49683" y="966527"/>
                  </a:lnTo>
                  <a:close/>
                </a:path>
              </a:pathLst>
            </a:custGeom>
            <a:solidFill>
              <a:srgbClr val="000000"/>
            </a:solidFill>
          </p:spPr>
          <p:txBody>
            <a:bodyPr wrap="square" lIns="0" tIns="0" rIns="0" bIns="0" rtlCol="0"/>
            <a:lstStyle/>
            <a:p/>
          </p:txBody>
        </p:sp>
        <p:sp>
          <p:nvSpPr>
            <p:cNvPr id="32" name="object 32" descr=""/>
            <p:cNvSpPr/>
            <p:nvPr/>
          </p:nvSpPr>
          <p:spPr>
            <a:xfrm>
              <a:off x="8776693" y="3794787"/>
              <a:ext cx="80010" cy="1054100"/>
            </a:xfrm>
            <a:custGeom>
              <a:avLst/>
              <a:gdLst/>
              <a:ahLst/>
              <a:cxnLst/>
              <a:rect l="l" t="t" r="r" b="b"/>
              <a:pathLst>
                <a:path w="80009" h="1054100">
                  <a:moveTo>
                    <a:pt x="49683" y="9621"/>
                  </a:moveTo>
                  <a:lnTo>
                    <a:pt x="49683" y="975671"/>
                  </a:lnTo>
                  <a:lnTo>
                    <a:pt x="49683" y="979943"/>
                  </a:lnTo>
                  <a:lnTo>
                    <a:pt x="49683" y="984677"/>
                  </a:lnTo>
                  <a:lnTo>
                    <a:pt x="44556" y="984677"/>
                  </a:lnTo>
                  <a:lnTo>
                    <a:pt x="39945" y="984677"/>
                  </a:lnTo>
                  <a:lnTo>
                    <a:pt x="34817" y="984677"/>
                  </a:lnTo>
                  <a:lnTo>
                    <a:pt x="29710" y="979943"/>
                  </a:lnTo>
                  <a:lnTo>
                    <a:pt x="29710" y="975671"/>
                  </a:lnTo>
                  <a:lnTo>
                    <a:pt x="29710" y="9621"/>
                  </a:lnTo>
                  <a:lnTo>
                    <a:pt x="29710" y="4810"/>
                  </a:lnTo>
                  <a:lnTo>
                    <a:pt x="34817" y="0"/>
                  </a:lnTo>
                  <a:lnTo>
                    <a:pt x="39945" y="0"/>
                  </a:lnTo>
                  <a:lnTo>
                    <a:pt x="44555" y="0"/>
                  </a:lnTo>
                  <a:lnTo>
                    <a:pt x="49683" y="0"/>
                  </a:lnTo>
                  <a:lnTo>
                    <a:pt x="49683" y="4810"/>
                  </a:lnTo>
                  <a:lnTo>
                    <a:pt x="49683" y="9621"/>
                  </a:lnTo>
                  <a:close/>
                </a:path>
                <a:path w="80009" h="1054100">
                  <a:moveTo>
                    <a:pt x="39945" y="975671"/>
                  </a:moveTo>
                  <a:lnTo>
                    <a:pt x="79394" y="938630"/>
                  </a:lnTo>
                  <a:lnTo>
                    <a:pt x="39945" y="1053988"/>
                  </a:lnTo>
                  <a:lnTo>
                    <a:pt x="0" y="938630"/>
                  </a:lnTo>
                  <a:lnTo>
                    <a:pt x="39945" y="975671"/>
                  </a:lnTo>
                  <a:close/>
                </a:path>
              </a:pathLst>
            </a:custGeom>
            <a:ln w="4943">
              <a:solidFill>
                <a:srgbClr val="000000"/>
              </a:solidFill>
            </a:ln>
          </p:spPr>
          <p:txBody>
            <a:bodyPr wrap="square" lIns="0" tIns="0" rIns="0" bIns="0" rtlCol="0"/>
            <a:lstStyle/>
            <a:p/>
          </p:txBody>
        </p:sp>
        <p:sp>
          <p:nvSpPr>
            <p:cNvPr id="33" name="object 33" descr=""/>
            <p:cNvSpPr/>
            <p:nvPr/>
          </p:nvSpPr>
          <p:spPr>
            <a:xfrm>
              <a:off x="7725770" y="3653355"/>
              <a:ext cx="1673860" cy="295910"/>
            </a:xfrm>
            <a:custGeom>
              <a:avLst/>
              <a:gdLst/>
              <a:ahLst/>
              <a:cxnLst/>
              <a:rect l="l" t="t" r="r" b="b"/>
              <a:pathLst>
                <a:path w="1673859" h="295910">
                  <a:moveTo>
                    <a:pt x="1673755" y="0"/>
                  </a:moveTo>
                  <a:lnTo>
                    <a:pt x="1673756" y="295757"/>
                  </a:lnTo>
                </a:path>
                <a:path w="1673859" h="295910">
                  <a:moveTo>
                    <a:pt x="0" y="295757"/>
                  </a:moveTo>
                  <a:lnTo>
                    <a:pt x="1673756" y="295757"/>
                  </a:lnTo>
                </a:path>
              </a:pathLst>
            </a:custGeom>
            <a:ln w="14337">
              <a:solidFill>
                <a:srgbClr val="000000"/>
              </a:solidFill>
            </a:ln>
          </p:spPr>
          <p:txBody>
            <a:bodyPr wrap="square" lIns="0" tIns="0" rIns="0" bIns="0" rtlCol="0"/>
            <a:lstStyle/>
            <a:p/>
          </p:txBody>
        </p:sp>
        <p:sp>
          <p:nvSpPr>
            <p:cNvPr id="34" name="object 34" descr=""/>
            <p:cNvSpPr/>
            <p:nvPr/>
          </p:nvSpPr>
          <p:spPr>
            <a:xfrm>
              <a:off x="7718617" y="4811753"/>
              <a:ext cx="596265" cy="74295"/>
            </a:xfrm>
            <a:custGeom>
              <a:avLst/>
              <a:gdLst/>
              <a:ahLst/>
              <a:cxnLst/>
              <a:rect l="l" t="t" r="r" b="b"/>
              <a:pathLst>
                <a:path w="596265" h="74295">
                  <a:moveTo>
                    <a:pt x="472190" y="0"/>
                  </a:moveTo>
                  <a:lnTo>
                    <a:pt x="516746" y="37022"/>
                  </a:lnTo>
                  <a:lnTo>
                    <a:pt x="472190" y="74064"/>
                  </a:lnTo>
                  <a:lnTo>
                    <a:pt x="564317" y="46528"/>
                  </a:lnTo>
                  <a:lnTo>
                    <a:pt x="521874" y="46528"/>
                  </a:lnTo>
                  <a:lnTo>
                    <a:pt x="521874" y="41775"/>
                  </a:lnTo>
                  <a:lnTo>
                    <a:pt x="526464" y="41775"/>
                  </a:lnTo>
                  <a:lnTo>
                    <a:pt x="526464" y="32288"/>
                  </a:lnTo>
                  <a:lnTo>
                    <a:pt x="521874" y="32288"/>
                  </a:lnTo>
                  <a:lnTo>
                    <a:pt x="521874" y="28017"/>
                  </a:lnTo>
                  <a:lnTo>
                    <a:pt x="565975" y="28017"/>
                  </a:lnTo>
                  <a:lnTo>
                    <a:pt x="472190" y="0"/>
                  </a:lnTo>
                  <a:close/>
                </a:path>
                <a:path w="596265" h="74295">
                  <a:moveTo>
                    <a:pt x="505908" y="28017"/>
                  </a:moveTo>
                  <a:lnTo>
                    <a:pt x="5106" y="28017"/>
                  </a:lnTo>
                  <a:lnTo>
                    <a:pt x="5106" y="32288"/>
                  </a:lnTo>
                  <a:lnTo>
                    <a:pt x="0" y="32288"/>
                  </a:lnTo>
                  <a:lnTo>
                    <a:pt x="0" y="41775"/>
                  </a:lnTo>
                  <a:lnTo>
                    <a:pt x="5106" y="41775"/>
                  </a:lnTo>
                  <a:lnTo>
                    <a:pt x="5106" y="46528"/>
                  </a:lnTo>
                  <a:lnTo>
                    <a:pt x="505312" y="46528"/>
                  </a:lnTo>
                  <a:lnTo>
                    <a:pt x="516746" y="37022"/>
                  </a:lnTo>
                  <a:lnTo>
                    <a:pt x="505908" y="28017"/>
                  </a:lnTo>
                  <a:close/>
                </a:path>
                <a:path w="596265" h="74295">
                  <a:moveTo>
                    <a:pt x="565975" y="28017"/>
                  </a:moveTo>
                  <a:lnTo>
                    <a:pt x="521874" y="28017"/>
                  </a:lnTo>
                  <a:lnTo>
                    <a:pt x="521874" y="32288"/>
                  </a:lnTo>
                  <a:lnTo>
                    <a:pt x="526464" y="32288"/>
                  </a:lnTo>
                  <a:lnTo>
                    <a:pt x="526464" y="41775"/>
                  </a:lnTo>
                  <a:lnTo>
                    <a:pt x="521874" y="41775"/>
                  </a:lnTo>
                  <a:lnTo>
                    <a:pt x="521874" y="46528"/>
                  </a:lnTo>
                  <a:lnTo>
                    <a:pt x="564317" y="46528"/>
                  </a:lnTo>
                  <a:lnTo>
                    <a:pt x="596120" y="37022"/>
                  </a:lnTo>
                  <a:lnTo>
                    <a:pt x="565975" y="28017"/>
                  </a:lnTo>
                  <a:close/>
                </a:path>
              </a:pathLst>
            </a:custGeom>
            <a:solidFill>
              <a:srgbClr val="000000"/>
            </a:solidFill>
          </p:spPr>
          <p:txBody>
            <a:bodyPr wrap="square" lIns="0" tIns="0" rIns="0" bIns="0" rtlCol="0"/>
            <a:lstStyle/>
            <a:p/>
          </p:txBody>
        </p:sp>
        <p:sp>
          <p:nvSpPr>
            <p:cNvPr id="35" name="object 35" descr=""/>
            <p:cNvSpPr/>
            <p:nvPr/>
          </p:nvSpPr>
          <p:spPr>
            <a:xfrm>
              <a:off x="7718617" y="4811753"/>
              <a:ext cx="596265" cy="74295"/>
            </a:xfrm>
            <a:custGeom>
              <a:avLst/>
              <a:gdLst/>
              <a:ahLst/>
              <a:cxnLst/>
              <a:rect l="l" t="t" r="r" b="b"/>
              <a:pathLst>
                <a:path w="596265" h="74295">
                  <a:moveTo>
                    <a:pt x="10234" y="28017"/>
                  </a:moveTo>
                  <a:lnTo>
                    <a:pt x="516746" y="28017"/>
                  </a:lnTo>
                  <a:lnTo>
                    <a:pt x="521874" y="28017"/>
                  </a:lnTo>
                  <a:lnTo>
                    <a:pt x="521874" y="32288"/>
                  </a:lnTo>
                  <a:lnTo>
                    <a:pt x="526464" y="32288"/>
                  </a:lnTo>
                  <a:lnTo>
                    <a:pt x="526464" y="37022"/>
                  </a:lnTo>
                  <a:lnTo>
                    <a:pt x="526464" y="41775"/>
                  </a:lnTo>
                  <a:lnTo>
                    <a:pt x="521874" y="41775"/>
                  </a:lnTo>
                  <a:lnTo>
                    <a:pt x="521874" y="46528"/>
                  </a:lnTo>
                  <a:lnTo>
                    <a:pt x="516746" y="46528"/>
                  </a:lnTo>
                  <a:lnTo>
                    <a:pt x="10234" y="46528"/>
                  </a:lnTo>
                  <a:lnTo>
                    <a:pt x="5106" y="46528"/>
                  </a:lnTo>
                  <a:lnTo>
                    <a:pt x="5106" y="41775"/>
                  </a:lnTo>
                  <a:lnTo>
                    <a:pt x="0" y="41775"/>
                  </a:lnTo>
                  <a:lnTo>
                    <a:pt x="0" y="37022"/>
                  </a:lnTo>
                  <a:lnTo>
                    <a:pt x="0" y="32288"/>
                  </a:lnTo>
                  <a:lnTo>
                    <a:pt x="5106" y="32288"/>
                  </a:lnTo>
                  <a:lnTo>
                    <a:pt x="5106" y="28017"/>
                  </a:lnTo>
                  <a:lnTo>
                    <a:pt x="10234" y="28017"/>
                  </a:lnTo>
                  <a:close/>
                </a:path>
                <a:path w="596265" h="74295">
                  <a:moveTo>
                    <a:pt x="516746" y="37022"/>
                  </a:moveTo>
                  <a:lnTo>
                    <a:pt x="472190" y="0"/>
                  </a:lnTo>
                  <a:lnTo>
                    <a:pt x="596120" y="37022"/>
                  </a:lnTo>
                  <a:lnTo>
                    <a:pt x="472190" y="74064"/>
                  </a:lnTo>
                  <a:lnTo>
                    <a:pt x="516746" y="37022"/>
                  </a:lnTo>
                  <a:close/>
                </a:path>
              </a:pathLst>
            </a:custGeom>
            <a:ln w="4943">
              <a:solidFill>
                <a:srgbClr val="000000"/>
              </a:solidFill>
            </a:ln>
          </p:spPr>
          <p:txBody>
            <a:bodyPr wrap="square" lIns="0" tIns="0" rIns="0" bIns="0" rtlCol="0"/>
            <a:lstStyle/>
            <a:p/>
          </p:txBody>
        </p:sp>
        <p:sp>
          <p:nvSpPr>
            <p:cNvPr id="36" name="object 36" descr=""/>
            <p:cNvSpPr/>
            <p:nvPr/>
          </p:nvSpPr>
          <p:spPr>
            <a:xfrm>
              <a:off x="7725770" y="5026346"/>
              <a:ext cx="546100" cy="295910"/>
            </a:xfrm>
            <a:custGeom>
              <a:avLst/>
              <a:gdLst/>
              <a:ahLst/>
              <a:cxnLst/>
              <a:rect l="l" t="t" r="r" b="b"/>
              <a:pathLst>
                <a:path w="546100" h="295910">
                  <a:moveTo>
                    <a:pt x="545961" y="0"/>
                  </a:moveTo>
                  <a:lnTo>
                    <a:pt x="0" y="295757"/>
                  </a:lnTo>
                </a:path>
              </a:pathLst>
            </a:custGeom>
            <a:ln w="14056">
              <a:solidFill>
                <a:srgbClr val="000000"/>
              </a:solidFill>
            </a:ln>
          </p:spPr>
          <p:txBody>
            <a:bodyPr wrap="square" lIns="0" tIns="0" rIns="0" bIns="0" rtlCol="0"/>
            <a:lstStyle/>
            <a:p/>
          </p:txBody>
        </p:sp>
      </p:grpSp>
      <p:sp>
        <p:nvSpPr>
          <p:cNvPr id="37" name="object 37" descr=""/>
          <p:cNvSpPr txBox="1"/>
          <p:nvPr/>
        </p:nvSpPr>
        <p:spPr>
          <a:xfrm>
            <a:off x="9888211" y="4874557"/>
            <a:ext cx="1452245" cy="292100"/>
          </a:xfrm>
          <a:prstGeom prst="rect">
            <a:avLst/>
          </a:prstGeom>
        </p:spPr>
        <p:txBody>
          <a:bodyPr wrap="square" lIns="0" tIns="13970" rIns="0" bIns="0" rtlCol="0" vert="horz">
            <a:spAutoFit/>
          </a:bodyPr>
          <a:lstStyle/>
          <a:p>
            <a:pPr algn="ctr" marL="324485">
              <a:lnSpc>
                <a:spcPts val="770"/>
              </a:lnSpc>
              <a:spcBef>
                <a:spcPts val="110"/>
              </a:spcBef>
            </a:pPr>
            <a:r>
              <a:rPr dirty="0" sz="900" spc="-50" b="1">
                <a:latin typeface="宋体"/>
                <a:cs typeface="宋体"/>
              </a:rPr>
              <a:t>g</a:t>
            </a:r>
            <a:endParaRPr sz="900">
              <a:latin typeface="宋体"/>
              <a:cs typeface="宋体"/>
            </a:endParaRPr>
          </a:p>
          <a:p>
            <a:pPr marL="12700">
              <a:lnSpc>
                <a:spcPts val="1310"/>
              </a:lnSpc>
            </a:pPr>
            <a:r>
              <a:rPr dirty="0" sz="1350" spc="114" b="1">
                <a:latin typeface="宋体"/>
                <a:cs typeface="宋体"/>
              </a:rPr>
              <a:t>总容量：</a:t>
            </a:r>
            <a:r>
              <a:rPr dirty="0" sz="1350" spc="75" b="1">
                <a:latin typeface="宋体"/>
                <a:cs typeface="宋体"/>
              </a:rPr>
              <a:t>2</a:t>
            </a:r>
            <a:r>
              <a:rPr dirty="0" sz="1350" spc="-45" b="1">
                <a:latin typeface="宋体"/>
                <a:cs typeface="宋体"/>
              </a:rPr>
              <a:t> ×</a:t>
            </a:r>
            <a:r>
              <a:rPr dirty="0" sz="1350" spc="95" b="1">
                <a:latin typeface="宋体"/>
                <a:cs typeface="宋体"/>
              </a:rPr>
              <a:t>n</a:t>
            </a:r>
            <a:r>
              <a:rPr dirty="0" sz="1350" spc="-125" b="1">
                <a:latin typeface="宋体"/>
                <a:cs typeface="宋体"/>
              </a:rPr>
              <a:t> 项</a:t>
            </a:r>
            <a:endParaRPr sz="1350">
              <a:latin typeface="宋体"/>
              <a:cs typeface="宋体"/>
            </a:endParaRPr>
          </a:p>
        </p:txBody>
      </p:sp>
      <p:sp>
        <p:nvSpPr>
          <p:cNvPr id="38" name="object 38" descr=""/>
          <p:cNvSpPr txBox="1"/>
          <p:nvPr/>
        </p:nvSpPr>
        <p:spPr>
          <a:xfrm>
            <a:off x="8880274" y="6145219"/>
            <a:ext cx="1997710" cy="237490"/>
          </a:xfrm>
          <a:prstGeom prst="rect">
            <a:avLst/>
          </a:prstGeom>
        </p:spPr>
        <p:txBody>
          <a:bodyPr wrap="square" lIns="0" tIns="17145" rIns="0" bIns="0" rtlCol="0" vert="horz">
            <a:spAutoFit/>
          </a:bodyPr>
          <a:lstStyle/>
          <a:p>
            <a:pPr marL="12700">
              <a:lnSpc>
                <a:spcPct val="100000"/>
              </a:lnSpc>
              <a:spcBef>
                <a:spcPts val="135"/>
              </a:spcBef>
            </a:pPr>
            <a:r>
              <a:rPr dirty="0" baseline="2057" sz="2025" spc="172" b="1">
                <a:solidFill>
                  <a:srgbClr val="0000FF"/>
                </a:solidFill>
                <a:latin typeface="宋体"/>
                <a:cs typeface="宋体"/>
              </a:rPr>
              <a:t>组内块地址</a:t>
            </a:r>
            <a:r>
              <a:rPr dirty="0" baseline="2057" sz="2025" spc="89" b="1">
                <a:solidFill>
                  <a:srgbClr val="0000FF"/>
                </a:solidFill>
                <a:latin typeface="宋体"/>
                <a:cs typeface="宋体"/>
              </a:rPr>
              <a:t>（log</a:t>
            </a:r>
            <a:r>
              <a:rPr dirty="0" sz="700" spc="60" b="1">
                <a:solidFill>
                  <a:srgbClr val="0000FF"/>
                </a:solidFill>
                <a:latin typeface="宋体"/>
                <a:cs typeface="宋体"/>
              </a:rPr>
              <a:t>2</a:t>
            </a:r>
            <a:r>
              <a:rPr dirty="0" baseline="2057" sz="2025" spc="89" b="1">
                <a:solidFill>
                  <a:srgbClr val="0000FF"/>
                </a:solidFill>
                <a:latin typeface="宋体"/>
                <a:cs typeface="宋体"/>
              </a:rPr>
              <a:t>n</a:t>
            </a:r>
            <a:r>
              <a:rPr dirty="0" baseline="2057" sz="2025" spc="-150" b="1">
                <a:solidFill>
                  <a:srgbClr val="0000FF"/>
                </a:solidFill>
                <a:latin typeface="宋体"/>
                <a:cs typeface="宋体"/>
              </a:rPr>
              <a:t> 位</a:t>
            </a:r>
            <a:r>
              <a:rPr dirty="0" baseline="2057" sz="2025" spc="120" b="1">
                <a:solidFill>
                  <a:srgbClr val="0000FF"/>
                </a:solidFill>
                <a:latin typeface="宋体"/>
                <a:cs typeface="宋体"/>
              </a:rPr>
              <a:t>）</a:t>
            </a:r>
            <a:endParaRPr baseline="2057" sz="2025">
              <a:latin typeface="宋体"/>
              <a:cs typeface="宋体"/>
            </a:endParaRPr>
          </a:p>
        </p:txBody>
      </p:sp>
      <p:sp>
        <p:nvSpPr>
          <p:cNvPr id="39" name="object 39" descr=""/>
          <p:cNvSpPr txBox="1"/>
          <p:nvPr/>
        </p:nvSpPr>
        <p:spPr>
          <a:xfrm>
            <a:off x="7474411" y="5327222"/>
            <a:ext cx="542925" cy="237490"/>
          </a:xfrm>
          <a:prstGeom prst="rect">
            <a:avLst/>
          </a:prstGeom>
        </p:spPr>
        <p:txBody>
          <a:bodyPr wrap="square" lIns="0" tIns="17145" rIns="0" bIns="0" rtlCol="0" vert="horz">
            <a:spAutoFit/>
          </a:bodyPr>
          <a:lstStyle/>
          <a:p>
            <a:pPr marL="12700">
              <a:lnSpc>
                <a:spcPct val="100000"/>
              </a:lnSpc>
              <a:spcBef>
                <a:spcPts val="135"/>
              </a:spcBef>
            </a:pPr>
            <a:r>
              <a:rPr dirty="0" sz="1350" spc="65" b="1">
                <a:latin typeface="宋体"/>
                <a:cs typeface="宋体"/>
              </a:rPr>
              <a:t>n</a:t>
            </a:r>
            <a:r>
              <a:rPr dirty="0" sz="1350" spc="-40" b="1">
                <a:latin typeface="宋体"/>
                <a:cs typeface="宋体"/>
              </a:rPr>
              <a:t> 个项</a:t>
            </a:r>
            <a:endParaRPr sz="1350">
              <a:latin typeface="宋体"/>
              <a:cs typeface="宋体"/>
            </a:endParaRPr>
          </a:p>
        </p:txBody>
      </p:sp>
      <p:grpSp>
        <p:nvGrpSpPr>
          <p:cNvPr id="40" name="object 40" descr=""/>
          <p:cNvGrpSpPr/>
          <p:nvPr/>
        </p:nvGrpSpPr>
        <p:grpSpPr>
          <a:xfrm>
            <a:off x="9434854" y="4986890"/>
            <a:ext cx="84455" cy="1149350"/>
            <a:chOff x="9434854" y="4986890"/>
            <a:chExt cx="84455" cy="1149350"/>
          </a:xfrm>
        </p:grpSpPr>
        <p:pic>
          <p:nvPicPr>
            <p:cNvPr id="41" name="object 41" descr=""/>
            <p:cNvPicPr/>
            <p:nvPr/>
          </p:nvPicPr>
          <p:blipFill>
            <a:blip r:embed="rId3" cstate="print"/>
            <a:stretch>
              <a:fillRect/>
            </a:stretch>
          </p:blipFill>
          <p:spPr>
            <a:xfrm>
              <a:off x="9436812" y="4986890"/>
              <a:ext cx="73880" cy="69406"/>
            </a:xfrm>
            <a:prstGeom prst="rect">
              <a:avLst/>
            </a:prstGeom>
          </p:spPr>
        </p:pic>
        <p:sp>
          <p:nvSpPr>
            <p:cNvPr id="42" name="object 42" descr=""/>
            <p:cNvSpPr/>
            <p:nvPr/>
          </p:nvSpPr>
          <p:spPr>
            <a:xfrm>
              <a:off x="9437363" y="5047705"/>
              <a:ext cx="80010" cy="1085850"/>
            </a:xfrm>
            <a:custGeom>
              <a:avLst/>
              <a:gdLst/>
              <a:ahLst/>
              <a:cxnLst/>
              <a:rect l="l" t="t" r="r" b="b"/>
              <a:pathLst>
                <a:path w="80009" h="1085850">
                  <a:moveTo>
                    <a:pt x="0" y="970380"/>
                  </a:moveTo>
                  <a:lnTo>
                    <a:pt x="39490" y="1085758"/>
                  </a:lnTo>
                  <a:lnTo>
                    <a:pt x="63462" y="1016446"/>
                  </a:lnTo>
                  <a:lnTo>
                    <a:pt x="34735" y="1016446"/>
                  </a:lnTo>
                  <a:lnTo>
                    <a:pt x="34735" y="1012174"/>
                  </a:lnTo>
                  <a:lnTo>
                    <a:pt x="29772" y="1012174"/>
                  </a:lnTo>
                  <a:lnTo>
                    <a:pt x="29772" y="998306"/>
                  </a:lnTo>
                  <a:lnTo>
                    <a:pt x="0" y="970380"/>
                  </a:lnTo>
                  <a:close/>
                </a:path>
                <a:path w="80009" h="1085850">
                  <a:moveTo>
                    <a:pt x="44452" y="1012174"/>
                  </a:moveTo>
                  <a:lnTo>
                    <a:pt x="34735" y="1012174"/>
                  </a:lnTo>
                  <a:lnTo>
                    <a:pt x="34735" y="1016446"/>
                  </a:lnTo>
                  <a:lnTo>
                    <a:pt x="44452" y="1016446"/>
                  </a:lnTo>
                  <a:lnTo>
                    <a:pt x="44452" y="1012174"/>
                  </a:lnTo>
                  <a:close/>
                </a:path>
                <a:path w="80009" h="1085850">
                  <a:moveTo>
                    <a:pt x="79394" y="970380"/>
                  </a:moveTo>
                  <a:lnTo>
                    <a:pt x="49621" y="998017"/>
                  </a:lnTo>
                  <a:lnTo>
                    <a:pt x="49621" y="1012174"/>
                  </a:lnTo>
                  <a:lnTo>
                    <a:pt x="44452" y="1012174"/>
                  </a:lnTo>
                  <a:lnTo>
                    <a:pt x="44452" y="1016446"/>
                  </a:lnTo>
                  <a:lnTo>
                    <a:pt x="63462" y="1016446"/>
                  </a:lnTo>
                  <a:lnTo>
                    <a:pt x="79394" y="970380"/>
                  </a:lnTo>
                  <a:close/>
                </a:path>
                <a:path w="80009" h="1085850">
                  <a:moveTo>
                    <a:pt x="29772" y="998306"/>
                  </a:moveTo>
                  <a:lnTo>
                    <a:pt x="29772" y="1012174"/>
                  </a:lnTo>
                  <a:lnTo>
                    <a:pt x="49621" y="1012174"/>
                  </a:lnTo>
                  <a:lnTo>
                    <a:pt x="49621" y="1007421"/>
                  </a:lnTo>
                  <a:lnTo>
                    <a:pt x="39490" y="1007421"/>
                  </a:lnTo>
                  <a:lnTo>
                    <a:pt x="29772" y="998306"/>
                  </a:lnTo>
                  <a:close/>
                </a:path>
                <a:path w="80009" h="1085850">
                  <a:moveTo>
                    <a:pt x="49621" y="4271"/>
                  </a:moveTo>
                  <a:lnTo>
                    <a:pt x="29772" y="4271"/>
                  </a:lnTo>
                  <a:lnTo>
                    <a:pt x="29772" y="998306"/>
                  </a:lnTo>
                  <a:lnTo>
                    <a:pt x="39490" y="1007421"/>
                  </a:lnTo>
                  <a:lnTo>
                    <a:pt x="49621" y="998017"/>
                  </a:lnTo>
                  <a:lnTo>
                    <a:pt x="49621" y="4271"/>
                  </a:lnTo>
                  <a:close/>
                </a:path>
                <a:path w="80009" h="1085850">
                  <a:moveTo>
                    <a:pt x="49621" y="998017"/>
                  </a:moveTo>
                  <a:lnTo>
                    <a:pt x="39490" y="1007421"/>
                  </a:lnTo>
                  <a:lnTo>
                    <a:pt x="49621" y="1007421"/>
                  </a:lnTo>
                  <a:lnTo>
                    <a:pt x="49621" y="998017"/>
                  </a:lnTo>
                  <a:close/>
                </a:path>
                <a:path w="80009" h="1085850">
                  <a:moveTo>
                    <a:pt x="44452" y="0"/>
                  </a:moveTo>
                  <a:lnTo>
                    <a:pt x="34734" y="0"/>
                  </a:lnTo>
                  <a:lnTo>
                    <a:pt x="34734" y="4271"/>
                  </a:lnTo>
                  <a:lnTo>
                    <a:pt x="44452" y="4271"/>
                  </a:lnTo>
                  <a:lnTo>
                    <a:pt x="44452" y="0"/>
                  </a:lnTo>
                  <a:close/>
                </a:path>
              </a:pathLst>
            </a:custGeom>
            <a:solidFill>
              <a:srgbClr val="000000"/>
            </a:solidFill>
          </p:spPr>
          <p:txBody>
            <a:bodyPr wrap="square" lIns="0" tIns="0" rIns="0" bIns="0" rtlCol="0"/>
            <a:lstStyle/>
            <a:p/>
          </p:txBody>
        </p:sp>
        <p:sp>
          <p:nvSpPr>
            <p:cNvPr id="43" name="object 43" descr=""/>
            <p:cNvSpPr/>
            <p:nvPr/>
          </p:nvSpPr>
          <p:spPr>
            <a:xfrm>
              <a:off x="9437363" y="5047705"/>
              <a:ext cx="80010" cy="1085850"/>
            </a:xfrm>
            <a:custGeom>
              <a:avLst/>
              <a:gdLst/>
              <a:ahLst/>
              <a:cxnLst/>
              <a:rect l="l" t="t" r="r" b="b"/>
              <a:pathLst>
                <a:path w="80009" h="1085850">
                  <a:moveTo>
                    <a:pt x="49621" y="9024"/>
                  </a:moveTo>
                  <a:lnTo>
                    <a:pt x="49621" y="1007421"/>
                  </a:lnTo>
                  <a:lnTo>
                    <a:pt x="49621" y="1012174"/>
                  </a:lnTo>
                  <a:lnTo>
                    <a:pt x="44452" y="1012174"/>
                  </a:lnTo>
                  <a:lnTo>
                    <a:pt x="44452" y="1016446"/>
                  </a:lnTo>
                  <a:lnTo>
                    <a:pt x="39490" y="1016446"/>
                  </a:lnTo>
                  <a:lnTo>
                    <a:pt x="34735" y="1016446"/>
                  </a:lnTo>
                  <a:lnTo>
                    <a:pt x="34735" y="1012174"/>
                  </a:lnTo>
                  <a:lnTo>
                    <a:pt x="29772" y="1012174"/>
                  </a:lnTo>
                  <a:lnTo>
                    <a:pt x="29772" y="1007421"/>
                  </a:lnTo>
                  <a:lnTo>
                    <a:pt x="29772" y="9024"/>
                  </a:lnTo>
                  <a:lnTo>
                    <a:pt x="29772" y="4271"/>
                  </a:lnTo>
                  <a:lnTo>
                    <a:pt x="34734" y="4271"/>
                  </a:lnTo>
                  <a:lnTo>
                    <a:pt x="34734" y="0"/>
                  </a:lnTo>
                  <a:lnTo>
                    <a:pt x="39490" y="0"/>
                  </a:lnTo>
                  <a:lnTo>
                    <a:pt x="44452" y="0"/>
                  </a:lnTo>
                  <a:lnTo>
                    <a:pt x="44452" y="4271"/>
                  </a:lnTo>
                  <a:lnTo>
                    <a:pt x="49621" y="4271"/>
                  </a:lnTo>
                  <a:lnTo>
                    <a:pt x="49621" y="9024"/>
                  </a:lnTo>
                  <a:close/>
                </a:path>
                <a:path w="80009" h="1085850">
                  <a:moveTo>
                    <a:pt x="39490" y="1007421"/>
                  </a:moveTo>
                  <a:lnTo>
                    <a:pt x="79394" y="970380"/>
                  </a:lnTo>
                  <a:lnTo>
                    <a:pt x="39490" y="1085758"/>
                  </a:lnTo>
                  <a:lnTo>
                    <a:pt x="0" y="970380"/>
                  </a:lnTo>
                  <a:lnTo>
                    <a:pt x="39490" y="1007421"/>
                  </a:lnTo>
                  <a:close/>
                </a:path>
              </a:pathLst>
            </a:custGeom>
            <a:ln w="4943">
              <a:solidFill>
                <a:srgbClr val="000000"/>
              </a:solidFill>
            </a:ln>
          </p:spPr>
          <p:txBody>
            <a:bodyPr wrap="square" lIns="0" tIns="0" rIns="0" bIns="0" rtlCol="0"/>
            <a:lstStyle/>
            <a:p/>
          </p:txBody>
        </p:sp>
      </p:grpSp>
      <p:sp>
        <p:nvSpPr>
          <p:cNvPr id="44" name="object 44" descr=""/>
          <p:cNvSpPr txBox="1"/>
          <p:nvPr/>
        </p:nvSpPr>
        <p:spPr>
          <a:xfrm>
            <a:off x="9898342" y="4005012"/>
            <a:ext cx="966469" cy="237490"/>
          </a:xfrm>
          <a:prstGeom prst="rect">
            <a:avLst/>
          </a:prstGeom>
        </p:spPr>
        <p:txBody>
          <a:bodyPr wrap="square" lIns="0" tIns="17145" rIns="0" bIns="0" rtlCol="0" vert="horz">
            <a:spAutoFit/>
          </a:bodyPr>
          <a:lstStyle/>
          <a:p>
            <a:pPr marL="12700">
              <a:lnSpc>
                <a:spcPct val="100000"/>
              </a:lnSpc>
              <a:spcBef>
                <a:spcPts val="135"/>
              </a:spcBef>
            </a:pPr>
            <a:r>
              <a:rPr dirty="0" sz="1350" spc="105" b="1">
                <a:solidFill>
                  <a:srgbClr val="008000"/>
                </a:solidFill>
                <a:latin typeface="宋体"/>
                <a:cs typeface="宋体"/>
              </a:rPr>
              <a:t>标识存储器</a:t>
            </a:r>
            <a:endParaRPr sz="1350">
              <a:latin typeface="宋体"/>
              <a:cs typeface="宋体"/>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0" name="object 10" descr=""/>
          <p:cNvSpPr txBox="1"/>
          <p:nvPr/>
        </p:nvSpPr>
        <p:spPr>
          <a:xfrm>
            <a:off x="101" y="650143"/>
            <a:ext cx="5395595" cy="2100580"/>
          </a:xfrm>
          <a:prstGeom prst="rect">
            <a:avLst/>
          </a:prstGeom>
        </p:spPr>
        <p:txBody>
          <a:bodyPr wrap="square" lIns="0" tIns="129540" rIns="0" bIns="0" rtlCol="0" vert="horz">
            <a:spAutoFit/>
          </a:bodyPr>
          <a:lstStyle/>
          <a:p>
            <a:pPr marL="469265" indent="-456565">
              <a:lnSpc>
                <a:spcPct val="100000"/>
              </a:lnSpc>
              <a:spcBef>
                <a:spcPts val="1020"/>
              </a:spcBef>
              <a:buSzPct val="89583"/>
              <a:buFont typeface="Wingdings"/>
              <a:buChar char=""/>
              <a:tabLst>
                <a:tab pos="469265" algn="l"/>
              </a:tabLst>
            </a:pPr>
            <a:r>
              <a:rPr dirty="0" sz="2400" spc="-5">
                <a:solidFill>
                  <a:srgbClr val="40458B"/>
                </a:solidFill>
                <a:latin typeface="黑体"/>
                <a:cs typeface="黑体"/>
              </a:rPr>
              <a:t>单体多字存储器＋比较器</a:t>
            </a:r>
            <a:endParaRPr sz="2400">
              <a:latin typeface="黑体"/>
              <a:cs typeface="黑体"/>
            </a:endParaRPr>
          </a:p>
          <a:p>
            <a:pPr algn="r" lvl="1" marL="457200" marR="632460" indent="-457200">
              <a:lnSpc>
                <a:spcPct val="100000"/>
              </a:lnSpc>
              <a:spcBef>
                <a:spcPts val="770"/>
              </a:spcBef>
              <a:buClr>
                <a:srgbClr val="4668F5"/>
              </a:buClr>
              <a:buSzPct val="60000"/>
              <a:buFont typeface="Wingdings"/>
              <a:buChar char=""/>
              <a:tabLst>
                <a:tab pos="457200" algn="l"/>
              </a:tabLst>
            </a:pPr>
            <a:r>
              <a:rPr dirty="0" sz="2000" spc="-60" b="1">
                <a:solidFill>
                  <a:srgbClr val="FF0000"/>
                </a:solidFill>
                <a:latin typeface="宋体"/>
                <a:cs typeface="宋体"/>
              </a:rPr>
              <a:t>举例： ４路组相联并行标识比较</a:t>
            </a:r>
            <a:endParaRPr sz="2000">
              <a:latin typeface="宋体"/>
              <a:cs typeface="宋体"/>
            </a:endParaRPr>
          </a:p>
          <a:p>
            <a:pPr algn="r" marR="651510">
              <a:lnSpc>
                <a:spcPct val="100000"/>
              </a:lnSpc>
              <a:spcBef>
                <a:spcPts val="720"/>
              </a:spcBef>
            </a:pPr>
            <a:r>
              <a:rPr dirty="0" sz="2000" spc="-10" b="1">
                <a:solidFill>
                  <a:srgbClr val="FF0000"/>
                </a:solidFill>
                <a:latin typeface="宋体"/>
                <a:cs typeface="宋体"/>
              </a:rPr>
              <a:t>（比较器的个数及位数</a:t>
            </a:r>
            <a:r>
              <a:rPr dirty="0" sz="2000" spc="-50" b="1">
                <a:solidFill>
                  <a:srgbClr val="FF0000"/>
                </a:solidFill>
                <a:latin typeface="宋体"/>
                <a:cs typeface="宋体"/>
              </a:rPr>
              <a:t>）</a:t>
            </a:r>
            <a:endParaRPr sz="2000">
              <a:latin typeface="宋体"/>
              <a:cs typeface="宋体"/>
            </a:endParaRPr>
          </a:p>
          <a:p>
            <a:pPr lvl="1" marL="1097915" indent="-457834">
              <a:lnSpc>
                <a:spcPct val="100000"/>
              </a:lnSpc>
              <a:spcBef>
                <a:spcPts val="720"/>
              </a:spcBef>
              <a:buClr>
                <a:srgbClr val="4668F5"/>
              </a:buClr>
              <a:buSzPct val="60000"/>
              <a:buFont typeface="Wingdings"/>
              <a:buChar char=""/>
              <a:tabLst>
                <a:tab pos="1097915" algn="l"/>
              </a:tabLst>
            </a:pPr>
            <a:r>
              <a:rPr dirty="0" sz="2000" spc="-15" b="1">
                <a:solidFill>
                  <a:srgbClr val="00AFEF"/>
                </a:solidFill>
                <a:latin typeface="宋体"/>
                <a:cs typeface="宋体"/>
              </a:rPr>
              <a:t>４路组相联</a:t>
            </a:r>
            <a:r>
              <a:rPr dirty="0" sz="2000" b="1">
                <a:solidFill>
                  <a:srgbClr val="00AFEF"/>
                </a:solidFill>
                <a:latin typeface="Times New Roman"/>
                <a:cs typeface="Times New Roman"/>
              </a:rPr>
              <a:t>Cache</a:t>
            </a:r>
            <a:r>
              <a:rPr dirty="0" sz="2000" spc="-30" b="1">
                <a:solidFill>
                  <a:srgbClr val="00AFEF"/>
                </a:solidFill>
                <a:latin typeface="宋体"/>
                <a:cs typeface="宋体"/>
              </a:rPr>
              <a:t>的查找过程</a:t>
            </a:r>
            <a:endParaRPr sz="2000">
              <a:latin typeface="宋体"/>
              <a:cs typeface="宋体"/>
            </a:endParaRPr>
          </a:p>
          <a:p>
            <a:pPr lvl="1" marL="1161415" indent="-521334">
              <a:lnSpc>
                <a:spcPct val="100000"/>
              </a:lnSpc>
              <a:spcBef>
                <a:spcPts val="725"/>
              </a:spcBef>
              <a:buClr>
                <a:srgbClr val="4668F5"/>
              </a:buClr>
              <a:buSzPct val="60000"/>
              <a:buFont typeface="Wingdings"/>
              <a:buChar char=""/>
              <a:tabLst>
                <a:tab pos="1161415" algn="l"/>
              </a:tabLst>
            </a:pPr>
            <a:r>
              <a:rPr dirty="0" sz="2000" spc="-20" b="1">
                <a:solidFill>
                  <a:srgbClr val="00AFEF"/>
                </a:solidFill>
                <a:latin typeface="宋体"/>
                <a:cs typeface="宋体"/>
              </a:rPr>
              <a:t>将表目录和数据项重新排列，一组</a:t>
            </a:r>
            <a:r>
              <a:rPr dirty="0" sz="2000" b="1">
                <a:solidFill>
                  <a:srgbClr val="00AFEF"/>
                </a:solidFill>
                <a:latin typeface="Times New Roman"/>
                <a:cs typeface="Times New Roman"/>
              </a:rPr>
              <a:t>4</a:t>
            </a:r>
            <a:r>
              <a:rPr dirty="0" sz="2000" spc="-50" b="1">
                <a:solidFill>
                  <a:srgbClr val="00AFEF"/>
                </a:solidFill>
                <a:latin typeface="宋体"/>
                <a:cs typeface="宋体"/>
              </a:rPr>
              <a:t>块</a:t>
            </a:r>
            <a:endParaRPr sz="2000">
              <a:latin typeface="宋体"/>
              <a:cs typeface="宋体"/>
            </a:endParaRPr>
          </a:p>
        </p:txBody>
      </p:sp>
      <p:pic>
        <p:nvPicPr>
          <p:cNvPr id="11" name="object 11" descr=""/>
          <p:cNvPicPr/>
          <p:nvPr/>
        </p:nvPicPr>
        <p:blipFill>
          <a:blip r:embed="rId3" cstate="print"/>
          <a:stretch>
            <a:fillRect/>
          </a:stretch>
        </p:blipFill>
        <p:spPr>
          <a:xfrm>
            <a:off x="5148326" y="2708275"/>
            <a:ext cx="6791198" cy="2760599"/>
          </a:xfrm>
          <a:prstGeom prst="rect">
            <a:avLst/>
          </a:prstGeom>
        </p:spPr>
      </p:pic>
      <p:sp>
        <p:nvSpPr>
          <p:cNvPr id="12" name="object 12" descr=""/>
          <p:cNvSpPr txBox="1"/>
          <p:nvPr/>
        </p:nvSpPr>
        <p:spPr>
          <a:xfrm>
            <a:off x="5743702" y="5118557"/>
            <a:ext cx="93980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黑体"/>
                <a:cs typeface="黑体"/>
              </a:rPr>
              <a:t>表目录</a:t>
            </a:r>
            <a:endParaRPr sz="2400">
              <a:latin typeface="黑体"/>
              <a:cs typeface="黑体"/>
            </a:endParaRPr>
          </a:p>
        </p:txBody>
      </p:sp>
      <p:sp>
        <p:nvSpPr>
          <p:cNvPr id="13" name="object 13" descr=""/>
          <p:cNvSpPr txBox="1"/>
          <p:nvPr/>
        </p:nvSpPr>
        <p:spPr>
          <a:xfrm>
            <a:off x="9055734" y="5031740"/>
            <a:ext cx="1406525"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Tahoma"/>
                <a:cs typeface="Tahoma"/>
              </a:rPr>
              <a:t>cache</a:t>
            </a:r>
            <a:r>
              <a:rPr dirty="0" sz="2400" spc="-25">
                <a:solidFill>
                  <a:srgbClr val="FF0000"/>
                </a:solidFill>
                <a:latin typeface="黑体"/>
                <a:cs typeface="黑体"/>
              </a:rPr>
              <a:t>数据</a:t>
            </a:r>
            <a:endParaRPr sz="2400">
              <a:latin typeface="黑体"/>
              <a:cs typeface="黑体"/>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29/170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9" name="object 9"/>
          <p:cNvGrpSpPr/>
          <p:nvPr/>
        </p:nvGrpSpPr>
        <p:grpSpPr>
          <a:xfrm>
            <a:off x="5908675" y="770001"/>
            <a:ext cx="5270500" cy="5151755"/>
            <a:chOff x="5908675" y="770001"/>
            <a:chExt cx="5270500" cy="5151755"/>
          </a:xfrm>
        </p:grpSpPr>
        <p:pic>
          <p:nvPicPr>
            <p:cNvPr id="10" name="object 10"/>
            <p:cNvPicPr/>
            <p:nvPr/>
          </p:nvPicPr>
          <p:blipFill>
            <a:blip r:embed="rId3" cstate="print"/>
            <a:stretch>
              <a:fillRect/>
            </a:stretch>
          </p:blipFill>
          <p:spPr>
            <a:xfrm>
              <a:off x="5908675" y="770001"/>
              <a:ext cx="5270500" cy="5151374"/>
            </a:xfrm>
            <a:prstGeom prst="rect">
              <a:avLst/>
            </a:prstGeom>
          </p:spPr>
        </p:pic>
        <p:sp>
          <p:nvSpPr>
            <p:cNvPr id="11" name="object 11" descr=""/>
            <p:cNvSpPr/>
            <p:nvPr/>
          </p:nvSpPr>
          <p:spPr>
            <a:xfrm>
              <a:off x="9839833" y="5153152"/>
              <a:ext cx="648970" cy="168275"/>
            </a:xfrm>
            <a:custGeom>
              <a:avLst/>
              <a:gdLst/>
              <a:ahLst/>
              <a:cxnLst/>
              <a:rect l="l" t="t" r="r" b="b"/>
              <a:pathLst>
                <a:path w="648970" h="168275">
                  <a:moveTo>
                    <a:pt x="573337" y="135698"/>
                  </a:moveTo>
                  <a:lnTo>
                    <a:pt x="566166" y="168275"/>
                  </a:lnTo>
                  <a:lnTo>
                    <a:pt x="648716" y="147447"/>
                  </a:lnTo>
                  <a:lnTo>
                    <a:pt x="637583" y="138430"/>
                  </a:lnTo>
                  <a:lnTo>
                    <a:pt x="585724" y="138430"/>
                  </a:lnTo>
                  <a:lnTo>
                    <a:pt x="573337" y="135698"/>
                  </a:lnTo>
                  <a:close/>
                </a:path>
                <a:path w="648970" h="168275">
                  <a:moveTo>
                    <a:pt x="575377" y="126428"/>
                  </a:moveTo>
                  <a:lnTo>
                    <a:pt x="573337" y="135698"/>
                  </a:lnTo>
                  <a:lnTo>
                    <a:pt x="585724" y="138430"/>
                  </a:lnTo>
                  <a:lnTo>
                    <a:pt x="587756" y="129159"/>
                  </a:lnTo>
                  <a:lnTo>
                    <a:pt x="575377" y="126428"/>
                  </a:lnTo>
                  <a:close/>
                </a:path>
                <a:path w="648970" h="168275">
                  <a:moveTo>
                    <a:pt x="582549" y="93853"/>
                  </a:moveTo>
                  <a:lnTo>
                    <a:pt x="575377" y="126428"/>
                  </a:lnTo>
                  <a:lnTo>
                    <a:pt x="587756" y="129159"/>
                  </a:lnTo>
                  <a:lnTo>
                    <a:pt x="585724" y="138430"/>
                  </a:lnTo>
                  <a:lnTo>
                    <a:pt x="637583" y="138430"/>
                  </a:lnTo>
                  <a:lnTo>
                    <a:pt x="582549" y="93853"/>
                  </a:lnTo>
                  <a:close/>
                </a:path>
                <a:path w="648970" h="168275">
                  <a:moveTo>
                    <a:pt x="2159" y="0"/>
                  </a:moveTo>
                  <a:lnTo>
                    <a:pt x="0" y="9271"/>
                  </a:lnTo>
                  <a:lnTo>
                    <a:pt x="573337" y="135698"/>
                  </a:lnTo>
                  <a:lnTo>
                    <a:pt x="575377" y="126428"/>
                  </a:lnTo>
                  <a:lnTo>
                    <a:pt x="2159" y="0"/>
                  </a:lnTo>
                  <a:close/>
                </a:path>
              </a:pathLst>
            </a:custGeom>
            <a:solidFill>
              <a:srgbClr val="40458B"/>
            </a:solidFill>
          </p:spPr>
          <p:txBody>
            <a:bodyPr wrap="square" lIns="0" tIns="0" rIns="0" bIns="0" rtlCol="0"/>
            <a:lstStyle/>
            <a:p/>
          </p:txBody>
        </p:sp>
      </p:grpSp>
      <p:sp>
        <p:nvSpPr>
          <p:cNvPr id="12" name="object 12"/>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pic>
        <p:nvPicPr>
          <p:cNvPr id="13" name="object 13" descr=""/>
          <p:cNvPicPr/>
          <p:nvPr/>
        </p:nvPicPr>
        <p:blipFill>
          <a:blip r:embed="rId4" cstate="print"/>
          <a:stretch>
            <a:fillRect/>
          </a:stretch>
        </p:blipFill>
        <p:spPr>
          <a:xfrm>
            <a:off x="647700" y="1341374"/>
            <a:ext cx="3457575" cy="3084401"/>
          </a:xfrm>
          <a:prstGeom prst="rect">
            <a:avLst/>
          </a:prstGeom>
        </p:spPr>
      </p:pic>
      <p:grpSp>
        <p:nvGrpSpPr>
          <p:cNvPr id="14" name="object 14" descr=""/>
          <p:cNvGrpSpPr/>
          <p:nvPr/>
        </p:nvGrpSpPr>
        <p:grpSpPr>
          <a:xfrm>
            <a:off x="4362513" y="2500312"/>
            <a:ext cx="1090930" cy="370205"/>
            <a:chOff x="4362513" y="2500312"/>
            <a:chExt cx="1090930" cy="370205"/>
          </a:xfrm>
        </p:grpSpPr>
        <p:sp>
          <p:nvSpPr>
            <p:cNvPr id="15" name="object 15" descr=""/>
            <p:cNvSpPr/>
            <p:nvPr/>
          </p:nvSpPr>
          <p:spPr>
            <a:xfrm>
              <a:off x="4367276" y="2505075"/>
              <a:ext cx="1081405" cy="360680"/>
            </a:xfrm>
            <a:custGeom>
              <a:avLst/>
              <a:gdLst/>
              <a:ahLst/>
              <a:cxnLst/>
              <a:rect l="l" t="t" r="r" b="b"/>
              <a:pathLst>
                <a:path w="1081404" h="360680">
                  <a:moveTo>
                    <a:pt x="900811" y="0"/>
                  </a:moveTo>
                  <a:lnTo>
                    <a:pt x="900811" y="90042"/>
                  </a:lnTo>
                  <a:lnTo>
                    <a:pt x="0" y="90042"/>
                  </a:lnTo>
                  <a:lnTo>
                    <a:pt x="0" y="270255"/>
                  </a:lnTo>
                  <a:lnTo>
                    <a:pt x="900811" y="270255"/>
                  </a:lnTo>
                  <a:lnTo>
                    <a:pt x="900811" y="360299"/>
                  </a:lnTo>
                  <a:lnTo>
                    <a:pt x="1081024" y="180212"/>
                  </a:lnTo>
                  <a:lnTo>
                    <a:pt x="900811" y="0"/>
                  </a:lnTo>
                  <a:close/>
                </a:path>
              </a:pathLst>
            </a:custGeom>
            <a:solidFill>
              <a:srgbClr val="EBD782"/>
            </a:solidFill>
          </p:spPr>
          <p:txBody>
            <a:bodyPr wrap="square" lIns="0" tIns="0" rIns="0" bIns="0" rtlCol="0"/>
            <a:lstStyle/>
            <a:p/>
          </p:txBody>
        </p:sp>
        <p:sp>
          <p:nvSpPr>
            <p:cNvPr id="16" name="object 16" descr=""/>
            <p:cNvSpPr/>
            <p:nvPr/>
          </p:nvSpPr>
          <p:spPr>
            <a:xfrm>
              <a:off x="4367276" y="2505075"/>
              <a:ext cx="1081405" cy="360680"/>
            </a:xfrm>
            <a:custGeom>
              <a:avLst/>
              <a:gdLst/>
              <a:ahLst/>
              <a:cxnLst/>
              <a:rect l="l" t="t" r="r" b="b"/>
              <a:pathLst>
                <a:path w="1081404" h="360680">
                  <a:moveTo>
                    <a:pt x="0" y="90042"/>
                  </a:moveTo>
                  <a:lnTo>
                    <a:pt x="900811" y="90042"/>
                  </a:lnTo>
                  <a:lnTo>
                    <a:pt x="900811" y="0"/>
                  </a:lnTo>
                  <a:lnTo>
                    <a:pt x="1081024" y="180212"/>
                  </a:lnTo>
                  <a:lnTo>
                    <a:pt x="900811" y="360299"/>
                  </a:lnTo>
                  <a:lnTo>
                    <a:pt x="900811" y="270255"/>
                  </a:lnTo>
                  <a:lnTo>
                    <a:pt x="0" y="270255"/>
                  </a:lnTo>
                  <a:lnTo>
                    <a:pt x="0" y="90042"/>
                  </a:lnTo>
                  <a:close/>
                </a:path>
              </a:pathLst>
            </a:custGeom>
            <a:ln w="9525">
              <a:solidFill>
                <a:srgbClr val="40458B"/>
              </a:solidFill>
            </a:ln>
          </p:spPr>
          <p:txBody>
            <a:bodyPr wrap="square" lIns="0" tIns="0" rIns="0" bIns="0" rtlCol="0"/>
            <a:lstStyle/>
            <a:p/>
          </p:txBody>
        </p:sp>
      </p:grpSp>
      <p:sp>
        <p:nvSpPr>
          <p:cNvPr id="17" name="object 17" descr=""/>
          <p:cNvSpPr txBox="1"/>
          <p:nvPr/>
        </p:nvSpPr>
        <p:spPr>
          <a:xfrm>
            <a:off x="5454777" y="5982411"/>
            <a:ext cx="5207000" cy="391795"/>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FF0000"/>
                </a:solidFill>
                <a:latin typeface="黑体"/>
                <a:cs typeface="黑体"/>
              </a:rPr>
              <a:t>一次读取一行，同时判断标识是否相等</a:t>
            </a:r>
            <a:endParaRPr sz="2400">
              <a:latin typeface="黑体"/>
              <a:cs typeface="黑体"/>
            </a:endParaRPr>
          </a:p>
        </p:txBody>
      </p:sp>
      <p:sp>
        <p:nvSpPr>
          <p:cNvPr id="18" name="object 18" descr=""/>
          <p:cNvSpPr txBox="1"/>
          <p:nvPr/>
        </p:nvSpPr>
        <p:spPr>
          <a:xfrm>
            <a:off x="1191869" y="5215890"/>
            <a:ext cx="3074670" cy="757555"/>
          </a:xfrm>
          <a:prstGeom prst="rect">
            <a:avLst/>
          </a:prstGeom>
        </p:spPr>
        <p:txBody>
          <a:bodyPr wrap="square" lIns="0" tIns="12700" rIns="0" bIns="0" rtlCol="0" vert="horz">
            <a:spAutoFit/>
          </a:bodyPr>
          <a:lstStyle/>
          <a:p>
            <a:pPr marL="12700" marR="5080">
              <a:lnSpc>
                <a:spcPct val="100000"/>
              </a:lnSpc>
              <a:spcBef>
                <a:spcPts val="100"/>
              </a:spcBef>
            </a:pPr>
            <a:r>
              <a:rPr dirty="0" u="sng" sz="2400">
                <a:solidFill>
                  <a:srgbClr val="FF0000"/>
                </a:solidFill>
                <a:uFill>
                  <a:solidFill>
                    <a:srgbClr val="FF0000"/>
                  </a:solidFill>
                </a:uFill>
                <a:latin typeface="黑体"/>
                <a:cs typeface="黑体"/>
              </a:rPr>
              <a:t>单体多字存储器</a:t>
            </a:r>
            <a:r>
              <a:rPr dirty="0" u="none" sz="2400" spc="-20">
                <a:solidFill>
                  <a:srgbClr val="FF0000"/>
                </a:solidFill>
                <a:latin typeface="黑体"/>
                <a:cs typeface="黑体"/>
              </a:rPr>
              <a:t>来实现一次多读取多个字</a:t>
            </a:r>
            <a:endParaRPr sz="2400">
              <a:latin typeface="黑体"/>
              <a:cs typeface="黑体"/>
            </a:endParaRPr>
          </a:p>
        </p:txBody>
      </p:sp>
      <p:sp>
        <p:nvSpPr>
          <p:cNvPr id="19" name="object 19" descr=""/>
          <p:cNvSpPr txBox="1"/>
          <p:nvPr/>
        </p:nvSpPr>
        <p:spPr>
          <a:xfrm>
            <a:off x="10452607" y="5192014"/>
            <a:ext cx="789940" cy="330835"/>
          </a:xfrm>
          <a:prstGeom prst="rect">
            <a:avLst/>
          </a:prstGeom>
        </p:spPr>
        <p:txBody>
          <a:bodyPr wrap="square" lIns="0" tIns="12700" rIns="0" bIns="0" rtlCol="0" vert="horz">
            <a:spAutoFit/>
          </a:bodyPr>
          <a:lstStyle/>
          <a:p>
            <a:pPr marL="12700">
              <a:lnSpc>
                <a:spcPct val="100000"/>
              </a:lnSpc>
              <a:spcBef>
                <a:spcPts val="100"/>
              </a:spcBef>
            </a:pPr>
            <a:r>
              <a:rPr dirty="0" sz="2000" spc="-20">
                <a:solidFill>
                  <a:srgbClr val="FF0000"/>
                </a:solidFill>
                <a:latin typeface="黑体"/>
                <a:cs typeface="黑体"/>
              </a:rPr>
              <a:t>比较器</a:t>
            </a:r>
            <a:endParaRPr sz="2000">
              <a:latin typeface="黑体"/>
              <a:cs typeface="黑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9" name="object 9"/>
          <p:cNvGrpSpPr/>
          <p:nvPr/>
        </p:nvGrpSpPr>
        <p:grpSpPr>
          <a:xfrm>
            <a:off x="6311900" y="765238"/>
            <a:ext cx="5270500" cy="5151755"/>
            <a:chOff x="6311900" y="765238"/>
            <a:chExt cx="5270500" cy="5151755"/>
          </a:xfrm>
        </p:grpSpPr>
        <p:pic>
          <p:nvPicPr>
            <p:cNvPr id="10" name="object 10"/>
            <p:cNvPicPr/>
            <p:nvPr/>
          </p:nvPicPr>
          <p:blipFill>
            <a:blip r:embed="rId3" cstate="print"/>
            <a:stretch>
              <a:fillRect/>
            </a:stretch>
          </p:blipFill>
          <p:spPr>
            <a:xfrm>
              <a:off x="6311900" y="765238"/>
              <a:ext cx="5270500" cy="5151374"/>
            </a:xfrm>
            <a:prstGeom prst="rect">
              <a:avLst/>
            </a:prstGeom>
          </p:spPr>
        </p:pic>
        <p:sp>
          <p:nvSpPr>
            <p:cNvPr id="11" name="object 11" descr=""/>
            <p:cNvSpPr/>
            <p:nvPr/>
          </p:nvSpPr>
          <p:spPr>
            <a:xfrm>
              <a:off x="6600825" y="1700276"/>
              <a:ext cx="1081405" cy="360680"/>
            </a:xfrm>
            <a:custGeom>
              <a:avLst/>
              <a:gdLst/>
              <a:ahLst/>
              <a:cxnLst/>
              <a:rect l="l" t="t" r="r" b="b"/>
              <a:pathLst>
                <a:path w="1081404" h="360680">
                  <a:moveTo>
                    <a:pt x="900938" y="0"/>
                  </a:moveTo>
                  <a:lnTo>
                    <a:pt x="900938" y="90043"/>
                  </a:lnTo>
                  <a:lnTo>
                    <a:pt x="0" y="90043"/>
                  </a:lnTo>
                  <a:lnTo>
                    <a:pt x="0" y="270256"/>
                  </a:lnTo>
                  <a:lnTo>
                    <a:pt x="900938" y="270256"/>
                  </a:lnTo>
                  <a:lnTo>
                    <a:pt x="900938" y="360299"/>
                  </a:lnTo>
                  <a:lnTo>
                    <a:pt x="1081151" y="180086"/>
                  </a:lnTo>
                  <a:lnTo>
                    <a:pt x="900938" y="0"/>
                  </a:lnTo>
                  <a:close/>
                </a:path>
              </a:pathLst>
            </a:custGeom>
            <a:solidFill>
              <a:srgbClr val="EBD782"/>
            </a:solidFill>
          </p:spPr>
          <p:txBody>
            <a:bodyPr wrap="square" lIns="0" tIns="0" rIns="0" bIns="0" rtlCol="0"/>
            <a:lstStyle/>
            <a:p/>
          </p:txBody>
        </p:sp>
        <p:sp>
          <p:nvSpPr>
            <p:cNvPr id="12" name="object 12" descr=""/>
            <p:cNvSpPr/>
            <p:nvPr/>
          </p:nvSpPr>
          <p:spPr>
            <a:xfrm>
              <a:off x="6600825" y="1700276"/>
              <a:ext cx="1081405" cy="360680"/>
            </a:xfrm>
            <a:custGeom>
              <a:avLst/>
              <a:gdLst/>
              <a:ahLst/>
              <a:cxnLst/>
              <a:rect l="l" t="t" r="r" b="b"/>
              <a:pathLst>
                <a:path w="1081404" h="360680">
                  <a:moveTo>
                    <a:pt x="0" y="90043"/>
                  </a:moveTo>
                  <a:lnTo>
                    <a:pt x="900938" y="90043"/>
                  </a:lnTo>
                  <a:lnTo>
                    <a:pt x="900938" y="0"/>
                  </a:lnTo>
                  <a:lnTo>
                    <a:pt x="1081151" y="180086"/>
                  </a:lnTo>
                  <a:lnTo>
                    <a:pt x="900938" y="360299"/>
                  </a:lnTo>
                  <a:lnTo>
                    <a:pt x="900938" y="270256"/>
                  </a:lnTo>
                  <a:lnTo>
                    <a:pt x="0" y="270256"/>
                  </a:lnTo>
                  <a:lnTo>
                    <a:pt x="0" y="90043"/>
                  </a:lnTo>
                  <a:close/>
                </a:path>
              </a:pathLst>
            </a:custGeom>
            <a:ln w="9525">
              <a:solidFill>
                <a:srgbClr val="40458B"/>
              </a:solidFill>
            </a:ln>
          </p:spPr>
          <p:txBody>
            <a:bodyPr wrap="square" lIns="0" tIns="0" rIns="0" bIns="0" rtlCol="0"/>
            <a:lstStyle/>
            <a:p/>
          </p:txBody>
        </p:sp>
        <p:sp>
          <p:nvSpPr>
            <p:cNvPr id="13" name="object 13" descr=""/>
            <p:cNvSpPr/>
            <p:nvPr/>
          </p:nvSpPr>
          <p:spPr>
            <a:xfrm>
              <a:off x="10293858" y="5105527"/>
              <a:ext cx="648970" cy="168275"/>
            </a:xfrm>
            <a:custGeom>
              <a:avLst/>
              <a:gdLst/>
              <a:ahLst/>
              <a:cxnLst/>
              <a:rect l="l" t="t" r="r" b="b"/>
              <a:pathLst>
                <a:path w="648970" h="168275">
                  <a:moveTo>
                    <a:pt x="573337" y="135698"/>
                  </a:moveTo>
                  <a:lnTo>
                    <a:pt x="566166" y="168275"/>
                  </a:lnTo>
                  <a:lnTo>
                    <a:pt x="648716" y="147447"/>
                  </a:lnTo>
                  <a:lnTo>
                    <a:pt x="637583" y="138430"/>
                  </a:lnTo>
                  <a:lnTo>
                    <a:pt x="585724" y="138430"/>
                  </a:lnTo>
                  <a:lnTo>
                    <a:pt x="573337" y="135698"/>
                  </a:lnTo>
                  <a:close/>
                </a:path>
                <a:path w="648970" h="168275">
                  <a:moveTo>
                    <a:pt x="575377" y="126428"/>
                  </a:moveTo>
                  <a:lnTo>
                    <a:pt x="573337" y="135698"/>
                  </a:lnTo>
                  <a:lnTo>
                    <a:pt x="585724" y="138430"/>
                  </a:lnTo>
                  <a:lnTo>
                    <a:pt x="587756" y="129159"/>
                  </a:lnTo>
                  <a:lnTo>
                    <a:pt x="575377" y="126428"/>
                  </a:lnTo>
                  <a:close/>
                </a:path>
                <a:path w="648970" h="168275">
                  <a:moveTo>
                    <a:pt x="582549" y="93853"/>
                  </a:moveTo>
                  <a:lnTo>
                    <a:pt x="575377" y="126428"/>
                  </a:lnTo>
                  <a:lnTo>
                    <a:pt x="587756" y="129159"/>
                  </a:lnTo>
                  <a:lnTo>
                    <a:pt x="585724" y="138430"/>
                  </a:lnTo>
                  <a:lnTo>
                    <a:pt x="637583" y="138430"/>
                  </a:lnTo>
                  <a:lnTo>
                    <a:pt x="582549" y="93853"/>
                  </a:lnTo>
                  <a:close/>
                </a:path>
                <a:path w="648970" h="168275">
                  <a:moveTo>
                    <a:pt x="2159" y="0"/>
                  </a:moveTo>
                  <a:lnTo>
                    <a:pt x="0" y="9271"/>
                  </a:lnTo>
                  <a:lnTo>
                    <a:pt x="573337" y="135698"/>
                  </a:lnTo>
                  <a:lnTo>
                    <a:pt x="575377" y="126428"/>
                  </a:lnTo>
                  <a:lnTo>
                    <a:pt x="2159" y="0"/>
                  </a:lnTo>
                  <a:close/>
                </a:path>
              </a:pathLst>
            </a:custGeom>
            <a:solidFill>
              <a:srgbClr val="40458B"/>
            </a:solidFill>
          </p:spPr>
          <p:txBody>
            <a:bodyPr wrap="square" lIns="0" tIns="0" rIns="0" bIns="0" rtlCol="0"/>
            <a:lstStyle/>
            <a:p/>
          </p:txBody>
        </p:sp>
      </p:grpSp>
      <p:sp>
        <p:nvSpPr>
          <p:cNvPr id="14" name="object 14"/>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5" name="object 15" descr=""/>
          <p:cNvSpPr txBox="1"/>
          <p:nvPr/>
        </p:nvSpPr>
        <p:spPr>
          <a:xfrm>
            <a:off x="5954648" y="5997041"/>
            <a:ext cx="5212715"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000"/>
                </a:solidFill>
                <a:latin typeface="黑体"/>
                <a:cs typeface="黑体"/>
              </a:rPr>
              <a:t>一次读取一行，同时判断标识是否相等</a:t>
            </a:r>
            <a:endParaRPr sz="2400">
              <a:latin typeface="黑体"/>
              <a:cs typeface="黑体"/>
            </a:endParaRPr>
          </a:p>
        </p:txBody>
      </p:sp>
      <p:sp>
        <p:nvSpPr>
          <p:cNvPr id="16" name="object 16" descr=""/>
          <p:cNvSpPr txBox="1"/>
          <p:nvPr/>
        </p:nvSpPr>
        <p:spPr>
          <a:xfrm>
            <a:off x="918768" y="5614517"/>
            <a:ext cx="3074670" cy="756920"/>
          </a:xfrm>
          <a:prstGeom prst="rect">
            <a:avLst/>
          </a:prstGeom>
        </p:spPr>
        <p:txBody>
          <a:bodyPr wrap="square" lIns="0" tIns="12700" rIns="0" bIns="0" rtlCol="0" vert="horz">
            <a:spAutoFit/>
          </a:bodyPr>
          <a:lstStyle/>
          <a:p>
            <a:pPr marL="12700" marR="5080">
              <a:lnSpc>
                <a:spcPct val="100000"/>
              </a:lnSpc>
              <a:spcBef>
                <a:spcPts val="100"/>
              </a:spcBef>
            </a:pPr>
            <a:r>
              <a:rPr dirty="0" u="sng" sz="2400" spc="-5">
                <a:solidFill>
                  <a:srgbClr val="FF0000"/>
                </a:solidFill>
                <a:uFill>
                  <a:solidFill>
                    <a:srgbClr val="FF0000"/>
                  </a:solidFill>
                </a:uFill>
                <a:latin typeface="黑体"/>
                <a:cs typeface="黑体"/>
              </a:rPr>
              <a:t>单体多字存储器</a:t>
            </a:r>
            <a:r>
              <a:rPr dirty="0" u="none" sz="2400" spc="-20">
                <a:solidFill>
                  <a:srgbClr val="FF0000"/>
                </a:solidFill>
                <a:latin typeface="黑体"/>
                <a:cs typeface="黑体"/>
              </a:rPr>
              <a:t>来实现</a:t>
            </a:r>
            <a:r>
              <a:rPr dirty="0" u="none" sz="2400" spc="-10">
                <a:solidFill>
                  <a:srgbClr val="FF0000"/>
                </a:solidFill>
                <a:latin typeface="黑体"/>
                <a:cs typeface="黑体"/>
              </a:rPr>
              <a:t>一次多读取多个字</a:t>
            </a:r>
            <a:endParaRPr sz="2400">
              <a:latin typeface="黑体"/>
              <a:cs typeface="黑体"/>
            </a:endParaRPr>
          </a:p>
        </p:txBody>
      </p:sp>
      <p:sp>
        <p:nvSpPr>
          <p:cNvPr id="17" name="object 17" descr=""/>
          <p:cNvSpPr txBox="1"/>
          <p:nvPr/>
        </p:nvSpPr>
        <p:spPr>
          <a:xfrm>
            <a:off x="10452607" y="5192014"/>
            <a:ext cx="789940" cy="330835"/>
          </a:xfrm>
          <a:prstGeom prst="rect">
            <a:avLst/>
          </a:prstGeom>
        </p:spPr>
        <p:txBody>
          <a:bodyPr wrap="square" lIns="0" tIns="12700" rIns="0" bIns="0" rtlCol="0" vert="horz">
            <a:spAutoFit/>
          </a:bodyPr>
          <a:lstStyle/>
          <a:p>
            <a:pPr marL="12700">
              <a:lnSpc>
                <a:spcPct val="100000"/>
              </a:lnSpc>
              <a:spcBef>
                <a:spcPts val="100"/>
              </a:spcBef>
            </a:pPr>
            <a:r>
              <a:rPr dirty="0" sz="2000" spc="-20">
                <a:solidFill>
                  <a:srgbClr val="FF0000"/>
                </a:solidFill>
                <a:latin typeface="黑体"/>
                <a:cs typeface="黑体"/>
              </a:rPr>
              <a:t>比较器</a:t>
            </a:r>
            <a:endParaRPr sz="2000">
              <a:latin typeface="黑体"/>
              <a:cs typeface="黑体"/>
            </a:endParaRPr>
          </a:p>
        </p:txBody>
      </p:sp>
      <p:sp>
        <p:nvSpPr>
          <p:cNvPr id="18" name="object 18" descr=""/>
          <p:cNvSpPr txBox="1"/>
          <p:nvPr/>
        </p:nvSpPr>
        <p:spPr>
          <a:xfrm>
            <a:off x="58737" y="981075"/>
            <a:ext cx="6108700" cy="3894454"/>
          </a:xfrm>
          <a:prstGeom prst="rect">
            <a:avLst/>
          </a:prstGeom>
          <a:ln w="9525">
            <a:solidFill>
              <a:srgbClr val="33CCCC"/>
            </a:solidFill>
          </a:ln>
        </p:spPr>
        <p:txBody>
          <a:bodyPr wrap="square" lIns="0" tIns="27939" rIns="0" bIns="0" rtlCol="0" vert="horz">
            <a:spAutoFit/>
          </a:bodyPr>
          <a:lstStyle/>
          <a:p>
            <a:pPr marL="91440">
              <a:lnSpc>
                <a:spcPct val="100000"/>
              </a:lnSpc>
              <a:spcBef>
                <a:spcPts val="219"/>
              </a:spcBef>
            </a:pPr>
            <a:r>
              <a:rPr dirty="0" sz="2400" spc="-30" b="1">
                <a:solidFill>
                  <a:srgbClr val="FF09FF"/>
                </a:solidFill>
                <a:latin typeface="黑体"/>
                <a:cs typeface="黑体"/>
              </a:rPr>
              <a:t>查找过程：</a:t>
            </a:r>
            <a:endParaRPr sz="2400">
              <a:latin typeface="黑体"/>
              <a:cs typeface="黑体"/>
            </a:endParaRPr>
          </a:p>
          <a:p>
            <a:pPr marL="434340" marR="122555" indent="-342900">
              <a:lnSpc>
                <a:spcPts val="3000"/>
              </a:lnSpc>
              <a:spcBef>
                <a:spcPts val="120"/>
              </a:spcBef>
              <a:buClr>
                <a:srgbClr val="647AD3"/>
              </a:buClr>
              <a:buFont typeface="Wingdings"/>
              <a:buChar char=""/>
              <a:tabLst>
                <a:tab pos="434340" algn="l"/>
              </a:tabLst>
            </a:pPr>
            <a:r>
              <a:rPr dirty="0" sz="2000">
                <a:solidFill>
                  <a:srgbClr val="40458B"/>
                </a:solidFill>
                <a:latin typeface="Tahoma"/>
                <a:cs typeface="Tahoma"/>
              </a:rPr>
              <a:t>CPU</a:t>
            </a:r>
            <a:r>
              <a:rPr dirty="0" sz="2000" spc="-20">
                <a:solidFill>
                  <a:srgbClr val="40458B"/>
                </a:solidFill>
                <a:latin typeface="黑体"/>
                <a:cs typeface="黑体"/>
              </a:rPr>
              <a:t>访存时，用本次访存地址中的索引作为地址从</a:t>
            </a:r>
            <a:r>
              <a:rPr dirty="0" sz="2000" spc="-10">
                <a:solidFill>
                  <a:srgbClr val="40458B"/>
                </a:solidFill>
                <a:latin typeface="黑体"/>
                <a:cs typeface="黑体"/>
              </a:rPr>
              <a:t>标识存储器中选取一行</a:t>
            </a:r>
            <a:r>
              <a:rPr dirty="0" sz="2000" spc="-15">
                <a:solidFill>
                  <a:srgbClr val="40458B"/>
                </a:solidFill>
                <a:latin typeface="Tahoma"/>
                <a:cs typeface="Tahoma"/>
              </a:rPr>
              <a:t>(</a:t>
            </a:r>
            <a:r>
              <a:rPr dirty="0" sz="2000" spc="-10">
                <a:solidFill>
                  <a:srgbClr val="40458B"/>
                </a:solidFill>
                <a:latin typeface="黑体"/>
                <a:cs typeface="黑体"/>
              </a:rPr>
              <a:t>对应于一组</a:t>
            </a:r>
            <a:r>
              <a:rPr dirty="0" sz="2000" spc="-20">
                <a:solidFill>
                  <a:srgbClr val="40458B"/>
                </a:solidFill>
                <a:latin typeface="Tahoma"/>
                <a:cs typeface="Tahoma"/>
              </a:rPr>
              <a:t>),</a:t>
            </a:r>
            <a:r>
              <a:rPr dirty="0" sz="2000" spc="-20">
                <a:solidFill>
                  <a:srgbClr val="40458B"/>
                </a:solidFill>
                <a:latin typeface="黑体"/>
                <a:cs typeface="黑体"/>
              </a:rPr>
              <a:t>并从该行并</a:t>
            </a:r>
            <a:r>
              <a:rPr dirty="0" sz="2000">
                <a:solidFill>
                  <a:srgbClr val="40458B"/>
                </a:solidFill>
                <a:latin typeface="黑体"/>
                <a:cs typeface="黑体"/>
              </a:rPr>
              <a:t>行读出</a:t>
            </a:r>
            <a:r>
              <a:rPr dirty="0" sz="2000">
                <a:solidFill>
                  <a:srgbClr val="40458B"/>
                </a:solidFill>
                <a:latin typeface="Tahoma"/>
                <a:cs typeface="Tahoma"/>
              </a:rPr>
              <a:t>4 </a:t>
            </a:r>
            <a:r>
              <a:rPr dirty="0" sz="2000">
                <a:solidFill>
                  <a:srgbClr val="40458B"/>
                </a:solidFill>
                <a:latin typeface="黑体"/>
                <a:cs typeface="黑体"/>
              </a:rPr>
              <a:t>个标识</a:t>
            </a:r>
            <a:r>
              <a:rPr dirty="0" sz="2000" spc="-15">
                <a:solidFill>
                  <a:srgbClr val="40458B"/>
                </a:solidFill>
                <a:latin typeface="Tahoma"/>
                <a:cs typeface="Tahoma"/>
              </a:rPr>
              <a:t>(</a:t>
            </a:r>
            <a:r>
              <a:rPr dirty="0" sz="2000" spc="-5">
                <a:solidFill>
                  <a:srgbClr val="40458B"/>
                </a:solidFill>
                <a:latin typeface="黑体"/>
                <a:cs typeface="黑体"/>
              </a:rPr>
              <a:t>分别对应于</a:t>
            </a:r>
            <a:r>
              <a:rPr dirty="0" sz="2000" spc="-15">
                <a:solidFill>
                  <a:srgbClr val="40458B"/>
                </a:solidFill>
                <a:latin typeface="Tahoma"/>
                <a:cs typeface="Tahoma"/>
              </a:rPr>
              <a:t>4</a:t>
            </a:r>
            <a:r>
              <a:rPr dirty="0" sz="2000">
                <a:solidFill>
                  <a:srgbClr val="40458B"/>
                </a:solidFill>
                <a:latin typeface="黑体"/>
                <a:cs typeface="黑体"/>
              </a:rPr>
              <a:t>路</a:t>
            </a:r>
            <a:r>
              <a:rPr dirty="0" sz="2000" spc="-15">
                <a:solidFill>
                  <a:srgbClr val="40458B"/>
                </a:solidFill>
                <a:latin typeface="Tahoma"/>
                <a:cs typeface="Tahoma"/>
              </a:rPr>
              <a:t>)</a:t>
            </a:r>
            <a:r>
              <a:rPr dirty="0" sz="2000" spc="-50">
                <a:solidFill>
                  <a:srgbClr val="40458B"/>
                </a:solidFill>
                <a:latin typeface="黑体"/>
                <a:cs typeface="黑体"/>
              </a:rPr>
              <a:t>。</a:t>
            </a:r>
            <a:endParaRPr sz="2000">
              <a:latin typeface="黑体"/>
              <a:cs typeface="黑体"/>
            </a:endParaRPr>
          </a:p>
          <a:p>
            <a:pPr marL="434340" marR="188595" indent="-342900">
              <a:lnSpc>
                <a:spcPts val="3000"/>
              </a:lnSpc>
              <a:buClr>
                <a:srgbClr val="647AD3"/>
              </a:buClr>
              <a:buFont typeface="Wingdings"/>
              <a:buChar char=""/>
              <a:tabLst>
                <a:tab pos="434340" algn="l"/>
              </a:tabLst>
            </a:pPr>
            <a:r>
              <a:rPr dirty="0" sz="2000" spc="-5">
                <a:solidFill>
                  <a:srgbClr val="40458B"/>
                </a:solidFill>
                <a:latin typeface="黑体"/>
                <a:cs typeface="黑体"/>
              </a:rPr>
              <a:t>与此同时，也从</a:t>
            </a:r>
            <a:r>
              <a:rPr dirty="0" sz="2000" spc="-10">
                <a:solidFill>
                  <a:srgbClr val="40458B"/>
                </a:solidFill>
                <a:latin typeface="Tahoma"/>
                <a:cs typeface="Tahoma"/>
              </a:rPr>
              <a:t>Cache</a:t>
            </a:r>
            <a:r>
              <a:rPr dirty="0" sz="2000" spc="-10">
                <a:solidFill>
                  <a:srgbClr val="40458B"/>
                </a:solidFill>
                <a:latin typeface="黑体"/>
                <a:cs typeface="黑体"/>
              </a:rPr>
              <a:t>存储体中并行读出</a:t>
            </a:r>
            <a:r>
              <a:rPr dirty="0" sz="2000" spc="-15">
                <a:solidFill>
                  <a:srgbClr val="40458B"/>
                </a:solidFill>
                <a:latin typeface="Tahoma"/>
                <a:cs typeface="Tahoma"/>
              </a:rPr>
              <a:t>4</a:t>
            </a:r>
            <a:r>
              <a:rPr dirty="0" sz="2000" spc="-20">
                <a:solidFill>
                  <a:srgbClr val="40458B"/>
                </a:solidFill>
                <a:latin typeface="黑体"/>
                <a:cs typeface="黑体"/>
              </a:rPr>
              <a:t>个信息</a:t>
            </a:r>
            <a:r>
              <a:rPr dirty="0" sz="2000" spc="-10">
                <a:solidFill>
                  <a:srgbClr val="40458B"/>
                </a:solidFill>
                <a:latin typeface="黑体"/>
                <a:cs typeface="黑体"/>
              </a:rPr>
              <a:t>字。然后将所读出的</a:t>
            </a:r>
            <a:r>
              <a:rPr dirty="0" sz="2000" spc="-15">
                <a:solidFill>
                  <a:srgbClr val="40458B"/>
                </a:solidFill>
                <a:latin typeface="Tahoma"/>
                <a:cs typeface="Tahoma"/>
              </a:rPr>
              <a:t>4</a:t>
            </a:r>
            <a:r>
              <a:rPr dirty="0" sz="2000" spc="-20">
                <a:solidFill>
                  <a:srgbClr val="40458B"/>
                </a:solidFill>
                <a:latin typeface="黑体"/>
                <a:cs typeface="黑体"/>
              </a:rPr>
              <a:t>个标识与本次访存地址中的</a:t>
            </a:r>
            <a:r>
              <a:rPr dirty="0" sz="2000" spc="-25">
                <a:solidFill>
                  <a:srgbClr val="40458B"/>
                </a:solidFill>
                <a:latin typeface="黑体"/>
                <a:cs typeface="黑体"/>
              </a:rPr>
              <a:t>标识进行并行比较，以确定是否命中以及该组中</a:t>
            </a:r>
            <a:endParaRPr sz="2000">
              <a:latin typeface="黑体"/>
              <a:cs typeface="黑体"/>
            </a:endParaRPr>
          </a:p>
          <a:p>
            <a:pPr marL="434340">
              <a:lnSpc>
                <a:spcPct val="100000"/>
              </a:lnSpc>
              <a:spcBef>
                <a:spcPts val="405"/>
              </a:spcBef>
            </a:pPr>
            <a:r>
              <a:rPr dirty="0" sz="2000" spc="-10">
                <a:solidFill>
                  <a:srgbClr val="40458B"/>
                </a:solidFill>
                <a:latin typeface="黑体"/>
                <a:cs typeface="黑体"/>
              </a:rPr>
              <a:t>哪一个块是要访问的块</a:t>
            </a:r>
            <a:r>
              <a:rPr dirty="0" sz="2000" spc="-15">
                <a:solidFill>
                  <a:srgbClr val="40458B"/>
                </a:solidFill>
                <a:latin typeface="Tahoma"/>
                <a:cs typeface="Tahoma"/>
              </a:rPr>
              <a:t>(</a:t>
            </a:r>
            <a:r>
              <a:rPr dirty="0" sz="2000" spc="-5">
                <a:solidFill>
                  <a:srgbClr val="40458B"/>
                </a:solidFill>
                <a:latin typeface="黑体"/>
                <a:cs typeface="黑体"/>
              </a:rPr>
              <a:t>若命中</a:t>
            </a:r>
            <a:r>
              <a:rPr dirty="0" sz="2000" spc="-15">
                <a:solidFill>
                  <a:srgbClr val="40458B"/>
                </a:solidFill>
                <a:latin typeface="Tahoma"/>
                <a:cs typeface="Tahoma"/>
              </a:rPr>
              <a:t>)</a:t>
            </a:r>
            <a:r>
              <a:rPr dirty="0" sz="2000" spc="-50">
                <a:solidFill>
                  <a:srgbClr val="40458B"/>
                </a:solidFill>
                <a:latin typeface="黑体"/>
                <a:cs typeface="黑体"/>
              </a:rPr>
              <a:t>。</a:t>
            </a:r>
            <a:endParaRPr sz="2000">
              <a:latin typeface="黑体"/>
              <a:cs typeface="黑体"/>
            </a:endParaRPr>
          </a:p>
          <a:p>
            <a:pPr marL="434340" marR="188595" indent="-342900">
              <a:lnSpc>
                <a:spcPct val="125000"/>
              </a:lnSpc>
              <a:buClr>
                <a:srgbClr val="647AD3"/>
              </a:buClr>
              <a:buFont typeface="Wingdings"/>
              <a:buChar char=""/>
              <a:tabLst>
                <a:tab pos="434340" algn="l"/>
              </a:tabLst>
            </a:pPr>
            <a:r>
              <a:rPr dirty="0" sz="2000" spc="-15">
                <a:solidFill>
                  <a:srgbClr val="40458B"/>
                </a:solidFill>
                <a:latin typeface="黑体"/>
                <a:cs typeface="黑体"/>
              </a:rPr>
              <a:t>根据这些信息，就可以从已经读出的</a:t>
            </a:r>
            <a:r>
              <a:rPr dirty="0" sz="2000" spc="-15">
                <a:solidFill>
                  <a:srgbClr val="40458B"/>
                </a:solidFill>
                <a:latin typeface="Tahoma"/>
                <a:cs typeface="Tahoma"/>
              </a:rPr>
              <a:t>4</a:t>
            </a:r>
            <a:r>
              <a:rPr dirty="0" sz="2000" spc="-15">
                <a:solidFill>
                  <a:srgbClr val="40458B"/>
                </a:solidFill>
                <a:latin typeface="黑体"/>
                <a:cs typeface="黑体"/>
              </a:rPr>
              <a:t>个信息字中</a:t>
            </a:r>
            <a:r>
              <a:rPr dirty="0" sz="2000" spc="-5">
                <a:solidFill>
                  <a:srgbClr val="40458B"/>
                </a:solidFill>
                <a:latin typeface="黑体"/>
                <a:cs typeface="黑体"/>
              </a:rPr>
              <a:t>选择一个，送给</a:t>
            </a:r>
            <a:r>
              <a:rPr dirty="0" sz="2000" spc="-20">
                <a:solidFill>
                  <a:srgbClr val="40458B"/>
                </a:solidFill>
                <a:latin typeface="Tahoma"/>
                <a:cs typeface="Tahoma"/>
              </a:rPr>
              <a:t>CPU</a:t>
            </a:r>
            <a:r>
              <a:rPr dirty="0" sz="2000" spc="-50">
                <a:solidFill>
                  <a:srgbClr val="40458B"/>
                </a:solidFill>
                <a:latin typeface="黑体"/>
                <a:cs typeface="黑体"/>
              </a:rPr>
              <a:t>。</a:t>
            </a:r>
            <a:endParaRPr sz="2000">
              <a:latin typeface="黑体"/>
              <a:cs typeface="黑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p:cNvPicPr/>
          <p:nvPr/>
        </p:nvPicPr>
        <p:blipFill>
          <a:blip r:embed="rId3" cstate="print"/>
          <a:stretch>
            <a:fillRect/>
          </a:stretch>
        </p:blipFill>
        <p:spPr>
          <a:xfrm>
            <a:off x="6075426" y="838200"/>
            <a:ext cx="6026150" cy="4822825"/>
          </a:xfrm>
          <a:prstGeom prst="rect">
            <a:avLst/>
          </a:prstGeom>
        </p:spPr>
      </p:pic>
      <p:sp>
        <p:nvSpPr>
          <p:cNvPr id="10" name="object 10" descr=""/>
          <p:cNvSpPr txBox="1"/>
          <p:nvPr/>
        </p:nvSpPr>
        <p:spPr>
          <a:xfrm>
            <a:off x="8263255" y="2654249"/>
            <a:ext cx="19240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1</a:t>
            </a:r>
            <a:endParaRPr sz="2400">
              <a:latin typeface="Tahoma"/>
              <a:cs typeface="Tahoma"/>
            </a:endParaRPr>
          </a:p>
        </p:txBody>
      </p:sp>
      <p:sp>
        <p:nvSpPr>
          <p:cNvPr id="11" name="object 11" descr=""/>
          <p:cNvSpPr txBox="1"/>
          <p:nvPr/>
        </p:nvSpPr>
        <p:spPr>
          <a:xfrm>
            <a:off x="6967855" y="2236673"/>
            <a:ext cx="192405" cy="391795"/>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2</a:t>
            </a:r>
            <a:endParaRPr sz="2400">
              <a:latin typeface="Tahoma"/>
              <a:cs typeface="Tahoma"/>
            </a:endParaRPr>
          </a:p>
        </p:txBody>
      </p:sp>
      <p:sp>
        <p:nvSpPr>
          <p:cNvPr id="12" name="object 12" descr=""/>
          <p:cNvSpPr txBox="1"/>
          <p:nvPr/>
        </p:nvSpPr>
        <p:spPr>
          <a:xfrm>
            <a:off x="194563" y="913383"/>
            <a:ext cx="4763770" cy="1102360"/>
          </a:xfrm>
          <a:prstGeom prst="rect">
            <a:avLst/>
          </a:prstGeom>
        </p:spPr>
        <p:txBody>
          <a:bodyPr wrap="square" lIns="0" tIns="184785" rIns="0" bIns="0" rtlCol="0" vert="horz">
            <a:spAutoFit/>
          </a:bodyPr>
          <a:lstStyle/>
          <a:p>
            <a:pPr marL="12700">
              <a:lnSpc>
                <a:spcPct val="100000"/>
              </a:lnSpc>
              <a:spcBef>
                <a:spcPts val="1455"/>
              </a:spcBef>
            </a:pPr>
            <a:r>
              <a:rPr dirty="0" sz="2400" spc="-25">
                <a:solidFill>
                  <a:srgbClr val="FF0000"/>
                </a:solidFill>
                <a:latin typeface="Tahoma"/>
                <a:cs typeface="Tahoma"/>
              </a:rPr>
              <a:t>1</a:t>
            </a:r>
            <a:r>
              <a:rPr dirty="0" sz="2400" spc="-5">
                <a:solidFill>
                  <a:srgbClr val="FF0000"/>
                </a:solidFill>
                <a:latin typeface="黑体"/>
                <a:cs typeface="黑体"/>
              </a:rPr>
              <a:t>、索引同时</a:t>
            </a:r>
            <a:r>
              <a:rPr dirty="0" sz="2400" spc="-5">
                <a:solidFill>
                  <a:srgbClr val="006FC0"/>
                </a:solidFill>
                <a:latin typeface="黑体"/>
                <a:cs typeface="黑体"/>
              </a:rPr>
              <a:t>查找标识和数据存储体</a:t>
            </a:r>
            <a:endParaRPr sz="2400">
              <a:latin typeface="黑体"/>
              <a:cs typeface="黑体"/>
            </a:endParaRPr>
          </a:p>
          <a:p>
            <a:pPr marL="22225">
              <a:lnSpc>
                <a:spcPct val="100000"/>
              </a:lnSpc>
              <a:spcBef>
                <a:spcPts val="1360"/>
              </a:spcBef>
            </a:pPr>
            <a:r>
              <a:rPr dirty="0" sz="2400" spc="-25">
                <a:solidFill>
                  <a:srgbClr val="FF0000"/>
                </a:solidFill>
                <a:latin typeface="Tahoma"/>
                <a:cs typeface="Tahoma"/>
              </a:rPr>
              <a:t>2</a:t>
            </a:r>
            <a:r>
              <a:rPr dirty="0" sz="2400">
                <a:solidFill>
                  <a:srgbClr val="FF0000"/>
                </a:solidFill>
                <a:latin typeface="黑体"/>
                <a:cs typeface="黑体"/>
              </a:rPr>
              <a:t>、利用</a:t>
            </a:r>
            <a:r>
              <a:rPr dirty="0" sz="2400">
                <a:solidFill>
                  <a:srgbClr val="FF0000"/>
                </a:solidFill>
                <a:latin typeface="Tahoma"/>
                <a:cs typeface="Tahoma"/>
              </a:rPr>
              <a:t>tag</a:t>
            </a:r>
            <a:r>
              <a:rPr dirty="0" sz="2400">
                <a:solidFill>
                  <a:srgbClr val="FF0000"/>
                </a:solidFill>
                <a:latin typeface="黑体"/>
                <a:cs typeface="黑体"/>
              </a:rPr>
              <a:t>同时</a:t>
            </a:r>
            <a:r>
              <a:rPr dirty="0" sz="2400" spc="-10">
                <a:solidFill>
                  <a:srgbClr val="006FC0"/>
                </a:solidFill>
                <a:latin typeface="黑体"/>
                <a:cs typeface="黑体"/>
              </a:rPr>
              <a:t>与不同的标识比较</a:t>
            </a:r>
            <a:endParaRPr sz="2400">
              <a:latin typeface="黑体"/>
              <a:cs typeface="黑体"/>
            </a:endParaRPr>
          </a:p>
        </p:txBody>
      </p:sp>
      <p:sp>
        <p:nvSpPr>
          <p:cNvPr id="13" name="object 13"/>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4" name="object 14" descr=""/>
          <p:cNvSpPr txBox="1"/>
          <p:nvPr/>
        </p:nvSpPr>
        <p:spPr>
          <a:xfrm>
            <a:off x="61912" y="2401951"/>
            <a:ext cx="6013450" cy="3894454"/>
          </a:xfrm>
          <a:prstGeom prst="rect">
            <a:avLst/>
          </a:prstGeom>
          <a:ln w="9525">
            <a:solidFill>
              <a:srgbClr val="33CCCC"/>
            </a:solidFill>
          </a:ln>
        </p:spPr>
        <p:txBody>
          <a:bodyPr wrap="square" lIns="0" tIns="27939" rIns="0" bIns="0" rtlCol="0" vert="horz">
            <a:spAutoFit/>
          </a:bodyPr>
          <a:lstStyle/>
          <a:p>
            <a:pPr marL="90805">
              <a:lnSpc>
                <a:spcPct val="100000"/>
              </a:lnSpc>
              <a:spcBef>
                <a:spcPts val="219"/>
              </a:spcBef>
            </a:pPr>
            <a:r>
              <a:rPr dirty="0" sz="2400" spc="-30" b="1">
                <a:solidFill>
                  <a:srgbClr val="FF09FF"/>
                </a:solidFill>
                <a:latin typeface="黑体"/>
                <a:cs typeface="黑体"/>
              </a:rPr>
              <a:t>查找过程：</a:t>
            </a:r>
            <a:endParaRPr sz="2400">
              <a:latin typeface="黑体"/>
              <a:cs typeface="黑体"/>
            </a:endParaRPr>
          </a:p>
          <a:p>
            <a:pPr algn="just" marL="433705" marR="215265" indent="-342900">
              <a:lnSpc>
                <a:spcPts val="3000"/>
              </a:lnSpc>
              <a:spcBef>
                <a:spcPts val="120"/>
              </a:spcBef>
              <a:buClr>
                <a:srgbClr val="647AD3"/>
              </a:buClr>
              <a:buFont typeface="Wingdings"/>
              <a:buChar char=""/>
              <a:tabLst>
                <a:tab pos="433705" algn="l"/>
              </a:tabLst>
            </a:pPr>
            <a:r>
              <a:rPr dirty="0" sz="2000">
                <a:solidFill>
                  <a:srgbClr val="40458B"/>
                </a:solidFill>
                <a:latin typeface="Tahoma"/>
                <a:cs typeface="Tahoma"/>
              </a:rPr>
              <a:t>CPU</a:t>
            </a:r>
            <a:r>
              <a:rPr dirty="0" sz="2000" spc="-20">
                <a:solidFill>
                  <a:srgbClr val="40458B"/>
                </a:solidFill>
                <a:latin typeface="黑体"/>
                <a:cs typeface="黑体"/>
              </a:rPr>
              <a:t>访存时，用本次访存地址中的索引作为地址</a:t>
            </a:r>
            <a:r>
              <a:rPr dirty="0" sz="2000" spc="-10">
                <a:solidFill>
                  <a:srgbClr val="40458B"/>
                </a:solidFill>
                <a:latin typeface="黑体"/>
                <a:cs typeface="黑体"/>
              </a:rPr>
              <a:t>从标识存储器中选取一行</a:t>
            </a:r>
            <a:r>
              <a:rPr dirty="0" sz="2000">
                <a:solidFill>
                  <a:srgbClr val="40458B"/>
                </a:solidFill>
                <a:latin typeface="Tahoma"/>
                <a:cs typeface="Tahoma"/>
              </a:rPr>
              <a:t>(</a:t>
            </a:r>
            <a:r>
              <a:rPr dirty="0" sz="2000" spc="-15">
                <a:solidFill>
                  <a:srgbClr val="40458B"/>
                </a:solidFill>
                <a:latin typeface="黑体"/>
                <a:cs typeface="黑体"/>
              </a:rPr>
              <a:t>对应于一组</a:t>
            </a:r>
            <a:r>
              <a:rPr dirty="0" sz="2000" spc="-10">
                <a:solidFill>
                  <a:srgbClr val="40458B"/>
                </a:solidFill>
                <a:latin typeface="Tahoma"/>
                <a:cs typeface="Tahoma"/>
              </a:rPr>
              <a:t>),</a:t>
            </a:r>
            <a:r>
              <a:rPr dirty="0" sz="2000" spc="-20">
                <a:solidFill>
                  <a:srgbClr val="40458B"/>
                </a:solidFill>
                <a:latin typeface="黑体"/>
                <a:cs typeface="黑体"/>
              </a:rPr>
              <a:t>并从该行</a:t>
            </a:r>
            <a:r>
              <a:rPr dirty="0" sz="2000">
                <a:solidFill>
                  <a:srgbClr val="40458B"/>
                </a:solidFill>
                <a:latin typeface="黑体"/>
                <a:cs typeface="黑体"/>
              </a:rPr>
              <a:t>并行读出</a:t>
            </a:r>
            <a:r>
              <a:rPr dirty="0" sz="2000">
                <a:solidFill>
                  <a:srgbClr val="40458B"/>
                </a:solidFill>
                <a:latin typeface="Tahoma"/>
                <a:cs typeface="Tahoma"/>
              </a:rPr>
              <a:t>4</a:t>
            </a:r>
            <a:r>
              <a:rPr dirty="0" sz="2000" spc="-5">
                <a:solidFill>
                  <a:srgbClr val="40458B"/>
                </a:solidFill>
                <a:latin typeface="Tahoma"/>
                <a:cs typeface="Tahoma"/>
              </a:rPr>
              <a:t> </a:t>
            </a:r>
            <a:r>
              <a:rPr dirty="0" sz="2000">
                <a:solidFill>
                  <a:srgbClr val="40458B"/>
                </a:solidFill>
                <a:latin typeface="黑体"/>
                <a:cs typeface="黑体"/>
              </a:rPr>
              <a:t>个标识</a:t>
            </a:r>
            <a:r>
              <a:rPr dirty="0" sz="2000">
                <a:solidFill>
                  <a:srgbClr val="40458B"/>
                </a:solidFill>
                <a:latin typeface="Tahoma"/>
                <a:cs typeface="Tahoma"/>
              </a:rPr>
              <a:t>(</a:t>
            </a:r>
            <a:r>
              <a:rPr dirty="0" sz="2000" spc="-10">
                <a:solidFill>
                  <a:srgbClr val="40458B"/>
                </a:solidFill>
                <a:latin typeface="黑体"/>
                <a:cs typeface="黑体"/>
              </a:rPr>
              <a:t>分别对应于</a:t>
            </a:r>
            <a:r>
              <a:rPr dirty="0" sz="2000" spc="-10">
                <a:solidFill>
                  <a:srgbClr val="40458B"/>
                </a:solidFill>
                <a:latin typeface="Tahoma"/>
                <a:cs typeface="Tahoma"/>
              </a:rPr>
              <a:t>4</a:t>
            </a:r>
            <a:r>
              <a:rPr dirty="0" sz="2000">
                <a:solidFill>
                  <a:srgbClr val="40458B"/>
                </a:solidFill>
                <a:latin typeface="黑体"/>
                <a:cs typeface="黑体"/>
              </a:rPr>
              <a:t>路</a:t>
            </a:r>
            <a:r>
              <a:rPr dirty="0" sz="2000" spc="-15">
                <a:solidFill>
                  <a:srgbClr val="40458B"/>
                </a:solidFill>
                <a:latin typeface="Tahoma"/>
                <a:cs typeface="Tahoma"/>
              </a:rPr>
              <a:t>)</a:t>
            </a:r>
            <a:r>
              <a:rPr dirty="0" sz="2000" spc="-50">
                <a:solidFill>
                  <a:srgbClr val="40458B"/>
                </a:solidFill>
                <a:latin typeface="黑体"/>
                <a:cs typeface="黑体"/>
              </a:rPr>
              <a:t>。</a:t>
            </a:r>
            <a:endParaRPr sz="2000">
              <a:latin typeface="黑体"/>
              <a:cs typeface="黑体"/>
            </a:endParaRPr>
          </a:p>
          <a:p>
            <a:pPr algn="just" marL="433070" indent="-342265">
              <a:lnSpc>
                <a:spcPct val="100000"/>
              </a:lnSpc>
              <a:spcBef>
                <a:spcPts val="400"/>
              </a:spcBef>
              <a:buClr>
                <a:srgbClr val="647AD3"/>
              </a:buClr>
              <a:buFont typeface="Wingdings"/>
              <a:buChar char=""/>
              <a:tabLst>
                <a:tab pos="433070" algn="l"/>
              </a:tabLst>
            </a:pPr>
            <a:r>
              <a:rPr dirty="0" sz="2000" spc="-5">
                <a:solidFill>
                  <a:srgbClr val="40458B"/>
                </a:solidFill>
                <a:latin typeface="黑体"/>
                <a:cs typeface="黑体"/>
              </a:rPr>
              <a:t>与此同时，也从</a:t>
            </a:r>
            <a:r>
              <a:rPr dirty="0" sz="2000" spc="-10">
                <a:solidFill>
                  <a:srgbClr val="40458B"/>
                </a:solidFill>
                <a:latin typeface="Tahoma"/>
                <a:cs typeface="Tahoma"/>
              </a:rPr>
              <a:t>Cache</a:t>
            </a:r>
            <a:r>
              <a:rPr dirty="0" sz="2000" spc="-15">
                <a:solidFill>
                  <a:srgbClr val="40458B"/>
                </a:solidFill>
                <a:latin typeface="黑体"/>
                <a:cs typeface="黑体"/>
              </a:rPr>
              <a:t>存储体中并行读出</a:t>
            </a:r>
            <a:r>
              <a:rPr dirty="0" sz="2000" spc="-20">
                <a:solidFill>
                  <a:srgbClr val="40458B"/>
                </a:solidFill>
                <a:latin typeface="Tahoma"/>
                <a:cs typeface="Tahoma"/>
              </a:rPr>
              <a:t>4</a:t>
            </a:r>
            <a:r>
              <a:rPr dirty="0" sz="2000" spc="-25">
                <a:solidFill>
                  <a:srgbClr val="40458B"/>
                </a:solidFill>
                <a:latin typeface="黑体"/>
                <a:cs typeface="黑体"/>
              </a:rPr>
              <a:t>个信息</a:t>
            </a:r>
            <a:endParaRPr sz="2000">
              <a:latin typeface="黑体"/>
              <a:cs typeface="黑体"/>
            </a:endParaRPr>
          </a:p>
          <a:p>
            <a:pPr marL="433705" marR="93345">
              <a:lnSpc>
                <a:spcPct val="125000"/>
              </a:lnSpc>
              <a:spcBef>
                <a:spcPts val="5"/>
              </a:spcBef>
            </a:pPr>
            <a:r>
              <a:rPr dirty="0" sz="2000" spc="-10">
                <a:solidFill>
                  <a:srgbClr val="40458B"/>
                </a:solidFill>
                <a:latin typeface="黑体"/>
                <a:cs typeface="黑体"/>
              </a:rPr>
              <a:t>字。然后将所读出的</a:t>
            </a:r>
            <a:r>
              <a:rPr dirty="0" sz="2000" spc="-15">
                <a:solidFill>
                  <a:srgbClr val="40458B"/>
                </a:solidFill>
                <a:latin typeface="Tahoma"/>
                <a:cs typeface="Tahoma"/>
              </a:rPr>
              <a:t>4</a:t>
            </a:r>
            <a:r>
              <a:rPr dirty="0" sz="2000" spc="-20">
                <a:solidFill>
                  <a:srgbClr val="40458B"/>
                </a:solidFill>
                <a:latin typeface="黑体"/>
                <a:cs typeface="黑体"/>
              </a:rPr>
              <a:t>个标识与本次访存地址中的标识进行并行比较，以确定是否命中以及该组中</a:t>
            </a:r>
            <a:r>
              <a:rPr dirty="0" sz="2000" spc="-10">
                <a:solidFill>
                  <a:srgbClr val="40458B"/>
                </a:solidFill>
                <a:latin typeface="黑体"/>
                <a:cs typeface="黑体"/>
              </a:rPr>
              <a:t>哪一个块是要访问的块</a:t>
            </a:r>
            <a:r>
              <a:rPr dirty="0" sz="2000" spc="-15">
                <a:solidFill>
                  <a:srgbClr val="40458B"/>
                </a:solidFill>
                <a:latin typeface="Tahoma"/>
                <a:cs typeface="Tahoma"/>
              </a:rPr>
              <a:t>(</a:t>
            </a:r>
            <a:r>
              <a:rPr dirty="0" sz="2000" spc="-5">
                <a:solidFill>
                  <a:srgbClr val="40458B"/>
                </a:solidFill>
                <a:latin typeface="黑体"/>
                <a:cs typeface="黑体"/>
              </a:rPr>
              <a:t>若命中</a:t>
            </a:r>
            <a:r>
              <a:rPr dirty="0" sz="2000" spc="-15">
                <a:solidFill>
                  <a:srgbClr val="40458B"/>
                </a:solidFill>
                <a:latin typeface="Tahoma"/>
                <a:cs typeface="Tahoma"/>
              </a:rPr>
              <a:t>)</a:t>
            </a:r>
            <a:r>
              <a:rPr dirty="0" sz="2000" spc="-50">
                <a:solidFill>
                  <a:srgbClr val="40458B"/>
                </a:solidFill>
                <a:latin typeface="黑体"/>
                <a:cs typeface="黑体"/>
              </a:rPr>
              <a:t>。</a:t>
            </a:r>
            <a:endParaRPr sz="2000">
              <a:latin typeface="黑体"/>
              <a:cs typeface="黑体"/>
            </a:endParaRPr>
          </a:p>
          <a:p>
            <a:pPr marL="433705" marR="93345" indent="-342900">
              <a:lnSpc>
                <a:spcPct val="125000"/>
              </a:lnSpc>
              <a:buClr>
                <a:srgbClr val="647AD3"/>
              </a:buClr>
              <a:buFont typeface="Wingdings"/>
              <a:buChar char=""/>
              <a:tabLst>
                <a:tab pos="433705" algn="l"/>
              </a:tabLst>
            </a:pPr>
            <a:r>
              <a:rPr dirty="0" sz="2000" spc="-15">
                <a:solidFill>
                  <a:srgbClr val="40458B"/>
                </a:solidFill>
                <a:latin typeface="黑体"/>
                <a:cs typeface="黑体"/>
              </a:rPr>
              <a:t>根据这些信息，就可以从已经读出的</a:t>
            </a:r>
            <a:r>
              <a:rPr dirty="0" sz="2000" spc="-15">
                <a:solidFill>
                  <a:srgbClr val="40458B"/>
                </a:solidFill>
                <a:latin typeface="Tahoma"/>
                <a:cs typeface="Tahoma"/>
              </a:rPr>
              <a:t>4</a:t>
            </a:r>
            <a:r>
              <a:rPr dirty="0" sz="2000" spc="-15">
                <a:solidFill>
                  <a:srgbClr val="40458B"/>
                </a:solidFill>
                <a:latin typeface="黑体"/>
                <a:cs typeface="黑体"/>
              </a:rPr>
              <a:t>个信息字中</a:t>
            </a:r>
            <a:r>
              <a:rPr dirty="0" sz="2000" spc="-5">
                <a:solidFill>
                  <a:srgbClr val="40458B"/>
                </a:solidFill>
                <a:latin typeface="黑体"/>
                <a:cs typeface="黑体"/>
              </a:rPr>
              <a:t>选择一个，送给</a:t>
            </a:r>
            <a:r>
              <a:rPr dirty="0" sz="2000" spc="-20">
                <a:solidFill>
                  <a:srgbClr val="40458B"/>
                </a:solidFill>
                <a:latin typeface="Tahoma"/>
                <a:cs typeface="Tahoma"/>
              </a:rPr>
              <a:t>CPU</a:t>
            </a:r>
            <a:r>
              <a:rPr dirty="0" sz="2000" spc="-50">
                <a:solidFill>
                  <a:srgbClr val="40458B"/>
                </a:solidFill>
                <a:latin typeface="黑体"/>
                <a:cs typeface="黑体"/>
              </a:rPr>
              <a:t>。</a:t>
            </a:r>
            <a:endParaRPr sz="2000">
              <a:latin typeface="黑体"/>
              <a:cs typeface="黑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04647"/>
            <a:ext cx="2339340"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7.2.3</a:t>
            </a:r>
            <a:r>
              <a:rPr dirty="0" u="none" sz="2600" spc="-15">
                <a:solidFill>
                  <a:srgbClr val="0000CC"/>
                </a:solidFill>
              </a:rPr>
              <a:t> 查找算法</a:t>
            </a:r>
            <a:endParaRPr sz="2600"/>
          </a:p>
        </p:txBody>
      </p:sp>
      <p:sp>
        <p:nvSpPr>
          <p:cNvPr id="10" name="object 10" descr=""/>
          <p:cNvSpPr txBox="1"/>
          <p:nvPr/>
        </p:nvSpPr>
        <p:spPr>
          <a:xfrm>
            <a:off x="527202" y="865916"/>
            <a:ext cx="10339705" cy="3685540"/>
          </a:xfrm>
          <a:prstGeom prst="rect">
            <a:avLst/>
          </a:prstGeom>
        </p:spPr>
        <p:txBody>
          <a:bodyPr wrap="square" lIns="0" tIns="129540" rIns="0" bIns="0" rtlCol="0" vert="horz">
            <a:spAutoFit/>
          </a:bodyPr>
          <a:lstStyle/>
          <a:p>
            <a:pPr marL="481965" indent="-456565">
              <a:lnSpc>
                <a:spcPct val="100000"/>
              </a:lnSpc>
              <a:spcBef>
                <a:spcPts val="1020"/>
              </a:spcBef>
              <a:buSzPct val="89583"/>
              <a:buFont typeface="Wingdings"/>
              <a:buChar char=""/>
              <a:tabLst>
                <a:tab pos="481965" algn="l"/>
              </a:tabLst>
            </a:pPr>
            <a:r>
              <a:rPr dirty="0" sz="2400" spc="-5">
                <a:solidFill>
                  <a:srgbClr val="40458B"/>
                </a:solidFill>
                <a:latin typeface="黑体"/>
                <a:cs typeface="黑体"/>
              </a:rPr>
              <a:t>单体多字存储器＋比较器</a:t>
            </a:r>
            <a:endParaRPr sz="2400">
              <a:latin typeface="黑体"/>
              <a:cs typeface="黑体"/>
            </a:endParaRPr>
          </a:p>
          <a:p>
            <a:pPr algn="r" lvl="1" marL="457200" marR="5563235" indent="-457200">
              <a:lnSpc>
                <a:spcPct val="100000"/>
              </a:lnSpc>
              <a:spcBef>
                <a:spcPts val="770"/>
              </a:spcBef>
              <a:buClr>
                <a:srgbClr val="4668F5"/>
              </a:buClr>
              <a:buSzPct val="60000"/>
              <a:buFont typeface="Wingdings"/>
              <a:buChar char=""/>
              <a:tabLst>
                <a:tab pos="457200" algn="l"/>
              </a:tabLst>
            </a:pPr>
            <a:r>
              <a:rPr dirty="0" sz="2000" spc="-60" b="1">
                <a:solidFill>
                  <a:srgbClr val="00AFEF"/>
                </a:solidFill>
                <a:latin typeface="宋体"/>
                <a:cs typeface="宋体"/>
              </a:rPr>
              <a:t>举例： ４路组相联并行标识比较</a:t>
            </a:r>
            <a:endParaRPr sz="2000">
              <a:latin typeface="宋体"/>
              <a:cs typeface="宋体"/>
            </a:endParaRPr>
          </a:p>
          <a:p>
            <a:pPr algn="r" marR="5582920">
              <a:lnSpc>
                <a:spcPct val="100000"/>
              </a:lnSpc>
              <a:spcBef>
                <a:spcPts val="725"/>
              </a:spcBef>
            </a:pPr>
            <a:r>
              <a:rPr dirty="0" sz="2000" spc="-10" b="1">
                <a:solidFill>
                  <a:srgbClr val="00AFEF"/>
                </a:solidFill>
                <a:latin typeface="宋体"/>
                <a:cs typeface="宋体"/>
              </a:rPr>
              <a:t>（比较器的个数及位数</a:t>
            </a:r>
            <a:r>
              <a:rPr dirty="0" sz="2000" spc="-50" b="1">
                <a:solidFill>
                  <a:srgbClr val="00AFEF"/>
                </a:solidFill>
                <a:latin typeface="宋体"/>
                <a:cs typeface="宋体"/>
              </a:rPr>
              <a:t>）</a:t>
            </a:r>
            <a:endParaRPr sz="2000">
              <a:latin typeface="宋体"/>
              <a:cs typeface="宋体"/>
            </a:endParaRPr>
          </a:p>
          <a:p>
            <a:pPr lvl="1" marL="1110615" indent="-457834">
              <a:lnSpc>
                <a:spcPct val="100000"/>
              </a:lnSpc>
              <a:spcBef>
                <a:spcPts val="720"/>
              </a:spcBef>
              <a:buClr>
                <a:srgbClr val="4668F5"/>
              </a:buClr>
              <a:buSzPct val="60000"/>
              <a:buFont typeface="Wingdings"/>
              <a:buChar char=""/>
              <a:tabLst>
                <a:tab pos="1110615" algn="l"/>
              </a:tabLst>
            </a:pPr>
            <a:r>
              <a:rPr dirty="0" sz="2000" spc="-10" b="1">
                <a:solidFill>
                  <a:srgbClr val="00AFEF"/>
                </a:solidFill>
                <a:latin typeface="宋体"/>
                <a:cs typeface="宋体"/>
              </a:rPr>
              <a:t>４路组相联</a:t>
            </a:r>
            <a:r>
              <a:rPr dirty="0" sz="2000" spc="-10" b="1">
                <a:solidFill>
                  <a:srgbClr val="00AFEF"/>
                </a:solidFill>
                <a:latin typeface="Times New Roman"/>
                <a:cs typeface="Times New Roman"/>
              </a:rPr>
              <a:t>Cache</a:t>
            </a:r>
            <a:r>
              <a:rPr dirty="0" sz="2000" spc="-25" b="1">
                <a:solidFill>
                  <a:srgbClr val="00AFEF"/>
                </a:solidFill>
                <a:latin typeface="宋体"/>
                <a:cs typeface="宋体"/>
              </a:rPr>
              <a:t>的查找过程</a:t>
            </a:r>
            <a:endParaRPr sz="2000">
              <a:latin typeface="宋体"/>
              <a:cs typeface="宋体"/>
            </a:endParaRPr>
          </a:p>
          <a:p>
            <a:pPr lvl="1" marL="1110615" indent="-457834">
              <a:lnSpc>
                <a:spcPct val="100000"/>
              </a:lnSpc>
              <a:spcBef>
                <a:spcPts val="720"/>
              </a:spcBef>
              <a:buClr>
                <a:srgbClr val="4668F5"/>
              </a:buClr>
              <a:buSzPct val="60000"/>
              <a:buFont typeface="Wingdings"/>
              <a:buChar char=""/>
              <a:tabLst>
                <a:tab pos="1110615" algn="l"/>
              </a:tabLst>
            </a:pPr>
            <a:r>
              <a:rPr dirty="0" sz="2000" spc="-10" b="1">
                <a:solidFill>
                  <a:srgbClr val="00AFEF"/>
                </a:solidFill>
                <a:latin typeface="宋体"/>
                <a:cs typeface="宋体"/>
              </a:rPr>
              <a:t>直接映象</a:t>
            </a:r>
            <a:r>
              <a:rPr dirty="0" sz="2000" spc="-10" b="1">
                <a:solidFill>
                  <a:srgbClr val="00AFEF"/>
                </a:solidFill>
                <a:latin typeface="Times New Roman"/>
                <a:cs typeface="Times New Roman"/>
              </a:rPr>
              <a:t>Cache</a:t>
            </a:r>
            <a:r>
              <a:rPr dirty="0" sz="2000" spc="-25" b="1">
                <a:solidFill>
                  <a:srgbClr val="00AFEF"/>
                </a:solidFill>
                <a:latin typeface="宋体"/>
                <a:cs typeface="宋体"/>
              </a:rPr>
              <a:t>的查找过程</a:t>
            </a:r>
            <a:endParaRPr sz="2000">
              <a:latin typeface="宋体"/>
              <a:cs typeface="宋体"/>
            </a:endParaRPr>
          </a:p>
          <a:p>
            <a:pPr lvl="1" marL="1110615" indent="-457834">
              <a:lnSpc>
                <a:spcPct val="100000"/>
              </a:lnSpc>
              <a:spcBef>
                <a:spcPts val="720"/>
              </a:spcBef>
              <a:buClr>
                <a:srgbClr val="4668F5"/>
              </a:buClr>
              <a:buSzPct val="60000"/>
              <a:buFont typeface="Wingdings"/>
              <a:buChar char=""/>
              <a:tabLst>
                <a:tab pos="1110615" algn="l"/>
              </a:tabLst>
            </a:pPr>
            <a:r>
              <a:rPr dirty="0" sz="2000" spc="-30" b="1">
                <a:solidFill>
                  <a:srgbClr val="D50092"/>
                </a:solidFill>
                <a:latin typeface="宋体"/>
                <a:cs typeface="宋体"/>
              </a:rPr>
              <a:t>优缺点</a:t>
            </a:r>
            <a:endParaRPr sz="2000">
              <a:latin typeface="宋体"/>
              <a:cs typeface="宋体"/>
            </a:endParaRPr>
          </a:p>
          <a:p>
            <a:pPr lvl="2" marL="1671320" indent="-381000">
              <a:lnSpc>
                <a:spcPct val="100000"/>
              </a:lnSpc>
              <a:spcBef>
                <a:spcPts val="720"/>
              </a:spcBef>
              <a:buClr>
                <a:srgbClr val="006600"/>
              </a:buClr>
              <a:buSzPct val="65000"/>
              <a:buFont typeface="Wingdings"/>
              <a:buChar char=""/>
              <a:tabLst>
                <a:tab pos="1671320" algn="l"/>
              </a:tabLst>
            </a:pPr>
            <a:r>
              <a:rPr dirty="0" sz="2000" spc="-25" b="1">
                <a:solidFill>
                  <a:srgbClr val="40458B"/>
                </a:solidFill>
                <a:latin typeface="宋体"/>
                <a:cs typeface="宋体"/>
              </a:rPr>
              <a:t>不必采用相联存储器，而是用按地址访问的存储器来实现。</a:t>
            </a:r>
            <a:endParaRPr sz="2000">
              <a:latin typeface="宋体"/>
              <a:cs typeface="宋体"/>
            </a:endParaRPr>
          </a:p>
          <a:p>
            <a:pPr lvl="2" marL="1671320" indent="-381000">
              <a:lnSpc>
                <a:spcPct val="100000"/>
              </a:lnSpc>
              <a:spcBef>
                <a:spcPts val="720"/>
              </a:spcBef>
              <a:buClr>
                <a:srgbClr val="006600"/>
              </a:buClr>
              <a:buSzPct val="65000"/>
              <a:buFont typeface="Wingdings"/>
              <a:buChar char=""/>
              <a:tabLst>
                <a:tab pos="1671320" algn="l"/>
              </a:tabLst>
            </a:pPr>
            <a:r>
              <a:rPr dirty="0" sz="2000" spc="-10" b="1">
                <a:solidFill>
                  <a:srgbClr val="40458B"/>
                </a:solidFill>
                <a:latin typeface="宋体"/>
                <a:cs typeface="宋体"/>
              </a:rPr>
              <a:t>所需要的硬件为：大小为</a:t>
            </a:r>
            <a:r>
              <a:rPr dirty="0" sz="2000" b="1">
                <a:solidFill>
                  <a:srgbClr val="9933FF"/>
                </a:solidFill>
                <a:latin typeface="Times New Roman"/>
                <a:cs typeface="Times New Roman"/>
              </a:rPr>
              <a:t>2</a:t>
            </a:r>
            <a:r>
              <a:rPr dirty="0" baseline="25641" sz="1950" b="1">
                <a:solidFill>
                  <a:srgbClr val="9933FF"/>
                </a:solidFill>
                <a:latin typeface="Times New Roman"/>
                <a:cs typeface="Times New Roman"/>
              </a:rPr>
              <a:t>g</a:t>
            </a:r>
            <a:r>
              <a:rPr dirty="0" baseline="25641" sz="1950" spc="-22" b="1">
                <a:solidFill>
                  <a:srgbClr val="9933FF"/>
                </a:solidFill>
                <a:latin typeface="Times New Roman"/>
                <a:cs typeface="Times New Roman"/>
              </a:rPr>
              <a:t> </a:t>
            </a:r>
            <a:r>
              <a:rPr dirty="0" sz="2000" spc="-10" b="1">
                <a:solidFill>
                  <a:srgbClr val="9933FF"/>
                </a:solidFill>
                <a:latin typeface="宋体"/>
                <a:cs typeface="宋体"/>
              </a:rPr>
              <a:t>×</a:t>
            </a:r>
            <a:r>
              <a:rPr dirty="0" sz="2000" spc="-10" b="1">
                <a:solidFill>
                  <a:srgbClr val="9933FF"/>
                </a:solidFill>
                <a:latin typeface="Times New Roman"/>
                <a:cs typeface="Times New Roman"/>
              </a:rPr>
              <a:t>n</a:t>
            </a:r>
            <a:r>
              <a:rPr dirty="0" sz="2000" spc="-10" b="1">
                <a:solidFill>
                  <a:srgbClr val="9933FF"/>
                </a:solidFill>
                <a:latin typeface="宋体"/>
                <a:cs typeface="宋体"/>
              </a:rPr>
              <a:t>×</a:t>
            </a:r>
            <a:r>
              <a:rPr dirty="0" sz="2000" spc="-10" b="1">
                <a:solidFill>
                  <a:srgbClr val="9933FF"/>
                </a:solidFill>
                <a:latin typeface="Times New Roman"/>
                <a:cs typeface="Times New Roman"/>
              </a:rPr>
              <a:t>h</a:t>
            </a:r>
            <a:r>
              <a:rPr dirty="0" sz="2000" spc="-15" b="1">
                <a:solidFill>
                  <a:srgbClr val="40458B"/>
                </a:solidFill>
                <a:latin typeface="宋体"/>
                <a:cs typeface="宋体"/>
              </a:rPr>
              <a:t>位的存储器和</a:t>
            </a:r>
            <a:r>
              <a:rPr dirty="0" sz="2000" b="1">
                <a:solidFill>
                  <a:srgbClr val="9933FF"/>
                </a:solidFill>
                <a:latin typeface="Times New Roman"/>
                <a:cs typeface="Times New Roman"/>
              </a:rPr>
              <a:t>n</a:t>
            </a:r>
            <a:r>
              <a:rPr dirty="0" sz="2000" spc="-10" b="1">
                <a:solidFill>
                  <a:srgbClr val="9933FF"/>
                </a:solidFill>
                <a:latin typeface="宋体"/>
                <a:cs typeface="宋体"/>
              </a:rPr>
              <a:t>个</a:t>
            </a:r>
            <a:r>
              <a:rPr dirty="0" sz="2000" b="1">
                <a:solidFill>
                  <a:srgbClr val="9933FF"/>
                </a:solidFill>
                <a:latin typeface="Times New Roman"/>
                <a:cs typeface="Times New Roman"/>
              </a:rPr>
              <a:t>h</a:t>
            </a:r>
            <a:r>
              <a:rPr dirty="0" sz="2000" spc="-20" b="1">
                <a:solidFill>
                  <a:srgbClr val="9933FF"/>
                </a:solidFill>
                <a:latin typeface="宋体"/>
                <a:cs typeface="宋体"/>
              </a:rPr>
              <a:t>位</a:t>
            </a:r>
            <a:r>
              <a:rPr dirty="0" sz="2000" spc="-25" b="1">
                <a:solidFill>
                  <a:srgbClr val="40458B"/>
                </a:solidFill>
                <a:latin typeface="宋体"/>
                <a:cs typeface="宋体"/>
              </a:rPr>
              <a:t>的比较器。</a:t>
            </a:r>
            <a:endParaRPr sz="2000">
              <a:latin typeface="宋体"/>
              <a:cs typeface="宋体"/>
            </a:endParaRPr>
          </a:p>
          <a:p>
            <a:pPr lvl="2" marL="1671320" indent="-381000">
              <a:lnSpc>
                <a:spcPct val="100000"/>
              </a:lnSpc>
              <a:spcBef>
                <a:spcPts val="720"/>
              </a:spcBef>
              <a:buClr>
                <a:srgbClr val="006600"/>
              </a:buClr>
              <a:buSzPct val="65000"/>
              <a:buFont typeface="Wingdings"/>
              <a:buChar char=""/>
              <a:tabLst>
                <a:tab pos="1671320" algn="l"/>
              </a:tabLst>
            </a:pPr>
            <a:r>
              <a:rPr dirty="0" sz="2000" spc="-15" b="1">
                <a:solidFill>
                  <a:srgbClr val="40458B"/>
                </a:solidFill>
                <a:latin typeface="宋体"/>
                <a:cs typeface="宋体"/>
              </a:rPr>
              <a:t>当相联度</a:t>
            </a:r>
            <a:r>
              <a:rPr dirty="0" sz="2000" b="1">
                <a:solidFill>
                  <a:srgbClr val="40458B"/>
                </a:solidFill>
                <a:latin typeface="Times New Roman"/>
                <a:cs typeface="Times New Roman"/>
              </a:rPr>
              <a:t>n</a:t>
            </a:r>
            <a:r>
              <a:rPr dirty="0" sz="2000" spc="-30" b="1">
                <a:solidFill>
                  <a:srgbClr val="40458B"/>
                </a:solidFill>
                <a:latin typeface="宋体"/>
                <a:cs typeface="宋体"/>
              </a:rPr>
              <a:t>增加时，不仅比较器的个数会增加，而且比较器的位数也会增加。</a:t>
            </a:r>
            <a:endParaRPr sz="2000">
              <a:latin typeface="宋体"/>
              <a:cs typeface="宋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558190" y="1107557"/>
            <a:ext cx="6732270" cy="3611879"/>
          </a:xfrm>
          <a:prstGeom prst="rect">
            <a:avLst/>
          </a:prstGeom>
        </p:spPr>
        <p:txBody>
          <a:bodyPr wrap="square" lIns="0" tIns="159385" rIns="0" bIns="0" rtlCol="0" vert="horz">
            <a:spAutoFit/>
          </a:bodyPr>
          <a:lstStyle/>
          <a:p>
            <a:pPr marL="317500">
              <a:lnSpc>
                <a:spcPct val="100000"/>
              </a:lnSpc>
              <a:spcBef>
                <a:spcPts val="1255"/>
              </a:spcBef>
            </a:pPr>
            <a:r>
              <a:rPr dirty="0" sz="2400" spc="-10">
                <a:solidFill>
                  <a:srgbClr val="E14B04"/>
                </a:solidFill>
                <a:latin typeface="黑体"/>
                <a:cs typeface="黑体"/>
              </a:rPr>
              <a:t>例子：</a:t>
            </a:r>
            <a:r>
              <a:rPr dirty="0" sz="2400" spc="-10">
                <a:solidFill>
                  <a:srgbClr val="40458B"/>
                </a:solidFill>
                <a:latin typeface="黑体"/>
                <a:cs typeface="黑体"/>
              </a:rPr>
              <a:t>DEC的</a:t>
            </a:r>
            <a:r>
              <a:rPr dirty="0" sz="2400">
                <a:solidFill>
                  <a:srgbClr val="40458B"/>
                </a:solidFill>
                <a:latin typeface="黑体"/>
                <a:cs typeface="黑体"/>
              </a:rPr>
              <a:t>Alpha</a:t>
            </a:r>
            <a:r>
              <a:rPr dirty="0" sz="2400" spc="90">
                <a:solidFill>
                  <a:srgbClr val="40458B"/>
                </a:solidFill>
                <a:latin typeface="黑体"/>
                <a:cs typeface="黑体"/>
              </a:rPr>
              <a:t> </a:t>
            </a:r>
            <a:r>
              <a:rPr dirty="0" sz="2400" spc="-10">
                <a:solidFill>
                  <a:srgbClr val="40458B"/>
                </a:solidFill>
                <a:latin typeface="黑体"/>
                <a:cs typeface="黑体"/>
              </a:rPr>
              <a:t>AXP21064中的内部数据Cache</a:t>
            </a:r>
            <a:endParaRPr sz="2400">
              <a:latin typeface="黑体"/>
              <a:cs typeface="黑体"/>
            </a:endParaRPr>
          </a:p>
          <a:p>
            <a:pPr marL="12700">
              <a:lnSpc>
                <a:spcPct val="100000"/>
              </a:lnSpc>
              <a:spcBef>
                <a:spcPts val="1155"/>
              </a:spcBef>
              <a:tabLst>
                <a:tab pos="469265"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25">
                <a:solidFill>
                  <a:srgbClr val="E14B04"/>
                </a:solidFill>
                <a:latin typeface="黑体"/>
                <a:cs typeface="黑体"/>
              </a:rPr>
              <a:t>简介</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容量：</a:t>
            </a:r>
            <a:r>
              <a:rPr dirty="0" sz="2400" spc="-20">
                <a:solidFill>
                  <a:srgbClr val="D50092"/>
                </a:solidFill>
                <a:latin typeface="黑体"/>
                <a:cs typeface="黑体"/>
              </a:rPr>
              <a:t>8KB</a:t>
            </a:r>
            <a:endParaRPr sz="2400">
              <a:latin typeface="黑体"/>
              <a:cs typeface="黑体"/>
            </a:endParaRPr>
          </a:p>
          <a:p>
            <a:pPr marL="1099185" indent="-457200">
              <a:lnSpc>
                <a:spcPct val="100000"/>
              </a:lnSpc>
              <a:spcBef>
                <a:spcPts val="1150"/>
              </a:spcBef>
              <a:buSzPct val="89583"/>
              <a:buFont typeface="Wingdings"/>
              <a:buChar char=""/>
              <a:tabLst>
                <a:tab pos="1099185" algn="l"/>
              </a:tabLst>
            </a:pPr>
            <a:r>
              <a:rPr dirty="0" sz="2400" spc="-15">
                <a:solidFill>
                  <a:srgbClr val="40458B"/>
                </a:solidFill>
                <a:latin typeface="黑体"/>
                <a:cs typeface="黑体"/>
              </a:rPr>
              <a:t>块大小：</a:t>
            </a:r>
            <a:r>
              <a:rPr dirty="0" sz="2400" spc="-20">
                <a:solidFill>
                  <a:srgbClr val="D50092"/>
                </a:solidFill>
                <a:latin typeface="黑体"/>
                <a:cs typeface="黑体"/>
              </a:rPr>
              <a:t>32B</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块数：</a:t>
            </a:r>
            <a:r>
              <a:rPr dirty="0" sz="2400" spc="-20">
                <a:solidFill>
                  <a:srgbClr val="D50092"/>
                </a:solidFill>
                <a:latin typeface="黑体"/>
                <a:cs typeface="黑体"/>
              </a:rPr>
              <a:t>256</a:t>
            </a:r>
            <a:endParaRPr sz="2400">
              <a:latin typeface="黑体"/>
              <a:cs typeface="黑体"/>
            </a:endParaRPr>
          </a:p>
          <a:p>
            <a:pPr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映象方法：</a:t>
            </a:r>
            <a:r>
              <a:rPr dirty="0" sz="2400" spc="-15">
                <a:solidFill>
                  <a:srgbClr val="D50092"/>
                </a:solidFill>
                <a:latin typeface="黑体"/>
                <a:cs typeface="黑体"/>
              </a:rPr>
              <a:t>直接映象</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写缓冲器大小：</a:t>
            </a:r>
            <a:r>
              <a:rPr dirty="0" sz="2400">
                <a:solidFill>
                  <a:srgbClr val="D50092"/>
                </a:solidFill>
                <a:latin typeface="黑体"/>
                <a:cs typeface="黑体"/>
              </a:rPr>
              <a:t>4</a:t>
            </a:r>
            <a:r>
              <a:rPr dirty="0" sz="2400" spc="-25">
                <a:solidFill>
                  <a:srgbClr val="D50092"/>
                </a:solidFill>
                <a:latin typeface="黑体"/>
                <a:cs typeface="黑体"/>
              </a:rPr>
              <a:t>个块</a:t>
            </a:r>
            <a:endParaRPr sz="2400">
              <a:latin typeface="黑体"/>
              <a:cs typeface="黑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7.2.4</a:t>
            </a:r>
            <a:r>
              <a:rPr dirty="0" u="none" sz="2600" spc="10">
                <a:solidFill>
                  <a:srgbClr val="0000CC"/>
                </a:solidFill>
              </a:rPr>
              <a:t> </a:t>
            </a:r>
            <a:r>
              <a:rPr dirty="0" u="none" sz="2600" spc="-10">
                <a:solidFill>
                  <a:srgbClr val="0000CC"/>
                </a:solidFill>
              </a:rPr>
              <a:t>Cache</a:t>
            </a:r>
            <a:r>
              <a:rPr dirty="0" u="none" sz="2600" spc="-20">
                <a:solidFill>
                  <a:srgbClr val="0000CC"/>
                </a:solidFill>
              </a:rPr>
              <a:t>的工作过程</a:t>
            </a:r>
            <a:endParaRPr sz="2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9818" y="678307"/>
            <a:ext cx="1397000" cy="391160"/>
          </a:xfrm>
          <a:prstGeom prst="rect"/>
        </p:spPr>
        <p:txBody>
          <a:bodyPr wrap="square" lIns="0" tIns="12700" rIns="0" bIns="0" rtlCol="0" vert="horz">
            <a:spAutoFit/>
          </a:bodyPr>
          <a:lstStyle/>
          <a:p>
            <a:pPr marL="12700">
              <a:lnSpc>
                <a:spcPct val="100000"/>
              </a:lnSpc>
              <a:spcBef>
                <a:spcPts val="100"/>
              </a:spcBef>
              <a:tabLst>
                <a:tab pos="469265" algn="l"/>
              </a:tabLst>
            </a:pPr>
            <a:r>
              <a:rPr dirty="0" u="none" sz="2400" spc="-25">
                <a:solidFill>
                  <a:srgbClr val="40458B"/>
                </a:solidFill>
                <a:latin typeface="Tahoma"/>
                <a:cs typeface="Tahoma"/>
              </a:rPr>
              <a:t>2.</a:t>
            </a:r>
            <a:r>
              <a:rPr dirty="0" u="none" sz="2400">
                <a:solidFill>
                  <a:srgbClr val="40458B"/>
                </a:solidFill>
                <a:latin typeface="Tahoma"/>
                <a:cs typeface="Tahoma"/>
              </a:rPr>
              <a:t>	</a:t>
            </a:r>
            <a:r>
              <a:rPr dirty="0" u="none" sz="2400" spc="-20">
                <a:solidFill>
                  <a:srgbClr val="C00000"/>
                </a:solidFill>
              </a:rPr>
              <a:t>结构图</a:t>
            </a:r>
            <a:endParaRPr sz="2400">
              <a:latin typeface="Tahoma"/>
              <a:cs typeface="Tahoma"/>
            </a:endParaRPr>
          </a:p>
        </p:txBody>
      </p:sp>
      <p:pic>
        <p:nvPicPr>
          <p:cNvPr id="3" name="object 3"/>
          <p:cNvPicPr/>
          <p:nvPr/>
        </p:nvPicPr>
        <p:blipFill>
          <a:blip r:embed="rId2" cstate="print"/>
          <a:stretch>
            <a:fillRect/>
          </a:stretch>
        </p:blipFill>
        <p:spPr>
          <a:xfrm>
            <a:off x="2819400" y="404812"/>
            <a:ext cx="7740650" cy="60991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89965" y="1009396"/>
            <a:ext cx="8089265" cy="2950210"/>
          </a:xfrm>
          <a:prstGeom prst="rect">
            <a:avLst/>
          </a:prstGeom>
        </p:spPr>
        <p:txBody>
          <a:bodyPr wrap="square" lIns="0" tIns="113030" rIns="0" bIns="0" rtlCol="0" vert="horz">
            <a:spAutoFit/>
          </a:bodyPr>
          <a:lstStyle/>
          <a:p>
            <a:pPr marL="481965" indent="-456565">
              <a:lnSpc>
                <a:spcPct val="100000"/>
              </a:lnSpc>
              <a:spcBef>
                <a:spcPts val="890"/>
              </a:spcBef>
              <a:buClr>
                <a:srgbClr val="40458B"/>
              </a:buClr>
              <a:buFont typeface="Tahoma"/>
              <a:buAutoNum type="arabicPeriod" startAt="3"/>
              <a:tabLst>
                <a:tab pos="481965" algn="l"/>
              </a:tabLst>
            </a:pPr>
            <a:r>
              <a:rPr dirty="0" sz="2400" spc="-15">
                <a:solidFill>
                  <a:srgbClr val="E14B04"/>
                </a:solidFill>
                <a:latin typeface="黑体"/>
                <a:cs typeface="黑体"/>
              </a:rPr>
              <a:t>工作过程</a:t>
            </a:r>
            <a:endParaRPr sz="2400">
              <a:latin typeface="黑体"/>
              <a:cs typeface="黑体"/>
            </a:endParaRPr>
          </a:p>
          <a:p>
            <a:pPr lvl="1" marL="1111885" indent="-457200">
              <a:lnSpc>
                <a:spcPct val="100000"/>
              </a:lnSpc>
              <a:spcBef>
                <a:spcPts val="795"/>
              </a:spcBef>
              <a:buClr>
                <a:srgbClr val="40458B"/>
              </a:buClr>
              <a:buSzPct val="89583"/>
              <a:buFont typeface="Wingdings"/>
              <a:buChar char=""/>
              <a:tabLst>
                <a:tab pos="1111885" algn="l"/>
              </a:tabLst>
            </a:pPr>
            <a:r>
              <a:rPr dirty="0" u="sng" sz="2400" spc="-10">
                <a:solidFill>
                  <a:srgbClr val="4668F5"/>
                </a:solidFill>
                <a:uFill>
                  <a:solidFill>
                    <a:srgbClr val="4668F5"/>
                  </a:solidFill>
                </a:uFill>
                <a:latin typeface="黑体"/>
                <a:cs typeface="黑体"/>
                <a:hlinkClick r:id="rId3"/>
              </a:rPr>
              <a:t>“读”访问命中</a:t>
            </a:r>
            <a:endParaRPr sz="2400">
              <a:latin typeface="黑体"/>
              <a:cs typeface="黑体"/>
            </a:endParaRPr>
          </a:p>
          <a:p>
            <a:pPr marL="1282700">
              <a:lnSpc>
                <a:spcPct val="100000"/>
              </a:lnSpc>
              <a:spcBef>
                <a:spcPts val="795"/>
              </a:spcBef>
            </a:pPr>
            <a:r>
              <a:rPr dirty="0" sz="2000" spc="-10" b="1">
                <a:solidFill>
                  <a:srgbClr val="00AFEF"/>
                </a:solidFill>
                <a:latin typeface="宋体"/>
                <a:cs typeface="宋体"/>
              </a:rPr>
              <a:t>（完成</a:t>
            </a:r>
            <a:r>
              <a:rPr dirty="0" sz="2000" b="1">
                <a:solidFill>
                  <a:srgbClr val="9933FF"/>
                </a:solidFill>
                <a:latin typeface="Times New Roman"/>
                <a:cs typeface="Times New Roman"/>
              </a:rPr>
              <a:t>4</a:t>
            </a:r>
            <a:r>
              <a:rPr dirty="0" sz="2000" spc="-10" b="1">
                <a:solidFill>
                  <a:srgbClr val="00AFEF"/>
                </a:solidFill>
                <a:latin typeface="宋体"/>
                <a:cs typeface="宋体"/>
              </a:rPr>
              <a:t>步需要</a:t>
            </a:r>
            <a:r>
              <a:rPr dirty="0" sz="2000" b="1">
                <a:solidFill>
                  <a:srgbClr val="9933FF"/>
                </a:solidFill>
                <a:latin typeface="Times New Roman"/>
                <a:cs typeface="Times New Roman"/>
              </a:rPr>
              <a:t>2</a:t>
            </a:r>
            <a:r>
              <a:rPr dirty="0" sz="2000" spc="70" b="1">
                <a:solidFill>
                  <a:srgbClr val="00AFEF"/>
                </a:solidFill>
                <a:latin typeface="宋体"/>
                <a:cs typeface="宋体"/>
              </a:rPr>
              <a:t>个时钟周期</a:t>
            </a:r>
            <a:r>
              <a:rPr dirty="0" sz="2000" spc="-50" b="1">
                <a:solidFill>
                  <a:srgbClr val="00AFEF"/>
                </a:solidFill>
                <a:latin typeface="宋体"/>
                <a:cs typeface="宋体"/>
              </a:rPr>
              <a:t>）</a:t>
            </a:r>
            <a:endParaRPr sz="2000">
              <a:latin typeface="宋体"/>
              <a:cs typeface="宋体"/>
            </a:endParaRPr>
          </a:p>
          <a:p>
            <a:pPr lvl="2" marL="1739900" indent="-457200">
              <a:lnSpc>
                <a:spcPct val="100000"/>
              </a:lnSpc>
              <a:spcBef>
                <a:spcPts val="720"/>
              </a:spcBef>
              <a:buClr>
                <a:srgbClr val="4668F5"/>
              </a:buClr>
              <a:buSzPct val="60000"/>
              <a:buFont typeface="Wingdings"/>
              <a:buChar char=""/>
              <a:tabLst>
                <a:tab pos="1739900" algn="l"/>
              </a:tabLst>
            </a:pPr>
            <a:r>
              <a:rPr dirty="0" sz="2000" spc="-10" b="1">
                <a:solidFill>
                  <a:srgbClr val="00AFEF"/>
                </a:solidFill>
                <a:latin typeface="Times New Roman"/>
                <a:cs typeface="Times New Roman"/>
              </a:rPr>
              <a:t>Cache</a:t>
            </a:r>
            <a:r>
              <a:rPr dirty="0" sz="2000" spc="-10" b="1">
                <a:solidFill>
                  <a:srgbClr val="00AFEF"/>
                </a:solidFill>
                <a:latin typeface="宋体"/>
                <a:cs typeface="宋体"/>
              </a:rPr>
              <a:t>的容量与索引</a:t>
            </a:r>
            <a:r>
              <a:rPr dirty="0" sz="2000" spc="-10" b="1">
                <a:solidFill>
                  <a:srgbClr val="00AFEF"/>
                </a:solidFill>
                <a:latin typeface="Times New Roman"/>
                <a:cs typeface="Times New Roman"/>
              </a:rPr>
              <a:t>index</a:t>
            </a:r>
            <a:r>
              <a:rPr dirty="0" sz="2000" spc="-25" b="1">
                <a:solidFill>
                  <a:srgbClr val="00AFEF"/>
                </a:solidFill>
                <a:latin typeface="宋体"/>
                <a:cs typeface="宋体"/>
              </a:rPr>
              <a:t>、相联度、块大小之间的关系</a:t>
            </a:r>
            <a:endParaRPr sz="2000">
              <a:latin typeface="宋体"/>
              <a:cs typeface="宋体"/>
            </a:endParaRPr>
          </a:p>
          <a:p>
            <a:pPr marL="2299335">
              <a:lnSpc>
                <a:spcPct val="100000"/>
              </a:lnSpc>
              <a:spcBef>
                <a:spcPts val="720"/>
              </a:spcBef>
            </a:pPr>
            <a:r>
              <a:rPr dirty="0" sz="2000" b="1">
                <a:solidFill>
                  <a:srgbClr val="D50092"/>
                </a:solidFill>
                <a:latin typeface="Times New Roman"/>
                <a:cs typeface="Times New Roman"/>
              </a:rPr>
              <a:t>Cache</a:t>
            </a:r>
            <a:r>
              <a:rPr dirty="0" sz="2000" spc="-15" b="1">
                <a:solidFill>
                  <a:srgbClr val="D50092"/>
                </a:solidFill>
                <a:latin typeface="宋体"/>
                <a:cs typeface="宋体"/>
              </a:rPr>
              <a:t>的容量</a:t>
            </a:r>
            <a:r>
              <a:rPr dirty="0" sz="2000" b="1">
                <a:solidFill>
                  <a:srgbClr val="D50092"/>
                </a:solidFill>
                <a:latin typeface="Times New Roman"/>
                <a:cs typeface="Times New Roman"/>
              </a:rPr>
              <a:t>=2</a:t>
            </a:r>
            <a:r>
              <a:rPr dirty="0" baseline="25641" sz="1950" b="1" i="1">
                <a:solidFill>
                  <a:srgbClr val="D50092"/>
                </a:solidFill>
                <a:latin typeface="Times New Roman"/>
                <a:cs typeface="Times New Roman"/>
              </a:rPr>
              <a:t>index</a:t>
            </a:r>
            <a:r>
              <a:rPr dirty="0" sz="2000" spc="-25" b="1">
                <a:solidFill>
                  <a:srgbClr val="D50092"/>
                </a:solidFill>
                <a:latin typeface="宋体"/>
                <a:cs typeface="宋体"/>
              </a:rPr>
              <a:t>×相联度×块大小</a:t>
            </a:r>
            <a:endParaRPr sz="2000">
              <a:latin typeface="宋体"/>
              <a:cs typeface="宋体"/>
            </a:endParaRPr>
          </a:p>
          <a:p>
            <a:pPr lvl="2" marL="1739900" marR="81280" indent="-457200">
              <a:lnSpc>
                <a:spcPct val="130000"/>
              </a:lnSpc>
              <a:spcBef>
                <a:spcPts val="5"/>
              </a:spcBef>
              <a:buClr>
                <a:srgbClr val="4668F5"/>
              </a:buClr>
              <a:buSzPct val="60000"/>
              <a:buFont typeface="Wingdings"/>
              <a:buChar char=""/>
              <a:tabLst>
                <a:tab pos="2299335" algn="l"/>
                <a:tab pos="4485005" algn="l"/>
              </a:tabLst>
            </a:pPr>
            <a:r>
              <a:rPr dirty="0" sz="2000" spc="-10" b="1">
                <a:solidFill>
                  <a:srgbClr val="00AFEF"/>
                </a:solidFill>
                <a:latin typeface="宋体"/>
                <a:cs typeface="宋体"/>
              </a:rPr>
              <a:t>把容量为</a:t>
            </a:r>
            <a:r>
              <a:rPr dirty="0" sz="2000" b="1">
                <a:solidFill>
                  <a:srgbClr val="9933FF"/>
                </a:solidFill>
                <a:latin typeface="Times New Roman"/>
                <a:cs typeface="Times New Roman"/>
              </a:rPr>
              <a:t>8192</a:t>
            </a:r>
            <a:r>
              <a:rPr dirty="0" sz="2000" spc="-10" b="1">
                <a:solidFill>
                  <a:srgbClr val="00AFEF"/>
                </a:solidFill>
                <a:latin typeface="宋体"/>
                <a:cs typeface="宋体"/>
              </a:rPr>
              <a:t>、相</a:t>
            </a:r>
            <a:r>
              <a:rPr dirty="0" sz="2000" spc="-20" b="1">
                <a:solidFill>
                  <a:srgbClr val="00AFEF"/>
                </a:solidFill>
                <a:latin typeface="宋体"/>
                <a:cs typeface="宋体"/>
              </a:rPr>
              <a:t>联</a:t>
            </a:r>
            <a:r>
              <a:rPr dirty="0" sz="2000" spc="-10" b="1">
                <a:solidFill>
                  <a:srgbClr val="00AFEF"/>
                </a:solidFill>
                <a:latin typeface="宋体"/>
                <a:cs typeface="宋体"/>
              </a:rPr>
              <a:t>度为</a:t>
            </a:r>
            <a:r>
              <a:rPr dirty="0" sz="2000" spc="-10" b="1">
                <a:solidFill>
                  <a:srgbClr val="9933FF"/>
                </a:solidFill>
                <a:latin typeface="Times New Roman"/>
                <a:cs typeface="Times New Roman"/>
              </a:rPr>
              <a:t>1</a:t>
            </a:r>
            <a:r>
              <a:rPr dirty="0" sz="2000" spc="-10" b="1">
                <a:solidFill>
                  <a:srgbClr val="00AFEF"/>
                </a:solidFill>
                <a:latin typeface="宋体"/>
                <a:cs typeface="宋体"/>
              </a:rPr>
              <a:t>、</a:t>
            </a:r>
            <a:r>
              <a:rPr dirty="0" sz="2000" spc="-20" b="1">
                <a:solidFill>
                  <a:srgbClr val="00AFEF"/>
                </a:solidFill>
                <a:latin typeface="宋体"/>
                <a:cs typeface="宋体"/>
              </a:rPr>
              <a:t>块</a:t>
            </a:r>
            <a:r>
              <a:rPr dirty="0" sz="2000" spc="-10" b="1">
                <a:solidFill>
                  <a:srgbClr val="00AFEF"/>
                </a:solidFill>
                <a:latin typeface="宋体"/>
                <a:cs typeface="宋体"/>
              </a:rPr>
              <a:t>大小为</a:t>
            </a:r>
            <a:r>
              <a:rPr dirty="0" sz="2000" spc="-10" b="1">
                <a:solidFill>
                  <a:srgbClr val="9933FF"/>
                </a:solidFill>
                <a:latin typeface="Times New Roman"/>
                <a:cs typeface="Times New Roman"/>
              </a:rPr>
              <a:t>32</a:t>
            </a:r>
            <a:r>
              <a:rPr dirty="0" sz="2000" spc="-10" b="1">
                <a:solidFill>
                  <a:srgbClr val="00AFEF"/>
                </a:solidFill>
                <a:latin typeface="宋体"/>
                <a:cs typeface="宋体"/>
              </a:rPr>
              <a:t>（字</a:t>
            </a:r>
            <a:r>
              <a:rPr dirty="0" sz="2000" spc="-20" b="1">
                <a:solidFill>
                  <a:srgbClr val="00AFEF"/>
                </a:solidFill>
                <a:latin typeface="宋体"/>
                <a:cs typeface="宋体"/>
              </a:rPr>
              <a:t>节</a:t>
            </a:r>
            <a:r>
              <a:rPr dirty="0" sz="2000" spc="-10" b="1">
                <a:solidFill>
                  <a:srgbClr val="00AFEF"/>
                </a:solidFill>
                <a:latin typeface="宋体"/>
                <a:cs typeface="宋体"/>
              </a:rPr>
              <a:t>）代入</a:t>
            </a:r>
            <a:r>
              <a:rPr dirty="0" sz="2000" spc="-50" b="1">
                <a:solidFill>
                  <a:srgbClr val="00AFEF"/>
                </a:solidFill>
                <a:latin typeface="宋体"/>
                <a:cs typeface="宋体"/>
              </a:rPr>
              <a:t>：</a:t>
            </a:r>
            <a:r>
              <a:rPr dirty="0" sz="2000" spc="-50" b="1">
                <a:solidFill>
                  <a:srgbClr val="00AFEF"/>
                </a:solidFill>
                <a:latin typeface="宋体"/>
                <a:cs typeface="宋体"/>
              </a:rPr>
              <a:t>	</a:t>
            </a:r>
            <a:r>
              <a:rPr dirty="0" sz="2000" spc="-10" b="1">
                <a:solidFill>
                  <a:srgbClr val="00AFEF"/>
                </a:solidFill>
                <a:latin typeface="宋体"/>
                <a:cs typeface="宋体"/>
              </a:rPr>
              <a:t>索引</a:t>
            </a:r>
            <a:r>
              <a:rPr dirty="0" sz="2000" b="1">
                <a:solidFill>
                  <a:srgbClr val="00AFEF"/>
                </a:solidFill>
                <a:latin typeface="Times New Roman"/>
                <a:cs typeface="Times New Roman"/>
              </a:rPr>
              <a:t>index</a:t>
            </a:r>
            <a:r>
              <a:rPr dirty="0" sz="2000" b="1">
                <a:solidFill>
                  <a:srgbClr val="00AFEF"/>
                </a:solidFill>
                <a:latin typeface="宋体"/>
                <a:cs typeface="宋体"/>
              </a:rPr>
              <a:t>：</a:t>
            </a:r>
            <a:r>
              <a:rPr dirty="0" sz="2000" b="1">
                <a:solidFill>
                  <a:srgbClr val="9933FF"/>
                </a:solidFill>
                <a:latin typeface="Times New Roman"/>
                <a:cs typeface="Times New Roman"/>
              </a:rPr>
              <a:t>8</a:t>
            </a:r>
            <a:r>
              <a:rPr dirty="0" sz="2000" spc="-50" b="1">
                <a:solidFill>
                  <a:srgbClr val="00AFEF"/>
                </a:solidFill>
                <a:latin typeface="宋体"/>
                <a:cs typeface="宋体"/>
              </a:rPr>
              <a:t>位</a:t>
            </a:r>
            <a:r>
              <a:rPr dirty="0" sz="2000" b="1">
                <a:solidFill>
                  <a:srgbClr val="00AFEF"/>
                </a:solidFill>
                <a:latin typeface="宋体"/>
                <a:cs typeface="宋体"/>
              </a:rPr>
              <a:t>	</a:t>
            </a:r>
            <a:r>
              <a:rPr dirty="0" sz="2000" spc="-10" b="1">
                <a:solidFill>
                  <a:srgbClr val="00AFEF"/>
                </a:solidFill>
                <a:latin typeface="宋体"/>
                <a:cs typeface="宋体"/>
              </a:rPr>
              <a:t>标识：</a:t>
            </a:r>
            <a:r>
              <a:rPr dirty="0" sz="2000" spc="-10" b="1">
                <a:solidFill>
                  <a:srgbClr val="9933FF"/>
                </a:solidFill>
                <a:latin typeface="Times New Roman"/>
                <a:cs typeface="Times New Roman"/>
              </a:rPr>
              <a:t>29</a:t>
            </a:r>
            <a:r>
              <a:rPr dirty="0" sz="2000" spc="-10" b="1">
                <a:solidFill>
                  <a:srgbClr val="9933FF"/>
                </a:solidFill>
                <a:latin typeface="宋体"/>
                <a:cs typeface="宋体"/>
              </a:rPr>
              <a:t>－</a:t>
            </a:r>
            <a:r>
              <a:rPr dirty="0" sz="2000" spc="-10" b="1">
                <a:solidFill>
                  <a:srgbClr val="9933FF"/>
                </a:solidFill>
                <a:latin typeface="Times New Roman"/>
                <a:cs typeface="Times New Roman"/>
              </a:rPr>
              <a:t>8</a:t>
            </a:r>
            <a:r>
              <a:rPr dirty="0" sz="2000" spc="-10" b="1">
                <a:solidFill>
                  <a:srgbClr val="9933FF"/>
                </a:solidFill>
                <a:latin typeface="宋体"/>
                <a:cs typeface="宋体"/>
              </a:rPr>
              <a:t>＝</a:t>
            </a:r>
            <a:r>
              <a:rPr dirty="0" sz="2000" spc="-10" b="1">
                <a:solidFill>
                  <a:srgbClr val="9933FF"/>
                </a:solidFill>
                <a:latin typeface="Times New Roman"/>
                <a:cs typeface="Times New Roman"/>
              </a:rPr>
              <a:t>21</a:t>
            </a:r>
            <a:r>
              <a:rPr dirty="0" sz="2000" spc="-50" b="1">
                <a:solidFill>
                  <a:srgbClr val="00AFEF"/>
                </a:solidFill>
                <a:latin typeface="宋体"/>
                <a:cs typeface="宋体"/>
              </a:rPr>
              <a:t>位</a:t>
            </a:r>
            <a:endParaRPr sz="2000">
              <a:latin typeface="宋体"/>
              <a:cs typeface="宋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7.2.4</a:t>
            </a:r>
            <a:r>
              <a:rPr dirty="0" u="none" sz="2600" spc="10">
                <a:solidFill>
                  <a:srgbClr val="0000CC"/>
                </a:solidFill>
              </a:rPr>
              <a:t> </a:t>
            </a:r>
            <a:r>
              <a:rPr dirty="0" u="none" sz="2600" spc="-10">
                <a:solidFill>
                  <a:srgbClr val="0000CC"/>
                </a:solidFill>
              </a:rPr>
              <a:t>Cache</a:t>
            </a:r>
            <a:r>
              <a:rPr dirty="0" u="none" sz="2600" spc="-20">
                <a:solidFill>
                  <a:srgbClr val="0000CC"/>
                </a:solidFill>
              </a:rPr>
              <a:t>的工作过程</a:t>
            </a:r>
            <a:endParaRPr sz="26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900480" y="864305"/>
            <a:ext cx="9574530" cy="3862704"/>
          </a:xfrm>
          <a:prstGeom prst="rect">
            <a:avLst/>
          </a:prstGeom>
        </p:spPr>
        <p:txBody>
          <a:bodyPr wrap="square" lIns="0" tIns="12065" rIns="0" bIns="0" rtlCol="0" vert="horz">
            <a:spAutoFit/>
          </a:bodyPr>
          <a:lstStyle/>
          <a:p>
            <a:pPr marL="203200" marR="6619875" indent="-190500">
              <a:lnSpc>
                <a:spcPct val="140000"/>
              </a:lnSpc>
              <a:spcBef>
                <a:spcPts val="95"/>
              </a:spcBef>
              <a:buClr>
                <a:srgbClr val="40458B"/>
              </a:buClr>
              <a:buSzPct val="89583"/>
              <a:buFont typeface="Wingdings"/>
              <a:buChar char=""/>
              <a:tabLst>
                <a:tab pos="203200" algn="l"/>
                <a:tab pos="469265" algn="l"/>
              </a:tabLst>
            </a:pPr>
            <a:r>
              <a:rPr dirty="0" u="sng" sz="2400" spc="-10">
                <a:solidFill>
                  <a:srgbClr val="4668F5"/>
                </a:solidFill>
                <a:uFill>
                  <a:solidFill>
                    <a:srgbClr val="4668F5"/>
                  </a:solidFill>
                </a:uFill>
                <a:latin typeface="黑体"/>
                <a:cs typeface="黑体"/>
                <a:hlinkClick r:id="rId3"/>
              </a:rPr>
              <a:t>	</a:t>
            </a:r>
            <a:r>
              <a:rPr dirty="0" u="sng" sz="2400" spc="-10">
                <a:solidFill>
                  <a:srgbClr val="4668F5"/>
                </a:solidFill>
                <a:uFill>
                  <a:solidFill>
                    <a:srgbClr val="4668F5"/>
                  </a:solidFill>
                </a:uFill>
                <a:latin typeface="黑体"/>
                <a:cs typeface="黑体"/>
                <a:hlinkClick r:id="rId3"/>
              </a:rPr>
              <a:t>“写”访问命中</a:t>
            </a:r>
            <a:r>
              <a:rPr dirty="0" u="none" sz="2400" spc="-50">
                <a:solidFill>
                  <a:srgbClr val="4668F5"/>
                </a:solidFill>
                <a:latin typeface="黑体"/>
                <a:cs typeface="黑体"/>
                <a:hlinkClick r:id="rId3"/>
              </a:rPr>
              <a:t> </a:t>
            </a:r>
            <a:r>
              <a:rPr dirty="0" u="none" sz="2400" spc="-10">
                <a:solidFill>
                  <a:srgbClr val="40458B"/>
                </a:solidFill>
                <a:latin typeface="黑体"/>
                <a:cs typeface="黑体"/>
              </a:rPr>
              <a:t>设置了一个</a:t>
            </a:r>
            <a:r>
              <a:rPr dirty="0" u="none" sz="2400" spc="-20">
                <a:solidFill>
                  <a:srgbClr val="D50092"/>
                </a:solidFill>
                <a:latin typeface="黑体"/>
                <a:cs typeface="黑体"/>
              </a:rPr>
              <a:t>写缓冲器</a:t>
            </a:r>
            <a:endParaRPr sz="2400">
              <a:latin typeface="黑体"/>
              <a:cs typeface="黑体"/>
            </a:endParaRPr>
          </a:p>
          <a:p>
            <a:pPr marL="864235">
              <a:lnSpc>
                <a:spcPct val="100000"/>
              </a:lnSpc>
              <a:spcBef>
                <a:spcPts val="1025"/>
              </a:spcBef>
            </a:pPr>
            <a:r>
              <a:rPr dirty="0" sz="2000" spc="-10" b="1">
                <a:solidFill>
                  <a:srgbClr val="00AFEF"/>
                </a:solidFill>
                <a:latin typeface="宋体"/>
                <a:cs typeface="宋体"/>
              </a:rPr>
              <a:t>（提高“写”访问的速度</a:t>
            </a:r>
            <a:r>
              <a:rPr dirty="0" sz="2000" spc="-50" b="1">
                <a:solidFill>
                  <a:srgbClr val="00AFEF"/>
                </a:solidFill>
                <a:latin typeface="宋体"/>
                <a:cs typeface="宋体"/>
              </a:rPr>
              <a:t>）</a:t>
            </a:r>
            <a:endParaRPr sz="2000">
              <a:latin typeface="宋体"/>
              <a:cs typeface="宋体"/>
            </a:endParaRPr>
          </a:p>
          <a:p>
            <a:pPr algn="just" lvl="1" marL="1096645" indent="-456565">
              <a:lnSpc>
                <a:spcPct val="100000"/>
              </a:lnSpc>
              <a:spcBef>
                <a:spcPts val="960"/>
              </a:spcBef>
              <a:buClr>
                <a:srgbClr val="4668F5"/>
              </a:buClr>
              <a:buSzPct val="60000"/>
              <a:buFont typeface="Wingdings"/>
              <a:buChar char=""/>
              <a:tabLst>
                <a:tab pos="1096645" algn="l"/>
              </a:tabLst>
            </a:pPr>
            <a:r>
              <a:rPr dirty="0" sz="2000" spc="-10" b="1">
                <a:solidFill>
                  <a:srgbClr val="00AFEF"/>
                </a:solidFill>
                <a:latin typeface="宋体"/>
                <a:cs typeface="宋体"/>
              </a:rPr>
              <a:t>按字寻址的，它含有</a:t>
            </a:r>
            <a:r>
              <a:rPr dirty="0" sz="2000" b="1">
                <a:solidFill>
                  <a:srgbClr val="9933FF"/>
                </a:solidFill>
                <a:latin typeface="Times New Roman"/>
                <a:cs typeface="Times New Roman"/>
              </a:rPr>
              <a:t>4</a:t>
            </a:r>
            <a:r>
              <a:rPr dirty="0" sz="2000" spc="-20" b="1">
                <a:solidFill>
                  <a:srgbClr val="00AFEF"/>
                </a:solidFill>
                <a:latin typeface="宋体"/>
                <a:cs typeface="宋体"/>
              </a:rPr>
              <a:t>个块，每块大小为</a:t>
            </a:r>
            <a:r>
              <a:rPr dirty="0" sz="2000" b="1">
                <a:solidFill>
                  <a:srgbClr val="9933FF"/>
                </a:solidFill>
                <a:latin typeface="Times New Roman"/>
                <a:cs typeface="Times New Roman"/>
              </a:rPr>
              <a:t>4</a:t>
            </a:r>
            <a:r>
              <a:rPr dirty="0" sz="2000" spc="-30" b="1">
                <a:solidFill>
                  <a:srgbClr val="00AFEF"/>
                </a:solidFill>
                <a:latin typeface="宋体"/>
                <a:cs typeface="宋体"/>
              </a:rPr>
              <a:t>个字。</a:t>
            </a:r>
            <a:endParaRPr sz="2000">
              <a:latin typeface="宋体"/>
              <a:cs typeface="宋体"/>
            </a:endParaRPr>
          </a:p>
          <a:p>
            <a:pPr algn="just" lvl="1" marL="1097280" marR="5080" indent="-457200">
              <a:lnSpc>
                <a:spcPct val="120000"/>
              </a:lnSpc>
              <a:spcBef>
                <a:spcPts val="480"/>
              </a:spcBef>
              <a:buClr>
                <a:srgbClr val="4668F5"/>
              </a:buClr>
              <a:buSzPct val="60000"/>
              <a:buFont typeface="Wingdings"/>
              <a:buChar char=""/>
              <a:tabLst>
                <a:tab pos="1097280" algn="l"/>
              </a:tabLst>
            </a:pPr>
            <a:r>
              <a:rPr dirty="0" sz="2000" spc="-30" b="1">
                <a:solidFill>
                  <a:srgbClr val="00AFEF"/>
                </a:solidFill>
                <a:latin typeface="宋体"/>
                <a:cs typeface="宋体"/>
              </a:rPr>
              <a:t>当要进行写入操作时，如果写缓冲器不满，那么就把数据和完整的地址写入</a:t>
            </a:r>
            <a:r>
              <a:rPr dirty="0" sz="2000" spc="-10" b="1">
                <a:solidFill>
                  <a:srgbClr val="00AFEF"/>
                </a:solidFill>
                <a:latin typeface="宋体"/>
                <a:cs typeface="宋体"/>
              </a:rPr>
              <a:t>缓冲器。对</a:t>
            </a:r>
            <a:r>
              <a:rPr dirty="0" sz="2000" spc="-20" b="1">
                <a:solidFill>
                  <a:srgbClr val="00AFEF"/>
                </a:solidFill>
                <a:latin typeface="Times New Roman"/>
                <a:cs typeface="Times New Roman"/>
              </a:rPr>
              <a:t>CPU</a:t>
            </a:r>
            <a:r>
              <a:rPr dirty="0" sz="2000" spc="-20" b="1">
                <a:solidFill>
                  <a:srgbClr val="00AFEF"/>
                </a:solidFill>
                <a:latin typeface="宋体"/>
                <a:cs typeface="宋体"/>
              </a:rPr>
              <a:t>而言，本次“写”访问已完成，</a:t>
            </a:r>
            <a:r>
              <a:rPr dirty="0" sz="2000" spc="-10" b="1">
                <a:solidFill>
                  <a:srgbClr val="00AFEF"/>
                </a:solidFill>
                <a:latin typeface="Times New Roman"/>
                <a:cs typeface="Times New Roman"/>
              </a:rPr>
              <a:t>CPU</a:t>
            </a:r>
            <a:r>
              <a:rPr dirty="0" sz="2000" spc="-25" b="1">
                <a:solidFill>
                  <a:srgbClr val="00AFEF"/>
                </a:solidFill>
                <a:latin typeface="宋体"/>
                <a:cs typeface="宋体"/>
              </a:rPr>
              <a:t>可以继续往下执行。由</a:t>
            </a:r>
            <a:r>
              <a:rPr dirty="0" sz="2000" spc="-20" b="1">
                <a:solidFill>
                  <a:srgbClr val="00AFEF"/>
                </a:solidFill>
                <a:latin typeface="宋体"/>
                <a:cs typeface="宋体"/>
              </a:rPr>
              <a:t>写缓冲器负责把该数据写入主存。</a:t>
            </a:r>
            <a:endParaRPr sz="2000">
              <a:latin typeface="宋体"/>
              <a:cs typeface="宋体"/>
            </a:endParaRPr>
          </a:p>
          <a:p>
            <a:pPr algn="just" lvl="1" marL="1096645" indent="-456565">
              <a:lnSpc>
                <a:spcPct val="100000"/>
              </a:lnSpc>
              <a:spcBef>
                <a:spcPts val="960"/>
              </a:spcBef>
              <a:buClr>
                <a:srgbClr val="4668F5"/>
              </a:buClr>
              <a:buSzPct val="60000"/>
              <a:buFont typeface="Wingdings"/>
              <a:buChar char=""/>
              <a:tabLst>
                <a:tab pos="1096645" algn="l"/>
              </a:tabLst>
            </a:pPr>
            <a:r>
              <a:rPr dirty="0" sz="2000" spc="-25" b="1">
                <a:solidFill>
                  <a:srgbClr val="00AFEF"/>
                </a:solidFill>
                <a:latin typeface="宋体"/>
                <a:cs typeface="宋体"/>
              </a:rPr>
              <a:t>在写入缓冲器时，要进行写合并检查。即检查本次写入数据的地址是否与缓</a:t>
            </a:r>
            <a:endParaRPr sz="2000">
              <a:latin typeface="宋体"/>
              <a:cs typeface="宋体"/>
            </a:endParaRPr>
          </a:p>
          <a:p>
            <a:pPr algn="just" marL="1097280">
              <a:lnSpc>
                <a:spcPct val="100000"/>
              </a:lnSpc>
              <a:spcBef>
                <a:spcPts val="480"/>
              </a:spcBef>
            </a:pPr>
            <a:r>
              <a:rPr dirty="0" sz="2000" spc="-45" b="1">
                <a:solidFill>
                  <a:srgbClr val="00AFEF"/>
                </a:solidFill>
                <a:latin typeface="宋体"/>
                <a:cs typeface="宋体"/>
              </a:rPr>
              <a:t>冲器内某个有效块的地址匹配。如果匹配，就把新数据与该块合并 。</a:t>
            </a:r>
            <a:endParaRPr sz="2000">
              <a:latin typeface="宋体"/>
              <a:cs typeface="宋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7.2.4</a:t>
            </a:r>
            <a:r>
              <a:rPr dirty="0" u="none" sz="2600" spc="10">
                <a:solidFill>
                  <a:srgbClr val="0000CC"/>
                </a:solidFill>
              </a:rPr>
              <a:t> </a:t>
            </a:r>
            <a:r>
              <a:rPr dirty="0" u="none" sz="2600" spc="-10">
                <a:solidFill>
                  <a:srgbClr val="0000CC"/>
                </a:solidFill>
              </a:rPr>
              <a:t>Cache</a:t>
            </a:r>
            <a:r>
              <a:rPr dirty="0" u="none" sz="2600" spc="-20">
                <a:solidFill>
                  <a:srgbClr val="0000CC"/>
                </a:solidFill>
              </a:rPr>
              <a:t>的工作过程</a:t>
            </a:r>
            <a:endParaRPr sz="2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29818" y="811120"/>
            <a:ext cx="10443845" cy="4667885"/>
          </a:xfrm>
          <a:prstGeom prst="rect">
            <a:avLst/>
          </a:prstGeom>
        </p:spPr>
        <p:txBody>
          <a:bodyPr wrap="square" lIns="0" tIns="167005" rIns="0" bIns="0" rtlCol="0" vert="horz">
            <a:spAutoFit/>
          </a:bodyPr>
          <a:lstStyle/>
          <a:p>
            <a:pPr marL="1099185" indent="-457200">
              <a:lnSpc>
                <a:spcPct val="100000"/>
              </a:lnSpc>
              <a:spcBef>
                <a:spcPts val="1315"/>
              </a:spcBef>
              <a:buSzPct val="89583"/>
              <a:buFont typeface="Wingdings"/>
              <a:buChar char=""/>
              <a:tabLst>
                <a:tab pos="1099185" algn="l"/>
              </a:tabLst>
            </a:pPr>
            <a:r>
              <a:rPr dirty="0" sz="2400" spc="-5">
                <a:solidFill>
                  <a:srgbClr val="40458B"/>
                </a:solidFill>
                <a:latin typeface="黑体"/>
                <a:cs typeface="黑体"/>
              </a:rPr>
              <a:t>发生读不命中与写不命中时的操作</a:t>
            </a:r>
            <a:endParaRPr sz="2400">
              <a:latin typeface="黑体"/>
              <a:cs typeface="黑体"/>
            </a:endParaRPr>
          </a:p>
          <a:p>
            <a:pPr lvl="1" marL="1726564" indent="-457200">
              <a:lnSpc>
                <a:spcPct val="100000"/>
              </a:lnSpc>
              <a:spcBef>
                <a:spcPts val="1025"/>
              </a:spcBef>
              <a:buClr>
                <a:srgbClr val="4668F5"/>
              </a:buClr>
              <a:buSzPct val="60000"/>
              <a:buFont typeface="Wingdings"/>
              <a:buChar char=""/>
              <a:tabLst>
                <a:tab pos="1726564" algn="l"/>
              </a:tabLst>
            </a:pPr>
            <a:r>
              <a:rPr dirty="0" sz="2000" spc="-15" b="1">
                <a:solidFill>
                  <a:srgbClr val="00AFEF"/>
                </a:solidFill>
                <a:latin typeface="宋体"/>
                <a:cs typeface="宋体"/>
              </a:rPr>
              <a:t>读不命中：向</a:t>
            </a:r>
            <a:r>
              <a:rPr dirty="0" sz="2000" spc="-20" b="1">
                <a:solidFill>
                  <a:srgbClr val="00AFEF"/>
                </a:solidFill>
                <a:latin typeface="Times New Roman"/>
                <a:cs typeface="Times New Roman"/>
              </a:rPr>
              <a:t>CPU</a:t>
            </a:r>
            <a:r>
              <a:rPr dirty="0" sz="2000" spc="-25" b="1">
                <a:solidFill>
                  <a:srgbClr val="00AFEF"/>
                </a:solidFill>
                <a:latin typeface="宋体"/>
                <a:cs typeface="宋体"/>
              </a:rPr>
              <a:t>发出一个暂停信号，通知它等待，并从下一级存储器中新调</a:t>
            </a:r>
            <a:endParaRPr sz="2000">
              <a:latin typeface="宋体"/>
              <a:cs typeface="宋体"/>
            </a:endParaRPr>
          </a:p>
          <a:p>
            <a:pPr marL="1726564">
              <a:lnSpc>
                <a:spcPct val="100000"/>
              </a:lnSpc>
              <a:spcBef>
                <a:spcPts val="480"/>
              </a:spcBef>
            </a:pPr>
            <a:r>
              <a:rPr dirty="0" sz="2000" spc="-10" b="1">
                <a:solidFill>
                  <a:srgbClr val="00AFEF"/>
                </a:solidFill>
                <a:latin typeface="宋体"/>
                <a:cs typeface="宋体"/>
              </a:rPr>
              <a:t>入一个数据块</a:t>
            </a:r>
            <a:r>
              <a:rPr dirty="0" sz="2000" b="1">
                <a:solidFill>
                  <a:srgbClr val="00AFEF"/>
                </a:solidFill>
                <a:latin typeface="宋体"/>
                <a:cs typeface="宋体"/>
              </a:rPr>
              <a:t>（</a:t>
            </a:r>
            <a:r>
              <a:rPr dirty="0" sz="2000" b="1">
                <a:solidFill>
                  <a:srgbClr val="9933FF"/>
                </a:solidFill>
                <a:latin typeface="Times New Roman"/>
                <a:cs typeface="Times New Roman"/>
              </a:rPr>
              <a:t>32</a:t>
            </a:r>
            <a:r>
              <a:rPr dirty="0" sz="2000" spc="-20" b="1">
                <a:solidFill>
                  <a:srgbClr val="00AFEF"/>
                </a:solidFill>
                <a:latin typeface="宋体"/>
                <a:cs typeface="宋体"/>
              </a:rPr>
              <a:t>字节</a:t>
            </a:r>
            <a:r>
              <a:rPr dirty="0" sz="2000" spc="-10" b="1">
                <a:solidFill>
                  <a:srgbClr val="00AFEF"/>
                </a:solidFill>
                <a:latin typeface="宋体"/>
                <a:cs typeface="宋体"/>
              </a:rPr>
              <a:t>）</a:t>
            </a:r>
            <a:r>
              <a:rPr dirty="0" sz="2000" spc="-50" b="1">
                <a:solidFill>
                  <a:srgbClr val="00AFEF"/>
                </a:solidFill>
                <a:latin typeface="宋体"/>
                <a:cs typeface="宋体"/>
              </a:rPr>
              <a:t>。</a:t>
            </a:r>
            <a:endParaRPr sz="2000">
              <a:latin typeface="宋体"/>
              <a:cs typeface="宋体"/>
            </a:endParaRPr>
          </a:p>
          <a:p>
            <a:pPr lvl="1" marL="1726564" indent="-457200">
              <a:lnSpc>
                <a:spcPct val="100000"/>
              </a:lnSpc>
              <a:spcBef>
                <a:spcPts val="960"/>
              </a:spcBef>
              <a:buClr>
                <a:srgbClr val="4668F5"/>
              </a:buClr>
              <a:buSzPct val="60000"/>
              <a:buFont typeface="Wingdings"/>
              <a:buChar char=""/>
              <a:tabLst>
                <a:tab pos="1726564" algn="l"/>
              </a:tabLst>
            </a:pPr>
            <a:r>
              <a:rPr dirty="0" sz="2000" spc="-10" b="1">
                <a:solidFill>
                  <a:srgbClr val="00AFEF"/>
                </a:solidFill>
                <a:latin typeface="宋体"/>
                <a:cs typeface="宋体"/>
              </a:rPr>
              <a:t>写不命中：将使数据“绕过”</a:t>
            </a:r>
            <a:r>
              <a:rPr dirty="0" sz="2000" spc="-10" b="1">
                <a:solidFill>
                  <a:srgbClr val="00AFEF"/>
                </a:solidFill>
                <a:latin typeface="Times New Roman"/>
                <a:cs typeface="Times New Roman"/>
              </a:rPr>
              <a:t>Cache</a:t>
            </a:r>
            <a:r>
              <a:rPr dirty="0" sz="2000" spc="-25" b="1">
                <a:solidFill>
                  <a:srgbClr val="00AFEF"/>
                </a:solidFill>
                <a:latin typeface="宋体"/>
                <a:cs typeface="宋体"/>
              </a:rPr>
              <a:t>，直接写入主存。</a:t>
            </a:r>
            <a:endParaRPr sz="2000">
              <a:latin typeface="宋体"/>
              <a:cs typeface="宋体"/>
            </a:endParaRPr>
          </a:p>
          <a:p>
            <a:pPr marL="12700">
              <a:lnSpc>
                <a:spcPct val="100000"/>
              </a:lnSpc>
              <a:spcBef>
                <a:spcPts val="1090"/>
              </a:spcBef>
            </a:pPr>
            <a:r>
              <a:rPr dirty="0" sz="2400" spc="-10">
                <a:solidFill>
                  <a:srgbClr val="E14B04"/>
                </a:solidFill>
                <a:latin typeface="黑体"/>
                <a:cs typeface="黑体"/>
              </a:rPr>
              <a:t>对比：</a:t>
            </a:r>
            <a:r>
              <a:rPr dirty="0" sz="2400">
                <a:solidFill>
                  <a:srgbClr val="40458B"/>
                </a:solidFill>
                <a:latin typeface="Tahoma"/>
                <a:cs typeface="Tahoma"/>
              </a:rPr>
              <a:t>Alpha</a:t>
            </a:r>
            <a:r>
              <a:rPr dirty="0" sz="2400" spc="15">
                <a:solidFill>
                  <a:srgbClr val="40458B"/>
                </a:solidFill>
                <a:latin typeface="Tahoma"/>
                <a:cs typeface="Tahoma"/>
              </a:rPr>
              <a:t> </a:t>
            </a:r>
            <a:r>
              <a:rPr dirty="0" sz="2400">
                <a:solidFill>
                  <a:srgbClr val="40458B"/>
                </a:solidFill>
                <a:latin typeface="Tahoma"/>
                <a:cs typeface="Tahoma"/>
              </a:rPr>
              <a:t>AXP</a:t>
            </a:r>
            <a:r>
              <a:rPr dirty="0" sz="2400" spc="25">
                <a:solidFill>
                  <a:srgbClr val="40458B"/>
                </a:solidFill>
                <a:latin typeface="Tahoma"/>
                <a:cs typeface="Tahoma"/>
              </a:rPr>
              <a:t> </a:t>
            </a:r>
            <a:r>
              <a:rPr dirty="0" sz="2400" spc="-20">
                <a:solidFill>
                  <a:srgbClr val="40458B"/>
                </a:solidFill>
                <a:latin typeface="Tahoma"/>
                <a:cs typeface="Tahoma"/>
              </a:rPr>
              <a:t>21264</a:t>
            </a:r>
            <a:r>
              <a:rPr dirty="0" sz="2400" spc="-10">
                <a:solidFill>
                  <a:srgbClr val="40458B"/>
                </a:solidFill>
                <a:latin typeface="黑体"/>
                <a:cs typeface="黑体"/>
              </a:rPr>
              <a:t>的数据</a:t>
            </a:r>
            <a:r>
              <a:rPr dirty="0" sz="2400" spc="-20">
                <a:solidFill>
                  <a:srgbClr val="40458B"/>
                </a:solidFill>
                <a:latin typeface="Tahoma"/>
                <a:cs typeface="Tahoma"/>
              </a:rPr>
              <a:t>Cache</a:t>
            </a:r>
            <a:r>
              <a:rPr dirty="0" sz="2400" spc="-30">
                <a:solidFill>
                  <a:srgbClr val="40458B"/>
                </a:solidFill>
                <a:latin typeface="黑体"/>
                <a:cs typeface="黑体"/>
              </a:rPr>
              <a:t>结构</a:t>
            </a:r>
            <a:endParaRPr sz="2400">
              <a:latin typeface="黑体"/>
              <a:cs typeface="黑体"/>
            </a:endParaRPr>
          </a:p>
          <a:p>
            <a:pPr marL="1099185" indent="-457200">
              <a:lnSpc>
                <a:spcPct val="100000"/>
              </a:lnSpc>
              <a:spcBef>
                <a:spcPts val="1155"/>
              </a:spcBef>
              <a:buSzPct val="89583"/>
              <a:buFont typeface="Wingdings"/>
              <a:buChar char=""/>
              <a:tabLst>
                <a:tab pos="1099185" algn="l"/>
                <a:tab pos="2970530" algn="l"/>
                <a:tab pos="5485765" algn="l"/>
              </a:tabLst>
            </a:pPr>
            <a:r>
              <a:rPr dirty="0" sz="2400">
                <a:solidFill>
                  <a:srgbClr val="40458B"/>
                </a:solidFill>
                <a:latin typeface="黑体"/>
                <a:cs typeface="黑体"/>
              </a:rPr>
              <a:t>容量</a:t>
            </a:r>
            <a:r>
              <a:rPr dirty="0" sz="2400" spc="-10">
                <a:solidFill>
                  <a:srgbClr val="40458B"/>
                </a:solidFill>
                <a:latin typeface="黑体"/>
                <a:cs typeface="黑体"/>
              </a:rPr>
              <a:t>：</a:t>
            </a:r>
            <a:r>
              <a:rPr dirty="0" sz="2400" spc="-10">
                <a:solidFill>
                  <a:srgbClr val="D50092"/>
                </a:solidFill>
                <a:latin typeface="Times New Roman"/>
                <a:cs typeface="Times New Roman"/>
              </a:rPr>
              <a:t>64KB</a:t>
            </a:r>
            <a:r>
              <a:rPr dirty="0" sz="2400">
                <a:solidFill>
                  <a:srgbClr val="D50092"/>
                </a:solidFill>
                <a:latin typeface="Times New Roman"/>
                <a:cs typeface="Times New Roman"/>
              </a:rPr>
              <a:t>	</a:t>
            </a:r>
            <a:r>
              <a:rPr dirty="0" sz="2400">
                <a:solidFill>
                  <a:srgbClr val="40458B"/>
                </a:solidFill>
                <a:latin typeface="黑体"/>
                <a:cs typeface="黑体"/>
              </a:rPr>
              <a:t>块大小：</a:t>
            </a:r>
            <a:r>
              <a:rPr dirty="0" sz="2400">
                <a:solidFill>
                  <a:srgbClr val="D50092"/>
                </a:solidFill>
                <a:latin typeface="Times New Roman"/>
                <a:cs typeface="Times New Roman"/>
              </a:rPr>
              <a:t>64</a:t>
            </a:r>
            <a:r>
              <a:rPr dirty="0" sz="2400">
                <a:solidFill>
                  <a:srgbClr val="D50092"/>
                </a:solidFill>
                <a:latin typeface="黑体"/>
                <a:cs typeface="黑体"/>
              </a:rPr>
              <a:t>字</a:t>
            </a:r>
            <a:r>
              <a:rPr dirty="0" sz="2400" spc="-50">
                <a:solidFill>
                  <a:srgbClr val="D50092"/>
                </a:solidFill>
                <a:latin typeface="黑体"/>
                <a:cs typeface="黑体"/>
              </a:rPr>
              <a:t>节</a:t>
            </a:r>
            <a:r>
              <a:rPr dirty="0" sz="2400">
                <a:solidFill>
                  <a:srgbClr val="D50092"/>
                </a:solidFill>
                <a:latin typeface="黑体"/>
                <a:cs typeface="黑体"/>
              </a:rPr>
              <a:t>	</a:t>
            </a:r>
            <a:r>
              <a:rPr dirty="0" sz="2400" spc="-10">
                <a:solidFill>
                  <a:srgbClr val="40458B"/>
                </a:solidFill>
                <a:latin typeface="Times New Roman"/>
                <a:cs typeface="Times New Roman"/>
              </a:rPr>
              <a:t>LRU</a:t>
            </a:r>
            <a:r>
              <a:rPr dirty="0" sz="2400">
                <a:solidFill>
                  <a:srgbClr val="40458B"/>
                </a:solidFill>
                <a:latin typeface="黑体"/>
                <a:cs typeface="黑体"/>
              </a:rPr>
              <a:t>替换策</a:t>
            </a:r>
            <a:r>
              <a:rPr dirty="0" sz="2400" spc="-50">
                <a:solidFill>
                  <a:srgbClr val="40458B"/>
                </a:solidFill>
                <a:latin typeface="黑体"/>
                <a:cs typeface="黑体"/>
              </a:rPr>
              <a:t>略</a:t>
            </a:r>
            <a:endParaRPr sz="2400">
              <a:latin typeface="黑体"/>
              <a:cs typeface="黑体"/>
            </a:endParaRPr>
          </a:p>
          <a:p>
            <a:pPr marL="1099185" indent="-457200">
              <a:lnSpc>
                <a:spcPct val="100000"/>
              </a:lnSpc>
              <a:spcBef>
                <a:spcPts val="1150"/>
              </a:spcBef>
              <a:buSzPct val="89583"/>
              <a:buFont typeface="Wingdings"/>
              <a:buChar char=""/>
              <a:tabLst>
                <a:tab pos="1099185" algn="l"/>
              </a:tabLst>
            </a:pPr>
            <a:r>
              <a:rPr dirty="0" sz="2400" spc="-15">
                <a:solidFill>
                  <a:srgbClr val="40458B"/>
                </a:solidFill>
                <a:latin typeface="黑体"/>
                <a:cs typeface="黑体"/>
              </a:rPr>
              <a:t>主要区别</a:t>
            </a:r>
            <a:endParaRPr sz="2400">
              <a:latin typeface="黑体"/>
              <a:cs typeface="黑体"/>
            </a:endParaRPr>
          </a:p>
          <a:p>
            <a:pPr lvl="1" marL="1726564" indent="-457200">
              <a:lnSpc>
                <a:spcPct val="100000"/>
              </a:lnSpc>
              <a:spcBef>
                <a:spcPts val="1030"/>
              </a:spcBef>
              <a:buClr>
                <a:srgbClr val="4668F5"/>
              </a:buClr>
              <a:buSzPct val="60000"/>
              <a:buFont typeface="Wingdings"/>
              <a:buChar char=""/>
              <a:tabLst>
                <a:tab pos="1726564" algn="l"/>
              </a:tabLst>
            </a:pPr>
            <a:r>
              <a:rPr dirty="0" sz="2000" spc="-10" b="1">
                <a:solidFill>
                  <a:srgbClr val="00AFEF"/>
                </a:solidFill>
                <a:latin typeface="宋体"/>
                <a:cs typeface="宋体"/>
              </a:rPr>
              <a:t>采用</a:t>
            </a:r>
            <a:r>
              <a:rPr dirty="0" sz="2000" b="1">
                <a:solidFill>
                  <a:srgbClr val="9933FF"/>
                </a:solidFill>
                <a:latin typeface="Times New Roman"/>
                <a:cs typeface="Times New Roman"/>
              </a:rPr>
              <a:t>2</a:t>
            </a:r>
            <a:r>
              <a:rPr dirty="0" sz="2000" spc="-20" b="1">
                <a:solidFill>
                  <a:srgbClr val="00AFEF"/>
                </a:solidFill>
                <a:latin typeface="宋体"/>
                <a:cs typeface="宋体"/>
              </a:rPr>
              <a:t>路组相联</a:t>
            </a:r>
            <a:endParaRPr sz="2000">
              <a:latin typeface="宋体"/>
              <a:cs typeface="宋体"/>
            </a:endParaRPr>
          </a:p>
          <a:p>
            <a:pPr lvl="1" marL="1726564" indent="-457200">
              <a:lnSpc>
                <a:spcPct val="100000"/>
              </a:lnSpc>
              <a:spcBef>
                <a:spcPts val="960"/>
              </a:spcBef>
              <a:buClr>
                <a:srgbClr val="4668F5"/>
              </a:buClr>
              <a:buSzPct val="60000"/>
              <a:buFont typeface="Wingdings"/>
              <a:buChar char=""/>
              <a:tabLst>
                <a:tab pos="1726564" algn="l"/>
              </a:tabLst>
            </a:pPr>
            <a:r>
              <a:rPr dirty="0" sz="2000" spc="-20" b="1">
                <a:solidFill>
                  <a:srgbClr val="00AFEF"/>
                </a:solidFill>
                <a:latin typeface="宋体"/>
                <a:cs typeface="宋体"/>
              </a:rPr>
              <a:t>采用写回法</a:t>
            </a:r>
            <a:endParaRPr sz="2000">
              <a:latin typeface="宋体"/>
              <a:cs typeface="宋体"/>
            </a:endParaRPr>
          </a:p>
          <a:p>
            <a:pPr marL="1099185" indent="-457200">
              <a:lnSpc>
                <a:spcPct val="100000"/>
              </a:lnSpc>
              <a:spcBef>
                <a:spcPts val="1085"/>
              </a:spcBef>
              <a:buSzPct val="89583"/>
              <a:buFont typeface="Wingdings"/>
              <a:buChar char=""/>
              <a:tabLst>
                <a:tab pos="1099185" algn="l"/>
              </a:tabLst>
            </a:pPr>
            <a:r>
              <a:rPr dirty="0" sz="2400" spc="-10">
                <a:solidFill>
                  <a:srgbClr val="40458B"/>
                </a:solidFill>
                <a:latin typeface="黑体"/>
                <a:cs typeface="黑体"/>
              </a:rPr>
              <a:t>没有写缓冲器</a:t>
            </a:r>
            <a:endParaRPr sz="2400">
              <a:latin typeface="黑体"/>
              <a:cs typeface="黑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7.2.4</a:t>
            </a:r>
            <a:r>
              <a:rPr dirty="0" u="none" sz="2600" spc="10">
                <a:solidFill>
                  <a:srgbClr val="0000CC"/>
                </a:solidFill>
              </a:rPr>
              <a:t> </a:t>
            </a:r>
            <a:r>
              <a:rPr dirty="0" u="none" sz="2600" spc="-10">
                <a:solidFill>
                  <a:srgbClr val="0000CC"/>
                </a:solidFill>
              </a:rPr>
              <a:t>Cache</a:t>
            </a:r>
            <a:r>
              <a:rPr dirty="0" u="none" sz="2600" spc="-20">
                <a:solidFill>
                  <a:srgbClr val="0000CC"/>
                </a:solidFill>
              </a:rPr>
              <a:t>的工作过程</a:t>
            </a:r>
            <a:endParaRPr sz="26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5454530" y="4935628"/>
            <a:ext cx="542290" cy="254635"/>
            <a:chOff x="5454530" y="4935628"/>
            <a:chExt cx="542290" cy="254635"/>
          </a:xfrm>
        </p:grpSpPr>
        <p:sp>
          <p:nvSpPr>
            <p:cNvPr id="3" name="object 3" descr=""/>
            <p:cNvSpPr/>
            <p:nvPr/>
          </p:nvSpPr>
          <p:spPr>
            <a:xfrm>
              <a:off x="5461197" y="4942295"/>
              <a:ext cx="528955" cy="241300"/>
            </a:xfrm>
            <a:custGeom>
              <a:avLst/>
              <a:gdLst/>
              <a:ahLst/>
              <a:cxnLst/>
              <a:rect l="l" t="t" r="r" b="b"/>
              <a:pathLst>
                <a:path w="528954" h="241300">
                  <a:moveTo>
                    <a:pt x="292324" y="0"/>
                  </a:moveTo>
                  <a:lnTo>
                    <a:pt x="261729" y="0"/>
                  </a:lnTo>
                  <a:lnTo>
                    <a:pt x="236792" y="0"/>
                  </a:lnTo>
                  <a:lnTo>
                    <a:pt x="211227" y="4266"/>
                  </a:lnTo>
                  <a:lnTo>
                    <a:pt x="186291" y="4266"/>
                  </a:lnTo>
                  <a:lnTo>
                    <a:pt x="160935" y="8533"/>
                  </a:lnTo>
                  <a:lnTo>
                    <a:pt x="135998" y="16617"/>
                  </a:lnTo>
                  <a:lnTo>
                    <a:pt x="115881" y="20884"/>
                  </a:lnTo>
                  <a:lnTo>
                    <a:pt x="95555" y="28985"/>
                  </a:lnTo>
                  <a:lnTo>
                    <a:pt x="75857" y="37502"/>
                  </a:lnTo>
                  <a:lnTo>
                    <a:pt x="30175" y="62221"/>
                  </a:lnTo>
                  <a:lnTo>
                    <a:pt x="20326" y="74589"/>
                  </a:lnTo>
                  <a:lnTo>
                    <a:pt x="10477" y="83105"/>
                  </a:lnTo>
                  <a:lnTo>
                    <a:pt x="0" y="107825"/>
                  </a:lnTo>
                  <a:lnTo>
                    <a:pt x="0" y="132976"/>
                  </a:lnTo>
                  <a:lnTo>
                    <a:pt x="10477" y="157695"/>
                  </a:lnTo>
                  <a:lnTo>
                    <a:pt x="20326" y="165796"/>
                  </a:lnTo>
                  <a:lnTo>
                    <a:pt x="30175" y="178579"/>
                  </a:lnTo>
                  <a:lnTo>
                    <a:pt x="45263" y="186681"/>
                  </a:lnTo>
                  <a:lnTo>
                    <a:pt x="60769" y="199032"/>
                  </a:lnTo>
                  <a:lnTo>
                    <a:pt x="75857" y="207548"/>
                  </a:lnTo>
                  <a:lnTo>
                    <a:pt x="95555" y="215650"/>
                  </a:lnTo>
                  <a:lnTo>
                    <a:pt x="115881" y="219916"/>
                  </a:lnTo>
                  <a:lnTo>
                    <a:pt x="135998" y="228018"/>
                  </a:lnTo>
                  <a:lnTo>
                    <a:pt x="211227" y="240801"/>
                  </a:lnTo>
                  <a:lnTo>
                    <a:pt x="317260" y="240801"/>
                  </a:lnTo>
                  <a:lnTo>
                    <a:pt x="367552" y="232267"/>
                  </a:lnTo>
                  <a:lnTo>
                    <a:pt x="387879" y="228018"/>
                  </a:lnTo>
                  <a:lnTo>
                    <a:pt x="412606" y="219916"/>
                  </a:lnTo>
                  <a:lnTo>
                    <a:pt x="432932" y="215650"/>
                  </a:lnTo>
                  <a:lnTo>
                    <a:pt x="448020" y="207548"/>
                  </a:lnTo>
                  <a:lnTo>
                    <a:pt x="468137" y="199032"/>
                  </a:lnTo>
                  <a:lnTo>
                    <a:pt x="483225" y="186681"/>
                  </a:lnTo>
                  <a:lnTo>
                    <a:pt x="493702" y="178579"/>
                  </a:lnTo>
                  <a:lnTo>
                    <a:pt x="508790" y="165796"/>
                  </a:lnTo>
                  <a:lnTo>
                    <a:pt x="513400" y="157695"/>
                  </a:lnTo>
                  <a:lnTo>
                    <a:pt x="523878" y="145327"/>
                  </a:lnTo>
                  <a:lnTo>
                    <a:pt x="523878" y="132976"/>
                  </a:lnTo>
                  <a:lnTo>
                    <a:pt x="528488" y="120193"/>
                  </a:lnTo>
                  <a:lnTo>
                    <a:pt x="523878" y="107825"/>
                  </a:lnTo>
                  <a:lnTo>
                    <a:pt x="523878" y="95474"/>
                  </a:lnTo>
                  <a:lnTo>
                    <a:pt x="513400" y="83105"/>
                  </a:lnTo>
                  <a:lnTo>
                    <a:pt x="508790" y="74589"/>
                  </a:lnTo>
                  <a:lnTo>
                    <a:pt x="493702" y="62221"/>
                  </a:lnTo>
                  <a:lnTo>
                    <a:pt x="483225" y="54137"/>
                  </a:lnTo>
                  <a:lnTo>
                    <a:pt x="468137" y="45603"/>
                  </a:lnTo>
                  <a:lnTo>
                    <a:pt x="448020" y="37502"/>
                  </a:lnTo>
                  <a:lnTo>
                    <a:pt x="432932" y="28985"/>
                  </a:lnTo>
                  <a:lnTo>
                    <a:pt x="412606" y="20884"/>
                  </a:lnTo>
                  <a:lnTo>
                    <a:pt x="387879" y="16617"/>
                  </a:lnTo>
                  <a:lnTo>
                    <a:pt x="367552" y="8533"/>
                  </a:lnTo>
                  <a:lnTo>
                    <a:pt x="342616" y="4266"/>
                  </a:lnTo>
                  <a:lnTo>
                    <a:pt x="317260" y="4266"/>
                  </a:lnTo>
                  <a:lnTo>
                    <a:pt x="292324" y="0"/>
                  </a:lnTo>
                  <a:close/>
                </a:path>
              </a:pathLst>
            </a:custGeom>
            <a:solidFill>
              <a:srgbClr val="DBF7D1"/>
            </a:solidFill>
          </p:spPr>
          <p:txBody>
            <a:bodyPr wrap="square" lIns="0" tIns="0" rIns="0" bIns="0" rtlCol="0"/>
            <a:lstStyle/>
            <a:p/>
          </p:txBody>
        </p:sp>
        <p:sp>
          <p:nvSpPr>
            <p:cNvPr id="4" name="object 4" descr=""/>
            <p:cNvSpPr/>
            <p:nvPr/>
          </p:nvSpPr>
          <p:spPr>
            <a:xfrm>
              <a:off x="5461197" y="4942295"/>
              <a:ext cx="528955" cy="241300"/>
            </a:xfrm>
            <a:custGeom>
              <a:avLst/>
              <a:gdLst/>
              <a:ahLst/>
              <a:cxnLst/>
              <a:rect l="l" t="t" r="r" b="b"/>
              <a:pathLst>
                <a:path w="528954" h="241300">
                  <a:moveTo>
                    <a:pt x="261729" y="0"/>
                  </a:moveTo>
                  <a:lnTo>
                    <a:pt x="236792" y="0"/>
                  </a:lnTo>
                  <a:lnTo>
                    <a:pt x="211227" y="4266"/>
                  </a:lnTo>
                  <a:lnTo>
                    <a:pt x="186291" y="4266"/>
                  </a:lnTo>
                  <a:lnTo>
                    <a:pt x="160935" y="8533"/>
                  </a:lnTo>
                  <a:lnTo>
                    <a:pt x="135998" y="16617"/>
                  </a:lnTo>
                  <a:lnTo>
                    <a:pt x="115881" y="20884"/>
                  </a:lnTo>
                  <a:lnTo>
                    <a:pt x="95555" y="28985"/>
                  </a:lnTo>
                  <a:lnTo>
                    <a:pt x="75857" y="37502"/>
                  </a:lnTo>
                  <a:lnTo>
                    <a:pt x="60769" y="45603"/>
                  </a:lnTo>
                  <a:lnTo>
                    <a:pt x="45263" y="54137"/>
                  </a:lnTo>
                  <a:lnTo>
                    <a:pt x="30175" y="62221"/>
                  </a:lnTo>
                  <a:lnTo>
                    <a:pt x="20326" y="74589"/>
                  </a:lnTo>
                  <a:lnTo>
                    <a:pt x="10477" y="83105"/>
                  </a:lnTo>
                  <a:lnTo>
                    <a:pt x="5238" y="95474"/>
                  </a:lnTo>
                  <a:lnTo>
                    <a:pt x="0" y="107825"/>
                  </a:lnTo>
                  <a:lnTo>
                    <a:pt x="0" y="120193"/>
                  </a:lnTo>
                  <a:lnTo>
                    <a:pt x="0" y="132976"/>
                  </a:lnTo>
                  <a:lnTo>
                    <a:pt x="5238" y="145327"/>
                  </a:lnTo>
                  <a:lnTo>
                    <a:pt x="10477" y="157695"/>
                  </a:lnTo>
                  <a:lnTo>
                    <a:pt x="20326" y="165796"/>
                  </a:lnTo>
                  <a:lnTo>
                    <a:pt x="30175" y="178579"/>
                  </a:lnTo>
                  <a:lnTo>
                    <a:pt x="45263" y="186681"/>
                  </a:lnTo>
                  <a:lnTo>
                    <a:pt x="60769" y="199032"/>
                  </a:lnTo>
                  <a:lnTo>
                    <a:pt x="75857" y="207548"/>
                  </a:lnTo>
                  <a:lnTo>
                    <a:pt x="95555" y="215650"/>
                  </a:lnTo>
                  <a:lnTo>
                    <a:pt x="115881" y="219916"/>
                  </a:lnTo>
                  <a:lnTo>
                    <a:pt x="135998" y="228018"/>
                  </a:lnTo>
                  <a:lnTo>
                    <a:pt x="160935" y="232267"/>
                  </a:lnTo>
                  <a:lnTo>
                    <a:pt x="186291" y="236534"/>
                  </a:lnTo>
                  <a:lnTo>
                    <a:pt x="211227" y="240801"/>
                  </a:lnTo>
                  <a:lnTo>
                    <a:pt x="236792" y="240801"/>
                  </a:lnTo>
                  <a:lnTo>
                    <a:pt x="261729" y="240801"/>
                  </a:lnTo>
                  <a:lnTo>
                    <a:pt x="292324" y="240801"/>
                  </a:lnTo>
                  <a:lnTo>
                    <a:pt x="317260" y="240801"/>
                  </a:lnTo>
                  <a:lnTo>
                    <a:pt x="342616" y="236534"/>
                  </a:lnTo>
                  <a:lnTo>
                    <a:pt x="367552" y="232267"/>
                  </a:lnTo>
                  <a:lnTo>
                    <a:pt x="387879" y="228018"/>
                  </a:lnTo>
                  <a:lnTo>
                    <a:pt x="412606" y="219916"/>
                  </a:lnTo>
                  <a:lnTo>
                    <a:pt x="432932" y="215650"/>
                  </a:lnTo>
                  <a:lnTo>
                    <a:pt x="448020" y="207548"/>
                  </a:lnTo>
                  <a:lnTo>
                    <a:pt x="468137" y="199032"/>
                  </a:lnTo>
                  <a:lnTo>
                    <a:pt x="483225" y="186681"/>
                  </a:lnTo>
                  <a:lnTo>
                    <a:pt x="493702" y="178579"/>
                  </a:lnTo>
                  <a:lnTo>
                    <a:pt x="508790" y="165796"/>
                  </a:lnTo>
                  <a:lnTo>
                    <a:pt x="513400" y="157695"/>
                  </a:lnTo>
                  <a:lnTo>
                    <a:pt x="523878" y="145327"/>
                  </a:lnTo>
                  <a:lnTo>
                    <a:pt x="523878" y="132976"/>
                  </a:lnTo>
                  <a:lnTo>
                    <a:pt x="528488" y="120193"/>
                  </a:lnTo>
                  <a:lnTo>
                    <a:pt x="523878" y="107825"/>
                  </a:lnTo>
                  <a:lnTo>
                    <a:pt x="523878" y="95474"/>
                  </a:lnTo>
                  <a:lnTo>
                    <a:pt x="513400" y="83105"/>
                  </a:lnTo>
                  <a:lnTo>
                    <a:pt x="508790" y="74589"/>
                  </a:lnTo>
                  <a:lnTo>
                    <a:pt x="493702" y="62221"/>
                  </a:lnTo>
                  <a:lnTo>
                    <a:pt x="483225" y="54137"/>
                  </a:lnTo>
                  <a:lnTo>
                    <a:pt x="468137" y="45603"/>
                  </a:lnTo>
                  <a:lnTo>
                    <a:pt x="448020" y="37502"/>
                  </a:lnTo>
                  <a:lnTo>
                    <a:pt x="432932" y="28985"/>
                  </a:lnTo>
                  <a:lnTo>
                    <a:pt x="412606" y="20884"/>
                  </a:lnTo>
                  <a:lnTo>
                    <a:pt x="387879" y="16617"/>
                  </a:lnTo>
                  <a:lnTo>
                    <a:pt x="367552" y="8533"/>
                  </a:lnTo>
                  <a:lnTo>
                    <a:pt x="342616" y="4266"/>
                  </a:lnTo>
                  <a:lnTo>
                    <a:pt x="317260" y="4266"/>
                  </a:lnTo>
                  <a:lnTo>
                    <a:pt x="292324" y="0"/>
                  </a:lnTo>
                  <a:lnTo>
                    <a:pt x="261729" y="0"/>
                  </a:lnTo>
                </a:path>
              </a:pathLst>
            </a:custGeom>
            <a:ln w="12863">
              <a:solidFill>
                <a:srgbClr val="000000"/>
              </a:solidFill>
            </a:ln>
          </p:spPr>
          <p:txBody>
            <a:bodyPr wrap="square" lIns="0" tIns="0" rIns="0" bIns="0" rtlCol="0"/>
            <a:lstStyle/>
            <a:p/>
          </p:txBody>
        </p:sp>
      </p:grpSp>
      <p:sp>
        <p:nvSpPr>
          <p:cNvPr id="5" name="object 5" descr=""/>
          <p:cNvSpPr txBox="1"/>
          <p:nvPr/>
        </p:nvSpPr>
        <p:spPr>
          <a:xfrm>
            <a:off x="5624939" y="4945591"/>
            <a:ext cx="313055" cy="215900"/>
          </a:xfrm>
          <a:prstGeom prst="rect">
            <a:avLst/>
          </a:prstGeom>
        </p:spPr>
        <p:txBody>
          <a:bodyPr wrap="square" lIns="0" tIns="12065" rIns="0" bIns="0" rtlCol="0" vert="horz">
            <a:spAutoFit/>
          </a:bodyPr>
          <a:lstStyle/>
          <a:p>
            <a:pPr marL="12700">
              <a:lnSpc>
                <a:spcPct val="100000"/>
              </a:lnSpc>
              <a:spcBef>
                <a:spcPts val="95"/>
              </a:spcBef>
            </a:pPr>
            <a:r>
              <a:rPr dirty="0" sz="1250" spc="160">
                <a:latin typeface="宋体"/>
                <a:cs typeface="宋体"/>
              </a:rPr>
              <a:t>=？</a:t>
            </a:r>
            <a:endParaRPr sz="1250">
              <a:latin typeface="宋体"/>
              <a:cs typeface="宋体"/>
            </a:endParaRPr>
          </a:p>
        </p:txBody>
      </p:sp>
      <p:grpSp>
        <p:nvGrpSpPr>
          <p:cNvPr id="6" name="object 6" descr=""/>
          <p:cNvGrpSpPr/>
          <p:nvPr/>
        </p:nvGrpSpPr>
        <p:grpSpPr>
          <a:xfrm>
            <a:off x="3436240" y="1077516"/>
            <a:ext cx="7051040" cy="5186680"/>
            <a:chOff x="3436240" y="1077516"/>
            <a:chExt cx="7051040" cy="5186680"/>
          </a:xfrm>
        </p:grpSpPr>
        <p:sp>
          <p:nvSpPr>
            <p:cNvPr id="7" name="object 7" descr=""/>
            <p:cNvSpPr/>
            <p:nvPr/>
          </p:nvSpPr>
          <p:spPr>
            <a:xfrm>
              <a:off x="5461197" y="3469798"/>
              <a:ext cx="528955" cy="240665"/>
            </a:xfrm>
            <a:custGeom>
              <a:avLst/>
              <a:gdLst/>
              <a:ahLst/>
              <a:cxnLst/>
              <a:rect l="l" t="t" r="r" b="b"/>
              <a:pathLst>
                <a:path w="528954" h="240664">
                  <a:moveTo>
                    <a:pt x="317260" y="0"/>
                  </a:moveTo>
                  <a:lnTo>
                    <a:pt x="261729" y="0"/>
                  </a:lnTo>
                  <a:lnTo>
                    <a:pt x="211227" y="0"/>
                  </a:lnTo>
                  <a:lnTo>
                    <a:pt x="186291" y="4318"/>
                  </a:lnTo>
                  <a:lnTo>
                    <a:pt x="160935" y="8118"/>
                  </a:lnTo>
                  <a:lnTo>
                    <a:pt x="135998" y="12437"/>
                  </a:lnTo>
                  <a:lnTo>
                    <a:pt x="115881" y="20901"/>
                  </a:lnTo>
                  <a:lnTo>
                    <a:pt x="95555" y="24701"/>
                  </a:lnTo>
                  <a:lnTo>
                    <a:pt x="75857" y="33339"/>
                  </a:lnTo>
                  <a:lnTo>
                    <a:pt x="60769" y="41285"/>
                  </a:lnTo>
                  <a:lnTo>
                    <a:pt x="45263" y="53722"/>
                  </a:lnTo>
                  <a:lnTo>
                    <a:pt x="30175" y="62186"/>
                  </a:lnTo>
                  <a:lnTo>
                    <a:pt x="20326" y="74624"/>
                  </a:lnTo>
                  <a:lnTo>
                    <a:pt x="10477" y="83088"/>
                  </a:lnTo>
                  <a:lnTo>
                    <a:pt x="0" y="107790"/>
                  </a:lnTo>
                  <a:lnTo>
                    <a:pt x="0" y="132492"/>
                  </a:lnTo>
                  <a:lnTo>
                    <a:pt x="10477" y="157712"/>
                  </a:lnTo>
                  <a:lnTo>
                    <a:pt x="20326" y="165831"/>
                  </a:lnTo>
                  <a:lnTo>
                    <a:pt x="30175" y="178096"/>
                  </a:lnTo>
                  <a:lnTo>
                    <a:pt x="45263" y="186733"/>
                  </a:lnTo>
                  <a:lnTo>
                    <a:pt x="60769" y="194852"/>
                  </a:lnTo>
                  <a:lnTo>
                    <a:pt x="75857" y="203316"/>
                  </a:lnTo>
                  <a:lnTo>
                    <a:pt x="115881" y="219899"/>
                  </a:lnTo>
                  <a:lnTo>
                    <a:pt x="135998" y="224218"/>
                  </a:lnTo>
                  <a:lnTo>
                    <a:pt x="160935" y="232336"/>
                  </a:lnTo>
                  <a:lnTo>
                    <a:pt x="186291" y="236482"/>
                  </a:lnTo>
                  <a:lnTo>
                    <a:pt x="211227" y="236482"/>
                  </a:lnTo>
                  <a:lnTo>
                    <a:pt x="236792" y="240455"/>
                  </a:lnTo>
                  <a:lnTo>
                    <a:pt x="292324" y="240455"/>
                  </a:lnTo>
                  <a:lnTo>
                    <a:pt x="317260" y="236482"/>
                  </a:lnTo>
                  <a:lnTo>
                    <a:pt x="342616" y="236482"/>
                  </a:lnTo>
                  <a:lnTo>
                    <a:pt x="367552" y="232336"/>
                  </a:lnTo>
                  <a:lnTo>
                    <a:pt x="387879" y="224218"/>
                  </a:lnTo>
                  <a:lnTo>
                    <a:pt x="412606" y="219899"/>
                  </a:lnTo>
                  <a:lnTo>
                    <a:pt x="432932" y="211435"/>
                  </a:lnTo>
                  <a:lnTo>
                    <a:pt x="448020" y="203316"/>
                  </a:lnTo>
                  <a:lnTo>
                    <a:pt x="468137" y="194852"/>
                  </a:lnTo>
                  <a:lnTo>
                    <a:pt x="483225" y="186733"/>
                  </a:lnTo>
                  <a:lnTo>
                    <a:pt x="508790" y="165831"/>
                  </a:lnTo>
                  <a:lnTo>
                    <a:pt x="513400" y="157712"/>
                  </a:lnTo>
                  <a:lnTo>
                    <a:pt x="523878" y="145275"/>
                  </a:lnTo>
                  <a:lnTo>
                    <a:pt x="523878" y="132492"/>
                  </a:lnTo>
                  <a:lnTo>
                    <a:pt x="528488" y="120227"/>
                  </a:lnTo>
                  <a:lnTo>
                    <a:pt x="523878" y="107790"/>
                  </a:lnTo>
                  <a:lnTo>
                    <a:pt x="523878" y="95525"/>
                  </a:lnTo>
                  <a:lnTo>
                    <a:pt x="513400" y="83088"/>
                  </a:lnTo>
                  <a:lnTo>
                    <a:pt x="508790" y="74624"/>
                  </a:lnTo>
                  <a:lnTo>
                    <a:pt x="468137" y="41285"/>
                  </a:lnTo>
                  <a:lnTo>
                    <a:pt x="448020" y="33339"/>
                  </a:lnTo>
                  <a:lnTo>
                    <a:pt x="432932" y="24701"/>
                  </a:lnTo>
                  <a:lnTo>
                    <a:pt x="412606" y="20901"/>
                  </a:lnTo>
                  <a:lnTo>
                    <a:pt x="387879" y="12437"/>
                  </a:lnTo>
                  <a:lnTo>
                    <a:pt x="367552" y="8118"/>
                  </a:lnTo>
                  <a:lnTo>
                    <a:pt x="342616" y="4318"/>
                  </a:lnTo>
                  <a:lnTo>
                    <a:pt x="317260" y="0"/>
                  </a:lnTo>
                  <a:close/>
                </a:path>
              </a:pathLst>
            </a:custGeom>
            <a:solidFill>
              <a:srgbClr val="DBF7D1"/>
            </a:solidFill>
          </p:spPr>
          <p:txBody>
            <a:bodyPr wrap="square" lIns="0" tIns="0" rIns="0" bIns="0" rtlCol="0"/>
            <a:lstStyle/>
            <a:p/>
          </p:txBody>
        </p:sp>
        <p:sp>
          <p:nvSpPr>
            <p:cNvPr id="8" name="object 8" descr=""/>
            <p:cNvSpPr/>
            <p:nvPr/>
          </p:nvSpPr>
          <p:spPr>
            <a:xfrm>
              <a:off x="5461197" y="3469798"/>
              <a:ext cx="528955" cy="240665"/>
            </a:xfrm>
            <a:custGeom>
              <a:avLst/>
              <a:gdLst/>
              <a:ahLst/>
              <a:cxnLst/>
              <a:rect l="l" t="t" r="r" b="b"/>
              <a:pathLst>
                <a:path w="528954" h="240664">
                  <a:moveTo>
                    <a:pt x="261729" y="0"/>
                  </a:moveTo>
                  <a:lnTo>
                    <a:pt x="236792" y="0"/>
                  </a:lnTo>
                  <a:lnTo>
                    <a:pt x="211227" y="0"/>
                  </a:lnTo>
                  <a:lnTo>
                    <a:pt x="186291" y="4318"/>
                  </a:lnTo>
                  <a:lnTo>
                    <a:pt x="160935" y="8118"/>
                  </a:lnTo>
                  <a:lnTo>
                    <a:pt x="135998" y="12437"/>
                  </a:lnTo>
                  <a:lnTo>
                    <a:pt x="115881" y="20901"/>
                  </a:lnTo>
                  <a:lnTo>
                    <a:pt x="95555" y="24701"/>
                  </a:lnTo>
                  <a:lnTo>
                    <a:pt x="75857" y="33339"/>
                  </a:lnTo>
                  <a:lnTo>
                    <a:pt x="60769" y="41285"/>
                  </a:lnTo>
                  <a:lnTo>
                    <a:pt x="45263" y="53722"/>
                  </a:lnTo>
                  <a:lnTo>
                    <a:pt x="30175" y="62186"/>
                  </a:lnTo>
                  <a:lnTo>
                    <a:pt x="20326" y="74624"/>
                  </a:lnTo>
                  <a:lnTo>
                    <a:pt x="10477" y="83088"/>
                  </a:lnTo>
                  <a:lnTo>
                    <a:pt x="5238" y="95525"/>
                  </a:lnTo>
                  <a:lnTo>
                    <a:pt x="0" y="107790"/>
                  </a:lnTo>
                  <a:lnTo>
                    <a:pt x="0" y="120227"/>
                  </a:lnTo>
                  <a:lnTo>
                    <a:pt x="0" y="132492"/>
                  </a:lnTo>
                  <a:lnTo>
                    <a:pt x="5238" y="145275"/>
                  </a:lnTo>
                  <a:lnTo>
                    <a:pt x="10477" y="157712"/>
                  </a:lnTo>
                  <a:lnTo>
                    <a:pt x="20326" y="165831"/>
                  </a:lnTo>
                  <a:lnTo>
                    <a:pt x="30175" y="178096"/>
                  </a:lnTo>
                  <a:lnTo>
                    <a:pt x="45263" y="186733"/>
                  </a:lnTo>
                  <a:lnTo>
                    <a:pt x="60769" y="194852"/>
                  </a:lnTo>
                  <a:lnTo>
                    <a:pt x="75857" y="203316"/>
                  </a:lnTo>
                  <a:lnTo>
                    <a:pt x="95555" y="211435"/>
                  </a:lnTo>
                  <a:lnTo>
                    <a:pt x="115881" y="219899"/>
                  </a:lnTo>
                  <a:lnTo>
                    <a:pt x="135998" y="224218"/>
                  </a:lnTo>
                  <a:lnTo>
                    <a:pt x="160935" y="232336"/>
                  </a:lnTo>
                  <a:lnTo>
                    <a:pt x="186291" y="236482"/>
                  </a:lnTo>
                  <a:lnTo>
                    <a:pt x="211227" y="236482"/>
                  </a:lnTo>
                  <a:lnTo>
                    <a:pt x="236792" y="240455"/>
                  </a:lnTo>
                  <a:lnTo>
                    <a:pt x="261729" y="240455"/>
                  </a:lnTo>
                  <a:lnTo>
                    <a:pt x="292324" y="240455"/>
                  </a:lnTo>
                  <a:lnTo>
                    <a:pt x="317260" y="236482"/>
                  </a:lnTo>
                  <a:lnTo>
                    <a:pt x="342616" y="236482"/>
                  </a:lnTo>
                  <a:lnTo>
                    <a:pt x="367552" y="232336"/>
                  </a:lnTo>
                  <a:lnTo>
                    <a:pt x="387879" y="224218"/>
                  </a:lnTo>
                  <a:lnTo>
                    <a:pt x="412606" y="219899"/>
                  </a:lnTo>
                  <a:lnTo>
                    <a:pt x="432932" y="211435"/>
                  </a:lnTo>
                  <a:lnTo>
                    <a:pt x="448020" y="203316"/>
                  </a:lnTo>
                  <a:lnTo>
                    <a:pt x="468137" y="194852"/>
                  </a:lnTo>
                  <a:lnTo>
                    <a:pt x="483225" y="186733"/>
                  </a:lnTo>
                  <a:lnTo>
                    <a:pt x="493702" y="178096"/>
                  </a:lnTo>
                  <a:lnTo>
                    <a:pt x="508790" y="165831"/>
                  </a:lnTo>
                  <a:lnTo>
                    <a:pt x="513400" y="157712"/>
                  </a:lnTo>
                  <a:lnTo>
                    <a:pt x="523878" y="145275"/>
                  </a:lnTo>
                  <a:lnTo>
                    <a:pt x="523878" y="132492"/>
                  </a:lnTo>
                  <a:lnTo>
                    <a:pt x="528488" y="120227"/>
                  </a:lnTo>
                  <a:lnTo>
                    <a:pt x="523878" y="107790"/>
                  </a:lnTo>
                  <a:lnTo>
                    <a:pt x="523878" y="95525"/>
                  </a:lnTo>
                  <a:lnTo>
                    <a:pt x="513400" y="83088"/>
                  </a:lnTo>
                  <a:lnTo>
                    <a:pt x="508790" y="74624"/>
                  </a:lnTo>
                  <a:lnTo>
                    <a:pt x="493702" y="62186"/>
                  </a:lnTo>
                  <a:lnTo>
                    <a:pt x="483225" y="53722"/>
                  </a:lnTo>
                  <a:lnTo>
                    <a:pt x="468137" y="41285"/>
                  </a:lnTo>
                  <a:lnTo>
                    <a:pt x="448020" y="33339"/>
                  </a:lnTo>
                  <a:lnTo>
                    <a:pt x="432932" y="24701"/>
                  </a:lnTo>
                  <a:lnTo>
                    <a:pt x="412606" y="20901"/>
                  </a:lnTo>
                  <a:lnTo>
                    <a:pt x="387879" y="12437"/>
                  </a:lnTo>
                  <a:lnTo>
                    <a:pt x="367552" y="8118"/>
                  </a:lnTo>
                  <a:lnTo>
                    <a:pt x="342616" y="4318"/>
                  </a:lnTo>
                  <a:lnTo>
                    <a:pt x="317260" y="0"/>
                  </a:lnTo>
                  <a:lnTo>
                    <a:pt x="292324" y="0"/>
                  </a:lnTo>
                  <a:lnTo>
                    <a:pt x="261729" y="0"/>
                  </a:lnTo>
                </a:path>
              </a:pathLst>
            </a:custGeom>
            <a:ln w="12862">
              <a:solidFill>
                <a:srgbClr val="000000"/>
              </a:solidFill>
            </a:ln>
          </p:spPr>
          <p:txBody>
            <a:bodyPr wrap="square" lIns="0" tIns="0" rIns="0" bIns="0" rtlCol="0"/>
            <a:lstStyle/>
            <a:p/>
          </p:txBody>
        </p:sp>
        <p:sp>
          <p:nvSpPr>
            <p:cNvPr id="9" name="object 9" descr=""/>
            <p:cNvSpPr/>
            <p:nvPr/>
          </p:nvSpPr>
          <p:spPr>
            <a:xfrm>
              <a:off x="8743189" y="5854761"/>
              <a:ext cx="1344295" cy="403225"/>
            </a:xfrm>
            <a:custGeom>
              <a:avLst/>
              <a:gdLst/>
              <a:ahLst/>
              <a:cxnLst/>
              <a:rect l="l" t="t" r="r" b="b"/>
              <a:pathLst>
                <a:path w="1344295" h="403225">
                  <a:moveTo>
                    <a:pt x="1343852" y="0"/>
                  </a:moveTo>
                  <a:lnTo>
                    <a:pt x="0" y="0"/>
                  </a:lnTo>
                  <a:lnTo>
                    <a:pt x="0" y="402746"/>
                  </a:lnTo>
                  <a:lnTo>
                    <a:pt x="1343852" y="402746"/>
                  </a:lnTo>
                  <a:lnTo>
                    <a:pt x="1343852" y="0"/>
                  </a:lnTo>
                  <a:close/>
                </a:path>
              </a:pathLst>
            </a:custGeom>
            <a:solidFill>
              <a:srgbClr val="CCFFFF"/>
            </a:solidFill>
          </p:spPr>
          <p:txBody>
            <a:bodyPr wrap="square" lIns="0" tIns="0" rIns="0" bIns="0" rtlCol="0"/>
            <a:lstStyle/>
            <a:p/>
          </p:txBody>
        </p:sp>
        <p:sp>
          <p:nvSpPr>
            <p:cNvPr id="10" name="object 10" descr=""/>
            <p:cNvSpPr/>
            <p:nvPr/>
          </p:nvSpPr>
          <p:spPr>
            <a:xfrm>
              <a:off x="8743189" y="5854761"/>
              <a:ext cx="1344295" cy="403225"/>
            </a:xfrm>
            <a:custGeom>
              <a:avLst/>
              <a:gdLst/>
              <a:ahLst/>
              <a:cxnLst/>
              <a:rect l="l" t="t" r="r" b="b"/>
              <a:pathLst>
                <a:path w="1344295" h="403225">
                  <a:moveTo>
                    <a:pt x="0" y="402746"/>
                  </a:moveTo>
                  <a:lnTo>
                    <a:pt x="1343852" y="402746"/>
                  </a:lnTo>
                  <a:lnTo>
                    <a:pt x="1343852" y="0"/>
                  </a:lnTo>
                  <a:lnTo>
                    <a:pt x="0" y="0"/>
                  </a:lnTo>
                  <a:lnTo>
                    <a:pt x="0" y="402746"/>
                  </a:lnTo>
                  <a:close/>
                </a:path>
              </a:pathLst>
            </a:custGeom>
            <a:ln w="12626">
              <a:solidFill>
                <a:srgbClr val="000000"/>
              </a:solidFill>
            </a:ln>
          </p:spPr>
          <p:txBody>
            <a:bodyPr wrap="square" lIns="0" tIns="0" rIns="0" bIns="0" rtlCol="0"/>
            <a:lstStyle/>
            <a:p/>
          </p:txBody>
        </p:sp>
        <p:sp>
          <p:nvSpPr>
            <p:cNvPr id="11" name="object 11" descr=""/>
            <p:cNvSpPr/>
            <p:nvPr/>
          </p:nvSpPr>
          <p:spPr>
            <a:xfrm>
              <a:off x="7550424" y="4834470"/>
              <a:ext cx="1258570" cy="241300"/>
            </a:xfrm>
            <a:custGeom>
              <a:avLst/>
              <a:gdLst/>
              <a:ahLst/>
              <a:cxnLst/>
              <a:rect l="l" t="t" r="r" b="b"/>
              <a:pathLst>
                <a:path w="1258570" h="241300">
                  <a:moveTo>
                    <a:pt x="1258208" y="0"/>
                  </a:moveTo>
                  <a:lnTo>
                    <a:pt x="0" y="0"/>
                  </a:lnTo>
                  <a:lnTo>
                    <a:pt x="0" y="240801"/>
                  </a:lnTo>
                  <a:lnTo>
                    <a:pt x="1258208" y="240801"/>
                  </a:lnTo>
                  <a:lnTo>
                    <a:pt x="1258208" y="0"/>
                  </a:lnTo>
                  <a:close/>
                </a:path>
              </a:pathLst>
            </a:custGeom>
            <a:solidFill>
              <a:srgbClr val="FFCCCC"/>
            </a:solidFill>
          </p:spPr>
          <p:txBody>
            <a:bodyPr wrap="square" lIns="0" tIns="0" rIns="0" bIns="0" rtlCol="0"/>
            <a:lstStyle/>
            <a:p/>
          </p:txBody>
        </p:sp>
        <p:sp>
          <p:nvSpPr>
            <p:cNvPr id="12" name="object 12" descr=""/>
            <p:cNvSpPr/>
            <p:nvPr/>
          </p:nvSpPr>
          <p:spPr>
            <a:xfrm>
              <a:off x="7550424" y="4834470"/>
              <a:ext cx="1258570" cy="241300"/>
            </a:xfrm>
            <a:custGeom>
              <a:avLst/>
              <a:gdLst/>
              <a:ahLst/>
              <a:cxnLst/>
              <a:rect l="l" t="t" r="r" b="b"/>
              <a:pathLst>
                <a:path w="1258570" h="241300">
                  <a:moveTo>
                    <a:pt x="0" y="240801"/>
                  </a:moveTo>
                  <a:lnTo>
                    <a:pt x="1258208" y="240801"/>
                  </a:lnTo>
                  <a:lnTo>
                    <a:pt x="1258208" y="0"/>
                  </a:lnTo>
                  <a:lnTo>
                    <a:pt x="0" y="0"/>
                  </a:lnTo>
                  <a:lnTo>
                    <a:pt x="0" y="240801"/>
                  </a:lnTo>
                  <a:close/>
                </a:path>
              </a:pathLst>
            </a:custGeom>
            <a:ln w="12502">
              <a:solidFill>
                <a:srgbClr val="000000"/>
              </a:solidFill>
            </a:ln>
          </p:spPr>
          <p:txBody>
            <a:bodyPr wrap="square" lIns="0" tIns="0" rIns="0" bIns="0" rtlCol="0"/>
            <a:lstStyle/>
            <a:p/>
          </p:txBody>
        </p:sp>
        <p:sp>
          <p:nvSpPr>
            <p:cNvPr id="13" name="object 13" descr=""/>
            <p:cNvSpPr/>
            <p:nvPr/>
          </p:nvSpPr>
          <p:spPr>
            <a:xfrm>
              <a:off x="4953077" y="1404107"/>
              <a:ext cx="418465" cy="236854"/>
            </a:xfrm>
            <a:custGeom>
              <a:avLst/>
              <a:gdLst/>
              <a:ahLst/>
              <a:cxnLst/>
              <a:rect l="l" t="t" r="r" b="b"/>
              <a:pathLst>
                <a:path w="418464" h="236855">
                  <a:moveTo>
                    <a:pt x="417845" y="0"/>
                  </a:moveTo>
                  <a:lnTo>
                    <a:pt x="0" y="0"/>
                  </a:lnTo>
                  <a:lnTo>
                    <a:pt x="0" y="236534"/>
                  </a:lnTo>
                  <a:lnTo>
                    <a:pt x="417845" y="236534"/>
                  </a:lnTo>
                  <a:lnTo>
                    <a:pt x="417845" y="0"/>
                  </a:lnTo>
                  <a:close/>
                </a:path>
              </a:pathLst>
            </a:custGeom>
            <a:solidFill>
              <a:srgbClr val="CCFFCC"/>
            </a:solidFill>
          </p:spPr>
          <p:txBody>
            <a:bodyPr wrap="square" lIns="0" tIns="0" rIns="0" bIns="0" rtlCol="0"/>
            <a:lstStyle/>
            <a:p/>
          </p:txBody>
        </p:sp>
        <p:sp>
          <p:nvSpPr>
            <p:cNvPr id="14" name="object 14" descr=""/>
            <p:cNvSpPr/>
            <p:nvPr/>
          </p:nvSpPr>
          <p:spPr>
            <a:xfrm>
              <a:off x="4323439" y="1412278"/>
              <a:ext cx="624840" cy="241300"/>
            </a:xfrm>
            <a:custGeom>
              <a:avLst/>
              <a:gdLst/>
              <a:ahLst/>
              <a:cxnLst/>
              <a:rect l="l" t="t" r="r" b="b"/>
              <a:pathLst>
                <a:path w="624839" h="241300">
                  <a:moveTo>
                    <a:pt x="624441" y="0"/>
                  </a:moveTo>
                  <a:lnTo>
                    <a:pt x="0" y="0"/>
                  </a:lnTo>
                  <a:lnTo>
                    <a:pt x="0" y="240801"/>
                  </a:lnTo>
                  <a:lnTo>
                    <a:pt x="624441" y="240801"/>
                  </a:lnTo>
                  <a:lnTo>
                    <a:pt x="624441" y="0"/>
                  </a:lnTo>
                  <a:close/>
                </a:path>
              </a:pathLst>
            </a:custGeom>
            <a:solidFill>
              <a:srgbClr val="FFFFCC"/>
            </a:solidFill>
          </p:spPr>
          <p:txBody>
            <a:bodyPr wrap="square" lIns="0" tIns="0" rIns="0" bIns="0" rtlCol="0"/>
            <a:lstStyle/>
            <a:p/>
          </p:txBody>
        </p:sp>
        <p:sp>
          <p:nvSpPr>
            <p:cNvPr id="15" name="object 15" descr=""/>
            <p:cNvSpPr/>
            <p:nvPr/>
          </p:nvSpPr>
          <p:spPr>
            <a:xfrm>
              <a:off x="4323439" y="1412278"/>
              <a:ext cx="624840" cy="241300"/>
            </a:xfrm>
            <a:custGeom>
              <a:avLst/>
              <a:gdLst/>
              <a:ahLst/>
              <a:cxnLst/>
              <a:rect l="l" t="t" r="r" b="b"/>
              <a:pathLst>
                <a:path w="624839" h="241300">
                  <a:moveTo>
                    <a:pt x="0" y="240801"/>
                  </a:moveTo>
                  <a:lnTo>
                    <a:pt x="624441" y="240801"/>
                  </a:lnTo>
                  <a:lnTo>
                    <a:pt x="624441" y="0"/>
                  </a:lnTo>
                  <a:lnTo>
                    <a:pt x="0" y="0"/>
                  </a:lnTo>
                  <a:lnTo>
                    <a:pt x="0" y="240801"/>
                  </a:lnTo>
                  <a:close/>
                </a:path>
              </a:pathLst>
            </a:custGeom>
            <a:ln w="12750">
              <a:solidFill>
                <a:srgbClr val="000000"/>
              </a:solidFill>
            </a:ln>
          </p:spPr>
          <p:txBody>
            <a:bodyPr wrap="square" lIns="0" tIns="0" rIns="0" bIns="0" rtlCol="0"/>
            <a:lstStyle/>
            <a:p/>
          </p:txBody>
        </p:sp>
        <p:sp>
          <p:nvSpPr>
            <p:cNvPr id="16" name="object 16" descr=""/>
            <p:cNvSpPr/>
            <p:nvPr/>
          </p:nvSpPr>
          <p:spPr>
            <a:xfrm>
              <a:off x="3442590" y="1412278"/>
              <a:ext cx="876300" cy="241300"/>
            </a:xfrm>
            <a:custGeom>
              <a:avLst/>
              <a:gdLst/>
              <a:ahLst/>
              <a:cxnLst/>
              <a:rect l="l" t="t" r="r" b="b"/>
              <a:pathLst>
                <a:path w="876300" h="241300">
                  <a:moveTo>
                    <a:pt x="876175" y="0"/>
                  </a:moveTo>
                  <a:lnTo>
                    <a:pt x="0" y="0"/>
                  </a:lnTo>
                  <a:lnTo>
                    <a:pt x="0" y="240801"/>
                  </a:lnTo>
                  <a:lnTo>
                    <a:pt x="876175" y="240801"/>
                  </a:lnTo>
                  <a:lnTo>
                    <a:pt x="876175" y="0"/>
                  </a:lnTo>
                  <a:close/>
                </a:path>
              </a:pathLst>
            </a:custGeom>
            <a:solidFill>
              <a:srgbClr val="FFFF99"/>
            </a:solidFill>
          </p:spPr>
          <p:txBody>
            <a:bodyPr wrap="square" lIns="0" tIns="0" rIns="0" bIns="0" rtlCol="0"/>
            <a:lstStyle/>
            <a:p/>
          </p:txBody>
        </p:sp>
        <p:sp>
          <p:nvSpPr>
            <p:cNvPr id="17" name="object 17" descr=""/>
            <p:cNvSpPr/>
            <p:nvPr/>
          </p:nvSpPr>
          <p:spPr>
            <a:xfrm>
              <a:off x="3442590" y="1412278"/>
              <a:ext cx="876300" cy="241300"/>
            </a:xfrm>
            <a:custGeom>
              <a:avLst/>
              <a:gdLst/>
              <a:ahLst/>
              <a:cxnLst/>
              <a:rect l="l" t="t" r="r" b="b"/>
              <a:pathLst>
                <a:path w="876300" h="241300">
                  <a:moveTo>
                    <a:pt x="0" y="240801"/>
                  </a:moveTo>
                  <a:lnTo>
                    <a:pt x="876175" y="240801"/>
                  </a:lnTo>
                  <a:lnTo>
                    <a:pt x="876175" y="0"/>
                  </a:lnTo>
                  <a:lnTo>
                    <a:pt x="0" y="0"/>
                  </a:lnTo>
                  <a:lnTo>
                    <a:pt x="0" y="240801"/>
                  </a:lnTo>
                  <a:close/>
                </a:path>
              </a:pathLst>
            </a:custGeom>
            <a:ln w="12594">
              <a:solidFill>
                <a:srgbClr val="000000"/>
              </a:solidFill>
            </a:ln>
          </p:spPr>
          <p:txBody>
            <a:bodyPr wrap="square" lIns="0" tIns="0" rIns="0" bIns="0" rtlCol="0"/>
            <a:lstStyle/>
            <a:p/>
          </p:txBody>
        </p:sp>
        <p:sp>
          <p:nvSpPr>
            <p:cNvPr id="18" name="object 18" descr=""/>
            <p:cNvSpPr/>
            <p:nvPr/>
          </p:nvSpPr>
          <p:spPr>
            <a:xfrm>
              <a:off x="9448120" y="1084501"/>
              <a:ext cx="1032510" cy="805180"/>
            </a:xfrm>
            <a:custGeom>
              <a:avLst/>
              <a:gdLst/>
              <a:ahLst/>
              <a:cxnLst/>
              <a:rect l="l" t="t" r="r" b="b"/>
              <a:pathLst>
                <a:path w="1032509" h="805180">
                  <a:moveTo>
                    <a:pt x="1031893" y="0"/>
                  </a:moveTo>
                  <a:lnTo>
                    <a:pt x="0" y="0"/>
                  </a:lnTo>
                  <a:lnTo>
                    <a:pt x="0" y="805060"/>
                  </a:lnTo>
                  <a:lnTo>
                    <a:pt x="1031893" y="805060"/>
                  </a:lnTo>
                  <a:lnTo>
                    <a:pt x="1031893" y="0"/>
                  </a:lnTo>
                  <a:close/>
                </a:path>
              </a:pathLst>
            </a:custGeom>
            <a:solidFill>
              <a:srgbClr val="FFCCCC"/>
            </a:solidFill>
          </p:spPr>
          <p:txBody>
            <a:bodyPr wrap="square" lIns="0" tIns="0" rIns="0" bIns="0" rtlCol="0"/>
            <a:lstStyle/>
            <a:p/>
          </p:txBody>
        </p:sp>
        <p:sp>
          <p:nvSpPr>
            <p:cNvPr id="19" name="object 19" descr=""/>
            <p:cNvSpPr/>
            <p:nvPr/>
          </p:nvSpPr>
          <p:spPr>
            <a:xfrm>
              <a:off x="3458159" y="1084501"/>
              <a:ext cx="7022465" cy="805180"/>
            </a:xfrm>
            <a:custGeom>
              <a:avLst/>
              <a:gdLst/>
              <a:ahLst/>
              <a:cxnLst/>
              <a:rect l="l" t="t" r="r" b="b"/>
              <a:pathLst>
                <a:path w="7022465" h="805180">
                  <a:moveTo>
                    <a:pt x="5989960" y="805060"/>
                  </a:moveTo>
                  <a:lnTo>
                    <a:pt x="7021853" y="805060"/>
                  </a:lnTo>
                  <a:lnTo>
                    <a:pt x="7021853" y="0"/>
                  </a:lnTo>
                  <a:lnTo>
                    <a:pt x="5989960" y="0"/>
                  </a:lnTo>
                  <a:lnTo>
                    <a:pt x="5989960" y="805060"/>
                  </a:lnTo>
                  <a:close/>
                </a:path>
                <a:path w="7022465" h="805180">
                  <a:moveTo>
                    <a:pt x="0" y="564259"/>
                  </a:moveTo>
                  <a:lnTo>
                    <a:pt x="1912763" y="564259"/>
                  </a:lnTo>
                  <a:lnTo>
                    <a:pt x="1912763" y="323889"/>
                  </a:lnTo>
                  <a:lnTo>
                    <a:pt x="0" y="323889"/>
                  </a:lnTo>
                  <a:lnTo>
                    <a:pt x="0" y="564259"/>
                  </a:lnTo>
                  <a:close/>
                </a:path>
              </a:pathLst>
            </a:custGeom>
            <a:ln w="13730">
              <a:solidFill>
                <a:srgbClr val="000000"/>
              </a:solidFill>
            </a:ln>
          </p:spPr>
          <p:txBody>
            <a:bodyPr wrap="square" lIns="0" tIns="0" rIns="0" bIns="0" rtlCol="0"/>
            <a:lstStyle/>
            <a:p/>
          </p:txBody>
        </p:sp>
      </p:grpSp>
      <p:sp>
        <p:nvSpPr>
          <p:cNvPr id="20" name="object 20" descr=""/>
          <p:cNvSpPr txBox="1"/>
          <p:nvPr/>
        </p:nvSpPr>
        <p:spPr>
          <a:xfrm>
            <a:off x="4960096" y="847410"/>
            <a:ext cx="408940" cy="563880"/>
          </a:xfrm>
          <a:prstGeom prst="rect">
            <a:avLst/>
          </a:prstGeom>
        </p:spPr>
        <p:txBody>
          <a:bodyPr wrap="square" lIns="0" tIns="28575" rIns="0" bIns="0" rtlCol="0" vert="horz">
            <a:spAutoFit/>
          </a:bodyPr>
          <a:lstStyle/>
          <a:p>
            <a:pPr algn="ctr" marL="12700" marR="5080">
              <a:lnSpc>
                <a:spcPct val="91400"/>
              </a:lnSpc>
              <a:spcBef>
                <a:spcPts val="225"/>
              </a:spcBef>
            </a:pPr>
            <a:r>
              <a:rPr dirty="0" sz="1250" spc="220" b="1">
                <a:latin typeface="宋体"/>
                <a:cs typeface="宋体"/>
              </a:rPr>
              <a:t>块内位移</a:t>
            </a:r>
            <a:r>
              <a:rPr dirty="0" sz="1250" spc="195" b="1">
                <a:latin typeface="宋体"/>
                <a:cs typeface="宋体"/>
              </a:rPr>
              <a:t> </a:t>
            </a:r>
            <a:r>
              <a:rPr dirty="0" sz="1250" spc="75" b="1">
                <a:latin typeface="宋体"/>
                <a:cs typeface="宋体"/>
              </a:rPr>
              <a:t>6</a:t>
            </a:r>
            <a:endParaRPr sz="1250">
              <a:latin typeface="宋体"/>
              <a:cs typeface="宋体"/>
            </a:endParaRPr>
          </a:p>
        </p:txBody>
      </p:sp>
      <p:sp>
        <p:nvSpPr>
          <p:cNvPr id="21" name="object 21" descr=""/>
          <p:cNvSpPr txBox="1"/>
          <p:nvPr/>
        </p:nvSpPr>
        <p:spPr>
          <a:xfrm>
            <a:off x="3442590" y="1412278"/>
            <a:ext cx="876300" cy="241300"/>
          </a:xfrm>
          <a:prstGeom prst="rect">
            <a:avLst/>
          </a:prstGeom>
        </p:spPr>
        <p:txBody>
          <a:bodyPr wrap="square" lIns="0" tIns="10795" rIns="0" bIns="0" rtlCol="0" vert="horz">
            <a:spAutoFit/>
          </a:bodyPr>
          <a:lstStyle/>
          <a:p>
            <a:pPr marL="231775">
              <a:lnSpc>
                <a:spcPct val="100000"/>
              </a:lnSpc>
              <a:spcBef>
                <a:spcPts val="85"/>
              </a:spcBef>
            </a:pPr>
            <a:r>
              <a:rPr dirty="0" sz="1250" spc="220" b="1">
                <a:solidFill>
                  <a:srgbClr val="0000FF"/>
                </a:solidFill>
                <a:latin typeface="宋体"/>
                <a:cs typeface="宋体"/>
              </a:rPr>
              <a:t>标识</a:t>
            </a:r>
            <a:endParaRPr sz="1250">
              <a:latin typeface="宋体"/>
              <a:cs typeface="宋体"/>
            </a:endParaRPr>
          </a:p>
        </p:txBody>
      </p:sp>
      <p:sp>
        <p:nvSpPr>
          <p:cNvPr id="22" name="object 22" descr=""/>
          <p:cNvSpPr txBox="1"/>
          <p:nvPr/>
        </p:nvSpPr>
        <p:spPr>
          <a:xfrm>
            <a:off x="4321116" y="1411238"/>
            <a:ext cx="624840" cy="215900"/>
          </a:xfrm>
          <a:prstGeom prst="rect">
            <a:avLst/>
          </a:prstGeom>
        </p:spPr>
        <p:txBody>
          <a:bodyPr wrap="square" lIns="0" tIns="12065" rIns="0" bIns="0" rtlCol="0" vert="horz">
            <a:spAutoFit/>
          </a:bodyPr>
          <a:lstStyle/>
          <a:p>
            <a:pPr marL="148590">
              <a:lnSpc>
                <a:spcPct val="100000"/>
              </a:lnSpc>
              <a:spcBef>
                <a:spcPts val="95"/>
              </a:spcBef>
            </a:pPr>
            <a:r>
              <a:rPr dirty="0" sz="1250" spc="220" b="1">
                <a:solidFill>
                  <a:srgbClr val="0000FF"/>
                </a:solidFill>
                <a:latin typeface="宋体"/>
                <a:cs typeface="宋体"/>
              </a:rPr>
              <a:t>索引</a:t>
            </a:r>
            <a:endParaRPr sz="1250">
              <a:latin typeface="宋体"/>
              <a:cs typeface="宋体"/>
            </a:endParaRPr>
          </a:p>
        </p:txBody>
      </p:sp>
      <p:sp>
        <p:nvSpPr>
          <p:cNvPr id="23" name="object 23" descr=""/>
          <p:cNvSpPr/>
          <p:nvPr/>
        </p:nvSpPr>
        <p:spPr>
          <a:xfrm>
            <a:off x="4313589" y="1408305"/>
            <a:ext cx="2668270" cy="2675255"/>
          </a:xfrm>
          <a:custGeom>
            <a:avLst/>
            <a:gdLst/>
            <a:ahLst/>
            <a:cxnLst/>
            <a:rect l="l" t="t" r="r" b="b"/>
            <a:pathLst>
              <a:path w="2668270" h="2675254">
                <a:moveTo>
                  <a:pt x="840866" y="373466"/>
                </a:moveTo>
                <a:lnTo>
                  <a:pt x="2667902" y="373466"/>
                </a:lnTo>
              </a:path>
              <a:path w="2668270" h="2675254">
                <a:moveTo>
                  <a:pt x="332201" y="240455"/>
                </a:moveTo>
                <a:lnTo>
                  <a:pt x="332201" y="2675242"/>
                </a:lnTo>
              </a:path>
              <a:path w="2668270" h="2675254">
                <a:moveTo>
                  <a:pt x="332201" y="481256"/>
                </a:moveTo>
                <a:lnTo>
                  <a:pt x="2511786" y="481256"/>
                </a:lnTo>
              </a:path>
              <a:path w="2668270" h="2675254">
                <a:moveTo>
                  <a:pt x="639487" y="0"/>
                </a:moveTo>
                <a:lnTo>
                  <a:pt x="639487" y="240455"/>
                </a:lnTo>
              </a:path>
              <a:path w="2668270" h="2675254">
                <a:moveTo>
                  <a:pt x="0" y="0"/>
                </a:moveTo>
                <a:lnTo>
                  <a:pt x="0" y="240455"/>
                </a:lnTo>
              </a:path>
            </a:pathLst>
          </a:custGeom>
          <a:ln w="13730">
            <a:solidFill>
              <a:srgbClr val="000000"/>
            </a:solidFill>
          </a:ln>
        </p:spPr>
        <p:txBody>
          <a:bodyPr wrap="square" lIns="0" tIns="0" rIns="0" bIns="0" rtlCol="0"/>
          <a:lstStyle/>
          <a:p/>
        </p:txBody>
      </p:sp>
      <p:sp>
        <p:nvSpPr>
          <p:cNvPr id="24" name="object 24" descr=""/>
          <p:cNvSpPr txBox="1"/>
          <p:nvPr/>
        </p:nvSpPr>
        <p:spPr>
          <a:xfrm>
            <a:off x="4587933" y="1195657"/>
            <a:ext cx="121920" cy="215900"/>
          </a:xfrm>
          <a:prstGeom prst="rect">
            <a:avLst/>
          </a:prstGeom>
        </p:spPr>
        <p:txBody>
          <a:bodyPr wrap="square" lIns="0" tIns="12065" rIns="0" bIns="0" rtlCol="0" vert="horz">
            <a:spAutoFit/>
          </a:bodyPr>
          <a:lstStyle/>
          <a:p>
            <a:pPr marL="12700">
              <a:lnSpc>
                <a:spcPct val="100000"/>
              </a:lnSpc>
              <a:spcBef>
                <a:spcPts val="95"/>
              </a:spcBef>
            </a:pPr>
            <a:r>
              <a:rPr dirty="0" sz="1250" spc="75" b="1">
                <a:latin typeface="宋体"/>
                <a:cs typeface="宋体"/>
              </a:rPr>
              <a:t>9</a:t>
            </a:r>
            <a:endParaRPr sz="1250">
              <a:latin typeface="宋体"/>
              <a:cs typeface="宋体"/>
            </a:endParaRPr>
          </a:p>
        </p:txBody>
      </p:sp>
      <p:grpSp>
        <p:nvGrpSpPr>
          <p:cNvPr id="25" name="object 25" descr=""/>
          <p:cNvGrpSpPr/>
          <p:nvPr/>
        </p:nvGrpSpPr>
        <p:grpSpPr>
          <a:xfrm>
            <a:off x="4636821" y="2363678"/>
            <a:ext cx="1622425" cy="872490"/>
            <a:chOff x="4636821" y="2363678"/>
            <a:chExt cx="1622425" cy="872490"/>
          </a:xfrm>
        </p:grpSpPr>
        <p:sp>
          <p:nvSpPr>
            <p:cNvPr id="26" name="object 26" descr=""/>
            <p:cNvSpPr/>
            <p:nvPr/>
          </p:nvSpPr>
          <p:spPr>
            <a:xfrm>
              <a:off x="4639044" y="2580353"/>
              <a:ext cx="534035" cy="71120"/>
            </a:xfrm>
            <a:custGeom>
              <a:avLst/>
              <a:gdLst/>
              <a:ahLst/>
              <a:cxnLst/>
              <a:rect l="l" t="t" r="r" b="b"/>
              <a:pathLst>
                <a:path w="534035" h="71119">
                  <a:moveTo>
                    <a:pt x="407451" y="0"/>
                  </a:moveTo>
                  <a:lnTo>
                    <a:pt x="453133" y="33339"/>
                  </a:lnTo>
                  <a:lnTo>
                    <a:pt x="407451" y="70823"/>
                  </a:lnTo>
                  <a:lnTo>
                    <a:pt x="505099" y="41803"/>
                  </a:lnTo>
                  <a:lnTo>
                    <a:pt x="457806" y="41803"/>
                  </a:lnTo>
                  <a:lnTo>
                    <a:pt x="463003" y="37484"/>
                  </a:lnTo>
                  <a:lnTo>
                    <a:pt x="463003" y="29020"/>
                  </a:lnTo>
                  <a:lnTo>
                    <a:pt x="457806" y="29020"/>
                  </a:lnTo>
                  <a:lnTo>
                    <a:pt x="453133" y="25220"/>
                  </a:lnTo>
                  <a:lnTo>
                    <a:pt x="502865" y="25220"/>
                  </a:lnTo>
                  <a:lnTo>
                    <a:pt x="407451" y="0"/>
                  </a:lnTo>
                  <a:close/>
                </a:path>
                <a:path w="534035" h="71119">
                  <a:moveTo>
                    <a:pt x="442008" y="25220"/>
                  </a:moveTo>
                  <a:lnTo>
                    <a:pt x="4652" y="25220"/>
                  </a:lnTo>
                  <a:lnTo>
                    <a:pt x="0" y="29020"/>
                  </a:lnTo>
                  <a:lnTo>
                    <a:pt x="0" y="41803"/>
                  </a:lnTo>
                  <a:lnTo>
                    <a:pt x="442818" y="41803"/>
                  </a:lnTo>
                  <a:lnTo>
                    <a:pt x="453133" y="33339"/>
                  </a:lnTo>
                  <a:lnTo>
                    <a:pt x="442008" y="25220"/>
                  </a:lnTo>
                  <a:close/>
                </a:path>
                <a:path w="534035" h="71119">
                  <a:moveTo>
                    <a:pt x="502865" y="25220"/>
                  </a:moveTo>
                  <a:lnTo>
                    <a:pt x="453133" y="25220"/>
                  </a:lnTo>
                  <a:lnTo>
                    <a:pt x="457806" y="29020"/>
                  </a:lnTo>
                  <a:lnTo>
                    <a:pt x="463003" y="29020"/>
                  </a:lnTo>
                  <a:lnTo>
                    <a:pt x="463003" y="37484"/>
                  </a:lnTo>
                  <a:lnTo>
                    <a:pt x="457806" y="41803"/>
                  </a:lnTo>
                  <a:lnTo>
                    <a:pt x="505099" y="41803"/>
                  </a:lnTo>
                  <a:lnTo>
                    <a:pt x="533580" y="33339"/>
                  </a:lnTo>
                  <a:lnTo>
                    <a:pt x="502865" y="25220"/>
                  </a:lnTo>
                  <a:close/>
                </a:path>
              </a:pathLst>
            </a:custGeom>
            <a:solidFill>
              <a:srgbClr val="000000"/>
            </a:solidFill>
          </p:spPr>
          <p:txBody>
            <a:bodyPr wrap="square" lIns="0" tIns="0" rIns="0" bIns="0" rtlCol="0"/>
            <a:lstStyle/>
            <a:p/>
          </p:txBody>
        </p:sp>
        <p:sp>
          <p:nvSpPr>
            <p:cNvPr id="27" name="object 27" descr=""/>
            <p:cNvSpPr/>
            <p:nvPr/>
          </p:nvSpPr>
          <p:spPr>
            <a:xfrm>
              <a:off x="4639044" y="2580353"/>
              <a:ext cx="534035" cy="71120"/>
            </a:xfrm>
            <a:custGeom>
              <a:avLst/>
              <a:gdLst/>
              <a:ahLst/>
              <a:cxnLst/>
              <a:rect l="l" t="t" r="r" b="b"/>
              <a:pathLst>
                <a:path w="534035" h="71119">
                  <a:moveTo>
                    <a:pt x="9848" y="25220"/>
                  </a:moveTo>
                  <a:lnTo>
                    <a:pt x="453133" y="25220"/>
                  </a:lnTo>
                  <a:lnTo>
                    <a:pt x="457806" y="29020"/>
                  </a:lnTo>
                  <a:lnTo>
                    <a:pt x="463003" y="29020"/>
                  </a:lnTo>
                  <a:lnTo>
                    <a:pt x="463003" y="33339"/>
                  </a:lnTo>
                  <a:lnTo>
                    <a:pt x="463003" y="37484"/>
                  </a:lnTo>
                  <a:lnTo>
                    <a:pt x="457806" y="41803"/>
                  </a:lnTo>
                  <a:lnTo>
                    <a:pt x="0" y="41803"/>
                  </a:lnTo>
                  <a:lnTo>
                    <a:pt x="0" y="37484"/>
                  </a:lnTo>
                  <a:lnTo>
                    <a:pt x="0" y="33339"/>
                  </a:lnTo>
                  <a:lnTo>
                    <a:pt x="0" y="29020"/>
                  </a:lnTo>
                  <a:lnTo>
                    <a:pt x="4652" y="25220"/>
                  </a:lnTo>
                  <a:lnTo>
                    <a:pt x="9848" y="25220"/>
                  </a:lnTo>
                  <a:close/>
                </a:path>
                <a:path w="534035" h="71119">
                  <a:moveTo>
                    <a:pt x="453133" y="33339"/>
                  </a:moveTo>
                  <a:lnTo>
                    <a:pt x="407451" y="0"/>
                  </a:lnTo>
                  <a:lnTo>
                    <a:pt x="533580" y="33339"/>
                  </a:lnTo>
                  <a:lnTo>
                    <a:pt x="407451" y="70823"/>
                  </a:lnTo>
                  <a:lnTo>
                    <a:pt x="453133" y="33339"/>
                  </a:lnTo>
                  <a:close/>
                </a:path>
              </a:pathLst>
            </a:custGeom>
            <a:ln w="4734">
              <a:solidFill>
                <a:srgbClr val="000000"/>
              </a:solidFill>
            </a:ln>
          </p:spPr>
          <p:txBody>
            <a:bodyPr wrap="square" lIns="0" tIns="0" rIns="0" bIns="0" rtlCol="0"/>
            <a:lstStyle/>
            <a:p/>
          </p:txBody>
        </p:sp>
        <p:sp>
          <p:nvSpPr>
            <p:cNvPr id="28" name="object 28" descr=""/>
            <p:cNvSpPr/>
            <p:nvPr/>
          </p:nvSpPr>
          <p:spPr>
            <a:xfrm>
              <a:off x="5174196" y="2370663"/>
              <a:ext cx="1077595" cy="858519"/>
            </a:xfrm>
            <a:custGeom>
              <a:avLst/>
              <a:gdLst/>
              <a:ahLst/>
              <a:cxnLst/>
              <a:rect l="l" t="t" r="r" b="b"/>
              <a:pathLst>
                <a:path w="1077595" h="858519">
                  <a:moveTo>
                    <a:pt x="1077575" y="0"/>
                  </a:moveTo>
                  <a:lnTo>
                    <a:pt x="0" y="0"/>
                  </a:lnTo>
                  <a:lnTo>
                    <a:pt x="0" y="858333"/>
                  </a:lnTo>
                  <a:lnTo>
                    <a:pt x="1077575" y="858333"/>
                  </a:lnTo>
                  <a:lnTo>
                    <a:pt x="1077575" y="0"/>
                  </a:lnTo>
                  <a:close/>
                </a:path>
              </a:pathLst>
            </a:custGeom>
            <a:solidFill>
              <a:srgbClr val="FFCCFF"/>
            </a:solidFill>
          </p:spPr>
          <p:txBody>
            <a:bodyPr wrap="square" lIns="0" tIns="0" rIns="0" bIns="0" rtlCol="0"/>
            <a:lstStyle/>
            <a:p/>
          </p:txBody>
        </p:sp>
        <p:sp>
          <p:nvSpPr>
            <p:cNvPr id="29" name="object 29" descr=""/>
            <p:cNvSpPr/>
            <p:nvPr/>
          </p:nvSpPr>
          <p:spPr>
            <a:xfrm>
              <a:off x="5174196" y="2370663"/>
              <a:ext cx="1077595" cy="858519"/>
            </a:xfrm>
            <a:custGeom>
              <a:avLst/>
              <a:gdLst/>
              <a:ahLst/>
              <a:cxnLst/>
              <a:rect l="l" t="t" r="r" b="b"/>
              <a:pathLst>
                <a:path w="1077595" h="858519">
                  <a:moveTo>
                    <a:pt x="0" y="858333"/>
                  </a:moveTo>
                  <a:lnTo>
                    <a:pt x="1077575" y="858333"/>
                  </a:lnTo>
                  <a:lnTo>
                    <a:pt x="1077575" y="0"/>
                  </a:lnTo>
                  <a:lnTo>
                    <a:pt x="0" y="0"/>
                  </a:lnTo>
                  <a:lnTo>
                    <a:pt x="0" y="858333"/>
                  </a:lnTo>
                  <a:close/>
                </a:path>
              </a:pathLst>
            </a:custGeom>
            <a:ln w="13435">
              <a:solidFill>
                <a:srgbClr val="000000"/>
              </a:solidFill>
            </a:ln>
          </p:spPr>
          <p:txBody>
            <a:bodyPr wrap="square" lIns="0" tIns="0" rIns="0" bIns="0" rtlCol="0"/>
            <a:lstStyle/>
            <a:p/>
          </p:txBody>
        </p:sp>
        <p:sp>
          <p:nvSpPr>
            <p:cNvPr id="30" name="object 30" descr=""/>
            <p:cNvSpPr/>
            <p:nvPr/>
          </p:nvSpPr>
          <p:spPr>
            <a:xfrm>
              <a:off x="5174196" y="2525966"/>
              <a:ext cx="1078230" cy="174625"/>
            </a:xfrm>
            <a:custGeom>
              <a:avLst/>
              <a:gdLst/>
              <a:ahLst/>
              <a:cxnLst/>
              <a:rect l="l" t="t" r="r" b="b"/>
              <a:pathLst>
                <a:path w="1078229" h="174625">
                  <a:moveTo>
                    <a:pt x="1077633" y="162026"/>
                  </a:moveTo>
                  <a:lnTo>
                    <a:pt x="0" y="162026"/>
                  </a:lnTo>
                  <a:lnTo>
                    <a:pt x="0" y="174434"/>
                  </a:lnTo>
                  <a:lnTo>
                    <a:pt x="1077633" y="174434"/>
                  </a:lnTo>
                  <a:lnTo>
                    <a:pt x="1077633" y="162026"/>
                  </a:lnTo>
                  <a:close/>
                </a:path>
                <a:path w="1078229" h="174625">
                  <a:moveTo>
                    <a:pt x="1077633" y="0"/>
                  </a:moveTo>
                  <a:lnTo>
                    <a:pt x="0" y="0"/>
                  </a:lnTo>
                  <a:lnTo>
                    <a:pt x="0" y="12407"/>
                  </a:lnTo>
                  <a:lnTo>
                    <a:pt x="1077633" y="12407"/>
                  </a:lnTo>
                  <a:lnTo>
                    <a:pt x="1077633" y="0"/>
                  </a:lnTo>
                  <a:close/>
                </a:path>
              </a:pathLst>
            </a:custGeom>
            <a:solidFill>
              <a:srgbClr val="000000"/>
            </a:solidFill>
          </p:spPr>
          <p:txBody>
            <a:bodyPr wrap="square" lIns="0" tIns="0" rIns="0" bIns="0" rtlCol="0"/>
            <a:lstStyle/>
            <a:p/>
          </p:txBody>
        </p:sp>
        <p:sp>
          <p:nvSpPr>
            <p:cNvPr id="31" name="object 31" descr=""/>
            <p:cNvSpPr/>
            <p:nvPr/>
          </p:nvSpPr>
          <p:spPr>
            <a:xfrm>
              <a:off x="5174196" y="2851903"/>
              <a:ext cx="1057910" cy="0"/>
            </a:xfrm>
            <a:custGeom>
              <a:avLst/>
              <a:gdLst/>
              <a:ahLst/>
              <a:cxnLst/>
              <a:rect l="l" t="t" r="r" b="b"/>
              <a:pathLst>
                <a:path w="1057910" h="0">
                  <a:moveTo>
                    <a:pt x="0" y="0"/>
                  </a:moveTo>
                  <a:lnTo>
                    <a:pt x="1057311" y="0"/>
                  </a:lnTo>
                </a:path>
              </a:pathLst>
            </a:custGeom>
            <a:ln w="12408">
              <a:solidFill>
                <a:srgbClr val="000000"/>
              </a:solidFill>
            </a:ln>
          </p:spPr>
          <p:txBody>
            <a:bodyPr wrap="square" lIns="0" tIns="0" rIns="0" bIns="0" rtlCol="0"/>
            <a:lstStyle/>
            <a:p/>
          </p:txBody>
        </p:sp>
        <p:sp>
          <p:nvSpPr>
            <p:cNvPr id="32" name="object 32" descr=""/>
            <p:cNvSpPr/>
            <p:nvPr/>
          </p:nvSpPr>
          <p:spPr>
            <a:xfrm>
              <a:off x="5174196" y="3061279"/>
              <a:ext cx="1078230" cy="12700"/>
            </a:xfrm>
            <a:custGeom>
              <a:avLst/>
              <a:gdLst/>
              <a:ahLst/>
              <a:cxnLst/>
              <a:rect l="l" t="t" r="r" b="b"/>
              <a:pathLst>
                <a:path w="1078229" h="12700">
                  <a:moveTo>
                    <a:pt x="0" y="12408"/>
                  </a:moveTo>
                  <a:lnTo>
                    <a:pt x="1077638" y="12408"/>
                  </a:lnTo>
                  <a:lnTo>
                    <a:pt x="1077638" y="0"/>
                  </a:lnTo>
                  <a:lnTo>
                    <a:pt x="0" y="0"/>
                  </a:lnTo>
                  <a:lnTo>
                    <a:pt x="0" y="12408"/>
                  </a:lnTo>
                  <a:close/>
                </a:path>
              </a:pathLst>
            </a:custGeom>
            <a:solidFill>
              <a:srgbClr val="000000"/>
            </a:solidFill>
          </p:spPr>
          <p:txBody>
            <a:bodyPr wrap="square" lIns="0" tIns="0" rIns="0" bIns="0" rtlCol="0"/>
            <a:lstStyle/>
            <a:p/>
          </p:txBody>
        </p:sp>
      </p:grpSp>
      <p:sp>
        <p:nvSpPr>
          <p:cNvPr id="33" name="object 33" descr=""/>
          <p:cNvSpPr txBox="1"/>
          <p:nvPr/>
        </p:nvSpPr>
        <p:spPr>
          <a:xfrm>
            <a:off x="5559140" y="2838477"/>
            <a:ext cx="247650" cy="245745"/>
          </a:xfrm>
          <a:prstGeom prst="rect">
            <a:avLst/>
          </a:prstGeom>
        </p:spPr>
        <p:txBody>
          <a:bodyPr wrap="square" lIns="0" tIns="11430" rIns="0" bIns="0" rtlCol="0" vert="horz">
            <a:spAutoFit/>
          </a:bodyPr>
          <a:lstStyle/>
          <a:p>
            <a:pPr marL="12700">
              <a:lnSpc>
                <a:spcPct val="100000"/>
              </a:lnSpc>
              <a:spcBef>
                <a:spcPts val="90"/>
              </a:spcBef>
            </a:pPr>
            <a:r>
              <a:rPr dirty="0" sz="1450" spc="240">
                <a:latin typeface="宋体"/>
                <a:cs typeface="宋体"/>
              </a:rPr>
              <a:t>…</a:t>
            </a:r>
            <a:endParaRPr sz="1450">
              <a:latin typeface="宋体"/>
              <a:cs typeface="宋体"/>
            </a:endParaRPr>
          </a:p>
        </p:txBody>
      </p:sp>
      <p:grpSp>
        <p:nvGrpSpPr>
          <p:cNvPr id="34" name="object 34" descr=""/>
          <p:cNvGrpSpPr/>
          <p:nvPr/>
        </p:nvGrpSpPr>
        <p:grpSpPr>
          <a:xfrm>
            <a:off x="5167846" y="2363026"/>
            <a:ext cx="1090295" cy="873760"/>
            <a:chOff x="5167846" y="2363026"/>
            <a:chExt cx="1090295" cy="873760"/>
          </a:xfrm>
        </p:grpSpPr>
        <p:pic>
          <p:nvPicPr>
            <p:cNvPr id="35" name="object 35" descr=""/>
            <p:cNvPicPr/>
            <p:nvPr/>
          </p:nvPicPr>
          <p:blipFill>
            <a:blip r:embed="rId2" cstate="print"/>
            <a:stretch>
              <a:fillRect/>
            </a:stretch>
          </p:blipFill>
          <p:spPr>
            <a:xfrm>
              <a:off x="5174196" y="2532240"/>
              <a:ext cx="1077575" cy="161950"/>
            </a:xfrm>
            <a:prstGeom prst="rect">
              <a:avLst/>
            </a:prstGeom>
          </p:spPr>
        </p:pic>
        <p:sp>
          <p:nvSpPr>
            <p:cNvPr id="36" name="object 36" descr=""/>
            <p:cNvSpPr/>
            <p:nvPr/>
          </p:nvSpPr>
          <p:spPr>
            <a:xfrm>
              <a:off x="5174196" y="2370646"/>
              <a:ext cx="1077595" cy="858519"/>
            </a:xfrm>
            <a:custGeom>
              <a:avLst/>
              <a:gdLst/>
              <a:ahLst/>
              <a:cxnLst/>
              <a:rect l="l" t="t" r="r" b="b"/>
              <a:pathLst>
                <a:path w="1077595" h="858519">
                  <a:moveTo>
                    <a:pt x="0" y="323544"/>
                  </a:moveTo>
                  <a:lnTo>
                    <a:pt x="1077575" y="323544"/>
                  </a:lnTo>
                  <a:lnTo>
                    <a:pt x="1077575" y="161594"/>
                  </a:lnTo>
                  <a:lnTo>
                    <a:pt x="0" y="161594"/>
                  </a:lnTo>
                  <a:lnTo>
                    <a:pt x="0" y="323544"/>
                  </a:lnTo>
                  <a:close/>
                </a:path>
                <a:path w="1077595" h="858519">
                  <a:moveTo>
                    <a:pt x="287001" y="0"/>
                  </a:moveTo>
                  <a:lnTo>
                    <a:pt x="287001" y="481256"/>
                  </a:lnTo>
                </a:path>
                <a:path w="1077595" h="858519">
                  <a:moveTo>
                    <a:pt x="287001" y="696837"/>
                  </a:moveTo>
                  <a:lnTo>
                    <a:pt x="287001" y="858350"/>
                  </a:lnTo>
                </a:path>
              </a:pathLst>
            </a:custGeom>
            <a:ln w="13730">
              <a:solidFill>
                <a:srgbClr val="000000"/>
              </a:solidFill>
            </a:ln>
          </p:spPr>
          <p:txBody>
            <a:bodyPr wrap="square" lIns="0" tIns="0" rIns="0" bIns="0" rtlCol="0"/>
            <a:lstStyle/>
            <a:p/>
          </p:txBody>
        </p:sp>
      </p:grpSp>
      <p:sp>
        <p:nvSpPr>
          <p:cNvPr id="37" name="object 37" descr=""/>
          <p:cNvSpPr txBox="1"/>
          <p:nvPr/>
        </p:nvSpPr>
        <p:spPr>
          <a:xfrm>
            <a:off x="3817622" y="954130"/>
            <a:ext cx="710565" cy="457200"/>
          </a:xfrm>
          <a:prstGeom prst="rect">
            <a:avLst/>
          </a:prstGeom>
        </p:spPr>
        <p:txBody>
          <a:bodyPr wrap="square" lIns="0" tIns="38100" rIns="0" bIns="0" rtlCol="0" vert="horz">
            <a:spAutoFit/>
          </a:bodyPr>
          <a:lstStyle/>
          <a:p>
            <a:pPr marL="123189">
              <a:lnSpc>
                <a:spcPct val="100000"/>
              </a:lnSpc>
              <a:spcBef>
                <a:spcPts val="300"/>
              </a:spcBef>
            </a:pPr>
            <a:r>
              <a:rPr dirty="0" sz="1250" spc="225" b="1">
                <a:latin typeface="宋体"/>
                <a:cs typeface="宋体"/>
              </a:rPr>
              <a:t>块地址</a:t>
            </a:r>
            <a:endParaRPr sz="1250">
              <a:latin typeface="宋体"/>
              <a:cs typeface="宋体"/>
            </a:endParaRPr>
          </a:p>
          <a:p>
            <a:pPr marL="12700">
              <a:lnSpc>
                <a:spcPct val="100000"/>
              </a:lnSpc>
              <a:spcBef>
                <a:spcPts val="195"/>
              </a:spcBef>
            </a:pPr>
            <a:r>
              <a:rPr dirty="0" sz="1250" spc="95" b="1">
                <a:latin typeface="宋体"/>
                <a:cs typeface="宋体"/>
              </a:rPr>
              <a:t>29</a:t>
            </a:r>
            <a:endParaRPr sz="1250">
              <a:latin typeface="宋体"/>
              <a:cs typeface="宋体"/>
            </a:endParaRPr>
          </a:p>
        </p:txBody>
      </p:sp>
      <p:sp>
        <p:nvSpPr>
          <p:cNvPr id="38" name="object 38" descr=""/>
          <p:cNvSpPr/>
          <p:nvPr/>
        </p:nvSpPr>
        <p:spPr>
          <a:xfrm>
            <a:off x="4117366" y="1648760"/>
            <a:ext cx="0" cy="3455670"/>
          </a:xfrm>
          <a:custGeom>
            <a:avLst/>
            <a:gdLst/>
            <a:ahLst/>
            <a:cxnLst/>
            <a:rect l="l" t="t" r="r" b="b"/>
            <a:pathLst>
              <a:path w="0" h="3455670">
                <a:moveTo>
                  <a:pt x="0" y="0"/>
                </a:moveTo>
                <a:lnTo>
                  <a:pt x="0" y="3455497"/>
                </a:lnTo>
              </a:path>
            </a:pathLst>
          </a:custGeom>
          <a:ln w="15052">
            <a:solidFill>
              <a:srgbClr val="000000"/>
            </a:solidFill>
          </a:ln>
        </p:spPr>
        <p:txBody>
          <a:bodyPr wrap="square" lIns="0" tIns="0" rIns="0" bIns="0" rtlCol="0"/>
          <a:lstStyle/>
          <a:p/>
        </p:txBody>
      </p:sp>
      <p:sp>
        <p:nvSpPr>
          <p:cNvPr id="39" name="object 39" descr=""/>
          <p:cNvSpPr txBox="1"/>
          <p:nvPr/>
        </p:nvSpPr>
        <p:spPr>
          <a:xfrm>
            <a:off x="3244062" y="2293738"/>
            <a:ext cx="1737360" cy="565150"/>
          </a:xfrm>
          <a:prstGeom prst="rect">
            <a:avLst/>
          </a:prstGeom>
        </p:spPr>
        <p:txBody>
          <a:bodyPr wrap="square" lIns="0" tIns="92075" rIns="0" bIns="0" rtlCol="0" vert="horz">
            <a:spAutoFit/>
          </a:bodyPr>
          <a:lstStyle/>
          <a:p>
            <a:pPr marL="1532255">
              <a:lnSpc>
                <a:spcPct val="100000"/>
              </a:lnSpc>
              <a:spcBef>
                <a:spcPts val="725"/>
              </a:spcBef>
            </a:pPr>
            <a:r>
              <a:rPr dirty="0" sz="1250" spc="200">
                <a:latin typeface="宋体"/>
                <a:cs typeface="宋体"/>
              </a:rPr>
              <a:t>②</a:t>
            </a:r>
            <a:endParaRPr sz="1250">
              <a:latin typeface="宋体"/>
              <a:cs typeface="宋体"/>
            </a:endParaRPr>
          </a:p>
          <a:p>
            <a:pPr marL="12700">
              <a:lnSpc>
                <a:spcPct val="100000"/>
              </a:lnSpc>
              <a:spcBef>
                <a:spcPts val="625"/>
              </a:spcBef>
            </a:pPr>
            <a:r>
              <a:rPr dirty="0" sz="1250" spc="150" b="1">
                <a:latin typeface="宋体"/>
                <a:cs typeface="宋体"/>
              </a:rPr>
              <a:t>（512</a:t>
            </a:r>
            <a:r>
              <a:rPr dirty="0" sz="1250" spc="-15" b="1">
                <a:latin typeface="宋体"/>
                <a:cs typeface="宋体"/>
              </a:rPr>
              <a:t> 块</a:t>
            </a:r>
            <a:r>
              <a:rPr dirty="0" sz="1250" spc="195" b="1">
                <a:latin typeface="宋体"/>
                <a:cs typeface="宋体"/>
              </a:rPr>
              <a:t>）</a:t>
            </a:r>
            <a:endParaRPr sz="1250">
              <a:latin typeface="宋体"/>
              <a:cs typeface="宋体"/>
            </a:endParaRPr>
          </a:p>
        </p:txBody>
      </p:sp>
      <p:sp>
        <p:nvSpPr>
          <p:cNvPr id="40" name="object 40" descr=""/>
          <p:cNvSpPr txBox="1"/>
          <p:nvPr/>
        </p:nvSpPr>
        <p:spPr>
          <a:xfrm>
            <a:off x="4985535" y="1971265"/>
            <a:ext cx="1068070" cy="402590"/>
          </a:xfrm>
          <a:prstGeom prst="rect">
            <a:avLst/>
          </a:prstGeom>
        </p:spPr>
        <p:txBody>
          <a:bodyPr wrap="square" lIns="0" tIns="12065" rIns="0" bIns="0" rtlCol="0" vert="horz">
            <a:spAutoFit/>
          </a:bodyPr>
          <a:lstStyle/>
          <a:p>
            <a:pPr marL="12700">
              <a:lnSpc>
                <a:spcPts val="1485"/>
              </a:lnSpc>
              <a:spcBef>
                <a:spcPts val="95"/>
              </a:spcBef>
            </a:pPr>
            <a:r>
              <a:rPr dirty="0" sz="1250" spc="195" b="1">
                <a:latin typeface="宋体"/>
                <a:cs typeface="宋体"/>
              </a:rPr>
              <a:t>有效位 标识</a:t>
            </a:r>
            <a:endParaRPr sz="1250">
              <a:latin typeface="宋体"/>
              <a:cs typeface="宋体"/>
            </a:endParaRPr>
          </a:p>
          <a:p>
            <a:pPr marL="273685">
              <a:lnSpc>
                <a:spcPts val="1485"/>
              </a:lnSpc>
              <a:tabLst>
                <a:tab pos="762635" algn="l"/>
              </a:tabLst>
            </a:pPr>
            <a:r>
              <a:rPr dirty="0" sz="1250" spc="75" b="1">
                <a:latin typeface="宋体"/>
                <a:cs typeface="宋体"/>
              </a:rPr>
              <a:t>1</a:t>
            </a:r>
            <a:r>
              <a:rPr dirty="0" sz="1250" b="1">
                <a:latin typeface="宋体"/>
                <a:cs typeface="宋体"/>
              </a:rPr>
              <a:t>	</a:t>
            </a:r>
            <a:r>
              <a:rPr dirty="0" sz="1250" spc="95" b="1">
                <a:latin typeface="宋体"/>
                <a:cs typeface="宋体"/>
              </a:rPr>
              <a:t>29</a:t>
            </a:r>
            <a:endParaRPr sz="1250">
              <a:latin typeface="宋体"/>
              <a:cs typeface="宋体"/>
            </a:endParaRPr>
          </a:p>
        </p:txBody>
      </p:sp>
      <p:grpSp>
        <p:nvGrpSpPr>
          <p:cNvPr id="41" name="object 41" descr=""/>
          <p:cNvGrpSpPr/>
          <p:nvPr/>
        </p:nvGrpSpPr>
        <p:grpSpPr>
          <a:xfrm>
            <a:off x="4107893" y="2681486"/>
            <a:ext cx="1777364" cy="1445260"/>
            <a:chOff x="4107893" y="2681486"/>
            <a:chExt cx="1777364" cy="1445260"/>
          </a:xfrm>
        </p:grpSpPr>
        <p:sp>
          <p:nvSpPr>
            <p:cNvPr id="42" name="object 42" descr=""/>
            <p:cNvSpPr/>
            <p:nvPr/>
          </p:nvSpPr>
          <p:spPr>
            <a:xfrm>
              <a:off x="5305522" y="2694190"/>
              <a:ext cx="287020" cy="614045"/>
            </a:xfrm>
            <a:custGeom>
              <a:avLst/>
              <a:gdLst/>
              <a:ahLst/>
              <a:cxnLst/>
              <a:rect l="l" t="t" r="r" b="b"/>
              <a:pathLst>
                <a:path w="287020" h="614045">
                  <a:moveTo>
                    <a:pt x="0" y="0"/>
                  </a:moveTo>
                  <a:lnTo>
                    <a:pt x="0" y="613749"/>
                  </a:lnTo>
                </a:path>
                <a:path w="287020" h="614045">
                  <a:moveTo>
                    <a:pt x="0" y="613749"/>
                  </a:moveTo>
                  <a:lnTo>
                    <a:pt x="286435" y="613749"/>
                  </a:lnTo>
                </a:path>
              </a:pathLst>
            </a:custGeom>
            <a:ln w="13730">
              <a:solidFill>
                <a:srgbClr val="000000"/>
              </a:solidFill>
            </a:ln>
          </p:spPr>
          <p:txBody>
            <a:bodyPr wrap="square" lIns="0" tIns="0" rIns="0" bIns="0" rtlCol="0"/>
            <a:lstStyle/>
            <a:p/>
          </p:txBody>
        </p:sp>
        <p:pic>
          <p:nvPicPr>
            <p:cNvPr id="43" name="object 43" descr=""/>
            <p:cNvPicPr/>
            <p:nvPr/>
          </p:nvPicPr>
          <p:blipFill>
            <a:blip r:embed="rId3" cstate="print"/>
            <a:stretch>
              <a:fillRect/>
            </a:stretch>
          </p:blipFill>
          <p:spPr>
            <a:xfrm>
              <a:off x="5547596" y="3299827"/>
              <a:ext cx="90398" cy="199714"/>
            </a:xfrm>
            <a:prstGeom prst="rect">
              <a:avLst/>
            </a:prstGeom>
          </p:spPr>
        </p:pic>
        <p:sp>
          <p:nvSpPr>
            <p:cNvPr id="44" name="object 44" descr=""/>
            <p:cNvSpPr/>
            <p:nvPr/>
          </p:nvSpPr>
          <p:spPr>
            <a:xfrm>
              <a:off x="5796479" y="2684343"/>
              <a:ext cx="85725" cy="812800"/>
            </a:xfrm>
            <a:custGeom>
              <a:avLst/>
              <a:gdLst/>
              <a:ahLst/>
              <a:cxnLst/>
              <a:rect l="l" t="t" r="r" b="b"/>
              <a:pathLst>
                <a:path w="85725" h="812800">
                  <a:moveTo>
                    <a:pt x="0" y="709275"/>
                  </a:moveTo>
                  <a:lnTo>
                    <a:pt x="40652" y="812747"/>
                  </a:lnTo>
                  <a:lnTo>
                    <a:pt x="65849" y="754878"/>
                  </a:lnTo>
                  <a:lnTo>
                    <a:pt x="35414" y="754878"/>
                  </a:lnTo>
                  <a:lnTo>
                    <a:pt x="35414" y="750560"/>
                  </a:lnTo>
                  <a:lnTo>
                    <a:pt x="30175" y="746760"/>
                  </a:lnTo>
                  <a:lnTo>
                    <a:pt x="30175" y="737099"/>
                  </a:lnTo>
                  <a:lnTo>
                    <a:pt x="0" y="709275"/>
                  </a:lnTo>
                  <a:close/>
                </a:path>
                <a:path w="85725" h="812800">
                  <a:moveTo>
                    <a:pt x="30175" y="737099"/>
                  </a:moveTo>
                  <a:lnTo>
                    <a:pt x="30175" y="746760"/>
                  </a:lnTo>
                  <a:lnTo>
                    <a:pt x="35414" y="750560"/>
                  </a:lnTo>
                  <a:lnTo>
                    <a:pt x="35414" y="754878"/>
                  </a:lnTo>
                  <a:lnTo>
                    <a:pt x="45263" y="754878"/>
                  </a:lnTo>
                  <a:lnTo>
                    <a:pt x="50501" y="750560"/>
                  </a:lnTo>
                  <a:lnTo>
                    <a:pt x="50501" y="746760"/>
                  </a:lnTo>
                  <a:lnTo>
                    <a:pt x="40652" y="746760"/>
                  </a:lnTo>
                  <a:lnTo>
                    <a:pt x="30175" y="737099"/>
                  </a:lnTo>
                  <a:close/>
                </a:path>
                <a:path w="85725" h="812800">
                  <a:moveTo>
                    <a:pt x="85706" y="709275"/>
                  </a:moveTo>
                  <a:lnTo>
                    <a:pt x="50501" y="738565"/>
                  </a:lnTo>
                  <a:lnTo>
                    <a:pt x="50501" y="750560"/>
                  </a:lnTo>
                  <a:lnTo>
                    <a:pt x="45263" y="754878"/>
                  </a:lnTo>
                  <a:lnTo>
                    <a:pt x="65849" y="754878"/>
                  </a:lnTo>
                  <a:lnTo>
                    <a:pt x="85706" y="709275"/>
                  </a:lnTo>
                  <a:close/>
                </a:path>
                <a:path w="85725" h="812800">
                  <a:moveTo>
                    <a:pt x="40652" y="0"/>
                  </a:moveTo>
                  <a:lnTo>
                    <a:pt x="35414" y="3800"/>
                  </a:lnTo>
                  <a:lnTo>
                    <a:pt x="30175" y="8118"/>
                  </a:lnTo>
                  <a:lnTo>
                    <a:pt x="30175" y="737099"/>
                  </a:lnTo>
                  <a:lnTo>
                    <a:pt x="40652" y="746760"/>
                  </a:lnTo>
                  <a:lnTo>
                    <a:pt x="50501" y="738565"/>
                  </a:lnTo>
                  <a:lnTo>
                    <a:pt x="50501" y="3800"/>
                  </a:lnTo>
                  <a:lnTo>
                    <a:pt x="45263" y="3800"/>
                  </a:lnTo>
                  <a:lnTo>
                    <a:pt x="40652" y="0"/>
                  </a:lnTo>
                  <a:close/>
                </a:path>
                <a:path w="85725" h="812800">
                  <a:moveTo>
                    <a:pt x="50501" y="738565"/>
                  </a:moveTo>
                  <a:lnTo>
                    <a:pt x="40652" y="746760"/>
                  </a:lnTo>
                  <a:lnTo>
                    <a:pt x="50501" y="746760"/>
                  </a:lnTo>
                  <a:lnTo>
                    <a:pt x="50501" y="738565"/>
                  </a:lnTo>
                  <a:close/>
                </a:path>
              </a:pathLst>
            </a:custGeom>
            <a:solidFill>
              <a:srgbClr val="000000"/>
            </a:solidFill>
          </p:spPr>
          <p:txBody>
            <a:bodyPr wrap="square" lIns="0" tIns="0" rIns="0" bIns="0" rtlCol="0"/>
            <a:lstStyle/>
            <a:p/>
          </p:txBody>
        </p:sp>
        <p:sp>
          <p:nvSpPr>
            <p:cNvPr id="45" name="object 45" descr=""/>
            <p:cNvSpPr/>
            <p:nvPr/>
          </p:nvSpPr>
          <p:spPr>
            <a:xfrm>
              <a:off x="5796479" y="2684344"/>
              <a:ext cx="85725" cy="812800"/>
            </a:xfrm>
            <a:custGeom>
              <a:avLst/>
              <a:gdLst/>
              <a:ahLst/>
              <a:cxnLst/>
              <a:rect l="l" t="t" r="r" b="b"/>
              <a:pathLst>
                <a:path w="85725" h="812800">
                  <a:moveTo>
                    <a:pt x="50501" y="12437"/>
                  </a:moveTo>
                  <a:lnTo>
                    <a:pt x="50501" y="746760"/>
                  </a:lnTo>
                  <a:lnTo>
                    <a:pt x="50501" y="750560"/>
                  </a:lnTo>
                  <a:lnTo>
                    <a:pt x="45263" y="754878"/>
                  </a:lnTo>
                  <a:lnTo>
                    <a:pt x="40652" y="754878"/>
                  </a:lnTo>
                  <a:lnTo>
                    <a:pt x="35414" y="754878"/>
                  </a:lnTo>
                  <a:lnTo>
                    <a:pt x="35414" y="750560"/>
                  </a:lnTo>
                  <a:lnTo>
                    <a:pt x="30175" y="746760"/>
                  </a:lnTo>
                  <a:lnTo>
                    <a:pt x="30175" y="12437"/>
                  </a:lnTo>
                  <a:lnTo>
                    <a:pt x="30175" y="8118"/>
                  </a:lnTo>
                  <a:lnTo>
                    <a:pt x="35414" y="3800"/>
                  </a:lnTo>
                  <a:lnTo>
                    <a:pt x="40652" y="0"/>
                  </a:lnTo>
                  <a:lnTo>
                    <a:pt x="45263" y="3800"/>
                  </a:lnTo>
                  <a:lnTo>
                    <a:pt x="50501" y="3800"/>
                  </a:lnTo>
                  <a:lnTo>
                    <a:pt x="50501" y="8118"/>
                  </a:lnTo>
                  <a:lnTo>
                    <a:pt x="50501" y="12437"/>
                  </a:lnTo>
                  <a:close/>
                </a:path>
                <a:path w="85725" h="812800">
                  <a:moveTo>
                    <a:pt x="40652" y="746760"/>
                  </a:moveTo>
                  <a:lnTo>
                    <a:pt x="85706" y="709275"/>
                  </a:lnTo>
                  <a:lnTo>
                    <a:pt x="40652" y="812747"/>
                  </a:lnTo>
                  <a:lnTo>
                    <a:pt x="0" y="709275"/>
                  </a:lnTo>
                  <a:lnTo>
                    <a:pt x="40652" y="746760"/>
                  </a:lnTo>
                  <a:close/>
                </a:path>
              </a:pathLst>
            </a:custGeom>
            <a:ln w="4734">
              <a:solidFill>
                <a:srgbClr val="000000"/>
              </a:solidFill>
            </a:ln>
          </p:spPr>
          <p:txBody>
            <a:bodyPr wrap="square" lIns="0" tIns="0" rIns="0" bIns="0" rtlCol="0"/>
            <a:lstStyle/>
            <a:p/>
          </p:txBody>
        </p:sp>
        <p:sp>
          <p:nvSpPr>
            <p:cNvPr id="46" name="object 46" descr=""/>
            <p:cNvSpPr/>
            <p:nvPr/>
          </p:nvSpPr>
          <p:spPr>
            <a:xfrm>
              <a:off x="4110115" y="3621464"/>
              <a:ext cx="1354455" cy="71120"/>
            </a:xfrm>
            <a:custGeom>
              <a:avLst/>
              <a:gdLst/>
              <a:ahLst/>
              <a:cxnLst/>
              <a:rect l="l" t="t" r="r" b="b"/>
              <a:pathLst>
                <a:path w="1354454" h="71120">
                  <a:moveTo>
                    <a:pt x="1228703" y="0"/>
                  </a:moveTo>
                  <a:lnTo>
                    <a:pt x="1268518" y="33339"/>
                  </a:lnTo>
                  <a:lnTo>
                    <a:pt x="1228703" y="70823"/>
                  </a:lnTo>
                  <a:lnTo>
                    <a:pt x="1313155" y="45603"/>
                  </a:lnTo>
                  <a:lnTo>
                    <a:pt x="1268518" y="45603"/>
                  </a:lnTo>
                  <a:lnTo>
                    <a:pt x="1273757" y="41803"/>
                  </a:lnTo>
                  <a:lnTo>
                    <a:pt x="1278996" y="41803"/>
                  </a:lnTo>
                  <a:lnTo>
                    <a:pt x="1278996" y="29020"/>
                  </a:lnTo>
                  <a:lnTo>
                    <a:pt x="1273757" y="29020"/>
                  </a:lnTo>
                  <a:lnTo>
                    <a:pt x="1268518" y="25220"/>
                  </a:lnTo>
                  <a:lnTo>
                    <a:pt x="1323657" y="25220"/>
                  </a:lnTo>
                  <a:lnTo>
                    <a:pt x="1228703" y="0"/>
                  </a:lnTo>
                  <a:close/>
                </a:path>
                <a:path w="1354454" h="71120">
                  <a:moveTo>
                    <a:pt x="1258822" y="25220"/>
                  </a:moveTo>
                  <a:lnTo>
                    <a:pt x="10372" y="25220"/>
                  </a:lnTo>
                  <a:lnTo>
                    <a:pt x="5175" y="29020"/>
                  </a:lnTo>
                  <a:lnTo>
                    <a:pt x="0" y="29020"/>
                  </a:lnTo>
                  <a:lnTo>
                    <a:pt x="0" y="41803"/>
                  </a:lnTo>
                  <a:lnTo>
                    <a:pt x="5175" y="41803"/>
                  </a:lnTo>
                  <a:lnTo>
                    <a:pt x="10372" y="45603"/>
                  </a:lnTo>
                  <a:lnTo>
                    <a:pt x="1255491" y="45603"/>
                  </a:lnTo>
                  <a:lnTo>
                    <a:pt x="1268518" y="33339"/>
                  </a:lnTo>
                  <a:lnTo>
                    <a:pt x="1258822" y="25220"/>
                  </a:lnTo>
                  <a:close/>
                </a:path>
                <a:path w="1354454" h="71120">
                  <a:moveTo>
                    <a:pt x="1323657" y="25220"/>
                  </a:moveTo>
                  <a:lnTo>
                    <a:pt x="1268518" y="25220"/>
                  </a:lnTo>
                  <a:lnTo>
                    <a:pt x="1273757" y="29020"/>
                  </a:lnTo>
                  <a:lnTo>
                    <a:pt x="1278996" y="29020"/>
                  </a:lnTo>
                  <a:lnTo>
                    <a:pt x="1278996" y="41803"/>
                  </a:lnTo>
                  <a:lnTo>
                    <a:pt x="1273757" y="41803"/>
                  </a:lnTo>
                  <a:lnTo>
                    <a:pt x="1268518" y="45603"/>
                  </a:lnTo>
                  <a:lnTo>
                    <a:pt x="1313155" y="45603"/>
                  </a:lnTo>
                  <a:lnTo>
                    <a:pt x="1354225" y="33339"/>
                  </a:lnTo>
                  <a:lnTo>
                    <a:pt x="1323657" y="25220"/>
                  </a:lnTo>
                  <a:close/>
                </a:path>
              </a:pathLst>
            </a:custGeom>
            <a:solidFill>
              <a:srgbClr val="000000"/>
            </a:solidFill>
          </p:spPr>
          <p:txBody>
            <a:bodyPr wrap="square" lIns="0" tIns="0" rIns="0" bIns="0" rtlCol="0"/>
            <a:lstStyle/>
            <a:p/>
          </p:txBody>
        </p:sp>
        <p:sp>
          <p:nvSpPr>
            <p:cNvPr id="47" name="object 47" descr=""/>
            <p:cNvSpPr/>
            <p:nvPr/>
          </p:nvSpPr>
          <p:spPr>
            <a:xfrm>
              <a:off x="4110115" y="3621464"/>
              <a:ext cx="1354455" cy="71120"/>
            </a:xfrm>
            <a:custGeom>
              <a:avLst/>
              <a:gdLst/>
              <a:ahLst/>
              <a:cxnLst/>
              <a:rect l="l" t="t" r="r" b="b"/>
              <a:pathLst>
                <a:path w="1354454" h="71120">
                  <a:moveTo>
                    <a:pt x="10372" y="25220"/>
                  </a:moveTo>
                  <a:lnTo>
                    <a:pt x="1268518" y="25220"/>
                  </a:lnTo>
                  <a:lnTo>
                    <a:pt x="1273757" y="29020"/>
                  </a:lnTo>
                  <a:lnTo>
                    <a:pt x="1278996" y="29020"/>
                  </a:lnTo>
                  <a:lnTo>
                    <a:pt x="1278996" y="33339"/>
                  </a:lnTo>
                  <a:lnTo>
                    <a:pt x="1278996" y="37657"/>
                  </a:lnTo>
                  <a:lnTo>
                    <a:pt x="1278996" y="41803"/>
                  </a:lnTo>
                  <a:lnTo>
                    <a:pt x="1273757" y="41803"/>
                  </a:lnTo>
                  <a:lnTo>
                    <a:pt x="1268518" y="45603"/>
                  </a:lnTo>
                  <a:lnTo>
                    <a:pt x="10372" y="45603"/>
                  </a:lnTo>
                  <a:lnTo>
                    <a:pt x="5175" y="41803"/>
                  </a:lnTo>
                  <a:lnTo>
                    <a:pt x="0" y="41803"/>
                  </a:lnTo>
                  <a:lnTo>
                    <a:pt x="0" y="37657"/>
                  </a:lnTo>
                  <a:lnTo>
                    <a:pt x="0" y="33339"/>
                  </a:lnTo>
                  <a:lnTo>
                    <a:pt x="0" y="29020"/>
                  </a:lnTo>
                  <a:lnTo>
                    <a:pt x="5175" y="29020"/>
                  </a:lnTo>
                  <a:lnTo>
                    <a:pt x="10372" y="25220"/>
                  </a:lnTo>
                  <a:close/>
                </a:path>
                <a:path w="1354454" h="71120">
                  <a:moveTo>
                    <a:pt x="1268518" y="33339"/>
                  </a:moveTo>
                  <a:lnTo>
                    <a:pt x="1228703" y="0"/>
                  </a:lnTo>
                  <a:lnTo>
                    <a:pt x="1354225" y="33339"/>
                  </a:lnTo>
                  <a:lnTo>
                    <a:pt x="1228703" y="70823"/>
                  </a:lnTo>
                  <a:lnTo>
                    <a:pt x="1268518" y="33339"/>
                  </a:lnTo>
                  <a:close/>
                </a:path>
              </a:pathLst>
            </a:custGeom>
            <a:ln w="4734">
              <a:solidFill>
                <a:srgbClr val="000000"/>
              </a:solidFill>
            </a:ln>
          </p:spPr>
          <p:txBody>
            <a:bodyPr wrap="square" lIns="0" tIns="0" rIns="0" bIns="0" rtlCol="0"/>
            <a:lstStyle/>
            <a:p/>
          </p:txBody>
        </p:sp>
        <p:sp>
          <p:nvSpPr>
            <p:cNvPr id="48" name="object 48" descr=""/>
            <p:cNvSpPr/>
            <p:nvPr/>
          </p:nvSpPr>
          <p:spPr>
            <a:xfrm>
              <a:off x="4639044" y="4053317"/>
              <a:ext cx="534035" cy="70485"/>
            </a:xfrm>
            <a:custGeom>
              <a:avLst/>
              <a:gdLst/>
              <a:ahLst/>
              <a:cxnLst/>
              <a:rect l="l" t="t" r="r" b="b"/>
              <a:pathLst>
                <a:path w="534035" h="70485">
                  <a:moveTo>
                    <a:pt x="407451" y="0"/>
                  </a:moveTo>
                  <a:lnTo>
                    <a:pt x="453133" y="32820"/>
                  </a:lnTo>
                  <a:lnTo>
                    <a:pt x="407451" y="70305"/>
                  </a:lnTo>
                  <a:lnTo>
                    <a:pt x="505099" y="41285"/>
                  </a:lnTo>
                  <a:lnTo>
                    <a:pt x="457806" y="41285"/>
                  </a:lnTo>
                  <a:lnTo>
                    <a:pt x="463003" y="36966"/>
                  </a:lnTo>
                  <a:lnTo>
                    <a:pt x="463003" y="32820"/>
                  </a:lnTo>
                  <a:lnTo>
                    <a:pt x="457806" y="29020"/>
                  </a:lnTo>
                  <a:lnTo>
                    <a:pt x="453133" y="24701"/>
                  </a:lnTo>
                  <a:lnTo>
                    <a:pt x="502380" y="24701"/>
                  </a:lnTo>
                  <a:lnTo>
                    <a:pt x="407451" y="0"/>
                  </a:lnTo>
                  <a:close/>
                </a:path>
                <a:path w="534035" h="70485">
                  <a:moveTo>
                    <a:pt x="441833" y="24701"/>
                  </a:moveTo>
                  <a:lnTo>
                    <a:pt x="4652" y="24701"/>
                  </a:lnTo>
                  <a:lnTo>
                    <a:pt x="0" y="29020"/>
                  </a:lnTo>
                  <a:lnTo>
                    <a:pt x="0" y="41285"/>
                  </a:lnTo>
                  <a:lnTo>
                    <a:pt x="442818" y="41285"/>
                  </a:lnTo>
                  <a:lnTo>
                    <a:pt x="453133" y="32820"/>
                  </a:lnTo>
                  <a:lnTo>
                    <a:pt x="441833" y="24701"/>
                  </a:lnTo>
                  <a:close/>
                </a:path>
                <a:path w="534035" h="70485">
                  <a:moveTo>
                    <a:pt x="502380" y="24701"/>
                  </a:moveTo>
                  <a:lnTo>
                    <a:pt x="453133" y="24701"/>
                  </a:lnTo>
                  <a:lnTo>
                    <a:pt x="457806" y="29020"/>
                  </a:lnTo>
                  <a:lnTo>
                    <a:pt x="463003" y="32820"/>
                  </a:lnTo>
                  <a:lnTo>
                    <a:pt x="463003" y="36966"/>
                  </a:lnTo>
                  <a:lnTo>
                    <a:pt x="457806" y="41285"/>
                  </a:lnTo>
                  <a:lnTo>
                    <a:pt x="505099" y="41285"/>
                  </a:lnTo>
                  <a:lnTo>
                    <a:pt x="533580" y="32820"/>
                  </a:lnTo>
                  <a:lnTo>
                    <a:pt x="502380" y="24701"/>
                  </a:lnTo>
                  <a:close/>
                </a:path>
              </a:pathLst>
            </a:custGeom>
            <a:solidFill>
              <a:srgbClr val="000000"/>
            </a:solidFill>
          </p:spPr>
          <p:txBody>
            <a:bodyPr wrap="square" lIns="0" tIns="0" rIns="0" bIns="0" rtlCol="0"/>
            <a:lstStyle/>
            <a:p/>
          </p:txBody>
        </p:sp>
        <p:sp>
          <p:nvSpPr>
            <p:cNvPr id="49" name="object 49" descr=""/>
            <p:cNvSpPr/>
            <p:nvPr/>
          </p:nvSpPr>
          <p:spPr>
            <a:xfrm>
              <a:off x="4639044" y="4053317"/>
              <a:ext cx="534035" cy="70485"/>
            </a:xfrm>
            <a:custGeom>
              <a:avLst/>
              <a:gdLst/>
              <a:ahLst/>
              <a:cxnLst/>
              <a:rect l="l" t="t" r="r" b="b"/>
              <a:pathLst>
                <a:path w="534035" h="70485">
                  <a:moveTo>
                    <a:pt x="9848" y="24701"/>
                  </a:moveTo>
                  <a:lnTo>
                    <a:pt x="453133" y="24701"/>
                  </a:lnTo>
                  <a:lnTo>
                    <a:pt x="457806" y="29020"/>
                  </a:lnTo>
                  <a:lnTo>
                    <a:pt x="463003" y="32820"/>
                  </a:lnTo>
                  <a:lnTo>
                    <a:pt x="463003" y="36966"/>
                  </a:lnTo>
                  <a:lnTo>
                    <a:pt x="457806" y="41285"/>
                  </a:lnTo>
                  <a:lnTo>
                    <a:pt x="0" y="41285"/>
                  </a:lnTo>
                  <a:lnTo>
                    <a:pt x="0" y="36966"/>
                  </a:lnTo>
                  <a:lnTo>
                    <a:pt x="0" y="32820"/>
                  </a:lnTo>
                  <a:lnTo>
                    <a:pt x="0" y="29020"/>
                  </a:lnTo>
                  <a:lnTo>
                    <a:pt x="4652" y="24701"/>
                  </a:lnTo>
                  <a:lnTo>
                    <a:pt x="9848" y="24701"/>
                  </a:lnTo>
                  <a:close/>
                </a:path>
                <a:path w="534035" h="70485">
                  <a:moveTo>
                    <a:pt x="453133" y="32820"/>
                  </a:moveTo>
                  <a:lnTo>
                    <a:pt x="407451" y="0"/>
                  </a:lnTo>
                  <a:lnTo>
                    <a:pt x="533580" y="32820"/>
                  </a:lnTo>
                  <a:lnTo>
                    <a:pt x="407451" y="70305"/>
                  </a:lnTo>
                  <a:lnTo>
                    <a:pt x="453133" y="32820"/>
                  </a:lnTo>
                  <a:close/>
                </a:path>
              </a:pathLst>
            </a:custGeom>
            <a:ln w="4734">
              <a:solidFill>
                <a:srgbClr val="000000"/>
              </a:solidFill>
            </a:ln>
          </p:spPr>
          <p:txBody>
            <a:bodyPr wrap="square" lIns="0" tIns="0" rIns="0" bIns="0" rtlCol="0"/>
            <a:lstStyle/>
            <a:p/>
          </p:txBody>
        </p:sp>
      </p:grpSp>
      <p:sp>
        <p:nvSpPr>
          <p:cNvPr id="50" name="object 50" descr=""/>
          <p:cNvSpPr txBox="1"/>
          <p:nvPr/>
        </p:nvSpPr>
        <p:spPr>
          <a:xfrm>
            <a:off x="3244062" y="3340065"/>
            <a:ext cx="2694305" cy="991235"/>
          </a:xfrm>
          <a:prstGeom prst="rect">
            <a:avLst/>
          </a:prstGeom>
        </p:spPr>
        <p:txBody>
          <a:bodyPr wrap="square" lIns="0" tIns="12065" rIns="0" bIns="0" rtlCol="0" vert="horz">
            <a:spAutoFit/>
          </a:bodyPr>
          <a:lstStyle/>
          <a:p>
            <a:pPr marL="1774189">
              <a:lnSpc>
                <a:spcPts val="1275"/>
              </a:lnSpc>
              <a:spcBef>
                <a:spcPts val="95"/>
              </a:spcBef>
            </a:pPr>
            <a:r>
              <a:rPr dirty="0" sz="1250" spc="200">
                <a:latin typeface="宋体"/>
                <a:cs typeface="宋体"/>
              </a:rPr>
              <a:t>③</a:t>
            </a:r>
            <a:endParaRPr sz="1250">
              <a:latin typeface="宋体"/>
              <a:cs typeface="宋体"/>
            </a:endParaRPr>
          </a:p>
          <a:p>
            <a:pPr marL="2393315">
              <a:lnSpc>
                <a:spcPts val="1275"/>
              </a:lnSpc>
            </a:pPr>
            <a:r>
              <a:rPr dirty="0" sz="1250" spc="160">
                <a:latin typeface="宋体"/>
                <a:cs typeface="宋体"/>
              </a:rPr>
              <a:t>=？</a:t>
            </a:r>
            <a:endParaRPr sz="1250">
              <a:latin typeface="宋体"/>
              <a:cs typeface="宋体"/>
            </a:endParaRPr>
          </a:p>
          <a:p>
            <a:pPr algn="ctr" marL="562610">
              <a:lnSpc>
                <a:spcPct val="100000"/>
              </a:lnSpc>
              <a:spcBef>
                <a:spcPts val="1440"/>
              </a:spcBef>
            </a:pPr>
            <a:r>
              <a:rPr dirty="0" sz="1250" spc="200">
                <a:latin typeface="宋体"/>
                <a:cs typeface="宋体"/>
              </a:rPr>
              <a:t>②</a:t>
            </a:r>
            <a:endParaRPr sz="1250">
              <a:latin typeface="宋体"/>
              <a:cs typeface="宋体"/>
            </a:endParaRPr>
          </a:p>
          <a:p>
            <a:pPr algn="ctr" marR="1754505">
              <a:lnSpc>
                <a:spcPct val="100000"/>
              </a:lnSpc>
              <a:spcBef>
                <a:spcPts val="620"/>
              </a:spcBef>
            </a:pPr>
            <a:r>
              <a:rPr dirty="0" sz="1250" spc="150" b="1">
                <a:latin typeface="宋体"/>
                <a:cs typeface="宋体"/>
              </a:rPr>
              <a:t>（512</a:t>
            </a:r>
            <a:r>
              <a:rPr dirty="0" sz="1250" spc="-15" b="1">
                <a:latin typeface="宋体"/>
                <a:cs typeface="宋体"/>
              </a:rPr>
              <a:t> 块</a:t>
            </a:r>
            <a:r>
              <a:rPr dirty="0" sz="1250" spc="195" b="1">
                <a:latin typeface="宋体"/>
                <a:cs typeface="宋体"/>
              </a:rPr>
              <a:t>）</a:t>
            </a:r>
            <a:endParaRPr sz="1250">
              <a:latin typeface="宋体"/>
              <a:cs typeface="宋体"/>
            </a:endParaRPr>
          </a:p>
        </p:txBody>
      </p:sp>
      <p:grpSp>
        <p:nvGrpSpPr>
          <p:cNvPr id="51" name="object 51" descr=""/>
          <p:cNvGrpSpPr/>
          <p:nvPr/>
        </p:nvGrpSpPr>
        <p:grpSpPr>
          <a:xfrm>
            <a:off x="5167211" y="3836175"/>
            <a:ext cx="1091565" cy="873125"/>
            <a:chOff x="5167211" y="3836175"/>
            <a:chExt cx="1091565" cy="873125"/>
          </a:xfrm>
        </p:grpSpPr>
        <p:sp>
          <p:nvSpPr>
            <p:cNvPr id="52" name="object 52" descr=""/>
            <p:cNvSpPr/>
            <p:nvPr/>
          </p:nvSpPr>
          <p:spPr>
            <a:xfrm>
              <a:off x="5174196" y="3843160"/>
              <a:ext cx="1077595" cy="859155"/>
            </a:xfrm>
            <a:custGeom>
              <a:avLst/>
              <a:gdLst/>
              <a:ahLst/>
              <a:cxnLst/>
              <a:rect l="l" t="t" r="r" b="b"/>
              <a:pathLst>
                <a:path w="1077595" h="859154">
                  <a:moveTo>
                    <a:pt x="1077575" y="0"/>
                  </a:moveTo>
                  <a:lnTo>
                    <a:pt x="0" y="0"/>
                  </a:lnTo>
                  <a:lnTo>
                    <a:pt x="0" y="858765"/>
                  </a:lnTo>
                  <a:lnTo>
                    <a:pt x="1077575" y="858765"/>
                  </a:lnTo>
                  <a:lnTo>
                    <a:pt x="1077575" y="0"/>
                  </a:lnTo>
                  <a:close/>
                </a:path>
              </a:pathLst>
            </a:custGeom>
            <a:solidFill>
              <a:srgbClr val="FFCCFF"/>
            </a:solidFill>
          </p:spPr>
          <p:txBody>
            <a:bodyPr wrap="square" lIns="0" tIns="0" rIns="0" bIns="0" rtlCol="0"/>
            <a:lstStyle/>
            <a:p/>
          </p:txBody>
        </p:sp>
        <p:sp>
          <p:nvSpPr>
            <p:cNvPr id="53" name="object 53" descr=""/>
            <p:cNvSpPr/>
            <p:nvPr/>
          </p:nvSpPr>
          <p:spPr>
            <a:xfrm>
              <a:off x="5174196" y="3843160"/>
              <a:ext cx="1077595" cy="859155"/>
            </a:xfrm>
            <a:custGeom>
              <a:avLst/>
              <a:gdLst/>
              <a:ahLst/>
              <a:cxnLst/>
              <a:rect l="l" t="t" r="r" b="b"/>
              <a:pathLst>
                <a:path w="1077595" h="859154">
                  <a:moveTo>
                    <a:pt x="0" y="858765"/>
                  </a:moveTo>
                  <a:lnTo>
                    <a:pt x="1077575" y="858765"/>
                  </a:lnTo>
                  <a:lnTo>
                    <a:pt x="1077575" y="0"/>
                  </a:lnTo>
                  <a:lnTo>
                    <a:pt x="0" y="0"/>
                  </a:lnTo>
                  <a:lnTo>
                    <a:pt x="0" y="858765"/>
                  </a:lnTo>
                  <a:close/>
                </a:path>
              </a:pathLst>
            </a:custGeom>
            <a:ln w="13435">
              <a:solidFill>
                <a:srgbClr val="000000"/>
              </a:solidFill>
            </a:ln>
          </p:spPr>
          <p:txBody>
            <a:bodyPr wrap="square" lIns="0" tIns="0" rIns="0" bIns="0" rtlCol="0"/>
            <a:lstStyle/>
            <a:p/>
          </p:txBody>
        </p:sp>
        <p:sp>
          <p:nvSpPr>
            <p:cNvPr id="54" name="object 54" descr=""/>
            <p:cNvSpPr/>
            <p:nvPr/>
          </p:nvSpPr>
          <p:spPr>
            <a:xfrm>
              <a:off x="5174196" y="3998925"/>
              <a:ext cx="1078230" cy="173990"/>
            </a:xfrm>
            <a:custGeom>
              <a:avLst/>
              <a:gdLst/>
              <a:ahLst/>
              <a:cxnLst/>
              <a:rect l="l" t="t" r="r" b="b"/>
              <a:pathLst>
                <a:path w="1078229" h="173989">
                  <a:moveTo>
                    <a:pt x="1077633" y="161518"/>
                  </a:moveTo>
                  <a:lnTo>
                    <a:pt x="0" y="161518"/>
                  </a:lnTo>
                  <a:lnTo>
                    <a:pt x="0" y="173926"/>
                  </a:lnTo>
                  <a:lnTo>
                    <a:pt x="1077633" y="173926"/>
                  </a:lnTo>
                  <a:lnTo>
                    <a:pt x="1077633" y="161518"/>
                  </a:lnTo>
                  <a:close/>
                </a:path>
                <a:path w="1078229" h="173989">
                  <a:moveTo>
                    <a:pt x="1077633" y="0"/>
                  </a:moveTo>
                  <a:lnTo>
                    <a:pt x="0" y="0"/>
                  </a:lnTo>
                  <a:lnTo>
                    <a:pt x="0" y="12407"/>
                  </a:lnTo>
                  <a:lnTo>
                    <a:pt x="1077633" y="12407"/>
                  </a:lnTo>
                  <a:lnTo>
                    <a:pt x="1077633" y="0"/>
                  </a:lnTo>
                  <a:close/>
                </a:path>
              </a:pathLst>
            </a:custGeom>
            <a:solidFill>
              <a:srgbClr val="000000"/>
            </a:solidFill>
          </p:spPr>
          <p:txBody>
            <a:bodyPr wrap="square" lIns="0" tIns="0" rIns="0" bIns="0" rtlCol="0"/>
            <a:lstStyle/>
            <a:p/>
          </p:txBody>
        </p:sp>
        <p:sp>
          <p:nvSpPr>
            <p:cNvPr id="55" name="object 55" descr=""/>
            <p:cNvSpPr/>
            <p:nvPr/>
          </p:nvSpPr>
          <p:spPr>
            <a:xfrm>
              <a:off x="5174196" y="4328667"/>
              <a:ext cx="1057910" cy="0"/>
            </a:xfrm>
            <a:custGeom>
              <a:avLst/>
              <a:gdLst/>
              <a:ahLst/>
              <a:cxnLst/>
              <a:rect l="l" t="t" r="r" b="b"/>
              <a:pathLst>
                <a:path w="1057910" h="0">
                  <a:moveTo>
                    <a:pt x="0" y="0"/>
                  </a:moveTo>
                  <a:lnTo>
                    <a:pt x="1057311" y="0"/>
                  </a:lnTo>
                </a:path>
              </a:pathLst>
            </a:custGeom>
            <a:ln w="12408">
              <a:solidFill>
                <a:srgbClr val="000000"/>
              </a:solidFill>
            </a:ln>
          </p:spPr>
          <p:txBody>
            <a:bodyPr wrap="square" lIns="0" tIns="0" rIns="0" bIns="0" rtlCol="0"/>
            <a:lstStyle/>
            <a:p/>
          </p:txBody>
        </p:sp>
        <p:sp>
          <p:nvSpPr>
            <p:cNvPr id="56" name="object 56" descr=""/>
            <p:cNvSpPr/>
            <p:nvPr/>
          </p:nvSpPr>
          <p:spPr>
            <a:xfrm>
              <a:off x="5174196" y="4533725"/>
              <a:ext cx="1078230" cy="12700"/>
            </a:xfrm>
            <a:custGeom>
              <a:avLst/>
              <a:gdLst/>
              <a:ahLst/>
              <a:cxnLst/>
              <a:rect l="l" t="t" r="r" b="b"/>
              <a:pathLst>
                <a:path w="1078229" h="12700">
                  <a:moveTo>
                    <a:pt x="0" y="12408"/>
                  </a:moveTo>
                  <a:lnTo>
                    <a:pt x="1077638" y="12408"/>
                  </a:lnTo>
                  <a:lnTo>
                    <a:pt x="1077638" y="0"/>
                  </a:lnTo>
                  <a:lnTo>
                    <a:pt x="0" y="0"/>
                  </a:lnTo>
                  <a:lnTo>
                    <a:pt x="0" y="12408"/>
                  </a:lnTo>
                  <a:close/>
                </a:path>
              </a:pathLst>
            </a:custGeom>
            <a:solidFill>
              <a:srgbClr val="000000"/>
            </a:solidFill>
          </p:spPr>
          <p:txBody>
            <a:bodyPr wrap="square" lIns="0" tIns="0" rIns="0" bIns="0" rtlCol="0"/>
            <a:lstStyle/>
            <a:p/>
          </p:txBody>
        </p:sp>
      </p:grpSp>
      <p:sp>
        <p:nvSpPr>
          <p:cNvPr id="57" name="object 57" descr=""/>
          <p:cNvSpPr txBox="1"/>
          <p:nvPr/>
        </p:nvSpPr>
        <p:spPr>
          <a:xfrm>
            <a:off x="5559140" y="4315241"/>
            <a:ext cx="247650" cy="245745"/>
          </a:xfrm>
          <a:prstGeom prst="rect">
            <a:avLst/>
          </a:prstGeom>
        </p:spPr>
        <p:txBody>
          <a:bodyPr wrap="square" lIns="0" tIns="11430" rIns="0" bIns="0" rtlCol="0" vert="horz">
            <a:spAutoFit/>
          </a:bodyPr>
          <a:lstStyle/>
          <a:p>
            <a:pPr marL="12700">
              <a:lnSpc>
                <a:spcPct val="100000"/>
              </a:lnSpc>
              <a:spcBef>
                <a:spcPts val="90"/>
              </a:spcBef>
            </a:pPr>
            <a:r>
              <a:rPr dirty="0" sz="1450" spc="240">
                <a:latin typeface="宋体"/>
                <a:cs typeface="宋体"/>
              </a:rPr>
              <a:t>…</a:t>
            </a:r>
            <a:endParaRPr sz="1450">
              <a:latin typeface="宋体"/>
              <a:cs typeface="宋体"/>
            </a:endParaRPr>
          </a:p>
        </p:txBody>
      </p:sp>
      <p:grpSp>
        <p:nvGrpSpPr>
          <p:cNvPr id="58" name="object 58" descr=""/>
          <p:cNvGrpSpPr/>
          <p:nvPr/>
        </p:nvGrpSpPr>
        <p:grpSpPr>
          <a:xfrm>
            <a:off x="5167846" y="3835471"/>
            <a:ext cx="1090295" cy="1141095"/>
            <a:chOff x="5167846" y="3835471"/>
            <a:chExt cx="1090295" cy="1141095"/>
          </a:xfrm>
        </p:grpSpPr>
        <p:pic>
          <p:nvPicPr>
            <p:cNvPr id="59" name="object 59" descr=""/>
            <p:cNvPicPr/>
            <p:nvPr/>
          </p:nvPicPr>
          <p:blipFill>
            <a:blip r:embed="rId4" cstate="print"/>
            <a:stretch>
              <a:fillRect/>
            </a:stretch>
          </p:blipFill>
          <p:spPr>
            <a:xfrm>
              <a:off x="5174196" y="4005112"/>
              <a:ext cx="1077575" cy="161523"/>
            </a:xfrm>
            <a:prstGeom prst="rect">
              <a:avLst/>
            </a:prstGeom>
          </p:spPr>
        </p:pic>
        <p:sp>
          <p:nvSpPr>
            <p:cNvPr id="60" name="object 60" descr=""/>
            <p:cNvSpPr/>
            <p:nvPr/>
          </p:nvSpPr>
          <p:spPr>
            <a:xfrm>
              <a:off x="5174196" y="3843091"/>
              <a:ext cx="1077595" cy="937894"/>
            </a:xfrm>
            <a:custGeom>
              <a:avLst/>
              <a:gdLst/>
              <a:ahLst/>
              <a:cxnLst/>
              <a:rect l="l" t="t" r="r" b="b"/>
              <a:pathLst>
                <a:path w="1077595" h="937895">
                  <a:moveTo>
                    <a:pt x="0" y="323544"/>
                  </a:moveTo>
                  <a:lnTo>
                    <a:pt x="1077575" y="323544"/>
                  </a:lnTo>
                  <a:lnTo>
                    <a:pt x="1077575" y="162020"/>
                  </a:lnTo>
                  <a:lnTo>
                    <a:pt x="0" y="162020"/>
                  </a:lnTo>
                  <a:lnTo>
                    <a:pt x="0" y="323544"/>
                  </a:lnTo>
                  <a:close/>
                </a:path>
                <a:path w="1077595" h="937895">
                  <a:moveTo>
                    <a:pt x="287001" y="0"/>
                  </a:moveTo>
                  <a:lnTo>
                    <a:pt x="287001" y="485575"/>
                  </a:lnTo>
                </a:path>
                <a:path w="1077595" h="937895">
                  <a:moveTo>
                    <a:pt x="287001" y="696837"/>
                  </a:moveTo>
                  <a:lnTo>
                    <a:pt x="287001" y="858834"/>
                  </a:lnTo>
                </a:path>
                <a:path w="1077595" h="937895">
                  <a:moveTo>
                    <a:pt x="131325" y="323544"/>
                  </a:moveTo>
                  <a:lnTo>
                    <a:pt x="131325" y="937690"/>
                  </a:lnTo>
                </a:path>
                <a:path w="1077595" h="937895">
                  <a:moveTo>
                    <a:pt x="131325" y="937690"/>
                  </a:moveTo>
                  <a:lnTo>
                    <a:pt x="417761" y="937690"/>
                  </a:lnTo>
                </a:path>
              </a:pathLst>
            </a:custGeom>
            <a:ln w="13730">
              <a:solidFill>
                <a:srgbClr val="000000"/>
              </a:solidFill>
            </a:ln>
          </p:spPr>
          <p:txBody>
            <a:bodyPr wrap="square" lIns="0" tIns="0" rIns="0" bIns="0" rtlCol="0"/>
            <a:lstStyle/>
            <a:p/>
          </p:txBody>
        </p:sp>
        <p:pic>
          <p:nvPicPr>
            <p:cNvPr id="61" name="object 61" descr=""/>
            <p:cNvPicPr/>
            <p:nvPr/>
          </p:nvPicPr>
          <p:blipFill>
            <a:blip r:embed="rId5" cstate="print"/>
            <a:stretch>
              <a:fillRect/>
            </a:stretch>
          </p:blipFill>
          <p:spPr>
            <a:xfrm>
              <a:off x="5547588" y="4772221"/>
              <a:ext cx="90414" cy="204075"/>
            </a:xfrm>
            <a:prstGeom prst="rect">
              <a:avLst/>
            </a:prstGeom>
          </p:spPr>
        </p:pic>
        <p:sp>
          <p:nvSpPr>
            <p:cNvPr id="62" name="object 62" descr=""/>
            <p:cNvSpPr/>
            <p:nvPr/>
          </p:nvSpPr>
          <p:spPr>
            <a:xfrm>
              <a:off x="5796479" y="4161108"/>
              <a:ext cx="85725" cy="812800"/>
            </a:xfrm>
            <a:custGeom>
              <a:avLst/>
              <a:gdLst/>
              <a:ahLst/>
              <a:cxnLst/>
              <a:rect l="l" t="t" r="r" b="b"/>
              <a:pathLst>
                <a:path w="85725" h="812800">
                  <a:moveTo>
                    <a:pt x="0" y="709171"/>
                  </a:moveTo>
                  <a:lnTo>
                    <a:pt x="40652" y="812729"/>
                  </a:lnTo>
                  <a:lnTo>
                    <a:pt x="67722" y="750508"/>
                  </a:lnTo>
                  <a:lnTo>
                    <a:pt x="35414" y="750508"/>
                  </a:lnTo>
                  <a:lnTo>
                    <a:pt x="35414" y="746673"/>
                  </a:lnTo>
                  <a:lnTo>
                    <a:pt x="30175" y="746673"/>
                  </a:lnTo>
                  <a:lnTo>
                    <a:pt x="30175" y="733841"/>
                  </a:lnTo>
                  <a:lnTo>
                    <a:pt x="0" y="709171"/>
                  </a:lnTo>
                  <a:close/>
                </a:path>
                <a:path w="85725" h="812800">
                  <a:moveTo>
                    <a:pt x="30175" y="733841"/>
                  </a:moveTo>
                  <a:lnTo>
                    <a:pt x="30175" y="746673"/>
                  </a:lnTo>
                  <a:lnTo>
                    <a:pt x="35414" y="746673"/>
                  </a:lnTo>
                  <a:lnTo>
                    <a:pt x="35414" y="750508"/>
                  </a:lnTo>
                  <a:lnTo>
                    <a:pt x="45263" y="750508"/>
                  </a:lnTo>
                  <a:lnTo>
                    <a:pt x="50501" y="746673"/>
                  </a:lnTo>
                  <a:lnTo>
                    <a:pt x="50501" y="742407"/>
                  </a:lnTo>
                  <a:lnTo>
                    <a:pt x="40652" y="742407"/>
                  </a:lnTo>
                  <a:lnTo>
                    <a:pt x="30175" y="733841"/>
                  </a:lnTo>
                  <a:close/>
                </a:path>
                <a:path w="85725" h="812800">
                  <a:moveTo>
                    <a:pt x="85706" y="709171"/>
                  </a:moveTo>
                  <a:lnTo>
                    <a:pt x="50501" y="735141"/>
                  </a:lnTo>
                  <a:lnTo>
                    <a:pt x="50501" y="746673"/>
                  </a:lnTo>
                  <a:lnTo>
                    <a:pt x="45263" y="750508"/>
                  </a:lnTo>
                  <a:lnTo>
                    <a:pt x="67722" y="750508"/>
                  </a:lnTo>
                  <a:lnTo>
                    <a:pt x="85706" y="709171"/>
                  </a:lnTo>
                  <a:close/>
                </a:path>
                <a:path w="85725" h="812800">
                  <a:moveTo>
                    <a:pt x="50501" y="0"/>
                  </a:moveTo>
                  <a:lnTo>
                    <a:pt x="35414" y="0"/>
                  </a:lnTo>
                  <a:lnTo>
                    <a:pt x="30175" y="3800"/>
                  </a:lnTo>
                  <a:lnTo>
                    <a:pt x="30175" y="733841"/>
                  </a:lnTo>
                  <a:lnTo>
                    <a:pt x="40652" y="742407"/>
                  </a:lnTo>
                  <a:lnTo>
                    <a:pt x="50501" y="735141"/>
                  </a:lnTo>
                  <a:lnTo>
                    <a:pt x="50501" y="0"/>
                  </a:lnTo>
                  <a:close/>
                </a:path>
                <a:path w="85725" h="812800">
                  <a:moveTo>
                    <a:pt x="50501" y="735141"/>
                  </a:moveTo>
                  <a:lnTo>
                    <a:pt x="40652" y="742407"/>
                  </a:lnTo>
                  <a:lnTo>
                    <a:pt x="50501" y="742407"/>
                  </a:lnTo>
                  <a:lnTo>
                    <a:pt x="50501" y="735141"/>
                  </a:lnTo>
                  <a:close/>
                </a:path>
              </a:pathLst>
            </a:custGeom>
            <a:solidFill>
              <a:srgbClr val="000000"/>
            </a:solidFill>
          </p:spPr>
          <p:txBody>
            <a:bodyPr wrap="square" lIns="0" tIns="0" rIns="0" bIns="0" rtlCol="0"/>
            <a:lstStyle/>
            <a:p/>
          </p:txBody>
        </p:sp>
        <p:sp>
          <p:nvSpPr>
            <p:cNvPr id="63" name="object 63" descr=""/>
            <p:cNvSpPr/>
            <p:nvPr/>
          </p:nvSpPr>
          <p:spPr>
            <a:xfrm>
              <a:off x="5796479" y="4161108"/>
              <a:ext cx="85725" cy="812800"/>
            </a:xfrm>
            <a:custGeom>
              <a:avLst/>
              <a:gdLst/>
              <a:ahLst/>
              <a:cxnLst/>
              <a:rect l="l" t="t" r="r" b="b"/>
              <a:pathLst>
                <a:path w="85725" h="812800">
                  <a:moveTo>
                    <a:pt x="50501" y="8118"/>
                  </a:moveTo>
                  <a:lnTo>
                    <a:pt x="50501" y="742406"/>
                  </a:lnTo>
                  <a:lnTo>
                    <a:pt x="50501" y="746673"/>
                  </a:lnTo>
                  <a:lnTo>
                    <a:pt x="45263" y="750508"/>
                  </a:lnTo>
                  <a:lnTo>
                    <a:pt x="40652" y="750508"/>
                  </a:lnTo>
                  <a:lnTo>
                    <a:pt x="35414" y="750508"/>
                  </a:lnTo>
                  <a:lnTo>
                    <a:pt x="35414" y="746673"/>
                  </a:lnTo>
                  <a:lnTo>
                    <a:pt x="30175" y="746673"/>
                  </a:lnTo>
                  <a:lnTo>
                    <a:pt x="30175" y="742406"/>
                  </a:lnTo>
                  <a:lnTo>
                    <a:pt x="30175" y="8118"/>
                  </a:lnTo>
                  <a:lnTo>
                    <a:pt x="30175" y="3800"/>
                  </a:lnTo>
                  <a:lnTo>
                    <a:pt x="35414" y="0"/>
                  </a:lnTo>
                  <a:lnTo>
                    <a:pt x="40652" y="0"/>
                  </a:lnTo>
                  <a:lnTo>
                    <a:pt x="45263" y="0"/>
                  </a:lnTo>
                  <a:lnTo>
                    <a:pt x="50501" y="0"/>
                  </a:lnTo>
                  <a:lnTo>
                    <a:pt x="50501" y="3800"/>
                  </a:lnTo>
                  <a:lnTo>
                    <a:pt x="50501" y="8118"/>
                  </a:lnTo>
                  <a:close/>
                </a:path>
                <a:path w="85725" h="812800">
                  <a:moveTo>
                    <a:pt x="40652" y="742406"/>
                  </a:moveTo>
                  <a:lnTo>
                    <a:pt x="85706" y="709171"/>
                  </a:lnTo>
                  <a:lnTo>
                    <a:pt x="40652" y="812729"/>
                  </a:lnTo>
                  <a:lnTo>
                    <a:pt x="0" y="709171"/>
                  </a:lnTo>
                  <a:lnTo>
                    <a:pt x="40652" y="742406"/>
                  </a:lnTo>
                  <a:close/>
                </a:path>
              </a:pathLst>
            </a:custGeom>
            <a:ln w="4734">
              <a:solidFill>
                <a:srgbClr val="000000"/>
              </a:solidFill>
            </a:ln>
          </p:spPr>
          <p:txBody>
            <a:bodyPr wrap="square" lIns="0" tIns="0" rIns="0" bIns="0" rtlCol="0"/>
            <a:lstStyle/>
            <a:p/>
          </p:txBody>
        </p:sp>
      </p:grpSp>
      <p:sp>
        <p:nvSpPr>
          <p:cNvPr id="64" name="object 64" descr=""/>
          <p:cNvSpPr txBox="1"/>
          <p:nvPr/>
        </p:nvSpPr>
        <p:spPr>
          <a:xfrm>
            <a:off x="5005778" y="4813047"/>
            <a:ext cx="217804" cy="215900"/>
          </a:xfrm>
          <a:prstGeom prst="rect">
            <a:avLst/>
          </a:prstGeom>
        </p:spPr>
        <p:txBody>
          <a:bodyPr wrap="square" lIns="0" tIns="12065" rIns="0" bIns="0" rtlCol="0" vert="horz">
            <a:spAutoFit/>
          </a:bodyPr>
          <a:lstStyle/>
          <a:p>
            <a:pPr marL="12700">
              <a:lnSpc>
                <a:spcPct val="100000"/>
              </a:lnSpc>
              <a:spcBef>
                <a:spcPts val="95"/>
              </a:spcBef>
            </a:pPr>
            <a:r>
              <a:rPr dirty="0" sz="1250" spc="200">
                <a:latin typeface="宋体"/>
                <a:cs typeface="宋体"/>
              </a:rPr>
              <a:t>③</a:t>
            </a:r>
            <a:endParaRPr sz="1250">
              <a:latin typeface="宋体"/>
              <a:cs typeface="宋体"/>
            </a:endParaRPr>
          </a:p>
        </p:txBody>
      </p:sp>
      <p:grpSp>
        <p:nvGrpSpPr>
          <p:cNvPr id="65" name="object 65" descr=""/>
          <p:cNvGrpSpPr/>
          <p:nvPr/>
        </p:nvGrpSpPr>
        <p:grpSpPr>
          <a:xfrm>
            <a:off x="4107893" y="2363678"/>
            <a:ext cx="4265295" cy="2753995"/>
            <a:chOff x="4107893" y="2363678"/>
            <a:chExt cx="4265295" cy="2753995"/>
          </a:xfrm>
        </p:grpSpPr>
        <p:sp>
          <p:nvSpPr>
            <p:cNvPr id="66" name="object 66" descr=""/>
            <p:cNvSpPr/>
            <p:nvPr/>
          </p:nvSpPr>
          <p:spPr>
            <a:xfrm>
              <a:off x="4110115" y="5044575"/>
              <a:ext cx="1354455" cy="70485"/>
            </a:xfrm>
            <a:custGeom>
              <a:avLst/>
              <a:gdLst/>
              <a:ahLst/>
              <a:cxnLst/>
              <a:rect l="l" t="t" r="r" b="b"/>
              <a:pathLst>
                <a:path w="1354454" h="70485">
                  <a:moveTo>
                    <a:pt x="1228703" y="0"/>
                  </a:moveTo>
                  <a:lnTo>
                    <a:pt x="1268518" y="33252"/>
                  </a:lnTo>
                  <a:lnTo>
                    <a:pt x="1228703" y="70322"/>
                  </a:lnTo>
                  <a:lnTo>
                    <a:pt x="1326792" y="41354"/>
                  </a:lnTo>
                  <a:lnTo>
                    <a:pt x="1278996" y="41354"/>
                  </a:lnTo>
                  <a:lnTo>
                    <a:pt x="1278996" y="28985"/>
                  </a:lnTo>
                  <a:lnTo>
                    <a:pt x="1273757" y="24719"/>
                  </a:lnTo>
                  <a:lnTo>
                    <a:pt x="1322013" y="24719"/>
                  </a:lnTo>
                  <a:lnTo>
                    <a:pt x="1228703" y="0"/>
                  </a:lnTo>
                  <a:close/>
                </a:path>
                <a:path w="1354454" h="70485">
                  <a:moveTo>
                    <a:pt x="1258301" y="24719"/>
                  </a:moveTo>
                  <a:lnTo>
                    <a:pt x="5175" y="24719"/>
                  </a:lnTo>
                  <a:lnTo>
                    <a:pt x="0" y="28985"/>
                  </a:lnTo>
                  <a:lnTo>
                    <a:pt x="0" y="41354"/>
                  </a:lnTo>
                  <a:lnTo>
                    <a:pt x="1259817" y="41354"/>
                  </a:lnTo>
                  <a:lnTo>
                    <a:pt x="1268518" y="33252"/>
                  </a:lnTo>
                  <a:lnTo>
                    <a:pt x="1258301" y="24719"/>
                  </a:lnTo>
                  <a:close/>
                </a:path>
                <a:path w="1354454" h="70485">
                  <a:moveTo>
                    <a:pt x="1322013" y="24719"/>
                  </a:moveTo>
                  <a:lnTo>
                    <a:pt x="1273757" y="24719"/>
                  </a:lnTo>
                  <a:lnTo>
                    <a:pt x="1278996" y="28985"/>
                  </a:lnTo>
                  <a:lnTo>
                    <a:pt x="1278996" y="41354"/>
                  </a:lnTo>
                  <a:lnTo>
                    <a:pt x="1326792" y="41354"/>
                  </a:lnTo>
                  <a:lnTo>
                    <a:pt x="1354225" y="33252"/>
                  </a:lnTo>
                  <a:lnTo>
                    <a:pt x="1322013" y="24719"/>
                  </a:lnTo>
                  <a:close/>
                </a:path>
              </a:pathLst>
            </a:custGeom>
            <a:solidFill>
              <a:srgbClr val="000000"/>
            </a:solidFill>
          </p:spPr>
          <p:txBody>
            <a:bodyPr wrap="square" lIns="0" tIns="0" rIns="0" bIns="0" rtlCol="0"/>
            <a:lstStyle/>
            <a:p/>
          </p:txBody>
        </p:sp>
        <p:sp>
          <p:nvSpPr>
            <p:cNvPr id="67" name="object 67" descr=""/>
            <p:cNvSpPr/>
            <p:nvPr/>
          </p:nvSpPr>
          <p:spPr>
            <a:xfrm>
              <a:off x="4110115" y="5044575"/>
              <a:ext cx="1354455" cy="70485"/>
            </a:xfrm>
            <a:custGeom>
              <a:avLst/>
              <a:gdLst/>
              <a:ahLst/>
              <a:cxnLst/>
              <a:rect l="l" t="t" r="r" b="b"/>
              <a:pathLst>
                <a:path w="1354454" h="70485">
                  <a:moveTo>
                    <a:pt x="10372" y="24719"/>
                  </a:moveTo>
                  <a:lnTo>
                    <a:pt x="1268518" y="24719"/>
                  </a:lnTo>
                  <a:lnTo>
                    <a:pt x="1273757" y="24719"/>
                  </a:lnTo>
                  <a:lnTo>
                    <a:pt x="1278996" y="28985"/>
                  </a:lnTo>
                  <a:lnTo>
                    <a:pt x="1278996" y="33252"/>
                  </a:lnTo>
                  <a:lnTo>
                    <a:pt x="1278996" y="37087"/>
                  </a:lnTo>
                  <a:lnTo>
                    <a:pt x="1278996" y="41354"/>
                  </a:lnTo>
                  <a:lnTo>
                    <a:pt x="0" y="41354"/>
                  </a:lnTo>
                  <a:lnTo>
                    <a:pt x="0" y="37087"/>
                  </a:lnTo>
                  <a:lnTo>
                    <a:pt x="0" y="33252"/>
                  </a:lnTo>
                  <a:lnTo>
                    <a:pt x="0" y="28985"/>
                  </a:lnTo>
                  <a:lnTo>
                    <a:pt x="5175" y="24719"/>
                  </a:lnTo>
                  <a:lnTo>
                    <a:pt x="10372" y="24719"/>
                  </a:lnTo>
                  <a:close/>
                </a:path>
                <a:path w="1354454" h="70485">
                  <a:moveTo>
                    <a:pt x="1268518" y="33252"/>
                  </a:moveTo>
                  <a:lnTo>
                    <a:pt x="1228703" y="0"/>
                  </a:lnTo>
                  <a:lnTo>
                    <a:pt x="1354225" y="33252"/>
                  </a:lnTo>
                  <a:lnTo>
                    <a:pt x="1228703" y="70322"/>
                  </a:lnTo>
                  <a:lnTo>
                    <a:pt x="1268518" y="33252"/>
                  </a:lnTo>
                  <a:close/>
                </a:path>
              </a:pathLst>
            </a:custGeom>
            <a:ln w="4734">
              <a:solidFill>
                <a:srgbClr val="000000"/>
              </a:solidFill>
            </a:ln>
          </p:spPr>
          <p:txBody>
            <a:bodyPr wrap="square" lIns="0" tIns="0" rIns="0" bIns="0" rtlCol="0"/>
            <a:lstStyle/>
            <a:p/>
          </p:txBody>
        </p:sp>
        <p:sp>
          <p:nvSpPr>
            <p:cNvPr id="68" name="object 68" descr=""/>
            <p:cNvSpPr/>
            <p:nvPr/>
          </p:nvSpPr>
          <p:spPr>
            <a:xfrm>
              <a:off x="7288263" y="2370670"/>
              <a:ext cx="1077595" cy="858519"/>
            </a:xfrm>
            <a:custGeom>
              <a:avLst/>
              <a:gdLst/>
              <a:ahLst/>
              <a:cxnLst/>
              <a:rect l="l" t="t" r="r" b="b"/>
              <a:pathLst>
                <a:path w="1077595" h="858519">
                  <a:moveTo>
                    <a:pt x="1077582" y="323519"/>
                  </a:moveTo>
                  <a:lnTo>
                    <a:pt x="0" y="323519"/>
                  </a:lnTo>
                  <a:lnTo>
                    <a:pt x="0" y="858329"/>
                  </a:lnTo>
                  <a:lnTo>
                    <a:pt x="1077582" y="858329"/>
                  </a:lnTo>
                  <a:lnTo>
                    <a:pt x="1077582" y="323519"/>
                  </a:lnTo>
                  <a:close/>
                </a:path>
                <a:path w="1077595" h="858519">
                  <a:moveTo>
                    <a:pt x="1077582" y="0"/>
                  </a:moveTo>
                  <a:lnTo>
                    <a:pt x="0" y="0"/>
                  </a:lnTo>
                  <a:lnTo>
                    <a:pt x="0" y="161582"/>
                  </a:lnTo>
                  <a:lnTo>
                    <a:pt x="1077582" y="161582"/>
                  </a:lnTo>
                  <a:lnTo>
                    <a:pt x="1077582" y="0"/>
                  </a:lnTo>
                  <a:close/>
                </a:path>
              </a:pathLst>
            </a:custGeom>
            <a:solidFill>
              <a:srgbClr val="FFCCFF"/>
            </a:solidFill>
          </p:spPr>
          <p:txBody>
            <a:bodyPr wrap="square" lIns="0" tIns="0" rIns="0" bIns="0" rtlCol="0"/>
            <a:lstStyle/>
            <a:p/>
          </p:txBody>
        </p:sp>
        <p:sp>
          <p:nvSpPr>
            <p:cNvPr id="69" name="object 69" descr=""/>
            <p:cNvSpPr/>
            <p:nvPr/>
          </p:nvSpPr>
          <p:spPr>
            <a:xfrm>
              <a:off x="7288275" y="2370663"/>
              <a:ext cx="1077595" cy="858519"/>
            </a:xfrm>
            <a:custGeom>
              <a:avLst/>
              <a:gdLst/>
              <a:ahLst/>
              <a:cxnLst/>
              <a:rect l="l" t="t" r="r" b="b"/>
              <a:pathLst>
                <a:path w="1077595" h="858519">
                  <a:moveTo>
                    <a:pt x="0" y="858333"/>
                  </a:moveTo>
                  <a:lnTo>
                    <a:pt x="1077575" y="858333"/>
                  </a:lnTo>
                  <a:lnTo>
                    <a:pt x="1077575" y="0"/>
                  </a:lnTo>
                  <a:lnTo>
                    <a:pt x="0" y="0"/>
                  </a:lnTo>
                  <a:lnTo>
                    <a:pt x="0" y="858333"/>
                  </a:lnTo>
                  <a:close/>
                </a:path>
              </a:pathLst>
            </a:custGeom>
            <a:ln w="13435">
              <a:solidFill>
                <a:srgbClr val="000000"/>
              </a:solidFill>
            </a:ln>
          </p:spPr>
          <p:txBody>
            <a:bodyPr wrap="square" lIns="0" tIns="0" rIns="0" bIns="0" rtlCol="0"/>
            <a:lstStyle/>
            <a:p/>
          </p:txBody>
        </p:sp>
        <p:sp>
          <p:nvSpPr>
            <p:cNvPr id="70" name="object 70" descr=""/>
            <p:cNvSpPr/>
            <p:nvPr/>
          </p:nvSpPr>
          <p:spPr>
            <a:xfrm>
              <a:off x="7288275" y="2529097"/>
              <a:ext cx="1078230" cy="0"/>
            </a:xfrm>
            <a:custGeom>
              <a:avLst/>
              <a:gdLst/>
              <a:ahLst/>
              <a:cxnLst/>
              <a:rect l="l" t="t" r="r" b="b"/>
              <a:pathLst>
                <a:path w="1078229" h="0">
                  <a:moveTo>
                    <a:pt x="0" y="0"/>
                  </a:moveTo>
                  <a:lnTo>
                    <a:pt x="1077722" y="0"/>
                  </a:lnTo>
                </a:path>
              </a:pathLst>
            </a:custGeom>
            <a:ln w="6285">
              <a:solidFill>
                <a:srgbClr val="000000"/>
              </a:solidFill>
            </a:ln>
          </p:spPr>
          <p:txBody>
            <a:bodyPr wrap="square" lIns="0" tIns="0" rIns="0" bIns="0" rtlCol="0"/>
            <a:lstStyle/>
            <a:p/>
          </p:txBody>
        </p:sp>
        <p:sp>
          <p:nvSpPr>
            <p:cNvPr id="71" name="object 71" descr=""/>
            <p:cNvSpPr/>
            <p:nvPr/>
          </p:nvSpPr>
          <p:spPr>
            <a:xfrm>
              <a:off x="7288275" y="2697292"/>
              <a:ext cx="1078230" cy="0"/>
            </a:xfrm>
            <a:custGeom>
              <a:avLst/>
              <a:gdLst/>
              <a:ahLst/>
              <a:cxnLst/>
              <a:rect l="l" t="t" r="r" b="b"/>
              <a:pathLst>
                <a:path w="1078229" h="0">
                  <a:moveTo>
                    <a:pt x="0" y="0"/>
                  </a:moveTo>
                  <a:lnTo>
                    <a:pt x="1077722" y="0"/>
                  </a:lnTo>
                </a:path>
              </a:pathLst>
            </a:custGeom>
            <a:ln w="6204">
              <a:solidFill>
                <a:srgbClr val="000000"/>
              </a:solidFill>
            </a:ln>
          </p:spPr>
          <p:txBody>
            <a:bodyPr wrap="square" lIns="0" tIns="0" rIns="0" bIns="0" rtlCol="0"/>
            <a:lstStyle/>
            <a:p/>
          </p:txBody>
        </p:sp>
        <p:sp>
          <p:nvSpPr>
            <p:cNvPr id="72" name="object 72" descr=""/>
            <p:cNvSpPr/>
            <p:nvPr/>
          </p:nvSpPr>
          <p:spPr>
            <a:xfrm>
              <a:off x="7288275" y="2851903"/>
              <a:ext cx="1057910" cy="0"/>
            </a:xfrm>
            <a:custGeom>
              <a:avLst/>
              <a:gdLst/>
              <a:ahLst/>
              <a:cxnLst/>
              <a:rect l="l" t="t" r="r" b="b"/>
              <a:pathLst>
                <a:path w="1057909" h="0">
                  <a:moveTo>
                    <a:pt x="0" y="0"/>
                  </a:moveTo>
                  <a:lnTo>
                    <a:pt x="1057395" y="0"/>
                  </a:lnTo>
                </a:path>
              </a:pathLst>
            </a:custGeom>
            <a:ln w="12408">
              <a:solidFill>
                <a:srgbClr val="000000"/>
              </a:solidFill>
            </a:ln>
          </p:spPr>
          <p:txBody>
            <a:bodyPr wrap="square" lIns="0" tIns="0" rIns="0" bIns="0" rtlCol="0"/>
            <a:lstStyle/>
            <a:p/>
          </p:txBody>
        </p:sp>
        <p:sp>
          <p:nvSpPr>
            <p:cNvPr id="73" name="object 73" descr=""/>
            <p:cNvSpPr/>
            <p:nvPr/>
          </p:nvSpPr>
          <p:spPr>
            <a:xfrm>
              <a:off x="7288275" y="3061279"/>
              <a:ext cx="1078230" cy="12700"/>
            </a:xfrm>
            <a:custGeom>
              <a:avLst/>
              <a:gdLst/>
              <a:ahLst/>
              <a:cxnLst/>
              <a:rect l="l" t="t" r="r" b="b"/>
              <a:pathLst>
                <a:path w="1078229" h="12700">
                  <a:moveTo>
                    <a:pt x="0" y="12408"/>
                  </a:moveTo>
                  <a:lnTo>
                    <a:pt x="1077722" y="12408"/>
                  </a:lnTo>
                  <a:lnTo>
                    <a:pt x="1077722" y="0"/>
                  </a:lnTo>
                  <a:lnTo>
                    <a:pt x="0" y="0"/>
                  </a:lnTo>
                  <a:lnTo>
                    <a:pt x="0" y="12408"/>
                  </a:lnTo>
                  <a:close/>
                </a:path>
              </a:pathLst>
            </a:custGeom>
            <a:solidFill>
              <a:srgbClr val="000000"/>
            </a:solidFill>
          </p:spPr>
          <p:txBody>
            <a:bodyPr wrap="square" lIns="0" tIns="0" rIns="0" bIns="0" rtlCol="0"/>
            <a:lstStyle/>
            <a:p/>
          </p:txBody>
        </p:sp>
      </p:grpSp>
      <p:sp>
        <p:nvSpPr>
          <p:cNvPr id="74" name="object 74" descr=""/>
          <p:cNvSpPr txBox="1"/>
          <p:nvPr/>
        </p:nvSpPr>
        <p:spPr>
          <a:xfrm>
            <a:off x="7673303" y="2838477"/>
            <a:ext cx="247650" cy="245745"/>
          </a:xfrm>
          <a:prstGeom prst="rect">
            <a:avLst/>
          </a:prstGeom>
        </p:spPr>
        <p:txBody>
          <a:bodyPr wrap="square" lIns="0" tIns="11430" rIns="0" bIns="0" rtlCol="0" vert="horz">
            <a:spAutoFit/>
          </a:bodyPr>
          <a:lstStyle/>
          <a:p>
            <a:pPr marL="12700">
              <a:lnSpc>
                <a:spcPct val="100000"/>
              </a:lnSpc>
              <a:spcBef>
                <a:spcPts val="90"/>
              </a:spcBef>
            </a:pPr>
            <a:r>
              <a:rPr dirty="0" sz="1450" spc="240">
                <a:latin typeface="宋体"/>
                <a:cs typeface="宋体"/>
              </a:rPr>
              <a:t>…</a:t>
            </a:r>
            <a:endParaRPr sz="1450">
              <a:latin typeface="宋体"/>
              <a:cs typeface="宋体"/>
            </a:endParaRPr>
          </a:p>
        </p:txBody>
      </p:sp>
      <p:grpSp>
        <p:nvGrpSpPr>
          <p:cNvPr id="75" name="object 75" descr=""/>
          <p:cNvGrpSpPr/>
          <p:nvPr/>
        </p:nvGrpSpPr>
        <p:grpSpPr>
          <a:xfrm>
            <a:off x="7281925" y="2525890"/>
            <a:ext cx="1095375" cy="175260"/>
            <a:chOff x="7281925" y="2525890"/>
            <a:chExt cx="1095375" cy="175260"/>
          </a:xfrm>
        </p:grpSpPr>
        <p:pic>
          <p:nvPicPr>
            <p:cNvPr id="76" name="object 76" descr=""/>
            <p:cNvPicPr/>
            <p:nvPr/>
          </p:nvPicPr>
          <p:blipFill>
            <a:blip r:embed="rId6" cstate="print"/>
            <a:stretch>
              <a:fillRect/>
            </a:stretch>
          </p:blipFill>
          <p:spPr>
            <a:xfrm>
              <a:off x="7288275" y="2532240"/>
              <a:ext cx="1082248" cy="161950"/>
            </a:xfrm>
            <a:prstGeom prst="rect">
              <a:avLst/>
            </a:prstGeom>
          </p:spPr>
        </p:pic>
        <p:sp>
          <p:nvSpPr>
            <p:cNvPr id="77" name="object 77" descr=""/>
            <p:cNvSpPr/>
            <p:nvPr/>
          </p:nvSpPr>
          <p:spPr>
            <a:xfrm>
              <a:off x="7288275" y="2532240"/>
              <a:ext cx="1082675" cy="162560"/>
            </a:xfrm>
            <a:custGeom>
              <a:avLst/>
              <a:gdLst/>
              <a:ahLst/>
              <a:cxnLst/>
              <a:rect l="l" t="t" r="r" b="b"/>
              <a:pathLst>
                <a:path w="1082675" h="162560">
                  <a:moveTo>
                    <a:pt x="0" y="161950"/>
                  </a:moveTo>
                  <a:lnTo>
                    <a:pt x="1082248" y="161950"/>
                  </a:lnTo>
                  <a:lnTo>
                    <a:pt x="1082248" y="0"/>
                  </a:lnTo>
                  <a:lnTo>
                    <a:pt x="0" y="0"/>
                  </a:lnTo>
                  <a:lnTo>
                    <a:pt x="0" y="161950"/>
                  </a:lnTo>
                  <a:close/>
                </a:path>
              </a:pathLst>
            </a:custGeom>
            <a:ln w="12466">
              <a:solidFill>
                <a:srgbClr val="000000"/>
              </a:solidFill>
            </a:ln>
          </p:spPr>
          <p:txBody>
            <a:bodyPr wrap="square" lIns="0" tIns="0" rIns="0" bIns="0" rtlCol="0"/>
            <a:lstStyle/>
            <a:p/>
          </p:txBody>
        </p:sp>
      </p:grpSp>
      <p:sp>
        <p:nvSpPr>
          <p:cNvPr id="78" name="object 78" descr=""/>
          <p:cNvSpPr txBox="1"/>
          <p:nvPr/>
        </p:nvSpPr>
        <p:spPr>
          <a:xfrm>
            <a:off x="7386637" y="1971265"/>
            <a:ext cx="408940" cy="402590"/>
          </a:xfrm>
          <a:prstGeom prst="rect">
            <a:avLst/>
          </a:prstGeom>
        </p:spPr>
        <p:txBody>
          <a:bodyPr wrap="square" lIns="0" tIns="12065" rIns="0" bIns="0" rtlCol="0" vert="horz">
            <a:spAutoFit/>
          </a:bodyPr>
          <a:lstStyle/>
          <a:p>
            <a:pPr marL="12700">
              <a:lnSpc>
                <a:spcPts val="1485"/>
              </a:lnSpc>
              <a:spcBef>
                <a:spcPts val="95"/>
              </a:spcBef>
            </a:pPr>
            <a:r>
              <a:rPr dirty="0" sz="1250" spc="220" b="1">
                <a:latin typeface="宋体"/>
                <a:cs typeface="宋体"/>
              </a:rPr>
              <a:t>数据</a:t>
            </a:r>
            <a:endParaRPr sz="1250">
              <a:latin typeface="宋体"/>
              <a:cs typeface="宋体"/>
            </a:endParaRPr>
          </a:p>
          <a:p>
            <a:pPr marL="78105">
              <a:lnSpc>
                <a:spcPts val="1485"/>
              </a:lnSpc>
            </a:pPr>
            <a:r>
              <a:rPr dirty="0" sz="1250" spc="95" b="1">
                <a:latin typeface="宋体"/>
                <a:cs typeface="宋体"/>
              </a:rPr>
              <a:t>64</a:t>
            </a:r>
            <a:endParaRPr sz="1250">
              <a:latin typeface="宋体"/>
              <a:cs typeface="宋体"/>
            </a:endParaRPr>
          </a:p>
        </p:txBody>
      </p:sp>
      <p:grpSp>
        <p:nvGrpSpPr>
          <p:cNvPr id="79" name="object 79" descr=""/>
          <p:cNvGrpSpPr/>
          <p:nvPr/>
        </p:nvGrpSpPr>
        <p:grpSpPr>
          <a:xfrm>
            <a:off x="7281290" y="3836175"/>
            <a:ext cx="1091565" cy="873125"/>
            <a:chOff x="7281290" y="3836175"/>
            <a:chExt cx="1091565" cy="873125"/>
          </a:xfrm>
        </p:grpSpPr>
        <p:sp>
          <p:nvSpPr>
            <p:cNvPr id="80" name="object 80" descr=""/>
            <p:cNvSpPr/>
            <p:nvPr/>
          </p:nvSpPr>
          <p:spPr>
            <a:xfrm>
              <a:off x="7288263" y="3843172"/>
              <a:ext cx="1077595" cy="859155"/>
            </a:xfrm>
            <a:custGeom>
              <a:avLst/>
              <a:gdLst/>
              <a:ahLst/>
              <a:cxnLst/>
              <a:rect l="l" t="t" r="r" b="b"/>
              <a:pathLst>
                <a:path w="1077595" h="859154">
                  <a:moveTo>
                    <a:pt x="1077582" y="323469"/>
                  </a:moveTo>
                  <a:lnTo>
                    <a:pt x="0" y="323469"/>
                  </a:lnTo>
                  <a:lnTo>
                    <a:pt x="0" y="858761"/>
                  </a:lnTo>
                  <a:lnTo>
                    <a:pt x="1077582" y="858761"/>
                  </a:lnTo>
                  <a:lnTo>
                    <a:pt x="1077582" y="323469"/>
                  </a:lnTo>
                  <a:close/>
                </a:path>
                <a:path w="1077595" h="859154">
                  <a:moveTo>
                    <a:pt x="1077582" y="0"/>
                  </a:moveTo>
                  <a:lnTo>
                    <a:pt x="0" y="0"/>
                  </a:lnTo>
                  <a:lnTo>
                    <a:pt x="0" y="161950"/>
                  </a:lnTo>
                  <a:lnTo>
                    <a:pt x="1077582" y="161950"/>
                  </a:lnTo>
                  <a:lnTo>
                    <a:pt x="1077582" y="0"/>
                  </a:lnTo>
                  <a:close/>
                </a:path>
              </a:pathLst>
            </a:custGeom>
            <a:solidFill>
              <a:srgbClr val="FFCCFF"/>
            </a:solidFill>
          </p:spPr>
          <p:txBody>
            <a:bodyPr wrap="square" lIns="0" tIns="0" rIns="0" bIns="0" rtlCol="0"/>
            <a:lstStyle/>
            <a:p/>
          </p:txBody>
        </p:sp>
        <p:sp>
          <p:nvSpPr>
            <p:cNvPr id="81" name="object 81" descr=""/>
            <p:cNvSpPr/>
            <p:nvPr/>
          </p:nvSpPr>
          <p:spPr>
            <a:xfrm>
              <a:off x="7288275" y="3843160"/>
              <a:ext cx="1077595" cy="859155"/>
            </a:xfrm>
            <a:custGeom>
              <a:avLst/>
              <a:gdLst/>
              <a:ahLst/>
              <a:cxnLst/>
              <a:rect l="l" t="t" r="r" b="b"/>
              <a:pathLst>
                <a:path w="1077595" h="859154">
                  <a:moveTo>
                    <a:pt x="0" y="858765"/>
                  </a:moveTo>
                  <a:lnTo>
                    <a:pt x="1077575" y="858765"/>
                  </a:lnTo>
                  <a:lnTo>
                    <a:pt x="1077575" y="0"/>
                  </a:lnTo>
                  <a:lnTo>
                    <a:pt x="0" y="0"/>
                  </a:lnTo>
                  <a:lnTo>
                    <a:pt x="0" y="858765"/>
                  </a:lnTo>
                  <a:close/>
                </a:path>
              </a:pathLst>
            </a:custGeom>
            <a:ln w="13435">
              <a:solidFill>
                <a:srgbClr val="000000"/>
              </a:solidFill>
            </a:ln>
          </p:spPr>
          <p:txBody>
            <a:bodyPr wrap="square" lIns="0" tIns="0" rIns="0" bIns="0" rtlCol="0"/>
            <a:lstStyle/>
            <a:p/>
          </p:txBody>
        </p:sp>
        <p:sp>
          <p:nvSpPr>
            <p:cNvPr id="82" name="object 82" descr=""/>
            <p:cNvSpPr/>
            <p:nvPr/>
          </p:nvSpPr>
          <p:spPr>
            <a:xfrm>
              <a:off x="7288275" y="4002015"/>
              <a:ext cx="1078230" cy="0"/>
            </a:xfrm>
            <a:custGeom>
              <a:avLst/>
              <a:gdLst/>
              <a:ahLst/>
              <a:cxnLst/>
              <a:rect l="l" t="t" r="r" b="b"/>
              <a:pathLst>
                <a:path w="1078229" h="0">
                  <a:moveTo>
                    <a:pt x="0" y="0"/>
                  </a:moveTo>
                  <a:lnTo>
                    <a:pt x="1077722" y="0"/>
                  </a:lnTo>
                </a:path>
              </a:pathLst>
            </a:custGeom>
            <a:ln w="6193">
              <a:solidFill>
                <a:srgbClr val="000000"/>
              </a:solidFill>
            </a:ln>
          </p:spPr>
          <p:txBody>
            <a:bodyPr wrap="square" lIns="0" tIns="0" rIns="0" bIns="0" rtlCol="0"/>
            <a:lstStyle/>
            <a:p/>
          </p:txBody>
        </p:sp>
        <p:sp>
          <p:nvSpPr>
            <p:cNvPr id="83" name="object 83" descr=""/>
            <p:cNvSpPr/>
            <p:nvPr/>
          </p:nvSpPr>
          <p:spPr>
            <a:xfrm>
              <a:off x="7288275" y="4169738"/>
              <a:ext cx="1078230" cy="0"/>
            </a:xfrm>
            <a:custGeom>
              <a:avLst/>
              <a:gdLst/>
              <a:ahLst/>
              <a:cxnLst/>
              <a:rect l="l" t="t" r="r" b="b"/>
              <a:pathLst>
                <a:path w="1078229" h="0">
                  <a:moveTo>
                    <a:pt x="0" y="0"/>
                  </a:moveTo>
                  <a:lnTo>
                    <a:pt x="1077722" y="0"/>
                  </a:lnTo>
                </a:path>
              </a:pathLst>
            </a:custGeom>
            <a:ln w="6204">
              <a:solidFill>
                <a:srgbClr val="000000"/>
              </a:solidFill>
            </a:ln>
          </p:spPr>
          <p:txBody>
            <a:bodyPr wrap="square" lIns="0" tIns="0" rIns="0" bIns="0" rtlCol="0"/>
            <a:lstStyle/>
            <a:p/>
          </p:txBody>
        </p:sp>
        <p:sp>
          <p:nvSpPr>
            <p:cNvPr id="84" name="object 84" descr=""/>
            <p:cNvSpPr/>
            <p:nvPr/>
          </p:nvSpPr>
          <p:spPr>
            <a:xfrm>
              <a:off x="7288275" y="4328667"/>
              <a:ext cx="1057910" cy="0"/>
            </a:xfrm>
            <a:custGeom>
              <a:avLst/>
              <a:gdLst/>
              <a:ahLst/>
              <a:cxnLst/>
              <a:rect l="l" t="t" r="r" b="b"/>
              <a:pathLst>
                <a:path w="1057909" h="0">
                  <a:moveTo>
                    <a:pt x="0" y="0"/>
                  </a:moveTo>
                  <a:lnTo>
                    <a:pt x="1057395" y="0"/>
                  </a:lnTo>
                </a:path>
              </a:pathLst>
            </a:custGeom>
            <a:ln w="12408">
              <a:solidFill>
                <a:srgbClr val="000000"/>
              </a:solidFill>
            </a:ln>
          </p:spPr>
          <p:txBody>
            <a:bodyPr wrap="square" lIns="0" tIns="0" rIns="0" bIns="0" rtlCol="0"/>
            <a:lstStyle/>
            <a:p/>
          </p:txBody>
        </p:sp>
        <p:sp>
          <p:nvSpPr>
            <p:cNvPr id="85" name="object 85" descr=""/>
            <p:cNvSpPr/>
            <p:nvPr/>
          </p:nvSpPr>
          <p:spPr>
            <a:xfrm>
              <a:off x="7288275" y="4533725"/>
              <a:ext cx="1078230" cy="12700"/>
            </a:xfrm>
            <a:custGeom>
              <a:avLst/>
              <a:gdLst/>
              <a:ahLst/>
              <a:cxnLst/>
              <a:rect l="l" t="t" r="r" b="b"/>
              <a:pathLst>
                <a:path w="1078229" h="12700">
                  <a:moveTo>
                    <a:pt x="0" y="12408"/>
                  </a:moveTo>
                  <a:lnTo>
                    <a:pt x="1077722" y="12408"/>
                  </a:lnTo>
                  <a:lnTo>
                    <a:pt x="1077722" y="0"/>
                  </a:lnTo>
                  <a:lnTo>
                    <a:pt x="0" y="0"/>
                  </a:lnTo>
                  <a:lnTo>
                    <a:pt x="0" y="12408"/>
                  </a:lnTo>
                  <a:close/>
                </a:path>
              </a:pathLst>
            </a:custGeom>
            <a:solidFill>
              <a:srgbClr val="000000"/>
            </a:solidFill>
          </p:spPr>
          <p:txBody>
            <a:bodyPr wrap="square" lIns="0" tIns="0" rIns="0" bIns="0" rtlCol="0"/>
            <a:lstStyle/>
            <a:p/>
          </p:txBody>
        </p:sp>
      </p:grpSp>
      <p:sp>
        <p:nvSpPr>
          <p:cNvPr id="86" name="object 86" descr=""/>
          <p:cNvSpPr txBox="1"/>
          <p:nvPr/>
        </p:nvSpPr>
        <p:spPr>
          <a:xfrm>
            <a:off x="7673303" y="4315241"/>
            <a:ext cx="247650" cy="245745"/>
          </a:xfrm>
          <a:prstGeom prst="rect">
            <a:avLst/>
          </a:prstGeom>
        </p:spPr>
        <p:txBody>
          <a:bodyPr wrap="square" lIns="0" tIns="11430" rIns="0" bIns="0" rtlCol="0" vert="horz">
            <a:spAutoFit/>
          </a:bodyPr>
          <a:lstStyle/>
          <a:p>
            <a:pPr marL="12700">
              <a:lnSpc>
                <a:spcPct val="100000"/>
              </a:lnSpc>
              <a:spcBef>
                <a:spcPts val="90"/>
              </a:spcBef>
            </a:pPr>
            <a:r>
              <a:rPr dirty="0" sz="1450" spc="240">
                <a:latin typeface="宋体"/>
                <a:cs typeface="宋体"/>
              </a:rPr>
              <a:t>…</a:t>
            </a:r>
            <a:endParaRPr sz="1450">
              <a:latin typeface="宋体"/>
              <a:cs typeface="宋体"/>
            </a:endParaRPr>
          </a:p>
        </p:txBody>
      </p:sp>
      <p:grpSp>
        <p:nvGrpSpPr>
          <p:cNvPr id="87" name="object 87" descr=""/>
          <p:cNvGrpSpPr/>
          <p:nvPr/>
        </p:nvGrpSpPr>
        <p:grpSpPr>
          <a:xfrm>
            <a:off x="7281925" y="3998762"/>
            <a:ext cx="1090295" cy="174625"/>
            <a:chOff x="7281925" y="3998762"/>
            <a:chExt cx="1090295" cy="174625"/>
          </a:xfrm>
        </p:grpSpPr>
        <p:pic>
          <p:nvPicPr>
            <p:cNvPr id="88" name="object 88" descr=""/>
            <p:cNvPicPr/>
            <p:nvPr/>
          </p:nvPicPr>
          <p:blipFill>
            <a:blip r:embed="rId7" cstate="print"/>
            <a:stretch>
              <a:fillRect/>
            </a:stretch>
          </p:blipFill>
          <p:spPr>
            <a:xfrm>
              <a:off x="7288275" y="4005112"/>
              <a:ext cx="1077575" cy="161523"/>
            </a:xfrm>
            <a:prstGeom prst="rect">
              <a:avLst/>
            </a:prstGeom>
          </p:spPr>
        </p:pic>
        <p:sp>
          <p:nvSpPr>
            <p:cNvPr id="89" name="object 89" descr=""/>
            <p:cNvSpPr/>
            <p:nvPr/>
          </p:nvSpPr>
          <p:spPr>
            <a:xfrm>
              <a:off x="7288275" y="4005112"/>
              <a:ext cx="1077595" cy="161925"/>
            </a:xfrm>
            <a:custGeom>
              <a:avLst/>
              <a:gdLst/>
              <a:ahLst/>
              <a:cxnLst/>
              <a:rect l="l" t="t" r="r" b="b"/>
              <a:pathLst>
                <a:path w="1077595" h="161925">
                  <a:moveTo>
                    <a:pt x="0" y="161523"/>
                  </a:moveTo>
                  <a:lnTo>
                    <a:pt x="1077575" y="161523"/>
                  </a:lnTo>
                  <a:lnTo>
                    <a:pt x="1077575" y="0"/>
                  </a:lnTo>
                  <a:lnTo>
                    <a:pt x="0" y="0"/>
                  </a:lnTo>
                  <a:lnTo>
                    <a:pt x="0" y="161523"/>
                  </a:lnTo>
                  <a:close/>
                </a:path>
              </a:pathLst>
            </a:custGeom>
            <a:ln w="12466">
              <a:solidFill>
                <a:srgbClr val="000000"/>
              </a:solidFill>
            </a:ln>
          </p:spPr>
          <p:txBody>
            <a:bodyPr wrap="square" lIns="0" tIns="0" rIns="0" bIns="0" rtlCol="0"/>
            <a:lstStyle/>
            <a:p/>
          </p:txBody>
        </p:sp>
      </p:grpSp>
      <p:sp>
        <p:nvSpPr>
          <p:cNvPr id="90" name="object 90" descr=""/>
          <p:cNvSpPr txBox="1"/>
          <p:nvPr/>
        </p:nvSpPr>
        <p:spPr>
          <a:xfrm>
            <a:off x="7582986" y="4837766"/>
            <a:ext cx="1203325" cy="215900"/>
          </a:xfrm>
          <a:prstGeom prst="rect">
            <a:avLst/>
          </a:prstGeom>
        </p:spPr>
        <p:txBody>
          <a:bodyPr wrap="square" lIns="0" tIns="12065" rIns="0" bIns="0" rtlCol="0" vert="horz">
            <a:spAutoFit/>
          </a:bodyPr>
          <a:lstStyle/>
          <a:p>
            <a:pPr marL="12700">
              <a:lnSpc>
                <a:spcPct val="100000"/>
              </a:lnSpc>
              <a:spcBef>
                <a:spcPts val="95"/>
              </a:spcBef>
            </a:pPr>
            <a:r>
              <a:rPr dirty="0" sz="1250" spc="120" b="1">
                <a:latin typeface="宋体"/>
                <a:cs typeface="宋体"/>
              </a:rPr>
              <a:t>2:1</a:t>
            </a:r>
            <a:r>
              <a:rPr dirty="0" sz="1250" spc="250" b="1">
                <a:latin typeface="宋体"/>
                <a:cs typeface="宋体"/>
              </a:rPr>
              <a:t> 多路选择</a:t>
            </a:r>
            <a:endParaRPr sz="1250">
              <a:latin typeface="宋体"/>
              <a:cs typeface="宋体"/>
            </a:endParaRPr>
          </a:p>
        </p:txBody>
      </p:sp>
      <p:grpSp>
        <p:nvGrpSpPr>
          <p:cNvPr id="91" name="object 91" descr=""/>
          <p:cNvGrpSpPr/>
          <p:nvPr/>
        </p:nvGrpSpPr>
        <p:grpSpPr>
          <a:xfrm>
            <a:off x="5146836" y="1641140"/>
            <a:ext cx="3448050" cy="3201035"/>
            <a:chOff x="5146836" y="1641140"/>
            <a:chExt cx="3448050" cy="3201035"/>
          </a:xfrm>
        </p:grpSpPr>
        <p:sp>
          <p:nvSpPr>
            <p:cNvPr id="92" name="object 92" descr=""/>
            <p:cNvSpPr/>
            <p:nvPr/>
          </p:nvSpPr>
          <p:spPr>
            <a:xfrm>
              <a:off x="6825376" y="1781771"/>
              <a:ext cx="1762125" cy="3053080"/>
            </a:xfrm>
            <a:custGeom>
              <a:avLst/>
              <a:gdLst/>
              <a:ahLst/>
              <a:cxnLst/>
              <a:rect l="l" t="t" r="r" b="b"/>
              <a:pathLst>
                <a:path w="1762125" h="3053079">
                  <a:moveTo>
                    <a:pt x="1102449" y="2384864"/>
                  </a:moveTo>
                  <a:lnTo>
                    <a:pt x="1102449" y="3052699"/>
                  </a:lnTo>
                </a:path>
                <a:path w="1762125" h="3053079">
                  <a:moveTo>
                    <a:pt x="1188155" y="912418"/>
                  </a:moveTo>
                  <a:lnTo>
                    <a:pt x="1188155" y="1580236"/>
                  </a:lnTo>
                </a:path>
                <a:path w="1762125" h="3053079">
                  <a:moveTo>
                    <a:pt x="1188155" y="1580236"/>
                  </a:moveTo>
                  <a:lnTo>
                    <a:pt x="1761697" y="1580236"/>
                  </a:lnTo>
                </a:path>
                <a:path w="1762125" h="3053079">
                  <a:moveTo>
                    <a:pt x="1761697" y="1580236"/>
                  </a:moveTo>
                  <a:lnTo>
                    <a:pt x="1761697" y="3052699"/>
                  </a:lnTo>
                </a:path>
                <a:path w="1762125" h="3053079">
                  <a:moveTo>
                    <a:pt x="0" y="107790"/>
                  </a:moveTo>
                  <a:lnTo>
                    <a:pt x="0" y="2355844"/>
                  </a:lnTo>
                </a:path>
                <a:path w="1762125" h="3053079">
                  <a:moveTo>
                    <a:pt x="156115" y="0"/>
                  </a:moveTo>
                  <a:lnTo>
                    <a:pt x="156115" y="2248053"/>
                  </a:lnTo>
                </a:path>
              </a:pathLst>
            </a:custGeom>
            <a:ln w="13730">
              <a:solidFill>
                <a:srgbClr val="000000"/>
              </a:solidFill>
            </a:ln>
          </p:spPr>
          <p:txBody>
            <a:bodyPr wrap="square" lIns="0" tIns="0" rIns="0" bIns="0" rtlCol="0"/>
            <a:lstStyle/>
            <a:p/>
          </p:txBody>
        </p:sp>
        <p:sp>
          <p:nvSpPr>
            <p:cNvPr id="93" name="object 93" descr=""/>
            <p:cNvSpPr/>
            <p:nvPr/>
          </p:nvSpPr>
          <p:spPr>
            <a:xfrm>
              <a:off x="6974367" y="2526631"/>
              <a:ext cx="297815" cy="70485"/>
            </a:xfrm>
            <a:custGeom>
              <a:avLst/>
              <a:gdLst/>
              <a:ahLst/>
              <a:cxnLst/>
              <a:rect l="l" t="t" r="r" b="b"/>
              <a:pathLst>
                <a:path w="297815" h="70485">
                  <a:moveTo>
                    <a:pt x="200309" y="45370"/>
                  </a:moveTo>
                  <a:lnTo>
                    <a:pt x="165964" y="70305"/>
                  </a:lnTo>
                  <a:lnTo>
                    <a:pt x="263821" y="45603"/>
                  </a:lnTo>
                  <a:lnTo>
                    <a:pt x="211646" y="45603"/>
                  </a:lnTo>
                  <a:lnTo>
                    <a:pt x="200309" y="45370"/>
                  </a:lnTo>
                  <a:close/>
                </a:path>
                <a:path w="297815" h="70485">
                  <a:moveTo>
                    <a:pt x="202594" y="28826"/>
                  </a:moveTo>
                  <a:lnTo>
                    <a:pt x="211646" y="37139"/>
                  </a:lnTo>
                  <a:lnTo>
                    <a:pt x="200309" y="45370"/>
                  </a:lnTo>
                  <a:lnTo>
                    <a:pt x="211646" y="45603"/>
                  </a:lnTo>
                  <a:lnTo>
                    <a:pt x="216466" y="45603"/>
                  </a:lnTo>
                  <a:lnTo>
                    <a:pt x="216466" y="41457"/>
                  </a:lnTo>
                  <a:lnTo>
                    <a:pt x="221495" y="41457"/>
                  </a:lnTo>
                  <a:lnTo>
                    <a:pt x="221495" y="33339"/>
                  </a:lnTo>
                  <a:lnTo>
                    <a:pt x="216466" y="29020"/>
                  </a:lnTo>
                  <a:lnTo>
                    <a:pt x="211646" y="29020"/>
                  </a:lnTo>
                  <a:lnTo>
                    <a:pt x="202594" y="28826"/>
                  </a:lnTo>
                  <a:close/>
                </a:path>
                <a:path w="297815" h="70485">
                  <a:moveTo>
                    <a:pt x="171203" y="0"/>
                  </a:moveTo>
                  <a:lnTo>
                    <a:pt x="202594" y="28826"/>
                  </a:lnTo>
                  <a:lnTo>
                    <a:pt x="211646" y="29020"/>
                  </a:lnTo>
                  <a:lnTo>
                    <a:pt x="216466" y="29020"/>
                  </a:lnTo>
                  <a:lnTo>
                    <a:pt x="221495" y="33339"/>
                  </a:lnTo>
                  <a:lnTo>
                    <a:pt x="221495" y="41457"/>
                  </a:lnTo>
                  <a:lnTo>
                    <a:pt x="216466" y="41457"/>
                  </a:lnTo>
                  <a:lnTo>
                    <a:pt x="216466" y="45603"/>
                  </a:lnTo>
                  <a:lnTo>
                    <a:pt x="263821" y="45603"/>
                  </a:lnTo>
                  <a:lnTo>
                    <a:pt x="297353" y="37139"/>
                  </a:lnTo>
                  <a:lnTo>
                    <a:pt x="171203" y="0"/>
                  </a:lnTo>
                  <a:close/>
                </a:path>
                <a:path w="297815" h="70485">
                  <a:moveTo>
                    <a:pt x="10268" y="24701"/>
                  </a:moveTo>
                  <a:lnTo>
                    <a:pt x="5238" y="24701"/>
                  </a:lnTo>
                  <a:lnTo>
                    <a:pt x="0" y="29020"/>
                  </a:lnTo>
                  <a:lnTo>
                    <a:pt x="0" y="41457"/>
                  </a:lnTo>
                  <a:lnTo>
                    <a:pt x="10268" y="41457"/>
                  </a:lnTo>
                  <a:lnTo>
                    <a:pt x="200309" y="45370"/>
                  </a:lnTo>
                  <a:lnTo>
                    <a:pt x="211646" y="37139"/>
                  </a:lnTo>
                  <a:lnTo>
                    <a:pt x="202594" y="28826"/>
                  </a:lnTo>
                  <a:lnTo>
                    <a:pt x="10268" y="24701"/>
                  </a:lnTo>
                  <a:close/>
                </a:path>
              </a:pathLst>
            </a:custGeom>
            <a:solidFill>
              <a:srgbClr val="000000"/>
            </a:solidFill>
          </p:spPr>
          <p:txBody>
            <a:bodyPr wrap="square" lIns="0" tIns="0" rIns="0" bIns="0" rtlCol="0"/>
            <a:lstStyle/>
            <a:p/>
          </p:txBody>
        </p:sp>
        <p:pic>
          <p:nvPicPr>
            <p:cNvPr id="94" name="object 94" descr=""/>
            <p:cNvPicPr/>
            <p:nvPr/>
          </p:nvPicPr>
          <p:blipFill>
            <a:blip r:embed="rId8" cstate="print"/>
            <a:stretch>
              <a:fillRect/>
            </a:stretch>
          </p:blipFill>
          <p:spPr>
            <a:xfrm>
              <a:off x="6972221" y="2524356"/>
              <a:ext cx="301773" cy="74854"/>
            </a:xfrm>
            <a:prstGeom prst="rect">
              <a:avLst/>
            </a:prstGeom>
          </p:spPr>
        </p:pic>
        <p:sp>
          <p:nvSpPr>
            <p:cNvPr id="95" name="object 95" descr=""/>
            <p:cNvSpPr/>
            <p:nvPr/>
          </p:nvSpPr>
          <p:spPr>
            <a:xfrm>
              <a:off x="6818670" y="2634421"/>
              <a:ext cx="473075" cy="66675"/>
            </a:xfrm>
            <a:custGeom>
              <a:avLst/>
              <a:gdLst/>
              <a:ahLst/>
              <a:cxnLst/>
              <a:rect l="l" t="t" r="r" b="b"/>
              <a:pathLst>
                <a:path w="473075" h="66675">
                  <a:moveTo>
                    <a:pt x="347226" y="0"/>
                  </a:moveTo>
                  <a:lnTo>
                    <a:pt x="387041" y="33339"/>
                  </a:lnTo>
                  <a:lnTo>
                    <a:pt x="347226" y="66505"/>
                  </a:lnTo>
                  <a:lnTo>
                    <a:pt x="442021" y="41457"/>
                  </a:lnTo>
                  <a:lnTo>
                    <a:pt x="397518" y="41457"/>
                  </a:lnTo>
                  <a:lnTo>
                    <a:pt x="397518" y="29020"/>
                  </a:lnTo>
                  <a:lnTo>
                    <a:pt x="392279" y="24874"/>
                  </a:lnTo>
                  <a:lnTo>
                    <a:pt x="440879" y="24874"/>
                  </a:lnTo>
                  <a:lnTo>
                    <a:pt x="347226" y="0"/>
                  </a:lnTo>
                  <a:close/>
                </a:path>
                <a:path w="473075" h="66675">
                  <a:moveTo>
                    <a:pt x="376932" y="24874"/>
                  </a:moveTo>
                  <a:lnTo>
                    <a:pt x="4610" y="24874"/>
                  </a:lnTo>
                  <a:lnTo>
                    <a:pt x="4610" y="29020"/>
                  </a:lnTo>
                  <a:lnTo>
                    <a:pt x="0" y="29020"/>
                  </a:lnTo>
                  <a:lnTo>
                    <a:pt x="0" y="37139"/>
                  </a:lnTo>
                  <a:lnTo>
                    <a:pt x="4610" y="41457"/>
                  </a:lnTo>
                  <a:lnTo>
                    <a:pt x="377294" y="41457"/>
                  </a:lnTo>
                  <a:lnTo>
                    <a:pt x="387041" y="33339"/>
                  </a:lnTo>
                  <a:lnTo>
                    <a:pt x="376932" y="24874"/>
                  </a:lnTo>
                  <a:close/>
                </a:path>
                <a:path w="473075" h="66675">
                  <a:moveTo>
                    <a:pt x="440879" y="24874"/>
                  </a:moveTo>
                  <a:lnTo>
                    <a:pt x="392279" y="24874"/>
                  </a:lnTo>
                  <a:lnTo>
                    <a:pt x="397518" y="29020"/>
                  </a:lnTo>
                  <a:lnTo>
                    <a:pt x="397518" y="41457"/>
                  </a:lnTo>
                  <a:lnTo>
                    <a:pt x="442021" y="41457"/>
                  </a:lnTo>
                  <a:lnTo>
                    <a:pt x="472747" y="33339"/>
                  </a:lnTo>
                  <a:lnTo>
                    <a:pt x="440879" y="24874"/>
                  </a:lnTo>
                  <a:close/>
                </a:path>
              </a:pathLst>
            </a:custGeom>
            <a:solidFill>
              <a:srgbClr val="000000"/>
            </a:solidFill>
          </p:spPr>
          <p:txBody>
            <a:bodyPr wrap="square" lIns="0" tIns="0" rIns="0" bIns="0" rtlCol="0"/>
            <a:lstStyle/>
            <a:p/>
          </p:txBody>
        </p:sp>
        <p:sp>
          <p:nvSpPr>
            <p:cNvPr id="96" name="object 96" descr=""/>
            <p:cNvSpPr/>
            <p:nvPr/>
          </p:nvSpPr>
          <p:spPr>
            <a:xfrm>
              <a:off x="6818670" y="2634421"/>
              <a:ext cx="473075" cy="66675"/>
            </a:xfrm>
            <a:custGeom>
              <a:avLst/>
              <a:gdLst/>
              <a:ahLst/>
              <a:cxnLst/>
              <a:rect l="l" t="t" r="r" b="b"/>
              <a:pathLst>
                <a:path w="473075" h="66675">
                  <a:moveTo>
                    <a:pt x="9848" y="24874"/>
                  </a:moveTo>
                  <a:lnTo>
                    <a:pt x="387041" y="24874"/>
                  </a:lnTo>
                  <a:lnTo>
                    <a:pt x="392279" y="24874"/>
                  </a:lnTo>
                  <a:lnTo>
                    <a:pt x="397518" y="29020"/>
                  </a:lnTo>
                  <a:lnTo>
                    <a:pt x="397518" y="33339"/>
                  </a:lnTo>
                  <a:lnTo>
                    <a:pt x="397518" y="37139"/>
                  </a:lnTo>
                  <a:lnTo>
                    <a:pt x="397518" y="41457"/>
                  </a:lnTo>
                  <a:lnTo>
                    <a:pt x="392279" y="41457"/>
                  </a:lnTo>
                  <a:lnTo>
                    <a:pt x="387041" y="41457"/>
                  </a:lnTo>
                  <a:lnTo>
                    <a:pt x="9848" y="41457"/>
                  </a:lnTo>
                  <a:lnTo>
                    <a:pt x="4610" y="41457"/>
                  </a:lnTo>
                  <a:lnTo>
                    <a:pt x="0" y="37139"/>
                  </a:lnTo>
                  <a:lnTo>
                    <a:pt x="0" y="33339"/>
                  </a:lnTo>
                  <a:lnTo>
                    <a:pt x="0" y="29020"/>
                  </a:lnTo>
                  <a:lnTo>
                    <a:pt x="4610" y="29020"/>
                  </a:lnTo>
                  <a:lnTo>
                    <a:pt x="4610" y="24874"/>
                  </a:lnTo>
                  <a:lnTo>
                    <a:pt x="9848" y="24874"/>
                  </a:lnTo>
                  <a:close/>
                </a:path>
                <a:path w="473075" h="66675">
                  <a:moveTo>
                    <a:pt x="387041" y="33339"/>
                  </a:moveTo>
                  <a:lnTo>
                    <a:pt x="347226" y="0"/>
                  </a:lnTo>
                  <a:lnTo>
                    <a:pt x="472747" y="33339"/>
                  </a:lnTo>
                  <a:lnTo>
                    <a:pt x="347226" y="66505"/>
                  </a:lnTo>
                  <a:lnTo>
                    <a:pt x="387041" y="33339"/>
                  </a:lnTo>
                  <a:close/>
                </a:path>
              </a:pathLst>
            </a:custGeom>
            <a:ln w="4734">
              <a:solidFill>
                <a:srgbClr val="000000"/>
              </a:solidFill>
            </a:ln>
          </p:spPr>
          <p:txBody>
            <a:bodyPr wrap="square" lIns="0" tIns="0" rIns="0" bIns="0" rtlCol="0"/>
            <a:lstStyle/>
            <a:p/>
          </p:txBody>
        </p:sp>
        <p:sp>
          <p:nvSpPr>
            <p:cNvPr id="97" name="object 97" descr=""/>
            <p:cNvSpPr/>
            <p:nvPr/>
          </p:nvSpPr>
          <p:spPr>
            <a:xfrm>
              <a:off x="6974367" y="3999077"/>
              <a:ext cx="297815" cy="71120"/>
            </a:xfrm>
            <a:custGeom>
              <a:avLst/>
              <a:gdLst/>
              <a:ahLst/>
              <a:cxnLst/>
              <a:rect l="l" t="t" r="r" b="b"/>
              <a:pathLst>
                <a:path w="297815" h="71120">
                  <a:moveTo>
                    <a:pt x="202161" y="28825"/>
                  </a:moveTo>
                  <a:lnTo>
                    <a:pt x="211646" y="37657"/>
                  </a:lnTo>
                  <a:lnTo>
                    <a:pt x="165964" y="70823"/>
                  </a:lnTo>
                  <a:lnTo>
                    <a:pt x="265874" y="45603"/>
                  </a:lnTo>
                  <a:lnTo>
                    <a:pt x="216466" y="45603"/>
                  </a:lnTo>
                  <a:lnTo>
                    <a:pt x="216466" y="41457"/>
                  </a:lnTo>
                  <a:lnTo>
                    <a:pt x="221495" y="41457"/>
                  </a:lnTo>
                  <a:lnTo>
                    <a:pt x="221495" y="33339"/>
                  </a:lnTo>
                  <a:lnTo>
                    <a:pt x="216466" y="29020"/>
                  </a:lnTo>
                  <a:lnTo>
                    <a:pt x="211646" y="29020"/>
                  </a:lnTo>
                  <a:lnTo>
                    <a:pt x="202161" y="28825"/>
                  </a:lnTo>
                  <a:close/>
                </a:path>
                <a:path w="297815" h="71120">
                  <a:moveTo>
                    <a:pt x="10268" y="24874"/>
                  </a:moveTo>
                  <a:lnTo>
                    <a:pt x="5238" y="29020"/>
                  </a:lnTo>
                  <a:lnTo>
                    <a:pt x="0" y="29020"/>
                  </a:lnTo>
                  <a:lnTo>
                    <a:pt x="0" y="41457"/>
                  </a:lnTo>
                  <a:lnTo>
                    <a:pt x="5238" y="41457"/>
                  </a:lnTo>
                  <a:lnTo>
                    <a:pt x="10268" y="45603"/>
                  </a:lnTo>
                  <a:lnTo>
                    <a:pt x="200702" y="45603"/>
                  </a:lnTo>
                  <a:lnTo>
                    <a:pt x="211646" y="37657"/>
                  </a:lnTo>
                  <a:lnTo>
                    <a:pt x="202161" y="28825"/>
                  </a:lnTo>
                  <a:lnTo>
                    <a:pt x="10268" y="24874"/>
                  </a:lnTo>
                  <a:close/>
                </a:path>
                <a:path w="297815" h="71120">
                  <a:moveTo>
                    <a:pt x="171203" y="0"/>
                  </a:moveTo>
                  <a:lnTo>
                    <a:pt x="202161" y="28825"/>
                  </a:lnTo>
                  <a:lnTo>
                    <a:pt x="211646" y="29020"/>
                  </a:lnTo>
                  <a:lnTo>
                    <a:pt x="216466" y="29020"/>
                  </a:lnTo>
                  <a:lnTo>
                    <a:pt x="221495" y="33339"/>
                  </a:lnTo>
                  <a:lnTo>
                    <a:pt x="221495" y="41457"/>
                  </a:lnTo>
                  <a:lnTo>
                    <a:pt x="216466" y="41457"/>
                  </a:lnTo>
                  <a:lnTo>
                    <a:pt x="216466" y="45603"/>
                  </a:lnTo>
                  <a:lnTo>
                    <a:pt x="265874" y="45603"/>
                  </a:lnTo>
                  <a:lnTo>
                    <a:pt x="297353" y="37657"/>
                  </a:lnTo>
                  <a:lnTo>
                    <a:pt x="171203" y="0"/>
                  </a:lnTo>
                  <a:close/>
                </a:path>
              </a:pathLst>
            </a:custGeom>
            <a:solidFill>
              <a:srgbClr val="000000"/>
            </a:solidFill>
          </p:spPr>
          <p:txBody>
            <a:bodyPr wrap="square" lIns="0" tIns="0" rIns="0" bIns="0" rtlCol="0"/>
            <a:lstStyle/>
            <a:p/>
          </p:txBody>
        </p:sp>
        <p:pic>
          <p:nvPicPr>
            <p:cNvPr id="98" name="object 98" descr=""/>
            <p:cNvPicPr/>
            <p:nvPr/>
          </p:nvPicPr>
          <p:blipFill>
            <a:blip r:embed="rId9" cstate="print"/>
            <a:stretch>
              <a:fillRect/>
            </a:stretch>
          </p:blipFill>
          <p:spPr>
            <a:xfrm>
              <a:off x="6972222" y="3996801"/>
              <a:ext cx="301774" cy="75375"/>
            </a:xfrm>
            <a:prstGeom prst="rect">
              <a:avLst/>
            </a:prstGeom>
          </p:spPr>
        </p:pic>
        <p:sp>
          <p:nvSpPr>
            <p:cNvPr id="99" name="object 99" descr=""/>
            <p:cNvSpPr/>
            <p:nvPr/>
          </p:nvSpPr>
          <p:spPr>
            <a:xfrm>
              <a:off x="6818670" y="4107040"/>
              <a:ext cx="473075" cy="71120"/>
            </a:xfrm>
            <a:custGeom>
              <a:avLst/>
              <a:gdLst/>
              <a:ahLst/>
              <a:cxnLst/>
              <a:rect l="l" t="t" r="r" b="b"/>
              <a:pathLst>
                <a:path w="473075" h="71120">
                  <a:moveTo>
                    <a:pt x="347226" y="0"/>
                  </a:moveTo>
                  <a:lnTo>
                    <a:pt x="387041" y="33166"/>
                  </a:lnTo>
                  <a:lnTo>
                    <a:pt x="347226" y="70651"/>
                  </a:lnTo>
                  <a:lnTo>
                    <a:pt x="445561" y="41285"/>
                  </a:lnTo>
                  <a:lnTo>
                    <a:pt x="397518" y="41285"/>
                  </a:lnTo>
                  <a:lnTo>
                    <a:pt x="397518" y="28847"/>
                  </a:lnTo>
                  <a:lnTo>
                    <a:pt x="392279" y="25047"/>
                  </a:lnTo>
                  <a:lnTo>
                    <a:pt x="442021" y="25047"/>
                  </a:lnTo>
                  <a:lnTo>
                    <a:pt x="347226" y="0"/>
                  </a:lnTo>
                  <a:close/>
                </a:path>
                <a:path w="473075" h="71120">
                  <a:moveTo>
                    <a:pt x="377294" y="25047"/>
                  </a:moveTo>
                  <a:lnTo>
                    <a:pt x="4610" y="25047"/>
                  </a:lnTo>
                  <a:lnTo>
                    <a:pt x="4610" y="28847"/>
                  </a:lnTo>
                  <a:lnTo>
                    <a:pt x="0" y="28847"/>
                  </a:lnTo>
                  <a:lnTo>
                    <a:pt x="0" y="37484"/>
                  </a:lnTo>
                  <a:lnTo>
                    <a:pt x="4610" y="41285"/>
                  </a:lnTo>
                  <a:lnTo>
                    <a:pt x="378417" y="41285"/>
                  </a:lnTo>
                  <a:lnTo>
                    <a:pt x="387041" y="33166"/>
                  </a:lnTo>
                  <a:lnTo>
                    <a:pt x="377294" y="25047"/>
                  </a:lnTo>
                  <a:close/>
                </a:path>
                <a:path w="473075" h="71120">
                  <a:moveTo>
                    <a:pt x="442021" y="25047"/>
                  </a:moveTo>
                  <a:lnTo>
                    <a:pt x="392279" y="25047"/>
                  </a:lnTo>
                  <a:lnTo>
                    <a:pt x="397518" y="28847"/>
                  </a:lnTo>
                  <a:lnTo>
                    <a:pt x="397518" y="41285"/>
                  </a:lnTo>
                  <a:lnTo>
                    <a:pt x="445561" y="41285"/>
                  </a:lnTo>
                  <a:lnTo>
                    <a:pt x="472747" y="33166"/>
                  </a:lnTo>
                  <a:lnTo>
                    <a:pt x="442021" y="25047"/>
                  </a:lnTo>
                  <a:close/>
                </a:path>
              </a:pathLst>
            </a:custGeom>
            <a:solidFill>
              <a:srgbClr val="000000"/>
            </a:solidFill>
          </p:spPr>
          <p:txBody>
            <a:bodyPr wrap="square" lIns="0" tIns="0" rIns="0" bIns="0" rtlCol="0"/>
            <a:lstStyle/>
            <a:p/>
          </p:txBody>
        </p:sp>
        <p:sp>
          <p:nvSpPr>
            <p:cNvPr id="100" name="object 100" descr=""/>
            <p:cNvSpPr/>
            <p:nvPr/>
          </p:nvSpPr>
          <p:spPr>
            <a:xfrm>
              <a:off x="6818670" y="4107040"/>
              <a:ext cx="473075" cy="71120"/>
            </a:xfrm>
            <a:custGeom>
              <a:avLst/>
              <a:gdLst/>
              <a:ahLst/>
              <a:cxnLst/>
              <a:rect l="l" t="t" r="r" b="b"/>
              <a:pathLst>
                <a:path w="473075" h="71120">
                  <a:moveTo>
                    <a:pt x="9848" y="25047"/>
                  </a:moveTo>
                  <a:lnTo>
                    <a:pt x="387041" y="25047"/>
                  </a:lnTo>
                  <a:lnTo>
                    <a:pt x="392279" y="25047"/>
                  </a:lnTo>
                  <a:lnTo>
                    <a:pt x="397518" y="28847"/>
                  </a:lnTo>
                  <a:lnTo>
                    <a:pt x="397518" y="33166"/>
                  </a:lnTo>
                  <a:lnTo>
                    <a:pt x="397518" y="37484"/>
                  </a:lnTo>
                  <a:lnTo>
                    <a:pt x="397518" y="41285"/>
                  </a:lnTo>
                  <a:lnTo>
                    <a:pt x="392279" y="41285"/>
                  </a:lnTo>
                  <a:lnTo>
                    <a:pt x="387041" y="41285"/>
                  </a:lnTo>
                  <a:lnTo>
                    <a:pt x="9848" y="41285"/>
                  </a:lnTo>
                  <a:lnTo>
                    <a:pt x="4610" y="41285"/>
                  </a:lnTo>
                  <a:lnTo>
                    <a:pt x="0" y="37484"/>
                  </a:lnTo>
                  <a:lnTo>
                    <a:pt x="0" y="33166"/>
                  </a:lnTo>
                  <a:lnTo>
                    <a:pt x="0" y="28847"/>
                  </a:lnTo>
                  <a:lnTo>
                    <a:pt x="4610" y="28847"/>
                  </a:lnTo>
                  <a:lnTo>
                    <a:pt x="4610" y="25047"/>
                  </a:lnTo>
                  <a:lnTo>
                    <a:pt x="9848" y="25047"/>
                  </a:lnTo>
                  <a:close/>
                </a:path>
                <a:path w="473075" h="71120">
                  <a:moveTo>
                    <a:pt x="387041" y="33166"/>
                  </a:moveTo>
                  <a:lnTo>
                    <a:pt x="347226" y="0"/>
                  </a:lnTo>
                  <a:lnTo>
                    <a:pt x="472747" y="33166"/>
                  </a:lnTo>
                  <a:lnTo>
                    <a:pt x="347226" y="70651"/>
                  </a:lnTo>
                  <a:lnTo>
                    <a:pt x="387041" y="33166"/>
                  </a:lnTo>
                  <a:close/>
                </a:path>
              </a:pathLst>
            </a:custGeom>
            <a:ln w="4734">
              <a:solidFill>
                <a:srgbClr val="000000"/>
              </a:solidFill>
            </a:ln>
          </p:spPr>
          <p:txBody>
            <a:bodyPr wrap="square" lIns="0" tIns="0" rIns="0" bIns="0" rtlCol="0"/>
            <a:lstStyle/>
            <a:p/>
          </p:txBody>
        </p:sp>
        <p:sp>
          <p:nvSpPr>
            <p:cNvPr id="101" name="object 101" descr=""/>
            <p:cNvSpPr/>
            <p:nvPr/>
          </p:nvSpPr>
          <p:spPr>
            <a:xfrm>
              <a:off x="5154456" y="1648760"/>
              <a:ext cx="0" cy="133350"/>
            </a:xfrm>
            <a:custGeom>
              <a:avLst/>
              <a:gdLst/>
              <a:ahLst/>
              <a:cxnLst/>
              <a:rect l="l" t="t" r="r" b="b"/>
              <a:pathLst>
                <a:path w="0" h="133350">
                  <a:moveTo>
                    <a:pt x="0" y="0"/>
                  </a:moveTo>
                  <a:lnTo>
                    <a:pt x="0" y="133010"/>
                  </a:lnTo>
                </a:path>
              </a:pathLst>
            </a:custGeom>
            <a:ln w="15052">
              <a:solidFill>
                <a:srgbClr val="000000"/>
              </a:solidFill>
            </a:ln>
          </p:spPr>
          <p:txBody>
            <a:bodyPr wrap="square" lIns="0" tIns="0" rIns="0" bIns="0" rtlCol="0"/>
            <a:lstStyle/>
            <a:p/>
          </p:txBody>
        </p:sp>
      </p:grpSp>
      <p:sp>
        <p:nvSpPr>
          <p:cNvPr id="102" name="object 102" descr=""/>
          <p:cNvSpPr txBox="1"/>
          <p:nvPr/>
        </p:nvSpPr>
        <p:spPr>
          <a:xfrm>
            <a:off x="10069312" y="1083893"/>
            <a:ext cx="312420" cy="215900"/>
          </a:xfrm>
          <a:prstGeom prst="rect">
            <a:avLst/>
          </a:prstGeom>
        </p:spPr>
        <p:txBody>
          <a:bodyPr wrap="square" lIns="0" tIns="12065" rIns="0" bIns="0" rtlCol="0" vert="horz">
            <a:spAutoFit/>
          </a:bodyPr>
          <a:lstStyle/>
          <a:p>
            <a:pPr marL="12700">
              <a:lnSpc>
                <a:spcPct val="100000"/>
              </a:lnSpc>
              <a:spcBef>
                <a:spcPts val="95"/>
              </a:spcBef>
            </a:pPr>
            <a:r>
              <a:rPr dirty="0" sz="1250" spc="95" b="1">
                <a:latin typeface="宋体"/>
                <a:cs typeface="宋体"/>
              </a:rPr>
              <a:t>CPU</a:t>
            </a:r>
            <a:endParaRPr sz="1250">
              <a:latin typeface="宋体"/>
              <a:cs typeface="宋体"/>
            </a:endParaRPr>
          </a:p>
        </p:txBody>
      </p:sp>
      <p:sp>
        <p:nvSpPr>
          <p:cNvPr id="103" name="object 103" descr=""/>
          <p:cNvSpPr txBox="1"/>
          <p:nvPr/>
        </p:nvSpPr>
        <p:spPr>
          <a:xfrm>
            <a:off x="9500799" y="1166084"/>
            <a:ext cx="911860" cy="701675"/>
          </a:xfrm>
          <a:prstGeom prst="rect">
            <a:avLst/>
          </a:prstGeom>
        </p:spPr>
        <p:txBody>
          <a:bodyPr wrap="square" lIns="0" tIns="66675" rIns="0" bIns="0" rtlCol="0" vert="horz">
            <a:spAutoFit/>
          </a:bodyPr>
          <a:lstStyle/>
          <a:p>
            <a:pPr marL="12700">
              <a:lnSpc>
                <a:spcPct val="100000"/>
              </a:lnSpc>
              <a:spcBef>
                <a:spcPts val="525"/>
              </a:spcBef>
            </a:pPr>
            <a:r>
              <a:rPr dirty="0" sz="1250" spc="220" b="1">
                <a:latin typeface="宋体"/>
                <a:cs typeface="宋体"/>
              </a:rPr>
              <a:t>地址</a:t>
            </a:r>
            <a:endParaRPr sz="1250">
              <a:latin typeface="宋体"/>
              <a:cs typeface="宋体"/>
            </a:endParaRPr>
          </a:p>
          <a:p>
            <a:pPr marL="12700" marR="5080">
              <a:lnSpc>
                <a:spcPts val="1470"/>
              </a:lnSpc>
              <a:spcBef>
                <a:spcPts val="500"/>
              </a:spcBef>
            </a:pPr>
            <a:r>
              <a:rPr dirty="0" sz="1250" spc="225" b="1">
                <a:latin typeface="宋体"/>
                <a:cs typeface="宋体"/>
              </a:rPr>
              <a:t>数据 数据</a:t>
            </a:r>
            <a:r>
              <a:rPr dirty="0" sz="1250" spc="240" b="1">
                <a:latin typeface="宋体"/>
                <a:cs typeface="宋体"/>
              </a:rPr>
              <a:t>输入 输出</a:t>
            </a:r>
            <a:endParaRPr sz="1250">
              <a:latin typeface="宋体"/>
              <a:cs typeface="宋体"/>
            </a:endParaRPr>
          </a:p>
        </p:txBody>
      </p:sp>
      <p:grpSp>
        <p:nvGrpSpPr>
          <p:cNvPr id="104" name="object 104" descr=""/>
          <p:cNvGrpSpPr/>
          <p:nvPr/>
        </p:nvGrpSpPr>
        <p:grpSpPr>
          <a:xfrm>
            <a:off x="5461800" y="1292101"/>
            <a:ext cx="4001770" cy="76200"/>
            <a:chOff x="5461800" y="1292101"/>
            <a:chExt cx="4001770" cy="76200"/>
          </a:xfrm>
        </p:grpSpPr>
        <p:sp>
          <p:nvSpPr>
            <p:cNvPr id="105" name="object 105" descr=""/>
            <p:cNvSpPr/>
            <p:nvPr/>
          </p:nvSpPr>
          <p:spPr>
            <a:xfrm>
              <a:off x="5464340" y="1294641"/>
              <a:ext cx="3997325" cy="71120"/>
            </a:xfrm>
            <a:custGeom>
              <a:avLst/>
              <a:gdLst/>
              <a:ahLst/>
              <a:cxnLst/>
              <a:rect l="l" t="t" r="r" b="b"/>
              <a:pathLst>
                <a:path w="3997325" h="71119">
                  <a:moveTo>
                    <a:pt x="126149" y="0"/>
                  </a:moveTo>
                  <a:lnTo>
                    <a:pt x="0" y="33166"/>
                  </a:lnTo>
                  <a:lnTo>
                    <a:pt x="126149" y="70651"/>
                  </a:lnTo>
                  <a:lnTo>
                    <a:pt x="90361" y="41285"/>
                  </a:lnTo>
                  <a:lnTo>
                    <a:pt x="75857" y="41285"/>
                  </a:lnTo>
                  <a:lnTo>
                    <a:pt x="75857" y="37484"/>
                  </a:lnTo>
                  <a:lnTo>
                    <a:pt x="70618" y="33166"/>
                  </a:lnTo>
                  <a:lnTo>
                    <a:pt x="80467" y="25047"/>
                  </a:lnTo>
                  <a:lnTo>
                    <a:pt x="91650" y="25047"/>
                  </a:lnTo>
                  <a:lnTo>
                    <a:pt x="126149" y="0"/>
                  </a:lnTo>
                  <a:close/>
                </a:path>
                <a:path w="3997325" h="71119">
                  <a:moveTo>
                    <a:pt x="91650" y="25047"/>
                  </a:moveTo>
                  <a:lnTo>
                    <a:pt x="80467" y="25047"/>
                  </a:lnTo>
                  <a:lnTo>
                    <a:pt x="70618" y="33166"/>
                  </a:lnTo>
                  <a:lnTo>
                    <a:pt x="75857" y="37484"/>
                  </a:lnTo>
                  <a:lnTo>
                    <a:pt x="75857" y="41285"/>
                  </a:lnTo>
                  <a:lnTo>
                    <a:pt x="90361" y="41285"/>
                  </a:lnTo>
                  <a:lnTo>
                    <a:pt x="80467" y="33166"/>
                  </a:lnTo>
                  <a:lnTo>
                    <a:pt x="91650" y="25047"/>
                  </a:lnTo>
                  <a:close/>
                </a:path>
                <a:path w="3997325" h="71119">
                  <a:moveTo>
                    <a:pt x="3986922" y="25047"/>
                  </a:moveTo>
                  <a:lnTo>
                    <a:pt x="91650" y="25047"/>
                  </a:lnTo>
                  <a:lnTo>
                    <a:pt x="80467" y="33166"/>
                  </a:lnTo>
                  <a:lnTo>
                    <a:pt x="90361" y="41285"/>
                  </a:lnTo>
                  <a:lnTo>
                    <a:pt x="3991532" y="41285"/>
                  </a:lnTo>
                  <a:lnTo>
                    <a:pt x="3996771" y="37484"/>
                  </a:lnTo>
                  <a:lnTo>
                    <a:pt x="3996771" y="28847"/>
                  </a:lnTo>
                  <a:lnTo>
                    <a:pt x="3991532" y="28847"/>
                  </a:lnTo>
                  <a:lnTo>
                    <a:pt x="3986922" y="25047"/>
                  </a:lnTo>
                  <a:close/>
                </a:path>
              </a:pathLst>
            </a:custGeom>
            <a:solidFill>
              <a:srgbClr val="000000"/>
            </a:solidFill>
          </p:spPr>
          <p:txBody>
            <a:bodyPr wrap="square" lIns="0" tIns="0" rIns="0" bIns="0" rtlCol="0"/>
            <a:lstStyle/>
            <a:p/>
          </p:txBody>
        </p:sp>
        <p:sp>
          <p:nvSpPr>
            <p:cNvPr id="106" name="object 106" descr=""/>
            <p:cNvSpPr/>
            <p:nvPr/>
          </p:nvSpPr>
          <p:spPr>
            <a:xfrm>
              <a:off x="5464340" y="1294641"/>
              <a:ext cx="3997325" cy="71120"/>
            </a:xfrm>
            <a:custGeom>
              <a:avLst/>
              <a:gdLst/>
              <a:ahLst/>
              <a:cxnLst/>
              <a:rect l="l" t="t" r="r" b="b"/>
              <a:pathLst>
                <a:path w="3997325" h="71119">
                  <a:moveTo>
                    <a:pt x="3986922" y="41285"/>
                  </a:moveTo>
                  <a:lnTo>
                    <a:pt x="80467" y="41285"/>
                  </a:lnTo>
                  <a:lnTo>
                    <a:pt x="75857" y="41285"/>
                  </a:lnTo>
                  <a:lnTo>
                    <a:pt x="75857" y="37484"/>
                  </a:lnTo>
                  <a:lnTo>
                    <a:pt x="70618" y="33166"/>
                  </a:lnTo>
                  <a:lnTo>
                    <a:pt x="75857" y="28847"/>
                  </a:lnTo>
                  <a:lnTo>
                    <a:pt x="80467" y="25047"/>
                  </a:lnTo>
                  <a:lnTo>
                    <a:pt x="3986922" y="25047"/>
                  </a:lnTo>
                  <a:lnTo>
                    <a:pt x="3991532" y="28847"/>
                  </a:lnTo>
                  <a:lnTo>
                    <a:pt x="3996771" y="28847"/>
                  </a:lnTo>
                  <a:lnTo>
                    <a:pt x="3996771" y="33166"/>
                  </a:lnTo>
                  <a:lnTo>
                    <a:pt x="3996771" y="37484"/>
                  </a:lnTo>
                  <a:lnTo>
                    <a:pt x="3991532" y="41285"/>
                  </a:lnTo>
                  <a:lnTo>
                    <a:pt x="3986922" y="41285"/>
                  </a:lnTo>
                  <a:close/>
                </a:path>
                <a:path w="3997325" h="71119">
                  <a:moveTo>
                    <a:pt x="80467" y="33166"/>
                  </a:moveTo>
                  <a:lnTo>
                    <a:pt x="126149" y="70651"/>
                  </a:lnTo>
                  <a:lnTo>
                    <a:pt x="0" y="33166"/>
                  </a:lnTo>
                  <a:lnTo>
                    <a:pt x="126149" y="0"/>
                  </a:lnTo>
                  <a:lnTo>
                    <a:pt x="80467" y="33166"/>
                  </a:lnTo>
                  <a:close/>
                </a:path>
              </a:pathLst>
            </a:custGeom>
            <a:ln w="4734">
              <a:solidFill>
                <a:srgbClr val="000000"/>
              </a:solidFill>
            </a:ln>
          </p:spPr>
          <p:txBody>
            <a:bodyPr wrap="square" lIns="0" tIns="0" rIns="0" bIns="0" rtlCol="0"/>
            <a:lstStyle/>
            <a:p/>
          </p:txBody>
        </p:sp>
      </p:grpSp>
      <p:sp>
        <p:nvSpPr>
          <p:cNvPr id="107" name="object 107" descr=""/>
          <p:cNvSpPr txBox="1"/>
          <p:nvPr/>
        </p:nvSpPr>
        <p:spPr>
          <a:xfrm>
            <a:off x="5755909" y="1087693"/>
            <a:ext cx="217804" cy="215900"/>
          </a:xfrm>
          <a:prstGeom prst="rect">
            <a:avLst/>
          </a:prstGeom>
        </p:spPr>
        <p:txBody>
          <a:bodyPr wrap="square" lIns="0" tIns="12065" rIns="0" bIns="0" rtlCol="0" vert="horz">
            <a:spAutoFit/>
          </a:bodyPr>
          <a:lstStyle/>
          <a:p>
            <a:pPr marL="12700">
              <a:lnSpc>
                <a:spcPct val="100000"/>
              </a:lnSpc>
              <a:spcBef>
                <a:spcPts val="95"/>
              </a:spcBef>
            </a:pPr>
            <a:r>
              <a:rPr dirty="0" sz="1250" spc="200">
                <a:latin typeface="宋体"/>
                <a:cs typeface="宋体"/>
              </a:rPr>
              <a:t>①</a:t>
            </a:r>
            <a:endParaRPr sz="1250">
              <a:latin typeface="宋体"/>
              <a:cs typeface="宋体"/>
            </a:endParaRPr>
          </a:p>
        </p:txBody>
      </p:sp>
      <p:sp>
        <p:nvSpPr>
          <p:cNvPr id="108" name="object 108" descr=""/>
          <p:cNvSpPr txBox="1"/>
          <p:nvPr/>
        </p:nvSpPr>
        <p:spPr>
          <a:xfrm>
            <a:off x="9651886" y="830706"/>
            <a:ext cx="578485" cy="245745"/>
          </a:xfrm>
          <a:prstGeom prst="rect">
            <a:avLst/>
          </a:prstGeom>
        </p:spPr>
        <p:txBody>
          <a:bodyPr wrap="square" lIns="0" tIns="11430" rIns="0" bIns="0" rtlCol="0" vert="horz">
            <a:spAutoFit/>
          </a:bodyPr>
          <a:lstStyle/>
          <a:p>
            <a:pPr marL="12700">
              <a:lnSpc>
                <a:spcPct val="100000"/>
              </a:lnSpc>
              <a:spcBef>
                <a:spcPts val="90"/>
              </a:spcBef>
            </a:pPr>
            <a:r>
              <a:rPr dirty="0" sz="1450" spc="130" b="1">
                <a:latin typeface="宋体"/>
                <a:cs typeface="宋体"/>
              </a:rPr>
              <a:t>21264</a:t>
            </a:r>
            <a:endParaRPr sz="1450">
              <a:latin typeface="宋体"/>
              <a:cs typeface="宋体"/>
            </a:endParaRPr>
          </a:p>
        </p:txBody>
      </p:sp>
      <p:grpSp>
        <p:nvGrpSpPr>
          <p:cNvPr id="109" name="object 109" descr=""/>
          <p:cNvGrpSpPr/>
          <p:nvPr/>
        </p:nvGrpSpPr>
        <p:grpSpPr>
          <a:xfrm>
            <a:off x="8169919" y="1881941"/>
            <a:ext cx="2076450" cy="494030"/>
            <a:chOff x="8169919" y="1881941"/>
            <a:chExt cx="2076450" cy="494030"/>
          </a:xfrm>
        </p:grpSpPr>
        <p:sp>
          <p:nvSpPr>
            <p:cNvPr id="110" name="object 110" descr=""/>
            <p:cNvSpPr/>
            <p:nvPr/>
          </p:nvSpPr>
          <p:spPr>
            <a:xfrm>
              <a:off x="10238128" y="1889561"/>
              <a:ext cx="0" cy="240665"/>
            </a:xfrm>
            <a:custGeom>
              <a:avLst/>
              <a:gdLst/>
              <a:ahLst/>
              <a:cxnLst/>
              <a:rect l="l" t="t" r="r" b="b"/>
              <a:pathLst>
                <a:path w="0" h="240664">
                  <a:moveTo>
                    <a:pt x="0" y="0"/>
                  </a:moveTo>
                  <a:lnTo>
                    <a:pt x="0" y="240282"/>
                  </a:lnTo>
                </a:path>
              </a:pathLst>
            </a:custGeom>
            <a:ln w="15052">
              <a:solidFill>
                <a:srgbClr val="000000"/>
              </a:solidFill>
            </a:ln>
          </p:spPr>
          <p:txBody>
            <a:bodyPr wrap="square" lIns="0" tIns="0" rIns="0" bIns="0" rtlCol="0"/>
            <a:lstStyle/>
            <a:p/>
          </p:txBody>
        </p:sp>
        <p:pic>
          <p:nvPicPr>
            <p:cNvPr id="111" name="object 111" descr=""/>
            <p:cNvPicPr/>
            <p:nvPr/>
          </p:nvPicPr>
          <p:blipFill>
            <a:blip r:embed="rId10" cstate="print"/>
            <a:stretch>
              <a:fillRect/>
            </a:stretch>
          </p:blipFill>
          <p:spPr>
            <a:xfrm>
              <a:off x="8169919" y="2121725"/>
              <a:ext cx="90400" cy="253963"/>
            </a:xfrm>
            <a:prstGeom prst="rect">
              <a:avLst/>
            </a:prstGeom>
          </p:spPr>
        </p:pic>
        <p:sp>
          <p:nvSpPr>
            <p:cNvPr id="112" name="object 112" descr=""/>
            <p:cNvSpPr/>
            <p:nvPr/>
          </p:nvSpPr>
          <p:spPr>
            <a:xfrm>
              <a:off x="8214910" y="2129844"/>
              <a:ext cx="2023745" cy="0"/>
            </a:xfrm>
            <a:custGeom>
              <a:avLst/>
              <a:gdLst/>
              <a:ahLst/>
              <a:cxnLst/>
              <a:rect l="l" t="t" r="r" b="b"/>
              <a:pathLst>
                <a:path w="2023745" h="0">
                  <a:moveTo>
                    <a:pt x="0" y="0"/>
                  </a:moveTo>
                  <a:lnTo>
                    <a:pt x="2023217" y="0"/>
                  </a:lnTo>
                </a:path>
              </a:pathLst>
            </a:custGeom>
            <a:ln w="12408">
              <a:solidFill>
                <a:srgbClr val="000000"/>
              </a:solidFill>
            </a:ln>
          </p:spPr>
          <p:txBody>
            <a:bodyPr wrap="square" lIns="0" tIns="0" rIns="0" bIns="0" rtlCol="0"/>
            <a:lstStyle/>
            <a:p/>
          </p:txBody>
        </p:sp>
      </p:grpSp>
      <p:sp>
        <p:nvSpPr>
          <p:cNvPr id="113" name="object 113" descr=""/>
          <p:cNvSpPr txBox="1"/>
          <p:nvPr/>
        </p:nvSpPr>
        <p:spPr>
          <a:xfrm>
            <a:off x="9206297" y="5369760"/>
            <a:ext cx="1188720" cy="269875"/>
          </a:xfrm>
          <a:prstGeom prst="rect">
            <a:avLst/>
          </a:prstGeom>
          <a:solidFill>
            <a:srgbClr val="CCFFFF"/>
          </a:solidFill>
          <a:ln w="12594">
            <a:solidFill>
              <a:srgbClr val="000000"/>
            </a:solidFill>
          </a:ln>
        </p:spPr>
        <p:txBody>
          <a:bodyPr wrap="square" lIns="0" tIns="44450" rIns="0" bIns="0" rtlCol="0" vert="horz">
            <a:spAutoFit/>
          </a:bodyPr>
          <a:lstStyle/>
          <a:p>
            <a:pPr marL="105410">
              <a:lnSpc>
                <a:spcPct val="100000"/>
              </a:lnSpc>
              <a:spcBef>
                <a:spcPts val="350"/>
              </a:spcBef>
            </a:pPr>
            <a:r>
              <a:rPr dirty="0" sz="1250" spc="220" b="1">
                <a:latin typeface="宋体"/>
                <a:cs typeface="宋体"/>
              </a:rPr>
              <a:t>牺牲缓冲器</a:t>
            </a:r>
            <a:endParaRPr sz="1250">
              <a:latin typeface="宋体"/>
              <a:cs typeface="宋体"/>
            </a:endParaRPr>
          </a:p>
        </p:txBody>
      </p:sp>
      <p:sp>
        <p:nvSpPr>
          <p:cNvPr id="114" name="object 114" descr=""/>
          <p:cNvSpPr txBox="1"/>
          <p:nvPr/>
        </p:nvSpPr>
        <p:spPr>
          <a:xfrm>
            <a:off x="8816195" y="5962043"/>
            <a:ext cx="1170940" cy="215900"/>
          </a:xfrm>
          <a:prstGeom prst="rect">
            <a:avLst/>
          </a:prstGeom>
        </p:spPr>
        <p:txBody>
          <a:bodyPr wrap="square" lIns="0" tIns="12065" rIns="0" bIns="0" rtlCol="0" vert="horz">
            <a:spAutoFit/>
          </a:bodyPr>
          <a:lstStyle/>
          <a:p>
            <a:pPr marL="12700">
              <a:lnSpc>
                <a:spcPct val="100000"/>
              </a:lnSpc>
              <a:spcBef>
                <a:spcPts val="95"/>
              </a:spcBef>
            </a:pPr>
            <a:r>
              <a:rPr dirty="0" sz="1250" spc="225" b="1">
                <a:latin typeface="宋体"/>
                <a:cs typeface="宋体"/>
              </a:rPr>
              <a:t>下一级存储器</a:t>
            </a:r>
            <a:endParaRPr sz="1250">
              <a:latin typeface="宋体"/>
              <a:cs typeface="宋体"/>
            </a:endParaRPr>
          </a:p>
        </p:txBody>
      </p:sp>
      <p:grpSp>
        <p:nvGrpSpPr>
          <p:cNvPr id="115" name="object 115" descr=""/>
          <p:cNvGrpSpPr/>
          <p:nvPr/>
        </p:nvGrpSpPr>
        <p:grpSpPr>
          <a:xfrm>
            <a:off x="3252112" y="782177"/>
            <a:ext cx="6574155" cy="5078095"/>
            <a:chOff x="3252112" y="782177"/>
            <a:chExt cx="6574155" cy="5078095"/>
          </a:xfrm>
        </p:grpSpPr>
        <p:sp>
          <p:nvSpPr>
            <p:cNvPr id="116" name="object 116" descr=""/>
            <p:cNvSpPr/>
            <p:nvPr/>
          </p:nvSpPr>
          <p:spPr>
            <a:xfrm>
              <a:off x="8234608" y="5075271"/>
              <a:ext cx="1541145" cy="107950"/>
            </a:xfrm>
            <a:custGeom>
              <a:avLst/>
              <a:gdLst/>
              <a:ahLst/>
              <a:cxnLst/>
              <a:rect l="l" t="t" r="r" b="b"/>
              <a:pathLst>
                <a:path w="1541145" h="107950">
                  <a:moveTo>
                    <a:pt x="0" y="0"/>
                  </a:moveTo>
                  <a:lnTo>
                    <a:pt x="0" y="107825"/>
                  </a:lnTo>
                </a:path>
                <a:path w="1541145" h="107950">
                  <a:moveTo>
                    <a:pt x="0" y="107825"/>
                  </a:moveTo>
                  <a:lnTo>
                    <a:pt x="1540620" y="107825"/>
                  </a:lnTo>
                </a:path>
              </a:pathLst>
            </a:custGeom>
            <a:ln w="13730">
              <a:solidFill>
                <a:srgbClr val="000000"/>
              </a:solidFill>
            </a:ln>
          </p:spPr>
          <p:txBody>
            <a:bodyPr wrap="square" lIns="0" tIns="0" rIns="0" bIns="0" rtlCol="0"/>
            <a:lstStyle/>
            <a:p/>
          </p:txBody>
        </p:sp>
        <p:pic>
          <p:nvPicPr>
            <p:cNvPr id="117" name="object 117" descr=""/>
            <p:cNvPicPr/>
            <p:nvPr/>
          </p:nvPicPr>
          <p:blipFill>
            <a:blip r:embed="rId11" cstate="print"/>
            <a:stretch>
              <a:fillRect/>
            </a:stretch>
          </p:blipFill>
          <p:spPr>
            <a:xfrm>
              <a:off x="9735268" y="5174531"/>
              <a:ext cx="90609" cy="200237"/>
            </a:xfrm>
            <a:prstGeom prst="rect">
              <a:avLst/>
            </a:prstGeom>
          </p:spPr>
        </p:pic>
        <p:sp>
          <p:nvSpPr>
            <p:cNvPr id="118" name="object 118" descr=""/>
            <p:cNvSpPr/>
            <p:nvPr/>
          </p:nvSpPr>
          <p:spPr>
            <a:xfrm>
              <a:off x="7930968" y="2041228"/>
              <a:ext cx="80645" cy="332105"/>
            </a:xfrm>
            <a:custGeom>
              <a:avLst/>
              <a:gdLst/>
              <a:ahLst/>
              <a:cxnLst/>
              <a:rect l="l" t="t" r="r" b="b"/>
              <a:pathLst>
                <a:path w="80645" h="332105">
                  <a:moveTo>
                    <a:pt x="0" y="261357"/>
                  </a:moveTo>
                  <a:lnTo>
                    <a:pt x="40443" y="332008"/>
                  </a:lnTo>
                  <a:lnTo>
                    <a:pt x="54632" y="306961"/>
                  </a:lnTo>
                  <a:lnTo>
                    <a:pt x="35204" y="306961"/>
                  </a:lnTo>
                  <a:lnTo>
                    <a:pt x="30175" y="302988"/>
                  </a:lnTo>
                  <a:lnTo>
                    <a:pt x="30175" y="289325"/>
                  </a:lnTo>
                  <a:lnTo>
                    <a:pt x="0" y="261357"/>
                  </a:lnTo>
                  <a:close/>
                </a:path>
                <a:path w="80645" h="332105">
                  <a:moveTo>
                    <a:pt x="30175" y="289325"/>
                  </a:moveTo>
                  <a:lnTo>
                    <a:pt x="30175" y="302988"/>
                  </a:lnTo>
                  <a:lnTo>
                    <a:pt x="35204" y="306961"/>
                  </a:lnTo>
                  <a:lnTo>
                    <a:pt x="45053" y="306961"/>
                  </a:lnTo>
                  <a:lnTo>
                    <a:pt x="45053" y="302988"/>
                  </a:lnTo>
                  <a:lnTo>
                    <a:pt x="50292" y="302988"/>
                  </a:lnTo>
                  <a:lnTo>
                    <a:pt x="50292" y="298842"/>
                  </a:lnTo>
                  <a:lnTo>
                    <a:pt x="40443" y="298842"/>
                  </a:lnTo>
                  <a:lnTo>
                    <a:pt x="30175" y="289325"/>
                  </a:lnTo>
                  <a:close/>
                </a:path>
                <a:path w="80645" h="332105">
                  <a:moveTo>
                    <a:pt x="80467" y="261357"/>
                  </a:moveTo>
                  <a:lnTo>
                    <a:pt x="50292" y="289618"/>
                  </a:lnTo>
                  <a:lnTo>
                    <a:pt x="50292" y="302988"/>
                  </a:lnTo>
                  <a:lnTo>
                    <a:pt x="45053" y="302988"/>
                  </a:lnTo>
                  <a:lnTo>
                    <a:pt x="45053" y="306961"/>
                  </a:lnTo>
                  <a:lnTo>
                    <a:pt x="54632" y="306961"/>
                  </a:lnTo>
                  <a:lnTo>
                    <a:pt x="80467" y="261357"/>
                  </a:lnTo>
                  <a:close/>
                </a:path>
                <a:path w="80645" h="332105">
                  <a:moveTo>
                    <a:pt x="40443" y="0"/>
                  </a:moveTo>
                  <a:lnTo>
                    <a:pt x="35204" y="4318"/>
                  </a:lnTo>
                  <a:lnTo>
                    <a:pt x="30175" y="4318"/>
                  </a:lnTo>
                  <a:lnTo>
                    <a:pt x="30175" y="289325"/>
                  </a:lnTo>
                  <a:lnTo>
                    <a:pt x="40443" y="298842"/>
                  </a:lnTo>
                  <a:lnTo>
                    <a:pt x="50292" y="289618"/>
                  </a:lnTo>
                  <a:lnTo>
                    <a:pt x="50292" y="8464"/>
                  </a:lnTo>
                  <a:lnTo>
                    <a:pt x="45053" y="4318"/>
                  </a:lnTo>
                  <a:lnTo>
                    <a:pt x="40443" y="0"/>
                  </a:lnTo>
                  <a:close/>
                </a:path>
                <a:path w="80645" h="332105">
                  <a:moveTo>
                    <a:pt x="50292" y="289618"/>
                  </a:moveTo>
                  <a:lnTo>
                    <a:pt x="40443" y="298842"/>
                  </a:lnTo>
                  <a:lnTo>
                    <a:pt x="50292" y="298842"/>
                  </a:lnTo>
                  <a:lnTo>
                    <a:pt x="50292" y="289618"/>
                  </a:lnTo>
                  <a:close/>
                </a:path>
              </a:pathLst>
            </a:custGeom>
            <a:solidFill>
              <a:srgbClr val="000000"/>
            </a:solidFill>
          </p:spPr>
          <p:txBody>
            <a:bodyPr wrap="square" lIns="0" tIns="0" rIns="0" bIns="0" rtlCol="0"/>
            <a:lstStyle/>
            <a:p/>
          </p:txBody>
        </p:sp>
        <p:sp>
          <p:nvSpPr>
            <p:cNvPr id="119" name="object 119" descr=""/>
            <p:cNvSpPr/>
            <p:nvPr/>
          </p:nvSpPr>
          <p:spPr>
            <a:xfrm>
              <a:off x="7930968" y="2041228"/>
              <a:ext cx="80645" cy="332105"/>
            </a:xfrm>
            <a:custGeom>
              <a:avLst/>
              <a:gdLst/>
              <a:ahLst/>
              <a:cxnLst/>
              <a:rect l="l" t="t" r="r" b="b"/>
              <a:pathLst>
                <a:path w="80645" h="332105">
                  <a:moveTo>
                    <a:pt x="50292" y="12437"/>
                  </a:moveTo>
                  <a:lnTo>
                    <a:pt x="50292" y="298842"/>
                  </a:lnTo>
                  <a:lnTo>
                    <a:pt x="50292" y="302988"/>
                  </a:lnTo>
                  <a:lnTo>
                    <a:pt x="45053" y="302988"/>
                  </a:lnTo>
                  <a:lnTo>
                    <a:pt x="45053" y="306961"/>
                  </a:lnTo>
                  <a:lnTo>
                    <a:pt x="40443" y="306961"/>
                  </a:lnTo>
                  <a:lnTo>
                    <a:pt x="35204" y="306961"/>
                  </a:lnTo>
                  <a:lnTo>
                    <a:pt x="30175" y="302988"/>
                  </a:lnTo>
                  <a:lnTo>
                    <a:pt x="30175" y="298842"/>
                  </a:lnTo>
                  <a:lnTo>
                    <a:pt x="30175" y="12437"/>
                  </a:lnTo>
                  <a:lnTo>
                    <a:pt x="30175" y="8464"/>
                  </a:lnTo>
                  <a:lnTo>
                    <a:pt x="30175" y="4318"/>
                  </a:lnTo>
                  <a:lnTo>
                    <a:pt x="35204" y="4318"/>
                  </a:lnTo>
                  <a:lnTo>
                    <a:pt x="40443" y="0"/>
                  </a:lnTo>
                  <a:lnTo>
                    <a:pt x="45053" y="4318"/>
                  </a:lnTo>
                  <a:lnTo>
                    <a:pt x="50292" y="8464"/>
                  </a:lnTo>
                  <a:lnTo>
                    <a:pt x="50292" y="12437"/>
                  </a:lnTo>
                  <a:close/>
                </a:path>
                <a:path w="80645" h="332105">
                  <a:moveTo>
                    <a:pt x="40443" y="298842"/>
                  </a:moveTo>
                  <a:lnTo>
                    <a:pt x="80467" y="261357"/>
                  </a:lnTo>
                  <a:lnTo>
                    <a:pt x="40443" y="332008"/>
                  </a:lnTo>
                  <a:lnTo>
                    <a:pt x="0" y="261357"/>
                  </a:lnTo>
                  <a:lnTo>
                    <a:pt x="40443" y="298842"/>
                  </a:lnTo>
                  <a:close/>
                </a:path>
              </a:pathLst>
            </a:custGeom>
            <a:ln w="4734">
              <a:solidFill>
                <a:srgbClr val="000000"/>
              </a:solidFill>
            </a:ln>
          </p:spPr>
          <p:txBody>
            <a:bodyPr wrap="square" lIns="0" tIns="0" rIns="0" bIns="0" rtlCol="0"/>
            <a:lstStyle/>
            <a:p/>
          </p:txBody>
        </p:sp>
        <p:sp>
          <p:nvSpPr>
            <p:cNvPr id="120" name="object 120" descr=""/>
            <p:cNvSpPr/>
            <p:nvPr/>
          </p:nvSpPr>
          <p:spPr>
            <a:xfrm>
              <a:off x="7973088" y="2051074"/>
              <a:ext cx="966469" cy="3804285"/>
            </a:xfrm>
            <a:custGeom>
              <a:avLst/>
              <a:gdLst/>
              <a:ahLst/>
              <a:cxnLst/>
              <a:rect l="l" t="t" r="r" b="b"/>
              <a:pathLst>
                <a:path w="966470" h="3804285">
                  <a:moveTo>
                    <a:pt x="0" y="0"/>
                  </a:moveTo>
                  <a:lnTo>
                    <a:pt x="966450" y="0"/>
                  </a:lnTo>
                </a:path>
                <a:path w="966470" h="3804285">
                  <a:moveTo>
                    <a:pt x="966450" y="0"/>
                  </a:moveTo>
                  <a:lnTo>
                    <a:pt x="966450" y="3803691"/>
                  </a:lnTo>
                </a:path>
              </a:pathLst>
            </a:custGeom>
            <a:ln w="13730">
              <a:solidFill>
                <a:srgbClr val="000000"/>
              </a:solidFill>
            </a:ln>
          </p:spPr>
          <p:txBody>
            <a:bodyPr wrap="square" lIns="0" tIns="0" rIns="0" bIns="0" rtlCol="0"/>
            <a:lstStyle/>
            <a:p/>
          </p:txBody>
        </p:sp>
        <p:sp>
          <p:nvSpPr>
            <p:cNvPr id="121" name="object 121" descr=""/>
            <p:cNvSpPr/>
            <p:nvPr/>
          </p:nvSpPr>
          <p:spPr>
            <a:xfrm>
              <a:off x="9174026" y="1722002"/>
              <a:ext cx="277495" cy="70485"/>
            </a:xfrm>
            <a:custGeom>
              <a:avLst/>
              <a:gdLst/>
              <a:ahLst/>
              <a:cxnLst/>
              <a:rect l="l" t="t" r="r" b="b"/>
              <a:pathLst>
                <a:path w="277495" h="70485">
                  <a:moveTo>
                    <a:pt x="151086" y="0"/>
                  </a:moveTo>
                  <a:lnTo>
                    <a:pt x="191529" y="37139"/>
                  </a:lnTo>
                  <a:lnTo>
                    <a:pt x="151086" y="70305"/>
                  </a:lnTo>
                  <a:lnTo>
                    <a:pt x="245041" y="45603"/>
                  </a:lnTo>
                  <a:lnTo>
                    <a:pt x="191529" y="45603"/>
                  </a:lnTo>
                  <a:lnTo>
                    <a:pt x="201378" y="37139"/>
                  </a:lnTo>
                  <a:lnTo>
                    <a:pt x="201378" y="32820"/>
                  </a:lnTo>
                  <a:lnTo>
                    <a:pt x="196349" y="29020"/>
                  </a:lnTo>
                  <a:lnTo>
                    <a:pt x="191529" y="24701"/>
                  </a:lnTo>
                  <a:lnTo>
                    <a:pt x="234990" y="24701"/>
                  </a:lnTo>
                  <a:lnTo>
                    <a:pt x="151086" y="0"/>
                  </a:lnTo>
                  <a:close/>
                </a:path>
                <a:path w="277495" h="70485">
                  <a:moveTo>
                    <a:pt x="177986" y="24701"/>
                  </a:moveTo>
                  <a:lnTo>
                    <a:pt x="10477" y="24701"/>
                  </a:lnTo>
                  <a:lnTo>
                    <a:pt x="5238" y="29020"/>
                  </a:lnTo>
                  <a:lnTo>
                    <a:pt x="0" y="32820"/>
                  </a:lnTo>
                  <a:lnTo>
                    <a:pt x="0" y="37139"/>
                  </a:lnTo>
                  <a:lnTo>
                    <a:pt x="5238" y="41457"/>
                  </a:lnTo>
                  <a:lnTo>
                    <a:pt x="10477" y="45603"/>
                  </a:lnTo>
                  <a:lnTo>
                    <a:pt x="181208" y="45603"/>
                  </a:lnTo>
                  <a:lnTo>
                    <a:pt x="191529" y="37139"/>
                  </a:lnTo>
                  <a:lnTo>
                    <a:pt x="177986" y="24701"/>
                  </a:lnTo>
                  <a:close/>
                </a:path>
                <a:path w="277495" h="70485">
                  <a:moveTo>
                    <a:pt x="234990" y="24701"/>
                  </a:moveTo>
                  <a:lnTo>
                    <a:pt x="191529" y="24701"/>
                  </a:lnTo>
                  <a:lnTo>
                    <a:pt x="196349" y="29020"/>
                  </a:lnTo>
                  <a:lnTo>
                    <a:pt x="201378" y="32820"/>
                  </a:lnTo>
                  <a:lnTo>
                    <a:pt x="201378" y="37139"/>
                  </a:lnTo>
                  <a:lnTo>
                    <a:pt x="191529" y="45603"/>
                  </a:lnTo>
                  <a:lnTo>
                    <a:pt x="245041" y="45603"/>
                  </a:lnTo>
                  <a:lnTo>
                    <a:pt x="277236" y="37139"/>
                  </a:lnTo>
                  <a:lnTo>
                    <a:pt x="234990" y="24701"/>
                  </a:lnTo>
                  <a:close/>
                </a:path>
              </a:pathLst>
            </a:custGeom>
            <a:solidFill>
              <a:srgbClr val="000000"/>
            </a:solidFill>
          </p:spPr>
          <p:txBody>
            <a:bodyPr wrap="square" lIns="0" tIns="0" rIns="0" bIns="0" rtlCol="0"/>
            <a:lstStyle/>
            <a:p/>
          </p:txBody>
        </p:sp>
        <p:pic>
          <p:nvPicPr>
            <p:cNvPr id="122" name="object 122" descr=""/>
            <p:cNvPicPr/>
            <p:nvPr/>
          </p:nvPicPr>
          <p:blipFill>
            <a:blip r:embed="rId12" cstate="print"/>
            <a:stretch>
              <a:fillRect/>
            </a:stretch>
          </p:blipFill>
          <p:spPr>
            <a:xfrm>
              <a:off x="9171880" y="1719720"/>
              <a:ext cx="281665" cy="74870"/>
            </a:xfrm>
            <a:prstGeom prst="rect">
              <a:avLst/>
            </a:prstGeom>
          </p:spPr>
        </p:pic>
        <p:sp>
          <p:nvSpPr>
            <p:cNvPr id="123" name="object 123" descr=""/>
            <p:cNvSpPr/>
            <p:nvPr/>
          </p:nvSpPr>
          <p:spPr>
            <a:xfrm>
              <a:off x="8214910" y="1756551"/>
              <a:ext cx="966469" cy="3427095"/>
            </a:xfrm>
            <a:custGeom>
              <a:avLst/>
              <a:gdLst/>
              <a:ahLst/>
              <a:cxnLst/>
              <a:rect l="l" t="t" r="r" b="b"/>
              <a:pathLst>
                <a:path w="966470" h="3427095">
                  <a:moveTo>
                    <a:pt x="966450" y="0"/>
                  </a:moveTo>
                  <a:lnTo>
                    <a:pt x="966450" y="3426545"/>
                  </a:lnTo>
                </a:path>
                <a:path w="966470" h="3427095">
                  <a:moveTo>
                    <a:pt x="528278" y="373293"/>
                  </a:moveTo>
                  <a:lnTo>
                    <a:pt x="528278" y="1899980"/>
                  </a:lnTo>
                </a:path>
                <a:path w="966470" h="3427095">
                  <a:moveTo>
                    <a:pt x="0" y="1899980"/>
                  </a:moveTo>
                  <a:lnTo>
                    <a:pt x="528278" y="1899980"/>
                  </a:lnTo>
                </a:path>
              </a:pathLst>
            </a:custGeom>
            <a:ln w="13730">
              <a:solidFill>
                <a:srgbClr val="000000"/>
              </a:solidFill>
            </a:ln>
          </p:spPr>
          <p:txBody>
            <a:bodyPr wrap="square" lIns="0" tIns="0" rIns="0" bIns="0" rtlCol="0"/>
            <a:lstStyle/>
            <a:p/>
          </p:txBody>
        </p:sp>
        <p:pic>
          <p:nvPicPr>
            <p:cNvPr id="124" name="object 124" descr=""/>
            <p:cNvPicPr/>
            <p:nvPr/>
          </p:nvPicPr>
          <p:blipFill>
            <a:blip r:embed="rId13" cstate="print"/>
            <a:stretch>
              <a:fillRect/>
            </a:stretch>
          </p:blipFill>
          <p:spPr>
            <a:xfrm>
              <a:off x="8169921" y="3647896"/>
              <a:ext cx="90398" cy="200236"/>
            </a:xfrm>
            <a:prstGeom prst="rect">
              <a:avLst/>
            </a:prstGeom>
          </p:spPr>
        </p:pic>
        <p:sp>
          <p:nvSpPr>
            <p:cNvPr id="125" name="object 125" descr=""/>
            <p:cNvSpPr/>
            <p:nvPr/>
          </p:nvSpPr>
          <p:spPr>
            <a:xfrm>
              <a:off x="7973088" y="3523520"/>
              <a:ext cx="966469" cy="0"/>
            </a:xfrm>
            <a:custGeom>
              <a:avLst/>
              <a:gdLst/>
              <a:ahLst/>
              <a:cxnLst/>
              <a:rect l="l" t="t" r="r" b="b"/>
              <a:pathLst>
                <a:path w="966470" h="0">
                  <a:moveTo>
                    <a:pt x="0" y="0"/>
                  </a:moveTo>
                  <a:lnTo>
                    <a:pt x="966450" y="0"/>
                  </a:lnTo>
                </a:path>
              </a:pathLst>
            </a:custGeom>
            <a:ln w="12408">
              <a:solidFill>
                <a:srgbClr val="000000"/>
              </a:solidFill>
            </a:ln>
          </p:spPr>
          <p:txBody>
            <a:bodyPr wrap="square" lIns="0" tIns="0" rIns="0" bIns="0" rtlCol="0"/>
            <a:lstStyle/>
            <a:p/>
          </p:txBody>
        </p:sp>
        <p:sp>
          <p:nvSpPr>
            <p:cNvPr id="126" name="object 126" descr=""/>
            <p:cNvSpPr/>
            <p:nvPr/>
          </p:nvSpPr>
          <p:spPr>
            <a:xfrm>
              <a:off x="7930968" y="3517992"/>
              <a:ext cx="85725" cy="328295"/>
            </a:xfrm>
            <a:custGeom>
              <a:avLst/>
              <a:gdLst/>
              <a:ahLst/>
              <a:cxnLst/>
              <a:rect l="l" t="t" r="r" b="b"/>
              <a:pathLst>
                <a:path w="85725" h="328295">
                  <a:moveTo>
                    <a:pt x="0" y="224218"/>
                  </a:moveTo>
                  <a:lnTo>
                    <a:pt x="45053" y="327690"/>
                  </a:lnTo>
                  <a:lnTo>
                    <a:pt x="67789" y="269821"/>
                  </a:lnTo>
                  <a:lnTo>
                    <a:pt x="45053" y="269821"/>
                  </a:lnTo>
                  <a:lnTo>
                    <a:pt x="40443" y="265503"/>
                  </a:lnTo>
                  <a:lnTo>
                    <a:pt x="35204" y="265503"/>
                  </a:lnTo>
                  <a:lnTo>
                    <a:pt x="35204" y="261184"/>
                  </a:lnTo>
                  <a:lnTo>
                    <a:pt x="30175" y="261184"/>
                  </a:lnTo>
                  <a:lnTo>
                    <a:pt x="30175" y="248977"/>
                  </a:lnTo>
                  <a:lnTo>
                    <a:pt x="0" y="224218"/>
                  </a:lnTo>
                  <a:close/>
                </a:path>
                <a:path w="85725" h="328295">
                  <a:moveTo>
                    <a:pt x="45053" y="265503"/>
                  </a:moveTo>
                  <a:lnTo>
                    <a:pt x="40443" y="265503"/>
                  </a:lnTo>
                  <a:lnTo>
                    <a:pt x="45053" y="269821"/>
                  </a:lnTo>
                  <a:lnTo>
                    <a:pt x="45053" y="265503"/>
                  </a:lnTo>
                  <a:close/>
                </a:path>
                <a:path w="85725" h="328295">
                  <a:moveTo>
                    <a:pt x="85706" y="224218"/>
                  </a:moveTo>
                  <a:lnTo>
                    <a:pt x="55531" y="251657"/>
                  </a:lnTo>
                  <a:lnTo>
                    <a:pt x="55531" y="261184"/>
                  </a:lnTo>
                  <a:lnTo>
                    <a:pt x="50292" y="261184"/>
                  </a:lnTo>
                  <a:lnTo>
                    <a:pt x="50292" y="265503"/>
                  </a:lnTo>
                  <a:lnTo>
                    <a:pt x="45053" y="265503"/>
                  </a:lnTo>
                  <a:lnTo>
                    <a:pt x="45053" y="269821"/>
                  </a:lnTo>
                  <a:lnTo>
                    <a:pt x="67789" y="269821"/>
                  </a:lnTo>
                  <a:lnTo>
                    <a:pt x="85706" y="224218"/>
                  </a:lnTo>
                  <a:close/>
                </a:path>
                <a:path w="85725" h="328295">
                  <a:moveTo>
                    <a:pt x="50292" y="261184"/>
                  </a:moveTo>
                  <a:lnTo>
                    <a:pt x="35204" y="261184"/>
                  </a:lnTo>
                  <a:lnTo>
                    <a:pt x="35204" y="265503"/>
                  </a:lnTo>
                  <a:lnTo>
                    <a:pt x="50292" y="265503"/>
                  </a:lnTo>
                  <a:lnTo>
                    <a:pt x="50292" y="261184"/>
                  </a:lnTo>
                  <a:close/>
                </a:path>
                <a:path w="85725" h="328295">
                  <a:moveTo>
                    <a:pt x="30175" y="248977"/>
                  </a:moveTo>
                  <a:lnTo>
                    <a:pt x="30175" y="261184"/>
                  </a:lnTo>
                  <a:lnTo>
                    <a:pt x="45053" y="261184"/>
                  </a:lnTo>
                  <a:lnTo>
                    <a:pt x="30175" y="248977"/>
                  </a:lnTo>
                  <a:close/>
                </a:path>
                <a:path w="85725" h="328295">
                  <a:moveTo>
                    <a:pt x="50292" y="0"/>
                  </a:moveTo>
                  <a:lnTo>
                    <a:pt x="35204" y="0"/>
                  </a:lnTo>
                  <a:lnTo>
                    <a:pt x="35204" y="4318"/>
                  </a:lnTo>
                  <a:lnTo>
                    <a:pt x="30175" y="8118"/>
                  </a:lnTo>
                  <a:lnTo>
                    <a:pt x="30175" y="248977"/>
                  </a:lnTo>
                  <a:lnTo>
                    <a:pt x="45053" y="261184"/>
                  </a:lnTo>
                  <a:lnTo>
                    <a:pt x="55531" y="251657"/>
                  </a:lnTo>
                  <a:lnTo>
                    <a:pt x="55531" y="8118"/>
                  </a:lnTo>
                  <a:lnTo>
                    <a:pt x="50292" y="4318"/>
                  </a:lnTo>
                  <a:lnTo>
                    <a:pt x="50292" y="0"/>
                  </a:lnTo>
                  <a:close/>
                </a:path>
                <a:path w="85725" h="328295">
                  <a:moveTo>
                    <a:pt x="55531" y="251657"/>
                  </a:moveTo>
                  <a:lnTo>
                    <a:pt x="45053" y="261184"/>
                  </a:lnTo>
                  <a:lnTo>
                    <a:pt x="55531" y="261184"/>
                  </a:lnTo>
                  <a:lnTo>
                    <a:pt x="55531" y="251657"/>
                  </a:lnTo>
                  <a:close/>
                </a:path>
              </a:pathLst>
            </a:custGeom>
            <a:solidFill>
              <a:srgbClr val="000000"/>
            </a:solidFill>
          </p:spPr>
          <p:txBody>
            <a:bodyPr wrap="square" lIns="0" tIns="0" rIns="0" bIns="0" rtlCol="0"/>
            <a:lstStyle/>
            <a:p/>
          </p:txBody>
        </p:sp>
        <p:sp>
          <p:nvSpPr>
            <p:cNvPr id="127" name="object 127" descr=""/>
            <p:cNvSpPr/>
            <p:nvPr/>
          </p:nvSpPr>
          <p:spPr>
            <a:xfrm>
              <a:off x="7930968" y="3517993"/>
              <a:ext cx="85725" cy="328295"/>
            </a:xfrm>
            <a:custGeom>
              <a:avLst/>
              <a:gdLst/>
              <a:ahLst/>
              <a:cxnLst/>
              <a:rect l="l" t="t" r="r" b="b"/>
              <a:pathLst>
                <a:path w="85725" h="328295">
                  <a:moveTo>
                    <a:pt x="55531" y="8118"/>
                  </a:moveTo>
                  <a:lnTo>
                    <a:pt x="55531" y="261184"/>
                  </a:lnTo>
                  <a:lnTo>
                    <a:pt x="50292" y="261184"/>
                  </a:lnTo>
                  <a:lnTo>
                    <a:pt x="50292" y="265503"/>
                  </a:lnTo>
                  <a:lnTo>
                    <a:pt x="45053" y="265503"/>
                  </a:lnTo>
                  <a:lnTo>
                    <a:pt x="45053" y="269821"/>
                  </a:lnTo>
                  <a:lnTo>
                    <a:pt x="40443" y="265503"/>
                  </a:lnTo>
                  <a:lnTo>
                    <a:pt x="35204" y="265503"/>
                  </a:lnTo>
                  <a:lnTo>
                    <a:pt x="35204" y="261184"/>
                  </a:lnTo>
                  <a:lnTo>
                    <a:pt x="30175" y="261184"/>
                  </a:lnTo>
                  <a:lnTo>
                    <a:pt x="30175" y="8118"/>
                  </a:lnTo>
                  <a:lnTo>
                    <a:pt x="35204" y="4318"/>
                  </a:lnTo>
                  <a:lnTo>
                    <a:pt x="35204" y="0"/>
                  </a:lnTo>
                  <a:lnTo>
                    <a:pt x="40443" y="0"/>
                  </a:lnTo>
                  <a:lnTo>
                    <a:pt x="45053" y="0"/>
                  </a:lnTo>
                  <a:lnTo>
                    <a:pt x="50292" y="0"/>
                  </a:lnTo>
                  <a:lnTo>
                    <a:pt x="50292" y="4318"/>
                  </a:lnTo>
                  <a:lnTo>
                    <a:pt x="55531" y="8118"/>
                  </a:lnTo>
                  <a:close/>
                </a:path>
                <a:path w="85725" h="328295">
                  <a:moveTo>
                    <a:pt x="45053" y="261184"/>
                  </a:moveTo>
                  <a:lnTo>
                    <a:pt x="85706" y="224218"/>
                  </a:lnTo>
                  <a:lnTo>
                    <a:pt x="45053" y="327689"/>
                  </a:lnTo>
                  <a:lnTo>
                    <a:pt x="0" y="224218"/>
                  </a:lnTo>
                  <a:lnTo>
                    <a:pt x="45053" y="261184"/>
                  </a:lnTo>
                  <a:close/>
                </a:path>
              </a:pathLst>
            </a:custGeom>
            <a:ln w="4734">
              <a:solidFill>
                <a:srgbClr val="000000"/>
              </a:solidFill>
            </a:ln>
          </p:spPr>
          <p:txBody>
            <a:bodyPr wrap="square" lIns="0" tIns="0" rIns="0" bIns="0" rtlCol="0"/>
            <a:lstStyle/>
            <a:p/>
          </p:txBody>
        </p:sp>
        <p:pic>
          <p:nvPicPr>
            <p:cNvPr id="128" name="object 128" descr=""/>
            <p:cNvPicPr/>
            <p:nvPr/>
          </p:nvPicPr>
          <p:blipFill>
            <a:blip r:embed="rId14" cstate="print"/>
            <a:stretch>
              <a:fillRect/>
            </a:stretch>
          </p:blipFill>
          <p:spPr>
            <a:xfrm>
              <a:off x="9735269" y="5630980"/>
              <a:ext cx="90607" cy="228792"/>
            </a:xfrm>
            <a:prstGeom prst="rect">
              <a:avLst/>
            </a:prstGeom>
          </p:spPr>
        </p:pic>
        <p:sp>
          <p:nvSpPr>
            <p:cNvPr id="129" name="object 129" descr=""/>
            <p:cNvSpPr/>
            <p:nvPr/>
          </p:nvSpPr>
          <p:spPr>
            <a:xfrm>
              <a:off x="3254685" y="784363"/>
              <a:ext cx="5803900" cy="4650740"/>
            </a:xfrm>
            <a:custGeom>
              <a:avLst/>
              <a:gdLst/>
              <a:ahLst/>
              <a:cxnLst/>
              <a:rect l="l" t="t" r="r" b="b"/>
              <a:pathLst>
                <a:path w="5803900" h="4650740">
                  <a:moveTo>
                    <a:pt x="5798430" y="8118"/>
                  </a:moveTo>
                  <a:lnTo>
                    <a:pt x="5788581" y="8118"/>
                  </a:lnTo>
                  <a:lnTo>
                    <a:pt x="5788581" y="41457"/>
                  </a:lnTo>
                  <a:lnTo>
                    <a:pt x="5803668" y="41457"/>
                  </a:lnTo>
                  <a:lnTo>
                    <a:pt x="5803668" y="16755"/>
                  </a:lnTo>
                  <a:lnTo>
                    <a:pt x="5798430" y="16755"/>
                  </a:lnTo>
                  <a:lnTo>
                    <a:pt x="5798430" y="8118"/>
                  </a:lnTo>
                  <a:close/>
                </a:path>
                <a:path w="5803900" h="4650740">
                  <a:moveTo>
                    <a:pt x="5798430" y="0"/>
                  </a:moveTo>
                  <a:lnTo>
                    <a:pt x="5733050" y="0"/>
                  </a:lnTo>
                  <a:lnTo>
                    <a:pt x="5733050" y="16755"/>
                  </a:lnTo>
                  <a:lnTo>
                    <a:pt x="5788581" y="16755"/>
                  </a:lnTo>
                  <a:lnTo>
                    <a:pt x="5788581" y="8118"/>
                  </a:lnTo>
                  <a:lnTo>
                    <a:pt x="5798430" y="8118"/>
                  </a:lnTo>
                  <a:lnTo>
                    <a:pt x="5798430" y="0"/>
                  </a:lnTo>
                  <a:close/>
                </a:path>
                <a:path w="5803900" h="4650740">
                  <a:moveTo>
                    <a:pt x="5803668" y="8118"/>
                  </a:moveTo>
                  <a:lnTo>
                    <a:pt x="5798430" y="8118"/>
                  </a:lnTo>
                  <a:lnTo>
                    <a:pt x="5798430" y="16755"/>
                  </a:lnTo>
                  <a:lnTo>
                    <a:pt x="5803668" y="16755"/>
                  </a:lnTo>
                  <a:lnTo>
                    <a:pt x="5803668" y="8118"/>
                  </a:lnTo>
                  <a:close/>
                </a:path>
                <a:path w="5803900" h="4650740">
                  <a:moveTo>
                    <a:pt x="5687996" y="0"/>
                  </a:moveTo>
                  <a:lnTo>
                    <a:pt x="5627645" y="0"/>
                  </a:lnTo>
                  <a:lnTo>
                    <a:pt x="5627645" y="16755"/>
                  </a:lnTo>
                  <a:lnTo>
                    <a:pt x="5687996" y="16755"/>
                  </a:lnTo>
                  <a:lnTo>
                    <a:pt x="5687996" y="0"/>
                  </a:lnTo>
                  <a:close/>
                </a:path>
                <a:path w="5803900" h="4650740">
                  <a:moveTo>
                    <a:pt x="5577353" y="0"/>
                  </a:moveTo>
                  <a:lnTo>
                    <a:pt x="5516583" y="0"/>
                  </a:lnTo>
                  <a:lnTo>
                    <a:pt x="5516583" y="16755"/>
                  </a:lnTo>
                  <a:lnTo>
                    <a:pt x="5577353" y="16755"/>
                  </a:lnTo>
                  <a:lnTo>
                    <a:pt x="5577353" y="0"/>
                  </a:lnTo>
                  <a:close/>
                </a:path>
                <a:path w="5803900" h="4650740">
                  <a:moveTo>
                    <a:pt x="5466291" y="0"/>
                  </a:moveTo>
                  <a:lnTo>
                    <a:pt x="5406150" y="0"/>
                  </a:lnTo>
                  <a:lnTo>
                    <a:pt x="5406150" y="16755"/>
                  </a:lnTo>
                  <a:lnTo>
                    <a:pt x="5466291" y="16755"/>
                  </a:lnTo>
                  <a:lnTo>
                    <a:pt x="5466291" y="0"/>
                  </a:lnTo>
                  <a:close/>
                </a:path>
                <a:path w="5803900" h="4650740">
                  <a:moveTo>
                    <a:pt x="5355648" y="0"/>
                  </a:moveTo>
                  <a:lnTo>
                    <a:pt x="5295507" y="0"/>
                  </a:lnTo>
                  <a:lnTo>
                    <a:pt x="5295507" y="16755"/>
                  </a:lnTo>
                  <a:lnTo>
                    <a:pt x="5355648" y="16755"/>
                  </a:lnTo>
                  <a:lnTo>
                    <a:pt x="5355648" y="0"/>
                  </a:lnTo>
                  <a:close/>
                </a:path>
                <a:path w="5803900" h="4650740">
                  <a:moveTo>
                    <a:pt x="5249824" y="0"/>
                  </a:moveTo>
                  <a:lnTo>
                    <a:pt x="5184445" y="0"/>
                  </a:lnTo>
                  <a:lnTo>
                    <a:pt x="5184445" y="16755"/>
                  </a:lnTo>
                  <a:lnTo>
                    <a:pt x="5249824" y="16755"/>
                  </a:lnTo>
                  <a:lnTo>
                    <a:pt x="5249824" y="0"/>
                  </a:lnTo>
                  <a:close/>
                </a:path>
                <a:path w="5803900" h="4650740">
                  <a:moveTo>
                    <a:pt x="5139181" y="0"/>
                  </a:moveTo>
                  <a:lnTo>
                    <a:pt x="5073801" y="0"/>
                  </a:lnTo>
                  <a:lnTo>
                    <a:pt x="5073801" y="16755"/>
                  </a:lnTo>
                  <a:lnTo>
                    <a:pt x="5139181" y="16755"/>
                  </a:lnTo>
                  <a:lnTo>
                    <a:pt x="5139181" y="0"/>
                  </a:lnTo>
                  <a:close/>
                </a:path>
                <a:path w="5803900" h="4650740">
                  <a:moveTo>
                    <a:pt x="5028748" y="0"/>
                  </a:moveTo>
                  <a:lnTo>
                    <a:pt x="4963368" y="0"/>
                  </a:lnTo>
                  <a:lnTo>
                    <a:pt x="4963368" y="16755"/>
                  </a:lnTo>
                  <a:lnTo>
                    <a:pt x="5028748" y="16755"/>
                  </a:lnTo>
                  <a:lnTo>
                    <a:pt x="5028748" y="0"/>
                  </a:lnTo>
                  <a:close/>
                </a:path>
                <a:path w="5803900" h="4650740">
                  <a:moveTo>
                    <a:pt x="4917686" y="0"/>
                  </a:moveTo>
                  <a:lnTo>
                    <a:pt x="4852306" y="0"/>
                  </a:lnTo>
                  <a:lnTo>
                    <a:pt x="4852306" y="16755"/>
                  </a:lnTo>
                  <a:lnTo>
                    <a:pt x="4917686" y="16755"/>
                  </a:lnTo>
                  <a:lnTo>
                    <a:pt x="4917686" y="0"/>
                  </a:lnTo>
                  <a:close/>
                </a:path>
                <a:path w="5803900" h="4650740">
                  <a:moveTo>
                    <a:pt x="4807043" y="0"/>
                  </a:moveTo>
                  <a:lnTo>
                    <a:pt x="4746901" y="0"/>
                  </a:lnTo>
                  <a:lnTo>
                    <a:pt x="4746901" y="16755"/>
                  </a:lnTo>
                  <a:lnTo>
                    <a:pt x="4807043" y="16755"/>
                  </a:lnTo>
                  <a:lnTo>
                    <a:pt x="4807043" y="0"/>
                  </a:lnTo>
                  <a:close/>
                </a:path>
                <a:path w="5803900" h="4650740">
                  <a:moveTo>
                    <a:pt x="4696609" y="0"/>
                  </a:moveTo>
                  <a:lnTo>
                    <a:pt x="4635839" y="0"/>
                  </a:lnTo>
                  <a:lnTo>
                    <a:pt x="4635839" y="16755"/>
                  </a:lnTo>
                  <a:lnTo>
                    <a:pt x="4696609" y="16755"/>
                  </a:lnTo>
                  <a:lnTo>
                    <a:pt x="4696609" y="0"/>
                  </a:lnTo>
                  <a:close/>
                </a:path>
                <a:path w="5803900" h="4650740">
                  <a:moveTo>
                    <a:pt x="4585337" y="0"/>
                  </a:moveTo>
                  <a:lnTo>
                    <a:pt x="4525196" y="0"/>
                  </a:lnTo>
                  <a:lnTo>
                    <a:pt x="4525196" y="16755"/>
                  </a:lnTo>
                  <a:lnTo>
                    <a:pt x="4585337" y="16755"/>
                  </a:lnTo>
                  <a:lnTo>
                    <a:pt x="4585337" y="0"/>
                  </a:lnTo>
                  <a:close/>
                </a:path>
                <a:path w="5803900" h="4650740">
                  <a:moveTo>
                    <a:pt x="4474904" y="0"/>
                  </a:moveTo>
                  <a:lnTo>
                    <a:pt x="4414553" y="0"/>
                  </a:lnTo>
                  <a:lnTo>
                    <a:pt x="4414553" y="16755"/>
                  </a:lnTo>
                  <a:lnTo>
                    <a:pt x="4474904" y="16755"/>
                  </a:lnTo>
                  <a:lnTo>
                    <a:pt x="4474904" y="0"/>
                  </a:lnTo>
                  <a:close/>
                </a:path>
                <a:path w="5803900" h="4650740">
                  <a:moveTo>
                    <a:pt x="4369081" y="0"/>
                  </a:moveTo>
                  <a:lnTo>
                    <a:pt x="4303491" y="0"/>
                  </a:lnTo>
                  <a:lnTo>
                    <a:pt x="4303491" y="16755"/>
                  </a:lnTo>
                  <a:lnTo>
                    <a:pt x="4369081" y="16755"/>
                  </a:lnTo>
                  <a:lnTo>
                    <a:pt x="4369081" y="0"/>
                  </a:lnTo>
                  <a:close/>
                </a:path>
                <a:path w="5803900" h="4650740">
                  <a:moveTo>
                    <a:pt x="4258437" y="0"/>
                  </a:moveTo>
                  <a:lnTo>
                    <a:pt x="4193057" y="0"/>
                  </a:lnTo>
                  <a:lnTo>
                    <a:pt x="4193057" y="16755"/>
                  </a:lnTo>
                  <a:lnTo>
                    <a:pt x="4258437" y="16755"/>
                  </a:lnTo>
                  <a:lnTo>
                    <a:pt x="4258437" y="0"/>
                  </a:lnTo>
                  <a:close/>
                </a:path>
                <a:path w="5803900" h="4650740">
                  <a:moveTo>
                    <a:pt x="4147794" y="0"/>
                  </a:moveTo>
                  <a:lnTo>
                    <a:pt x="4082414" y="0"/>
                  </a:lnTo>
                  <a:lnTo>
                    <a:pt x="4082414" y="16755"/>
                  </a:lnTo>
                  <a:lnTo>
                    <a:pt x="4147794" y="16755"/>
                  </a:lnTo>
                  <a:lnTo>
                    <a:pt x="4147794" y="0"/>
                  </a:lnTo>
                  <a:close/>
                </a:path>
                <a:path w="5803900" h="4650740">
                  <a:moveTo>
                    <a:pt x="4036732" y="0"/>
                  </a:moveTo>
                  <a:lnTo>
                    <a:pt x="3971352" y="0"/>
                  </a:lnTo>
                  <a:lnTo>
                    <a:pt x="3971352" y="16755"/>
                  </a:lnTo>
                  <a:lnTo>
                    <a:pt x="4036732" y="16755"/>
                  </a:lnTo>
                  <a:lnTo>
                    <a:pt x="4036732" y="0"/>
                  </a:lnTo>
                  <a:close/>
                </a:path>
                <a:path w="5803900" h="4650740">
                  <a:moveTo>
                    <a:pt x="3926299" y="0"/>
                  </a:moveTo>
                  <a:lnTo>
                    <a:pt x="3865948" y="0"/>
                  </a:lnTo>
                  <a:lnTo>
                    <a:pt x="3865948" y="16755"/>
                  </a:lnTo>
                  <a:lnTo>
                    <a:pt x="3926299" y="16755"/>
                  </a:lnTo>
                  <a:lnTo>
                    <a:pt x="3926299" y="0"/>
                  </a:lnTo>
                  <a:close/>
                </a:path>
                <a:path w="5803900" h="4650740">
                  <a:moveTo>
                    <a:pt x="3815656" y="0"/>
                  </a:moveTo>
                  <a:lnTo>
                    <a:pt x="3754886" y="0"/>
                  </a:lnTo>
                  <a:lnTo>
                    <a:pt x="3754886" y="16755"/>
                  </a:lnTo>
                  <a:lnTo>
                    <a:pt x="3815656" y="16755"/>
                  </a:lnTo>
                  <a:lnTo>
                    <a:pt x="3815656" y="0"/>
                  </a:lnTo>
                  <a:close/>
                </a:path>
                <a:path w="5803900" h="4650740">
                  <a:moveTo>
                    <a:pt x="3704593" y="0"/>
                  </a:moveTo>
                  <a:lnTo>
                    <a:pt x="3644452" y="0"/>
                  </a:lnTo>
                  <a:lnTo>
                    <a:pt x="3644452" y="16755"/>
                  </a:lnTo>
                  <a:lnTo>
                    <a:pt x="3704593" y="16755"/>
                  </a:lnTo>
                  <a:lnTo>
                    <a:pt x="3704593" y="0"/>
                  </a:lnTo>
                  <a:close/>
                </a:path>
                <a:path w="5803900" h="4650740">
                  <a:moveTo>
                    <a:pt x="3593950" y="0"/>
                  </a:moveTo>
                  <a:lnTo>
                    <a:pt x="3533809" y="0"/>
                  </a:lnTo>
                  <a:lnTo>
                    <a:pt x="3533809" y="16755"/>
                  </a:lnTo>
                  <a:lnTo>
                    <a:pt x="3593950" y="16755"/>
                  </a:lnTo>
                  <a:lnTo>
                    <a:pt x="3593950" y="0"/>
                  </a:lnTo>
                  <a:close/>
                </a:path>
                <a:path w="5803900" h="4650740">
                  <a:moveTo>
                    <a:pt x="3488127" y="0"/>
                  </a:moveTo>
                  <a:lnTo>
                    <a:pt x="3422747" y="0"/>
                  </a:lnTo>
                  <a:lnTo>
                    <a:pt x="3422747" y="16755"/>
                  </a:lnTo>
                  <a:lnTo>
                    <a:pt x="3488127" y="16755"/>
                  </a:lnTo>
                  <a:lnTo>
                    <a:pt x="3488127" y="0"/>
                  </a:lnTo>
                  <a:close/>
                </a:path>
                <a:path w="5803900" h="4650740">
                  <a:moveTo>
                    <a:pt x="3377484" y="0"/>
                  </a:moveTo>
                  <a:lnTo>
                    <a:pt x="3312104" y="0"/>
                  </a:lnTo>
                  <a:lnTo>
                    <a:pt x="3312104" y="16755"/>
                  </a:lnTo>
                  <a:lnTo>
                    <a:pt x="3377484" y="16755"/>
                  </a:lnTo>
                  <a:lnTo>
                    <a:pt x="3377484" y="0"/>
                  </a:lnTo>
                  <a:close/>
                </a:path>
                <a:path w="5803900" h="4650740">
                  <a:moveTo>
                    <a:pt x="3267050" y="0"/>
                  </a:moveTo>
                  <a:lnTo>
                    <a:pt x="3201670" y="0"/>
                  </a:lnTo>
                  <a:lnTo>
                    <a:pt x="3201670" y="16755"/>
                  </a:lnTo>
                  <a:lnTo>
                    <a:pt x="3267050" y="16755"/>
                  </a:lnTo>
                  <a:lnTo>
                    <a:pt x="3267050" y="0"/>
                  </a:lnTo>
                  <a:close/>
                </a:path>
                <a:path w="5803900" h="4650740">
                  <a:moveTo>
                    <a:pt x="3155988" y="0"/>
                  </a:moveTo>
                  <a:lnTo>
                    <a:pt x="3090608" y="0"/>
                  </a:lnTo>
                  <a:lnTo>
                    <a:pt x="3090608" y="16755"/>
                  </a:lnTo>
                  <a:lnTo>
                    <a:pt x="3155988" y="16755"/>
                  </a:lnTo>
                  <a:lnTo>
                    <a:pt x="3155988" y="0"/>
                  </a:lnTo>
                  <a:close/>
                </a:path>
                <a:path w="5803900" h="4650740">
                  <a:moveTo>
                    <a:pt x="3045345" y="0"/>
                  </a:moveTo>
                  <a:lnTo>
                    <a:pt x="2985204" y="0"/>
                  </a:lnTo>
                  <a:lnTo>
                    <a:pt x="2985204" y="16755"/>
                  </a:lnTo>
                  <a:lnTo>
                    <a:pt x="3045345" y="16755"/>
                  </a:lnTo>
                  <a:lnTo>
                    <a:pt x="3045345" y="0"/>
                  </a:lnTo>
                  <a:close/>
                </a:path>
                <a:path w="5803900" h="4650740">
                  <a:moveTo>
                    <a:pt x="2934702" y="0"/>
                  </a:moveTo>
                  <a:lnTo>
                    <a:pt x="2874142" y="0"/>
                  </a:lnTo>
                  <a:lnTo>
                    <a:pt x="2874142" y="16755"/>
                  </a:lnTo>
                  <a:lnTo>
                    <a:pt x="2934702" y="16755"/>
                  </a:lnTo>
                  <a:lnTo>
                    <a:pt x="2934702" y="0"/>
                  </a:lnTo>
                  <a:close/>
                </a:path>
                <a:path w="5803900" h="4650740">
                  <a:moveTo>
                    <a:pt x="2823640" y="0"/>
                  </a:moveTo>
                  <a:lnTo>
                    <a:pt x="2763499" y="0"/>
                  </a:lnTo>
                  <a:lnTo>
                    <a:pt x="2763499" y="16755"/>
                  </a:lnTo>
                  <a:lnTo>
                    <a:pt x="2823640" y="16755"/>
                  </a:lnTo>
                  <a:lnTo>
                    <a:pt x="2823640" y="0"/>
                  </a:lnTo>
                  <a:close/>
                </a:path>
                <a:path w="5803900" h="4650740">
                  <a:moveTo>
                    <a:pt x="2713206" y="0"/>
                  </a:moveTo>
                  <a:lnTo>
                    <a:pt x="2652856" y="0"/>
                  </a:lnTo>
                  <a:lnTo>
                    <a:pt x="2652856" y="16755"/>
                  </a:lnTo>
                  <a:lnTo>
                    <a:pt x="2713206" y="16755"/>
                  </a:lnTo>
                  <a:lnTo>
                    <a:pt x="2713206" y="0"/>
                  </a:lnTo>
                  <a:close/>
                </a:path>
                <a:path w="5803900" h="4650740">
                  <a:moveTo>
                    <a:pt x="2607173" y="0"/>
                  </a:moveTo>
                  <a:lnTo>
                    <a:pt x="2541793" y="0"/>
                  </a:lnTo>
                  <a:lnTo>
                    <a:pt x="2541793" y="16755"/>
                  </a:lnTo>
                  <a:lnTo>
                    <a:pt x="2607173" y="16755"/>
                  </a:lnTo>
                  <a:lnTo>
                    <a:pt x="2607173" y="0"/>
                  </a:lnTo>
                  <a:close/>
                </a:path>
                <a:path w="5803900" h="4650740">
                  <a:moveTo>
                    <a:pt x="2496740" y="0"/>
                  </a:moveTo>
                  <a:lnTo>
                    <a:pt x="2431360" y="0"/>
                  </a:lnTo>
                  <a:lnTo>
                    <a:pt x="2431360" y="16755"/>
                  </a:lnTo>
                  <a:lnTo>
                    <a:pt x="2496740" y="16755"/>
                  </a:lnTo>
                  <a:lnTo>
                    <a:pt x="2496740" y="0"/>
                  </a:lnTo>
                  <a:close/>
                </a:path>
                <a:path w="5803900" h="4650740">
                  <a:moveTo>
                    <a:pt x="2386097" y="0"/>
                  </a:moveTo>
                  <a:lnTo>
                    <a:pt x="2320298" y="0"/>
                  </a:lnTo>
                  <a:lnTo>
                    <a:pt x="2320298" y="16755"/>
                  </a:lnTo>
                  <a:lnTo>
                    <a:pt x="2386097" y="16755"/>
                  </a:lnTo>
                  <a:lnTo>
                    <a:pt x="2386097" y="0"/>
                  </a:lnTo>
                  <a:close/>
                </a:path>
                <a:path w="5803900" h="4650740">
                  <a:moveTo>
                    <a:pt x="2275035" y="0"/>
                  </a:moveTo>
                  <a:lnTo>
                    <a:pt x="2209655" y="0"/>
                  </a:lnTo>
                  <a:lnTo>
                    <a:pt x="2209655" y="16755"/>
                  </a:lnTo>
                  <a:lnTo>
                    <a:pt x="2275035" y="16755"/>
                  </a:lnTo>
                  <a:lnTo>
                    <a:pt x="2275035" y="0"/>
                  </a:lnTo>
                  <a:close/>
                </a:path>
                <a:path w="5803900" h="4650740">
                  <a:moveTo>
                    <a:pt x="2164601" y="0"/>
                  </a:moveTo>
                  <a:lnTo>
                    <a:pt x="2103831" y="0"/>
                  </a:lnTo>
                  <a:lnTo>
                    <a:pt x="2103831" y="16755"/>
                  </a:lnTo>
                  <a:lnTo>
                    <a:pt x="2164601" y="16755"/>
                  </a:lnTo>
                  <a:lnTo>
                    <a:pt x="2164601" y="0"/>
                  </a:lnTo>
                  <a:close/>
                </a:path>
                <a:path w="5803900" h="4650740">
                  <a:moveTo>
                    <a:pt x="2053937" y="0"/>
                  </a:moveTo>
                  <a:lnTo>
                    <a:pt x="1993209" y="0"/>
                  </a:lnTo>
                  <a:lnTo>
                    <a:pt x="1993209" y="16755"/>
                  </a:lnTo>
                  <a:lnTo>
                    <a:pt x="2053937" y="16755"/>
                  </a:lnTo>
                  <a:lnTo>
                    <a:pt x="2053937" y="0"/>
                  </a:lnTo>
                  <a:close/>
                </a:path>
                <a:path w="5803900" h="4650740">
                  <a:moveTo>
                    <a:pt x="1942854" y="0"/>
                  </a:moveTo>
                  <a:lnTo>
                    <a:pt x="1882650" y="0"/>
                  </a:lnTo>
                  <a:lnTo>
                    <a:pt x="1882650" y="16755"/>
                  </a:lnTo>
                  <a:lnTo>
                    <a:pt x="1942854" y="16755"/>
                  </a:lnTo>
                  <a:lnTo>
                    <a:pt x="1942854" y="0"/>
                  </a:lnTo>
                  <a:close/>
                </a:path>
                <a:path w="5803900" h="4650740">
                  <a:moveTo>
                    <a:pt x="1832295" y="0"/>
                  </a:moveTo>
                  <a:lnTo>
                    <a:pt x="1771567" y="0"/>
                  </a:lnTo>
                  <a:lnTo>
                    <a:pt x="1771567" y="16755"/>
                  </a:lnTo>
                  <a:lnTo>
                    <a:pt x="1832295" y="16755"/>
                  </a:lnTo>
                  <a:lnTo>
                    <a:pt x="1832295" y="0"/>
                  </a:lnTo>
                  <a:close/>
                </a:path>
                <a:path w="5803900" h="4650740">
                  <a:moveTo>
                    <a:pt x="1726409" y="0"/>
                  </a:moveTo>
                  <a:lnTo>
                    <a:pt x="1661008" y="0"/>
                  </a:lnTo>
                  <a:lnTo>
                    <a:pt x="1661008" y="16755"/>
                  </a:lnTo>
                  <a:lnTo>
                    <a:pt x="1726409" y="16755"/>
                  </a:lnTo>
                  <a:lnTo>
                    <a:pt x="1726409" y="0"/>
                  </a:lnTo>
                  <a:close/>
                </a:path>
                <a:path w="5803900" h="4650740">
                  <a:moveTo>
                    <a:pt x="1615849" y="0"/>
                  </a:moveTo>
                  <a:lnTo>
                    <a:pt x="1550448" y="0"/>
                  </a:lnTo>
                  <a:lnTo>
                    <a:pt x="1550448" y="16755"/>
                  </a:lnTo>
                  <a:lnTo>
                    <a:pt x="1615849" y="16755"/>
                  </a:lnTo>
                  <a:lnTo>
                    <a:pt x="1615849" y="0"/>
                  </a:lnTo>
                  <a:close/>
                </a:path>
                <a:path w="5803900" h="4650740">
                  <a:moveTo>
                    <a:pt x="1504766" y="0"/>
                  </a:moveTo>
                  <a:lnTo>
                    <a:pt x="1439365" y="0"/>
                  </a:lnTo>
                  <a:lnTo>
                    <a:pt x="1439365" y="16755"/>
                  </a:lnTo>
                  <a:lnTo>
                    <a:pt x="1504766" y="16755"/>
                  </a:lnTo>
                  <a:lnTo>
                    <a:pt x="1504766" y="0"/>
                  </a:lnTo>
                  <a:close/>
                </a:path>
                <a:path w="5803900" h="4650740">
                  <a:moveTo>
                    <a:pt x="1394207" y="0"/>
                  </a:moveTo>
                  <a:lnTo>
                    <a:pt x="1328806" y="0"/>
                  </a:lnTo>
                  <a:lnTo>
                    <a:pt x="1328806" y="16755"/>
                  </a:lnTo>
                  <a:lnTo>
                    <a:pt x="1394207" y="16755"/>
                  </a:lnTo>
                  <a:lnTo>
                    <a:pt x="1394207" y="0"/>
                  </a:lnTo>
                  <a:close/>
                </a:path>
                <a:path w="5803900" h="4650740">
                  <a:moveTo>
                    <a:pt x="1283648" y="0"/>
                  </a:moveTo>
                  <a:lnTo>
                    <a:pt x="1222920" y="0"/>
                  </a:lnTo>
                  <a:lnTo>
                    <a:pt x="1222920" y="16755"/>
                  </a:lnTo>
                  <a:lnTo>
                    <a:pt x="1283648" y="16755"/>
                  </a:lnTo>
                  <a:lnTo>
                    <a:pt x="1283648" y="0"/>
                  </a:lnTo>
                  <a:close/>
                </a:path>
                <a:path w="5803900" h="4650740">
                  <a:moveTo>
                    <a:pt x="1172565" y="0"/>
                  </a:moveTo>
                  <a:lnTo>
                    <a:pt x="1112360" y="0"/>
                  </a:lnTo>
                  <a:lnTo>
                    <a:pt x="1112360" y="16755"/>
                  </a:lnTo>
                  <a:lnTo>
                    <a:pt x="1172565" y="16755"/>
                  </a:lnTo>
                  <a:lnTo>
                    <a:pt x="1172565" y="0"/>
                  </a:lnTo>
                  <a:close/>
                </a:path>
                <a:path w="5803900" h="4650740">
                  <a:moveTo>
                    <a:pt x="1062005" y="0"/>
                  </a:moveTo>
                  <a:lnTo>
                    <a:pt x="1001801" y="0"/>
                  </a:lnTo>
                  <a:lnTo>
                    <a:pt x="1001801" y="16755"/>
                  </a:lnTo>
                  <a:lnTo>
                    <a:pt x="1062005" y="16755"/>
                  </a:lnTo>
                  <a:lnTo>
                    <a:pt x="1062005" y="0"/>
                  </a:lnTo>
                  <a:close/>
                </a:path>
                <a:path w="5803900" h="4650740">
                  <a:moveTo>
                    <a:pt x="951446" y="0"/>
                  </a:moveTo>
                  <a:lnTo>
                    <a:pt x="890718" y="0"/>
                  </a:lnTo>
                  <a:lnTo>
                    <a:pt x="890718" y="16755"/>
                  </a:lnTo>
                  <a:lnTo>
                    <a:pt x="951446" y="16755"/>
                  </a:lnTo>
                  <a:lnTo>
                    <a:pt x="951446" y="0"/>
                  </a:lnTo>
                  <a:close/>
                </a:path>
                <a:path w="5803900" h="4650740">
                  <a:moveTo>
                    <a:pt x="845560" y="0"/>
                  </a:moveTo>
                  <a:lnTo>
                    <a:pt x="780159" y="0"/>
                  </a:lnTo>
                  <a:lnTo>
                    <a:pt x="780159" y="16755"/>
                  </a:lnTo>
                  <a:lnTo>
                    <a:pt x="845560" y="16755"/>
                  </a:lnTo>
                  <a:lnTo>
                    <a:pt x="845560" y="0"/>
                  </a:lnTo>
                  <a:close/>
                </a:path>
                <a:path w="5803900" h="4650740">
                  <a:moveTo>
                    <a:pt x="735001" y="0"/>
                  </a:moveTo>
                  <a:lnTo>
                    <a:pt x="669600" y="0"/>
                  </a:lnTo>
                  <a:lnTo>
                    <a:pt x="669600" y="16755"/>
                  </a:lnTo>
                  <a:lnTo>
                    <a:pt x="735001" y="16755"/>
                  </a:lnTo>
                  <a:lnTo>
                    <a:pt x="735001" y="0"/>
                  </a:lnTo>
                  <a:close/>
                </a:path>
                <a:path w="5803900" h="4650740">
                  <a:moveTo>
                    <a:pt x="623917" y="0"/>
                  </a:moveTo>
                  <a:lnTo>
                    <a:pt x="558516" y="0"/>
                  </a:lnTo>
                  <a:lnTo>
                    <a:pt x="558516" y="16755"/>
                  </a:lnTo>
                  <a:lnTo>
                    <a:pt x="623917" y="16755"/>
                  </a:lnTo>
                  <a:lnTo>
                    <a:pt x="623917" y="0"/>
                  </a:lnTo>
                  <a:close/>
                </a:path>
                <a:path w="5803900" h="4650740">
                  <a:moveTo>
                    <a:pt x="513358" y="0"/>
                  </a:moveTo>
                  <a:lnTo>
                    <a:pt x="447957" y="0"/>
                  </a:lnTo>
                  <a:lnTo>
                    <a:pt x="447957" y="16755"/>
                  </a:lnTo>
                  <a:lnTo>
                    <a:pt x="513358" y="16755"/>
                  </a:lnTo>
                  <a:lnTo>
                    <a:pt x="513358" y="0"/>
                  </a:lnTo>
                  <a:close/>
                </a:path>
                <a:path w="5803900" h="4650740">
                  <a:moveTo>
                    <a:pt x="402799" y="0"/>
                  </a:moveTo>
                  <a:lnTo>
                    <a:pt x="342071" y="0"/>
                  </a:lnTo>
                  <a:lnTo>
                    <a:pt x="342071" y="16755"/>
                  </a:lnTo>
                  <a:lnTo>
                    <a:pt x="402799" y="16755"/>
                  </a:lnTo>
                  <a:lnTo>
                    <a:pt x="402799" y="0"/>
                  </a:lnTo>
                  <a:close/>
                </a:path>
                <a:path w="5803900" h="4650740">
                  <a:moveTo>
                    <a:pt x="291716" y="0"/>
                  </a:moveTo>
                  <a:lnTo>
                    <a:pt x="231512" y="0"/>
                  </a:lnTo>
                  <a:lnTo>
                    <a:pt x="231512" y="16755"/>
                  </a:lnTo>
                  <a:lnTo>
                    <a:pt x="291716" y="16755"/>
                  </a:lnTo>
                  <a:lnTo>
                    <a:pt x="291716" y="0"/>
                  </a:lnTo>
                  <a:close/>
                </a:path>
                <a:path w="5803900" h="4650740">
                  <a:moveTo>
                    <a:pt x="181157" y="0"/>
                  </a:moveTo>
                  <a:lnTo>
                    <a:pt x="120942" y="0"/>
                  </a:lnTo>
                  <a:lnTo>
                    <a:pt x="120942" y="16755"/>
                  </a:lnTo>
                  <a:lnTo>
                    <a:pt x="181157" y="16755"/>
                  </a:lnTo>
                  <a:lnTo>
                    <a:pt x="181157" y="0"/>
                  </a:lnTo>
                  <a:close/>
                </a:path>
                <a:path w="5803900" h="4650740">
                  <a:moveTo>
                    <a:pt x="70593" y="0"/>
                  </a:moveTo>
                  <a:lnTo>
                    <a:pt x="9861" y="0"/>
                  </a:lnTo>
                  <a:lnTo>
                    <a:pt x="9861" y="16755"/>
                  </a:lnTo>
                  <a:lnTo>
                    <a:pt x="70593" y="16755"/>
                  </a:lnTo>
                  <a:lnTo>
                    <a:pt x="70593" y="0"/>
                  </a:lnTo>
                  <a:close/>
                </a:path>
                <a:path w="5803900" h="4650740">
                  <a:moveTo>
                    <a:pt x="15052" y="45603"/>
                  </a:moveTo>
                  <a:lnTo>
                    <a:pt x="0" y="45603"/>
                  </a:lnTo>
                  <a:lnTo>
                    <a:pt x="0" y="95525"/>
                  </a:lnTo>
                  <a:lnTo>
                    <a:pt x="15052" y="95525"/>
                  </a:lnTo>
                  <a:lnTo>
                    <a:pt x="15052" y="45603"/>
                  </a:lnTo>
                  <a:close/>
                </a:path>
                <a:path w="5803900" h="4650740">
                  <a:moveTo>
                    <a:pt x="15052" y="136811"/>
                  </a:moveTo>
                  <a:lnTo>
                    <a:pt x="0" y="136811"/>
                  </a:lnTo>
                  <a:lnTo>
                    <a:pt x="0" y="186733"/>
                  </a:lnTo>
                  <a:lnTo>
                    <a:pt x="15052" y="186733"/>
                  </a:lnTo>
                  <a:lnTo>
                    <a:pt x="15052" y="136811"/>
                  </a:lnTo>
                  <a:close/>
                </a:path>
                <a:path w="5803900" h="4650740">
                  <a:moveTo>
                    <a:pt x="15052" y="228018"/>
                  </a:moveTo>
                  <a:lnTo>
                    <a:pt x="0" y="228018"/>
                  </a:lnTo>
                  <a:lnTo>
                    <a:pt x="0" y="277940"/>
                  </a:lnTo>
                  <a:lnTo>
                    <a:pt x="15052" y="277940"/>
                  </a:lnTo>
                  <a:lnTo>
                    <a:pt x="15052" y="228018"/>
                  </a:lnTo>
                  <a:close/>
                </a:path>
                <a:path w="5803900" h="4650740">
                  <a:moveTo>
                    <a:pt x="15052" y="315425"/>
                  </a:moveTo>
                  <a:lnTo>
                    <a:pt x="0" y="315425"/>
                  </a:lnTo>
                  <a:lnTo>
                    <a:pt x="0" y="369147"/>
                  </a:lnTo>
                  <a:lnTo>
                    <a:pt x="15052" y="369147"/>
                  </a:lnTo>
                  <a:lnTo>
                    <a:pt x="15052" y="315425"/>
                  </a:lnTo>
                  <a:close/>
                </a:path>
                <a:path w="5803900" h="4650740">
                  <a:moveTo>
                    <a:pt x="15052" y="406632"/>
                  </a:moveTo>
                  <a:lnTo>
                    <a:pt x="0" y="406632"/>
                  </a:lnTo>
                  <a:lnTo>
                    <a:pt x="0" y="460355"/>
                  </a:lnTo>
                  <a:lnTo>
                    <a:pt x="15052" y="460355"/>
                  </a:lnTo>
                  <a:lnTo>
                    <a:pt x="15052" y="406632"/>
                  </a:lnTo>
                  <a:close/>
                </a:path>
                <a:path w="5803900" h="4650740">
                  <a:moveTo>
                    <a:pt x="15052" y="497840"/>
                  </a:moveTo>
                  <a:lnTo>
                    <a:pt x="0" y="497840"/>
                  </a:lnTo>
                  <a:lnTo>
                    <a:pt x="0" y="551562"/>
                  </a:lnTo>
                  <a:lnTo>
                    <a:pt x="15052" y="551562"/>
                  </a:lnTo>
                  <a:lnTo>
                    <a:pt x="15052" y="497840"/>
                  </a:lnTo>
                  <a:close/>
                </a:path>
                <a:path w="5803900" h="4650740">
                  <a:moveTo>
                    <a:pt x="15052" y="589047"/>
                  </a:moveTo>
                  <a:lnTo>
                    <a:pt x="0" y="589047"/>
                  </a:lnTo>
                  <a:lnTo>
                    <a:pt x="0" y="643115"/>
                  </a:lnTo>
                  <a:lnTo>
                    <a:pt x="15052" y="643115"/>
                  </a:lnTo>
                  <a:lnTo>
                    <a:pt x="15052" y="589047"/>
                  </a:lnTo>
                  <a:close/>
                </a:path>
                <a:path w="5803900" h="4650740">
                  <a:moveTo>
                    <a:pt x="15052" y="680254"/>
                  </a:moveTo>
                  <a:lnTo>
                    <a:pt x="0" y="680254"/>
                  </a:lnTo>
                  <a:lnTo>
                    <a:pt x="0" y="730176"/>
                  </a:lnTo>
                  <a:lnTo>
                    <a:pt x="15052" y="730176"/>
                  </a:lnTo>
                  <a:lnTo>
                    <a:pt x="15052" y="680254"/>
                  </a:lnTo>
                  <a:close/>
                </a:path>
                <a:path w="5803900" h="4650740">
                  <a:moveTo>
                    <a:pt x="15052" y="771462"/>
                  </a:moveTo>
                  <a:lnTo>
                    <a:pt x="0" y="771462"/>
                  </a:lnTo>
                  <a:lnTo>
                    <a:pt x="0" y="821384"/>
                  </a:lnTo>
                  <a:lnTo>
                    <a:pt x="15052" y="821384"/>
                  </a:lnTo>
                  <a:lnTo>
                    <a:pt x="15052" y="771462"/>
                  </a:lnTo>
                  <a:close/>
                </a:path>
                <a:path w="5803900" h="4650740">
                  <a:moveTo>
                    <a:pt x="15052" y="862669"/>
                  </a:moveTo>
                  <a:lnTo>
                    <a:pt x="0" y="862669"/>
                  </a:lnTo>
                  <a:lnTo>
                    <a:pt x="0" y="912591"/>
                  </a:lnTo>
                  <a:lnTo>
                    <a:pt x="15052" y="912591"/>
                  </a:lnTo>
                  <a:lnTo>
                    <a:pt x="15052" y="862669"/>
                  </a:lnTo>
                  <a:close/>
                </a:path>
                <a:path w="5803900" h="4650740">
                  <a:moveTo>
                    <a:pt x="15052" y="954222"/>
                  </a:moveTo>
                  <a:lnTo>
                    <a:pt x="0" y="954222"/>
                  </a:lnTo>
                  <a:lnTo>
                    <a:pt x="0" y="1003798"/>
                  </a:lnTo>
                  <a:lnTo>
                    <a:pt x="15052" y="1003798"/>
                  </a:lnTo>
                  <a:lnTo>
                    <a:pt x="15052" y="954222"/>
                  </a:lnTo>
                  <a:close/>
                </a:path>
                <a:path w="5803900" h="4650740">
                  <a:moveTo>
                    <a:pt x="15052" y="1041283"/>
                  </a:moveTo>
                  <a:lnTo>
                    <a:pt x="0" y="1041283"/>
                  </a:lnTo>
                  <a:lnTo>
                    <a:pt x="0" y="1095006"/>
                  </a:lnTo>
                  <a:lnTo>
                    <a:pt x="15052" y="1095006"/>
                  </a:lnTo>
                  <a:lnTo>
                    <a:pt x="15052" y="1041283"/>
                  </a:lnTo>
                  <a:close/>
                </a:path>
                <a:path w="5803900" h="4650740">
                  <a:moveTo>
                    <a:pt x="15052" y="1132491"/>
                  </a:moveTo>
                  <a:lnTo>
                    <a:pt x="0" y="1132491"/>
                  </a:lnTo>
                  <a:lnTo>
                    <a:pt x="0" y="1186559"/>
                  </a:lnTo>
                  <a:lnTo>
                    <a:pt x="15052" y="1186559"/>
                  </a:lnTo>
                  <a:lnTo>
                    <a:pt x="15052" y="1132491"/>
                  </a:lnTo>
                  <a:close/>
                </a:path>
                <a:path w="5803900" h="4650740">
                  <a:moveTo>
                    <a:pt x="15052" y="1223698"/>
                  </a:moveTo>
                  <a:lnTo>
                    <a:pt x="0" y="1223698"/>
                  </a:lnTo>
                  <a:lnTo>
                    <a:pt x="0" y="1277766"/>
                  </a:lnTo>
                  <a:lnTo>
                    <a:pt x="15052" y="1277766"/>
                  </a:lnTo>
                  <a:lnTo>
                    <a:pt x="15052" y="1223698"/>
                  </a:lnTo>
                  <a:close/>
                </a:path>
                <a:path w="5803900" h="4650740">
                  <a:moveTo>
                    <a:pt x="15052" y="1314905"/>
                  </a:moveTo>
                  <a:lnTo>
                    <a:pt x="0" y="1314905"/>
                  </a:lnTo>
                  <a:lnTo>
                    <a:pt x="0" y="1368973"/>
                  </a:lnTo>
                  <a:lnTo>
                    <a:pt x="15052" y="1368973"/>
                  </a:lnTo>
                  <a:lnTo>
                    <a:pt x="15052" y="1314905"/>
                  </a:lnTo>
                  <a:close/>
                </a:path>
                <a:path w="5803900" h="4650740">
                  <a:moveTo>
                    <a:pt x="15052" y="1406113"/>
                  </a:moveTo>
                  <a:lnTo>
                    <a:pt x="0" y="1406113"/>
                  </a:lnTo>
                  <a:lnTo>
                    <a:pt x="0" y="1455862"/>
                  </a:lnTo>
                  <a:lnTo>
                    <a:pt x="15052" y="1455862"/>
                  </a:lnTo>
                  <a:lnTo>
                    <a:pt x="15052" y="1406113"/>
                  </a:lnTo>
                  <a:close/>
                </a:path>
                <a:path w="5803900" h="4650740">
                  <a:moveTo>
                    <a:pt x="15052" y="1497665"/>
                  </a:moveTo>
                  <a:lnTo>
                    <a:pt x="0" y="1497665"/>
                  </a:lnTo>
                  <a:lnTo>
                    <a:pt x="0" y="1547069"/>
                  </a:lnTo>
                  <a:lnTo>
                    <a:pt x="15052" y="1547069"/>
                  </a:lnTo>
                  <a:lnTo>
                    <a:pt x="15052" y="1497665"/>
                  </a:lnTo>
                  <a:close/>
                </a:path>
                <a:path w="5803900" h="4650740">
                  <a:moveTo>
                    <a:pt x="15052" y="1588873"/>
                  </a:moveTo>
                  <a:lnTo>
                    <a:pt x="0" y="1588873"/>
                  </a:lnTo>
                  <a:lnTo>
                    <a:pt x="0" y="1638795"/>
                  </a:lnTo>
                  <a:lnTo>
                    <a:pt x="15052" y="1638795"/>
                  </a:lnTo>
                  <a:lnTo>
                    <a:pt x="15052" y="1588873"/>
                  </a:lnTo>
                  <a:close/>
                </a:path>
                <a:path w="5803900" h="4650740">
                  <a:moveTo>
                    <a:pt x="15052" y="1680080"/>
                  </a:moveTo>
                  <a:lnTo>
                    <a:pt x="0" y="1680080"/>
                  </a:lnTo>
                  <a:lnTo>
                    <a:pt x="0" y="1730002"/>
                  </a:lnTo>
                  <a:lnTo>
                    <a:pt x="15052" y="1730002"/>
                  </a:lnTo>
                  <a:lnTo>
                    <a:pt x="15052" y="1680080"/>
                  </a:lnTo>
                  <a:close/>
                </a:path>
                <a:path w="5803900" h="4650740">
                  <a:moveTo>
                    <a:pt x="15052" y="1766969"/>
                  </a:moveTo>
                  <a:lnTo>
                    <a:pt x="0" y="1766969"/>
                  </a:lnTo>
                  <a:lnTo>
                    <a:pt x="0" y="1821210"/>
                  </a:lnTo>
                  <a:lnTo>
                    <a:pt x="15052" y="1821210"/>
                  </a:lnTo>
                  <a:lnTo>
                    <a:pt x="15052" y="1766969"/>
                  </a:lnTo>
                  <a:close/>
                </a:path>
                <a:path w="5803900" h="4650740">
                  <a:moveTo>
                    <a:pt x="15052" y="1858176"/>
                  </a:moveTo>
                  <a:lnTo>
                    <a:pt x="0" y="1858176"/>
                  </a:lnTo>
                  <a:lnTo>
                    <a:pt x="0" y="1912417"/>
                  </a:lnTo>
                  <a:lnTo>
                    <a:pt x="15052" y="1912417"/>
                  </a:lnTo>
                  <a:lnTo>
                    <a:pt x="15052" y="1858176"/>
                  </a:lnTo>
                  <a:close/>
                </a:path>
                <a:path w="5803900" h="4650740">
                  <a:moveTo>
                    <a:pt x="15052" y="1949384"/>
                  </a:moveTo>
                  <a:lnTo>
                    <a:pt x="0" y="1949384"/>
                  </a:lnTo>
                  <a:lnTo>
                    <a:pt x="0" y="2003624"/>
                  </a:lnTo>
                  <a:lnTo>
                    <a:pt x="15052" y="2003624"/>
                  </a:lnTo>
                  <a:lnTo>
                    <a:pt x="15052" y="1949384"/>
                  </a:lnTo>
                  <a:close/>
                </a:path>
                <a:path w="5803900" h="4650740">
                  <a:moveTo>
                    <a:pt x="15052" y="2041109"/>
                  </a:moveTo>
                  <a:lnTo>
                    <a:pt x="0" y="2041109"/>
                  </a:lnTo>
                  <a:lnTo>
                    <a:pt x="0" y="2094832"/>
                  </a:lnTo>
                  <a:lnTo>
                    <a:pt x="15052" y="2094832"/>
                  </a:lnTo>
                  <a:lnTo>
                    <a:pt x="15052" y="2041109"/>
                  </a:lnTo>
                  <a:close/>
                </a:path>
                <a:path w="5803900" h="4650740">
                  <a:moveTo>
                    <a:pt x="15052" y="2132317"/>
                  </a:moveTo>
                  <a:lnTo>
                    <a:pt x="0" y="2132317"/>
                  </a:lnTo>
                  <a:lnTo>
                    <a:pt x="0" y="2182066"/>
                  </a:lnTo>
                  <a:lnTo>
                    <a:pt x="15052" y="2182066"/>
                  </a:lnTo>
                  <a:lnTo>
                    <a:pt x="15052" y="2132317"/>
                  </a:lnTo>
                  <a:close/>
                </a:path>
                <a:path w="5803900" h="4650740">
                  <a:moveTo>
                    <a:pt x="15052" y="2223524"/>
                  </a:moveTo>
                  <a:lnTo>
                    <a:pt x="0" y="2223524"/>
                  </a:lnTo>
                  <a:lnTo>
                    <a:pt x="0" y="2273273"/>
                  </a:lnTo>
                  <a:lnTo>
                    <a:pt x="15052" y="2273273"/>
                  </a:lnTo>
                  <a:lnTo>
                    <a:pt x="15052" y="2223524"/>
                  </a:lnTo>
                  <a:close/>
                </a:path>
                <a:path w="5803900" h="4650740">
                  <a:moveTo>
                    <a:pt x="15052" y="2314731"/>
                  </a:moveTo>
                  <a:lnTo>
                    <a:pt x="0" y="2314731"/>
                  </a:lnTo>
                  <a:lnTo>
                    <a:pt x="0" y="2364481"/>
                  </a:lnTo>
                  <a:lnTo>
                    <a:pt x="15052" y="2364481"/>
                  </a:lnTo>
                  <a:lnTo>
                    <a:pt x="15052" y="2314731"/>
                  </a:lnTo>
                  <a:close/>
                </a:path>
                <a:path w="5803900" h="4650740">
                  <a:moveTo>
                    <a:pt x="15052" y="2405939"/>
                  </a:moveTo>
                  <a:lnTo>
                    <a:pt x="0" y="2405939"/>
                  </a:lnTo>
                  <a:lnTo>
                    <a:pt x="0" y="2455688"/>
                  </a:lnTo>
                  <a:lnTo>
                    <a:pt x="15052" y="2455688"/>
                  </a:lnTo>
                  <a:lnTo>
                    <a:pt x="15052" y="2405939"/>
                  </a:lnTo>
                  <a:close/>
                </a:path>
                <a:path w="5803900" h="4650740">
                  <a:moveTo>
                    <a:pt x="15052" y="2493173"/>
                  </a:moveTo>
                  <a:lnTo>
                    <a:pt x="0" y="2493173"/>
                  </a:lnTo>
                  <a:lnTo>
                    <a:pt x="0" y="2546895"/>
                  </a:lnTo>
                  <a:lnTo>
                    <a:pt x="15052" y="2546895"/>
                  </a:lnTo>
                  <a:lnTo>
                    <a:pt x="15052" y="2493173"/>
                  </a:lnTo>
                  <a:close/>
                </a:path>
                <a:path w="5803900" h="4650740">
                  <a:moveTo>
                    <a:pt x="15052" y="2584380"/>
                  </a:moveTo>
                  <a:lnTo>
                    <a:pt x="0" y="2584380"/>
                  </a:lnTo>
                  <a:lnTo>
                    <a:pt x="0" y="2638103"/>
                  </a:lnTo>
                  <a:lnTo>
                    <a:pt x="15052" y="2638103"/>
                  </a:lnTo>
                  <a:lnTo>
                    <a:pt x="15052" y="2584380"/>
                  </a:lnTo>
                  <a:close/>
                </a:path>
                <a:path w="5803900" h="4650740">
                  <a:moveTo>
                    <a:pt x="15052" y="2675588"/>
                  </a:moveTo>
                  <a:lnTo>
                    <a:pt x="0" y="2675588"/>
                  </a:lnTo>
                  <a:lnTo>
                    <a:pt x="0" y="2729310"/>
                  </a:lnTo>
                  <a:lnTo>
                    <a:pt x="15052" y="2729310"/>
                  </a:lnTo>
                  <a:lnTo>
                    <a:pt x="15052" y="2675588"/>
                  </a:lnTo>
                  <a:close/>
                </a:path>
                <a:path w="5803900" h="4650740">
                  <a:moveTo>
                    <a:pt x="15052" y="2766795"/>
                  </a:moveTo>
                  <a:lnTo>
                    <a:pt x="0" y="2766795"/>
                  </a:lnTo>
                  <a:lnTo>
                    <a:pt x="0" y="2820517"/>
                  </a:lnTo>
                  <a:lnTo>
                    <a:pt x="15052" y="2820517"/>
                  </a:lnTo>
                  <a:lnTo>
                    <a:pt x="15052" y="2766795"/>
                  </a:lnTo>
                  <a:close/>
                </a:path>
                <a:path w="5803900" h="4650740">
                  <a:moveTo>
                    <a:pt x="15052" y="2858002"/>
                  </a:moveTo>
                  <a:lnTo>
                    <a:pt x="0" y="2858002"/>
                  </a:lnTo>
                  <a:lnTo>
                    <a:pt x="0" y="2907924"/>
                  </a:lnTo>
                  <a:lnTo>
                    <a:pt x="15052" y="2907924"/>
                  </a:lnTo>
                  <a:lnTo>
                    <a:pt x="15052" y="2858002"/>
                  </a:lnTo>
                  <a:close/>
                </a:path>
                <a:path w="5803900" h="4650740">
                  <a:moveTo>
                    <a:pt x="15052" y="2949210"/>
                  </a:moveTo>
                  <a:lnTo>
                    <a:pt x="0" y="2949210"/>
                  </a:lnTo>
                  <a:lnTo>
                    <a:pt x="0" y="2999132"/>
                  </a:lnTo>
                  <a:lnTo>
                    <a:pt x="15052" y="2999132"/>
                  </a:lnTo>
                  <a:lnTo>
                    <a:pt x="15052" y="2949210"/>
                  </a:lnTo>
                  <a:close/>
                </a:path>
                <a:path w="5803900" h="4650740">
                  <a:moveTo>
                    <a:pt x="15052" y="3040417"/>
                  </a:moveTo>
                  <a:lnTo>
                    <a:pt x="0" y="3040417"/>
                  </a:lnTo>
                  <a:lnTo>
                    <a:pt x="0" y="3090339"/>
                  </a:lnTo>
                  <a:lnTo>
                    <a:pt x="15052" y="3090339"/>
                  </a:lnTo>
                  <a:lnTo>
                    <a:pt x="15052" y="3040417"/>
                  </a:lnTo>
                  <a:close/>
                </a:path>
                <a:path w="5803900" h="4650740">
                  <a:moveTo>
                    <a:pt x="15052" y="3131624"/>
                  </a:moveTo>
                  <a:lnTo>
                    <a:pt x="0" y="3131624"/>
                  </a:lnTo>
                  <a:lnTo>
                    <a:pt x="0" y="3181546"/>
                  </a:lnTo>
                  <a:lnTo>
                    <a:pt x="15052" y="3181546"/>
                  </a:lnTo>
                  <a:lnTo>
                    <a:pt x="15052" y="3131624"/>
                  </a:lnTo>
                  <a:close/>
                </a:path>
                <a:path w="5803900" h="4650740">
                  <a:moveTo>
                    <a:pt x="15052" y="3219031"/>
                  </a:moveTo>
                  <a:lnTo>
                    <a:pt x="0" y="3219031"/>
                  </a:lnTo>
                  <a:lnTo>
                    <a:pt x="0" y="3272754"/>
                  </a:lnTo>
                  <a:lnTo>
                    <a:pt x="15052" y="3272754"/>
                  </a:lnTo>
                  <a:lnTo>
                    <a:pt x="15052" y="3219031"/>
                  </a:lnTo>
                  <a:close/>
                </a:path>
                <a:path w="5803900" h="4650740">
                  <a:moveTo>
                    <a:pt x="15052" y="3310239"/>
                  </a:moveTo>
                  <a:lnTo>
                    <a:pt x="0" y="3310239"/>
                  </a:lnTo>
                  <a:lnTo>
                    <a:pt x="0" y="3363961"/>
                  </a:lnTo>
                  <a:lnTo>
                    <a:pt x="15052" y="3363961"/>
                  </a:lnTo>
                  <a:lnTo>
                    <a:pt x="15052" y="3310239"/>
                  </a:lnTo>
                  <a:close/>
                </a:path>
                <a:path w="5803900" h="4650740">
                  <a:moveTo>
                    <a:pt x="15052" y="3401446"/>
                  </a:moveTo>
                  <a:lnTo>
                    <a:pt x="0" y="3401446"/>
                  </a:lnTo>
                  <a:lnTo>
                    <a:pt x="0" y="3455514"/>
                  </a:lnTo>
                  <a:lnTo>
                    <a:pt x="15052" y="3455514"/>
                  </a:lnTo>
                  <a:lnTo>
                    <a:pt x="15052" y="3401446"/>
                  </a:lnTo>
                  <a:close/>
                </a:path>
                <a:path w="5803900" h="4650740">
                  <a:moveTo>
                    <a:pt x="15052" y="3492653"/>
                  </a:moveTo>
                  <a:lnTo>
                    <a:pt x="0" y="3492653"/>
                  </a:lnTo>
                  <a:lnTo>
                    <a:pt x="0" y="3546721"/>
                  </a:lnTo>
                  <a:lnTo>
                    <a:pt x="15052" y="3546721"/>
                  </a:lnTo>
                  <a:lnTo>
                    <a:pt x="15052" y="3492653"/>
                  </a:lnTo>
                  <a:close/>
                </a:path>
                <a:path w="5803900" h="4650740">
                  <a:moveTo>
                    <a:pt x="15052" y="3583861"/>
                  </a:moveTo>
                  <a:lnTo>
                    <a:pt x="0" y="3583861"/>
                  </a:lnTo>
                  <a:lnTo>
                    <a:pt x="0" y="3633783"/>
                  </a:lnTo>
                  <a:lnTo>
                    <a:pt x="15052" y="3633783"/>
                  </a:lnTo>
                  <a:lnTo>
                    <a:pt x="15052" y="3583861"/>
                  </a:lnTo>
                  <a:close/>
                </a:path>
                <a:path w="5803900" h="4650740">
                  <a:moveTo>
                    <a:pt x="15052" y="3675068"/>
                  </a:moveTo>
                  <a:lnTo>
                    <a:pt x="0" y="3675068"/>
                  </a:lnTo>
                  <a:lnTo>
                    <a:pt x="0" y="3724990"/>
                  </a:lnTo>
                  <a:lnTo>
                    <a:pt x="15052" y="3724990"/>
                  </a:lnTo>
                  <a:lnTo>
                    <a:pt x="15052" y="3675068"/>
                  </a:lnTo>
                  <a:close/>
                </a:path>
                <a:path w="5803900" h="4650740">
                  <a:moveTo>
                    <a:pt x="15052" y="3766621"/>
                  </a:moveTo>
                  <a:lnTo>
                    <a:pt x="0" y="3766621"/>
                  </a:lnTo>
                  <a:lnTo>
                    <a:pt x="0" y="3816128"/>
                  </a:lnTo>
                  <a:lnTo>
                    <a:pt x="15052" y="3816128"/>
                  </a:lnTo>
                  <a:lnTo>
                    <a:pt x="15052" y="3766621"/>
                  </a:lnTo>
                  <a:close/>
                </a:path>
                <a:path w="5803900" h="4650740">
                  <a:moveTo>
                    <a:pt x="15052" y="3857897"/>
                  </a:moveTo>
                  <a:lnTo>
                    <a:pt x="0" y="3857897"/>
                  </a:lnTo>
                  <a:lnTo>
                    <a:pt x="0" y="3907336"/>
                  </a:lnTo>
                  <a:lnTo>
                    <a:pt x="15052" y="3907336"/>
                  </a:lnTo>
                  <a:lnTo>
                    <a:pt x="15052" y="3857897"/>
                  </a:lnTo>
                  <a:close/>
                </a:path>
                <a:path w="5803900" h="4650740">
                  <a:moveTo>
                    <a:pt x="15052" y="3944838"/>
                  </a:moveTo>
                  <a:lnTo>
                    <a:pt x="0" y="3944838"/>
                  </a:lnTo>
                  <a:lnTo>
                    <a:pt x="0" y="3998975"/>
                  </a:lnTo>
                  <a:lnTo>
                    <a:pt x="15052" y="3998975"/>
                  </a:lnTo>
                  <a:lnTo>
                    <a:pt x="15052" y="3944838"/>
                  </a:lnTo>
                  <a:close/>
                </a:path>
                <a:path w="5803900" h="4650740">
                  <a:moveTo>
                    <a:pt x="15052" y="4036045"/>
                  </a:moveTo>
                  <a:lnTo>
                    <a:pt x="0" y="4036045"/>
                  </a:lnTo>
                  <a:lnTo>
                    <a:pt x="0" y="4090165"/>
                  </a:lnTo>
                  <a:lnTo>
                    <a:pt x="15052" y="4090165"/>
                  </a:lnTo>
                  <a:lnTo>
                    <a:pt x="15052" y="4036045"/>
                  </a:lnTo>
                  <a:close/>
                </a:path>
                <a:path w="5803900" h="4650740">
                  <a:moveTo>
                    <a:pt x="15052" y="4127253"/>
                  </a:moveTo>
                  <a:lnTo>
                    <a:pt x="0" y="4127253"/>
                  </a:lnTo>
                  <a:lnTo>
                    <a:pt x="0" y="4181372"/>
                  </a:lnTo>
                  <a:lnTo>
                    <a:pt x="15052" y="4181372"/>
                  </a:lnTo>
                  <a:lnTo>
                    <a:pt x="15052" y="4127253"/>
                  </a:lnTo>
                  <a:close/>
                </a:path>
                <a:path w="5803900" h="4650740">
                  <a:moveTo>
                    <a:pt x="15052" y="4218460"/>
                  </a:moveTo>
                  <a:lnTo>
                    <a:pt x="0" y="4218460"/>
                  </a:lnTo>
                  <a:lnTo>
                    <a:pt x="0" y="4272580"/>
                  </a:lnTo>
                  <a:lnTo>
                    <a:pt x="15052" y="4272580"/>
                  </a:lnTo>
                  <a:lnTo>
                    <a:pt x="15052" y="4218460"/>
                  </a:lnTo>
                  <a:close/>
                </a:path>
                <a:path w="5803900" h="4650740">
                  <a:moveTo>
                    <a:pt x="15052" y="4310082"/>
                  </a:moveTo>
                  <a:lnTo>
                    <a:pt x="0" y="4310082"/>
                  </a:lnTo>
                  <a:lnTo>
                    <a:pt x="0" y="4359520"/>
                  </a:lnTo>
                  <a:lnTo>
                    <a:pt x="15052" y="4359520"/>
                  </a:lnTo>
                  <a:lnTo>
                    <a:pt x="15052" y="4310082"/>
                  </a:lnTo>
                  <a:close/>
                </a:path>
                <a:path w="5803900" h="4650740">
                  <a:moveTo>
                    <a:pt x="15052" y="4401289"/>
                  </a:moveTo>
                  <a:lnTo>
                    <a:pt x="0" y="4401289"/>
                  </a:lnTo>
                  <a:lnTo>
                    <a:pt x="0" y="4450728"/>
                  </a:lnTo>
                  <a:lnTo>
                    <a:pt x="15052" y="4450728"/>
                  </a:lnTo>
                  <a:lnTo>
                    <a:pt x="15052" y="4401289"/>
                  </a:lnTo>
                  <a:close/>
                </a:path>
                <a:path w="5803900" h="4650740">
                  <a:moveTo>
                    <a:pt x="15052" y="4492496"/>
                  </a:moveTo>
                  <a:lnTo>
                    <a:pt x="0" y="4492496"/>
                  </a:lnTo>
                  <a:lnTo>
                    <a:pt x="0" y="4542350"/>
                  </a:lnTo>
                  <a:lnTo>
                    <a:pt x="15052" y="4542350"/>
                  </a:lnTo>
                  <a:lnTo>
                    <a:pt x="15052" y="4492496"/>
                  </a:lnTo>
                  <a:close/>
                </a:path>
                <a:path w="5803900" h="4650740">
                  <a:moveTo>
                    <a:pt x="15052" y="4583687"/>
                  </a:moveTo>
                  <a:lnTo>
                    <a:pt x="0" y="4583687"/>
                  </a:lnTo>
                  <a:lnTo>
                    <a:pt x="0" y="4633557"/>
                  </a:lnTo>
                  <a:lnTo>
                    <a:pt x="15052" y="4633557"/>
                  </a:lnTo>
                  <a:lnTo>
                    <a:pt x="15052" y="4583687"/>
                  </a:lnTo>
                  <a:close/>
                </a:path>
                <a:path w="5803900" h="4650740">
                  <a:moveTo>
                    <a:pt x="105890" y="4637392"/>
                  </a:moveTo>
                  <a:lnTo>
                    <a:pt x="39967" y="4637392"/>
                  </a:lnTo>
                  <a:lnTo>
                    <a:pt x="39967" y="4650175"/>
                  </a:lnTo>
                  <a:lnTo>
                    <a:pt x="105890" y="4650175"/>
                  </a:lnTo>
                  <a:lnTo>
                    <a:pt x="105890" y="4637392"/>
                  </a:lnTo>
                  <a:close/>
                </a:path>
                <a:path w="5803900" h="4650740">
                  <a:moveTo>
                    <a:pt x="216445" y="4637392"/>
                  </a:moveTo>
                  <a:lnTo>
                    <a:pt x="151049" y="4637392"/>
                  </a:lnTo>
                  <a:lnTo>
                    <a:pt x="151049" y="4650175"/>
                  </a:lnTo>
                  <a:lnTo>
                    <a:pt x="216445" y="4650175"/>
                  </a:lnTo>
                  <a:lnTo>
                    <a:pt x="216445" y="4637392"/>
                  </a:lnTo>
                  <a:close/>
                </a:path>
                <a:path w="5803900" h="4650740">
                  <a:moveTo>
                    <a:pt x="327005" y="4637392"/>
                  </a:moveTo>
                  <a:lnTo>
                    <a:pt x="261604" y="4637392"/>
                  </a:lnTo>
                  <a:lnTo>
                    <a:pt x="261604" y="4650175"/>
                  </a:lnTo>
                  <a:lnTo>
                    <a:pt x="327005" y="4650175"/>
                  </a:lnTo>
                  <a:lnTo>
                    <a:pt x="327005" y="4637392"/>
                  </a:lnTo>
                  <a:close/>
                </a:path>
                <a:path w="5803900" h="4650740">
                  <a:moveTo>
                    <a:pt x="438088" y="4637392"/>
                  </a:moveTo>
                  <a:lnTo>
                    <a:pt x="372687" y="4637392"/>
                  </a:lnTo>
                  <a:lnTo>
                    <a:pt x="372687" y="4650175"/>
                  </a:lnTo>
                  <a:lnTo>
                    <a:pt x="438088" y="4650175"/>
                  </a:lnTo>
                  <a:lnTo>
                    <a:pt x="438088" y="4637392"/>
                  </a:lnTo>
                  <a:close/>
                </a:path>
                <a:path w="5803900" h="4650740">
                  <a:moveTo>
                    <a:pt x="543471" y="4637392"/>
                  </a:moveTo>
                  <a:lnTo>
                    <a:pt x="483246" y="4637392"/>
                  </a:lnTo>
                  <a:lnTo>
                    <a:pt x="483246" y="4650175"/>
                  </a:lnTo>
                  <a:lnTo>
                    <a:pt x="543471" y="4650175"/>
                  </a:lnTo>
                  <a:lnTo>
                    <a:pt x="543471" y="4637392"/>
                  </a:lnTo>
                  <a:close/>
                </a:path>
                <a:path w="5803900" h="4650740">
                  <a:moveTo>
                    <a:pt x="654533" y="4637392"/>
                  </a:moveTo>
                  <a:lnTo>
                    <a:pt x="593805" y="4637392"/>
                  </a:lnTo>
                  <a:lnTo>
                    <a:pt x="593805" y="4650175"/>
                  </a:lnTo>
                  <a:lnTo>
                    <a:pt x="654533" y="4650175"/>
                  </a:lnTo>
                  <a:lnTo>
                    <a:pt x="654533" y="4637392"/>
                  </a:lnTo>
                  <a:close/>
                </a:path>
                <a:path w="5803900" h="4650740">
                  <a:moveTo>
                    <a:pt x="765092" y="4637392"/>
                  </a:moveTo>
                  <a:lnTo>
                    <a:pt x="704888" y="4637392"/>
                  </a:lnTo>
                  <a:lnTo>
                    <a:pt x="704888" y="4650175"/>
                  </a:lnTo>
                  <a:lnTo>
                    <a:pt x="765092" y="4650175"/>
                  </a:lnTo>
                  <a:lnTo>
                    <a:pt x="765092" y="4637392"/>
                  </a:lnTo>
                  <a:close/>
                </a:path>
                <a:path w="5803900" h="4650740">
                  <a:moveTo>
                    <a:pt x="875673" y="4637392"/>
                  </a:moveTo>
                  <a:lnTo>
                    <a:pt x="815448" y="4637392"/>
                  </a:lnTo>
                  <a:lnTo>
                    <a:pt x="815448" y="4650175"/>
                  </a:lnTo>
                  <a:lnTo>
                    <a:pt x="875673" y="4650175"/>
                  </a:lnTo>
                  <a:lnTo>
                    <a:pt x="875673" y="4637392"/>
                  </a:lnTo>
                  <a:close/>
                </a:path>
                <a:path w="5803900" h="4650740">
                  <a:moveTo>
                    <a:pt x="986735" y="4637392"/>
                  </a:moveTo>
                  <a:lnTo>
                    <a:pt x="921334" y="4637392"/>
                  </a:lnTo>
                  <a:lnTo>
                    <a:pt x="921334" y="4650175"/>
                  </a:lnTo>
                  <a:lnTo>
                    <a:pt x="986735" y="4650175"/>
                  </a:lnTo>
                  <a:lnTo>
                    <a:pt x="986735" y="4637392"/>
                  </a:lnTo>
                  <a:close/>
                </a:path>
                <a:path w="5803900" h="4650740">
                  <a:moveTo>
                    <a:pt x="1097315" y="4637392"/>
                  </a:moveTo>
                  <a:lnTo>
                    <a:pt x="1031893" y="4637392"/>
                  </a:lnTo>
                  <a:lnTo>
                    <a:pt x="1031893" y="4650175"/>
                  </a:lnTo>
                  <a:lnTo>
                    <a:pt x="1097315" y="4650175"/>
                  </a:lnTo>
                  <a:lnTo>
                    <a:pt x="1097315" y="4637392"/>
                  </a:lnTo>
                  <a:close/>
                </a:path>
                <a:path w="5803900" h="4650740">
                  <a:moveTo>
                    <a:pt x="1207874" y="4637392"/>
                  </a:moveTo>
                  <a:lnTo>
                    <a:pt x="1142473" y="4637392"/>
                  </a:lnTo>
                  <a:lnTo>
                    <a:pt x="1142473" y="4650175"/>
                  </a:lnTo>
                  <a:lnTo>
                    <a:pt x="1207874" y="4650175"/>
                  </a:lnTo>
                  <a:lnTo>
                    <a:pt x="1207874" y="4637392"/>
                  </a:lnTo>
                  <a:close/>
                </a:path>
                <a:path w="5803900" h="4650740">
                  <a:moveTo>
                    <a:pt x="1318936" y="4637392"/>
                  </a:moveTo>
                  <a:lnTo>
                    <a:pt x="1253535" y="4637392"/>
                  </a:lnTo>
                  <a:lnTo>
                    <a:pt x="1253535" y="4650175"/>
                  </a:lnTo>
                  <a:lnTo>
                    <a:pt x="1318936" y="4650175"/>
                  </a:lnTo>
                  <a:lnTo>
                    <a:pt x="1318936" y="4637392"/>
                  </a:lnTo>
                  <a:close/>
                </a:path>
                <a:path w="5803900" h="4650740">
                  <a:moveTo>
                    <a:pt x="1424320" y="4637392"/>
                  </a:moveTo>
                  <a:lnTo>
                    <a:pt x="1364095" y="4637392"/>
                  </a:lnTo>
                  <a:lnTo>
                    <a:pt x="1364095" y="4650175"/>
                  </a:lnTo>
                  <a:lnTo>
                    <a:pt x="1424320" y="4650175"/>
                  </a:lnTo>
                  <a:lnTo>
                    <a:pt x="1424320" y="4637392"/>
                  </a:lnTo>
                  <a:close/>
                </a:path>
                <a:path w="5803900" h="4650740">
                  <a:moveTo>
                    <a:pt x="1535403" y="4637392"/>
                  </a:moveTo>
                  <a:lnTo>
                    <a:pt x="1474675" y="4637392"/>
                  </a:lnTo>
                  <a:lnTo>
                    <a:pt x="1474675" y="4650175"/>
                  </a:lnTo>
                  <a:lnTo>
                    <a:pt x="1535403" y="4650175"/>
                  </a:lnTo>
                  <a:lnTo>
                    <a:pt x="1535403" y="4637392"/>
                  </a:lnTo>
                  <a:close/>
                </a:path>
                <a:path w="5803900" h="4650740">
                  <a:moveTo>
                    <a:pt x="1645962" y="4637392"/>
                  </a:moveTo>
                  <a:lnTo>
                    <a:pt x="1585737" y="4637392"/>
                  </a:lnTo>
                  <a:lnTo>
                    <a:pt x="1585737" y="4650175"/>
                  </a:lnTo>
                  <a:lnTo>
                    <a:pt x="1645962" y="4650175"/>
                  </a:lnTo>
                  <a:lnTo>
                    <a:pt x="1645962" y="4637392"/>
                  </a:lnTo>
                  <a:close/>
                </a:path>
                <a:path w="5803900" h="4650740">
                  <a:moveTo>
                    <a:pt x="1756521" y="4637392"/>
                  </a:moveTo>
                  <a:lnTo>
                    <a:pt x="1696296" y="4637392"/>
                  </a:lnTo>
                  <a:lnTo>
                    <a:pt x="1696296" y="4650175"/>
                  </a:lnTo>
                  <a:lnTo>
                    <a:pt x="1756521" y="4650175"/>
                  </a:lnTo>
                  <a:lnTo>
                    <a:pt x="1756521" y="4637392"/>
                  </a:lnTo>
                  <a:close/>
                </a:path>
                <a:path w="5803900" h="4650740">
                  <a:moveTo>
                    <a:pt x="1867604" y="4637392"/>
                  </a:moveTo>
                  <a:lnTo>
                    <a:pt x="1802204" y="4637392"/>
                  </a:lnTo>
                  <a:lnTo>
                    <a:pt x="1802204" y="4650175"/>
                  </a:lnTo>
                  <a:lnTo>
                    <a:pt x="1867604" y="4650175"/>
                  </a:lnTo>
                  <a:lnTo>
                    <a:pt x="1867604" y="4637392"/>
                  </a:lnTo>
                  <a:close/>
                </a:path>
                <a:path w="5803900" h="4650740">
                  <a:moveTo>
                    <a:pt x="1978164" y="4637392"/>
                  </a:moveTo>
                  <a:lnTo>
                    <a:pt x="1912763" y="4637392"/>
                  </a:lnTo>
                  <a:lnTo>
                    <a:pt x="1912763" y="4650175"/>
                  </a:lnTo>
                  <a:lnTo>
                    <a:pt x="1978164" y="4650175"/>
                  </a:lnTo>
                  <a:lnTo>
                    <a:pt x="1978164" y="4637392"/>
                  </a:lnTo>
                  <a:close/>
                </a:path>
                <a:path w="5803900" h="4650740">
                  <a:moveTo>
                    <a:pt x="2088744" y="4637392"/>
                  </a:moveTo>
                  <a:lnTo>
                    <a:pt x="2023322" y="4637392"/>
                  </a:lnTo>
                  <a:lnTo>
                    <a:pt x="2023322" y="4650175"/>
                  </a:lnTo>
                  <a:lnTo>
                    <a:pt x="2088744" y="4650175"/>
                  </a:lnTo>
                  <a:lnTo>
                    <a:pt x="2088744" y="4637392"/>
                  </a:lnTo>
                  <a:close/>
                </a:path>
                <a:path w="5803900" h="4650740">
                  <a:moveTo>
                    <a:pt x="2199806" y="4637392"/>
                  </a:moveTo>
                  <a:lnTo>
                    <a:pt x="2134426" y="4637392"/>
                  </a:lnTo>
                  <a:lnTo>
                    <a:pt x="2134426" y="4650175"/>
                  </a:lnTo>
                  <a:lnTo>
                    <a:pt x="2199806" y="4650175"/>
                  </a:lnTo>
                  <a:lnTo>
                    <a:pt x="2199806" y="4637392"/>
                  </a:lnTo>
                  <a:close/>
                </a:path>
                <a:path w="5803900" h="4650740">
                  <a:moveTo>
                    <a:pt x="2305210" y="4637392"/>
                  </a:moveTo>
                  <a:lnTo>
                    <a:pt x="2244860" y="4637392"/>
                  </a:lnTo>
                  <a:lnTo>
                    <a:pt x="2244860" y="4650175"/>
                  </a:lnTo>
                  <a:lnTo>
                    <a:pt x="2305210" y="4650175"/>
                  </a:lnTo>
                  <a:lnTo>
                    <a:pt x="2305210" y="4637392"/>
                  </a:lnTo>
                  <a:close/>
                </a:path>
                <a:path w="5803900" h="4650740">
                  <a:moveTo>
                    <a:pt x="2416273" y="4637392"/>
                  </a:moveTo>
                  <a:lnTo>
                    <a:pt x="2355503" y="4637392"/>
                  </a:lnTo>
                  <a:lnTo>
                    <a:pt x="2355503" y="4650175"/>
                  </a:lnTo>
                  <a:lnTo>
                    <a:pt x="2416273" y="4650175"/>
                  </a:lnTo>
                  <a:lnTo>
                    <a:pt x="2416273" y="4637392"/>
                  </a:lnTo>
                  <a:close/>
                </a:path>
                <a:path w="5803900" h="4650740">
                  <a:moveTo>
                    <a:pt x="2526916" y="4637392"/>
                  </a:moveTo>
                  <a:lnTo>
                    <a:pt x="2466565" y="4637392"/>
                  </a:lnTo>
                  <a:lnTo>
                    <a:pt x="2466565" y="4650175"/>
                  </a:lnTo>
                  <a:lnTo>
                    <a:pt x="2526916" y="4650175"/>
                  </a:lnTo>
                  <a:lnTo>
                    <a:pt x="2526916" y="4637392"/>
                  </a:lnTo>
                  <a:close/>
                </a:path>
                <a:path w="5803900" h="4650740">
                  <a:moveTo>
                    <a:pt x="2637349" y="4637392"/>
                  </a:moveTo>
                  <a:lnTo>
                    <a:pt x="2577208" y="4637392"/>
                  </a:lnTo>
                  <a:lnTo>
                    <a:pt x="2577208" y="4650175"/>
                  </a:lnTo>
                  <a:lnTo>
                    <a:pt x="2637349" y="4650175"/>
                  </a:lnTo>
                  <a:lnTo>
                    <a:pt x="2637349" y="4637392"/>
                  </a:lnTo>
                  <a:close/>
                </a:path>
                <a:path w="5803900" h="4650740">
                  <a:moveTo>
                    <a:pt x="2748411" y="4637392"/>
                  </a:moveTo>
                  <a:lnTo>
                    <a:pt x="2683031" y="4637392"/>
                  </a:lnTo>
                  <a:lnTo>
                    <a:pt x="2683031" y="4650175"/>
                  </a:lnTo>
                  <a:lnTo>
                    <a:pt x="2748411" y="4650175"/>
                  </a:lnTo>
                  <a:lnTo>
                    <a:pt x="2748411" y="4637392"/>
                  </a:lnTo>
                  <a:close/>
                </a:path>
                <a:path w="5803900" h="4650740">
                  <a:moveTo>
                    <a:pt x="2859054" y="4637392"/>
                  </a:moveTo>
                  <a:lnTo>
                    <a:pt x="2793674" y="4637392"/>
                  </a:lnTo>
                  <a:lnTo>
                    <a:pt x="2793674" y="4650175"/>
                  </a:lnTo>
                  <a:lnTo>
                    <a:pt x="2859054" y="4650175"/>
                  </a:lnTo>
                  <a:lnTo>
                    <a:pt x="2859054" y="4637392"/>
                  </a:lnTo>
                  <a:close/>
                </a:path>
                <a:path w="5803900" h="4650740">
                  <a:moveTo>
                    <a:pt x="2969488" y="4637392"/>
                  </a:moveTo>
                  <a:lnTo>
                    <a:pt x="2904108" y="4637392"/>
                  </a:lnTo>
                  <a:lnTo>
                    <a:pt x="2904108" y="4650175"/>
                  </a:lnTo>
                  <a:lnTo>
                    <a:pt x="2969488" y="4650175"/>
                  </a:lnTo>
                  <a:lnTo>
                    <a:pt x="2969488" y="4637392"/>
                  </a:lnTo>
                  <a:close/>
                </a:path>
                <a:path w="5803900" h="4650740">
                  <a:moveTo>
                    <a:pt x="3080760" y="4637392"/>
                  </a:moveTo>
                  <a:lnTo>
                    <a:pt x="3015170" y="4637392"/>
                  </a:lnTo>
                  <a:lnTo>
                    <a:pt x="3015170" y="4650175"/>
                  </a:lnTo>
                  <a:lnTo>
                    <a:pt x="3080760" y="4650175"/>
                  </a:lnTo>
                  <a:lnTo>
                    <a:pt x="3080760" y="4637392"/>
                  </a:lnTo>
                  <a:close/>
                </a:path>
                <a:path w="5803900" h="4650740">
                  <a:moveTo>
                    <a:pt x="3185954" y="4637392"/>
                  </a:moveTo>
                  <a:lnTo>
                    <a:pt x="3125813" y="4637392"/>
                  </a:lnTo>
                  <a:lnTo>
                    <a:pt x="3125813" y="4650175"/>
                  </a:lnTo>
                  <a:lnTo>
                    <a:pt x="3185954" y="4650175"/>
                  </a:lnTo>
                  <a:lnTo>
                    <a:pt x="3185954" y="4637392"/>
                  </a:lnTo>
                  <a:close/>
                </a:path>
                <a:path w="5803900" h="4650740">
                  <a:moveTo>
                    <a:pt x="3297017" y="4637392"/>
                  </a:moveTo>
                  <a:lnTo>
                    <a:pt x="3236456" y="4637392"/>
                  </a:lnTo>
                  <a:lnTo>
                    <a:pt x="3236456" y="4650175"/>
                  </a:lnTo>
                  <a:lnTo>
                    <a:pt x="3297017" y="4650175"/>
                  </a:lnTo>
                  <a:lnTo>
                    <a:pt x="3297017" y="4637392"/>
                  </a:lnTo>
                  <a:close/>
                </a:path>
                <a:path w="5803900" h="4650740">
                  <a:moveTo>
                    <a:pt x="3407660" y="4637392"/>
                  </a:moveTo>
                  <a:lnTo>
                    <a:pt x="3347518" y="4637392"/>
                  </a:lnTo>
                  <a:lnTo>
                    <a:pt x="3347518" y="4650175"/>
                  </a:lnTo>
                  <a:lnTo>
                    <a:pt x="3407660" y="4650175"/>
                  </a:lnTo>
                  <a:lnTo>
                    <a:pt x="3407660" y="4637392"/>
                  </a:lnTo>
                  <a:close/>
                </a:path>
                <a:path w="5803900" h="4650740">
                  <a:moveTo>
                    <a:pt x="3518722" y="4637392"/>
                  </a:moveTo>
                  <a:lnTo>
                    <a:pt x="3457952" y="4637392"/>
                  </a:lnTo>
                  <a:lnTo>
                    <a:pt x="3457952" y="4650175"/>
                  </a:lnTo>
                  <a:lnTo>
                    <a:pt x="3518722" y="4650175"/>
                  </a:lnTo>
                  <a:lnTo>
                    <a:pt x="3518722" y="4637392"/>
                  </a:lnTo>
                  <a:close/>
                </a:path>
                <a:path w="5803900" h="4650740">
                  <a:moveTo>
                    <a:pt x="3629365" y="4637392"/>
                  </a:moveTo>
                  <a:lnTo>
                    <a:pt x="3563985" y="4637392"/>
                  </a:lnTo>
                  <a:lnTo>
                    <a:pt x="3563985" y="4650175"/>
                  </a:lnTo>
                  <a:lnTo>
                    <a:pt x="3629365" y="4650175"/>
                  </a:lnTo>
                  <a:lnTo>
                    <a:pt x="3629365" y="4637392"/>
                  </a:lnTo>
                  <a:close/>
                </a:path>
                <a:path w="5803900" h="4650740">
                  <a:moveTo>
                    <a:pt x="3739798" y="4637392"/>
                  </a:moveTo>
                  <a:lnTo>
                    <a:pt x="3674418" y="4637392"/>
                  </a:lnTo>
                  <a:lnTo>
                    <a:pt x="3674418" y="4650175"/>
                  </a:lnTo>
                  <a:lnTo>
                    <a:pt x="3739798" y="4650175"/>
                  </a:lnTo>
                  <a:lnTo>
                    <a:pt x="3739798" y="4637392"/>
                  </a:lnTo>
                  <a:close/>
                </a:path>
                <a:path w="5803900" h="4650740">
                  <a:moveTo>
                    <a:pt x="3850861" y="4637392"/>
                  </a:moveTo>
                  <a:lnTo>
                    <a:pt x="3785061" y="4637392"/>
                  </a:lnTo>
                  <a:lnTo>
                    <a:pt x="3785061" y="4650175"/>
                  </a:lnTo>
                  <a:lnTo>
                    <a:pt x="3850861" y="4650175"/>
                  </a:lnTo>
                  <a:lnTo>
                    <a:pt x="3850861" y="4637392"/>
                  </a:lnTo>
                  <a:close/>
                </a:path>
                <a:path w="5803900" h="4650740">
                  <a:moveTo>
                    <a:pt x="3961504" y="4637392"/>
                  </a:moveTo>
                  <a:lnTo>
                    <a:pt x="3896124" y="4637392"/>
                  </a:lnTo>
                  <a:lnTo>
                    <a:pt x="3896124" y="4650175"/>
                  </a:lnTo>
                  <a:lnTo>
                    <a:pt x="3961504" y="4650175"/>
                  </a:lnTo>
                  <a:lnTo>
                    <a:pt x="3961504" y="4637392"/>
                  </a:lnTo>
                  <a:close/>
                </a:path>
                <a:path w="5803900" h="4650740">
                  <a:moveTo>
                    <a:pt x="4067327" y="4637392"/>
                  </a:moveTo>
                  <a:lnTo>
                    <a:pt x="4006767" y="4637392"/>
                  </a:lnTo>
                  <a:lnTo>
                    <a:pt x="4006767" y="4650175"/>
                  </a:lnTo>
                  <a:lnTo>
                    <a:pt x="4067327" y="4650175"/>
                  </a:lnTo>
                  <a:lnTo>
                    <a:pt x="4067327" y="4637392"/>
                  </a:lnTo>
                  <a:close/>
                </a:path>
                <a:path w="5803900" h="4650740">
                  <a:moveTo>
                    <a:pt x="4177970" y="4637392"/>
                  </a:moveTo>
                  <a:lnTo>
                    <a:pt x="4117829" y="4637392"/>
                  </a:lnTo>
                  <a:lnTo>
                    <a:pt x="4117829" y="4650175"/>
                  </a:lnTo>
                  <a:lnTo>
                    <a:pt x="4177970" y="4650175"/>
                  </a:lnTo>
                  <a:lnTo>
                    <a:pt x="4177970" y="4637392"/>
                  </a:lnTo>
                  <a:close/>
                </a:path>
                <a:path w="5803900" h="4650740">
                  <a:moveTo>
                    <a:pt x="4288613" y="4637392"/>
                  </a:moveTo>
                  <a:lnTo>
                    <a:pt x="4228262" y="4637392"/>
                  </a:lnTo>
                  <a:lnTo>
                    <a:pt x="4228262" y="4650175"/>
                  </a:lnTo>
                  <a:lnTo>
                    <a:pt x="4288613" y="4650175"/>
                  </a:lnTo>
                  <a:lnTo>
                    <a:pt x="4288613" y="4637392"/>
                  </a:lnTo>
                  <a:close/>
                </a:path>
                <a:path w="5803900" h="4650740">
                  <a:moveTo>
                    <a:pt x="4399675" y="4637392"/>
                  </a:moveTo>
                  <a:lnTo>
                    <a:pt x="4338905" y="4637392"/>
                  </a:lnTo>
                  <a:lnTo>
                    <a:pt x="4338905" y="4650175"/>
                  </a:lnTo>
                  <a:lnTo>
                    <a:pt x="4399675" y="4650175"/>
                  </a:lnTo>
                  <a:lnTo>
                    <a:pt x="4399675" y="4637392"/>
                  </a:lnTo>
                  <a:close/>
                </a:path>
                <a:path w="5803900" h="4650740">
                  <a:moveTo>
                    <a:pt x="4510109" y="4637392"/>
                  </a:moveTo>
                  <a:lnTo>
                    <a:pt x="4444729" y="4637392"/>
                  </a:lnTo>
                  <a:lnTo>
                    <a:pt x="4444729" y="4650175"/>
                  </a:lnTo>
                  <a:lnTo>
                    <a:pt x="4510109" y="4650175"/>
                  </a:lnTo>
                  <a:lnTo>
                    <a:pt x="4510109" y="4637392"/>
                  </a:lnTo>
                  <a:close/>
                </a:path>
                <a:path w="5803900" h="4650740">
                  <a:moveTo>
                    <a:pt x="4620752" y="4637392"/>
                  </a:moveTo>
                  <a:lnTo>
                    <a:pt x="4555372" y="4637392"/>
                  </a:lnTo>
                  <a:lnTo>
                    <a:pt x="4555372" y="4650175"/>
                  </a:lnTo>
                  <a:lnTo>
                    <a:pt x="4620752" y="4650175"/>
                  </a:lnTo>
                  <a:lnTo>
                    <a:pt x="4620752" y="4637392"/>
                  </a:lnTo>
                  <a:close/>
                </a:path>
                <a:path w="5803900" h="4650740">
                  <a:moveTo>
                    <a:pt x="4731814" y="4637392"/>
                  </a:moveTo>
                  <a:lnTo>
                    <a:pt x="4666434" y="4637392"/>
                  </a:lnTo>
                  <a:lnTo>
                    <a:pt x="4666434" y="4650175"/>
                  </a:lnTo>
                  <a:lnTo>
                    <a:pt x="4731814" y="4650175"/>
                  </a:lnTo>
                  <a:lnTo>
                    <a:pt x="4731814" y="4637392"/>
                  </a:lnTo>
                  <a:close/>
                </a:path>
                <a:path w="5803900" h="4650740">
                  <a:moveTo>
                    <a:pt x="4842457" y="4637392"/>
                  </a:moveTo>
                  <a:lnTo>
                    <a:pt x="4776868" y="4637392"/>
                  </a:lnTo>
                  <a:lnTo>
                    <a:pt x="4776868" y="4650175"/>
                  </a:lnTo>
                  <a:lnTo>
                    <a:pt x="4842457" y="4650175"/>
                  </a:lnTo>
                  <a:lnTo>
                    <a:pt x="4842457" y="4637392"/>
                  </a:lnTo>
                  <a:close/>
                </a:path>
                <a:path w="5803900" h="4650740">
                  <a:moveTo>
                    <a:pt x="4948281" y="4637392"/>
                  </a:moveTo>
                  <a:lnTo>
                    <a:pt x="4887511" y="4637392"/>
                  </a:lnTo>
                  <a:lnTo>
                    <a:pt x="4887511" y="4650175"/>
                  </a:lnTo>
                  <a:lnTo>
                    <a:pt x="4948281" y="4650175"/>
                  </a:lnTo>
                  <a:lnTo>
                    <a:pt x="4948281" y="4637392"/>
                  </a:lnTo>
                  <a:close/>
                </a:path>
                <a:path w="5803900" h="4650740">
                  <a:moveTo>
                    <a:pt x="5058714" y="4637392"/>
                  </a:moveTo>
                  <a:lnTo>
                    <a:pt x="4998573" y="4637392"/>
                  </a:lnTo>
                  <a:lnTo>
                    <a:pt x="4998573" y="4650175"/>
                  </a:lnTo>
                  <a:lnTo>
                    <a:pt x="5058714" y="4650175"/>
                  </a:lnTo>
                  <a:lnTo>
                    <a:pt x="5058714" y="4637392"/>
                  </a:lnTo>
                  <a:close/>
                </a:path>
                <a:path w="5803900" h="4650740">
                  <a:moveTo>
                    <a:pt x="5169357" y="4637392"/>
                  </a:moveTo>
                  <a:lnTo>
                    <a:pt x="5109216" y="4637392"/>
                  </a:lnTo>
                  <a:lnTo>
                    <a:pt x="5109216" y="4650175"/>
                  </a:lnTo>
                  <a:lnTo>
                    <a:pt x="5169357" y="4650175"/>
                  </a:lnTo>
                  <a:lnTo>
                    <a:pt x="5169357" y="4637392"/>
                  </a:lnTo>
                  <a:close/>
                </a:path>
                <a:path w="5803900" h="4650740">
                  <a:moveTo>
                    <a:pt x="5280419" y="4637392"/>
                  </a:moveTo>
                  <a:lnTo>
                    <a:pt x="5219649" y="4637392"/>
                  </a:lnTo>
                  <a:lnTo>
                    <a:pt x="5219649" y="4650175"/>
                  </a:lnTo>
                  <a:lnTo>
                    <a:pt x="5280419" y="4650175"/>
                  </a:lnTo>
                  <a:lnTo>
                    <a:pt x="5280419" y="4637392"/>
                  </a:lnTo>
                  <a:close/>
                </a:path>
                <a:path w="5803900" h="4650740">
                  <a:moveTo>
                    <a:pt x="5391062" y="4637392"/>
                  </a:moveTo>
                  <a:lnTo>
                    <a:pt x="5325682" y="4637392"/>
                  </a:lnTo>
                  <a:lnTo>
                    <a:pt x="5325682" y="4650175"/>
                  </a:lnTo>
                  <a:lnTo>
                    <a:pt x="5391062" y="4650175"/>
                  </a:lnTo>
                  <a:lnTo>
                    <a:pt x="5391062" y="4637392"/>
                  </a:lnTo>
                  <a:close/>
                </a:path>
                <a:path w="5803900" h="4650740">
                  <a:moveTo>
                    <a:pt x="5501496" y="4637392"/>
                  </a:moveTo>
                  <a:lnTo>
                    <a:pt x="5436116" y="4637392"/>
                  </a:lnTo>
                  <a:lnTo>
                    <a:pt x="5436116" y="4650175"/>
                  </a:lnTo>
                  <a:lnTo>
                    <a:pt x="5501496" y="4650175"/>
                  </a:lnTo>
                  <a:lnTo>
                    <a:pt x="5501496" y="4637392"/>
                  </a:lnTo>
                  <a:close/>
                </a:path>
                <a:path w="5803900" h="4650740">
                  <a:moveTo>
                    <a:pt x="5612558" y="4637392"/>
                  </a:moveTo>
                  <a:lnTo>
                    <a:pt x="5547178" y="4637392"/>
                  </a:lnTo>
                  <a:lnTo>
                    <a:pt x="5547178" y="4650175"/>
                  </a:lnTo>
                  <a:lnTo>
                    <a:pt x="5612558" y="4650175"/>
                  </a:lnTo>
                  <a:lnTo>
                    <a:pt x="5612558" y="4637392"/>
                  </a:lnTo>
                  <a:close/>
                </a:path>
                <a:path w="5803900" h="4650740">
                  <a:moveTo>
                    <a:pt x="5723201" y="4637392"/>
                  </a:moveTo>
                  <a:lnTo>
                    <a:pt x="5657821" y="4637392"/>
                  </a:lnTo>
                  <a:lnTo>
                    <a:pt x="5657821" y="4650175"/>
                  </a:lnTo>
                  <a:lnTo>
                    <a:pt x="5723201" y="4650175"/>
                  </a:lnTo>
                  <a:lnTo>
                    <a:pt x="5723201" y="4637392"/>
                  </a:lnTo>
                  <a:close/>
                </a:path>
                <a:path w="5803900" h="4650740">
                  <a:moveTo>
                    <a:pt x="5788581" y="4637392"/>
                  </a:moveTo>
                  <a:lnTo>
                    <a:pt x="5768464" y="4637392"/>
                  </a:lnTo>
                  <a:lnTo>
                    <a:pt x="5768464" y="4650175"/>
                  </a:lnTo>
                  <a:lnTo>
                    <a:pt x="5803669" y="4650175"/>
                  </a:lnTo>
                  <a:lnTo>
                    <a:pt x="5803669" y="4641658"/>
                  </a:lnTo>
                  <a:lnTo>
                    <a:pt x="5788581" y="4641658"/>
                  </a:lnTo>
                  <a:lnTo>
                    <a:pt x="5788581" y="4637392"/>
                  </a:lnTo>
                  <a:close/>
                </a:path>
                <a:path w="5803900" h="4650740">
                  <a:moveTo>
                    <a:pt x="5803669" y="4616939"/>
                  </a:moveTo>
                  <a:lnTo>
                    <a:pt x="5788581" y="4616939"/>
                  </a:lnTo>
                  <a:lnTo>
                    <a:pt x="5788581" y="4641658"/>
                  </a:lnTo>
                  <a:lnTo>
                    <a:pt x="5798430" y="4637392"/>
                  </a:lnTo>
                  <a:lnTo>
                    <a:pt x="5803669" y="4637392"/>
                  </a:lnTo>
                  <a:lnTo>
                    <a:pt x="5803669" y="4616939"/>
                  </a:lnTo>
                  <a:close/>
                </a:path>
                <a:path w="5803900" h="4650740">
                  <a:moveTo>
                    <a:pt x="5803669" y="4637392"/>
                  </a:moveTo>
                  <a:lnTo>
                    <a:pt x="5798430" y="4637392"/>
                  </a:lnTo>
                  <a:lnTo>
                    <a:pt x="5788581" y="4641658"/>
                  </a:lnTo>
                  <a:lnTo>
                    <a:pt x="5803669" y="4641658"/>
                  </a:lnTo>
                  <a:lnTo>
                    <a:pt x="5803669" y="4637392"/>
                  </a:lnTo>
                  <a:close/>
                </a:path>
                <a:path w="5803900" h="4650740">
                  <a:moveTo>
                    <a:pt x="5803669" y="4525732"/>
                  </a:moveTo>
                  <a:lnTo>
                    <a:pt x="5788581" y="4525732"/>
                  </a:lnTo>
                  <a:lnTo>
                    <a:pt x="5788581" y="4575170"/>
                  </a:lnTo>
                  <a:lnTo>
                    <a:pt x="5803669" y="4575170"/>
                  </a:lnTo>
                  <a:lnTo>
                    <a:pt x="5803669" y="4525732"/>
                  </a:lnTo>
                  <a:close/>
                </a:path>
                <a:path w="5803900" h="4650740">
                  <a:moveTo>
                    <a:pt x="5803669" y="4434525"/>
                  </a:moveTo>
                  <a:lnTo>
                    <a:pt x="5788581" y="4434525"/>
                  </a:lnTo>
                  <a:lnTo>
                    <a:pt x="5788581" y="4488230"/>
                  </a:lnTo>
                  <a:lnTo>
                    <a:pt x="5803669" y="4488230"/>
                  </a:lnTo>
                  <a:lnTo>
                    <a:pt x="5803669" y="4434525"/>
                  </a:lnTo>
                  <a:close/>
                </a:path>
                <a:path w="5803900" h="4650740">
                  <a:moveTo>
                    <a:pt x="5803669" y="4342903"/>
                  </a:moveTo>
                  <a:lnTo>
                    <a:pt x="5788581" y="4342903"/>
                  </a:lnTo>
                  <a:lnTo>
                    <a:pt x="5788581" y="4397022"/>
                  </a:lnTo>
                  <a:lnTo>
                    <a:pt x="5803669" y="4397022"/>
                  </a:lnTo>
                  <a:lnTo>
                    <a:pt x="5803669" y="4342903"/>
                  </a:lnTo>
                  <a:close/>
                </a:path>
                <a:path w="5803900" h="4650740">
                  <a:moveTo>
                    <a:pt x="5803669" y="4251695"/>
                  </a:moveTo>
                  <a:lnTo>
                    <a:pt x="5788581" y="4251695"/>
                  </a:lnTo>
                  <a:lnTo>
                    <a:pt x="5788581" y="4305815"/>
                  </a:lnTo>
                  <a:lnTo>
                    <a:pt x="5803669" y="4305815"/>
                  </a:lnTo>
                  <a:lnTo>
                    <a:pt x="5803669" y="4251695"/>
                  </a:lnTo>
                  <a:close/>
                </a:path>
                <a:path w="5803900" h="4650740">
                  <a:moveTo>
                    <a:pt x="5803669" y="4160488"/>
                  </a:moveTo>
                  <a:lnTo>
                    <a:pt x="5788581" y="4160488"/>
                  </a:lnTo>
                  <a:lnTo>
                    <a:pt x="5788581" y="4214625"/>
                  </a:lnTo>
                  <a:lnTo>
                    <a:pt x="5803669" y="4214625"/>
                  </a:lnTo>
                  <a:lnTo>
                    <a:pt x="5803669" y="4160488"/>
                  </a:lnTo>
                  <a:close/>
                </a:path>
                <a:path w="5803900" h="4650740">
                  <a:moveTo>
                    <a:pt x="5803669" y="4073547"/>
                  </a:moveTo>
                  <a:lnTo>
                    <a:pt x="5788581" y="4073547"/>
                  </a:lnTo>
                  <a:lnTo>
                    <a:pt x="5788581" y="4123418"/>
                  </a:lnTo>
                  <a:lnTo>
                    <a:pt x="5803669" y="4123418"/>
                  </a:lnTo>
                  <a:lnTo>
                    <a:pt x="5803669" y="4073547"/>
                  </a:lnTo>
                  <a:close/>
                </a:path>
                <a:path w="5803900" h="4650740">
                  <a:moveTo>
                    <a:pt x="5803669" y="3982340"/>
                  </a:moveTo>
                  <a:lnTo>
                    <a:pt x="5788581" y="3982340"/>
                  </a:lnTo>
                  <a:lnTo>
                    <a:pt x="5788581" y="4031778"/>
                  </a:lnTo>
                  <a:lnTo>
                    <a:pt x="5803669" y="4031778"/>
                  </a:lnTo>
                  <a:lnTo>
                    <a:pt x="5803669" y="3982340"/>
                  </a:lnTo>
                  <a:close/>
                </a:path>
                <a:path w="5803900" h="4650740">
                  <a:moveTo>
                    <a:pt x="5803669" y="3891150"/>
                  </a:moveTo>
                  <a:lnTo>
                    <a:pt x="5788581" y="3891150"/>
                  </a:lnTo>
                  <a:lnTo>
                    <a:pt x="5788581" y="3940588"/>
                  </a:lnTo>
                  <a:lnTo>
                    <a:pt x="5803669" y="3940588"/>
                  </a:lnTo>
                  <a:lnTo>
                    <a:pt x="5803669" y="3891150"/>
                  </a:lnTo>
                  <a:close/>
                </a:path>
                <a:path w="5803900" h="4650740">
                  <a:moveTo>
                    <a:pt x="5803669" y="3799511"/>
                  </a:moveTo>
                  <a:lnTo>
                    <a:pt x="5788581" y="3799511"/>
                  </a:lnTo>
                  <a:lnTo>
                    <a:pt x="5788581" y="3849381"/>
                  </a:lnTo>
                  <a:lnTo>
                    <a:pt x="5803669" y="3849381"/>
                  </a:lnTo>
                  <a:lnTo>
                    <a:pt x="5803669" y="3799511"/>
                  </a:lnTo>
                  <a:close/>
                </a:path>
                <a:path w="5803900" h="4650740">
                  <a:moveTo>
                    <a:pt x="5803669" y="3708234"/>
                  </a:moveTo>
                  <a:lnTo>
                    <a:pt x="5788581" y="3708234"/>
                  </a:lnTo>
                  <a:lnTo>
                    <a:pt x="5788581" y="3762475"/>
                  </a:lnTo>
                  <a:lnTo>
                    <a:pt x="5803669" y="3762475"/>
                  </a:lnTo>
                  <a:lnTo>
                    <a:pt x="5803669" y="3708234"/>
                  </a:lnTo>
                  <a:close/>
                </a:path>
                <a:path w="5803900" h="4650740">
                  <a:moveTo>
                    <a:pt x="5803669" y="3617027"/>
                  </a:moveTo>
                  <a:lnTo>
                    <a:pt x="5788581" y="3617027"/>
                  </a:lnTo>
                  <a:lnTo>
                    <a:pt x="5788581" y="3671268"/>
                  </a:lnTo>
                  <a:lnTo>
                    <a:pt x="5803669" y="3671268"/>
                  </a:lnTo>
                  <a:lnTo>
                    <a:pt x="5803669" y="3617027"/>
                  </a:lnTo>
                  <a:close/>
                </a:path>
                <a:path w="5803900" h="4650740">
                  <a:moveTo>
                    <a:pt x="5803669" y="3525820"/>
                  </a:moveTo>
                  <a:lnTo>
                    <a:pt x="5788581" y="3525820"/>
                  </a:lnTo>
                  <a:lnTo>
                    <a:pt x="5788581" y="3580060"/>
                  </a:lnTo>
                  <a:lnTo>
                    <a:pt x="5803669" y="3580060"/>
                  </a:lnTo>
                  <a:lnTo>
                    <a:pt x="5803669" y="3525820"/>
                  </a:lnTo>
                  <a:close/>
                </a:path>
                <a:path w="5803900" h="4650740">
                  <a:moveTo>
                    <a:pt x="5803669" y="3434612"/>
                  </a:moveTo>
                  <a:lnTo>
                    <a:pt x="5788581" y="3434612"/>
                  </a:lnTo>
                  <a:lnTo>
                    <a:pt x="5788581" y="3488335"/>
                  </a:lnTo>
                  <a:lnTo>
                    <a:pt x="5803669" y="3488335"/>
                  </a:lnTo>
                  <a:lnTo>
                    <a:pt x="5803669" y="3434612"/>
                  </a:lnTo>
                  <a:close/>
                </a:path>
                <a:path w="5803900" h="4650740">
                  <a:moveTo>
                    <a:pt x="5803669" y="3347723"/>
                  </a:moveTo>
                  <a:lnTo>
                    <a:pt x="5788581" y="3347723"/>
                  </a:lnTo>
                  <a:lnTo>
                    <a:pt x="5788581" y="3397127"/>
                  </a:lnTo>
                  <a:lnTo>
                    <a:pt x="5803669" y="3397127"/>
                  </a:lnTo>
                  <a:lnTo>
                    <a:pt x="5803669" y="3347723"/>
                  </a:lnTo>
                  <a:close/>
                </a:path>
                <a:path w="5803900" h="4650740">
                  <a:moveTo>
                    <a:pt x="5803669" y="3256171"/>
                  </a:moveTo>
                  <a:lnTo>
                    <a:pt x="5788581" y="3256171"/>
                  </a:lnTo>
                  <a:lnTo>
                    <a:pt x="5788581" y="3305920"/>
                  </a:lnTo>
                  <a:lnTo>
                    <a:pt x="5803669" y="3305920"/>
                  </a:lnTo>
                  <a:lnTo>
                    <a:pt x="5803669" y="3256171"/>
                  </a:lnTo>
                  <a:close/>
                </a:path>
                <a:path w="5803900" h="4650740">
                  <a:moveTo>
                    <a:pt x="5803669" y="3164963"/>
                  </a:moveTo>
                  <a:lnTo>
                    <a:pt x="5788581" y="3164963"/>
                  </a:lnTo>
                  <a:lnTo>
                    <a:pt x="5788581" y="3214713"/>
                  </a:lnTo>
                  <a:lnTo>
                    <a:pt x="5803669" y="3214713"/>
                  </a:lnTo>
                  <a:lnTo>
                    <a:pt x="5803669" y="3164963"/>
                  </a:lnTo>
                  <a:close/>
                </a:path>
                <a:path w="5803900" h="4650740">
                  <a:moveTo>
                    <a:pt x="5803669" y="3073756"/>
                  </a:moveTo>
                  <a:lnTo>
                    <a:pt x="5788581" y="3073756"/>
                  </a:lnTo>
                  <a:lnTo>
                    <a:pt x="5788581" y="3123505"/>
                  </a:lnTo>
                  <a:lnTo>
                    <a:pt x="5803669" y="3123505"/>
                  </a:lnTo>
                  <a:lnTo>
                    <a:pt x="5803669" y="3073756"/>
                  </a:lnTo>
                  <a:close/>
                </a:path>
                <a:path w="5803900" h="4650740">
                  <a:moveTo>
                    <a:pt x="5803669" y="2982549"/>
                  </a:moveTo>
                  <a:lnTo>
                    <a:pt x="5788581" y="2982549"/>
                  </a:lnTo>
                  <a:lnTo>
                    <a:pt x="5788581" y="3036617"/>
                  </a:lnTo>
                  <a:lnTo>
                    <a:pt x="5803669" y="3036617"/>
                  </a:lnTo>
                  <a:lnTo>
                    <a:pt x="5803669" y="2982549"/>
                  </a:lnTo>
                  <a:close/>
                </a:path>
                <a:path w="5803900" h="4650740">
                  <a:moveTo>
                    <a:pt x="5803669" y="2891341"/>
                  </a:moveTo>
                  <a:lnTo>
                    <a:pt x="5788581" y="2891341"/>
                  </a:lnTo>
                  <a:lnTo>
                    <a:pt x="5788581" y="2945064"/>
                  </a:lnTo>
                  <a:lnTo>
                    <a:pt x="5803669" y="2945064"/>
                  </a:lnTo>
                  <a:lnTo>
                    <a:pt x="5803669" y="2891341"/>
                  </a:lnTo>
                  <a:close/>
                </a:path>
                <a:path w="5803900" h="4650740">
                  <a:moveTo>
                    <a:pt x="5803669" y="2800134"/>
                  </a:moveTo>
                  <a:lnTo>
                    <a:pt x="5788581" y="2800134"/>
                  </a:lnTo>
                  <a:lnTo>
                    <a:pt x="5788581" y="2853856"/>
                  </a:lnTo>
                  <a:lnTo>
                    <a:pt x="5803669" y="2853856"/>
                  </a:lnTo>
                  <a:lnTo>
                    <a:pt x="5803669" y="2800134"/>
                  </a:lnTo>
                  <a:close/>
                </a:path>
                <a:path w="5803900" h="4650740">
                  <a:moveTo>
                    <a:pt x="5803669" y="2708927"/>
                  </a:moveTo>
                  <a:lnTo>
                    <a:pt x="5788581" y="2708927"/>
                  </a:lnTo>
                  <a:lnTo>
                    <a:pt x="5788581" y="2762649"/>
                  </a:lnTo>
                  <a:lnTo>
                    <a:pt x="5803669" y="2762649"/>
                  </a:lnTo>
                  <a:lnTo>
                    <a:pt x="5803669" y="2708927"/>
                  </a:lnTo>
                  <a:close/>
                </a:path>
                <a:path w="5803900" h="4650740">
                  <a:moveTo>
                    <a:pt x="5803669" y="2621520"/>
                  </a:moveTo>
                  <a:lnTo>
                    <a:pt x="5788581" y="2621520"/>
                  </a:lnTo>
                  <a:lnTo>
                    <a:pt x="5788581" y="2671442"/>
                  </a:lnTo>
                  <a:lnTo>
                    <a:pt x="5803669" y="2671442"/>
                  </a:lnTo>
                  <a:lnTo>
                    <a:pt x="5803669" y="2621520"/>
                  </a:lnTo>
                  <a:close/>
                </a:path>
                <a:path w="5803900" h="4650740">
                  <a:moveTo>
                    <a:pt x="5803669" y="2530312"/>
                  </a:moveTo>
                  <a:lnTo>
                    <a:pt x="5788581" y="2530312"/>
                  </a:lnTo>
                  <a:lnTo>
                    <a:pt x="5788581" y="2580234"/>
                  </a:lnTo>
                  <a:lnTo>
                    <a:pt x="5803669" y="2580234"/>
                  </a:lnTo>
                  <a:lnTo>
                    <a:pt x="5803669" y="2530312"/>
                  </a:lnTo>
                  <a:close/>
                </a:path>
                <a:path w="5803900" h="4650740">
                  <a:moveTo>
                    <a:pt x="5803669" y="2439105"/>
                  </a:moveTo>
                  <a:lnTo>
                    <a:pt x="5788581" y="2439105"/>
                  </a:lnTo>
                  <a:lnTo>
                    <a:pt x="5788581" y="2489027"/>
                  </a:lnTo>
                  <a:lnTo>
                    <a:pt x="5803669" y="2489027"/>
                  </a:lnTo>
                  <a:lnTo>
                    <a:pt x="5803669" y="2439105"/>
                  </a:lnTo>
                  <a:close/>
                </a:path>
                <a:path w="5803900" h="4650740">
                  <a:moveTo>
                    <a:pt x="5803669" y="2347898"/>
                  </a:moveTo>
                  <a:lnTo>
                    <a:pt x="5788581" y="2347898"/>
                  </a:lnTo>
                  <a:lnTo>
                    <a:pt x="5788581" y="2397820"/>
                  </a:lnTo>
                  <a:lnTo>
                    <a:pt x="5803669" y="2397820"/>
                  </a:lnTo>
                  <a:lnTo>
                    <a:pt x="5803669" y="2347898"/>
                  </a:lnTo>
                  <a:close/>
                </a:path>
                <a:path w="5803900" h="4650740">
                  <a:moveTo>
                    <a:pt x="5803669" y="2256690"/>
                  </a:moveTo>
                  <a:lnTo>
                    <a:pt x="5788581" y="2256690"/>
                  </a:lnTo>
                  <a:lnTo>
                    <a:pt x="5788581" y="2310413"/>
                  </a:lnTo>
                  <a:lnTo>
                    <a:pt x="5803669" y="2310413"/>
                  </a:lnTo>
                  <a:lnTo>
                    <a:pt x="5803669" y="2256690"/>
                  </a:lnTo>
                  <a:close/>
                </a:path>
                <a:path w="5803900" h="4650740">
                  <a:moveTo>
                    <a:pt x="5803669" y="2165483"/>
                  </a:moveTo>
                  <a:lnTo>
                    <a:pt x="5788581" y="2165483"/>
                  </a:lnTo>
                  <a:lnTo>
                    <a:pt x="5788581" y="2219205"/>
                  </a:lnTo>
                  <a:lnTo>
                    <a:pt x="5803669" y="2219205"/>
                  </a:lnTo>
                  <a:lnTo>
                    <a:pt x="5803669" y="2165483"/>
                  </a:lnTo>
                  <a:close/>
                </a:path>
                <a:path w="5803900" h="4650740">
                  <a:moveTo>
                    <a:pt x="5803669" y="2073930"/>
                  </a:moveTo>
                  <a:lnTo>
                    <a:pt x="5788581" y="2073930"/>
                  </a:lnTo>
                  <a:lnTo>
                    <a:pt x="5788581" y="2127998"/>
                  </a:lnTo>
                  <a:lnTo>
                    <a:pt x="5803669" y="2127998"/>
                  </a:lnTo>
                  <a:lnTo>
                    <a:pt x="5803669" y="2073930"/>
                  </a:lnTo>
                  <a:close/>
                </a:path>
                <a:path w="5803900" h="4650740">
                  <a:moveTo>
                    <a:pt x="5803669" y="1982723"/>
                  </a:moveTo>
                  <a:lnTo>
                    <a:pt x="5788581" y="1982723"/>
                  </a:lnTo>
                  <a:lnTo>
                    <a:pt x="5788581" y="2036791"/>
                  </a:lnTo>
                  <a:lnTo>
                    <a:pt x="5803669" y="2036791"/>
                  </a:lnTo>
                  <a:lnTo>
                    <a:pt x="5803669" y="1982723"/>
                  </a:lnTo>
                  <a:close/>
                </a:path>
                <a:path w="5803900" h="4650740">
                  <a:moveTo>
                    <a:pt x="5803669" y="1895661"/>
                  </a:moveTo>
                  <a:lnTo>
                    <a:pt x="5788581" y="1895661"/>
                  </a:lnTo>
                  <a:lnTo>
                    <a:pt x="5788581" y="1945583"/>
                  </a:lnTo>
                  <a:lnTo>
                    <a:pt x="5803669" y="1945583"/>
                  </a:lnTo>
                  <a:lnTo>
                    <a:pt x="5803669" y="1895661"/>
                  </a:lnTo>
                  <a:close/>
                </a:path>
                <a:path w="5803900" h="4650740">
                  <a:moveTo>
                    <a:pt x="5803669" y="1804454"/>
                  </a:moveTo>
                  <a:lnTo>
                    <a:pt x="5788581" y="1804454"/>
                  </a:lnTo>
                  <a:lnTo>
                    <a:pt x="5788581" y="1854376"/>
                  </a:lnTo>
                  <a:lnTo>
                    <a:pt x="5803669" y="1854376"/>
                  </a:lnTo>
                  <a:lnTo>
                    <a:pt x="5803669" y="1804454"/>
                  </a:lnTo>
                  <a:close/>
                </a:path>
                <a:path w="5803900" h="4650740">
                  <a:moveTo>
                    <a:pt x="5803669" y="1713419"/>
                  </a:moveTo>
                  <a:lnTo>
                    <a:pt x="5788581" y="1713419"/>
                  </a:lnTo>
                  <a:lnTo>
                    <a:pt x="5788581" y="1762823"/>
                  </a:lnTo>
                  <a:lnTo>
                    <a:pt x="5803669" y="1762823"/>
                  </a:lnTo>
                  <a:lnTo>
                    <a:pt x="5803669" y="1713419"/>
                  </a:lnTo>
                  <a:close/>
                </a:path>
                <a:path w="5803900" h="4650740">
                  <a:moveTo>
                    <a:pt x="5803669" y="1622212"/>
                  </a:moveTo>
                  <a:lnTo>
                    <a:pt x="5788581" y="1622212"/>
                  </a:lnTo>
                  <a:lnTo>
                    <a:pt x="5788581" y="1671616"/>
                  </a:lnTo>
                  <a:lnTo>
                    <a:pt x="5803669" y="1671616"/>
                  </a:lnTo>
                  <a:lnTo>
                    <a:pt x="5803669" y="1622212"/>
                  </a:lnTo>
                  <a:close/>
                </a:path>
                <a:path w="5803900" h="4650740">
                  <a:moveTo>
                    <a:pt x="5803669" y="1530486"/>
                  </a:moveTo>
                  <a:lnTo>
                    <a:pt x="5788581" y="1530486"/>
                  </a:lnTo>
                  <a:lnTo>
                    <a:pt x="5788581" y="1584554"/>
                  </a:lnTo>
                  <a:lnTo>
                    <a:pt x="5803669" y="1584554"/>
                  </a:lnTo>
                  <a:lnTo>
                    <a:pt x="5803669" y="1530486"/>
                  </a:lnTo>
                  <a:close/>
                </a:path>
                <a:path w="5803900" h="4650740">
                  <a:moveTo>
                    <a:pt x="5803669" y="1439279"/>
                  </a:moveTo>
                  <a:lnTo>
                    <a:pt x="5788581" y="1439279"/>
                  </a:lnTo>
                  <a:lnTo>
                    <a:pt x="5788581" y="1493347"/>
                  </a:lnTo>
                  <a:lnTo>
                    <a:pt x="5803669" y="1493347"/>
                  </a:lnTo>
                  <a:lnTo>
                    <a:pt x="5803669" y="1439279"/>
                  </a:lnTo>
                  <a:close/>
                </a:path>
                <a:path w="5803900" h="4650740">
                  <a:moveTo>
                    <a:pt x="5803669" y="1348072"/>
                  </a:moveTo>
                  <a:lnTo>
                    <a:pt x="5788581" y="1348072"/>
                  </a:lnTo>
                  <a:lnTo>
                    <a:pt x="5788581" y="1402140"/>
                  </a:lnTo>
                  <a:lnTo>
                    <a:pt x="5803669" y="1402140"/>
                  </a:lnTo>
                  <a:lnTo>
                    <a:pt x="5803669" y="1348072"/>
                  </a:lnTo>
                  <a:close/>
                </a:path>
                <a:path w="5803900" h="4650740">
                  <a:moveTo>
                    <a:pt x="5803669" y="1256864"/>
                  </a:moveTo>
                  <a:lnTo>
                    <a:pt x="5788581" y="1256864"/>
                  </a:lnTo>
                  <a:lnTo>
                    <a:pt x="5788581" y="1310932"/>
                  </a:lnTo>
                  <a:lnTo>
                    <a:pt x="5803669" y="1310932"/>
                  </a:lnTo>
                  <a:lnTo>
                    <a:pt x="5803669" y="1256864"/>
                  </a:lnTo>
                  <a:close/>
                </a:path>
                <a:path w="5803900" h="4650740">
                  <a:moveTo>
                    <a:pt x="5803669" y="1169975"/>
                  </a:moveTo>
                  <a:lnTo>
                    <a:pt x="5788581" y="1169975"/>
                  </a:lnTo>
                  <a:lnTo>
                    <a:pt x="5788581" y="1219379"/>
                  </a:lnTo>
                  <a:lnTo>
                    <a:pt x="5803669" y="1219379"/>
                  </a:lnTo>
                  <a:lnTo>
                    <a:pt x="5803669" y="1169975"/>
                  </a:lnTo>
                  <a:close/>
                </a:path>
                <a:path w="5803900" h="4650740">
                  <a:moveTo>
                    <a:pt x="5803669" y="1078768"/>
                  </a:moveTo>
                  <a:lnTo>
                    <a:pt x="5788581" y="1078768"/>
                  </a:lnTo>
                  <a:lnTo>
                    <a:pt x="5788581" y="1128172"/>
                  </a:lnTo>
                  <a:lnTo>
                    <a:pt x="5803669" y="1128172"/>
                  </a:lnTo>
                  <a:lnTo>
                    <a:pt x="5803669" y="1078768"/>
                  </a:lnTo>
                  <a:close/>
                </a:path>
                <a:path w="5803900" h="4650740">
                  <a:moveTo>
                    <a:pt x="5803669" y="987043"/>
                  </a:moveTo>
                  <a:lnTo>
                    <a:pt x="5788581" y="987043"/>
                  </a:lnTo>
                  <a:lnTo>
                    <a:pt x="5788581" y="1036965"/>
                  </a:lnTo>
                  <a:lnTo>
                    <a:pt x="5803669" y="1036965"/>
                  </a:lnTo>
                  <a:lnTo>
                    <a:pt x="5803669" y="987043"/>
                  </a:lnTo>
                  <a:close/>
                </a:path>
                <a:path w="5803900" h="4650740">
                  <a:moveTo>
                    <a:pt x="5803669" y="895835"/>
                  </a:moveTo>
                  <a:lnTo>
                    <a:pt x="5788581" y="895835"/>
                  </a:lnTo>
                  <a:lnTo>
                    <a:pt x="5788581" y="945757"/>
                  </a:lnTo>
                  <a:lnTo>
                    <a:pt x="5803669" y="945757"/>
                  </a:lnTo>
                  <a:lnTo>
                    <a:pt x="5803669" y="895835"/>
                  </a:lnTo>
                  <a:close/>
                </a:path>
                <a:path w="5803900" h="4650740">
                  <a:moveTo>
                    <a:pt x="5803669" y="804628"/>
                  </a:moveTo>
                  <a:lnTo>
                    <a:pt x="5788581" y="804628"/>
                  </a:lnTo>
                  <a:lnTo>
                    <a:pt x="5788581" y="858869"/>
                  </a:lnTo>
                  <a:lnTo>
                    <a:pt x="5803669" y="858869"/>
                  </a:lnTo>
                  <a:lnTo>
                    <a:pt x="5803669" y="804628"/>
                  </a:lnTo>
                  <a:close/>
                </a:path>
                <a:path w="5803900" h="4650740">
                  <a:moveTo>
                    <a:pt x="5803669" y="713421"/>
                  </a:moveTo>
                  <a:lnTo>
                    <a:pt x="5788581" y="713421"/>
                  </a:lnTo>
                  <a:lnTo>
                    <a:pt x="5788581" y="767661"/>
                  </a:lnTo>
                  <a:lnTo>
                    <a:pt x="5803669" y="767661"/>
                  </a:lnTo>
                  <a:lnTo>
                    <a:pt x="5803669" y="713421"/>
                  </a:lnTo>
                  <a:close/>
                </a:path>
                <a:path w="5803900" h="4650740">
                  <a:moveTo>
                    <a:pt x="5803669" y="622213"/>
                  </a:moveTo>
                  <a:lnTo>
                    <a:pt x="5788581" y="622213"/>
                  </a:lnTo>
                  <a:lnTo>
                    <a:pt x="5788581" y="675936"/>
                  </a:lnTo>
                  <a:lnTo>
                    <a:pt x="5803669" y="675936"/>
                  </a:lnTo>
                  <a:lnTo>
                    <a:pt x="5803669" y="622213"/>
                  </a:lnTo>
                  <a:close/>
                </a:path>
                <a:path w="5803900" h="4650740">
                  <a:moveTo>
                    <a:pt x="5803669" y="531179"/>
                  </a:moveTo>
                  <a:lnTo>
                    <a:pt x="5788581" y="531179"/>
                  </a:lnTo>
                  <a:lnTo>
                    <a:pt x="5788581" y="584728"/>
                  </a:lnTo>
                  <a:lnTo>
                    <a:pt x="5803669" y="584728"/>
                  </a:lnTo>
                  <a:lnTo>
                    <a:pt x="5803669" y="531179"/>
                  </a:lnTo>
                  <a:close/>
                </a:path>
                <a:path w="5803900" h="4650740">
                  <a:moveTo>
                    <a:pt x="5803669" y="443772"/>
                  </a:moveTo>
                  <a:lnTo>
                    <a:pt x="5788581" y="443772"/>
                  </a:lnTo>
                  <a:lnTo>
                    <a:pt x="5788581" y="493521"/>
                  </a:lnTo>
                  <a:lnTo>
                    <a:pt x="5803669" y="493521"/>
                  </a:lnTo>
                  <a:lnTo>
                    <a:pt x="5803669" y="443772"/>
                  </a:lnTo>
                  <a:close/>
                </a:path>
                <a:path w="5803900" h="4650740">
                  <a:moveTo>
                    <a:pt x="5803669" y="352564"/>
                  </a:moveTo>
                  <a:lnTo>
                    <a:pt x="5788581" y="352564"/>
                  </a:lnTo>
                  <a:lnTo>
                    <a:pt x="5788581" y="402314"/>
                  </a:lnTo>
                  <a:lnTo>
                    <a:pt x="5803669" y="402314"/>
                  </a:lnTo>
                  <a:lnTo>
                    <a:pt x="5803669" y="352564"/>
                  </a:lnTo>
                  <a:close/>
                </a:path>
                <a:path w="5803900" h="4650740">
                  <a:moveTo>
                    <a:pt x="5803669" y="261357"/>
                  </a:moveTo>
                  <a:lnTo>
                    <a:pt x="5788581" y="261357"/>
                  </a:lnTo>
                  <a:lnTo>
                    <a:pt x="5788581" y="311106"/>
                  </a:lnTo>
                  <a:lnTo>
                    <a:pt x="5803669" y="311106"/>
                  </a:lnTo>
                  <a:lnTo>
                    <a:pt x="5803669" y="261357"/>
                  </a:lnTo>
                  <a:close/>
                </a:path>
                <a:path w="5803900" h="4650740">
                  <a:moveTo>
                    <a:pt x="5803669" y="170150"/>
                  </a:moveTo>
                  <a:lnTo>
                    <a:pt x="5788581" y="170150"/>
                  </a:lnTo>
                  <a:lnTo>
                    <a:pt x="5788581" y="219899"/>
                  </a:lnTo>
                  <a:lnTo>
                    <a:pt x="5803669" y="219899"/>
                  </a:lnTo>
                  <a:lnTo>
                    <a:pt x="5803669" y="170150"/>
                  </a:lnTo>
                  <a:close/>
                </a:path>
                <a:path w="5803900" h="4650740">
                  <a:moveTo>
                    <a:pt x="5803668" y="78942"/>
                  </a:moveTo>
                  <a:lnTo>
                    <a:pt x="5788581" y="78942"/>
                  </a:lnTo>
                  <a:lnTo>
                    <a:pt x="5788581" y="132665"/>
                  </a:lnTo>
                  <a:lnTo>
                    <a:pt x="5803669" y="132665"/>
                  </a:lnTo>
                  <a:lnTo>
                    <a:pt x="5803668" y="78942"/>
                  </a:lnTo>
                  <a:close/>
                </a:path>
              </a:pathLst>
            </a:custGeom>
            <a:solidFill>
              <a:srgbClr val="000000"/>
            </a:solidFill>
          </p:spPr>
          <p:txBody>
            <a:bodyPr wrap="square" lIns="0" tIns="0" rIns="0" bIns="0" rtlCol="0"/>
            <a:lstStyle/>
            <a:p/>
          </p:txBody>
        </p:sp>
        <p:sp>
          <p:nvSpPr>
            <p:cNvPr id="130" name="object 130" descr=""/>
            <p:cNvSpPr/>
            <p:nvPr/>
          </p:nvSpPr>
          <p:spPr>
            <a:xfrm>
              <a:off x="3262361" y="792741"/>
              <a:ext cx="5793105" cy="0"/>
            </a:xfrm>
            <a:custGeom>
              <a:avLst/>
              <a:gdLst/>
              <a:ahLst/>
              <a:cxnLst/>
              <a:rect l="l" t="t" r="r" b="b"/>
              <a:pathLst>
                <a:path w="5793105" h="0">
                  <a:moveTo>
                    <a:pt x="0" y="0"/>
                  </a:moveTo>
                  <a:lnTo>
                    <a:pt x="5792933" y="0"/>
                  </a:lnTo>
                </a:path>
              </a:pathLst>
            </a:custGeom>
            <a:ln w="21128">
              <a:solidFill>
                <a:srgbClr val="000000"/>
              </a:solidFill>
              <a:prstDash val="sysDashDot"/>
            </a:ln>
          </p:spPr>
          <p:txBody>
            <a:bodyPr wrap="square" lIns="0" tIns="0" rIns="0" bIns="0" rtlCol="0"/>
            <a:lstStyle/>
            <a:p/>
          </p:txBody>
        </p:sp>
        <p:sp>
          <p:nvSpPr>
            <p:cNvPr id="131" name="object 131" descr=""/>
            <p:cNvSpPr/>
            <p:nvPr/>
          </p:nvSpPr>
          <p:spPr>
            <a:xfrm>
              <a:off x="3262211" y="827398"/>
              <a:ext cx="0" cy="4593590"/>
            </a:xfrm>
            <a:custGeom>
              <a:avLst/>
              <a:gdLst/>
              <a:ahLst/>
              <a:cxnLst/>
              <a:rect l="l" t="t" r="r" b="b"/>
              <a:pathLst>
                <a:path w="0" h="4593590">
                  <a:moveTo>
                    <a:pt x="0" y="0"/>
                  </a:moveTo>
                  <a:lnTo>
                    <a:pt x="0" y="4593091"/>
                  </a:lnTo>
                </a:path>
              </a:pathLst>
            </a:custGeom>
            <a:ln w="20197">
              <a:solidFill>
                <a:srgbClr val="000000"/>
              </a:solidFill>
              <a:prstDash val="sysDash"/>
            </a:ln>
          </p:spPr>
          <p:txBody>
            <a:bodyPr wrap="square" lIns="0" tIns="0" rIns="0" bIns="0" rtlCol="0"/>
            <a:lstStyle/>
            <a:p/>
          </p:txBody>
        </p:sp>
        <p:sp>
          <p:nvSpPr>
            <p:cNvPr id="132" name="object 132" descr=""/>
            <p:cNvSpPr/>
            <p:nvPr/>
          </p:nvSpPr>
          <p:spPr>
            <a:xfrm>
              <a:off x="3292489" y="5428147"/>
              <a:ext cx="5687695" cy="0"/>
            </a:xfrm>
            <a:custGeom>
              <a:avLst/>
              <a:gdLst/>
              <a:ahLst/>
              <a:cxnLst/>
              <a:rect l="l" t="t" r="r" b="b"/>
              <a:pathLst>
                <a:path w="5687695" h="0">
                  <a:moveTo>
                    <a:pt x="0" y="0"/>
                  </a:moveTo>
                  <a:lnTo>
                    <a:pt x="5687560" y="0"/>
                  </a:lnTo>
                </a:path>
              </a:pathLst>
            </a:custGeom>
            <a:ln w="17118">
              <a:solidFill>
                <a:srgbClr val="000000"/>
              </a:solidFill>
              <a:prstDash val="sysDashDot"/>
            </a:ln>
          </p:spPr>
          <p:txBody>
            <a:bodyPr wrap="square" lIns="0" tIns="0" rIns="0" bIns="0" rtlCol="0"/>
            <a:lstStyle/>
            <a:p/>
          </p:txBody>
        </p:sp>
        <p:sp>
          <p:nvSpPr>
            <p:cNvPr id="133" name="object 133" descr=""/>
            <p:cNvSpPr/>
            <p:nvPr/>
          </p:nvSpPr>
          <p:spPr>
            <a:xfrm>
              <a:off x="9023150" y="5401303"/>
              <a:ext cx="35560" cy="33655"/>
            </a:xfrm>
            <a:custGeom>
              <a:avLst/>
              <a:gdLst/>
              <a:ahLst/>
              <a:cxnLst/>
              <a:rect l="l" t="t" r="r" b="b"/>
              <a:pathLst>
                <a:path w="35559" h="33654">
                  <a:moveTo>
                    <a:pt x="0" y="20452"/>
                  </a:moveTo>
                  <a:lnTo>
                    <a:pt x="29965" y="20452"/>
                  </a:lnTo>
                  <a:lnTo>
                    <a:pt x="20116" y="24719"/>
                  </a:lnTo>
                  <a:lnTo>
                    <a:pt x="20116" y="0"/>
                  </a:lnTo>
                  <a:lnTo>
                    <a:pt x="35204" y="0"/>
                  </a:lnTo>
                  <a:lnTo>
                    <a:pt x="35204" y="33235"/>
                  </a:lnTo>
                  <a:lnTo>
                    <a:pt x="0" y="33235"/>
                  </a:lnTo>
                  <a:lnTo>
                    <a:pt x="0" y="20452"/>
                  </a:lnTo>
                  <a:close/>
                </a:path>
              </a:pathLst>
            </a:custGeom>
            <a:ln w="4708">
              <a:solidFill>
                <a:srgbClr val="000000"/>
              </a:solidFill>
            </a:ln>
          </p:spPr>
          <p:txBody>
            <a:bodyPr wrap="square" lIns="0" tIns="0" rIns="0" bIns="0" rtlCol="0"/>
            <a:lstStyle/>
            <a:p/>
          </p:txBody>
        </p:sp>
        <p:sp>
          <p:nvSpPr>
            <p:cNvPr id="134" name="object 134" descr=""/>
            <p:cNvSpPr/>
            <p:nvPr/>
          </p:nvSpPr>
          <p:spPr>
            <a:xfrm>
              <a:off x="9050810" y="789943"/>
              <a:ext cx="0" cy="4572635"/>
            </a:xfrm>
            <a:custGeom>
              <a:avLst/>
              <a:gdLst/>
              <a:ahLst/>
              <a:cxnLst/>
              <a:rect l="l" t="t" r="r" b="b"/>
              <a:pathLst>
                <a:path w="0" h="4572635">
                  <a:moveTo>
                    <a:pt x="0" y="0"/>
                  </a:moveTo>
                  <a:lnTo>
                    <a:pt x="0" y="4572159"/>
                  </a:lnTo>
                </a:path>
              </a:pathLst>
            </a:custGeom>
            <a:ln w="20232">
              <a:solidFill>
                <a:srgbClr val="000000"/>
              </a:solidFill>
              <a:prstDash val="sysDash"/>
            </a:ln>
          </p:spPr>
          <p:txBody>
            <a:bodyPr wrap="square" lIns="0" tIns="0" rIns="0" bIns="0" rtlCol="0"/>
            <a:lstStyle/>
            <a:p/>
          </p:txBody>
        </p:sp>
      </p:grpSp>
      <p:sp>
        <p:nvSpPr>
          <p:cNvPr id="135" name="object 135" descr=""/>
          <p:cNvSpPr txBox="1"/>
          <p:nvPr/>
        </p:nvSpPr>
        <p:spPr>
          <a:xfrm>
            <a:off x="8378234" y="5185960"/>
            <a:ext cx="217804" cy="215900"/>
          </a:xfrm>
          <a:prstGeom prst="rect">
            <a:avLst/>
          </a:prstGeom>
        </p:spPr>
        <p:txBody>
          <a:bodyPr wrap="square" lIns="0" tIns="12065" rIns="0" bIns="0" rtlCol="0" vert="horz">
            <a:spAutoFit/>
          </a:bodyPr>
          <a:lstStyle/>
          <a:p>
            <a:pPr marL="12700">
              <a:lnSpc>
                <a:spcPct val="100000"/>
              </a:lnSpc>
              <a:spcBef>
                <a:spcPts val="95"/>
              </a:spcBef>
            </a:pPr>
            <a:r>
              <a:rPr dirty="0" sz="1250" spc="200">
                <a:latin typeface="宋体"/>
                <a:cs typeface="宋体"/>
              </a:rPr>
              <a:t>④</a:t>
            </a:r>
            <a:endParaRPr sz="1250">
              <a:latin typeface="宋体"/>
              <a:cs typeface="宋体"/>
            </a:endParaRPr>
          </a:p>
        </p:txBody>
      </p:sp>
      <p:sp>
        <p:nvSpPr>
          <p:cNvPr id="136" name="object 136" descr=""/>
          <p:cNvSpPr txBox="1"/>
          <p:nvPr/>
        </p:nvSpPr>
        <p:spPr>
          <a:xfrm>
            <a:off x="4375150" y="6126886"/>
            <a:ext cx="2694305" cy="331470"/>
          </a:xfrm>
          <a:prstGeom prst="rect">
            <a:avLst/>
          </a:prstGeom>
        </p:spPr>
        <p:txBody>
          <a:bodyPr wrap="square" lIns="0" tIns="13335" rIns="0" bIns="0" rtlCol="0" vert="horz">
            <a:spAutoFit/>
          </a:bodyPr>
          <a:lstStyle/>
          <a:p>
            <a:pPr marL="12700">
              <a:lnSpc>
                <a:spcPct val="100000"/>
              </a:lnSpc>
              <a:spcBef>
                <a:spcPts val="105"/>
              </a:spcBef>
            </a:pPr>
            <a:r>
              <a:rPr dirty="0" sz="2000" spc="-190">
                <a:solidFill>
                  <a:srgbClr val="40458B"/>
                </a:solidFill>
                <a:latin typeface="黑体"/>
                <a:cs typeface="黑体"/>
              </a:rPr>
              <a:t>图 </a:t>
            </a:r>
            <a:r>
              <a:rPr dirty="0" sz="2000" spc="-10">
                <a:solidFill>
                  <a:srgbClr val="40458B"/>
                </a:solidFill>
                <a:latin typeface="Tahoma"/>
                <a:cs typeface="Tahoma"/>
              </a:rPr>
              <a:t>7.12</a:t>
            </a:r>
            <a:r>
              <a:rPr dirty="0" sz="2000" spc="-135">
                <a:solidFill>
                  <a:srgbClr val="40458B"/>
                </a:solidFill>
                <a:latin typeface="Tahoma"/>
                <a:cs typeface="Tahoma"/>
              </a:rPr>
              <a:t> </a:t>
            </a:r>
            <a:r>
              <a:rPr dirty="0" sz="2000" spc="-15">
                <a:solidFill>
                  <a:srgbClr val="40458B"/>
                </a:solidFill>
                <a:latin typeface="黑体"/>
                <a:cs typeface="黑体"/>
              </a:rPr>
              <a:t>一个两路组相联</a:t>
            </a:r>
            <a:endParaRPr sz="2000">
              <a:latin typeface="黑体"/>
              <a:cs typeface="黑体"/>
            </a:endParaRPr>
          </a:p>
        </p:txBody>
      </p:sp>
      <p:sp>
        <p:nvSpPr>
          <p:cNvPr id="137" name="object 137"/>
          <p:cNvSpPr txBox="1">
            <a:spLocks noGrp="1"/>
          </p:cNvSpPr>
          <p:nvPr>
            <p:ph type="title"/>
          </p:nvPr>
        </p:nvSpPr>
        <p:spPr>
          <a:xfrm>
            <a:off x="774293" y="59817"/>
            <a:ext cx="3494404"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7.2.4</a:t>
            </a:r>
            <a:r>
              <a:rPr dirty="0" u="none" sz="2600" spc="30">
                <a:solidFill>
                  <a:srgbClr val="0000CC"/>
                </a:solidFill>
              </a:rPr>
              <a:t> </a:t>
            </a:r>
            <a:r>
              <a:rPr dirty="0" u="none" sz="2600" spc="-10">
                <a:solidFill>
                  <a:srgbClr val="0000CC"/>
                </a:solidFill>
              </a:rPr>
              <a:t>Cache</a:t>
            </a:r>
            <a:r>
              <a:rPr dirty="0" u="none" sz="2600" spc="-15">
                <a:solidFill>
                  <a:srgbClr val="0000CC"/>
                </a:solidFill>
              </a:rPr>
              <a:t>的工作过程</a:t>
            </a:r>
            <a:endParaRPr sz="2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39/170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74293" y="397035"/>
            <a:ext cx="10257155" cy="3909060"/>
          </a:xfrm>
          <a:prstGeom prst="rect">
            <a:avLst/>
          </a:prstGeom>
        </p:spPr>
        <p:txBody>
          <a:bodyPr wrap="square" lIns="0" tIns="121920" rIns="0" bIns="0" rtlCol="0" vert="horz">
            <a:spAutoFit/>
          </a:bodyPr>
          <a:lstStyle/>
          <a:p>
            <a:pPr marL="469265" indent="-456565">
              <a:lnSpc>
                <a:spcPct val="100000"/>
              </a:lnSpc>
              <a:spcBef>
                <a:spcPts val="960"/>
              </a:spcBef>
              <a:buClr>
                <a:srgbClr val="40458B"/>
              </a:buClr>
              <a:buFont typeface="Tahoma"/>
              <a:buAutoNum type="arabicPeriod"/>
              <a:tabLst>
                <a:tab pos="469265" algn="l"/>
              </a:tabLst>
            </a:pPr>
            <a:r>
              <a:rPr dirty="0" sz="2400" spc="-15">
                <a:solidFill>
                  <a:srgbClr val="E14B04"/>
                </a:solidFill>
                <a:latin typeface="黑体"/>
                <a:cs typeface="黑体"/>
              </a:rPr>
              <a:t>替换算法</a:t>
            </a:r>
            <a:endParaRPr sz="2400">
              <a:latin typeface="黑体"/>
              <a:cs typeface="黑体"/>
            </a:endParaRPr>
          </a:p>
          <a:p>
            <a:pPr marL="641985">
              <a:lnSpc>
                <a:spcPct val="100000"/>
              </a:lnSpc>
              <a:spcBef>
                <a:spcPts val="865"/>
              </a:spcBef>
            </a:pPr>
            <a:r>
              <a:rPr dirty="0" sz="2400" spc="-10">
                <a:solidFill>
                  <a:srgbClr val="D50092"/>
                </a:solidFill>
                <a:latin typeface="黑体"/>
                <a:cs typeface="黑体"/>
              </a:rPr>
              <a:t>所要解决的问题：</a:t>
            </a:r>
            <a:r>
              <a:rPr dirty="0" sz="2400" spc="-10">
                <a:solidFill>
                  <a:srgbClr val="40458B"/>
                </a:solidFill>
                <a:latin typeface="黑体"/>
                <a:cs typeface="黑体"/>
              </a:rPr>
              <a:t>当新调入一块，而</a:t>
            </a:r>
            <a:r>
              <a:rPr dirty="0" sz="2400" spc="-10">
                <a:solidFill>
                  <a:srgbClr val="40458B"/>
                </a:solidFill>
                <a:latin typeface="Times New Roman"/>
                <a:cs typeface="Times New Roman"/>
              </a:rPr>
              <a:t>Cache</a:t>
            </a:r>
            <a:r>
              <a:rPr dirty="0" sz="2400" spc="-15">
                <a:solidFill>
                  <a:srgbClr val="40458B"/>
                </a:solidFill>
                <a:latin typeface="黑体"/>
                <a:cs typeface="黑体"/>
              </a:rPr>
              <a:t>又已被占满时，替换哪一块？</a:t>
            </a:r>
            <a:endParaRPr sz="2400">
              <a:latin typeface="黑体"/>
              <a:cs typeface="黑体"/>
            </a:endParaRPr>
          </a:p>
          <a:p>
            <a:pPr lvl="1" marL="1726564" indent="-456565">
              <a:lnSpc>
                <a:spcPct val="100000"/>
              </a:lnSpc>
              <a:spcBef>
                <a:spcPts val="775"/>
              </a:spcBef>
              <a:buClr>
                <a:srgbClr val="4668F5"/>
              </a:buClr>
              <a:buSzPct val="60000"/>
              <a:buFont typeface="Wingdings"/>
              <a:buChar char=""/>
              <a:tabLst>
                <a:tab pos="1726564" algn="l"/>
                <a:tab pos="5828665" algn="l"/>
              </a:tabLst>
            </a:pPr>
            <a:r>
              <a:rPr dirty="0" sz="2000" spc="-10" b="1">
                <a:solidFill>
                  <a:srgbClr val="00AFEF"/>
                </a:solidFill>
                <a:latin typeface="宋体"/>
                <a:cs typeface="宋体"/>
              </a:rPr>
              <a:t>直接映象</a:t>
            </a:r>
            <a:r>
              <a:rPr dirty="0" sz="2000" spc="-10" b="1">
                <a:solidFill>
                  <a:srgbClr val="00AFEF"/>
                </a:solidFill>
                <a:latin typeface="Times New Roman"/>
                <a:cs typeface="Times New Roman"/>
              </a:rPr>
              <a:t>Cache</a:t>
            </a:r>
            <a:r>
              <a:rPr dirty="0" sz="2000" spc="-10" b="1">
                <a:solidFill>
                  <a:srgbClr val="00AFEF"/>
                </a:solidFill>
                <a:latin typeface="宋体"/>
                <a:cs typeface="宋体"/>
              </a:rPr>
              <a:t>中的替</a:t>
            </a:r>
            <a:r>
              <a:rPr dirty="0" sz="2000" spc="-20" b="1">
                <a:solidFill>
                  <a:srgbClr val="00AFEF"/>
                </a:solidFill>
                <a:latin typeface="宋体"/>
                <a:cs typeface="宋体"/>
              </a:rPr>
              <a:t>换</a:t>
            </a:r>
            <a:r>
              <a:rPr dirty="0" sz="2000" spc="-10" b="1">
                <a:solidFill>
                  <a:srgbClr val="00AFEF"/>
                </a:solidFill>
                <a:latin typeface="宋体"/>
                <a:cs typeface="宋体"/>
              </a:rPr>
              <a:t>很简</a:t>
            </a:r>
            <a:r>
              <a:rPr dirty="0" sz="2000" b="1">
                <a:solidFill>
                  <a:srgbClr val="00AFEF"/>
                </a:solidFill>
                <a:latin typeface="宋体"/>
                <a:cs typeface="宋体"/>
              </a:rPr>
              <a:t>单</a:t>
            </a:r>
            <a:r>
              <a:rPr dirty="0" sz="2000" spc="-10" b="1">
                <a:solidFill>
                  <a:srgbClr val="00AFEF"/>
                </a:solidFill>
                <a:latin typeface="Times New Roman"/>
                <a:cs typeface="Times New Roman"/>
              </a:rPr>
              <a:t>----</a:t>
            </a:r>
            <a:r>
              <a:rPr dirty="0" sz="2000" spc="-50" b="1">
                <a:solidFill>
                  <a:srgbClr val="00AFEF"/>
                </a:solidFill>
                <a:latin typeface="Times New Roman"/>
                <a:cs typeface="Times New Roman"/>
              </a:rPr>
              <a:t>-</a:t>
            </a:r>
            <a:r>
              <a:rPr dirty="0" sz="2000" b="1">
                <a:solidFill>
                  <a:srgbClr val="00AFEF"/>
                </a:solidFill>
                <a:latin typeface="Times New Roman"/>
                <a:cs typeface="Times New Roman"/>
              </a:rPr>
              <a:t>	</a:t>
            </a:r>
            <a:r>
              <a:rPr dirty="0" sz="2000" spc="-10" b="1">
                <a:solidFill>
                  <a:srgbClr val="00AFEF"/>
                </a:solidFill>
                <a:latin typeface="宋体"/>
                <a:cs typeface="宋体"/>
              </a:rPr>
              <a:t>因为只有一个块，别无</a:t>
            </a:r>
            <a:r>
              <a:rPr dirty="0" sz="2000" spc="-20" b="1">
                <a:solidFill>
                  <a:srgbClr val="00AFEF"/>
                </a:solidFill>
                <a:latin typeface="宋体"/>
                <a:cs typeface="宋体"/>
              </a:rPr>
              <a:t>选</a:t>
            </a:r>
            <a:r>
              <a:rPr dirty="0" sz="2000" spc="-10" b="1">
                <a:solidFill>
                  <a:srgbClr val="00AFEF"/>
                </a:solidFill>
                <a:latin typeface="宋体"/>
                <a:cs typeface="宋体"/>
              </a:rPr>
              <a:t>择</a:t>
            </a:r>
            <a:r>
              <a:rPr dirty="0" sz="2000" spc="-50" b="1">
                <a:solidFill>
                  <a:srgbClr val="00AFEF"/>
                </a:solidFill>
                <a:latin typeface="宋体"/>
                <a:cs typeface="宋体"/>
              </a:rPr>
              <a:t>。</a:t>
            </a:r>
            <a:endParaRPr sz="2000">
              <a:latin typeface="宋体"/>
              <a:cs typeface="宋体"/>
            </a:endParaRPr>
          </a:p>
          <a:p>
            <a:pPr lvl="1" marL="1726564" indent="-456565">
              <a:lnSpc>
                <a:spcPct val="100000"/>
              </a:lnSpc>
              <a:spcBef>
                <a:spcPts val="720"/>
              </a:spcBef>
              <a:buClr>
                <a:srgbClr val="4668F5"/>
              </a:buClr>
              <a:buSzPct val="60000"/>
              <a:buFont typeface="Wingdings"/>
              <a:buChar char=""/>
              <a:tabLst>
                <a:tab pos="1726564" algn="l"/>
              </a:tabLst>
            </a:pPr>
            <a:r>
              <a:rPr dirty="0" sz="2000" spc="-10" b="1">
                <a:solidFill>
                  <a:srgbClr val="00AFEF"/>
                </a:solidFill>
                <a:latin typeface="宋体"/>
                <a:cs typeface="宋体"/>
              </a:rPr>
              <a:t>在组相联和全相联</a:t>
            </a:r>
            <a:r>
              <a:rPr dirty="0" sz="2000" spc="-10" b="1">
                <a:solidFill>
                  <a:srgbClr val="00AFEF"/>
                </a:solidFill>
                <a:latin typeface="Times New Roman"/>
                <a:cs typeface="Times New Roman"/>
              </a:rPr>
              <a:t>Cache</a:t>
            </a:r>
            <a:r>
              <a:rPr dirty="0" sz="2000" spc="-25" b="1">
                <a:solidFill>
                  <a:srgbClr val="00AFEF"/>
                </a:solidFill>
                <a:latin typeface="宋体"/>
                <a:cs typeface="宋体"/>
              </a:rPr>
              <a:t>中，则有多个块供选择。</a:t>
            </a:r>
            <a:endParaRPr sz="2000">
              <a:latin typeface="宋体"/>
              <a:cs typeface="宋体"/>
            </a:endParaRPr>
          </a:p>
          <a:p>
            <a:pPr marL="913130" indent="-271145">
              <a:lnSpc>
                <a:spcPct val="100000"/>
              </a:lnSpc>
              <a:spcBef>
                <a:spcPts val="810"/>
              </a:spcBef>
              <a:buSzPct val="89583"/>
              <a:buFont typeface="Wingdings"/>
              <a:buChar char=""/>
              <a:tabLst>
                <a:tab pos="913130" algn="l"/>
              </a:tabLst>
            </a:pPr>
            <a:r>
              <a:rPr dirty="0" sz="2400" spc="-20">
                <a:solidFill>
                  <a:srgbClr val="40458B"/>
                </a:solidFill>
                <a:latin typeface="黑体"/>
                <a:cs typeface="黑体"/>
              </a:rPr>
              <a:t>替换要解决的问题</a:t>
            </a:r>
            <a:endParaRPr sz="2400">
              <a:latin typeface="黑体"/>
              <a:cs typeface="黑体"/>
            </a:endParaRPr>
          </a:p>
          <a:p>
            <a:pPr lvl="1" marL="1191895" indent="-243840">
              <a:lnSpc>
                <a:spcPct val="100000"/>
              </a:lnSpc>
              <a:spcBef>
                <a:spcPts val="775"/>
              </a:spcBef>
              <a:buClr>
                <a:srgbClr val="4668F5"/>
              </a:buClr>
              <a:buSzPct val="60000"/>
              <a:buFont typeface="Wingdings"/>
              <a:buChar char=""/>
              <a:tabLst>
                <a:tab pos="1191895" algn="l"/>
              </a:tabLst>
            </a:pPr>
            <a:r>
              <a:rPr dirty="0" sz="2000" spc="-10" b="1">
                <a:solidFill>
                  <a:srgbClr val="9558A7"/>
                </a:solidFill>
                <a:latin typeface="宋体"/>
                <a:cs typeface="宋体"/>
              </a:rPr>
              <a:t>记录每次访问</a:t>
            </a:r>
            <a:r>
              <a:rPr dirty="0" sz="2000" spc="-10" b="1">
                <a:solidFill>
                  <a:srgbClr val="9558A7"/>
                </a:solidFill>
                <a:latin typeface="Times New Roman"/>
                <a:cs typeface="Times New Roman"/>
              </a:rPr>
              <a:t>Cache</a:t>
            </a:r>
            <a:r>
              <a:rPr dirty="0" sz="2000" spc="-30" b="1">
                <a:solidFill>
                  <a:srgbClr val="9558A7"/>
                </a:solidFill>
                <a:latin typeface="宋体"/>
                <a:cs typeface="宋体"/>
              </a:rPr>
              <a:t>的块号</a:t>
            </a:r>
            <a:endParaRPr sz="2000">
              <a:latin typeface="宋体"/>
              <a:cs typeface="宋体"/>
            </a:endParaRPr>
          </a:p>
          <a:p>
            <a:pPr lvl="1" marL="1127760" indent="-179705">
              <a:lnSpc>
                <a:spcPct val="100000"/>
              </a:lnSpc>
              <a:spcBef>
                <a:spcPts val="720"/>
              </a:spcBef>
              <a:buClr>
                <a:srgbClr val="4668F5"/>
              </a:buClr>
              <a:buSzPct val="60000"/>
              <a:buFont typeface="Wingdings"/>
              <a:buChar char=""/>
              <a:tabLst>
                <a:tab pos="1127760" algn="l"/>
              </a:tabLst>
            </a:pPr>
            <a:r>
              <a:rPr dirty="0" sz="2000" spc="-20" b="1">
                <a:solidFill>
                  <a:srgbClr val="9558A7"/>
                </a:solidFill>
                <a:latin typeface="宋体"/>
                <a:cs typeface="宋体"/>
              </a:rPr>
              <a:t>访问过程中，对记录的块号管理</a:t>
            </a:r>
            <a:endParaRPr sz="2000">
              <a:latin typeface="宋体"/>
              <a:cs typeface="宋体"/>
            </a:endParaRPr>
          </a:p>
          <a:p>
            <a:pPr lvl="1" marL="1127760" indent="-179705">
              <a:lnSpc>
                <a:spcPct val="100000"/>
              </a:lnSpc>
              <a:spcBef>
                <a:spcPts val="720"/>
              </a:spcBef>
              <a:buClr>
                <a:srgbClr val="4668F5"/>
              </a:buClr>
              <a:buSzPct val="60000"/>
              <a:buFont typeface="Wingdings"/>
              <a:buChar char=""/>
              <a:tabLst>
                <a:tab pos="1127760" algn="l"/>
              </a:tabLst>
            </a:pPr>
            <a:r>
              <a:rPr dirty="0" sz="2000" spc="-30" b="1">
                <a:solidFill>
                  <a:srgbClr val="00AFEF"/>
                </a:solidFill>
                <a:latin typeface="宋体"/>
                <a:cs typeface="宋体"/>
              </a:rPr>
              <a:t>根据记录和管理结果，找出替换的块号</a:t>
            </a:r>
            <a:endParaRPr sz="2000">
              <a:latin typeface="宋体"/>
              <a:cs typeface="宋体"/>
            </a:endParaRPr>
          </a:p>
          <a:p>
            <a:pPr marL="912494" indent="-270510">
              <a:lnSpc>
                <a:spcPct val="100000"/>
              </a:lnSpc>
              <a:spcBef>
                <a:spcPts val="815"/>
              </a:spcBef>
              <a:buSzPct val="89583"/>
              <a:buFont typeface="Wingdings"/>
              <a:buChar char=""/>
              <a:tabLst>
                <a:tab pos="912494" algn="l"/>
              </a:tabLst>
            </a:pPr>
            <a:r>
              <a:rPr dirty="0" sz="2400" spc="-10">
                <a:solidFill>
                  <a:srgbClr val="40458B"/>
                </a:solidFill>
                <a:latin typeface="黑体"/>
                <a:cs typeface="黑体"/>
              </a:rPr>
              <a:t>硬件实现替换算法</a:t>
            </a:r>
            <a:endParaRPr sz="2400">
              <a:latin typeface="黑体"/>
              <a:cs typeface="黑体"/>
            </a:endParaRPr>
          </a:p>
        </p:txBody>
      </p:sp>
      <p:sp>
        <p:nvSpPr>
          <p:cNvPr id="10" name="object 10"/>
          <p:cNvSpPr txBox="1">
            <a:spLocks noGrp="1"/>
          </p:cNvSpPr>
          <p:nvPr>
            <p:ph type="title"/>
          </p:nvPr>
        </p:nvSpPr>
        <p:spPr>
          <a:xfrm>
            <a:off x="1710944" y="63246"/>
            <a:ext cx="2513965" cy="452120"/>
          </a:xfrm>
          <a:prstGeom prst="rect"/>
        </p:spPr>
        <p:txBody>
          <a:bodyPr wrap="square" lIns="0" tIns="12065" rIns="0" bIns="0" rtlCol="0" vert="horz">
            <a:spAutoFit/>
          </a:bodyPr>
          <a:lstStyle/>
          <a:p>
            <a:pPr marL="12700">
              <a:lnSpc>
                <a:spcPct val="100000"/>
              </a:lnSpc>
              <a:spcBef>
                <a:spcPts val="95"/>
              </a:spcBef>
            </a:pPr>
            <a:r>
              <a:rPr dirty="0" u="none">
                <a:solidFill>
                  <a:srgbClr val="0000CC"/>
                </a:solidFill>
              </a:rPr>
              <a:t>7.2.5</a:t>
            </a:r>
            <a:r>
              <a:rPr dirty="0" u="none" spc="-45">
                <a:solidFill>
                  <a:srgbClr val="0000CC"/>
                </a:solidFill>
              </a:rPr>
              <a:t> 替换算法</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295780" y="828962"/>
            <a:ext cx="10225405" cy="5044440"/>
          </a:xfrm>
          <a:prstGeom prst="rect">
            <a:avLst/>
          </a:prstGeom>
        </p:spPr>
        <p:txBody>
          <a:bodyPr wrap="square" lIns="0" tIns="121920" rIns="0" bIns="0" rtlCol="0" vert="horz">
            <a:spAutoFit/>
          </a:bodyPr>
          <a:lstStyle/>
          <a:p>
            <a:pPr marL="12700">
              <a:lnSpc>
                <a:spcPct val="100000"/>
              </a:lnSpc>
              <a:spcBef>
                <a:spcPts val="960"/>
              </a:spcBef>
            </a:pPr>
            <a:r>
              <a:rPr dirty="0" sz="2400" spc="-5">
                <a:solidFill>
                  <a:srgbClr val="D50092"/>
                </a:solidFill>
                <a:latin typeface="黑体"/>
                <a:cs typeface="黑体"/>
              </a:rPr>
              <a:t>主要的替换算法有三种</a:t>
            </a:r>
            <a:endParaRPr sz="2400">
              <a:latin typeface="黑体"/>
              <a:cs typeface="黑体"/>
            </a:endParaRPr>
          </a:p>
          <a:p>
            <a:pPr marL="283845" indent="-271145">
              <a:lnSpc>
                <a:spcPct val="100000"/>
              </a:lnSpc>
              <a:spcBef>
                <a:spcPts val="865"/>
              </a:spcBef>
              <a:buSzPct val="89583"/>
              <a:buFont typeface="Wingdings"/>
              <a:buChar char=""/>
              <a:tabLst>
                <a:tab pos="283845" algn="l"/>
              </a:tabLst>
            </a:pPr>
            <a:r>
              <a:rPr dirty="0" sz="2400" spc="-10">
                <a:solidFill>
                  <a:srgbClr val="40458B"/>
                </a:solidFill>
                <a:latin typeface="黑体"/>
                <a:cs typeface="黑体"/>
              </a:rPr>
              <a:t>随机法</a:t>
            </a:r>
            <a:r>
              <a:rPr dirty="0" sz="2400">
                <a:solidFill>
                  <a:srgbClr val="40458B"/>
                </a:solidFill>
                <a:latin typeface="Times New Roman"/>
                <a:cs typeface="Times New Roman"/>
              </a:rPr>
              <a:t>(</a:t>
            </a:r>
            <a:r>
              <a:rPr dirty="0" sz="1800" spc="-10">
                <a:solidFill>
                  <a:srgbClr val="40458B"/>
                </a:solidFill>
                <a:latin typeface="黑体"/>
                <a:cs typeface="黑体"/>
              </a:rPr>
              <a:t>随机选择被替换的块</a:t>
            </a:r>
            <a:r>
              <a:rPr dirty="0" sz="2400" spc="-50">
                <a:solidFill>
                  <a:srgbClr val="40458B"/>
                </a:solidFill>
                <a:latin typeface="Times New Roman"/>
                <a:cs typeface="Times New Roman"/>
              </a:rPr>
              <a:t>)</a:t>
            </a:r>
            <a:endParaRPr sz="2400">
              <a:latin typeface="Times New Roman"/>
              <a:cs typeface="Times New Roman"/>
            </a:endParaRPr>
          </a:p>
          <a:p>
            <a:pPr lvl="1" marL="562610" indent="-243840">
              <a:lnSpc>
                <a:spcPct val="100000"/>
              </a:lnSpc>
              <a:spcBef>
                <a:spcPts val="770"/>
              </a:spcBef>
              <a:buClr>
                <a:srgbClr val="4668F5"/>
              </a:buClr>
              <a:buSzPct val="60000"/>
              <a:buFont typeface="Wingdings"/>
              <a:buChar char=""/>
              <a:tabLst>
                <a:tab pos="562610" algn="l"/>
              </a:tabLst>
            </a:pPr>
            <a:r>
              <a:rPr dirty="0" sz="2000" spc="-15" b="1">
                <a:solidFill>
                  <a:srgbClr val="9558A7"/>
                </a:solidFill>
                <a:latin typeface="宋体"/>
                <a:cs typeface="宋体"/>
              </a:rPr>
              <a:t>实现简单，硬件容易实现</a:t>
            </a:r>
            <a:endParaRPr sz="2000">
              <a:latin typeface="宋体"/>
              <a:cs typeface="宋体"/>
            </a:endParaRPr>
          </a:p>
          <a:p>
            <a:pPr lvl="1" marL="498475" indent="-179705">
              <a:lnSpc>
                <a:spcPct val="100000"/>
              </a:lnSpc>
              <a:spcBef>
                <a:spcPts val="720"/>
              </a:spcBef>
              <a:buClr>
                <a:srgbClr val="4668F5"/>
              </a:buClr>
              <a:buSzPct val="60000"/>
              <a:buFont typeface="Wingdings"/>
              <a:buChar char=""/>
              <a:tabLst>
                <a:tab pos="498475" algn="l"/>
              </a:tabLst>
            </a:pPr>
            <a:r>
              <a:rPr dirty="0" sz="2000" spc="-10" b="1">
                <a:solidFill>
                  <a:srgbClr val="00AFEF"/>
                </a:solidFill>
                <a:latin typeface="宋体"/>
                <a:cs typeface="宋体"/>
              </a:rPr>
              <a:t>但未考虑</a:t>
            </a:r>
            <a:r>
              <a:rPr dirty="0" sz="2000" b="1">
                <a:solidFill>
                  <a:srgbClr val="00AFEF"/>
                </a:solidFill>
                <a:latin typeface="Times New Roman"/>
                <a:cs typeface="Times New Roman"/>
              </a:rPr>
              <a:t>cache</a:t>
            </a:r>
            <a:r>
              <a:rPr dirty="0" sz="2000" spc="-25" b="1">
                <a:solidFill>
                  <a:srgbClr val="00AFEF"/>
                </a:solidFill>
                <a:latin typeface="宋体"/>
                <a:cs typeface="宋体"/>
              </a:rPr>
              <a:t>块的历史使用情况，无法反映程序局部性，所以命中率低</a:t>
            </a:r>
            <a:endParaRPr sz="2000">
              <a:latin typeface="宋体"/>
              <a:cs typeface="宋体"/>
            </a:endParaRPr>
          </a:p>
          <a:p>
            <a:pPr marL="283845" indent="-271145">
              <a:lnSpc>
                <a:spcPct val="100000"/>
              </a:lnSpc>
              <a:spcBef>
                <a:spcPts val="815"/>
              </a:spcBef>
              <a:buSzPct val="89583"/>
              <a:buFont typeface="Wingdings"/>
              <a:buChar char=""/>
              <a:tabLst>
                <a:tab pos="283845" algn="l"/>
              </a:tabLst>
            </a:pPr>
            <a:r>
              <a:rPr dirty="0" sz="2400" spc="-10">
                <a:solidFill>
                  <a:srgbClr val="40458B"/>
                </a:solidFill>
                <a:latin typeface="黑体"/>
                <a:cs typeface="黑体"/>
              </a:rPr>
              <a:t>先进先出法</a:t>
            </a:r>
            <a:r>
              <a:rPr dirty="0" sz="2400" spc="-20">
                <a:solidFill>
                  <a:srgbClr val="40458B"/>
                </a:solidFill>
                <a:latin typeface="Times New Roman"/>
                <a:cs typeface="Times New Roman"/>
              </a:rPr>
              <a:t>FIFO(</a:t>
            </a:r>
            <a:r>
              <a:rPr dirty="0" sz="1800" spc="-10">
                <a:solidFill>
                  <a:srgbClr val="40458B"/>
                </a:solidFill>
                <a:latin typeface="黑体"/>
                <a:cs typeface="黑体"/>
              </a:rPr>
              <a:t>选择最早调入的块作为被替换的块</a:t>
            </a:r>
            <a:r>
              <a:rPr dirty="0" sz="2400" spc="-50">
                <a:solidFill>
                  <a:srgbClr val="40458B"/>
                </a:solidFill>
                <a:latin typeface="Times New Roman"/>
                <a:cs typeface="Times New Roman"/>
              </a:rPr>
              <a:t>)</a:t>
            </a:r>
            <a:endParaRPr sz="2400">
              <a:latin typeface="Times New Roman"/>
              <a:cs typeface="Times New Roman"/>
            </a:endParaRPr>
          </a:p>
          <a:p>
            <a:pPr lvl="1" marL="562610" indent="-243840">
              <a:lnSpc>
                <a:spcPct val="100000"/>
              </a:lnSpc>
              <a:spcBef>
                <a:spcPts val="775"/>
              </a:spcBef>
              <a:buClr>
                <a:srgbClr val="4668F5"/>
              </a:buClr>
              <a:buSzPct val="60000"/>
              <a:buFont typeface="Wingdings"/>
              <a:buChar char=""/>
              <a:tabLst>
                <a:tab pos="562610" algn="l"/>
              </a:tabLst>
            </a:pPr>
            <a:r>
              <a:rPr dirty="0" sz="2000" spc="-15" b="1">
                <a:solidFill>
                  <a:srgbClr val="9558A7"/>
                </a:solidFill>
                <a:latin typeface="宋体"/>
                <a:cs typeface="宋体"/>
              </a:rPr>
              <a:t>实现简单，可反映历史信息</a:t>
            </a:r>
            <a:r>
              <a:rPr dirty="0" sz="2000" spc="-10" b="1">
                <a:solidFill>
                  <a:srgbClr val="9558A7"/>
                </a:solidFill>
                <a:latin typeface="宋体"/>
                <a:cs typeface="宋体"/>
              </a:rPr>
              <a:t>（</a:t>
            </a:r>
            <a:r>
              <a:rPr dirty="0" sz="2000" spc="-20" b="1">
                <a:solidFill>
                  <a:srgbClr val="9558A7"/>
                </a:solidFill>
                <a:latin typeface="宋体"/>
                <a:cs typeface="宋体"/>
              </a:rPr>
              <a:t>见组成原理课件中计算方法</a:t>
            </a:r>
            <a:r>
              <a:rPr dirty="0" sz="2000" spc="-60" b="1">
                <a:solidFill>
                  <a:srgbClr val="9558A7"/>
                </a:solidFill>
                <a:latin typeface="宋体"/>
                <a:cs typeface="宋体"/>
              </a:rPr>
              <a:t>）</a:t>
            </a:r>
            <a:endParaRPr sz="2000">
              <a:latin typeface="宋体"/>
              <a:cs typeface="宋体"/>
            </a:endParaRPr>
          </a:p>
          <a:p>
            <a:pPr lvl="1" marL="498475" marR="5080" indent="-180340">
              <a:lnSpc>
                <a:spcPct val="110000"/>
              </a:lnSpc>
              <a:spcBef>
                <a:spcPts val="480"/>
              </a:spcBef>
              <a:buClr>
                <a:srgbClr val="4668F5"/>
              </a:buClr>
              <a:buSzPct val="60000"/>
              <a:buFont typeface="Wingdings"/>
              <a:buChar char=""/>
              <a:tabLst>
                <a:tab pos="498475" algn="l"/>
              </a:tabLst>
            </a:pPr>
            <a:r>
              <a:rPr dirty="0" sz="2000" spc="-20" b="1">
                <a:solidFill>
                  <a:srgbClr val="9558A7"/>
                </a:solidFill>
                <a:latin typeface="宋体"/>
                <a:cs typeface="宋体"/>
              </a:rPr>
              <a:t>每块一个计数器，新装入或替换的块其计数器清</a:t>
            </a:r>
            <a:r>
              <a:rPr dirty="0" sz="2000" spc="-10" b="1">
                <a:solidFill>
                  <a:srgbClr val="9558A7"/>
                </a:solidFill>
                <a:latin typeface="Times New Roman"/>
                <a:cs typeface="Times New Roman"/>
              </a:rPr>
              <a:t>0</a:t>
            </a:r>
            <a:r>
              <a:rPr dirty="0" sz="2000" spc="-20" b="1">
                <a:solidFill>
                  <a:srgbClr val="9558A7"/>
                </a:solidFill>
                <a:latin typeface="宋体"/>
                <a:cs typeface="宋体"/>
              </a:rPr>
              <a:t>，其他块计数器加</a:t>
            </a:r>
            <a:r>
              <a:rPr dirty="0" sz="2000" spc="-10" b="1">
                <a:solidFill>
                  <a:srgbClr val="9558A7"/>
                </a:solidFill>
                <a:latin typeface="Times New Roman"/>
                <a:cs typeface="Times New Roman"/>
              </a:rPr>
              <a:t>1</a:t>
            </a:r>
            <a:r>
              <a:rPr dirty="0" sz="2000" spc="-25" b="1">
                <a:solidFill>
                  <a:srgbClr val="9558A7"/>
                </a:solidFill>
                <a:latin typeface="宋体"/>
                <a:cs typeface="宋体"/>
              </a:rPr>
              <a:t>。选择计数器值最</a:t>
            </a:r>
            <a:r>
              <a:rPr dirty="0" sz="2000" spc="-15" b="1">
                <a:solidFill>
                  <a:srgbClr val="9558A7"/>
                </a:solidFill>
                <a:latin typeface="宋体"/>
                <a:cs typeface="宋体"/>
              </a:rPr>
              <a:t>大的块作为被替换的块</a:t>
            </a:r>
            <a:endParaRPr sz="2000">
              <a:latin typeface="宋体"/>
              <a:cs typeface="宋体"/>
            </a:endParaRPr>
          </a:p>
          <a:p>
            <a:pPr lvl="1" marL="498475" indent="-179705">
              <a:lnSpc>
                <a:spcPct val="100000"/>
              </a:lnSpc>
              <a:spcBef>
                <a:spcPts val="720"/>
              </a:spcBef>
              <a:buClr>
                <a:srgbClr val="4668F5"/>
              </a:buClr>
              <a:buSzPct val="60000"/>
              <a:buFont typeface="Wingdings"/>
              <a:buChar char=""/>
              <a:tabLst>
                <a:tab pos="498475" algn="l"/>
              </a:tabLst>
            </a:pPr>
            <a:r>
              <a:rPr dirty="0" sz="2000" spc="-10" b="1">
                <a:solidFill>
                  <a:srgbClr val="00AFEF"/>
                </a:solidFill>
                <a:latin typeface="宋体"/>
                <a:cs typeface="宋体"/>
              </a:rPr>
              <a:t>不能正确反映程序的局部性</a:t>
            </a:r>
            <a:r>
              <a:rPr dirty="0" sz="2000" spc="-20" b="1">
                <a:solidFill>
                  <a:srgbClr val="00AFEF"/>
                </a:solidFill>
                <a:latin typeface="宋体"/>
                <a:cs typeface="宋体"/>
              </a:rPr>
              <a:t>（最先进入的也可能是经常使用的</a:t>
            </a:r>
            <a:r>
              <a:rPr dirty="0" sz="2000" spc="-50" b="1">
                <a:solidFill>
                  <a:srgbClr val="00AFEF"/>
                </a:solidFill>
                <a:latin typeface="宋体"/>
                <a:cs typeface="宋体"/>
              </a:rPr>
              <a:t>）</a:t>
            </a:r>
            <a:endParaRPr sz="2000">
              <a:latin typeface="宋体"/>
              <a:cs typeface="宋体"/>
            </a:endParaRPr>
          </a:p>
          <a:p>
            <a:pPr marL="283210" indent="-270510">
              <a:lnSpc>
                <a:spcPct val="100000"/>
              </a:lnSpc>
              <a:spcBef>
                <a:spcPts val="815"/>
              </a:spcBef>
              <a:buSzPct val="89583"/>
              <a:buFont typeface="Wingdings"/>
              <a:buChar char=""/>
              <a:tabLst>
                <a:tab pos="283210" algn="l"/>
              </a:tabLst>
            </a:pPr>
            <a:r>
              <a:rPr dirty="0" sz="2400">
                <a:solidFill>
                  <a:srgbClr val="40458B"/>
                </a:solidFill>
                <a:latin typeface="黑体"/>
                <a:cs typeface="黑体"/>
              </a:rPr>
              <a:t>最近最少使用法</a:t>
            </a:r>
            <a:r>
              <a:rPr dirty="0" sz="2400" spc="-10">
                <a:solidFill>
                  <a:srgbClr val="40458B"/>
                </a:solidFill>
                <a:latin typeface="黑体"/>
                <a:cs typeface="黑体"/>
              </a:rPr>
              <a:t>（</a:t>
            </a:r>
            <a:r>
              <a:rPr dirty="0" sz="2400" spc="-10">
                <a:solidFill>
                  <a:srgbClr val="40458B"/>
                </a:solidFill>
                <a:latin typeface="Times New Roman"/>
                <a:cs typeface="Times New Roman"/>
              </a:rPr>
              <a:t>LRU</a:t>
            </a:r>
            <a:r>
              <a:rPr dirty="0" sz="2400" spc="-10">
                <a:solidFill>
                  <a:srgbClr val="40458B"/>
                </a:solidFill>
                <a:latin typeface="黑体"/>
                <a:cs typeface="黑体"/>
              </a:rPr>
              <a:t>）</a:t>
            </a:r>
            <a:r>
              <a:rPr dirty="0" sz="2400" spc="-10">
                <a:solidFill>
                  <a:srgbClr val="40458B"/>
                </a:solidFill>
                <a:latin typeface="Times New Roman"/>
                <a:cs typeface="Times New Roman"/>
              </a:rPr>
              <a:t>(</a:t>
            </a:r>
            <a:r>
              <a:rPr dirty="0" sz="1800">
                <a:solidFill>
                  <a:srgbClr val="40458B"/>
                </a:solidFill>
                <a:latin typeface="黑体"/>
                <a:cs typeface="黑体"/>
              </a:rPr>
              <a:t>选择近期最少被访问的块作为被替换的块</a:t>
            </a:r>
            <a:r>
              <a:rPr dirty="0" sz="2400" spc="-50">
                <a:solidFill>
                  <a:srgbClr val="40458B"/>
                </a:solidFill>
                <a:latin typeface="Times New Roman"/>
                <a:cs typeface="Times New Roman"/>
              </a:rPr>
              <a:t>)</a:t>
            </a:r>
            <a:endParaRPr sz="2400">
              <a:latin typeface="Times New Roman"/>
              <a:cs typeface="Times New Roman"/>
            </a:endParaRPr>
          </a:p>
          <a:p>
            <a:pPr lvl="1" marL="498475" indent="-179705">
              <a:lnSpc>
                <a:spcPct val="100000"/>
              </a:lnSpc>
              <a:spcBef>
                <a:spcPts val="770"/>
              </a:spcBef>
              <a:buClr>
                <a:srgbClr val="006FC0"/>
              </a:buClr>
              <a:buSzPct val="60000"/>
              <a:buFont typeface="Wingdings"/>
              <a:buChar char=""/>
              <a:tabLst>
                <a:tab pos="498475" algn="l"/>
              </a:tabLst>
            </a:pPr>
            <a:r>
              <a:rPr dirty="0" sz="2000" spc="-25" b="1">
                <a:solidFill>
                  <a:srgbClr val="9558A7"/>
                </a:solidFill>
                <a:latin typeface="宋体"/>
                <a:cs typeface="宋体"/>
              </a:rPr>
              <a:t>比较好的反映了程序的局部性原理，命中率高</a:t>
            </a:r>
            <a:endParaRPr sz="2000">
              <a:latin typeface="宋体"/>
              <a:cs typeface="宋体"/>
            </a:endParaRPr>
          </a:p>
          <a:p>
            <a:pPr lvl="1" marL="498475" indent="-179705">
              <a:lnSpc>
                <a:spcPct val="100000"/>
              </a:lnSpc>
              <a:spcBef>
                <a:spcPts val="725"/>
              </a:spcBef>
              <a:buClr>
                <a:srgbClr val="006FC0"/>
              </a:buClr>
              <a:buSzPct val="60000"/>
              <a:buFont typeface="Wingdings"/>
              <a:buChar char=""/>
              <a:tabLst>
                <a:tab pos="498475" algn="l"/>
              </a:tabLst>
            </a:pPr>
            <a:r>
              <a:rPr dirty="0" sz="2000" spc="-15" b="1">
                <a:solidFill>
                  <a:srgbClr val="00AFEF"/>
                </a:solidFill>
                <a:latin typeface="宋体"/>
                <a:cs typeface="宋体"/>
              </a:rPr>
              <a:t>硬件实现成本比较高</a:t>
            </a:r>
            <a:endParaRPr sz="2000">
              <a:latin typeface="宋体"/>
              <a:cs typeface="宋体"/>
            </a:endParaRPr>
          </a:p>
        </p:txBody>
      </p:sp>
      <p:sp>
        <p:nvSpPr>
          <p:cNvPr id="10" name="object 10"/>
          <p:cNvSpPr txBox="1">
            <a:spLocks noGrp="1"/>
          </p:cNvSpPr>
          <p:nvPr>
            <p:ph type="title"/>
          </p:nvPr>
        </p:nvSpPr>
        <p:spPr>
          <a:xfrm>
            <a:off x="1710944" y="63246"/>
            <a:ext cx="2513965" cy="452120"/>
          </a:xfrm>
          <a:prstGeom prst="rect"/>
        </p:spPr>
        <p:txBody>
          <a:bodyPr wrap="square" lIns="0" tIns="12065" rIns="0" bIns="0" rtlCol="0" vert="horz">
            <a:spAutoFit/>
          </a:bodyPr>
          <a:lstStyle/>
          <a:p>
            <a:pPr marL="12700">
              <a:lnSpc>
                <a:spcPct val="100000"/>
              </a:lnSpc>
              <a:spcBef>
                <a:spcPts val="95"/>
              </a:spcBef>
            </a:pPr>
            <a:r>
              <a:rPr dirty="0" u="none">
                <a:solidFill>
                  <a:srgbClr val="0000CC"/>
                </a:solidFill>
              </a:rPr>
              <a:t>7.2.5</a:t>
            </a:r>
            <a:r>
              <a:rPr dirty="0" u="none" spc="-45">
                <a:solidFill>
                  <a:srgbClr val="0000CC"/>
                </a:solidFill>
              </a:rPr>
              <a:t> 替换算法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08151" y="666724"/>
            <a:ext cx="10895330" cy="4848225"/>
          </a:xfrm>
          <a:prstGeom prst="rect">
            <a:avLst/>
          </a:prstGeom>
        </p:spPr>
        <p:txBody>
          <a:bodyPr wrap="square" lIns="0" tIns="168275" rIns="0" bIns="0" rtlCol="0" vert="horz">
            <a:spAutoFit/>
          </a:bodyPr>
          <a:lstStyle/>
          <a:p>
            <a:pPr marL="469900" indent="-457200">
              <a:lnSpc>
                <a:spcPct val="100000"/>
              </a:lnSpc>
              <a:spcBef>
                <a:spcPts val="1325"/>
              </a:spcBef>
              <a:buSzPct val="89583"/>
              <a:buFont typeface="Wingdings"/>
              <a:buChar char=""/>
              <a:tabLst>
                <a:tab pos="469900" algn="l"/>
              </a:tabLst>
            </a:pPr>
            <a:r>
              <a:rPr dirty="0" sz="2400" spc="-10">
                <a:solidFill>
                  <a:srgbClr val="40458B"/>
                </a:solidFill>
                <a:latin typeface="黑体"/>
                <a:cs typeface="黑体"/>
              </a:rPr>
              <a:t>最近最少使用法</a:t>
            </a:r>
            <a:r>
              <a:rPr dirty="0" sz="2400" spc="-25">
                <a:solidFill>
                  <a:srgbClr val="40458B"/>
                </a:solidFill>
                <a:latin typeface="黑体"/>
                <a:cs typeface="黑体"/>
              </a:rPr>
              <a:t>LRU</a:t>
            </a:r>
            <a:endParaRPr sz="2400">
              <a:latin typeface="黑体"/>
              <a:cs typeface="黑体"/>
            </a:endParaRPr>
          </a:p>
          <a:p>
            <a:pPr lvl="1" marL="1097915" indent="-457200">
              <a:lnSpc>
                <a:spcPct val="100000"/>
              </a:lnSpc>
              <a:spcBef>
                <a:spcPts val="1030"/>
              </a:spcBef>
              <a:buClr>
                <a:srgbClr val="4668F5"/>
              </a:buClr>
              <a:buSzPct val="60000"/>
              <a:buFont typeface="Wingdings"/>
              <a:buChar char=""/>
              <a:tabLst>
                <a:tab pos="1097915" algn="l"/>
              </a:tabLst>
            </a:pPr>
            <a:r>
              <a:rPr dirty="0" sz="2000" spc="-25" b="1">
                <a:solidFill>
                  <a:srgbClr val="00AFEF"/>
                </a:solidFill>
                <a:latin typeface="宋体"/>
                <a:cs typeface="宋体"/>
              </a:rPr>
              <a:t>选择近期最少被访问的块作为被替换的块。</a:t>
            </a:r>
            <a:endParaRPr sz="2000">
              <a:latin typeface="宋体"/>
              <a:cs typeface="宋体"/>
            </a:endParaRPr>
          </a:p>
          <a:p>
            <a:pPr marL="1663064">
              <a:lnSpc>
                <a:spcPct val="100000"/>
              </a:lnSpc>
              <a:spcBef>
                <a:spcPts val="960"/>
              </a:spcBef>
            </a:pPr>
            <a:r>
              <a:rPr dirty="0" sz="2000" spc="-10" b="1">
                <a:solidFill>
                  <a:srgbClr val="660066"/>
                </a:solidFill>
                <a:latin typeface="宋体"/>
                <a:cs typeface="宋体"/>
              </a:rPr>
              <a:t>（</a:t>
            </a:r>
            <a:r>
              <a:rPr dirty="0" sz="2000" spc="-20" b="1">
                <a:solidFill>
                  <a:srgbClr val="660066"/>
                </a:solidFill>
                <a:latin typeface="宋体"/>
                <a:cs typeface="宋体"/>
              </a:rPr>
              <a:t>实现比较困难，依据局部性原理：最近使用的可能就是马上要用到的</a:t>
            </a:r>
            <a:r>
              <a:rPr dirty="0" sz="2000" spc="-50" b="1">
                <a:solidFill>
                  <a:srgbClr val="660066"/>
                </a:solidFill>
                <a:latin typeface="宋体"/>
                <a:cs typeface="宋体"/>
              </a:rPr>
              <a:t>）</a:t>
            </a:r>
            <a:endParaRPr sz="2000">
              <a:latin typeface="宋体"/>
              <a:cs typeface="宋体"/>
            </a:endParaRPr>
          </a:p>
          <a:p>
            <a:pPr lvl="1" marL="1097915" marR="5080" indent="-457200">
              <a:lnSpc>
                <a:spcPct val="120100"/>
              </a:lnSpc>
              <a:spcBef>
                <a:spcPts val="475"/>
              </a:spcBef>
              <a:buClr>
                <a:srgbClr val="4668F5"/>
              </a:buClr>
              <a:buSzPct val="60000"/>
              <a:buFont typeface="Wingdings"/>
              <a:buChar char=""/>
              <a:tabLst>
                <a:tab pos="1097915" algn="l"/>
              </a:tabLst>
            </a:pPr>
            <a:r>
              <a:rPr dirty="0" sz="2000" spc="-20" b="1">
                <a:solidFill>
                  <a:srgbClr val="00AFEF"/>
                </a:solidFill>
                <a:latin typeface="宋体"/>
                <a:cs typeface="宋体"/>
              </a:rPr>
              <a:t>每一块设置一个计数器，新装入或替换的块其计数器清</a:t>
            </a:r>
            <a:r>
              <a:rPr dirty="0" sz="2000" spc="-10" b="1">
                <a:solidFill>
                  <a:srgbClr val="00AFEF"/>
                </a:solidFill>
                <a:latin typeface="Tahoma"/>
                <a:cs typeface="Tahoma"/>
              </a:rPr>
              <a:t>0</a:t>
            </a:r>
            <a:r>
              <a:rPr dirty="0" sz="2000" spc="-20" b="1">
                <a:solidFill>
                  <a:srgbClr val="00AFEF"/>
                </a:solidFill>
                <a:latin typeface="宋体"/>
                <a:cs typeface="宋体"/>
              </a:rPr>
              <a:t>，其他块计数器加</a:t>
            </a:r>
            <a:r>
              <a:rPr dirty="0" sz="2000" spc="-10" b="1">
                <a:solidFill>
                  <a:srgbClr val="00AFEF"/>
                </a:solidFill>
                <a:latin typeface="Tahoma"/>
                <a:cs typeface="Tahoma"/>
              </a:rPr>
              <a:t>1</a:t>
            </a:r>
            <a:r>
              <a:rPr dirty="0" sz="2000" spc="-25" b="1">
                <a:solidFill>
                  <a:srgbClr val="00AFEF"/>
                </a:solidFill>
                <a:latin typeface="宋体"/>
                <a:cs typeface="宋体"/>
              </a:rPr>
              <a:t>。选择计数</a:t>
            </a:r>
            <a:r>
              <a:rPr dirty="0" sz="2000" spc="-15" b="1">
                <a:solidFill>
                  <a:srgbClr val="00AFEF"/>
                </a:solidFill>
                <a:latin typeface="宋体"/>
                <a:cs typeface="宋体"/>
              </a:rPr>
              <a:t>器值最大的块作为被替换的块</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10" b="1">
                <a:solidFill>
                  <a:srgbClr val="FF5CFF"/>
                </a:solidFill>
                <a:latin typeface="宋体"/>
                <a:cs typeface="宋体"/>
              </a:rPr>
              <a:t>需要替换时，</a:t>
            </a:r>
            <a:r>
              <a:rPr dirty="0" sz="2000" spc="-25" b="1">
                <a:solidFill>
                  <a:srgbClr val="00AFEF"/>
                </a:solidFill>
                <a:latin typeface="宋体"/>
                <a:cs typeface="宋体"/>
              </a:rPr>
              <a:t>在同组中所有计数器中选择计数值最大的计数器，它所对应的块被替换</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10" b="1">
                <a:solidFill>
                  <a:srgbClr val="D50092"/>
                </a:solidFill>
                <a:latin typeface="宋体"/>
                <a:cs typeface="宋体"/>
              </a:rPr>
              <a:t>实际上：</a:t>
            </a:r>
            <a:r>
              <a:rPr dirty="0" sz="2000" spc="-25" b="1">
                <a:solidFill>
                  <a:srgbClr val="00AFEF"/>
                </a:solidFill>
                <a:latin typeface="宋体"/>
                <a:cs typeface="宋体"/>
              </a:rPr>
              <a:t>选择最久没有被访问过的块作为被替换的块。</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15" b="1">
                <a:solidFill>
                  <a:srgbClr val="D50092"/>
                </a:solidFill>
                <a:latin typeface="宋体"/>
                <a:cs typeface="宋体"/>
              </a:rPr>
              <a:t>优点：</a:t>
            </a:r>
            <a:r>
              <a:rPr dirty="0" sz="2000" spc="-30" b="1">
                <a:solidFill>
                  <a:srgbClr val="00AFEF"/>
                </a:solidFill>
                <a:latin typeface="宋体"/>
                <a:cs typeface="宋体"/>
              </a:rPr>
              <a:t>命中率较高，能充分利用局部性原理</a:t>
            </a:r>
            <a:endParaRPr sz="2000">
              <a:latin typeface="宋体"/>
              <a:cs typeface="宋体"/>
            </a:endParaRPr>
          </a:p>
          <a:p>
            <a:pPr lvl="1" marL="1097915" indent="-457200">
              <a:lnSpc>
                <a:spcPct val="100000"/>
              </a:lnSpc>
              <a:spcBef>
                <a:spcPts val="965"/>
              </a:spcBef>
              <a:buClr>
                <a:srgbClr val="4668F5"/>
              </a:buClr>
              <a:buSzPct val="60000"/>
              <a:buFont typeface="Wingdings"/>
              <a:buChar char=""/>
              <a:tabLst>
                <a:tab pos="1097915" algn="l"/>
              </a:tabLst>
            </a:pPr>
            <a:r>
              <a:rPr dirty="0" sz="2000" spc="-10" b="1">
                <a:solidFill>
                  <a:srgbClr val="C00000"/>
                </a:solidFill>
                <a:latin typeface="宋体"/>
                <a:cs typeface="宋体"/>
              </a:rPr>
              <a:t>缺点：</a:t>
            </a:r>
            <a:r>
              <a:rPr dirty="0" sz="2000" spc="-25" b="1">
                <a:solidFill>
                  <a:srgbClr val="00AFEF"/>
                </a:solidFill>
                <a:latin typeface="宋体"/>
                <a:cs typeface="宋体"/>
              </a:rPr>
              <a:t>控制逻辑复杂，增加判断和处理是否命中的处理情况</a:t>
            </a:r>
            <a:endParaRPr sz="2000">
              <a:latin typeface="宋体"/>
              <a:cs typeface="宋体"/>
            </a:endParaRPr>
          </a:p>
          <a:p>
            <a:pPr marL="469900" indent="-457200">
              <a:lnSpc>
                <a:spcPct val="100000"/>
              </a:lnSpc>
              <a:spcBef>
                <a:spcPts val="1085"/>
              </a:spcBef>
              <a:buSzPct val="89583"/>
              <a:buFont typeface="Wingdings"/>
              <a:buChar char=""/>
              <a:tabLst>
                <a:tab pos="469900" algn="l"/>
              </a:tabLst>
            </a:pPr>
            <a:r>
              <a:rPr dirty="0" sz="2400" spc="-20">
                <a:solidFill>
                  <a:srgbClr val="40458B"/>
                </a:solidFill>
                <a:latin typeface="Tahoma"/>
                <a:cs typeface="Tahoma"/>
              </a:rPr>
              <a:t>LRU</a:t>
            </a:r>
            <a:r>
              <a:rPr dirty="0" sz="2400" spc="-5">
                <a:solidFill>
                  <a:srgbClr val="40458B"/>
                </a:solidFill>
                <a:latin typeface="黑体"/>
                <a:cs typeface="黑体"/>
              </a:rPr>
              <a:t>和随机法分别因其不命中率低和实现简单而被广泛采用。</a:t>
            </a:r>
            <a:endParaRPr sz="2400">
              <a:latin typeface="黑体"/>
              <a:cs typeface="黑体"/>
            </a:endParaRPr>
          </a:p>
          <a:p>
            <a:pPr lvl="1" marL="1097915" indent="-457200">
              <a:lnSpc>
                <a:spcPct val="100000"/>
              </a:lnSpc>
              <a:spcBef>
                <a:spcPts val="1030"/>
              </a:spcBef>
              <a:buClr>
                <a:srgbClr val="4668F5"/>
              </a:buClr>
              <a:buSzPct val="60000"/>
              <a:buFont typeface="Wingdings"/>
              <a:buChar char=""/>
              <a:tabLst>
                <a:tab pos="1097915" algn="l"/>
              </a:tabLst>
            </a:pPr>
            <a:r>
              <a:rPr dirty="0" sz="2000" spc="-15" b="1">
                <a:solidFill>
                  <a:srgbClr val="00AFEF"/>
                </a:solidFill>
                <a:latin typeface="宋体"/>
                <a:cs typeface="宋体"/>
              </a:rPr>
              <a:t>模拟数据表明，对于容量很大的</a:t>
            </a:r>
            <a:r>
              <a:rPr dirty="0" sz="2000" spc="-10" b="1">
                <a:solidFill>
                  <a:srgbClr val="00AFEF"/>
                </a:solidFill>
                <a:latin typeface="Times New Roman"/>
                <a:cs typeface="Times New Roman"/>
              </a:rPr>
              <a:t>Cache</a:t>
            </a:r>
            <a:r>
              <a:rPr dirty="0" sz="2000" spc="-10" b="1">
                <a:solidFill>
                  <a:srgbClr val="00AFEF"/>
                </a:solidFill>
                <a:latin typeface="宋体"/>
                <a:cs typeface="宋体"/>
              </a:rPr>
              <a:t>，</a:t>
            </a:r>
            <a:r>
              <a:rPr dirty="0" sz="2000" spc="-10" b="1">
                <a:solidFill>
                  <a:srgbClr val="00AFEF"/>
                </a:solidFill>
                <a:latin typeface="Times New Roman"/>
                <a:cs typeface="Times New Roman"/>
              </a:rPr>
              <a:t>LRU</a:t>
            </a:r>
            <a:r>
              <a:rPr dirty="0" sz="2000" spc="-25" b="1">
                <a:solidFill>
                  <a:srgbClr val="00AFEF"/>
                </a:solidFill>
                <a:latin typeface="宋体"/>
                <a:cs typeface="宋体"/>
              </a:rPr>
              <a:t>和随机法的命中率差别不大。</a:t>
            </a:r>
            <a:endParaRPr sz="2000">
              <a:latin typeface="宋体"/>
              <a:cs typeface="宋体"/>
            </a:endParaRPr>
          </a:p>
        </p:txBody>
      </p:sp>
      <p:sp>
        <p:nvSpPr>
          <p:cNvPr id="10" name="object 10"/>
          <p:cNvSpPr txBox="1">
            <a:spLocks noGrp="1"/>
          </p:cNvSpPr>
          <p:nvPr>
            <p:ph type="title"/>
          </p:nvPr>
        </p:nvSpPr>
        <p:spPr>
          <a:xfrm>
            <a:off x="1710944" y="63246"/>
            <a:ext cx="2513965" cy="452120"/>
          </a:xfrm>
          <a:prstGeom prst="rect"/>
        </p:spPr>
        <p:txBody>
          <a:bodyPr wrap="square" lIns="0" tIns="12065" rIns="0" bIns="0" rtlCol="0" vert="horz">
            <a:spAutoFit/>
          </a:bodyPr>
          <a:lstStyle/>
          <a:p>
            <a:pPr marL="12700">
              <a:lnSpc>
                <a:spcPct val="100000"/>
              </a:lnSpc>
              <a:spcBef>
                <a:spcPts val="95"/>
              </a:spcBef>
            </a:pPr>
            <a:r>
              <a:rPr dirty="0" u="none">
                <a:solidFill>
                  <a:srgbClr val="0000CC"/>
                </a:solidFill>
              </a:rPr>
              <a:t>7.2.5</a:t>
            </a:r>
            <a:r>
              <a:rPr dirty="0" u="none" spc="-45">
                <a:solidFill>
                  <a:srgbClr val="0000CC"/>
                </a:solidFill>
              </a:rPr>
              <a:t> 替换算法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42/170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896616" y="214376"/>
            <a:ext cx="218694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F55AC"/>
                </a:solidFill>
                <a:latin typeface="黑体"/>
                <a:cs typeface="黑体"/>
              </a:rPr>
              <a:t>7.2</a:t>
            </a:r>
            <a:r>
              <a:rPr dirty="0" sz="2000" spc="30">
                <a:solidFill>
                  <a:srgbClr val="4F55AC"/>
                </a:solidFill>
                <a:latin typeface="黑体"/>
                <a:cs typeface="黑体"/>
              </a:rPr>
              <a:t> </a:t>
            </a:r>
            <a:r>
              <a:rPr dirty="0" sz="2000" spc="-10">
                <a:solidFill>
                  <a:srgbClr val="4F55AC"/>
                </a:solidFill>
                <a:latin typeface="黑体"/>
                <a:cs typeface="黑体"/>
              </a:rPr>
              <a:t>Cache</a:t>
            </a:r>
            <a:r>
              <a:rPr dirty="0" sz="2000" spc="-15">
                <a:solidFill>
                  <a:srgbClr val="4F55AC"/>
                </a:solidFill>
                <a:latin typeface="黑体"/>
                <a:cs typeface="黑体"/>
              </a:rPr>
              <a:t>基本知识</a:t>
            </a:r>
            <a:endParaRPr sz="2000">
              <a:latin typeface="黑体"/>
              <a:cs typeface="黑体"/>
            </a:endParaRPr>
          </a:p>
        </p:txBody>
      </p:sp>
      <p:sp>
        <p:nvSpPr>
          <p:cNvPr id="10" name="object 10"/>
          <p:cNvSpPr txBox="1">
            <a:spLocks noGrp="1"/>
          </p:cNvSpPr>
          <p:nvPr>
            <p:ph type="title"/>
          </p:nvPr>
        </p:nvSpPr>
        <p:spPr>
          <a:xfrm>
            <a:off x="270763" y="1010158"/>
            <a:ext cx="4521835" cy="391160"/>
          </a:xfrm>
          <a:prstGeom prst="rect"/>
        </p:spPr>
        <p:txBody>
          <a:bodyPr wrap="square" lIns="0" tIns="12700" rIns="0" bIns="0" rtlCol="0" vert="horz">
            <a:spAutoFit/>
          </a:bodyPr>
          <a:lstStyle/>
          <a:p>
            <a:pPr marL="12700">
              <a:lnSpc>
                <a:spcPct val="100000"/>
              </a:lnSpc>
              <a:spcBef>
                <a:spcPts val="100"/>
              </a:spcBef>
              <a:tabLst>
                <a:tab pos="469900" algn="l"/>
              </a:tabLst>
            </a:pPr>
            <a:r>
              <a:rPr dirty="0" u="none" sz="2400" spc="-25">
                <a:solidFill>
                  <a:srgbClr val="40458B"/>
                </a:solidFill>
                <a:latin typeface="Times New Roman"/>
                <a:cs typeface="Times New Roman"/>
              </a:rPr>
              <a:t>2.</a:t>
            </a:r>
            <a:r>
              <a:rPr dirty="0" u="none" sz="2400">
                <a:solidFill>
                  <a:srgbClr val="40458B"/>
                </a:solidFill>
                <a:latin typeface="Times New Roman"/>
                <a:cs typeface="Times New Roman"/>
              </a:rPr>
              <a:t>	</a:t>
            </a:r>
            <a:r>
              <a:rPr dirty="0" u="none" sz="2400" spc="-10">
                <a:solidFill>
                  <a:srgbClr val="E14B04"/>
                </a:solidFill>
                <a:latin typeface="Times New Roman"/>
                <a:cs typeface="Times New Roman"/>
              </a:rPr>
              <a:t>LRU</a:t>
            </a:r>
            <a:r>
              <a:rPr dirty="0" u="none" sz="2400" spc="-75">
                <a:solidFill>
                  <a:srgbClr val="E14B04"/>
                </a:solidFill>
              </a:rPr>
              <a:t>算法的硬件实现 </a:t>
            </a:r>
            <a:r>
              <a:rPr dirty="0" u="none" sz="2400">
                <a:solidFill>
                  <a:srgbClr val="E14B04"/>
                </a:solidFill>
              </a:rPr>
              <a:t>（自学</a:t>
            </a:r>
            <a:r>
              <a:rPr dirty="0" u="none" sz="2400" spc="-50">
                <a:solidFill>
                  <a:srgbClr val="E14B04"/>
                </a:solidFill>
              </a:rPr>
              <a:t>）</a:t>
            </a:r>
            <a:endParaRPr sz="2400">
              <a:latin typeface="Times New Roman"/>
              <a:cs typeface="Times New Roman"/>
            </a:endParaRPr>
          </a:p>
        </p:txBody>
      </p:sp>
      <p:sp>
        <p:nvSpPr>
          <p:cNvPr id="11" name="object 11" descr=""/>
          <p:cNvSpPr txBox="1"/>
          <p:nvPr/>
        </p:nvSpPr>
        <p:spPr>
          <a:xfrm>
            <a:off x="900480" y="1338835"/>
            <a:ext cx="10111740" cy="2800985"/>
          </a:xfrm>
          <a:prstGeom prst="rect">
            <a:avLst/>
          </a:prstGeom>
        </p:spPr>
        <p:txBody>
          <a:bodyPr wrap="square" lIns="0" tIns="195580" rIns="0" bIns="0" rtlCol="0" vert="horz">
            <a:spAutoFit/>
          </a:bodyPr>
          <a:lstStyle/>
          <a:p>
            <a:pPr marL="469265" indent="-456565">
              <a:lnSpc>
                <a:spcPct val="100000"/>
              </a:lnSpc>
              <a:spcBef>
                <a:spcPts val="1540"/>
              </a:spcBef>
              <a:buSzPct val="89583"/>
              <a:buFont typeface="Wingdings"/>
              <a:buChar char=""/>
              <a:tabLst>
                <a:tab pos="469265" algn="l"/>
              </a:tabLst>
            </a:pPr>
            <a:r>
              <a:rPr dirty="0" sz="2400" spc="-25">
                <a:solidFill>
                  <a:srgbClr val="40458B"/>
                </a:solidFill>
                <a:latin typeface="黑体"/>
                <a:cs typeface="黑体"/>
              </a:rPr>
              <a:t>堆栈法</a:t>
            </a:r>
            <a:endParaRPr sz="2400">
              <a:latin typeface="黑体"/>
              <a:cs typeface="黑体"/>
            </a:endParaRPr>
          </a:p>
          <a:p>
            <a:pPr lvl="1" marL="1097280" indent="-457200">
              <a:lnSpc>
                <a:spcPct val="100000"/>
              </a:lnSpc>
              <a:spcBef>
                <a:spcPts val="1210"/>
              </a:spcBef>
              <a:buClr>
                <a:srgbClr val="4668F5"/>
              </a:buClr>
              <a:buSzPct val="60000"/>
              <a:buFont typeface="Wingdings"/>
              <a:buChar char=""/>
              <a:tabLst>
                <a:tab pos="1097280" algn="l"/>
              </a:tabLst>
            </a:pPr>
            <a:r>
              <a:rPr dirty="0" sz="2000" spc="-10" b="1">
                <a:solidFill>
                  <a:srgbClr val="00AFEF"/>
                </a:solidFill>
                <a:latin typeface="宋体"/>
                <a:cs typeface="宋体"/>
              </a:rPr>
              <a:t>用一个堆栈来记录组相联</a:t>
            </a:r>
            <a:r>
              <a:rPr dirty="0" sz="2000" spc="-10" b="1">
                <a:solidFill>
                  <a:srgbClr val="00AFEF"/>
                </a:solidFill>
                <a:latin typeface="Times New Roman"/>
                <a:cs typeface="Times New Roman"/>
              </a:rPr>
              <a:t>Cache</a:t>
            </a:r>
            <a:r>
              <a:rPr dirty="0" sz="2000" spc="-25" b="1">
                <a:solidFill>
                  <a:srgbClr val="00AFEF"/>
                </a:solidFill>
                <a:latin typeface="宋体"/>
                <a:cs typeface="宋体"/>
              </a:rPr>
              <a:t>的同一组中各块被访问的先后次序。</a:t>
            </a:r>
            <a:endParaRPr sz="2000">
              <a:latin typeface="宋体"/>
              <a:cs typeface="宋体"/>
            </a:endParaRPr>
          </a:p>
          <a:p>
            <a:pPr lvl="1" marL="1097280" indent="-457200">
              <a:lnSpc>
                <a:spcPct val="100000"/>
              </a:lnSpc>
              <a:spcBef>
                <a:spcPts val="1200"/>
              </a:spcBef>
              <a:buClr>
                <a:srgbClr val="4668F5"/>
              </a:buClr>
              <a:buSzPct val="60000"/>
              <a:buFont typeface="Wingdings"/>
              <a:buChar char=""/>
              <a:tabLst>
                <a:tab pos="1097280" algn="l"/>
              </a:tabLst>
            </a:pPr>
            <a:r>
              <a:rPr dirty="0" sz="2000" spc="-25" b="1">
                <a:solidFill>
                  <a:srgbClr val="00AFEF"/>
                </a:solidFill>
                <a:latin typeface="宋体"/>
                <a:cs typeface="宋体"/>
              </a:rPr>
              <a:t>用堆栈元素的物理位置来反映先后次序</a:t>
            </a:r>
            <a:endParaRPr sz="2000">
              <a:latin typeface="宋体"/>
              <a:cs typeface="宋体"/>
            </a:endParaRPr>
          </a:p>
          <a:p>
            <a:pPr lvl="2" marL="1657985" indent="-381000">
              <a:lnSpc>
                <a:spcPct val="100000"/>
              </a:lnSpc>
              <a:spcBef>
                <a:spcPts val="1200"/>
              </a:spcBef>
              <a:buClr>
                <a:srgbClr val="006600"/>
              </a:buClr>
              <a:buSzPct val="65000"/>
              <a:buFont typeface="Wingdings"/>
              <a:buChar char=""/>
              <a:tabLst>
                <a:tab pos="1657985" algn="l"/>
              </a:tabLst>
            </a:pPr>
            <a:r>
              <a:rPr dirty="0" sz="2000" spc="-30" b="1">
                <a:solidFill>
                  <a:srgbClr val="40458B"/>
                </a:solidFill>
                <a:latin typeface="宋体"/>
                <a:cs typeface="宋体"/>
              </a:rPr>
              <a:t>栈底记录的是该组中最早被访问过的块，次栈底记录的是该组中第二个被访</a:t>
            </a:r>
            <a:endParaRPr sz="2000">
              <a:latin typeface="宋体"/>
              <a:cs typeface="宋体"/>
            </a:endParaRPr>
          </a:p>
          <a:p>
            <a:pPr marL="1657985">
              <a:lnSpc>
                <a:spcPct val="100000"/>
              </a:lnSpc>
              <a:spcBef>
                <a:spcPts val="720"/>
              </a:spcBef>
            </a:pPr>
            <a:r>
              <a:rPr dirty="0" sz="2000" spc="-10" b="1">
                <a:solidFill>
                  <a:srgbClr val="40458B"/>
                </a:solidFill>
                <a:latin typeface="宋体"/>
                <a:cs typeface="宋体"/>
              </a:rPr>
              <a:t>问过的块，</a:t>
            </a:r>
            <a:r>
              <a:rPr dirty="0" sz="2000" spc="-10" b="1">
                <a:solidFill>
                  <a:srgbClr val="40458B"/>
                </a:solidFill>
                <a:latin typeface="Times New Roman"/>
                <a:cs typeface="Times New Roman"/>
              </a:rPr>
              <a:t>…</a:t>
            </a:r>
            <a:r>
              <a:rPr dirty="0" sz="2000" spc="-25" b="1">
                <a:solidFill>
                  <a:srgbClr val="40458B"/>
                </a:solidFill>
                <a:latin typeface="宋体"/>
                <a:cs typeface="宋体"/>
              </a:rPr>
              <a:t>，栈顶记录的是刚访问过的块。</a:t>
            </a:r>
            <a:endParaRPr sz="2000">
              <a:latin typeface="宋体"/>
              <a:cs typeface="宋体"/>
            </a:endParaRPr>
          </a:p>
          <a:p>
            <a:pPr lvl="2" marL="1657985" indent="-381000">
              <a:lnSpc>
                <a:spcPct val="100000"/>
              </a:lnSpc>
              <a:spcBef>
                <a:spcPts val="1200"/>
              </a:spcBef>
              <a:buClr>
                <a:srgbClr val="006600"/>
              </a:buClr>
              <a:buSzPct val="65000"/>
              <a:buFont typeface="Wingdings"/>
              <a:buChar char=""/>
              <a:tabLst>
                <a:tab pos="1657985" algn="l"/>
              </a:tabLst>
            </a:pPr>
            <a:r>
              <a:rPr dirty="0" sz="2000" spc="-20" b="1">
                <a:solidFill>
                  <a:srgbClr val="40458B"/>
                </a:solidFill>
                <a:latin typeface="宋体"/>
                <a:cs typeface="宋体"/>
              </a:rPr>
              <a:t>当需要替换时，从栈底得到应该被替换的块</a:t>
            </a:r>
            <a:r>
              <a:rPr dirty="0" sz="2000" spc="-10" b="1">
                <a:solidFill>
                  <a:srgbClr val="40458B"/>
                </a:solidFill>
                <a:latin typeface="宋体"/>
                <a:cs typeface="宋体"/>
              </a:rPr>
              <a:t>（</a:t>
            </a:r>
            <a:r>
              <a:rPr dirty="0" sz="2000" spc="-15" b="1">
                <a:solidFill>
                  <a:srgbClr val="40458B"/>
                </a:solidFill>
                <a:latin typeface="宋体"/>
                <a:cs typeface="宋体"/>
              </a:rPr>
              <a:t>块地址</a:t>
            </a:r>
            <a:r>
              <a:rPr dirty="0" sz="2000" spc="-10" b="1">
                <a:solidFill>
                  <a:srgbClr val="40458B"/>
                </a:solidFill>
                <a:latin typeface="宋体"/>
                <a:cs typeface="宋体"/>
              </a:rPr>
              <a:t>）</a:t>
            </a:r>
            <a:r>
              <a:rPr dirty="0" sz="2000" spc="-50" b="1">
                <a:solidFill>
                  <a:srgbClr val="40458B"/>
                </a:solidFill>
                <a:latin typeface="宋体"/>
                <a:cs typeface="宋体"/>
              </a:rPr>
              <a:t>。</a:t>
            </a:r>
            <a:endParaRPr sz="2000">
              <a:latin typeface="宋体"/>
              <a:cs typeface="宋体"/>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990091" y="1041009"/>
            <a:ext cx="10884535" cy="3301365"/>
          </a:xfrm>
          <a:prstGeom prst="rect">
            <a:avLst/>
          </a:prstGeom>
        </p:spPr>
        <p:txBody>
          <a:bodyPr wrap="square" lIns="0" tIns="147955" rIns="0" bIns="0" rtlCol="0" vert="horz">
            <a:spAutoFit/>
          </a:bodyPr>
          <a:lstStyle/>
          <a:p>
            <a:pPr marL="12700">
              <a:lnSpc>
                <a:spcPct val="100000"/>
              </a:lnSpc>
              <a:spcBef>
                <a:spcPts val="1165"/>
              </a:spcBef>
            </a:pPr>
            <a:r>
              <a:rPr dirty="0" sz="2800" spc="-40">
                <a:solidFill>
                  <a:srgbClr val="E14B04"/>
                </a:solidFill>
                <a:latin typeface="黑体"/>
                <a:cs typeface="黑体"/>
              </a:rPr>
              <a:t>写策略</a:t>
            </a:r>
            <a:endParaRPr sz="2800">
              <a:latin typeface="黑体"/>
              <a:cs typeface="黑体"/>
            </a:endParaRPr>
          </a:p>
          <a:p>
            <a:pPr marL="354965" indent="-342265">
              <a:lnSpc>
                <a:spcPct val="100000"/>
              </a:lnSpc>
              <a:spcBef>
                <a:spcPts val="915"/>
              </a:spcBef>
              <a:buClr>
                <a:srgbClr val="40458B"/>
              </a:buClr>
              <a:buSzPct val="81250"/>
              <a:buFont typeface="Wingdings"/>
              <a:buChar char=""/>
              <a:tabLst>
                <a:tab pos="354965" algn="l"/>
              </a:tabLst>
            </a:pPr>
            <a:r>
              <a:rPr dirty="0" sz="2400">
                <a:solidFill>
                  <a:srgbClr val="006FC0"/>
                </a:solidFill>
                <a:latin typeface="宋体"/>
                <a:cs typeface="宋体"/>
              </a:rPr>
              <a:t>cache</a:t>
            </a:r>
            <a:r>
              <a:rPr dirty="0" sz="2400" spc="-5">
                <a:solidFill>
                  <a:srgbClr val="006FC0"/>
                </a:solidFill>
                <a:latin typeface="黑体"/>
                <a:cs typeface="黑体"/>
              </a:rPr>
              <a:t>的内容是部分主存内容的副本，应该与主存内容保持一致。</a:t>
            </a:r>
            <a:endParaRPr sz="2400">
              <a:latin typeface="黑体"/>
              <a:cs typeface="黑体"/>
            </a:endParaRPr>
          </a:p>
          <a:p>
            <a:pPr marL="354965" indent="-342265">
              <a:lnSpc>
                <a:spcPct val="100000"/>
              </a:lnSpc>
              <a:spcBef>
                <a:spcPts val="865"/>
              </a:spcBef>
              <a:buClr>
                <a:srgbClr val="40458B"/>
              </a:buClr>
              <a:buSzPct val="81250"/>
              <a:buFont typeface="Wingdings"/>
              <a:buChar char=""/>
              <a:tabLst>
                <a:tab pos="354965" algn="l"/>
              </a:tabLst>
            </a:pPr>
            <a:r>
              <a:rPr dirty="0" sz="2400" spc="-10">
                <a:solidFill>
                  <a:srgbClr val="006FC0"/>
                </a:solidFill>
                <a:latin typeface="黑体"/>
                <a:cs typeface="黑体"/>
              </a:rPr>
              <a:t>而</a:t>
            </a:r>
            <a:r>
              <a:rPr dirty="0" sz="2400" spc="-10">
                <a:solidFill>
                  <a:srgbClr val="006FC0"/>
                </a:solidFill>
                <a:latin typeface="宋体"/>
                <a:cs typeface="宋体"/>
              </a:rPr>
              <a:t>CPU</a:t>
            </a:r>
            <a:r>
              <a:rPr dirty="0" sz="2400" spc="-10">
                <a:solidFill>
                  <a:srgbClr val="006FC0"/>
                </a:solidFill>
                <a:latin typeface="黑体"/>
                <a:cs typeface="黑体"/>
              </a:rPr>
              <a:t>对</a:t>
            </a:r>
            <a:r>
              <a:rPr dirty="0" sz="2400" spc="-10">
                <a:solidFill>
                  <a:srgbClr val="006FC0"/>
                </a:solidFill>
                <a:latin typeface="宋体"/>
                <a:cs typeface="宋体"/>
              </a:rPr>
              <a:t>cache</a:t>
            </a:r>
            <a:r>
              <a:rPr dirty="0" sz="2400" spc="-10">
                <a:solidFill>
                  <a:srgbClr val="006FC0"/>
                </a:solidFill>
                <a:latin typeface="黑体"/>
                <a:cs typeface="黑体"/>
              </a:rPr>
              <a:t>的写入更改了</a:t>
            </a:r>
            <a:r>
              <a:rPr dirty="0" sz="2400" spc="-10">
                <a:solidFill>
                  <a:srgbClr val="006FC0"/>
                </a:solidFill>
                <a:latin typeface="宋体"/>
                <a:cs typeface="宋体"/>
              </a:rPr>
              <a:t>cache</a:t>
            </a:r>
            <a:r>
              <a:rPr dirty="0" sz="2400" spc="-15">
                <a:solidFill>
                  <a:srgbClr val="006FC0"/>
                </a:solidFill>
                <a:latin typeface="黑体"/>
                <a:cs typeface="黑体"/>
              </a:rPr>
              <a:t>内容，如何与主存内容保持一致就有几种写操</a:t>
            </a:r>
            <a:endParaRPr sz="2400">
              <a:latin typeface="黑体"/>
              <a:cs typeface="黑体"/>
            </a:endParaRPr>
          </a:p>
          <a:p>
            <a:pPr marL="355600">
              <a:lnSpc>
                <a:spcPct val="100000"/>
              </a:lnSpc>
              <a:spcBef>
                <a:spcPts val="290"/>
              </a:spcBef>
            </a:pPr>
            <a:r>
              <a:rPr dirty="0" sz="2400" spc="-5">
                <a:solidFill>
                  <a:srgbClr val="006FC0"/>
                </a:solidFill>
                <a:latin typeface="黑体"/>
                <a:cs typeface="黑体"/>
              </a:rPr>
              <a:t>作工作方式可供选择，统称为写策略。</a:t>
            </a:r>
            <a:endParaRPr sz="2400">
              <a:latin typeface="黑体"/>
              <a:cs typeface="黑体"/>
            </a:endParaRPr>
          </a:p>
          <a:p>
            <a:pPr lvl="1" marL="806450" indent="-342900">
              <a:lnSpc>
                <a:spcPct val="100000"/>
              </a:lnSpc>
              <a:spcBef>
                <a:spcPts val="860"/>
              </a:spcBef>
              <a:buClr>
                <a:srgbClr val="40458B"/>
              </a:buClr>
              <a:buSzPct val="81250"/>
              <a:buFont typeface="Wingdings"/>
              <a:buChar char=""/>
              <a:tabLst>
                <a:tab pos="806450" algn="l"/>
              </a:tabLst>
            </a:pPr>
            <a:r>
              <a:rPr dirty="0" sz="2400">
                <a:solidFill>
                  <a:srgbClr val="006FC0"/>
                </a:solidFill>
                <a:latin typeface="黑体"/>
                <a:cs typeface="黑体"/>
              </a:rPr>
              <a:t>“写”操作必须在确认是命中后才可进行（相对读操作，更麻烦</a:t>
            </a:r>
            <a:r>
              <a:rPr dirty="0" sz="2400" spc="-50">
                <a:solidFill>
                  <a:srgbClr val="006FC0"/>
                </a:solidFill>
                <a:latin typeface="黑体"/>
                <a:cs typeface="黑体"/>
              </a:rPr>
              <a:t>）</a:t>
            </a:r>
            <a:endParaRPr sz="2400">
              <a:latin typeface="黑体"/>
              <a:cs typeface="黑体"/>
            </a:endParaRPr>
          </a:p>
          <a:p>
            <a:pPr lvl="1" marL="806450" indent="-342900">
              <a:lnSpc>
                <a:spcPct val="100000"/>
              </a:lnSpc>
              <a:spcBef>
                <a:spcPts val="865"/>
              </a:spcBef>
              <a:buClr>
                <a:srgbClr val="40458B"/>
              </a:buClr>
              <a:buSzPct val="81250"/>
              <a:buFont typeface="Wingdings"/>
              <a:buChar char=""/>
              <a:tabLst>
                <a:tab pos="806450" algn="l"/>
              </a:tabLst>
            </a:pPr>
            <a:r>
              <a:rPr dirty="0" sz="2400" spc="-10">
                <a:solidFill>
                  <a:srgbClr val="006FC0"/>
                </a:solidFill>
                <a:latin typeface="黑体"/>
                <a:cs typeface="黑体"/>
              </a:rPr>
              <a:t>“写”访问有可能导致</a:t>
            </a:r>
            <a:r>
              <a:rPr dirty="0" sz="2400" spc="-10">
                <a:solidFill>
                  <a:srgbClr val="006FC0"/>
                </a:solidFill>
                <a:latin typeface="宋体"/>
                <a:cs typeface="宋体"/>
              </a:rPr>
              <a:t>Cache</a:t>
            </a:r>
            <a:r>
              <a:rPr dirty="0" sz="2400" spc="-10">
                <a:solidFill>
                  <a:srgbClr val="006FC0"/>
                </a:solidFill>
                <a:latin typeface="黑体"/>
                <a:cs typeface="黑体"/>
              </a:rPr>
              <a:t>和主存内容的不一致（</a:t>
            </a:r>
            <a:r>
              <a:rPr dirty="0" sz="2400" spc="-10">
                <a:solidFill>
                  <a:srgbClr val="006FC0"/>
                </a:solidFill>
                <a:latin typeface="宋体"/>
                <a:cs typeface="宋体"/>
              </a:rPr>
              <a:t>Cache</a:t>
            </a:r>
            <a:r>
              <a:rPr dirty="0" sz="2400" spc="-10">
                <a:solidFill>
                  <a:srgbClr val="006FC0"/>
                </a:solidFill>
                <a:latin typeface="黑体"/>
                <a:cs typeface="黑体"/>
              </a:rPr>
              <a:t>内容是主存相关内</a:t>
            </a:r>
            <a:endParaRPr sz="2400">
              <a:latin typeface="黑体"/>
              <a:cs typeface="黑体"/>
            </a:endParaRPr>
          </a:p>
          <a:p>
            <a:pPr marL="806450">
              <a:lnSpc>
                <a:spcPct val="100000"/>
              </a:lnSpc>
              <a:spcBef>
                <a:spcPts val="290"/>
              </a:spcBef>
            </a:pPr>
            <a:r>
              <a:rPr dirty="0" sz="2400">
                <a:solidFill>
                  <a:srgbClr val="006FC0"/>
                </a:solidFill>
                <a:latin typeface="黑体"/>
                <a:cs typeface="黑体"/>
              </a:rPr>
              <a:t>容的副本</a:t>
            </a:r>
            <a:r>
              <a:rPr dirty="0" sz="2400" spc="-50">
                <a:solidFill>
                  <a:srgbClr val="006FC0"/>
                </a:solidFill>
                <a:latin typeface="黑体"/>
                <a:cs typeface="黑体"/>
              </a:rPr>
              <a:t>）</a:t>
            </a:r>
            <a:endParaRPr sz="2400">
              <a:latin typeface="黑体"/>
              <a:cs typeface="黑体"/>
            </a:endParaRPr>
          </a:p>
        </p:txBody>
      </p:sp>
      <p:sp>
        <p:nvSpPr>
          <p:cNvPr id="10" name="object 10" descr=""/>
          <p:cNvSpPr txBox="1"/>
          <p:nvPr/>
        </p:nvSpPr>
        <p:spPr>
          <a:xfrm>
            <a:off x="990091" y="4901641"/>
            <a:ext cx="2197100" cy="391795"/>
          </a:xfrm>
          <a:prstGeom prst="rect">
            <a:avLst/>
          </a:prstGeom>
        </p:spPr>
        <p:txBody>
          <a:bodyPr wrap="square" lIns="0" tIns="12700" rIns="0" bIns="0" rtlCol="0" vert="horz">
            <a:spAutoFit/>
          </a:bodyPr>
          <a:lstStyle/>
          <a:p>
            <a:pPr marL="354965" indent="-342265">
              <a:lnSpc>
                <a:spcPct val="100000"/>
              </a:lnSpc>
              <a:spcBef>
                <a:spcPts val="100"/>
              </a:spcBef>
              <a:buClr>
                <a:srgbClr val="40458B"/>
              </a:buClr>
              <a:buSzPct val="81250"/>
              <a:buFont typeface="Wingdings"/>
              <a:buChar char=""/>
              <a:tabLst>
                <a:tab pos="354965" algn="l"/>
              </a:tabLst>
            </a:pPr>
            <a:r>
              <a:rPr dirty="0" sz="2400" spc="-20">
                <a:solidFill>
                  <a:srgbClr val="006FC0"/>
                </a:solidFill>
                <a:latin typeface="黑体"/>
                <a:cs typeface="黑体"/>
              </a:rPr>
              <a:t>两种策略：写</a:t>
            </a:r>
            <a:endParaRPr sz="2400">
              <a:latin typeface="黑体"/>
              <a:cs typeface="黑体"/>
            </a:endParaRPr>
          </a:p>
        </p:txBody>
      </p:sp>
      <p:pic>
        <p:nvPicPr>
          <p:cNvPr id="11" name="object 11" descr=""/>
          <p:cNvPicPr/>
          <p:nvPr/>
        </p:nvPicPr>
        <p:blipFill>
          <a:blip r:embed="rId3" cstate="print"/>
          <a:stretch>
            <a:fillRect/>
          </a:stretch>
        </p:blipFill>
        <p:spPr>
          <a:xfrm>
            <a:off x="3206242" y="4987671"/>
            <a:ext cx="238125" cy="250825"/>
          </a:xfrm>
          <a:prstGeom prst="rect">
            <a:avLst/>
          </a:prstGeom>
        </p:spPr>
      </p:pic>
      <p:sp>
        <p:nvSpPr>
          <p:cNvPr id="12" name="object 12"/>
          <p:cNvSpPr txBox="1">
            <a:spLocks noGrp="1"/>
          </p:cNvSpPr>
          <p:nvPr>
            <p:ph type="title"/>
          </p:nvPr>
        </p:nvSpPr>
        <p:spPr>
          <a:xfrm>
            <a:off x="1710944" y="47370"/>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7.2.6</a:t>
            </a:r>
            <a:r>
              <a:rPr dirty="0" u="none" sz="2600" spc="-20">
                <a:solidFill>
                  <a:srgbClr val="0000CC"/>
                </a:solidFill>
              </a:rPr>
              <a:t> 写策略</a:t>
            </a:r>
            <a:endParaRPr sz="2600"/>
          </a:p>
        </p:txBody>
      </p:sp>
      <p:sp>
        <p:nvSpPr>
          <p:cNvPr id="13" name="object 13" descr=""/>
          <p:cNvSpPr txBox="1"/>
          <p:nvPr/>
        </p:nvSpPr>
        <p:spPr>
          <a:xfrm>
            <a:off x="3466592" y="4901641"/>
            <a:ext cx="1854200"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006FC0"/>
                </a:solidFill>
                <a:latin typeface="黑体"/>
                <a:cs typeface="黑体"/>
              </a:rPr>
              <a:t>法、写直达法</a:t>
            </a:r>
            <a:endParaRPr sz="2400">
              <a:latin typeface="黑体"/>
              <a:cs typeface="黑体"/>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413715" y="649350"/>
            <a:ext cx="11152505" cy="5366385"/>
          </a:xfrm>
          <a:prstGeom prst="rect">
            <a:avLst/>
          </a:prstGeom>
        </p:spPr>
        <p:txBody>
          <a:bodyPr wrap="square" lIns="0" tIns="12700" rIns="0" bIns="0" rtlCol="0" vert="horz">
            <a:spAutoFit/>
          </a:bodyPr>
          <a:lstStyle/>
          <a:p>
            <a:pPr marL="12700" marR="5080">
              <a:lnSpc>
                <a:spcPct val="150000"/>
              </a:lnSpc>
              <a:spcBef>
                <a:spcPts val="100"/>
              </a:spcBef>
            </a:pPr>
            <a:r>
              <a:rPr dirty="0" sz="2400">
                <a:solidFill>
                  <a:srgbClr val="0000CC"/>
                </a:solidFill>
                <a:latin typeface="黑体"/>
                <a:cs typeface="黑体"/>
              </a:rPr>
              <a:t>CPU对</a:t>
            </a:r>
            <a:r>
              <a:rPr dirty="0" sz="2400" spc="-10">
                <a:solidFill>
                  <a:srgbClr val="0000CC"/>
                </a:solidFill>
                <a:latin typeface="黑体"/>
                <a:cs typeface="黑体"/>
              </a:rPr>
              <a:t>Cache</a:t>
            </a:r>
            <a:r>
              <a:rPr dirty="0" sz="2400" spc="-5">
                <a:solidFill>
                  <a:srgbClr val="0000CC"/>
                </a:solidFill>
                <a:latin typeface="黑体"/>
                <a:cs typeface="黑体"/>
              </a:rPr>
              <a:t>的访问主要是读操作，比如取指令，基于下述比例，一般对读操作要等</a:t>
            </a:r>
            <a:r>
              <a:rPr dirty="0" sz="2400">
                <a:solidFill>
                  <a:srgbClr val="0000CC"/>
                </a:solidFill>
                <a:latin typeface="黑体"/>
                <a:cs typeface="黑体"/>
              </a:rPr>
              <a:t>待，对写操作不必等待，应该设计Cache要针对经常发生的读进行优化。但Amdahl</a:t>
            </a:r>
            <a:r>
              <a:rPr dirty="0" sz="2400" spc="-50">
                <a:solidFill>
                  <a:srgbClr val="0000CC"/>
                </a:solidFill>
                <a:latin typeface="黑体"/>
                <a:cs typeface="黑体"/>
              </a:rPr>
              <a:t>定</a:t>
            </a:r>
            <a:r>
              <a:rPr dirty="0" sz="2400" spc="-5">
                <a:solidFill>
                  <a:srgbClr val="0000CC"/>
                </a:solidFill>
                <a:latin typeface="黑体"/>
                <a:cs typeface="黑体"/>
              </a:rPr>
              <a:t>律却发现高性能的设计中写操作速度也不可忽视。</a:t>
            </a:r>
            <a:endParaRPr sz="2400">
              <a:latin typeface="黑体"/>
              <a:cs typeface="黑体"/>
            </a:endParaRPr>
          </a:p>
          <a:p>
            <a:pPr marL="829944" indent="-457200">
              <a:lnSpc>
                <a:spcPct val="100000"/>
              </a:lnSpc>
              <a:spcBef>
                <a:spcPts val="2440"/>
              </a:spcBef>
              <a:buClr>
                <a:srgbClr val="40458B"/>
              </a:buClr>
              <a:buAutoNum type="arabicPeriod"/>
              <a:tabLst>
                <a:tab pos="829944" algn="l"/>
              </a:tabLst>
            </a:pPr>
            <a:r>
              <a:rPr dirty="0" sz="2400">
                <a:solidFill>
                  <a:srgbClr val="E14B04"/>
                </a:solidFill>
                <a:latin typeface="Times New Roman"/>
                <a:cs typeface="Times New Roman"/>
              </a:rPr>
              <a:t>“</a:t>
            </a:r>
            <a:r>
              <a:rPr dirty="0" sz="2400" spc="-5">
                <a:solidFill>
                  <a:srgbClr val="E14B04"/>
                </a:solidFill>
                <a:latin typeface="黑体"/>
                <a:cs typeface="黑体"/>
              </a:rPr>
              <a:t>写”在所有访存操作中所占的比例</a:t>
            </a:r>
            <a:endParaRPr sz="2400">
              <a:latin typeface="黑体"/>
              <a:cs typeface="黑体"/>
            </a:endParaRPr>
          </a:p>
          <a:p>
            <a:pPr lvl="1" marL="1459230" indent="-456565">
              <a:lnSpc>
                <a:spcPct val="100000"/>
              </a:lnSpc>
              <a:spcBef>
                <a:spcPts val="865"/>
              </a:spcBef>
              <a:buSzPct val="89583"/>
              <a:buFont typeface="Wingdings"/>
              <a:buChar char=""/>
              <a:tabLst>
                <a:tab pos="1459230" algn="l"/>
              </a:tabLst>
            </a:pPr>
            <a:r>
              <a:rPr dirty="0" sz="2400" spc="-15">
                <a:solidFill>
                  <a:srgbClr val="40458B"/>
                </a:solidFill>
                <a:latin typeface="黑体"/>
                <a:cs typeface="黑体"/>
              </a:rPr>
              <a:t>统计结果表明，对于一组给定的程序：</a:t>
            </a:r>
            <a:endParaRPr sz="2400">
              <a:latin typeface="黑体"/>
              <a:cs typeface="黑体"/>
            </a:endParaRPr>
          </a:p>
          <a:p>
            <a:pPr lvl="2" marL="2087245" indent="-457200">
              <a:lnSpc>
                <a:spcPct val="100000"/>
              </a:lnSpc>
              <a:spcBef>
                <a:spcPts val="770"/>
              </a:spcBef>
              <a:buClr>
                <a:srgbClr val="4668F5"/>
              </a:buClr>
              <a:buSzPct val="60000"/>
              <a:buFont typeface="Wingdings"/>
              <a:buChar char=""/>
              <a:tabLst>
                <a:tab pos="2087245" algn="l"/>
              </a:tabLst>
            </a:pPr>
            <a:r>
              <a:rPr dirty="0" sz="2000" spc="-10" b="1">
                <a:solidFill>
                  <a:srgbClr val="00AFEF"/>
                </a:solidFill>
                <a:latin typeface="宋体"/>
                <a:cs typeface="宋体"/>
              </a:rPr>
              <a:t>load</a:t>
            </a:r>
            <a:r>
              <a:rPr dirty="0" sz="2000" spc="-15" b="1">
                <a:solidFill>
                  <a:srgbClr val="00AFEF"/>
                </a:solidFill>
                <a:latin typeface="宋体"/>
                <a:cs typeface="宋体"/>
              </a:rPr>
              <a:t>指令：</a:t>
            </a:r>
            <a:r>
              <a:rPr dirty="0" sz="2000" spc="-20" b="1">
                <a:solidFill>
                  <a:srgbClr val="9933FF"/>
                </a:solidFill>
                <a:latin typeface="宋体"/>
                <a:cs typeface="宋体"/>
              </a:rPr>
              <a:t>26％</a:t>
            </a:r>
            <a:endParaRPr sz="2000">
              <a:latin typeface="宋体"/>
              <a:cs typeface="宋体"/>
            </a:endParaRPr>
          </a:p>
          <a:p>
            <a:pPr lvl="2" marL="2087245" indent="-457200">
              <a:lnSpc>
                <a:spcPct val="100000"/>
              </a:lnSpc>
              <a:spcBef>
                <a:spcPts val="720"/>
              </a:spcBef>
              <a:buClr>
                <a:srgbClr val="4668F5"/>
              </a:buClr>
              <a:buSzPct val="60000"/>
              <a:buFont typeface="Wingdings"/>
              <a:buChar char=""/>
              <a:tabLst>
                <a:tab pos="2087245" algn="l"/>
              </a:tabLst>
            </a:pPr>
            <a:r>
              <a:rPr dirty="0" sz="2000" spc="-10" b="1">
                <a:solidFill>
                  <a:srgbClr val="00AFEF"/>
                </a:solidFill>
                <a:latin typeface="宋体"/>
                <a:cs typeface="宋体"/>
              </a:rPr>
              <a:t>store</a:t>
            </a:r>
            <a:r>
              <a:rPr dirty="0" sz="2000" spc="-25" b="1">
                <a:solidFill>
                  <a:srgbClr val="00AFEF"/>
                </a:solidFill>
                <a:latin typeface="宋体"/>
                <a:cs typeface="宋体"/>
              </a:rPr>
              <a:t>指令：</a:t>
            </a:r>
            <a:r>
              <a:rPr dirty="0" sz="2000" spc="-25" b="1">
                <a:solidFill>
                  <a:srgbClr val="9933FF"/>
                </a:solidFill>
                <a:latin typeface="宋体"/>
                <a:cs typeface="宋体"/>
              </a:rPr>
              <a:t>9％</a:t>
            </a:r>
            <a:endParaRPr sz="2000">
              <a:latin typeface="宋体"/>
              <a:cs typeface="宋体"/>
            </a:endParaRPr>
          </a:p>
          <a:p>
            <a:pPr lvl="1" marL="1459230" indent="-456565">
              <a:lnSpc>
                <a:spcPct val="100000"/>
              </a:lnSpc>
              <a:spcBef>
                <a:spcPts val="815"/>
              </a:spcBef>
              <a:buSzPct val="89583"/>
              <a:buFont typeface="Wingdings"/>
              <a:buChar char=""/>
              <a:tabLst>
                <a:tab pos="1459230" algn="l"/>
              </a:tabLst>
            </a:pPr>
            <a:r>
              <a:rPr dirty="0" sz="2400" spc="-15">
                <a:solidFill>
                  <a:srgbClr val="40458B"/>
                </a:solidFill>
                <a:latin typeface="黑体"/>
                <a:cs typeface="黑体"/>
              </a:rPr>
              <a:t>“写”在所有访存操作中所占的比例：</a:t>
            </a:r>
            <a:endParaRPr sz="2400">
              <a:latin typeface="黑体"/>
              <a:cs typeface="黑体"/>
            </a:endParaRPr>
          </a:p>
          <a:p>
            <a:pPr marL="1886585">
              <a:lnSpc>
                <a:spcPct val="100000"/>
              </a:lnSpc>
              <a:spcBef>
                <a:spcPts val="775"/>
              </a:spcBef>
              <a:tabLst>
                <a:tab pos="6117590" algn="l"/>
              </a:tabLst>
            </a:pPr>
            <a:r>
              <a:rPr dirty="0" sz="2000" spc="-10" b="1">
                <a:solidFill>
                  <a:srgbClr val="00AFEF"/>
                </a:solidFill>
                <a:latin typeface="宋体"/>
                <a:cs typeface="宋体"/>
              </a:rPr>
              <a:t>9％/(100％＋26％＋9％)≈7％</a:t>
            </a:r>
            <a:r>
              <a:rPr dirty="0" sz="2000" b="1">
                <a:solidFill>
                  <a:srgbClr val="00AFEF"/>
                </a:solidFill>
                <a:latin typeface="宋体"/>
                <a:cs typeface="宋体"/>
              </a:rPr>
              <a:t>	</a:t>
            </a:r>
            <a:r>
              <a:rPr dirty="0" sz="2000" spc="-10" b="1">
                <a:solidFill>
                  <a:srgbClr val="00AFEF"/>
                </a:solidFill>
                <a:latin typeface="宋体"/>
                <a:cs typeface="宋体"/>
              </a:rPr>
              <a:t>访存取指+load</a:t>
            </a:r>
            <a:r>
              <a:rPr dirty="0" sz="2000" spc="-15" b="1">
                <a:solidFill>
                  <a:srgbClr val="00AFEF"/>
                </a:solidFill>
                <a:latin typeface="宋体"/>
                <a:cs typeface="宋体"/>
              </a:rPr>
              <a:t>取数访存+</a:t>
            </a:r>
            <a:r>
              <a:rPr dirty="0" sz="2000" spc="-10" b="1">
                <a:solidFill>
                  <a:srgbClr val="00AFEF"/>
                </a:solidFill>
                <a:latin typeface="宋体"/>
                <a:cs typeface="宋体"/>
              </a:rPr>
              <a:t>store</a:t>
            </a:r>
            <a:r>
              <a:rPr dirty="0" sz="2000" spc="-25" b="1">
                <a:solidFill>
                  <a:srgbClr val="00AFEF"/>
                </a:solidFill>
                <a:latin typeface="宋体"/>
                <a:cs typeface="宋体"/>
              </a:rPr>
              <a:t>存数访存</a:t>
            </a:r>
            <a:endParaRPr sz="2000">
              <a:latin typeface="宋体"/>
              <a:cs typeface="宋体"/>
            </a:endParaRPr>
          </a:p>
          <a:p>
            <a:pPr lvl="1" marL="1459230" indent="-456565">
              <a:lnSpc>
                <a:spcPct val="100000"/>
              </a:lnSpc>
              <a:spcBef>
                <a:spcPts val="810"/>
              </a:spcBef>
              <a:buSzPct val="89583"/>
              <a:buFont typeface="Wingdings"/>
              <a:buChar char=""/>
              <a:tabLst>
                <a:tab pos="1459230" algn="l"/>
              </a:tabLst>
            </a:pPr>
            <a:r>
              <a:rPr dirty="0" sz="2400" spc="-5">
                <a:solidFill>
                  <a:srgbClr val="40458B"/>
                </a:solidFill>
                <a:latin typeface="黑体"/>
                <a:cs typeface="黑体"/>
              </a:rPr>
              <a:t>“写”在访问</a:t>
            </a:r>
            <a:r>
              <a:rPr dirty="0" sz="2400">
                <a:solidFill>
                  <a:srgbClr val="40458B"/>
                </a:solidFill>
                <a:latin typeface="黑体"/>
                <a:cs typeface="黑体"/>
              </a:rPr>
              <a:t>Cache</a:t>
            </a:r>
            <a:r>
              <a:rPr dirty="0" sz="2400" spc="-10">
                <a:solidFill>
                  <a:srgbClr val="40458B"/>
                </a:solidFill>
                <a:latin typeface="黑体"/>
                <a:cs typeface="黑体"/>
              </a:rPr>
              <a:t>操作中所占的比例：</a:t>
            </a:r>
            <a:endParaRPr sz="2400">
              <a:latin typeface="黑体"/>
              <a:cs typeface="黑体"/>
            </a:endParaRPr>
          </a:p>
          <a:p>
            <a:pPr marL="1960880">
              <a:lnSpc>
                <a:spcPct val="100000"/>
              </a:lnSpc>
              <a:spcBef>
                <a:spcPts val="775"/>
              </a:spcBef>
            </a:pPr>
            <a:r>
              <a:rPr dirty="0" sz="2000" spc="-10" b="1">
                <a:solidFill>
                  <a:srgbClr val="00AFEF"/>
                </a:solidFill>
                <a:latin typeface="宋体"/>
                <a:cs typeface="宋体"/>
              </a:rPr>
              <a:t>9％/(26％＋9％)≈25％</a:t>
            </a:r>
            <a:endParaRPr sz="2000">
              <a:latin typeface="宋体"/>
              <a:cs typeface="宋体"/>
            </a:endParaRPr>
          </a:p>
        </p:txBody>
      </p:sp>
      <p:sp>
        <p:nvSpPr>
          <p:cNvPr id="10" name="object 10"/>
          <p:cNvSpPr txBox="1">
            <a:spLocks noGrp="1"/>
          </p:cNvSpPr>
          <p:nvPr>
            <p:ph type="title"/>
          </p:nvPr>
        </p:nvSpPr>
        <p:spPr>
          <a:xfrm>
            <a:off x="1710944" y="47370"/>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7.2.6</a:t>
            </a:r>
            <a:r>
              <a:rPr dirty="0" u="none" sz="2600" spc="-20">
                <a:solidFill>
                  <a:srgbClr val="0000CC"/>
                </a:solidFill>
              </a:rPr>
              <a:t> 写策略</a:t>
            </a:r>
            <a:endParaRPr sz="26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1633727" y="3902583"/>
            <a:ext cx="238125" cy="250825"/>
          </a:xfrm>
          <a:prstGeom prst="rect">
            <a:avLst/>
          </a:prstGeom>
        </p:spPr>
      </p:pic>
      <p:pic>
        <p:nvPicPr>
          <p:cNvPr id="10" name="object 10" descr=""/>
          <p:cNvPicPr/>
          <p:nvPr/>
        </p:nvPicPr>
        <p:blipFill>
          <a:blip r:embed="rId4" cstate="print"/>
          <a:stretch>
            <a:fillRect/>
          </a:stretch>
        </p:blipFill>
        <p:spPr>
          <a:xfrm>
            <a:off x="5515736" y="3902583"/>
            <a:ext cx="238125" cy="250825"/>
          </a:xfrm>
          <a:prstGeom prst="rect">
            <a:avLst/>
          </a:prstGeom>
        </p:spPr>
      </p:pic>
      <p:sp>
        <p:nvSpPr>
          <p:cNvPr id="11" name="object 11" descr=""/>
          <p:cNvSpPr txBox="1"/>
          <p:nvPr/>
        </p:nvSpPr>
        <p:spPr>
          <a:xfrm>
            <a:off x="197916" y="414655"/>
            <a:ext cx="12085955" cy="5021580"/>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Font typeface="Tahoma"/>
              <a:buAutoNum type="arabicPeriod" startAt="2"/>
              <a:tabLst>
                <a:tab pos="469265" algn="l"/>
              </a:tabLst>
            </a:pPr>
            <a:r>
              <a:rPr dirty="0" sz="2400" spc="-10">
                <a:solidFill>
                  <a:srgbClr val="E14B04"/>
                </a:solidFill>
                <a:latin typeface="黑体"/>
                <a:cs typeface="黑体"/>
              </a:rPr>
              <a:t>两种写策略</a:t>
            </a:r>
            <a:endParaRPr sz="2400">
              <a:latin typeface="黑体"/>
              <a:cs typeface="黑体"/>
            </a:endParaRPr>
          </a:p>
          <a:p>
            <a:pPr marL="1099185" marR="5080" indent="-457200">
              <a:lnSpc>
                <a:spcPct val="120000"/>
              </a:lnSpc>
              <a:spcBef>
                <a:spcPts val="575"/>
              </a:spcBef>
            </a:pPr>
            <a:r>
              <a:rPr dirty="0" sz="2400">
                <a:solidFill>
                  <a:srgbClr val="40458B"/>
                </a:solidFill>
                <a:latin typeface="黑体"/>
                <a:cs typeface="黑体"/>
              </a:rPr>
              <a:t>写策略是区分不同Cache设计方案的</a:t>
            </a:r>
            <a:r>
              <a:rPr dirty="0" sz="2400">
                <a:solidFill>
                  <a:srgbClr val="D50092"/>
                </a:solidFill>
                <a:latin typeface="黑体"/>
                <a:cs typeface="黑体"/>
              </a:rPr>
              <a:t>一个重要标志。（</a:t>
            </a:r>
            <a:r>
              <a:rPr dirty="0" sz="2400" spc="-5">
                <a:solidFill>
                  <a:srgbClr val="D50092"/>
                </a:solidFill>
                <a:latin typeface="黑体"/>
                <a:cs typeface="黑体"/>
              </a:rPr>
              <a:t>为了保证内容的正确性，主存内</a:t>
            </a:r>
            <a:r>
              <a:rPr dirty="0" sz="2400" spc="-10">
                <a:solidFill>
                  <a:srgbClr val="D50092"/>
                </a:solidFill>
                <a:latin typeface="黑体"/>
                <a:cs typeface="黑体"/>
              </a:rPr>
              <a:t>容必须更新，由写策略确定其何时更新）</a:t>
            </a:r>
            <a:r>
              <a:rPr dirty="0" sz="2400" spc="-15">
                <a:solidFill>
                  <a:srgbClr val="D50092"/>
                </a:solidFill>
                <a:latin typeface="黑体"/>
                <a:cs typeface="黑体"/>
              </a:rPr>
              <a:t>,两种写策略</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FF0000"/>
                </a:solidFill>
                <a:latin typeface="黑体"/>
                <a:cs typeface="黑体"/>
              </a:rPr>
              <a:t>写直达法</a:t>
            </a:r>
            <a:r>
              <a:rPr dirty="0" sz="2400">
                <a:solidFill>
                  <a:srgbClr val="40458B"/>
                </a:solidFill>
                <a:latin typeface="黑体"/>
                <a:cs typeface="黑体"/>
              </a:rPr>
              <a:t>（</a:t>
            </a:r>
            <a:r>
              <a:rPr dirty="0" sz="2400">
                <a:solidFill>
                  <a:srgbClr val="40458B"/>
                </a:solidFill>
                <a:latin typeface="Tahoma"/>
                <a:cs typeface="Tahoma"/>
              </a:rPr>
              <a:t>Write</a:t>
            </a:r>
            <a:r>
              <a:rPr dirty="0" sz="2400" spc="-10">
                <a:solidFill>
                  <a:srgbClr val="40458B"/>
                </a:solidFill>
                <a:latin typeface="Tahoma"/>
                <a:cs typeface="Tahoma"/>
              </a:rPr>
              <a:t> </a:t>
            </a:r>
            <a:r>
              <a:rPr dirty="0" sz="2400">
                <a:solidFill>
                  <a:srgbClr val="40458B"/>
                </a:solidFill>
                <a:latin typeface="Tahoma"/>
                <a:cs typeface="Tahoma"/>
              </a:rPr>
              <a:t>Through</a:t>
            </a:r>
            <a:r>
              <a:rPr dirty="0" sz="2400" spc="-55">
                <a:solidFill>
                  <a:srgbClr val="40458B"/>
                </a:solidFill>
                <a:latin typeface="黑体"/>
                <a:cs typeface="黑体"/>
              </a:rPr>
              <a:t>，也称为存直达法 </a:t>
            </a:r>
            <a:r>
              <a:rPr dirty="0" sz="2400" spc="-50">
                <a:solidFill>
                  <a:srgbClr val="40458B"/>
                </a:solidFill>
                <a:latin typeface="黑体"/>
                <a:cs typeface="黑体"/>
              </a:rPr>
              <a:t>）</a:t>
            </a:r>
            <a:endParaRPr sz="2400">
              <a:latin typeface="黑体"/>
              <a:cs typeface="黑体"/>
            </a:endParaRPr>
          </a:p>
          <a:p>
            <a:pPr lvl="2" marL="1726564" indent="-457200">
              <a:lnSpc>
                <a:spcPct val="100000"/>
              </a:lnSpc>
              <a:spcBef>
                <a:spcPts val="1025"/>
              </a:spcBef>
              <a:buClr>
                <a:srgbClr val="4668F5"/>
              </a:buClr>
              <a:buSzPct val="60000"/>
              <a:buFont typeface="Wingdings"/>
              <a:buChar char=""/>
              <a:tabLst>
                <a:tab pos="1726564" algn="l"/>
              </a:tabLst>
            </a:pPr>
            <a:r>
              <a:rPr dirty="0" sz="2000" spc="-15" b="1">
                <a:solidFill>
                  <a:srgbClr val="00AFEF"/>
                </a:solidFill>
                <a:latin typeface="宋体"/>
                <a:cs typeface="宋体"/>
              </a:rPr>
              <a:t>执行“写”操作时，不仅写入</a:t>
            </a:r>
            <a:r>
              <a:rPr dirty="0" sz="2000" spc="-10" b="1">
                <a:solidFill>
                  <a:srgbClr val="00AFEF"/>
                </a:solidFill>
                <a:latin typeface="宋体"/>
                <a:cs typeface="宋体"/>
              </a:rPr>
              <a:t>Cache</a:t>
            </a:r>
            <a:r>
              <a:rPr dirty="0" sz="2000" spc="-25" b="1">
                <a:solidFill>
                  <a:srgbClr val="00AFEF"/>
                </a:solidFill>
                <a:latin typeface="宋体"/>
                <a:cs typeface="宋体"/>
              </a:rPr>
              <a:t>，而且也写入下一级存储器。</a:t>
            </a:r>
            <a:endParaRPr sz="2000">
              <a:latin typeface="宋体"/>
              <a:cs typeface="宋体"/>
            </a:endParaRPr>
          </a:p>
          <a:p>
            <a:pPr lvl="2" marL="1726564" indent="-457200">
              <a:lnSpc>
                <a:spcPct val="100000"/>
              </a:lnSpc>
              <a:spcBef>
                <a:spcPts val="960"/>
              </a:spcBef>
              <a:buClr>
                <a:srgbClr val="4668F5"/>
              </a:buClr>
              <a:buSzPct val="60000"/>
              <a:buFont typeface="Wingdings"/>
              <a:buChar char=""/>
              <a:tabLst>
                <a:tab pos="1726564" algn="l"/>
              </a:tabLst>
            </a:pPr>
            <a:r>
              <a:rPr dirty="0" sz="2000" spc="-10" b="1">
                <a:solidFill>
                  <a:srgbClr val="00AFEF"/>
                </a:solidFill>
                <a:latin typeface="宋体"/>
                <a:cs typeface="宋体"/>
              </a:rPr>
              <a:t>写</a:t>
            </a:r>
            <a:r>
              <a:rPr dirty="0" sz="2000" b="1">
                <a:solidFill>
                  <a:srgbClr val="00AFEF"/>
                </a:solidFill>
                <a:latin typeface="宋体"/>
                <a:cs typeface="宋体"/>
              </a:rPr>
              <a:t>cache</a:t>
            </a:r>
            <a:r>
              <a:rPr dirty="0" sz="2000" spc="-20" b="1">
                <a:solidFill>
                  <a:srgbClr val="00AFEF"/>
                </a:solidFill>
                <a:latin typeface="宋体"/>
                <a:cs typeface="宋体"/>
              </a:rPr>
              <a:t>与写主存同步进行，其优点是</a:t>
            </a:r>
            <a:r>
              <a:rPr dirty="0" sz="2000" spc="-10" b="1">
                <a:solidFill>
                  <a:srgbClr val="00AFEF"/>
                </a:solidFill>
                <a:latin typeface="宋体"/>
                <a:cs typeface="宋体"/>
              </a:rPr>
              <a:t>cache</a:t>
            </a:r>
            <a:r>
              <a:rPr dirty="0" sz="2000" spc="-25" b="1">
                <a:solidFill>
                  <a:srgbClr val="00AFEF"/>
                </a:solidFill>
                <a:latin typeface="宋体"/>
                <a:cs typeface="宋体"/>
              </a:rPr>
              <a:t>每行无需设置一个修改位以及相应的判测逻辑。</a:t>
            </a:r>
            <a:endParaRPr sz="2000">
              <a:latin typeface="宋体"/>
              <a:cs typeface="宋体"/>
            </a:endParaRPr>
          </a:p>
          <a:p>
            <a:pPr lvl="2" marL="1726564" indent="-457200">
              <a:lnSpc>
                <a:spcPct val="100000"/>
              </a:lnSpc>
              <a:spcBef>
                <a:spcPts val="960"/>
              </a:spcBef>
              <a:buClr>
                <a:srgbClr val="4668F5"/>
              </a:buClr>
              <a:buSzPct val="60000"/>
              <a:buFont typeface="Wingdings"/>
              <a:buChar char=""/>
              <a:tabLst>
                <a:tab pos="1726564" algn="l"/>
              </a:tabLst>
            </a:pPr>
            <a:r>
              <a:rPr dirty="0" sz="2000" spc="-10" b="1">
                <a:solidFill>
                  <a:srgbClr val="00AFEF"/>
                </a:solidFill>
                <a:latin typeface="宋体"/>
                <a:cs typeface="宋体"/>
              </a:rPr>
              <a:t>缺点是，cache</a:t>
            </a:r>
            <a:r>
              <a:rPr dirty="0" sz="2000" spc="-20" b="1">
                <a:solidFill>
                  <a:srgbClr val="00AFEF"/>
                </a:solidFill>
                <a:latin typeface="宋体"/>
                <a:cs typeface="宋体"/>
              </a:rPr>
              <a:t>对</a:t>
            </a:r>
            <a:r>
              <a:rPr dirty="0" sz="2000" spc="-10" b="1">
                <a:solidFill>
                  <a:srgbClr val="00AFEF"/>
                </a:solidFill>
                <a:latin typeface="宋体"/>
                <a:cs typeface="宋体"/>
              </a:rPr>
              <a:t>CPU</a:t>
            </a:r>
            <a:r>
              <a:rPr dirty="0" sz="2000" spc="-20" b="1">
                <a:solidFill>
                  <a:srgbClr val="00AFEF"/>
                </a:solidFill>
                <a:latin typeface="宋体"/>
                <a:cs typeface="宋体"/>
              </a:rPr>
              <a:t>向主存的写操作无高速缓冲功能，降低了</a:t>
            </a:r>
            <a:r>
              <a:rPr dirty="0" sz="2000" spc="-10" b="1">
                <a:solidFill>
                  <a:srgbClr val="00AFEF"/>
                </a:solidFill>
                <a:latin typeface="宋体"/>
                <a:cs typeface="宋体"/>
              </a:rPr>
              <a:t>cache</a:t>
            </a:r>
            <a:r>
              <a:rPr dirty="0" sz="2000" spc="-25" b="1">
                <a:solidFill>
                  <a:srgbClr val="00AFEF"/>
                </a:solidFill>
                <a:latin typeface="宋体"/>
                <a:cs typeface="宋体"/>
              </a:rPr>
              <a:t>的功效。</a:t>
            </a:r>
            <a:endParaRPr sz="2000">
              <a:latin typeface="宋体"/>
              <a:cs typeface="宋体"/>
            </a:endParaRPr>
          </a:p>
          <a:p>
            <a:pPr lvl="1" marL="1099185" indent="-457200">
              <a:lnSpc>
                <a:spcPct val="100000"/>
              </a:lnSpc>
              <a:spcBef>
                <a:spcPts val="1090"/>
              </a:spcBef>
              <a:buClr>
                <a:srgbClr val="40458B"/>
              </a:buClr>
              <a:buSzPct val="89583"/>
              <a:buFont typeface="Wingdings"/>
              <a:buChar char=""/>
              <a:tabLst>
                <a:tab pos="1099185" algn="l"/>
                <a:tab pos="1708785" algn="l"/>
                <a:tab pos="5590540" algn="l"/>
              </a:tabLst>
            </a:pPr>
            <a:r>
              <a:rPr dirty="0" sz="2400" spc="-50">
                <a:solidFill>
                  <a:srgbClr val="FF0000"/>
                </a:solidFill>
                <a:latin typeface="黑体"/>
                <a:cs typeface="黑体"/>
              </a:rPr>
              <a:t>写</a:t>
            </a:r>
            <a:r>
              <a:rPr dirty="0" sz="2400">
                <a:solidFill>
                  <a:srgbClr val="FF0000"/>
                </a:solidFill>
                <a:latin typeface="黑体"/>
                <a:cs typeface="黑体"/>
              </a:rPr>
              <a:t>	法</a:t>
            </a:r>
            <a:r>
              <a:rPr dirty="0" sz="2400">
                <a:solidFill>
                  <a:srgbClr val="40458B"/>
                </a:solidFill>
                <a:latin typeface="黑体"/>
                <a:cs typeface="黑体"/>
              </a:rPr>
              <a:t>（</a:t>
            </a:r>
            <a:r>
              <a:rPr dirty="0" sz="2400">
                <a:solidFill>
                  <a:srgbClr val="40458B"/>
                </a:solidFill>
                <a:latin typeface="Tahoma"/>
                <a:cs typeface="Tahoma"/>
              </a:rPr>
              <a:t>Write</a:t>
            </a:r>
            <a:r>
              <a:rPr dirty="0" sz="2400" spc="10">
                <a:solidFill>
                  <a:srgbClr val="40458B"/>
                </a:solidFill>
                <a:latin typeface="Tahoma"/>
                <a:cs typeface="Tahoma"/>
              </a:rPr>
              <a:t> </a:t>
            </a:r>
            <a:r>
              <a:rPr dirty="0" sz="2400" spc="-20">
                <a:solidFill>
                  <a:srgbClr val="40458B"/>
                </a:solidFill>
                <a:latin typeface="Tahoma"/>
                <a:cs typeface="Tahoma"/>
              </a:rPr>
              <a:t>Back</a:t>
            </a:r>
            <a:r>
              <a:rPr dirty="0" sz="2400" spc="-20">
                <a:solidFill>
                  <a:srgbClr val="40458B"/>
                </a:solidFill>
                <a:latin typeface="黑体"/>
                <a:cs typeface="黑体"/>
              </a:rPr>
              <a:t>，</a:t>
            </a:r>
            <a:r>
              <a:rPr dirty="0" sz="2400">
                <a:solidFill>
                  <a:srgbClr val="40458B"/>
                </a:solidFill>
                <a:latin typeface="黑体"/>
                <a:cs typeface="黑体"/>
              </a:rPr>
              <a:t>也称为</a:t>
            </a:r>
            <a:r>
              <a:rPr dirty="0" sz="2400" spc="-50">
                <a:solidFill>
                  <a:srgbClr val="40458B"/>
                </a:solidFill>
                <a:latin typeface="黑体"/>
                <a:cs typeface="黑体"/>
              </a:rPr>
              <a:t>拷</a:t>
            </a:r>
            <a:r>
              <a:rPr dirty="0" sz="2400">
                <a:solidFill>
                  <a:srgbClr val="40458B"/>
                </a:solidFill>
                <a:latin typeface="黑体"/>
                <a:cs typeface="黑体"/>
              </a:rPr>
              <a:t>	法</a:t>
            </a:r>
            <a:r>
              <a:rPr dirty="0" sz="2400" spc="-50">
                <a:solidFill>
                  <a:srgbClr val="40458B"/>
                </a:solidFill>
                <a:latin typeface="黑体"/>
                <a:cs typeface="黑体"/>
              </a:rPr>
              <a:t>）</a:t>
            </a:r>
            <a:endParaRPr sz="2400">
              <a:latin typeface="黑体"/>
              <a:cs typeface="黑体"/>
            </a:endParaRPr>
          </a:p>
          <a:p>
            <a:pPr lvl="2" marL="1726564" indent="-457200">
              <a:lnSpc>
                <a:spcPct val="100000"/>
              </a:lnSpc>
              <a:spcBef>
                <a:spcPts val="1025"/>
              </a:spcBef>
              <a:buClr>
                <a:srgbClr val="4668F5"/>
              </a:buClr>
              <a:buSzPct val="60000"/>
              <a:buFont typeface="Wingdings"/>
              <a:buChar char=""/>
              <a:tabLst>
                <a:tab pos="1726564" algn="l"/>
              </a:tabLst>
            </a:pPr>
            <a:r>
              <a:rPr dirty="0" sz="2000" spc="-15" b="1">
                <a:solidFill>
                  <a:srgbClr val="00AFEF"/>
                </a:solidFill>
                <a:latin typeface="宋体"/>
                <a:cs typeface="宋体"/>
              </a:rPr>
              <a:t>执行“写”操作时，只写入</a:t>
            </a:r>
            <a:r>
              <a:rPr dirty="0" sz="2000" spc="-10" b="1">
                <a:solidFill>
                  <a:srgbClr val="00AFEF"/>
                </a:solidFill>
                <a:latin typeface="宋体"/>
                <a:cs typeface="宋体"/>
              </a:rPr>
              <a:t>Cache</a:t>
            </a:r>
            <a:r>
              <a:rPr dirty="0" sz="2000" spc="-15" b="1">
                <a:solidFill>
                  <a:srgbClr val="00AFEF"/>
                </a:solidFill>
                <a:latin typeface="宋体"/>
                <a:cs typeface="宋体"/>
              </a:rPr>
              <a:t>。仅当</a:t>
            </a:r>
            <a:r>
              <a:rPr dirty="0" sz="2000" spc="-10" b="1">
                <a:solidFill>
                  <a:srgbClr val="00AFEF"/>
                </a:solidFill>
                <a:latin typeface="宋体"/>
                <a:cs typeface="宋体"/>
              </a:rPr>
              <a:t>Cache</a:t>
            </a:r>
            <a:r>
              <a:rPr dirty="0" sz="2000" spc="-20" b="1">
                <a:solidFill>
                  <a:srgbClr val="00AFEF"/>
                </a:solidFill>
                <a:latin typeface="宋体"/>
                <a:cs typeface="宋体"/>
              </a:rPr>
              <a:t>中相应的块被替换时，才写回主存。 </a:t>
            </a:r>
            <a:r>
              <a:rPr dirty="0" sz="2000" spc="-25" b="1">
                <a:solidFill>
                  <a:srgbClr val="4668F5"/>
                </a:solidFill>
                <a:latin typeface="宋体"/>
                <a:cs typeface="宋体"/>
              </a:rPr>
              <a:t>(设置</a:t>
            </a:r>
            <a:endParaRPr sz="2000">
              <a:latin typeface="宋体"/>
              <a:cs typeface="宋体"/>
            </a:endParaRPr>
          </a:p>
          <a:p>
            <a:pPr marL="1726564">
              <a:lnSpc>
                <a:spcPct val="100000"/>
              </a:lnSpc>
              <a:spcBef>
                <a:spcPts val="480"/>
              </a:spcBef>
            </a:pPr>
            <a:r>
              <a:rPr dirty="0" sz="2000" spc="-20" b="1">
                <a:solidFill>
                  <a:srgbClr val="4668F5"/>
                </a:solidFill>
                <a:latin typeface="宋体"/>
                <a:cs typeface="宋体"/>
              </a:rPr>
              <a:t>“修改位”支持这种策略)</a:t>
            </a:r>
            <a:endParaRPr sz="2000">
              <a:latin typeface="宋体"/>
              <a:cs typeface="宋体"/>
            </a:endParaRPr>
          </a:p>
          <a:p>
            <a:pPr lvl="2" marL="1726564" indent="-457200">
              <a:lnSpc>
                <a:spcPct val="100000"/>
              </a:lnSpc>
              <a:spcBef>
                <a:spcPts val="960"/>
              </a:spcBef>
              <a:buSzPct val="60000"/>
              <a:buFont typeface="Wingdings"/>
              <a:buChar char=""/>
              <a:tabLst>
                <a:tab pos="1726564" algn="l"/>
              </a:tabLst>
            </a:pPr>
            <a:r>
              <a:rPr dirty="0" sz="2000" spc="-25" b="1">
                <a:solidFill>
                  <a:srgbClr val="4668F5"/>
                </a:solidFill>
                <a:latin typeface="宋体"/>
                <a:cs typeface="宋体"/>
              </a:rPr>
              <a:t>减少了访问主存的次数从而提高了效率。</a:t>
            </a:r>
            <a:endParaRPr sz="2000">
              <a:latin typeface="宋体"/>
              <a:cs typeface="宋体"/>
            </a:endParaRPr>
          </a:p>
        </p:txBody>
      </p:sp>
      <p:sp>
        <p:nvSpPr>
          <p:cNvPr id="12" name="object 12" descr=""/>
          <p:cNvSpPr txBox="1"/>
          <p:nvPr/>
        </p:nvSpPr>
        <p:spPr>
          <a:xfrm>
            <a:off x="827328" y="5548071"/>
            <a:ext cx="4907280"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000"/>
                </a:solidFill>
                <a:latin typeface="黑体"/>
                <a:cs typeface="黑体"/>
              </a:rPr>
              <a:t>“修改位”</a:t>
            </a:r>
            <a:r>
              <a:rPr dirty="0" sz="2400" spc="-10">
                <a:solidFill>
                  <a:srgbClr val="4668F5"/>
                </a:solidFill>
                <a:latin typeface="黑体"/>
                <a:cs typeface="黑体"/>
              </a:rPr>
              <a:t>：</a:t>
            </a:r>
            <a:r>
              <a:rPr dirty="0" sz="2000" spc="-20">
                <a:solidFill>
                  <a:srgbClr val="4668F5"/>
                </a:solidFill>
                <a:latin typeface="黑体"/>
                <a:cs typeface="黑体"/>
              </a:rPr>
              <a:t>为了减少替换时数据块的写</a:t>
            </a:r>
            <a:endParaRPr sz="2000">
              <a:latin typeface="黑体"/>
              <a:cs typeface="黑体"/>
            </a:endParaRPr>
          </a:p>
        </p:txBody>
      </p:sp>
      <p:pic>
        <p:nvPicPr>
          <p:cNvPr id="13" name="object 13" descr=""/>
          <p:cNvPicPr/>
          <p:nvPr/>
        </p:nvPicPr>
        <p:blipFill>
          <a:blip r:embed="rId5" cstate="print"/>
          <a:stretch>
            <a:fillRect/>
          </a:stretch>
        </p:blipFill>
        <p:spPr>
          <a:xfrm>
            <a:off x="5746706" y="5672201"/>
            <a:ext cx="200025" cy="209550"/>
          </a:xfrm>
          <a:prstGeom prst="rect">
            <a:avLst/>
          </a:prstGeom>
        </p:spPr>
      </p:pic>
      <p:sp>
        <p:nvSpPr>
          <p:cNvPr id="14" name="object 14" descr=""/>
          <p:cNvSpPr txBox="1"/>
          <p:nvPr/>
        </p:nvSpPr>
        <p:spPr>
          <a:xfrm>
            <a:off x="5963419" y="5598363"/>
            <a:ext cx="6122670" cy="331470"/>
          </a:xfrm>
          <a:prstGeom prst="rect">
            <a:avLst/>
          </a:prstGeom>
        </p:spPr>
        <p:txBody>
          <a:bodyPr wrap="square" lIns="0" tIns="13335" rIns="0" bIns="0" rtlCol="0" vert="horz">
            <a:spAutoFit/>
          </a:bodyPr>
          <a:lstStyle/>
          <a:p>
            <a:pPr marL="12700">
              <a:lnSpc>
                <a:spcPct val="100000"/>
              </a:lnSpc>
              <a:spcBef>
                <a:spcPts val="105"/>
              </a:spcBef>
            </a:pPr>
            <a:r>
              <a:rPr dirty="0" sz="2000" spc="-10">
                <a:solidFill>
                  <a:srgbClr val="4668F5"/>
                </a:solidFill>
                <a:latin typeface="黑体"/>
                <a:cs typeface="黑体"/>
              </a:rPr>
              <a:t>而设置；</a:t>
            </a:r>
            <a:r>
              <a:rPr dirty="0" sz="2000" spc="-10">
                <a:solidFill>
                  <a:srgbClr val="4668F5"/>
                </a:solidFill>
                <a:latin typeface="宋体"/>
                <a:cs typeface="宋体"/>
              </a:rPr>
              <a:t>1</a:t>
            </a:r>
            <a:r>
              <a:rPr dirty="0" sz="2000" spc="-15">
                <a:solidFill>
                  <a:srgbClr val="4668F5"/>
                </a:solidFill>
                <a:latin typeface="黑体"/>
                <a:cs typeface="黑体"/>
              </a:rPr>
              <a:t>：已修改；</a:t>
            </a:r>
            <a:r>
              <a:rPr dirty="0" sz="2000" spc="-10">
                <a:solidFill>
                  <a:srgbClr val="4668F5"/>
                </a:solidFill>
                <a:latin typeface="宋体"/>
                <a:cs typeface="宋体"/>
              </a:rPr>
              <a:t>0</a:t>
            </a:r>
            <a:r>
              <a:rPr dirty="0" sz="2000" spc="-30">
                <a:solidFill>
                  <a:srgbClr val="4668F5"/>
                </a:solidFill>
                <a:latin typeface="黑体"/>
                <a:cs typeface="黑体"/>
              </a:rPr>
              <a:t>：未修改，若产生替换时，此时</a:t>
            </a:r>
            <a:endParaRPr sz="2000">
              <a:latin typeface="黑体"/>
              <a:cs typeface="黑体"/>
            </a:endParaRPr>
          </a:p>
        </p:txBody>
      </p:sp>
      <p:pic>
        <p:nvPicPr>
          <p:cNvPr id="15" name="object 15" descr=""/>
          <p:cNvPicPr/>
          <p:nvPr/>
        </p:nvPicPr>
        <p:blipFill>
          <a:blip r:embed="rId5" cstate="print"/>
          <a:stretch>
            <a:fillRect/>
          </a:stretch>
        </p:blipFill>
        <p:spPr>
          <a:xfrm>
            <a:off x="1376989" y="6056553"/>
            <a:ext cx="200025" cy="209550"/>
          </a:xfrm>
          <a:prstGeom prst="rect">
            <a:avLst/>
          </a:prstGeom>
        </p:spPr>
      </p:pic>
      <p:sp>
        <p:nvSpPr>
          <p:cNvPr id="16" name="object 16" descr=""/>
          <p:cNvSpPr txBox="1"/>
          <p:nvPr/>
        </p:nvSpPr>
        <p:spPr>
          <a:xfrm>
            <a:off x="827328" y="5983020"/>
            <a:ext cx="9302750" cy="330835"/>
          </a:xfrm>
          <a:prstGeom prst="rect">
            <a:avLst/>
          </a:prstGeom>
        </p:spPr>
        <p:txBody>
          <a:bodyPr wrap="square" lIns="0" tIns="12700" rIns="0" bIns="0" rtlCol="0" vert="horz">
            <a:spAutoFit/>
          </a:bodyPr>
          <a:lstStyle/>
          <a:p>
            <a:pPr marL="12700">
              <a:lnSpc>
                <a:spcPct val="100000"/>
              </a:lnSpc>
              <a:spcBef>
                <a:spcPts val="100"/>
              </a:spcBef>
              <a:tabLst>
                <a:tab pos="778510" algn="l"/>
              </a:tabLst>
            </a:pPr>
            <a:r>
              <a:rPr dirty="0" sz="2000">
                <a:solidFill>
                  <a:srgbClr val="4668F5"/>
                </a:solidFill>
                <a:latin typeface="黑体"/>
                <a:cs typeface="黑体"/>
              </a:rPr>
              <a:t>须</a:t>
            </a:r>
            <a:r>
              <a:rPr dirty="0" sz="2000" spc="-50">
                <a:solidFill>
                  <a:srgbClr val="4668F5"/>
                </a:solidFill>
                <a:latin typeface="黑体"/>
                <a:cs typeface="黑体"/>
              </a:rPr>
              <a:t>写</a:t>
            </a:r>
            <a:r>
              <a:rPr dirty="0" sz="2000">
                <a:solidFill>
                  <a:srgbClr val="4668F5"/>
                </a:solidFill>
                <a:latin typeface="黑体"/>
                <a:cs typeface="黑体"/>
              </a:rPr>
              <a:t>	下</a:t>
            </a:r>
            <a:r>
              <a:rPr dirty="0" sz="2000" spc="-15">
                <a:solidFill>
                  <a:srgbClr val="4668F5"/>
                </a:solidFill>
                <a:latin typeface="黑体"/>
                <a:cs typeface="黑体"/>
              </a:rPr>
              <a:t>一</a:t>
            </a:r>
            <a:r>
              <a:rPr dirty="0" sz="2000">
                <a:solidFill>
                  <a:srgbClr val="4668F5"/>
                </a:solidFill>
                <a:latin typeface="黑体"/>
                <a:cs typeface="黑体"/>
              </a:rPr>
              <a:t>级存</a:t>
            </a:r>
            <a:r>
              <a:rPr dirty="0" sz="2000" spc="-15">
                <a:solidFill>
                  <a:srgbClr val="4668F5"/>
                </a:solidFill>
                <a:latin typeface="黑体"/>
                <a:cs typeface="黑体"/>
              </a:rPr>
              <a:t>储</a:t>
            </a:r>
            <a:r>
              <a:rPr dirty="0" sz="2000">
                <a:solidFill>
                  <a:srgbClr val="4668F5"/>
                </a:solidFill>
                <a:latin typeface="黑体"/>
                <a:cs typeface="黑体"/>
              </a:rPr>
              <a:t>器，</a:t>
            </a:r>
            <a:r>
              <a:rPr dirty="0" sz="2000" spc="-15">
                <a:solidFill>
                  <a:srgbClr val="4668F5"/>
                </a:solidFill>
                <a:latin typeface="黑体"/>
                <a:cs typeface="黑体"/>
              </a:rPr>
              <a:t>因</a:t>
            </a:r>
            <a:r>
              <a:rPr dirty="0" sz="2000">
                <a:solidFill>
                  <a:srgbClr val="4668F5"/>
                </a:solidFill>
                <a:latin typeface="黑体"/>
                <a:cs typeface="黑体"/>
              </a:rPr>
              <a:t>为这</a:t>
            </a:r>
            <a:r>
              <a:rPr dirty="0" sz="2000" spc="-15">
                <a:solidFill>
                  <a:srgbClr val="4668F5"/>
                </a:solidFill>
                <a:latin typeface="黑体"/>
                <a:cs typeface="黑体"/>
              </a:rPr>
              <a:t>时</a:t>
            </a:r>
            <a:r>
              <a:rPr dirty="0" sz="2000">
                <a:solidFill>
                  <a:srgbClr val="4668F5"/>
                </a:solidFill>
                <a:latin typeface="黑体"/>
                <a:cs typeface="黑体"/>
              </a:rPr>
              <a:t>下一</a:t>
            </a:r>
            <a:r>
              <a:rPr dirty="0" sz="2000" spc="-15">
                <a:solidFill>
                  <a:srgbClr val="4668F5"/>
                </a:solidFill>
                <a:latin typeface="黑体"/>
                <a:cs typeface="黑体"/>
              </a:rPr>
              <a:t>级</a:t>
            </a:r>
            <a:r>
              <a:rPr dirty="0" sz="2000">
                <a:solidFill>
                  <a:srgbClr val="4668F5"/>
                </a:solidFill>
                <a:latin typeface="黑体"/>
                <a:cs typeface="黑体"/>
              </a:rPr>
              <a:t>存储</a:t>
            </a:r>
            <a:r>
              <a:rPr dirty="0" sz="2000" spc="-15">
                <a:solidFill>
                  <a:srgbClr val="4668F5"/>
                </a:solidFill>
                <a:latin typeface="黑体"/>
                <a:cs typeface="黑体"/>
              </a:rPr>
              <a:t>器</a:t>
            </a:r>
            <a:r>
              <a:rPr dirty="0" sz="2000">
                <a:solidFill>
                  <a:srgbClr val="4668F5"/>
                </a:solidFill>
                <a:latin typeface="黑体"/>
                <a:cs typeface="黑体"/>
              </a:rPr>
              <a:t>中相</a:t>
            </a:r>
            <a:r>
              <a:rPr dirty="0" sz="2000" spc="-15">
                <a:solidFill>
                  <a:srgbClr val="4668F5"/>
                </a:solidFill>
                <a:latin typeface="黑体"/>
                <a:cs typeface="黑体"/>
              </a:rPr>
              <a:t>应</a:t>
            </a:r>
            <a:r>
              <a:rPr dirty="0" sz="2000">
                <a:solidFill>
                  <a:srgbClr val="4668F5"/>
                </a:solidFill>
                <a:latin typeface="黑体"/>
                <a:cs typeface="黑体"/>
              </a:rPr>
              <a:t>块的</a:t>
            </a:r>
            <a:r>
              <a:rPr dirty="0" sz="2000" spc="-15">
                <a:solidFill>
                  <a:srgbClr val="4668F5"/>
                </a:solidFill>
                <a:latin typeface="黑体"/>
                <a:cs typeface="黑体"/>
              </a:rPr>
              <a:t>内</a:t>
            </a:r>
            <a:r>
              <a:rPr dirty="0" sz="2000">
                <a:solidFill>
                  <a:srgbClr val="4668F5"/>
                </a:solidFill>
                <a:latin typeface="黑体"/>
                <a:cs typeface="黑体"/>
              </a:rPr>
              <a:t>容与</a:t>
            </a:r>
            <a:r>
              <a:rPr dirty="0" sz="2000" spc="-10">
                <a:solidFill>
                  <a:srgbClr val="4668F5"/>
                </a:solidFill>
                <a:latin typeface="黑体"/>
                <a:cs typeface="黑体"/>
              </a:rPr>
              <a:t> </a:t>
            </a:r>
            <a:r>
              <a:rPr dirty="0" sz="2000">
                <a:solidFill>
                  <a:srgbClr val="4668F5"/>
                </a:solidFill>
                <a:latin typeface="宋体"/>
                <a:cs typeface="宋体"/>
              </a:rPr>
              <a:t>Cache</a:t>
            </a:r>
            <a:r>
              <a:rPr dirty="0" sz="2000" spc="-15">
                <a:solidFill>
                  <a:srgbClr val="4668F5"/>
                </a:solidFill>
                <a:latin typeface="宋体"/>
                <a:cs typeface="宋体"/>
              </a:rPr>
              <a:t> </a:t>
            </a:r>
            <a:r>
              <a:rPr dirty="0" sz="2000">
                <a:solidFill>
                  <a:srgbClr val="4668F5"/>
                </a:solidFill>
                <a:latin typeface="黑体"/>
                <a:cs typeface="黑体"/>
              </a:rPr>
              <a:t>中的一致</a:t>
            </a:r>
            <a:r>
              <a:rPr dirty="0" sz="2000" spc="-50">
                <a:solidFill>
                  <a:srgbClr val="4668F5"/>
                </a:solidFill>
                <a:latin typeface="黑体"/>
                <a:cs typeface="黑体"/>
              </a:rPr>
              <a:t>。</a:t>
            </a:r>
            <a:endParaRPr sz="2000">
              <a:latin typeface="黑体"/>
              <a:cs typeface="黑体"/>
            </a:endParaRPr>
          </a:p>
        </p:txBody>
      </p:sp>
      <p:sp>
        <p:nvSpPr>
          <p:cNvPr id="17" name="object 17"/>
          <p:cNvSpPr txBox="1">
            <a:spLocks noGrp="1"/>
          </p:cNvSpPr>
          <p:nvPr>
            <p:ph type="title"/>
          </p:nvPr>
        </p:nvSpPr>
        <p:spPr>
          <a:xfrm>
            <a:off x="1710944" y="47370"/>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7.2.6</a:t>
            </a:r>
            <a:r>
              <a:rPr dirty="0" u="none" sz="2600" spc="-20">
                <a:solidFill>
                  <a:srgbClr val="0000CC"/>
                </a:solidFill>
              </a:rPr>
              <a:t> 写策略</a:t>
            </a:r>
            <a:endParaRPr sz="26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1968754" y="1563750"/>
            <a:ext cx="238125" cy="250825"/>
          </a:xfrm>
          <a:prstGeom prst="rect">
            <a:avLst/>
          </a:prstGeom>
        </p:spPr>
      </p:pic>
      <p:pic>
        <p:nvPicPr>
          <p:cNvPr id="10" name="object 10" descr=""/>
          <p:cNvPicPr/>
          <p:nvPr/>
        </p:nvPicPr>
        <p:blipFill>
          <a:blip r:embed="rId3" cstate="print"/>
          <a:stretch>
            <a:fillRect/>
          </a:stretch>
        </p:blipFill>
        <p:spPr>
          <a:xfrm>
            <a:off x="7150608" y="1563750"/>
            <a:ext cx="238125" cy="250825"/>
          </a:xfrm>
          <a:prstGeom prst="rect">
            <a:avLst/>
          </a:prstGeom>
        </p:spPr>
      </p:pic>
      <p:sp>
        <p:nvSpPr>
          <p:cNvPr id="11" name="object 11" descr=""/>
          <p:cNvSpPr txBox="1"/>
          <p:nvPr/>
        </p:nvSpPr>
        <p:spPr>
          <a:xfrm>
            <a:off x="532891" y="819150"/>
            <a:ext cx="11475720" cy="4265930"/>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Font typeface="Tahoma"/>
              <a:buAutoNum type="arabicPeriod" startAt="5"/>
              <a:tabLst>
                <a:tab pos="469265" algn="l"/>
              </a:tabLst>
            </a:pPr>
            <a:r>
              <a:rPr dirty="0" sz="2400" spc="-10">
                <a:solidFill>
                  <a:srgbClr val="E14B04"/>
                </a:solidFill>
                <a:latin typeface="黑体"/>
                <a:cs typeface="黑体"/>
              </a:rPr>
              <a:t>两种写策略的比较</a:t>
            </a:r>
            <a:endParaRPr sz="2400">
              <a:latin typeface="黑体"/>
              <a:cs typeface="黑体"/>
            </a:endParaRPr>
          </a:p>
          <a:p>
            <a:pPr lvl="1" marL="1099185" marR="5080" indent="-457200">
              <a:lnSpc>
                <a:spcPct val="120000"/>
              </a:lnSpc>
              <a:spcBef>
                <a:spcPts val="580"/>
              </a:spcBef>
              <a:buSzPct val="89583"/>
              <a:buFont typeface="Wingdings"/>
              <a:buChar char=""/>
              <a:tabLst>
                <a:tab pos="1099185" algn="l"/>
                <a:tab pos="1708785" algn="l"/>
                <a:tab pos="6890384" algn="l"/>
              </a:tabLst>
            </a:pPr>
            <a:r>
              <a:rPr dirty="0" sz="2400" spc="-50">
                <a:solidFill>
                  <a:srgbClr val="40458B"/>
                </a:solidFill>
                <a:latin typeface="黑体"/>
                <a:cs typeface="黑体"/>
              </a:rPr>
              <a:t>写</a:t>
            </a:r>
            <a:r>
              <a:rPr dirty="0" sz="2400">
                <a:solidFill>
                  <a:srgbClr val="40458B"/>
                </a:solidFill>
                <a:latin typeface="黑体"/>
                <a:cs typeface="黑体"/>
              </a:rPr>
              <a:t>	法的</a:t>
            </a:r>
            <a:r>
              <a:rPr dirty="0" sz="2400">
                <a:solidFill>
                  <a:srgbClr val="D50092"/>
                </a:solidFill>
                <a:latin typeface="黑体"/>
                <a:cs typeface="黑体"/>
              </a:rPr>
              <a:t>优点：</a:t>
            </a:r>
            <a:r>
              <a:rPr dirty="0" sz="2400">
                <a:solidFill>
                  <a:srgbClr val="40458B"/>
                </a:solidFill>
                <a:latin typeface="黑体"/>
                <a:cs typeface="黑体"/>
              </a:rPr>
              <a:t>速度快（只有置换时才</a:t>
            </a:r>
            <a:r>
              <a:rPr dirty="0" sz="2400" spc="-50">
                <a:solidFill>
                  <a:srgbClr val="40458B"/>
                </a:solidFill>
                <a:latin typeface="黑体"/>
                <a:cs typeface="黑体"/>
              </a:rPr>
              <a:t>写</a:t>
            </a:r>
            <a:r>
              <a:rPr dirty="0" sz="2400">
                <a:solidFill>
                  <a:srgbClr val="40458B"/>
                </a:solidFill>
                <a:latin typeface="黑体"/>
                <a:cs typeface="黑体"/>
              </a:rPr>
              <a:t>	下一级存储器），所使用的存储</a:t>
            </a:r>
            <a:r>
              <a:rPr dirty="0" sz="2400" spc="-50">
                <a:solidFill>
                  <a:srgbClr val="40458B"/>
                </a:solidFill>
                <a:latin typeface="黑体"/>
                <a:cs typeface="黑体"/>
              </a:rPr>
              <a:t>器</a:t>
            </a:r>
            <a:r>
              <a:rPr dirty="0" sz="2400">
                <a:solidFill>
                  <a:srgbClr val="40458B"/>
                </a:solidFill>
                <a:latin typeface="黑体"/>
                <a:cs typeface="黑体"/>
              </a:rPr>
              <a:t>带宽较低（</a:t>
            </a:r>
            <a:r>
              <a:rPr dirty="0" u="sng" sz="2400">
                <a:solidFill>
                  <a:srgbClr val="40458B"/>
                </a:solidFill>
                <a:uFill>
                  <a:solidFill>
                    <a:srgbClr val="40458B"/>
                  </a:solidFill>
                </a:uFill>
                <a:latin typeface="黑体"/>
                <a:cs typeface="黑体"/>
              </a:rPr>
              <a:t>因为大部分是对</a:t>
            </a:r>
            <a:r>
              <a:rPr dirty="0" u="sng" sz="2400" spc="-25">
                <a:solidFill>
                  <a:srgbClr val="40458B"/>
                </a:solidFill>
                <a:uFill>
                  <a:solidFill>
                    <a:srgbClr val="40458B"/>
                  </a:solidFill>
                </a:uFill>
                <a:latin typeface="Tahoma"/>
                <a:cs typeface="Tahoma"/>
              </a:rPr>
              <a:t>Cache</a:t>
            </a:r>
            <a:r>
              <a:rPr dirty="0" u="sng" sz="2400">
                <a:solidFill>
                  <a:srgbClr val="40458B"/>
                </a:solidFill>
                <a:uFill>
                  <a:solidFill>
                    <a:srgbClr val="40458B"/>
                  </a:solidFill>
                </a:uFill>
                <a:latin typeface="黑体"/>
                <a:cs typeface="黑体"/>
              </a:rPr>
              <a:t>写</a:t>
            </a:r>
            <a:r>
              <a:rPr dirty="0" u="none" sz="2400">
                <a:solidFill>
                  <a:srgbClr val="40458B"/>
                </a:solidFill>
                <a:latin typeface="黑体"/>
                <a:cs typeface="黑体"/>
              </a:rPr>
              <a:t>）</a:t>
            </a:r>
            <a:r>
              <a:rPr dirty="0" u="none" sz="2400" spc="-50">
                <a:solidFill>
                  <a:srgbClr val="40458B"/>
                </a:solidFill>
                <a:latin typeface="黑体"/>
                <a:cs typeface="黑体"/>
              </a:rPr>
              <a:t>。</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写直达法的</a:t>
            </a:r>
            <a:r>
              <a:rPr dirty="0" sz="2400">
                <a:solidFill>
                  <a:srgbClr val="D50092"/>
                </a:solidFill>
                <a:latin typeface="黑体"/>
                <a:cs typeface="黑体"/>
              </a:rPr>
              <a:t>优点：</a:t>
            </a:r>
            <a:r>
              <a:rPr dirty="0" sz="2400">
                <a:solidFill>
                  <a:srgbClr val="40458B"/>
                </a:solidFill>
                <a:latin typeface="黑体"/>
                <a:cs typeface="黑体"/>
              </a:rPr>
              <a:t>易于实现，一致性好</a:t>
            </a:r>
            <a:r>
              <a:rPr dirty="0" sz="2400" spc="-10">
                <a:solidFill>
                  <a:srgbClr val="40458B"/>
                </a:solidFill>
                <a:latin typeface="黑体"/>
                <a:cs typeface="黑体"/>
              </a:rPr>
              <a:t>（</a:t>
            </a:r>
            <a:r>
              <a:rPr dirty="0" u="sng" sz="2400" spc="-10">
                <a:solidFill>
                  <a:srgbClr val="40458B"/>
                </a:solidFill>
                <a:uFill>
                  <a:solidFill>
                    <a:srgbClr val="40458B"/>
                  </a:solidFill>
                </a:uFill>
                <a:latin typeface="Tahoma"/>
                <a:cs typeface="Tahoma"/>
              </a:rPr>
              <a:t>cache</a:t>
            </a:r>
            <a:r>
              <a:rPr dirty="0" u="sng" sz="2400">
                <a:solidFill>
                  <a:srgbClr val="40458B"/>
                </a:solidFill>
                <a:uFill>
                  <a:solidFill>
                    <a:srgbClr val="40458B"/>
                  </a:solidFill>
                </a:uFill>
                <a:latin typeface="黑体"/>
                <a:cs typeface="黑体"/>
              </a:rPr>
              <a:t>、主存两者同时写</a:t>
            </a:r>
            <a:r>
              <a:rPr dirty="0" u="none" sz="2400">
                <a:solidFill>
                  <a:srgbClr val="40458B"/>
                </a:solidFill>
                <a:latin typeface="黑体"/>
                <a:cs typeface="黑体"/>
              </a:rPr>
              <a:t>）</a:t>
            </a:r>
            <a:r>
              <a:rPr dirty="0" u="none" sz="2400" spc="-50">
                <a:solidFill>
                  <a:srgbClr val="40458B"/>
                </a:solidFill>
                <a:latin typeface="黑体"/>
                <a:cs typeface="黑体"/>
              </a:rPr>
              <a:t>。</a:t>
            </a:r>
            <a:endParaRPr sz="2400">
              <a:latin typeface="黑体"/>
              <a:cs typeface="黑体"/>
            </a:endParaRPr>
          </a:p>
          <a:p>
            <a:pPr marL="469265" marR="175895" indent="-457200">
              <a:lnSpc>
                <a:spcPct val="120000"/>
              </a:lnSpc>
              <a:spcBef>
                <a:spcPts val="580"/>
              </a:spcBef>
              <a:buClr>
                <a:srgbClr val="40458B"/>
              </a:buClr>
              <a:buAutoNum type="arabicPeriod" startAt="5"/>
              <a:tabLst>
                <a:tab pos="469265" algn="l"/>
              </a:tabLst>
            </a:pPr>
            <a:r>
              <a:rPr dirty="0" sz="2400">
                <a:solidFill>
                  <a:srgbClr val="E14B04"/>
                </a:solidFill>
                <a:latin typeface="黑体"/>
                <a:cs typeface="黑体"/>
              </a:rPr>
              <a:t>采用</a:t>
            </a:r>
            <a:r>
              <a:rPr dirty="0" sz="2400">
                <a:solidFill>
                  <a:srgbClr val="FF09FF"/>
                </a:solidFill>
                <a:latin typeface="黑体"/>
                <a:cs typeface="黑体"/>
              </a:rPr>
              <a:t>写直达法</a:t>
            </a:r>
            <a:r>
              <a:rPr dirty="0" sz="2400">
                <a:solidFill>
                  <a:srgbClr val="E14B04"/>
                </a:solidFill>
                <a:latin typeface="黑体"/>
                <a:cs typeface="黑体"/>
              </a:rPr>
              <a:t>时，若在进行“写”操作的过程中CPU</a:t>
            </a:r>
            <a:r>
              <a:rPr dirty="0" sz="2400" spc="-5">
                <a:solidFill>
                  <a:srgbClr val="E14B04"/>
                </a:solidFill>
                <a:latin typeface="黑体"/>
                <a:cs typeface="黑体"/>
              </a:rPr>
              <a:t>必须等待，直到“写”操作结</a:t>
            </a:r>
            <a:r>
              <a:rPr dirty="0" sz="2400">
                <a:solidFill>
                  <a:srgbClr val="E14B04"/>
                </a:solidFill>
                <a:latin typeface="黑体"/>
                <a:cs typeface="黑体"/>
              </a:rPr>
              <a:t>束，则称</a:t>
            </a:r>
            <a:r>
              <a:rPr dirty="0" sz="2400">
                <a:solidFill>
                  <a:srgbClr val="FF0000"/>
                </a:solidFill>
                <a:latin typeface="黑体"/>
                <a:cs typeface="黑体"/>
              </a:rPr>
              <a:t>CPU</a:t>
            </a:r>
            <a:r>
              <a:rPr dirty="0" sz="2400" spc="-15">
                <a:solidFill>
                  <a:srgbClr val="FF0000"/>
                </a:solidFill>
                <a:latin typeface="黑体"/>
                <a:cs typeface="黑体"/>
              </a:rPr>
              <a:t>写停顿。</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5">
                <a:solidFill>
                  <a:srgbClr val="40458B"/>
                </a:solidFill>
                <a:latin typeface="黑体"/>
                <a:cs typeface="黑体"/>
              </a:rPr>
              <a:t>减少写停顿的一种常用的优化技术：</a:t>
            </a:r>
            <a:endParaRPr sz="2400">
              <a:latin typeface="黑体"/>
              <a:cs typeface="黑体"/>
            </a:endParaRPr>
          </a:p>
          <a:p>
            <a:pPr lvl="2" marL="1913255" marR="82550" indent="-457834">
              <a:lnSpc>
                <a:spcPct val="120000"/>
              </a:lnSpc>
              <a:spcBef>
                <a:spcPts val="545"/>
              </a:spcBef>
              <a:buClr>
                <a:srgbClr val="4668F5"/>
              </a:buClr>
              <a:buSzPct val="60000"/>
              <a:buFont typeface="Wingdings"/>
              <a:buChar char=""/>
              <a:tabLst>
                <a:tab pos="1913255" algn="l"/>
              </a:tabLst>
            </a:pPr>
            <a:r>
              <a:rPr dirty="0" sz="2000" spc="-10" b="1">
                <a:solidFill>
                  <a:srgbClr val="FF0000"/>
                </a:solidFill>
                <a:latin typeface="宋体"/>
                <a:cs typeface="宋体"/>
              </a:rPr>
              <a:t>采用写缓冲器（</a:t>
            </a:r>
            <a:r>
              <a:rPr dirty="0" sz="2000" spc="-20" b="1">
                <a:solidFill>
                  <a:srgbClr val="FF0000"/>
                </a:solidFill>
                <a:latin typeface="宋体"/>
                <a:cs typeface="宋体"/>
              </a:rPr>
              <a:t>设置在写存储器的通路上</a:t>
            </a:r>
            <a:r>
              <a:rPr dirty="0" sz="2000" spc="-10" b="1">
                <a:solidFill>
                  <a:srgbClr val="FF0000"/>
                </a:solidFill>
                <a:latin typeface="宋体"/>
                <a:cs typeface="宋体"/>
              </a:rPr>
              <a:t>）</a:t>
            </a:r>
            <a:r>
              <a:rPr dirty="0" sz="2000" spc="-10" b="1">
                <a:solidFill>
                  <a:srgbClr val="00AFEF"/>
                </a:solidFill>
                <a:latin typeface="宋体"/>
                <a:cs typeface="宋体"/>
              </a:rPr>
              <a:t>，</a:t>
            </a:r>
            <a:r>
              <a:rPr dirty="0" sz="2000" spc="-10" b="1">
                <a:solidFill>
                  <a:srgbClr val="00AFEF"/>
                </a:solidFill>
                <a:latin typeface="Tahoma"/>
                <a:cs typeface="Tahoma"/>
              </a:rPr>
              <a:t>CPU</a:t>
            </a:r>
            <a:r>
              <a:rPr dirty="0" sz="2000" spc="-20" b="1">
                <a:solidFill>
                  <a:srgbClr val="00AFEF"/>
                </a:solidFill>
                <a:latin typeface="宋体"/>
                <a:cs typeface="宋体"/>
              </a:rPr>
              <a:t>一旦把数据写入该缓冲器（</a:t>
            </a:r>
            <a:r>
              <a:rPr dirty="0" sz="2000" spc="-25" b="1">
                <a:solidFill>
                  <a:srgbClr val="00AFEF"/>
                </a:solidFill>
                <a:latin typeface="宋体"/>
                <a:cs typeface="宋体"/>
              </a:rPr>
              <a:t>写操作</a:t>
            </a:r>
            <a:r>
              <a:rPr dirty="0" sz="2000" spc="-10" b="1">
                <a:solidFill>
                  <a:srgbClr val="00AFEF"/>
                </a:solidFill>
                <a:latin typeface="宋体"/>
                <a:cs typeface="宋体"/>
              </a:rPr>
              <a:t>完成），</a:t>
            </a:r>
            <a:r>
              <a:rPr dirty="0" sz="2000" spc="-20" b="1">
                <a:solidFill>
                  <a:srgbClr val="00AFEF"/>
                </a:solidFill>
                <a:latin typeface="宋体"/>
                <a:cs typeface="宋体"/>
              </a:rPr>
              <a:t>就可以继续执行，因而使下一级存储器的更新和</a:t>
            </a:r>
            <a:r>
              <a:rPr dirty="0" sz="2000" spc="-10" b="1">
                <a:solidFill>
                  <a:srgbClr val="00AFEF"/>
                </a:solidFill>
                <a:latin typeface="Tahoma"/>
                <a:cs typeface="Tahoma"/>
              </a:rPr>
              <a:t>CPU</a:t>
            </a:r>
            <a:r>
              <a:rPr dirty="0" sz="2000" spc="-20" b="1">
                <a:solidFill>
                  <a:srgbClr val="00AFEF"/>
                </a:solidFill>
                <a:latin typeface="宋体"/>
                <a:cs typeface="宋体"/>
              </a:rPr>
              <a:t>的执行并行执行</a:t>
            </a:r>
            <a:endParaRPr sz="2000">
              <a:latin typeface="宋体"/>
              <a:cs typeface="宋体"/>
            </a:endParaRPr>
          </a:p>
        </p:txBody>
      </p:sp>
      <p:sp>
        <p:nvSpPr>
          <p:cNvPr id="12" name="object 12"/>
          <p:cNvSpPr txBox="1">
            <a:spLocks noGrp="1"/>
          </p:cNvSpPr>
          <p:nvPr>
            <p:ph type="title"/>
          </p:nvPr>
        </p:nvSpPr>
        <p:spPr>
          <a:xfrm>
            <a:off x="1710944" y="47370"/>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7.2.6</a:t>
            </a:r>
            <a:r>
              <a:rPr dirty="0" u="none" sz="2600" spc="-20">
                <a:solidFill>
                  <a:srgbClr val="0000CC"/>
                </a:solidFill>
              </a:rPr>
              <a:t> 写策略</a:t>
            </a:r>
            <a:endParaRPr sz="26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5444109" y="2140204"/>
            <a:ext cx="238125" cy="250825"/>
          </a:xfrm>
          <a:prstGeom prst="rect">
            <a:avLst/>
          </a:prstGeom>
        </p:spPr>
      </p:pic>
      <p:sp>
        <p:nvSpPr>
          <p:cNvPr id="10" name="object 10" descr=""/>
          <p:cNvSpPr txBox="1"/>
          <p:nvPr/>
        </p:nvSpPr>
        <p:spPr>
          <a:xfrm>
            <a:off x="197916" y="663066"/>
            <a:ext cx="12033250" cy="4535170"/>
          </a:xfrm>
          <a:prstGeom prst="rect">
            <a:avLst/>
          </a:prstGeom>
        </p:spPr>
        <p:txBody>
          <a:bodyPr wrap="square" lIns="0" tIns="31750" rIns="0" bIns="0" rtlCol="0" vert="horz">
            <a:spAutoFit/>
          </a:bodyPr>
          <a:lstStyle/>
          <a:p>
            <a:pPr marL="227965" marR="518795">
              <a:lnSpc>
                <a:spcPts val="2810"/>
              </a:lnSpc>
              <a:spcBef>
                <a:spcPts val="250"/>
              </a:spcBef>
            </a:pPr>
            <a:r>
              <a:rPr dirty="0" sz="2400" spc="-5">
                <a:solidFill>
                  <a:srgbClr val="40458B"/>
                </a:solidFill>
                <a:latin typeface="黑体"/>
                <a:cs typeface="黑体"/>
              </a:rPr>
              <a:t>由于“写”访问并不需要用到所访问单元中原有的数据。所以，当发生写失效时，是</a:t>
            </a:r>
            <a:r>
              <a:rPr dirty="0" sz="2400" spc="-10">
                <a:solidFill>
                  <a:srgbClr val="40458B"/>
                </a:solidFill>
                <a:latin typeface="黑体"/>
                <a:cs typeface="黑体"/>
              </a:rPr>
              <a:t>否调入相应的块，有两种选择：</a:t>
            </a:r>
            <a:r>
              <a:rPr dirty="0" sz="2400" spc="-15">
                <a:solidFill>
                  <a:srgbClr val="FF0000"/>
                </a:solidFill>
                <a:latin typeface="黑体"/>
                <a:cs typeface="黑体"/>
              </a:rPr>
              <a:t>按写分配(写时取)、不按写分配(绕写法)</a:t>
            </a:r>
            <a:endParaRPr sz="2400">
              <a:latin typeface="黑体"/>
              <a:cs typeface="黑体"/>
            </a:endParaRPr>
          </a:p>
          <a:p>
            <a:pPr marL="469265" indent="-456565">
              <a:lnSpc>
                <a:spcPct val="100000"/>
              </a:lnSpc>
              <a:spcBef>
                <a:spcPts val="1150"/>
              </a:spcBef>
              <a:buClr>
                <a:srgbClr val="40458B"/>
              </a:buClr>
              <a:buAutoNum type="arabicPeriod" startAt="7"/>
              <a:tabLst>
                <a:tab pos="469265" algn="l"/>
              </a:tabLst>
            </a:pPr>
            <a:r>
              <a:rPr dirty="0" sz="2400">
                <a:solidFill>
                  <a:srgbClr val="E14B04"/>
                </a:solidFill>
                <a:latin typeface="Times New Roman"/>
                <a:cs typeface="Times New Roman"/>
              </a:rPr>
              <a:t>“</a:t>
            </a:r>
            <a:r>
              <a:rPr dirty="0" sz="2400" spc="-5">
                <a:solidFill>
                  <a:srgbClr val="E14B04"/>
                </a:solidFill>
                <a:latin typeface="黑体"/>
                <a:cs typeface="黑体"/>
              </a:rPr>
              <a:t>写”操作时的调块</a:t>
            </a:r>
            <a:r>
              <a:rPr dirty="0" sz="2400">
                <a:solidFill>
                  <a:srgbClr val="E14B04"/>
                </a:solidFill>
                <a:latin typeface="黑体"/>
                <a:cs typeface="黑体"/>
              </a:rPr>
              <a:t>（</a:t>
            </a:r>
            <a:r>
              <a:rPr dirty="0" sz="2000" spc="-10">
                <a:solidFill>
                  <a:srgbClr val="E14B04"/>
                </a:solidFill>
                <a:latin typeface="黑体"/>
                <a:cs typeface="黑体"/>
              </a:rPr>
              <a:t>失效时到底要不要调块</a:t>
            </a:r>
            <a:r>
              <a:rPr dirty="0" sz="2400" spc="-50">
                <a:solidFill>
                  <a:srgbClr val="E14B04"/>
                </a:solidFill>
                <a:latin typeface="黑体"/>
                <a:cs typeface="黑体"/>
              </a:rPr>
              <a:t>）</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 pos="5518785" algn="l"/>
              </a:tabLst>
            </a:pPr>
            <a:r>
              <a:rPr dirty="0" sz="2400">
                <a:solidFill>
                  <a:srgbClr val="FF0000"/>
                </a:solidFill>
                <a:latin typeface="黑体"/>
                <a:cs typeface="黑体"/>
              </a:rPr>
              <a:t>按写分配(写时取)---适用于</a:t>
            </a:r>
            <a:r>
              <a:rPr dirty="0" sz="2400" spc="-50">
                <a:solidFill>
                  <a:srgbClr val="FF0000"/>
                </a:solidFill>
                <a:latin typeface="黑体"/>
                <a:cs typeface="黑体"/>
              </a:rPr>
              <a:t>写</a:t>
            </a:r>
            <a:r>
              <a:rPr dirty="0" sz="2400">
                <a:solidFill>
                  <a:srgbClr val="FF0000"/>
                </a:solidFill>
                <a:latin typeface="黑体"/>
                <a:cs typeface="黑体"/>
              </a:rPr>
              <a:t>	</a:t>
            </a:r>
            <a:r>
              <a:rPr dirty="0" sz="2400" spc="-50">
                <a:solidFill>
                  <a:srgbClr val="FF0000"/>
                </a:solidFill>
                <a:latin typeface="黑体"/>
                <a:cs typeface="黑体"/>
              </a:rPr>
              <a:t>法</a:t>
            </a:r>
            <a:endParaRPr sz="2400">
              <a:latin typeface="黑体"/>
              <a:cs typeface="黑体"/>
            </a:endParaRPr>
          </a:p>
          <a:p>
            <a:pPr algn="just" lvl="2" marL="1911985" marR="11430" indent="-456565">
              <a:lnSpc>
                <a:spcPct val="120000"/>
              </a:lnSpc>
              <a:spcBef>
                <a:spcPts val="545"/>
              </a:spcBef>
              <a:buClr>
                <a:srgbClr val="4668F5"/>
              </a:buClr>
              <a:buSzPct val="60000"/>
              <a:buFont typeface="Wingdings"/>
              <a:buChar char=""/>
              <a:tabLst>
                <a:tab pos="1913255" algn="l"/>
              </a:tabLst>
            </a:pPr>
            <a:r>
              <a:rPr dirty="0" sz="2000" spc="-10" b="1">
                <a:solidFill>
                  <a:srgbClr val="00AFEF"/>
                </a:solidFill>
                <a:latin typeface="宋体"/>
                <a:cs typeface="宋体"/>
              </a:rPr>
              <a:t>写不命中时，</a:t>
            </a:r>
            <a:r>
              <a:rPr dirty="0" sz="2000" spc="-10" b="1">
                <a:solidFill>
                  <a:srgbClr val="FF09FF"/>
                </a:solidFill>
                <a:latin typeface="宋体"/>
                <a:cs typeface="宋体"/>
              </a:rPr>
              <a:t>先</a:t>
            </a:r>
            <a:r>
              <a:rPr dirty="0" sz="2000" spc="-20" b="1">
                <a:solidFill>
                  <a:srgbClr val="00AFEF"/>
                </a:solidFill>
                <a:latin typeface="宋体"/>
                <a:cs typeface="宋体"/>
              </a:rPr>
              <a:t>把所写单元所在的块调入Cache，再行写入</a:t>
            </a:r>
            <a:r>
              <a:rPr dirty="0" sz="2000" spc="-10" b="1">
                <a:solidFill>
                  <a:srgbClr val="00AFEF"/>
                </a:solidFill>
                <a:latin typeface="宋体"/>
                <a:cs typeface="宋体"/>
              </a:rPr>
              <a:t>（</a:t>
            </a:r>
            <a:r>
              <a:rPr dirty="0" sz="2000" spc="-25" b="1">
                <a:solidFill>
                  <a:srgbClr val="00AFEF"/>
                </a:solidFill>
                <a:latin typeface="宋体"/>
                <a:cs typeface="宋体"/>
              </a:rPr>
              <a:t>因为后续对其读写的可能性较</a:t>
            </a:r>
            <a:r>
              <a:rPr dirty="0" sz="2000" spc="-25" b="1">
                <a:solidFill>
                  <a:srgbClr val="00AFEF"/>
                </a:solidFill>
                <a:latin typeface="宋体"/>
                <a:cs typeface="宋体"/>
              </a:rPr>
              <a:t>	</a:t>
            </a:r>
            <a:r>
              <a:rPr dirty="0" sz="2000" spc="-10" b="1">
                <a:solidFill>
                  <a:srgbClr val="00AFEF"/>
                </a:solidFill>
                <a:latin typeface="宋体"/>
                <a:cs typeface="宋体"/>
              </a:rPr>
              <a:t>大）</a:t>
            </a:r>
            <a:r>
              <a:rPr dirty="0" sz="2000" spc="-50" b="1">
                <a:solidFill>
                  <a:srgbClr val="00AFEF"/>
                </a:solidFill>
                <a:latin typeface="宋体"/>
                <a:cs typeface="宋体"/>
              </a:rPr>
              <a:t>。</a:t>
            </a:r>
            <a:endParaRPr sz="2000">
              <a:latin typeface="宋体"/>
              <a:cs typeface="宋体"/>
            </a:endParaRPr>
          </a:p>
          <a:p>
            <a:pPr algn="just" lvl="2" marL="1911985" marR="8255" indent="-456565">
              <a:lnSpc>
                <a:spcPct val="120000"/>
              </a:lnSpc>
              <a:spcBef>
                <a:spcPts val="480"/>
              </a:spcBef>
              <a:buClr>
                <a:srgbClr val="4668F5"/>
              </a:buClr>
              <a:buSzPct val="60000"/>
              <a:buFont typeface="Wingdings"/>
              <a:buChar char=""/>
              <a:tabLst>
                <a:tab pos="1913255" algn="l"/>
              </a:tabLst>
            </a:pPr>
            <a:r>
              <a:rPr dirty="0" sz="2000" spc="-20" b="1">
                <a:solidFill>
                  <a:srgbClr val="00AFEF"/>
                </a:solidFill>
                <a:latin typeface="宋体"/>
                <a:cs typeface="宋体"/>
              </a:rPr>
              <a:t>拷贝拷贝主存块时虽已读访问到主存，但此时并不对主存块修改。因为换出的cache</a:t>
            </a:r>
            <a:r>
              <a:rPr dirty="0" sz="2000" spc="-30" b="1">
                <a:solidFill>
                  <a:srgbClr val="00AFEF"/>
                </a:solidFill>
                <a:latin typeface="宋体"/>
                <a:cs typeface="宋体"/>
              </a:rPr>
              <a:t>很可能</a:t>
            </a:r>
            <a:r>
              <a:rPr dirty="0" sz="2000" spc="-30" b="1">
                <a:solidFill>
                  <a:srgbClr val="00AFEF"/>
                </a:solidFill>
                <a:latin typeface="宋体"/>
                <a:cs typeface="宋体"/>
              </a:rPr>
              <a:t>	</a:t>
            </a:r>
            <a:r>
              <a:rPr dirty="0" sz="2000" spc="-20" b="1">
                <a:solidFill>
                  <a:srgbClr val="00AFEF"/>
                </a:solidFill>
                <a:latin typeface="宋体"/>
                <a:cs typeface="宋体"/>
              </a:rPr>
              <a:t>此期间要写回主存，为避免此过程耗时太长，写未命中对将新块读入后，只在cache</a:t>
            </a:r>
            <a:r>
              <a:rPr dirty="0" sz="2000" spc="-30" b="1">
                <a:solidFill>
                  <a:srgbClr val="00AFEF"/>
                </a:solidFill>
                <a:latin typeface="宋体"/>
                <a:cs typeface="宋体"/>
              </a:rPr>
              <a:t>中进行</a:t>
            </a:r>
            <a:r>
              <a:rPr dirty="0" sz="2000" spc="-30" b="1">
                <a:solidFill>
                  <a:srgbClr val="00AFEF"/>
                </a:solidFill>
                <a:latin typeface="宋体"/>
                <a:cs typeface="宋体"/>
              </a:rPr>
              <a:t>	</a:t>
            </a:r>
            <a:r>
              <a:rPr dirty="0" sz="2000" spc="-25" b="1">
                <a:solidFill>
                  <a:srgbClr val="00AFEF"/>
                </a:solidFill>
                <a:latin typeface="宋体"/>
                <a:cs typeface="宋体"/>
              </a:rPr>
              <a:t>写修改。统一地将主存写修改操作留待换出时进行。</a:t>
            </a:r>
            <a:endParaRPr sz="2000">
              <a:latin typeface="宋体"/>
              <a:cs typeface="宋体"/>
            </a:endParaRPr>
          </a:p>
          <a:p>
            <a:pPr algn="just" lvl="2" marL="1911985" indent="-456565">
              <a:lnSpc>
                <a:spcPct val="100000"/>
              </a:lnSpc>
              <a:spcBef>
                <a:spcPts val="960"/>
              </a:spcBef>
              <a:buClr>
                <a:srgbClr val="4668F5"/>
              </a:buClr>
              <a:buSzPct val="60000"/>
              <a:buFont typeface="Wingdings"/>
              <a:buChar char=""/>
              <a:tabLst>
                <a:tab pos="1911985" algn="l"/>
              </a:tabLst>
            </a:pPr>
            <a:r>
              <a:rPr dirty="0" sz="2000" spc="-15" b="1">
                <a:solidFill>
                  <a:srgbClr val="00AFEF"/>
                </a:solidFill>
                <a:latin typeface="宋体"/>
                <a:cs typeface="宋体"/>
              </a:rPr>
              <a:t>这种写</a:t>
            </a:r>
            <a:r>
              <a:rPr dirty="0" sz="2000" b="1">
                <a:solidFill>
                  <a:srgbClr val="00AFEF"/>
                </a:solidFill>
                <a:latin typeface="宋体"/>
                <a:cs typeface="宋体"/>
              </a:rPr>
              <a:t>cache</a:t>
            </a:r>
            <a:r>
              <a:rPr dirty="0" sz="2000" spc="-20" b="1">
                <a:solidFill>
                  <a:srgbClr val="00AFEF"/>
                </a:solidFill>
                <a:latin typeface="宋体"/>
                <a:cs typeface="宋体"/>
              </a:rPr>
              <a:t>与写主存分开进行方式可显著减少写主存次数，但写回法也带来了</a:t>
            </a:r>
            <a:r>
              <a:rPr dirty="0" sz="2000" b="1">
                <a:solidFill>
                  <a:srgbClr val="00AFEF"/>
                </a:solidFill>
                <a:latin typeface="宋体"/>
                <a:cs typeface="宋体"/>
              </a:rPr>
              <a:t>cache</a:t>
            </a:r>
            <a:r>
              <a:rPr dirty="0" sz="2000" spc="-20" b="1">
                <a:solidFill>
                  <a:srgbClr val="00AFEF"/>
                </a:solidFill>
                <a:latin typeface="宋体"/>
                <a:cs typeface="宋体"/>
              </a:rPr>
              <a:t> / 主</a:t>
            </a:r>
            <a:endParaRPr sz="2000">
              <a:latin typeface="宋体"/>
              <a:cs typeface="宋体"/>
            </a:endParaRPr>
          </a:p>
          <a:p>
            <a:pPr algn="ctr" marR="139065">
              <a:lnSpc>
                <a:spcPct val="100000"/>
              </a:lnSpc>
              <a:spcBef>
                <a:spcPts val="484"/>
              </a:spcBef>
            </a:pPr>
            <a:r>
              <a:rPr dirty="0" sz="2000" spc="-20" b="1">
                <a:solidFill>
                  <a:srgbClr val="00AFEF"/>
                </a:solidFill>
                <a:latin typeface="宋体"/>
                <a:cs typeface="宋体"/>
              </a:rPr>
              <a:t>存严重的不一致性。后面相关的协议，针对写回法去维护</a:t>
            </a:r>
            <a:r>
              <a:rPr dirty="0" sz="2000" spc="-10" b="1">
                <a:solidFill>
                  <a:srgbClr val="00AFEF"/>
                </a:solidFill>
                <a:latin typeface="宋体"/>
                <a:cs typeface="宋体"/>
              </a:rPr>
              <a:t>cache</a:t>
            </a:r>
            <a:r>
              <a:rPr dirty="0" sz="2000" spc="-25" b="1">
                <a:solidFill>
                  <a:srgbClr val="00AFEF"/>
                </a:solidFill>
                <a:latin typeface="宋体"/>
                <a:cs typeface="宋体"/>
              </a:rPr>
              <a:t>一致性。</a:t>
            </a:r>
            <a:endParaRPr sz="2000">
              <a:latin typeface="宋体"/>
              <a:cs typeface="宋体"/>
            </a:endParaRPr>
          </a:p>
        </p:txBody>
      </p:sp>
      <p:sp>
        <p:nvSpPr>
          <p:cNvPr id="11" name="object 11"/>
          <p:cNvSpPr txBox="1">
            <a:spLocks noGrp="1"/>
          </p:cNvSpPr>
          <p:nvPr>
            <p:ph type="title"/>
          </p:nvPr>
        </p:nvSpPr>
        <p:spPr>
          <a:xfrm>
            <a:off x="1710944" y="47370"/>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7.2.6</a:t>
            </a:r>
            <a:r>
              <a:rPr dirty="0" u="none" sz="2600" spc="-20">
                <a:solidFill>
                  <a:srgbClr val="0000CC"/>
                </a:solidFill>
              </a:rPr>
              <a:t> 写策略</a:t>
            </a:r>
            <a:endParaRPr sz="26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descr=""/>
          <p:cNvPicPr/>
          <p:nvPr/>
        </p:nvPicPr>
        <p:blipFill>
          <a:blip r:embed="rId3" cstate="print"/>
          <a:stretch>
            <a:fillRect/>
          </a:stretch>
        </p:blipFill>
        <p:spPr>
          <a:xfrm>
            <a:off x="1880108" y="3591305"/>
            <a:ext cx="238125" cy="250825"/>
          </a:xfrm>
          <a:prstGeom prst="rect">
            <a:avLst/>
          </a:prstGeom>
        </p:spPr>
      </p:pic>
      <p:sp>
        <p:nvSpPr>
          <p:cNvPr id="10" name="object 10" descr=""/>
          <p:cNvSpPr txBox="1"/>
          <p:nvPr/>
        </p:nvSpPr>
        <p:spPr>
          <a:xfrm>
            <a:off x="413715" y="663066"/>
            <a:ext cx="11303000" cy="3745865"/>
          </a:xfrm>
          <a:prstGeom prst="rect">
            <a:avLst/>
          </a:prstGeom>
        </p:spPr>
        <p:txBody>
          <a:bodyPr wrap="square" lIns="0" tIns="31750" rIns="0" bIns="0" rtlCol="0" vert="horz">
            <a:spAutoFit/>
          </a:bodyPr>
          <a:lstStyle/>
          <a:p>
            <a:pPr marL="12700" marR="5080">
              <a:lnSpc>
                <a:spcPts val="2810"/>
              </a:lnSpc>
              <a:spcBef>
                <a:spcPts val="250"/>
              </a:spcBef>
            </a:pPr>
            <a:r>
              <a:rPr dirty="0" sz="2400" spc="-5">
                <a:solidFill>
                  <a:srgbClr val="40458B"/>
                </a:solidFill>
                <a:latin typeface="黑体"/>
                <a:cs typeface="黑体"/>
              </a:rPr>
              <a:t>由于“写”访问并不需要用到所访问单元中原有的数据。所以，当发生写失效时，是</a:t>
            </a:r>
            <a:r>
              <a:rPr dirty="0" sz="2400" spc="-10">
                <a:solidFill>
                  <a:srgbClr val="40458B"/>
                </a:solidFill>
                <a:latin typeface="黑体"/>
                <a:cs typeface="黑体"/>
              </a:rPr>
              <a:t>否调入相应的块，有两种选择：</a:t>
            </a:r>
            <a:r>
              <a:rPr dirty="0" sz="2400" spc="-15">
                <a:solidFill>
                  <a:srgbClr val="FF0000"/>
                </a:solidFill>
                <a:latin typeface="黑体"/>
                <a:cs typeface="黑体"/>
              </a:rPr>
              <a:t>按写分配(写时取)、不按写分配(绕写法)</a:t>
            </a:r>
            <a:endParaRPr sz="2400">
              <a:latin typeface="黑体"/>
              <a:cs typeface="黑体"/>
            </a:endParaRPr>
          </a:p>
          <a:p>
            <a:pPr marL="499745" indent="-457200">
              <a:lnSpc>
                <a:spcPct val="100000"/>
              </a:lnSpc>
              <a:spcBef>
                <a:spcPts val="1150"/>
              </a:spcBef>
              <a:buClr>
                <a:srgbClr val="40458B"/>
              </a:buClr>
              <a:buAutoNum type="arabicPeriod" startAt="7"/>
              <a:tabLst>
                <a:tab pos="499745" algn="l"/>
              </a:tabLst>
            </a:pPr>
            <a:r>
              <a:rPr dirty="0" sz="2400">
                <a:solidFill>
                  <a:srgbClr val="E14B04"/>
                </a:solidFill>
                <a:latin typeface="Times New Roman"/>
                <a:cs typeface="Times New Roman"/>
              </a:rPr>
              <a:t>“</a:t>
            </a:r>
            <a:r>
              <a:rPr dirty="0" sz="2400" spc="-5">
                <a:solidFill>
                  <a:srgbClr val="E14B04"/>
                </a:solidFill>
                <a:latin typeface="黑体"/>
                <a:cs typeface="黑体"/>
              </a:rPr>
              <a:t>写”操作时的调块</a:t>
            </a:r>
            <a:r>
              <a:rPr dirty="0" sz="2400">
                <a:solidFill>
                  <a:srgbClr val="E14B04"/>
                </a:solidFill>
                <a:latin typeface="黑体"/>
                <a:cs typeface="黑体"/>
              </a:rPr>
              <a:t>（</a:t>
            </a:r>
            <a:r>
              <a:rPr dirty="0" sz="2000" spc="-10">
                <a:solidFill>
                  <a:srgbClr val="E14B04"/>
                </a:solidFill>
                <a:latin typeface="黑体"/>
                <a:cs typeface="黑体"/>
              </a:rPr>
              <a:t>失效时到底要不要调块</a:t>
            </a:r>
            <a:r>
              <a:rPr dirty="0" sz="2400" spc="-50">
                <a:solidFill>
                  <a:srgbClr val="E14B04"/>
                </a:solidFill>
                <a:latin typeface="黑体"/>
                <a:cs typeface="黑体"/>
              </a:rPr>
              <a:t>）</a:t>
            </a:r>
            <a:endParaRPr sz="2400">
              <a:latin typeface="黑体"/>
              <a:cs typeface="黑体"/>
            </a:endParaRPr>
          </a:p>
          <a:p>
            <a:pPr lvl="1" marL="1129665" indent="-457834">
              <a:lnSpc>
                <a:spcPct val="100000"/>
              </a:lnSpc>
              <a:spcBef>
                <a:spcPts val="1155"/>
              </a:spcBef>
              <a:buClr>
                <a:srgbClr val="40458B"/>
              </a:buClr>
              <a:buSzPct val="89583"/>
              <a:buFont typeface="Wingdings"/>
              <a:buChar char=""/>
              <a:tabLst>
                <a:tab pos="1129665" algn="l"/>
              </a:tabLst>
            </a:pPr>
            <a:r>
              <a:rPr dirty="0" sz="2400" spc="-5">
                <a:solidFill>
                  <a:srgbClr val="FF0000"/>
                </a:solidFill>
                <a:latin typeface="黑体"/>
                <a:cs typeface="黑体"/>
              </a:rPr>
              <a:t>不按写分配(绕写法)---适用于写直达法</a:t>
            </a:r>
            <a:endParaRPr sz="2400">
              <a:latin typeface="黑体"/>
              <a:cs typeface="黑体"/>
            </a:endParaRPr>
          </a:p>
          <a:p>
            <a:pPr lvl="2" marL="1943100" indent="-457200">
              <a:lnSpc>
                <a:spcPct val="100000"/>
              </a:lnSpc>
              <a:spcBef>
                <a:spcPts val="1025"/>
              </a:spcBef>
              <a:buClr>
                <a:srgbClr val="4668F5"/>
              </a:buClr>
              <a:buSzPct val="60000"/>
              <a:buFont typeface="Wingdings"/>
              <a:buChar char=""/>
              <a:tabLst>
                <a:tab pos="1943100" algn="l"/>
              </a:tabLst>
            </a:pPr>
            <a:r>
              <a:rPr dirty="0" sz="2000" spc="-10" b="1">
                <a:solidFill>
                  <a:srgbClr val="00AFEF"/>
                </a:solidFill>
                <a:latin typeface="宋体"/>
                <a:cs typeface="宋体"/>
              </a:rPr>
              <a:t>写不命中时，</a:t>
            </a:r>
            <a:r>
              <a:rPr dirty="0" sz="2000" spc="-10" b="1">
                <a:solidFill>
                  <a:srgbClr val="FF09FF"/>
                </a:solidFill>
                <a:latin typeface="宋体"/>
                <a:cs typeface="宋体"/>
              </a:rPr>
              <a:t>直接</a:t>
            </a:r>
            <a:r>
              <a:rPr dirty="0" sz="2000" spc="-25" b="1">
                <a:solidFill>
                  <a:srgbClr val="00AFEF"/>
                </a:solidFill>
                <a:latin typeface="宋体"/>
                <a:cs typeface="宋体"/>
              </a:rPr>
              <a:t>写入下一级存储器而不调块。</a:t>
            </a:r>
            <a:endParaRPr sz="2000">
              <a:latin typeface="宋体"/>
              <a:cs typeface="宋体"/>
            </a:endParaRPr>
          </a:p>
          <a:p>
            <a:pPr marL="499745" indent="-457200">
              <a:lnSpc>
                <a:spcPct val="100000"/>
              </a:lnSpc>
              <a:spcBef>
                <a:spcPts val="1085"/>
              </a:spcBef>
              <a:buClr>
                <a:srgbClr val="40458B"/>
              </a:buClr>
              <a:buFont typeface="Tahoma"/>
              <a:buAutoNum type="arabicPeriod" startAt="7"/>
              <a:tabLst>
                <a:tab pos="499745" algn="l"/>
              </a:tabLst>
            </a:pPr>
            <a:r>
              <a:rPr dirty="0" sz="2400" spc="-20">
                <a:solidFill>
                  <a:srgbClr val="E14B04"/>
                </a:solidFill>
                <a:latin typeface="黑体"/>
                <a:cs typeface="黑体"/>
              </a:rPr>
              <a:t>写策略与调块</a:t>
            </a:r>
            <a:endParaRPr sz="2400">
              <a:latin typeface="黑体"/>
              <a:cs typeface="黑体"/>
            </a:endParaRPr>
          </a:p>
          <a:p>
            <a:pPr lvl="1" marL="1129665" indent="-457834">
              <a:lnSpc>
                <a:spcPct val="100000"/>
              </a:lnSpc>
              <a:spcBef>
                <a:spcPts val="1155"/>
              </a:spcBef>
              <a:buSzPct val="89583"/>
              <a:buFont typeface="Wingdings"/>
              <a:buChar char=""/>
              <a:tabLst>
                <a:tab pos="1129665" algn="l"/>
                <a:tab pos="1739264" algn="l"/>
              </a:tabLst>
            </a:pPr>
            <a:r>
              <a:rPr dirty="0" sz="2400" spc="-50">
                <a:solidFill>
                  <a:srgbClr val="40458B"/>
                </a:solidFill>
                <a:latin typeface="黑体"/>
                <a:cs typeface="黑体"/>
              </a:rPr>
              <a:t>写</a:t>
            </a:r>
            <a:r>
              <a:rPr dirty="0" sz="2400">
                <a:solidFill>
                  <a:srgbClr val="40458B"/>
                </a:solidFill>
                <a:latin typeface="黑体"/>
                <a:cs typeface="黑体"/>
              </a:rPr>
              <a:t>	法</a:t>
            </a:r>
            <a:r>
              <a:rPr dirty="0" sz="2400" spc="-459">
                <a:solidFill>
                  <a:srgbClr val="40458B"/>
                </a:solidFill>
                <a:latin typeface="黑体"/>
                <a:cs typeface="黑体"/>
              </a:rPr>
              <a:t> </a:t>
            </a:r>
            <a:r>
              <a:rPr dirty="0" sz="2400">
                <a:solidFill>
                  <a:srgbClr val="40458B"/>
                </a:solidFill>
                <a:latin typeface="Tahoma"/>
                <a:cs typeface="Tahoma"/>
              </a:rPr>
              <a:t>──</a:t>
            </a:r>
            <a:r>
              <a:rPr dirty="0" sz="2400" spc="-5">
                <a:solidFill>
                  <a:srgbClr val="40458B"/>
                </a:solidFill>
                <a:latin typeface="Tahoma"/>
                <a:cs typeface="Tahoma"/>
              </a:rPr>
              <a:t> </a:t>
            </a:r>
            <a:r>
              <a:rPr dirty="0" sz="2400">
                <a:solidFill>
                  <a:srgbClr val="40458B"/>
                </a:solidFill>
                <a:latin typeface="黑体"/>
                <a:cs typeface="黑体"/>
              </a:rPr>
              <a:t>按写分</a:t>
            </a:r>
            <a:r>
              <a:rPr dirty="0" sz="2400" spc="-50">
                <a:solidFill>
                  <a:srgbClr val="40458B"/>
                </a:solidFill>
                <a:latin typeface="黑体"/>
                <a:cs typeface="黑体"/>
              </a:rPr>
              <a:t>配</a:t>
            </a:r>
            <a:endParaRPr sz="2400">
              <a:latin typeface="黑体"/>
              <a:cs typeface="黑体"/>
            </a:endParaRPr>
          </a:p>
          <a:p>
            <a:pPr lvl="1" marL="1129665" indent="-457834">
              <a:lnSpc>
                <a:spcPct val="100000"/>
              </a:lnSpc>
              <a:spcBef>
                <a:spcPts val="1155"/>
              </a:spcBef>
              <a:buSzPct val="89583"/>
              <a:buFont typeface="Wingdings"/>
              <a:buChar char=""/>
              <a:tabLst>
                <a:tab pos="1129665" algn="l"/>
              </a:tabLst>
            </a:pPr>
            <a:r>
              <a:rPr dirty="0" sz="2400" spc="-95">
                <a:solidFill>
                  <a:srgbClr val="40458B"/>
                </a:solidFill>
                <a:latin typeface="黑体"/>
                <a:cs typeface="黑体"/>
              </a:rPr>
              <a:t>写直达法 </a:t>
            </a:r>
            <a:r>
              <a:rPr dirty="0" sz="2400" spc="-5">
                <a:solidFill>
                  <a:srgbClr val="40458B"/>
                </a:solidFill>
                <a:latin typeface="Tahoma"/>
                <a:cs typeface="Tahoma"/>
              </a:rPr>
              <a:t>── </a:t>
            </a:r>
            <a:r>
              <a:rPr dirty="0" sz="2400" spc="-10">
                <a:solidFill>
                  <a:srgbClr val="40458B"/>
                </a:solidFill>
                <a:latin typeface="黑体"/>
                <a:cs typeface="黑体"/>
              </a:rPr>
              <a:t>不按写分配</a:t>
            </a:r>
            <a:endParaRPr sz="2400">
              <a:latin typeface="黑体"/>
              <a:cs typeface="黑体"/>
            </a:endParaRPr>
          </a:p>
        </p:txBody>
      </p:sp>
      <p:sp>
        <p:nvSpPr>
          <p:cNvPr id="11" name="object 11"/>
          <p:cNvSpPr txBox="1">
            <a:spLocks noGrp="1"/>
          </p:cNvSpPr>
          <p:nvPr>
            <p:ph type="title"/>
          </p:nvPr>
        </p:nvSpPr>
        <p:spPr>
          <a:xfrm>
            <a:off x="1710944" y="47370"/>
            <a:ext cx="200850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7.2.6</a:t>
            </a:r>
            <a:r>
              <a:rPr dirty="0" u="none" sz="2600" spc="-20">
                <a:solidFill>
                  <a:srgbClr val="0000CC"/>
                </a:solidFill>
              </a:rPr>
              <a:t> 写策略</a:t>
            </a:r>
            <a:endParaRPr sz="26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558190" y="892555"/>
            <a:ext cx="10482580" cy="2586355"/>
          </a:xfrm>
          <a:prstGeom prst="rect">
            <a:avLst/>
          </a:prstGeom>
        </p:spPr>
        <p:txBody>
          <a:bodyPr wrap="square" lIns="0" tIns="158750" rIns="0" bIns="0" rtlCol="0" vert="horz">
            <a:spAutoFit/>
          </a:bodyPr>
          <a:lstStyle/>
          <a:p>
            <a:pPr algn="r" marL="456565" marR="7261225" indent="-456565">
              <a:lnSpc>
                <a:spcPct val="100000"/>
              </a:lnSpc>
              <a:spcBef>
                <a:spcPts val="1250"/>
              </a:spcBef>
              <a:buClr>
                <a:srgbClr val="40458B"/>
              </a:buClr>
              <a:buFont typeface="Tahoma"/>
              <a:buAutoNum type="arabicPeriod"/>
              <a:tabLst>
                <a:tab pos="456565" algn="l"/>
              </a:tabLst>
            </a:pPr>
            <a:r>
              <a:rPr dirty="0" sz="2400">
                <a:solidFill>
                  <a:srgbClr val="E14B04"/>
                </a:solidFill>
                <a:latin typeface="黑体"/>
                <a:cs typeface="黑体"/>
              </a:rPr>
              <a:t>不命中率（失效率</a:t>
            </a:r>
            <a:r>
              <a:rPr dirty="0" sz="2400" spc="-50">
                <a:solidFill>
                  <a:srgbClr val="E14B04"/>
                </a:solidFill>
                <a:latin typeface="黑体"/>
                <a:cs typeface="黑体"/>
              </a:rPr>
              <a:t>）</a:t>
            </a:r>
            <a:endParaRPr sz="2400">
              <a:latin typeface="黑体"/>
              <a:cs typeface="黑体"/>
            </a:endParaRPr>
          </a:p>
          <a:p>
            <a:pPr algn="r" lvl="1" marL="457200" marR="7240905" indent="-457200">
              <a:lnSpc>
                <a:spcPct val="100000"/>
              </a:lnSpc>
              <a:spcBef>
                <a:spcPts val="1155"/>
              </a:spcBef>
              <a:buSzPct val="89583"/>
              <a:buFont typeface="Wingdings"/>
              <a:buChar char=""/>
              <a:tabLst>
                <a:tab pos="457200" algn="l"/>
              </a:tabLst>
            </a:pPr>
            <a:r>
              <a:rPr dirty="0" sz="2400" spc="-10">
                <a:solidFill>
                  <a:srgbClr val="40458B"/>
                </a:solidFill>
                <a:latin typeface="黑体"/>
                <a:cs typeface="黑体"/>
              </a:rPr>
              <a:t>与硬件速度无关</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容易产生一些误导（评价系统性能时</a:t>
            </a:r>
            <a:r>
              <a:rPr dirty="0" sz="2400" spc="-50">
                <a:solidFill>
                  <a:srgbClr val="40458B"/>
                </a:solidFill>
                <a:latin typeface="黑体"/>
                <a:cs typeface="黑体"/>
              </a:rPr>
              <a:t>）</a:t>
            </a:r>
            <a:endParaRPr sz="2400">
              <a:latin typeface="黑体"/>
              <a:cs typeface="黑体"/>
            </a:endParaRPr>
          </a:p>
          <a:p>
            <a:pPr marL="317500" marR="5080" indent="-304800">
              <a:lnSpc>
                <a:spcPct val="140000"/>
              </a:lnSpc>
              <a:buAutoNum type="arabicPeriod"/>
              <a:tabLst>
                <a:tab pos="317500" algn="l"/>
                <a:tab pos="469265" algn="l"/>
              </a:tabLst>
            </a:pPr>
            <a:r>
              <a:rPr dirty="0" sz="2400">
                <a:solidFill>
                  <a:srgbClr val="40458B"/>
                </a:solidFill>
                <a:latin typeface="Tahoma"/>
                <a:cs typeface="Tahoma"/>
              </a:rPr>
              <a:t>	</a:t>
            </a:r>
            <a:r>
              <a:rPr dirty="0" sz="2400">
                <a:solidFill>
                  <a:srgbClr val="E14B04"/>
                </a:solidFill>
                <a:latin typeface="黑体"/>
                <a:cs typeface="黑体"/>
              </a:rPr>
              <a:t>平均访存时间（评价系统性能</a:t>
            </a:r>
            <a:r>
              <a:rPr dirty="0" sz="2400" spc="-10">
                <a:solidFill>
                  <a:srgbClr val="E14B04"/>
                </a:solidFill>
                <a:latin typeface="黑体"/>
                <a:cs typeface="黑体"/>
              </a:rPr>
              <a:t>（</a:t>
            </a:r>
            <a:r>
              <a:rPr dirty="0" sz="2400" spc="-10">
                <a:solidFill>
                  <a:srgbClr val="E14B04"/>
                </a:solidFill>
                <a:latin typeface="Tahoma"/>
                <a:cs typeface="Tahoma"/>
              </a:rPr>
              <a:t>CPU</a:t>
            </a:r>
            <a:r>
              <a:rPr dirty="0" sz="2400">
                <a:solidFill>
                  <a:srgbClr val="E14B04"/>
                </a:solidFill>
                <a:latin typeface="黑体"/>
                <a:cs typeface="黑体"/>
              </a:rPr>
              <a:t>、内存、吞吐量等）的一个间接指标</a:t>
            </a:r>
            <a:r>
              <a:rPr dirty="0" sz="2400" spc="-50">
                <a:solidFill>
                  <a:srgbClr val="E14B04"/>
                </a:solidFill>
                <a:latin typeface="黑体"/>
                <a:cs typeface="黑体"/>
              </a:rPr>
              <a:t>）</a:t>
            </a:r>
            <a:r>
              <a:rPr dirty="0" sz="2400" spc="-70">
                <a:solidFill>
                  <a:srgbClr val="40458B"/>
                </a:solidFill>
                <a:latin typeface="黑体"/>
                <a:cs typeface="黑体"/>
              </a:rPr>
              <a:t>平均访存时间 </a:t>
            </a:r>
            <a:r>
              <a:rPr dirty="0" sz="2400">
                <a:solidFill>
                  <a:srgbClr val="40458B"/>
                </a:solidFill>
                <a:latin typeface="黑体"/>
                <a:cs typeface="黑体"/>
              </a:rPr>
              <a:t>＝</a:t>
            </a:r>
            <a:r>
              <a:rPr dirty="0" sz="2400" spc="-55">
                <a:solidFill>
                  <a:srgbClr val="40458B"/>
                </a:solidFill>
                <a:latin typeface="黑体"/>
                <a:cs typeface="黑体"/>
              </a:rPr>
              <a:t> 命中时间＋不命中率×不命中开销</a:t>
            </a:r>
            <a:endParaRPr sz="2400">
              <a:latin typeface="黑体"/>
              <a:cs typeface="黑体"/>
            </a:endParaRPr>
          </a:p>
        </p:txBody>
      </p:sp>
      <p:sp>
        <p:nvSpPr>
          <p:cNvPr id="10" name="object 10" descr=""/>
          <p:cNvSpPr txBox="1"/>
          <p:nvPr/>
        </p:nvSpPr>
        <p:spPr>
          <a:xfrm>
            <a:off x="748690" y="4111879"/>
            <a:ext cx="27686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9FF"/>
                </a:solidFill>
                <a:latin typeface="黑体"/>
                <a:cs typeface="黑体"/>
              </a:rPr>
              <a:t>区别于程序执行时间</a:t>
            </a:r>
            <a:endParaRPr sz="2400">
              <a:latin typeface="黑体"/>
              <a:cs typeface="黑体"/>
            </a:endParaRPr>
          </a:p>
        </p:txBody>
      </p:sp>
      <p:sp>
        <p:nvSpPr>
          <p:cNvPr id="11" name="object 11"/>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
        <p:nvSpPr>
          <p:cNvPr id="12" name="object 12" descr=""/>
          <p:cNvSpPr txBox="1"/>
          <p:nvPr/>
        </p:nvSpPr>
        <p:spPr>
          <a:xfrm>
            <a:off x="629818" y="4762957"/>
            <a:ext cx="10113645" cy="75755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平均访存时间的两个部分可以用绝对时间（如命中时间为</a:t>
            </a:r>
            <a:r>
              <a:rPr dirty="0" sz="2400" spc="-20">
                <a:solidFill>
                  <a:srgbClr val="40458B"/>
                </a:solidFill>
                <a:latin typeface="Tahoma"/>
                <a:cs typeface="Tahoma"/>
              </a:rPr>
              <a:t>20ns</a:t>
            </a:r>
            <a:r>
              <a:rPr dirty="0" sz="2400" spc="-20">
                <a:solidFill>
                  <a:srgbClr val="40458B"/>
                </a:solidFill>
                <a:latin typeface="黑体"/>
                <a:cs typeface="黑体"/>
              </a:rPr>
              <a:t>），或者是时</a:t>
            </a:r>
            <a:endParaRPr sz="2400">
              <a:latin typeface="黑体"/>
              <a:cs typeface="黑体"/>
            </a:endParaRPr>
          </a:p>
          <a:p>
            <a:pPr marL="12700">
              <a:lnSpc>
                <a:spcPct val="100000"/>
              </a:lnSpc>
              <a:spcBef>
                <a:spcPts val="5"/>
              </a:spcBef>
            </a:pPr>
            <a:r>
              <a:rPr dirty="0" sz="2400" spc="-10">
                <a:solidFill>
                  <a:srgbClr val="40458B"/>
                </a:solidFill>
                <a:latin typeface="黑体"/>
                <a:cs typeface="黑体"/>
              </a:rPr>
              <a:t>钟周期数来衡量</a:t>
            </a:r>
            <a:endParaRPr sz="2400">
              <a:latin typeface="黑体"/>
              <a:cs typeface="黑体"/>
            </a:endParaRPr>
          </a:p>
        </p:txBody>
      </p:sp>
      <p:grpSp>
        <p:nvGrpSpPr>
          <p:cNvPr id="13" name="object 13" descr=""/>
          <p:cNvGrpSpPr/>
          <p:nvPr/>
        </p:nvGrpSpPr>
        <p:grpSpPr>
          <a:xfrm>
            <a:off x="1987613" y="3568763"/>
            <a:ext cx="152400" cy="586105"/>
            <a:chOff x="1987613" y="3568763"/>
            <a:chExt cx="152400" cy="586105"/>
          </a:xfrm>
        </p:grpSpPr>
        <p:sp>
          <p:nvSpPr>
            <p:cNvPr id="14" name="object 14" descr=""/>
            <p:cNvSpPr/>
            <p:nvPr/>
          </p:nvSpPr>
          <p:spPr>
            <a:xfrm>
              <a:off x="1992376" y="3573526"/>
              <a:ext cx="142875" cy="576580"/>
            </a:xfrm>
            <a:custGeom>
              <a:avLst/>
              <a:gdLst/>
              <a:ahLst/>
              <a:cxnLst/>
              <a:rect l="l" t="t" r="r" b="b"/>
              <a:pathLst>
                <a:path w="142875" h="576579">
                  <a:moveTo>
                    <a:pt x="107061" y="0"/>
                  </a:moveTo>
                  <a:lnTo>
                    <a:pt x="35687" y="0"/>
                  </a:lnTo>
                  <a:lnTo>
                    <a:pt x="35687" y="504190"/>
                  </a:lnTo>
                  <a:lnTo>
                    <a:pt x="0" y="504190"/>
                  </a:lnTo>
                  <a:lnTo>
                    <a:pt x="71374" y="576199"/>
                  </a:lnTo>
                  <a:lnTo>
                    <a:pt x="142875" y="504190"/>
                  </a:lnTo>
                  <a:lnTo>
                    <a:pt x="107061" y="504190"/>
                  </a:lnTo>
                  <a:lnTo>
                    <a:pt x="107061" y="0"/>
                  </a:lnTo>
                  <a:close/>
                </a:path>
              </a:pathLst>
            </a:custGeom>
            <a:solidFill>
              <a:srgbClr val="EBD782"/>
            </a:solidFill>
          </p:spPr>
          <p:txBody>
            <a:bodyPr wrap="square" lIns="0" tIns="0" rIns="0" bIns="0" rtlCol="0"/>
            <a:lstStyle/>
            <a:p/>
          </p:txBody>
        </p:sp>
        <p:sp>
          <p:nvSpPr>
            <p:cNvPr id="15" name="object 15" descr=""/>
            <p:cNvSpPr/>
            <p:nvPr/>
          </p:nvSpPr>
          <p:spPr>
            <a:xfrm>
              <a:off x="1992376" y="3573526"/>
              <a:ext cx="142875" cy="576580"/>
            </a:xfrm>
            <a:custGeom>
              <a:avLst/>
              <a:gdLst/>
              <a:ahLst/>
              <a:cxnLst/>
              <a:rect l="l" t="t" r="r" b="b"/>
              <a:pathLst>
                <a:path w="142875" h="576579">
                  <a:moveTo>
                    <a:pt x="0" y="504190"/>
                  </a:moveTo>
                  <a:lnTo>
                    <a:pt x="35687" y="504190"/>
                  </a:lnTo>
                  <a:lnTo>
                    <a:pt x="35687" y="0"/>
                  </a:lnTo>
                  <a:lnTo>
                    <a:pt x="107061" y="0"/>
                  </a:lnTo>
                  <a:lnTo>
                    <a:pt x="107061" y="504190"/>
                  </a:lnTo>
                  <a:lnTo>
                    <a:pt x="142875" y="504190"/>
                  </a:lnTo>
                  <a:lnTo>
                    <a:pt x="71374" y="576199"/>
                  </a:lnTo>
                  <a:lnTo>
                    <a:pt x="0" y="504190"/>
                  </a:lnTo>
                  <a:close/>
                </a:path>
              </a:pathLst>
            </a:custGeom>
            <a:ln w="9525">
              <a:solidFill>
                <a:srgbClr val="40458B"/>
              </a:solidFill>
            </a:ln>
          </p:spPr>
          <p:txBody>
            <a:bodyPr wrap="square" lIns="0" tIns="0" rIns="0" bIns="0" rtlCol="0"/>
            <a:lstStyle/>
            <a:p/>
          </p:txBody>
        </p:sp>
      </p:grpSp>
      <p:sp>
        <p:nvSpPr>
          <p:cNvPr id="16" name="object 16" descr=""/>
          <p:cNvSpPr txBox="1"/>
          <p:nvPr/>
        </p:nvSpPr>
        <p:spPr>
          <a:xfrm>
            <a:off x="4303521" y="3871086"/>
            <a:ext cx="7049134"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C00000"/>
                </a:solidFill>
                <a:latin typeface="黑体"/>
                <a:cs typeface="黑体"/>
              </a:rPr>
              <a:t>不命中开销</a:t>
            </a:r>
            <a:r>
              <a:rPr dirty="0" sz="2400" spc="-20">
                <a:solidFill>
                  <a:srgbClr val="C00000"/>
                </a:solidFill>
                <a:latin typeface="Tahoma"/>
                <a:cs typeface="Tahoma"/>
              </a:rPr>
              <a:t>=</a:t>
            </a:r>
            <a:r>
              <a:rPr dirty="0" sz="2400">
                <a:solidFill>
                  <a:srgbClr val="C00000"/>
                </a:solidFill>
                <a:latin typeface="黑体"/>
                <a:cs typeface="黑体"/>
              </a:rPr>
              <a:t>不命中周期数（停顿）×</a:t>
            </a:r>
            <a:r>
              <a:rPr dirty="0" sz="2400" spc="-80">
                <a:solidFill>
                  <a:srgbClr val="C00000"/>
                </a:solidFill>
                <a:latin typeface="黑体"/>
                <a:cs typeface="黑体"/>
              </a:rPr>
              <a:t> 时钟周期时间</a:t>
            </a:r>
            <a:endParaRPr sz="2400">
              <a:latin typeface="黑体"/>
              <a:cs typeface="黑体"/>
            </a:endParaRPr>
          </a:p>
        </p:txBody>
      </p:sp>
      <p:grpSp>
        <p:nvGrpSpPr>
          <p:cNvPr id="17" name="object 17" descr=""/>
          <p:cNvGrpSpPr/>
          <p:nvPr/>
        </p:nvGrpSpPr>
        <p:grpSpPr>
          <a:xfrm>
            <a:off x="7099363" y="3424237"/>
            <a:ext cx="154305" cy="370205"/>
            <a:chOff x="7099363" y="3424237"/>
            <a:chExt cx="154305" cy="370205"/>
          </a:xfrm>
        </p:grpSpPr>
        <p:sp>
          <p:nvSpPr>
            <p:cNvPr id="18" name="object 18" descr=""/>
            <p:cNvSpPr/>
            <p:nvPr/>
          </p:nvSpPr>
          <p:spPr>
            <a:xfrm>
              <a:off x="7104126" y="3429000"/>
              <a:ext cx="144780" cy="360680"/>
            </a:xfrm>
            <a:custGeom>
              <a:avLst/>
              <a:gdLst/>
              <a:ahLst/>
              <a:cxnLst/>
              <a:rect l="l" t="t" r="r" b="b"/>
              <a:pathLst>
                <a:path w="144779" h="360679">
                  <a:moveTo>
                    <a:pt x="108330" y="0"/>
                  </a:moveTo>
                  <a:lnTo>
                    <a:pt x="36068" y="0"/>
                  </a:lnTo>
                  <a:lnTo>
                    <a:pt x="36068" y="288289"/>
                  </a:lnTo>
                  <a:lnTo>
                    <a:pt x="0" y="288289"/>
                  </a:lnTo>
                  <a:lnTo>
                    <a:pt x="72135" y="360299"/>
                  </a:lnTo>
                  <a:lnTo>
                    <a:pt x="144399" y="288289"/>
                  </a:lnTo>
                  <a:lnTo>
                    <a:pt x="108330" y="288289"/>
                  </a:lnTo>
                  <a:lnTo>
                    <a:pt x="108330" y="0"/>
                  </a:lnTo>
                  <a:close/>
                </a:path>
              </a:pathLst>
            </a:custGeom>
            <a:solidFill>
              <a:srgbClr val="EBD782"/>
            </a:solidFill>
          </p:spPr>
          <p:txBody>
            <a:bodyPr wrap="square" lIns="0" tIns="0" rIns="0" bIns="0" rtlCol="0"/>
            <a:lstStyle/>
            <a:p/>
          </p:txBody>
        </p:sp>
        <p:sp>
          <p:nvSpPr>
            <p:cNvPr id="19" name="object 19" descr=""/>
            <p:cNvSpPr/>
            <p:nvPr/>
          </p:nvSpPr>
          <p:spPr>
            <a:xfrm>
              <a:off x="7104126" y="3429000"/>
              <a:ext cx="144780" cy="360680"/>
            </a:xfrm>
            <a:custGeom>
              <a:avLst/>
              <a:gdLst/>
              <a:ahLst/>
              <a:cxnLst/>
              <a:rect l="l" t="t" r="r" b="b"/>
              <a:pathLst>
                <a:path w="144779" h="360679">
                  <a:moveTo>
                    <a:pt x="0" y="288289"/>
                  </a:moveTo>
                  <a:lnTo>
                    <a:pt x="36068" y="288289"/>
                  </a:lnTo>
                  <a:lnTo>
                    <a:pt x="36068" y="0"/>
                  </a:lnTo>
                  <a:lnTo>
                    <a:pt x="108330" y="0"/>
                  </a:lnTo>
                  <a:lnTo>
                    <a:pt x="108330" y="288289"/>
                  </a:lnTo>
                  <a:lnTo>
                    <a:pt x="144399" y="288289"/>
                  </a:lnTo>
                  <a:lnTo>
                    <a:pt x="72135" y="360299"/>
                  </a:lnTo>
                  <a:lnTo>
                    <a:pt x="0" y="288289"/>
                  </a:lnTo>
                  <a:close/>
                </a:path>
              </a:pathLst>
            </a:custGeom>
            <a:ln w="9525">
              <a:solidFill>
                <a:srgbClr val="40458B"/>
              </a:solidFill>
            </a:ln>
          </p:spPr>
          <p:txBody>
            <a:bodyPr wrap="square" lIns="0" tIns="0" rIns="0" bIns="0" rtlCol="0"/>
            <a:lstStyle/>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59/170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8186" y="580757"/>
            <a:ext cx="7704455" cy="1308735"/>
          </a:xfrm>
          <a:prstGeom prst="rect">
            <a:avLst/>
          </a:prstGeom>
        </p:spPr>
        <p:txBody>
          <a:bodyPr wrap="square" lIns="0" tIns="130175" rIns="0" bIns="0" rtlCol="0" vert="horz">
            <a:spAutoFit/>
          </a:bodyPr>
          <a:lstStyle/>
          <a:p>
            <a:pPr marL="12700">
              <a:lnSpc>
                <a:spcPct val="100000"/>
              </a:lnSpc>
              <a:spcBef>
                <a:spcPts val="1025"/>
              </a:spcBef>
              <a:tabLst>
                <a:tab pos="469900"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spc="-20">
                <a:solidFill>
                  <a:srgbClr val="C00000"/>
                </a:solidFill>
                <a:latin typeface="黑体"/>
                <a:cs typeface="黑体"/>
              </a:rPr>
              <a:t>程序执行时间</a:t>
            </a:r>
            <a:endParaRPr sz="2400">
              <a:latin typeface="黑体"/>
              <a:cs typeface="黑体"/>
            </a:endParaRPr>
          </a:p>
          <a:p>
            <a:pPr marL="913130" marR="5080" indent="-643890">
              <a:lnSpc>
                <a:spcPct val="130000"/>
              </a:lnSpc>
              <a:spcBef>
                <a:spcPts val="55"/>
              </a:spcBef>
              <a:tabLst>
                <a:tab pos="1551940" algn="l"/>
              </a:tabLst>
            </a:pPr>
            <a:r>
              <a:rPr dirty="0" sz="2000" spc="-10" b="1">
                <a:solidFill>
                  <a:srgbClr val="E14B04"/>
                </a:solidFill>
                <a:latin typeface="宋体"/>
                <a:cs typeface="宋体"/>
              </a:rPr>
              <a:t>CPU时间</a:t>
            </a:r>
            <a:r>
              <a:rPr dirty="0" sz="2000" spc="-20" b="1">
                <a:solidFill>
                  <a:srgbClr val="E14B04"/>
                </a:solidFill>
                <a:latin typeface="宋体"/>
                <a:cs typeface="宋体"/>
              </a:rPr>
              <a:t>＝（CPU</a:t>
            </a:r>
            <a:r>
              <a:rPr dirty="0" sz="2000" spc="-10" b="1">
                <a:solidFill>
                  <a:srgbClr val="E14B04"/>
                </a:solidFill>
                <a:latin typeface="宋体"/>
                <a:cs typeface="宋体"/>
              </a:rPr>
              <a:t>执</a:t>
            </a:r>
            <a:r>
              <a:rPr dirty="0" sz="2000" spc="-20" b="1">
                <a:solidFill>
                  <a:srgbClr val="E14B04"/>
                </a:solidFill>
                <a:latin typeface="宋体"/>
                <a:cs typeface="宋体"/>
              </a:rPr>
              <a:t>行</a:t>
            </a:r>
            <a:r>
              <a:rPr dirty="0" sz="2000" spc="-10" b="1">
                <a:solidFill>
                  <a:srgbClr val="E14B04"/>
                </a:solidFill>
                <a:latin typeface="宋体"/>
                <a:cs typeface="宋体"/>
              </a:rPr>
              <a:t>周期</a:t>
            </a:r>
            <a:r>
              <a:rPr dirty="0" sz="2000" spc="-15" b="1">
                <a:solidFill>
                  <a:srgbClr val="E14B04"/>
                </a:solidFill>
                <a:latin typeface="宋体"/>
                <a:cs typeface="宋体"/>
              </a:rPr>
              <a:t>数</a:t>
            </a:r>
            <a:r>
              <a:rPr dirty="0" sz="2000" spc="-10" b="1">
                <a:solidFill>
                  <a:srgbClr val="E14B04"/>
                </a:solidFill>
                <a:latin typeface="宋体"/>
                <a:cs typeface="宋体"/>
              </a:rPr>
              <a:t>+</a:t>
            </a:r>
            <a:r>
              <a:rPr dirty="0" sz="2000" spc="-20" b="1">
                <a:solidFill>
                  <a:srgbClr val="E14B04"/>
                </a:solidFill>
                <a:latin typeface="宋体"/>
                <a:cs typeface="宋体"/>
              </a:rPr>
              <a:t>存</a:t>
            </a:r>
            <a:r>
              <a:rPr dirty="0" sz="2000" spc="-10" b="1">
                <a:solidFill>
                  <a:srgbClr val="E14B04"/>
                </a:solidFill>
                <a:latin typeface="宋体"/>
                <a:cs typeface="宋体"/>
              </a:rPr>
              <a:t>储器停</a:t>
            </a:r>
            <a:r>
              <a:rPr dirty="0" sz="2000" spc="-20" b="1">
                <a:solidFill>
                  <a:srgbClr val="E14B04"/>
                </a:solidFill>
                <a:latin typeface="宋体"/>
                <a:cs typeface="宋体"/>
              </a:rPr>
              <a:t>顿</a:t>
            </a:r>
            <a:r>
              <a:rPr dirty="0" sz="2000" spc="-10" b="1">
                <a:solidFill>
                  <a:srgbClr val="E14B04"/>
                </a:solidFill>
                <a:latin typeface="宋体"/>
                <a:cs typeface="宋体"/>
              </a:rPr>
              <a:t>周期</a:t>
            </a:r>
            <a:r>
              <a:rPr dirty="0" sz="2000" spc="-20" b="1">
                <a:solidFill>
                  <a:srgbClr val="E14B04"/>
                </a:solidFill>
                <a:latin typeface="宋体"/>
                <a:cs typeface="宋体"/>
              </a:rPr>
              <a:t>数</a:t>
            </a:r>
            <a:r>
              <a:rPr dirty="0" sz="2000" b="1">
                <a:solidFill>
                  <a:srgbClr val="E14B04"/>
                </a:solidFill>
                <a:latin typeface="宋体"/>
                <a:cs typeface="宋体"/>
              </a:rPr>
              <a:t>）× </a:t>
            </a:r>
            <a:r>
              <a:rPr dirty="0" sz="2000" spc="-10" b="1">
                <a:solidFill>
                  <a:srgbClr val="E14B04"/>
                </a:solidFill>
                <a:latin typeface="宋体"/>
                <a:cs typeface="宋体"/>
              </a:rPr>
              <a:t>时钟周期时</a:t>
            </a:r>
            <a:r>
              <a:rPr dirty="0" sz="2000" spc="-50" b="1">
                <a:solidFill>
                  <a:srgbClr val="E14B04"/>
                </a:solidFill>
                <a:latin typeface="宋体"/>
                <a:cs typeface="宋体"/>
              </a:rPr>
              <a:t>间</a:t>
            </a:r>
            <a:r>
              <a:rPr dirty="0" sz="2000" spc="-10" b="1">
                <a:solidFill>
                  <a:srgbClr val="E14B04"/>
                </a:solidFill>
                <a:latin typeface="宋体"/>
                <a:cs typeface="宋体"/>
              </a:rPr>
              <a:t>注</a:t>
            </a:r>
            <a:r>
              <a:rPr dirty="0" sz="2000" spc="-50" b="1">
                <a:solidFill>
                  <a:srgbClr val="E14B04"/>
                </a:solidFill>
                <a:latin typeface="宋体"/>
                <a:cs typeface="宋体"/>
              </a:rPr>
              <a:t>：</a:t>
            </a:r>
            <a:r>
              <a:rPr dirty="0" sz="2000" b="1">
                <a:solidFill>
                  <a:srgbClr val="E14B04"/>
                </a:solidFill>
                <a:latin typeface="宋体"/>
                <a:cs typeface="宋体"/>
              </a:rPr>
              <a:t>	</a:t>
            </a:r>
            <a:r>
              <a:rPr dirty="0" sz="2000" spc="-10" b="1">
                <a:solidFill>
                  <a:srgbClr val="FF09FF"/>
                </a:solidFill>
                <a:latin typeface="宋体"/>
                <a:cs typeface="宋体"/>
              </a:rPr>
              <a:t>假设</a:t>
            </a:r>
            <a:r>
              <a:rPr dirty="0" sz="2000" spc="-10" b="1">
                <a:solidFill>
                  <a:srgbClr val="E14B04"/>
                </a:solidFill>
                <a:latin typeface="宋体"/>
                <a:cs typeface="宋体"/>
              </a:rPr>
              <a:t>CPU执行周期数</a:t>
            </a:r>
            <a:r>
              <a:rPr dirty="0" sz="2000" spc="-20" b="1">
                <a:solidFill>
                  <a:srgbClr val="E14B04"/>
                </a:solidFill>
                <a:latin typeface="宋体"/>
                <a:cs typeface="宋体"/>
              </a:rPr>
              <a:t>包</a:t>
            </a:r>
            <a:r>
              <a:rPr dirty="0" sz="2000" spc="-10" b="1">
                <a:solidFill>
                  <a:srgbClr val="E14B04"/>
                </a:solidFill>
                <a:latin typeface="宋体"/>
                <a:cs typeface="宋体"/>
              </a:rPr>
              <a:t>含</a:t>
            </a:r>
            <a:r>
              <a:rPr dirty="0" sz="2000" b="1">
                <a:solidFill>
                  <a:srgbClr val="E14B04"/>
                </a:solidFill>
                <a:latin typeface="宋体"/>
                <a:cs typeface="宋体"/>
              </a:rPr>
              <a:t>了</a:t>
            </a:r>
            <a:r>
              <a:rPr dirty="0" sz="2000" spc="-10" b="1">
                <a:solidFill>
                  <a:srgbClr val="E14B04"/>
                </a:solidFill>
                <a:latin typeface="宋体"/>
                <a:cs typeface="宋体"/>
              </a:rPr>
              <a:t>Cache</a:t>
            </a:r>
            <a:r>
              <a:rPr dirty="0" sz="2000" spc="-20" b="1">
                <a:solidFill>
                  <a:srgbClr val="E14B04"/>
                </a:solidFill>
                <a:latin typeface="宋体"/>
                <a:cs typeface="宋体"/>
              </a:rPr>
              <a:t>命</a:t>
            </a:r>
            <a:r>
              <a:rPr dirty="0" sz="2000" spc="-10" b="1">
                <a:solidFill>
                  <a:srgbClr val="E14B04"/>
                </a:solidFill>
                <a:latin typeface="宋体"/>
                <a:cs typeface="宋体"/>
              </a:rPr>
              <a:t>中的</a:t>
            </a:r>
            <a:r>
              <a:rPr dirty="0" sz="2000" spc="-20" b="1">
                <a:solidFill>
                  <a:srgbClr val="E14B04"/>
                </a:solidFill>
                <a:latin typeface="宋体"/>
                <a:cs typeface="宋体"/>
              </a:rPr>
              <a:t>周</a:t>
            </a:r>
            <a:r>
              <a:rPr dirty="0" sz="2000" spc="-10" b="1">
                <a:solidFill>
                  <a:srgbClr val="E14B04"/>
                </a:solidFill>
                <a:latin typeface="宋体"/>
                <a:cs typeface="宋体"/>
              </a:rPr>
              <a:t>期</a:t>
            </a:r>
            <a:r>
              <a:rPr dirty="0" sz="2000" spc="-50" b="1">
                <a:solidFill>
                  <a:srgbClr val="E14B04"/>
                </a:solidFill>
                <a:latin typeface="宋体"/>
                <a:cs typeface="宋体"/>
              </a:rPr>
              <a:t>数</a:t>
            </a:r>
            <a:endParaRPr sz="2000">
              <a:latin typeface="宋体"/>
              <a:cs typeface="宋体"/>
            </a:endParaRPr>
          </a:p>
        </p:txBody>
      </p:sp>
      <p:sp>
        <p:nvSpPr>
          <p:cNvPr id="10" name="object 10" descr=""/>
          <p:cNvSpPr txBox="1"/>
          <p:nvPr/>
        </p:nvSpPr>
        <p:spPr>
          <a:xfrm>
            <a:off x="10488294" y="1162050"/>
            <a:ext cx="924560" cy="330835"/>
          </a:xfrm>
          <a:prstGeom prst="rect">
            <a:avLst/>
          </a:prstGeom>
        </p:spPr>
        <p:txBody>
          <a:bodyPr wrap="square" lIns="0" tIns="13335" rIns="0" bIns="0" rtlCol="0" vert="horz">
            <a:spAutoFit/>
          </a:bodyPr>
          <a:lstStyle/>
          <a:p>
            <a:pPr marL="12700">
              <a:lnSpc>
                <a:spcPct val="100000"/>
              </a:lnSpc>
              <a:spcBef>
                <a:spcPts val="105"/>
              </a:spcBef>
            </a:pPr>
            <a:r>
              <a:rPr dirty="0" sz="2000" spc="-10" b="1">
                <a:solidFill>
                  <a:srgbClr val="E14B04"/>
                </a:solidFill>
                <a:latin typeface="宋体"/>
                <a:cs typeface="宋体"/>
              </a:rPr>
              <a:t>（7.1）</a:t>
            </a:r>
            <a:endParaRPr sz="2000">
              <a:latin typeface="宋体"/>
              <a:cs typeface="宋体"/>
            </a:endParaRPr>
          </a:p>
        </p:txBody>
      </p:sp>
      <p:sp>
        <p:nvSpPr>
          <p:cNvPr id="11" name="object 11" descr=""/>
          <p:cNvSpPr txBox="1"/>
          <p:nvPr/>
        </p:nvSpPr>
        <p:spPr>
          <a:xfrm>
            <a:off x="-18186" y="1954225"/>
            <a:ext cx="12107545" cy="1123950"/>
          </a:xfrm>
          <a:prstGeom prst="rect">
            <a:avLst/>
          </a:prstGeom>
        </p:spPr>
        <p:txBody>
          <a:bodyPr wrap="square" lIns="0" tIns="13335" rIns="0" bIns="0" rtlCol="0" vert="horz">
            <a:spAutoFit/>
          </a:bodyPr>
          <a:lstStyle/>
          <a:p>
            <a:pPr marL="12700">
              <a:lnSpc>
                <a:spcPct val="100000"/>
              </a:lnSpc>
              <a:spcBef>
                <a:spcPts val="105"/>
              </a:spcBef>
            </a:pPr>
            <a:r>
              <a:rPr dirty="0" sz="2000" spc="-15" b="1">
                <a:solidFill>
                  <a:srgbClr val="40458B"/>
                </a:solidFill>
                <a:latin typeface="宋体"/>
                <a:cs typeface="宋体"/>
              </a:rPr>
              <a:t>其中： 假设所有的访存时间都是由</a:t>
            </a:r>
            <a:r>
              <a:rPr dirty="0" sz="2000" spc="-10" b="1">
                <a:solidFill>
                  <a:srgbClr val="40458B"/>
                </a:solidFill>
                <a:latin typeface="宋体"/>
                <a:cs typeface="宋体"/>
              </a:rPr>
              <a:t>Cache</a:t>
            </a:r>
            <a:r>
              <a:rPr dirty="0" sz="2000" spc="-25" b="1">
                <a:solidFill>
                  <a:srgbClr val="40458B"/>
                </a:solidFill>
                <a:latin typeface="宋体"/>
                <a:cs typeface="宋体"/>
              </a:rPr>
              <a:t>不命中引起的，不命中开销单位为时钟周期</a:t>
            </a:r>
            <a:endParaRPr sz="2000">
              <a:latin typeface="宋体"/>
              <a:cs typeface="宋体"/>
            </a:endParaRPr>
          </a:p>
          <a:p>
            <a:pPr>
              <a:lnSpc>
                <a:spcPct val="100000"/>
              </a:lnSpc>
              <a:spcBef>
                <a:spcPts val="1240"/>
              </a:spcBef>
            </a:pPr>
            <a:endParaRPr sz="2000">
              <a:latin typeface="宋体"/>
              <a:cs typeface="宋体"/>
            </a:endParaRPr>
          </a:p>
          <a:p>
            <a:pPr marL="1099185" indent="-457200">
              <a:lnSpc>
                <a:spcPct val="100000"/>
              </a:lnSpc>
              <a:buSzPct val="90000"/>
              <a:buFont typeface="Wingdings"/>
              <a:buChar char=""/>
              <a:tabLst>
                <a:tab pos="1099185" algn="l"/>
              </a:tabLst>
            </a:pPr>
            <a:r>
              <a:rPr dirty="0" sz="2000" spc="-10" b="1">
                <a:solidFill>
                  <a:srgbClr val="40458B"/>
                </a:solidFill>
                <a:latin typeface="宋体"/>
                <a:cs typeface="宋体"/>
              </a:rPr>
              <a:t>存储器停顿时钟周期数＝“</a:t>
            </a:r>
            <a:r>
              <a:rPr dirty="0" sz="2000" spc="-25" b="1">
                <a:solidFill>
                  <a:srgbClr val="40458B"/>
                </a:solidFill>
                <a:latin typeface="宋体"/>
                <a:cs typeface="宋体"/>
              </a:rPr>
              <a:t>读”的次数×读不命中率×读不命中开销＋“写”的次数×写不命中率</a:t>
            </a:r>
            <a:endParaRPr sz="2000">
              <a:latin typeface="宋体"/>
              <a:cs typeface="宋体"/>
            </a:endParaRPr>
          </a:p>
        </p:txBody>
      </p:sp>
      <p:sp>
        <p:nvSpPr>
          <p:cNvPr id="12" name="object 12" descr=""/>
          <p:cNvSpPr txBox="1"/>
          <p:nvPr/>
        </p:nvSpPr>
        <p:spPr>
          <a:xfrm>
            <a:off x="1068730" y="3082544"/>
            <a:ext cx="10173970" cy="330835"/>
          </a:xfrm>
          <a:prstGeom prst="rect">
            <a:avLst/>
          </a:prstGeom>
        </p:spPr>
        <p:txBody>
          <a:bodyPr wrap="square" lIns="0" tIns="13335" rIns="0" bIns="0" rtlCol="0" vert="horz">
            <a:spAutoFit/>
          </a:bodyPr>
          <a:lstStyle/>
          <a:p>
            <a:pPr marL="12700">
              <a:lnSpc>
                <a:spcPct val="100000"/>
              </a:lnSpc>
              <a:spcBef>
                <a:spcPts val="105"/>
              </a:spcBef>
              <a:tabLst>
                <a:tab pos="9260840" algn="l"/>
              </a:tabLst>
            </a:pPr>
            <a:r>
              <a:rPr dirty="0" sz="2000" spc="-10" b="1">
                <a:solidFill>
                  <a:srgbClr val="40458B"/>
                </a:solidFill>
                <a:latin typeface="宋体"/>
                <a:cs typeface="宋体"/>
              </a:rPr>
              <a:t>×写不命中开</a:t>
            </a:r>
            <a:r>
              <a:rPr dirty="0" sz="2000" spc="-60" b="1">
                <a:solidFill>
                  <a:srgbClr val="40458B"/>
                </a:solidFill>
                <a:latin typeface="宋体"/>
                <a:cs typeface="宋体"/>
              </a:rPr>
              <a:t>销</a:t>
            </a:r>
            <a:r>
              <a:rPr dirty="0" sz="2000" b="1">
                <a:solidFill>
                  <a:srgbClr val="40458B"/>
                </a:solidFill>
                <a:latin typeface="宋体"/>
                <a:cs typeface="宋体"/>
              </a:rPr>
              <a:t>	</a:t>
            </a:r>
            <a:r>
              <a:rPr dirty="0" sz="2000" spc="-10" b="1">
                <a:solidFill>
                  <a:srgbClr val="40458B"/>
                </a:solidFill>
                <a:latin typeface="宋体"/>
                <a:cs typeface="宋体"/>
              </a:rPr>
              <a:t>（7.2）</a:t>
            </a:r>
            <a:endParaRPr sz="2000">
              <a:latin typeface="宋体"/>
              <a:cs typeface="宋体"/>
            </a:endParaRPr>
          </a:p>
        </p:txBody>
      </p:sp>
      <p:sp>
        <p:nvSpPr>
          <p:cNvPr id="13" name="object 13" descr=""/>
          <p:cNvSpPr txBox="1"/>
          <p:nvPr/>
        </p:nvSpPr>
        <p:spPr>
          <a:xfrm>
            <a:off x="611530" y="3875277"/>
            <a:ext cx="7131684" cy="330835"/>
          </a:xfrm>
          <a:prstGeom prst="rect">
            <a:avLst/>
          </a:prstGeom>
        </p:spPr>
        <p:txBody>
          <a:bodyPr wrap="square" lIns="0" tIns="12700" rIns="0" bIns="0" rtlCol="0" vert="horz">
            <a:spAutoFit/>
          </a:bodyPr>
          <a:lstStyle/>
          <a:p>
            <a:pPr marL="469265" indent="-456565">
              <a:lnSpc>
                <a:spcPct val="100000"/>
              </a:lnSpc>
              <a:spcBef>
                <a:spcPts val="100"/>
              </a:spcBef>
              <a:buSzPct val="90000"/>
              <a:buFont typeface="Wingdings"/>
              <a:buChar char=""/>
              <a:tabLst>
                <a:tab pos="469265" algn="l"/>
              </a:tabLst>
            </a:pPr>
            <a:r>
              <a:rPr dirty="0" sz="2000" spc="-10" b="1">
                <a:solidFill>
                  <a:srgbClr val="40458B"/>
                </a:solidFill>
                <a:latin typeface="宋体"/>
                <a:cs typeface="宋体"/>
              </a:rPr>
              <a:t>存储器停顿时钟周期数＝</a:t>
            </a:r>
            <a:r>
              <a:rPr dirty="0" sz="2000" spc="-25" b="1">
                <a:solidFill>
                  <a:srgbClr val="40458B"/>
                </a:solidFill>
                <a:latin typeface="宋体"/>
                <a:cs typeface="宋体"/>
              </a:rPr>
              <a:t>访存次数×不命中率×不命中开销</a:t>
            </a:r>
            <a:endParaRPr sz="2000">
              <a:latin typeface="宋体"/>
              <a:cs typeface="宋体"/>
            </a:endParaRPr>
          </a:p>
        </p:txBody>
      </p:sp>
      <p:grpSp>
        <p:nvGrpSpPr>
          <p:cNvPr id="14" name="object 14" descr=""/>
          <p:cNvGrpSpPr/>
          <p:nvPr/>
        </p:nvGrpSpPr>
        <p:grpSpPr>
          <a:xfrm>
            <a:off x="4924488" y="3136963"/>
            <a:ext cx="297180" cy="586105"/>
            <a:chOff x="4924488" y="3136963"/>
            <a:chExt cx="297180" cy="586105"/>
          </a:xfrm>
        </p:grpSpPr>
        <p:sp>
          <p:nvSpPr>
            <p:cNvPr id="15" name="object 15" descr=""/>
            <p:cNvSpPr/>
            <p:nvPr/>
          </p:nvSpPr>
          <p:spPr>
            <a:xfrm>
              <a:off x="4929251" y="3141726"/>
              <a:ext cx="287655" cy="576580"/>
            </a:xfrm>
            <a:custGeom>
              <a:avLst/>
              <a:gdLst/>
              <a:ahLst/>
              <a:cxnLst/>
              <a:rect l="l" t="t" r="r" b="b"/>
              <a:pathLst>
                <a:path w="287654" h="576579">
                  <a:moveTo>
                    <a:pt x="215391" y="0"/>
                  </a:moveTo>
                  <a:lnTo>
                    <a:pt x="71754" y="0"/>
                  </a:lnTo>
                  <a:lnTo>
                    <a:pt x="71754" y="432562"/>
                  </a:lnTo>
                  <a:lnTo>
                    <a:pt x="0" y="432562"/>
                  </a:lnTo>
                  <a:lnTo>
                    <a:pt x="143637" y="576199"/>
                  </a:lnTo>
                  <a:lnTo>
                    <a:pt x="287274" y="432562"/>
                  </a:lnTo>
                  <a:lnTo>
                    <a:pt x="215391" y="432562"/>
                  </a:lnTo>
                  <a:lnTo>
                    <a:pt x="215391" y="0"/>
                  </a:lnTo>
                  <a:close/>
                </a:path>
              </a:pathLst>
            </a:custGeom>
            <a:solidFill>
              <a:srgbClr val="EBD782"/>
            </a:solidFill>
          </p:spPr>
          <p:txBody>
            <a:bodyPr wrap="square" lIns="0" tIns="0" rIns="0" bIns="0" rtlCol="0"/>
            <a:lstStyle/>
            <a:p/>
          </p:txBody>
        </p:sp>
        <p:sp>
          <p:nvSpPr>
            <p:cNvPr id="16" name="object 16" descr=""/>
            <p:cNvSpPr/>
            <p:nvPr/>
          </p:nvSpPr>
          <p:spPr>
            <a:xfrm>
              <a:off x="4929251" y="3141726"/>
              <a:ext cx="287655" cy="576580"/>
            </a:xfrm>
            <a:custGeom>
              <a:avLst/>
              <a:gdLst/>
              <a:ahLst/>
              <a:cxnLst/>
              <a:rect l="l" t="t" r="r" b="b"/>
              <a:pathLst>
                <a:path w="287654" h="576579">
                  <a:moveTo>
                    <a:pt x="0" y="432562"/>
                  </a:moveTo>
                  <a:lnTo>
                    <a:pt x="71754" y="432562"/>
                  </a:lnTo>
                  <a:lnTo>
                    <a:pt x="71754" y="0"/>
                  </a:lnTo>
                  <a:lnTo>
                    <a:pt x="215391" y="0"/>
                  </a:lnTo>
                  <a:lnTo>
                    <a:pt x="215391" y="432562"/>
                  </a:lnTo>
                  <a:lnTo>
                    <a:pt x="287274" y="432562"/>
                  </a:lnTo>
                  <a:lnTo>
                    <a:pt x="143637" y="576199"/>
                  </a:lnTo>
                  <a:lnTo>
                    <a:pt x="0" y="432562"/>
                  </a:lnTo>
                  <a:close/>
                </a:path>
              </a:pathLst>
            </a:custGeom>
            <a:ln w="9525">
              <a:solidFill>
                <a:srgbClr val="40458B"/>
              </a:solidFill>
            </a:ln>
          </p:spPr>
          <p:txBody>
            <a:bodyPr wrap="square" lIns="0" tIns="0" rIns="0" bIns="0" rtlCol="0"/>
            <a:lstStyle/>
            <a:p/>
          </p:txBody>
        </p:sp>
      </p:grpSp>
      <p:sp>
        <p:nvSpPr>
          <p:cNvPr id="17" name="object 17" descr=""/>
          <p:cNvSpPr txBox="1"/>
          <p:nvPr/>
        </p:nvSpPr>
        <p:spPr>
          <a:xfrm>
            <a:off x="5345684" y="3224276"/>
            <a:ext cx="3819525" cy="330835"/>
          </a:xfrm>
          <a:prstGeom prst="rect">
            <a:avLst/>
          </a:prstGeom>
        </p:spPr>
        <p:txBody>
          <a:bodyPr wrap="square" lIns="0" tIns="13335" rIns="0" bIns="0" rtlCol="0" vert="horz">
            <a:spAutoFit/>
          </a:bodyPr>
          <a:lstStyle/>
          <a:p>
            <a:pPr marL="12700">
              <a:lnSpc>
                <a:spcPct val="100000"/>
              </a:lnSpc>
              <a:spcBef>
                <a:spcPts val="105"/>
              </a:spcBef>
            </a:pPr>
            <a:r>
              <a:rPr dirty="0" sz="2000">
                <a:solidFill>
                  <a:srgbClr val="FF09FF"/>
                </a:solidFill>
                <a:latin typeface="黑体"/>
                <a:cs typeface="黑体"/>
              </a:rPr>
              <a:t>化简（</a:t>
            </a:r>
            <a:r>
              <a:rPr dirty="0" sz="2000" spc="-10">
                <a:solidFill>
                  <a:srgbClr val="FF09FF"/>
                </a:solidFill>
                <a:latin typeface="黑体"/>
                <a:cs typeface="黑体"/>
              </a:rPr>
              <a:t>读写次数合并</a:t>
            </a:r>
            <a:r>
              <a:rPr dirty="0" sz="2000" spc="-10">
                <a:solidFill>
                  <a:srgbClr val="FF09FF"/>
                </a:solidFill>
                <a:latin typeface="Tahoma"/>
                <a:cs typeface="Tahoma"/>
              </a:rPr>
              <a:t>—</a:t>
            </a:r>
            <a:r>
              <a:rPr dirty="0" sz="2000" spc="-5">
                <a:solidFill>
                  <a:srgbClr val="FF09FF"/>
                </a:solidFill>
                <a:latin typeface="黑体"/>
                <a:cs typeface="黑体"/>
              </a:rPr>
              <a:t>访存次数</a:t>
            </a:r>
            <a:r>
              <a:rPr dirty="0" sz="2000" spc="-50">
                <a:solidFill>
                  <a:srgbClr val="FF09FF"/>
                </a:solidFill>
                <a:latin typeface="黑体"/>
                <a:cs typeface="黑体"/>
              </a:rPr>
              <a:t>）</a:t>
            </a:r>
            <a:endParaRPr sz="2000">
              <a:latin typeface="黑体"/>
              <a:cs typeface="黑体"/>
            </a:endParaRPr>
          </a:p>
        </p:txBody>
      </p:sp>
      <p:grpSp>
        <p:nvGrpSpPr>
          <p:cNvPr id="18" name="object 18" descr=""/>
          <p:cNvGrpSpPr/>
          <p:nvPr/>
        </p:nvGrpSpPr>
        <p:grpSpPr>
          <a:xfrm>
            <a:off x="5708840" y="4285551"/>
            <a:ext cx="325120" cy="666750"/>
            <a:chOff x="5708840" y="4285551"/>
            <a:chExt cx="325120" cy="666750"/>
          </a:xfrm>
        </p:grpSpPr>
        <p:sp>
          <p:nvSpPr>
            <p:cNvPr id="19" name="object 19" descr=""/>
            <p:cNvSpPr/>
            <p:nvPr/>
          </p:nvSpPr>
          <p:spPr>
            <a:xfrm>
              <a:off x="5713603" y="4290314"/>
              <a:ext cx="315595" cy="657225"/>
            </a:xfrm>
            <a:custGeom>
              <a:avLst/>
              <a:gdLst/>
              <a:ahLst/>
              <a:cxnLst/>
              <a:rect l="l" t="t" r="r" b="b"/>
              <a:pathLst>
                <a:path w="315595" h="657225">
                  <a:moveTo>
                    <a:pt x="45466" y="0"/>
                  </a:moveTo>
                  <a:lnTo>
                    <a:pt x="0" y="18668"/>
                  </a:lnTo>
                  <a:lnTo>
                    <a:pt x="246761" y="621538"/>
                  </a:lnTo>
                  <a:lnTo>
                    <a:pt x="224027" y="630809"/>
                  </a:lnTo>
                  <a:lnTo>
                    <a:pt x="288036" y="657225"/>
                  </a:lnTo>
                  <a:lnTo>
                    <a:pt x="315087" y="593471"/>
                  </a:lnTo>
                  <a:lnTo>
                    <a:pt x="292354" y="602869"/>
                  </a:lnTo>
                  <a:lnTo>
                    <a:pt x="45466" y="0"/>
                  </a:lnTo>
                  <a:close/>
                </a:path>
              </a:pathLst>
            </a:custGeom>
            <a:solidFill>
              <a:srgbClr val="EBD782"/>
            </a:solidFill>
          </p:spPr>
          <p:txBody>
            <a:bodyPr wrap="square" lIns="0" tIns="0" rIns="0" bIns="0" rtlCol="0"/>
            <a:lstStyle/>
            <a:p/>
          </p:txBody>
        </p:sp>
        <p:sp>
          <p:nvSpPr>
            <p:cNvPr id="20" name="object 20" descr=""/>
            <p:cNvSpPr/>
            <p:nvPr/>
          </p:nvSpPr>
          <p:spPr>
            <a:xfrm>
              <a:off x="5713603" y="4290314"/>
              <a:ext cx="315595" cy="657225"/>
            </a:xfrm>
            <a:custGeom>
              <a:avLst/>
              <a:gdLst/>
              <a:ahLst/>
              <a:cxnLst/>
              <a:rect l="l" t="t" r="r" b="b"/>
              <a:pathLst>
                <a:path w="315595" h="657225">
                  <a:moveTo>
                    <a:pt x="224027" y="630809"/>
                  </a:moveTo>
                  <a:lnTo>
                    <a:pt x="246761" y="621538"/>
                  </a:lnTo>
                  <a:lnTo>
                    <a:pt x="0" y="18668"/>
                  </a:lnTo>
                  <a:lnTo>
                    <a:pt x="45466" y="0"/>
                  </a:lnTo>
                  <a:lnTo>
                    <a:pt x="292354" y="602869"/>
                  </a:lnTo>
                  <a:lnTo>
                    <a:pt x="315087" y="593471"/>
                  </a:lnTo>
                  <a:lnTo>
                    <a:pt x="288036" y="657225"/>
                  </a:lnTo>
                  <a:lnTo>
                    <a:pt x="224027" y="630809"/>
                  </a:lnTo>
                  <a:close/>
                </a:path>
              </a:pathLst>
            </a:custGeom>
            <a:ln w="9525">
              <a:solidFill>
                <a:srgbClr val="40458B"/>
              </a:solidFill>
            </a:ln>
          </p:spPr>
          <p:txBody>
            <a:bodyPr wrap="square" lIns="0" tIns="0" rIns="0" bIns="0" rtlCol="0"/>
            <a:lstStyle/>
            <a:p/>
          </p:txBody>
        </p:sp>
      </p:grpSp>
      <p:sp>
        <p:nvSpPr>
          <p:cNvPr id="21" name="object 21" descr=""/>
          <p:cNvSpPr txBox="1"/>
          <p:nvPr/>
        </p:nvSpPr>
        <p:spPr>
          <a:xfrm>
            <a:off x="3935476" y="5108638"/>
            <a:ext cx="5473700" cy="462280"/>
          </a:xfrm>
          <a:prstGeom prst="rect">
            <a:avLst/>
          </a:prstGeom>
          <a:solidFill>
            <a:srgbClr val="B9F3FD"/>
          </a:solidFill>
        </p:spPr>
        <p:txBody>
          <a:bodyPr wrap="square" lIns="0" tIns="46990" rIns="0" bIns="0" rtlCol="0" vert="horz">
            <a:spAutoFit/>
          </a:bodyPr>
          <a:lstStyle/>
          <a:p>
            <a:pPr marL="91440">
              <a:lnSpc>
                <a:spcPct val="100000"/>
              </a:lnSpc>
              <a:spcBef>
                <a:spcPts val="370"/>
              </a:spcBef>
            </a:pPr>
            <a:r>
              <a:rPr dirty="0" sz="2400" spc="-5">
                <a:solidFill>
                  <a:srgbClr val="40458B"/>
                </a:solidFill>
                <a:latin typeface="黑体"/>
                <a:cs typeface="黑体"/>
              </a:rPr>
              <a:t>读和写平均不命中率及平均不命中开销</a:t>
            </a:r>
            <a:endParaRPr sz="2400">
              <a:latin typeface="黑体"/>
              <a:cs typeface="黑体"/>
            </a:endParaRPr>
          </a:p>
        </p:txBody>
      </p:sp>
      <p:grpSp>
        <p:nvGrpSpPr>
          <p:cNvPr id="22" name="object 22" descr=""/>
          <p:cNvGrpSpPr/>
          <p:nvPr/>
        </p:nvGrpSpPr>
        <p:grpSpPr>
          <a:xfrm>
            <a:off x="6938454" y="4317809"/>
            <a:ext cx="267335" cy="636905"/>
            <a:chOff x="6938454" y="4317809"/>
            <a:chExt cx="267335" cy="636905"/>
          </a:xfrm>
        </p:grpSpPr>
        <p:sp>
          <p:nvSpPr>
            <p:cNvPr id="23" name="object 23" descr=""/>
            <p:cNvSpPr/>
            <p:nvPr/>
          </p:nvSpPr>
          <p:spPr>
            <a:xfrm>
              <a:off x="6943217" y="4322571"/>
              <a:ext cx="257810" cy="627380"/>
            </a:xfrm>
            <a:custGeom>
              <a:avLst/>
              <a:gdLst/>
              <a:ahLst/>
              <a:cxnLst/>
              <a:rect l="l" t="t" r="r" b="b"/>
              <a:pathLst>
                <a:path w="257809" h="627379">
                  <a:moveTo>
                    <a:pt x="202691" y="0"/>
                  </a:moveTo>
                  <a:lnTo>
                    <a:pt x="27304" y="564133"/>
                  </a:lnTo>
                  <a:lnTo>
                    <a:pt x="0" y="555751"/>
                  </a:lnTo>
                  <a:lnTo>
                    <a:pt x="37718" y="626998"/>
                  </a:lnTo>
                  <a:lnTo>
                    <a:pt x="109219" y="589660"/>
                  </a:lnTo>
                  <a:lnTo>
                    <a:pt x="81914" y="581151"/>
                  </a:lnTo>
                  <a:lnTo>
                    <a:pt x="257301" y="16890"/>
                  </a:lnTo>
                  <a:lnTo>
                    <a:pt x="202691" y="0"/>
                  </a:lnTo>
                  <a:close/>
                </a:path>
              </a:pathLst>
            </a:custGeom>
            <a:solidFill>
              <a:srgbClr val="EBD782"/>
            </a:solidFill>
          </p:spPr>
          <p:txBody>
            <a:bodyPr wrap="square" lIns="0" tIns="0" rIns="0" bIns="0" rtlCol="0"/>
            <a:lstStyle/>
            <a:p/>
          </p:txBody>
        </p:sp>
        <p:sp>
          <p:nvSpPr>
            <p:cNvPr id="24" name="object 24" descr=""/>
            <p:cNvSpPr/>
            <p:nvPr/>
          </p:nvSpPr>
          <p:spPr>
            <a:xfrm>
              <a:off x="6943217" y="4322571"/>
              <a:ext cx="257810" cy="627380"/>
            </a:xfrm>
            <a:custGeom>
              <a:avLst/>
              <a:gdLst/>
              <a:ahLst/>
              <a:cxnLst/>
              <a:rect l="l" t="t" r="r" b="b"/>
              <a:pathLst>
                <a:path w="257809" h="627379">
                  <a:moveTo>
                    <a:pt x="0" y="555751"/>
                  </a:moveTo>
                  <a:lnTo>
                    <a:pt x="27304" y="564133"/>
                  </a:lnTo>
                  <a:lnTo>
                    <a:pt x="202691" y="0"/>
                  </a:lnTo>
                  <a:lnTo>
                    <a:pt x="257301" y="16890"/>
                  </a:lnTo>
                  <a:lnTo>
                    <a:pt x="81914" y="581151"/>
                  </a:lnTo>
                  <a:lnTo>
                    <a:pt x="109219" y="589660"/>
                  </a:lnTo>
                  <a:lnTo>
                    <a:pt x="37718" y="626998"/>
                  </a:lnTo>
                  <a:lnTo>
                    <a:pt x="0" y="555751"/>
                  </a:lnTo>
                  <a:close/>
                </a:path>
              </a:pathLst>
            </a:custGeom>
            <a:ln w="9525">
              <a:solidFill>
                <a:srgbClr val="40458B"/>
              </a:solidFill>
            </a:ln>
          </p:spPr>
          <p:txBody>
            <a:bodyPr wrap="square" lIns="0" tIns="0" rIns="0" bIns="0" rtlCol="0"/>
            <a:lstStyle/>
            <a:p/>
          </p:txBody>
        </p:sp>
      </p:grpSp>
      <p:sp>
        <p:nvSpPr>
          <p:cNvPr id="25" name="object 25"/>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9" name="object 9" descr=""/>
          <p:cNvGrpSpPr/>
          <p:nvPr/>
        </p:nvGrpSpPr>
        <p:grpSpPr>
          <a:xfrm>
            <a:off x="1847850" y="2781300"/>
            <a:ext cx="8569325" cy="2952750"/>
            <a:chOff x="1847850" y="2781300"/>
            <a:chExt cx="8569325" cy="2952750"/>
          </a:xfrm>
        </p:grpSpPr>
        <p:sp>
          <p:nvSpPr>
            <p:cNvPr id="10" name="object 10" descr=""/>
            <p:cNvSpPr/>
            <p:nvPr/>
          </p:nvSpPr>
          <p:spPr>
            <a:xfrm>
              <a:off x="1847850" y="2781300"/>
              <a:ext cx="8569325" cy="2952750"/>
            </a:xfrm>
            <a:custGeom>
              <a:avLst/>
              <a:gdLst/>
              <a:ahLst/>
              <a:cxnLst/>
              <a:rect l="l" t="t" r="r" b="b"/>
              <a:pathLst>
                <a:path w="8569325" h="2952750">
                  <a:moveTo>
                    <a:pt x="8569325" y="0"/>
                  </a:moveTo>
                  <a:lnTo>
                    <a:pt x="0" y="0"/>
                  </a:lnTo>
                  <a:lnTo>
                    <a:pt x="0" y="2952750"/>
                  </a:lnTo>
                  <a:lnTo>
                    <a:pt x="8569325" y="2952750"/>
                  </a:lnTo>
                  <a:lnTo>
                    <a:pt x="8569325" y="0"/>
                  </a:lnTo>
                  <a:close/>
                </a:path>
              </a:pathLst>
            </a:custGeom>
            <a:solidFill>
              <a:srgbClr val="C5FFE9"/>
            </a:solidFill>
          </p:spPr>
          <p:txBody>
            <a:bodyPr wrap="square" lIns="0" tIns="0" rIns="0" bIns="0" rtlCol="0"/>
            <a:lstStyle/>
            <a:p/>
          </p:txBody>
        </p:sp>
        <p:sp>
          <p:nvSpPr>
            <p:cNvPr id="11" name="object 11" descr=""/>
            <p:cNvSpPr/>
            <p:nvPr/>
          </p:nvSpPr>
          <p:spPr>
            <a:xfrm>
              <a:off x="5094446" y="4316678"/>
              <a:ext cx="903605" cy="0"/>
            </a:xfrm>
            <a:custGeom>
              <a:avLst/>
              <a:gdLst/>
              <a:ahLst/>
              <a:cxnLst/>
              <a:rect l="l" t="t" r="r" b="b"/>
              <a:pathLst>
                <a:path w="903604" h="0">
                  <a:moveTo>
                    <a:pt x="0" y="0"/>
                  </a:moveTo>
                  <a:lnTo>
                    <a:pt x="903606" y="0"/>
                  </a:lnTo>
                </a:path>
              </a:pathLst>
            </a:custGeom>
            <a:ln w="10701">
              <a:solidFill>
                <a:srgbClr val="000000"/>
              </a:solidFill>
            </a:ln>
          </p:spPr>
          <p:txBody>
            <a:bodyPr wrap="square" lIns="0" tIns="0" rIns="0" bIns="0" rtlCol="0"/>
            <a:lstStyle/>
            <a:p/>
          </p:txBody>
        </p:sp>
      </p:grpSp>
      <p:sp>
        <p:nvSpPr>
          <p:cNvPr id="12" name="object 12" descr=""/>
          <p:cNvSpPr txBox="1"/>
          <p:nvPr/>
        </p:nvSpPr>
        <p:spPr>
          <a:xfrm>
            <a:off x="5216556" y="4311104"/>
            <a:ext cx="682625" cy="290195"/>
          </a:xfrm>
          <a:prstGeom prst="rect">
            <a:avLst/>
          </a:prstGeom>
        </p:spPr>
        <p:txBody>
          <a:bodyPr wrap="square" lIns="0" tIns="17145" rIns="0" bIns="0" rtlCol="0" vert="horz">
            <a:spAutoFit/>
          </a:bodyPr>
          <a:lstStyle/>
          <a:p>
            <a:pPr>
              <a:lnSpc>
                <a:spcPct val="100000"/>
              </a:lnSpc>
              <a:spcBef>
                <a:spcPts val="135"/>
              </a:spcBef>
            </a:pPr>
            <a:r>
              <a:rPr dirty="0" sz="1700">
                <a:latin typeface="宋体"/>
                <a:cs typeface="宋体"/>
              </a:rPr>
              <a:t>指令数</a:t>
            </a:r>
            <a:endParaRPr sz="1700">
              <a:latin typeface="宋体"/>
              <a:cs typeface="宋体"/>
            </a:endParaRPr>
          </a:p>
        </p:txBody>
      </p:sp>
      <p:sp>
        <p:nvSpPr>
          <p:cNvPr id="13" name="object 13" descr=""/>
          <p:cNvSpPr txBox="1"/>
          <p:nvPr/>
        </p:nvSpPr>
        <p:spPr>
          <a:xfrm>
            <a:off x="8107634" y="4000407"/>
            <a:ext cx="1823720" cy="431165"/>
          </a:xfrm>
          <a:prstGeom prst="rect">
            <a:avLst/>
          </a:prstGeom>
        </p:spPr>
        <p:txBody>
          <a:bodyPr wrap="square" lIns="0" tIns="17145" rIns="0" bIns="0" rtlCol="0" vert="horz">
            <a:spAutoFit/>
          </a:bodyPr>
          <a:lstStyle/>
          <a:p>
            <a:pPr marL="220345">
              <a:lnSpc>
                <a:spcPts val="1575"/>
              </a:lnSpc>
              <a:spcBef>
                <a:spcPts val="135"/>
              </a:spcBef>
            </a:pPr>
            <a:r>
              <a:rPr dirty="0" sz="1700" spc="-50">
                <a:latin typeface="Symbol"/>
                <a:cs typeface="Symbol"/>
              </a:rPr>
              <a:t></a:t>
            </a:r>
            <a:endParaRPr sz="1700">
              <a:latin typeface="Symbol"/>
              <a:cs typeface="Symbol"/>
            </a:endParaRPr>
          </a:p>
          <a:p>
            <a:pPr>
              <a:lnSpc>
                <a:spcPts val="1575"/>
              </a:lnSpc>
            </a:pPr>
            <a:r>
              <a:rPr dirty="0" sz="1700">
                <a:latin typeface="宋体"/>
                <a:cs typeface="宋体"/>
              </a:rPr>
              <a:t>销</a:t>
            </a:r>
            <a:r>
              <a:rPr dirty="0" sz="1700" spc="140">
                <a:latin typeface="Symbol"/>
                <a:cs typeface="Symbol"/>
              </a:rPr>
              <a:t></a:t>
            </a:r>
            <a:r>
              <a:rPr dirty="0" sz="1700">
                <a:latin typeface="宋体"/>
                <a:cs typeface="宋体"/>
              </a:rPr>
              <a:t>时钟周期时间</a:t>
            </a:r>
            <a:endParaRPr sz="1700">
              <a:latin typeface="宋体"/>
              <a:cs typeface="宋体"/>
            </a:endParaRPr>
          </a:p>
        </p:txBody>
      </p:sp>
      <p:sp>
        <p:nvSpPr>
          <p:cNvPr id="14" name="object 14" descr=""/>
          <p:cNvSpPr txBox="1"/>
          <p:nvPr/>
        </p:nvSpPr>
        <p:spPr>
          <a:xfrm>
            <a:off x="3707032" y="4141111"/>
            <a:ext cx="4745355" cy="501015"/>
          </a:xfrm>
          <a:prstGeom prst="rect">
            <a:avLst/>
          </a:prstGeom>
        </p:spPr>
        <p:txBody>
          <a:bodyPr wrap="square" lIns="0" tIns="17145" rIns="0" bIns="0" rtlCol="0" vert="horz">
            <a:spAutoFit/>
          </a:bodyPr>
          <a:lstStyle/>
          <a:p>
            <a:pPr marL="38100">
              <a:lnSpc>
                <a:spcPts val="1850"/>
              </a:lnSpc>
              <a:spcBef>
                <a:spcPts val="135"/>
              </a:spcBef>
              <a:tabLst>
                <a:tab pos="1221105" algn="l"/>
              </a:tabLst>
            </a:pPr>
            <a:r>
              <a:rPr dirty="0" sz="1700" spc="-50">
                <a:latin typeface="Symbol"/>
                <a:cs typeface="Symbol"/>
              </a:rPr>
              <a:t></a:t>
            </a:r>
            <a:r>
              <a:rPr dirty="0" sz="1700">
                <a:latin typeface="Times New Roman"/>
                <a:cs typeface="Times New Roman"/>
              </a:rPr>
              <a:t>	</a:t>
            </a:r>
            <a:r>
              <a:rPr dirty="0" sz="1700">
                <a:latin typeface="Symbol"/>
                <a:cs typeface="Symbol"/>
              </a:rPr>
              <a:t></a:t>
            </a:r>
            <a:r>
              <a:rPr dirty="0" sz="1700" spc="350">
                <a:latin typeface="Times New Roman"/>
                <a:cs typeface="Times New Roman"/>
              </a:rPr>
              <a:t> </a:t>
            </a:r>
            <a:r>
              <a:rPr dirty="0" baseline="35947" sz="2550" spc="104">
                <a:latin typeface="宋体"/>
                <a:cs typeface="宋体"/>
              </a:rPr>
              <a:t>访存次数</a:t>
            </a:r>
            <a:r>
              <a:rPr dirty="0" sz="1700" spc="170">
                <a:latin typeface="Symbol"/>
                <a:cs typeface="Symbol"/>
              </a:rPr>
              <a:t></a:t>
            </a:r>
            <a:r>
              <a:rPr dirty="0" sz="1700" spc="30">
                <a:latin typeface="宋体"/>
                <a:cs typeface="宋体"/>
              </a:rPr>
              <a:t>不命中率</a:t>
            </a:r>
            <a:r>
              <a:rPr dirty="0" sz="1700" spc="170">
                <a:latin typeface="Symbol"/>
                <a:cs typeface="Symbol"/>
              </a:rPr>
              <a:t></a:t>
            </a:r>
            <a:r>
              <a:rPr dirty="0" sz="1700">
                <a:latin typeface="宋体"/>
                <a:cs typeface="宋体"/>
              </a:rPr>
              <a:t>不命中开</a:t>
            </a:r>
            <a:endParaRPr sz="1700">
              <a:latin typeface="宋体"/>
              <a:cs typeface="宋体"/>
            </a:endParaRPr>
          </a:p>
          <a:p>
            <a:pPr marL="38100">
              <a:lnSpc>
                <a:spcPts val="1850"/>
              </a:lnSpc>
              <a:tabLst>
                <a:tab pos="4620895" algn="l"/>
              </a:tabLst>
            </a:pPr>
            <a:r>
              <a:rPr dirty="0" sz="1700" spc="-50">
                <a:latin typeface="Symbol"/>
                <a:cs typeface="Symbol"/>
              </a:rPr>
              <a:t></a:t>
            </a:r>
            <a:r>
              <a:rPr dirty="0" sz="1700">
                <a:latin typeface="Times New Roman"/>
                <a:cs typeface="Times New Roman"/>
              </a:rPr>
              <a:t>	</a:t>
            </a:r>
            <a:r>
              <a:rPr dirty="0" sz="1700" spc="-50">
                <a:latin typeface="Symbol"/>
                <a:cs typeface="Symbol"/>
              </a:rPr>
              <a:t></a:t>
            </a:r>
            <a:endParaRPr sz="1700">
              <a:latin typeface="Symbol"/>
              <a:cs typeface="Symbol"/>
            </a:endParaRPr>
          </a:p>
        </p:txBody>
      </p:sp>
      <p:sp>
        <p:nvSpPr>
          <p:cNvPr id="15" name="object 15" descr=""/>
          <p:cNvSpPr txBox="1"/>
          <p:nvPr/>
        </p:nvSpPr>
        <p:spPr>
          <a:xfrm>
            <a:off x="4247077" y="4237721"/>
            <a:ext cx="711200" cy="236854"/>
          </a:xfrm>
          <a:prstGeom prst="rect">
            <a:avLst/>
          </a:prstGeom>
        </p:spPr>
        <p:txBody>
          <a:bodyPr wrap="square" lIns="0" tIns="17145" rIns="0" bIns="0" rtlCol="0" vert="horz">
            <a:spAutoFit/>
          </a:bodyPr>
          <a:lstStyle/>
          <a:p>
            <a:pPr>
              <a:lnSpc>
                <a:spcPct val="100000"/>
              </a:lnSpc>
              <a:spcBef>
                <a:spcPts val="135"/>
              </a:spcBef>
            </a:pPr>
            <a:r>
              <a:rPr dirty="0" sz="1350" spc="-10" i="1">
                <a:latin typeface="Times New Roman"/>
                <a:cs typeface="Times New Roman"/>
              </a:rPr>
              <a:t>execution</a:t>
            </a:r>
            <a:endParaRPr sz="1350">
              <a:latin typeface="Times New Roman"/>
              <a:cs typeface="Times New Roman"/>
            </a:endParaRPr>
          </a:p>
        </p:txBody>
      </p:sp>
      <p:sp>
        <p:nvSpPr>
          <p:cNvPr id="16" name="object 16" descr=""/>
          <p:cNvSpPr txBox="1"/>
          <p:nvPr/>
        </p:nvSpPr>
        <p:spPr>
          <a:xfrm>
            <a:off x="2216665" y="4138433"/>
            <a:ext cx="2025650" cy="290195"/>
          </a:xfrm>
          <a:prstGeom prst="rect">
            <a:avLst/>
          </a:prstGeom>
        </p:spPr>
        <p:txBody>
          <a:bodyPr wrap="square" lIns="0" tIns="17145" rIns="0" bIns="0" rtlCol="0" vert="horz">
            <a:spAutoFit/>
          </a:bodyPr>
          <a:lstStyle/>
          <a:p>
            <a:pPr marL="25400">
              <a:lnSpc>
                <a:spcPct val="100000"/>
              </a:lnSpc>
              <a:spcBef>
                <a:spcPts val="135"/>
              </a:spcBef>
            </a:pPr>
            <a:r>
              <a:rPr dirty="0" sz="1700" i="1">
                <a:latin typeface="Times New Roman"/>
                <a:cs typeface="Times New Roman"/>
              </a:rPr>
              <a:t>CPU</a:t>
            </a:r>
            <a:r>
              <a:rPr dirty="0" sz="1700" spc="145">
                <a:latin typeface="宋体"/>
                <a:cs typeface="宋体"/>
              </a:rPr>
              <a:t>时间</a:t>
            </a:r>
            <a:r>
              <a:rPr dirty="0" sz="1700">
                <a:latin typeface="Symbol"/>
                <a:cs typeface="Symbol"/>
              </a:rPr>
              <a:t></a:t>
            </a:r>
            <a:r>
              <a:rPr dirty="0" sz="1700" spc="125">
                <a:latin typeface="Times New Roman"/>
                <a:cs typeface="Times New Roman"/>
              </a:rPr>
              <a:t> </a:t>
            </a:r>
            <a:r>
              <a:rPr dirty="0" sz="1700" i="1">
                <a:latin typeface="Times New Roman"/>
                <a:cs typeface="Times New Roman"/>
              </a:rPr>
              <a:t>IC</a:t>
            </a:r>
            <a:r>
              <a:rPr dirty="0" sz="1700" spc="-114" i="1">
                <a:latin typeface="Times New Roman"/>
                <a:cs typeface="Times New Roman"/>
              </a:rPr>
              <a:t> </a:t>
            </a:r>
            <a:r>
              <a:rPr dirty="0" sz="1700" spc="55">
                <a:latin typeface="Symbol"/>
                <a:cs typeface="Symbol"/>
              </a:rPr>
              <a:t></a:t>
            </a:r>
            <a:r>
              <a:rPr dirty="0" baseline="35947" sz="2550" spc="82">
                <a:latin typeface="Symbol"/>
                <a:cs typeface="Symbol"/>
              </a:rPr>
              <a:t></a:t>
            </a:r>
            <a:r>
              <a:rPr dirty="0" sz="1700" spc="55" i="1">
                <a:latin typeface="Times New Roman"/>
                <a:cs typeface="Times New Roman"/>
              </a:rPr>
              <a:t>CPI</a:t>
            </a:r>
            <a:endParaRPr sz="1700">
              <a:latin typeface="Times New Roman"/>
              <a:cs typeface="Times New Roman"/>
            </a:endParaRPr>
          </a:p>
        </p:txBody>
      </p:sp>
      <p:sp>
        <p:nvSpPr>
          <p:cNvPr id="17" name="object 17" descr=""/>
          <p:cNvSpPr txBox="1"/>
          <p:nvPr/>
        </p:nvSpPr>
        <p:spPr>
          <a:xfrm>
            <a:off x="3066795" y="4612570"/>
            <a:ext cx="6421755" cy="941069"/>
          </a:xfrm>
          <a:prstGeom prst="rect">
            <a:avLst/>
          </a:prstGeom>
        </p:spPr>
        <p:txBody>
          <a:bodyPr wrap="square" lIns="0" tIns="165735" rIns="0" bIns="0" rtlCol="0" vert="horz">
            <a:spAutoFit/>
          </a:bodyPr>
          <a:lstStyle/>
          <a:p>
            <a:pPr marL="25400">
              <a:lnSpc>
                <a:spcPct val="100000"/>
              </a:lnSpc>
              <a:spcBef>
                <a:spcPts val="1305"/>
              </a:spcBef>
            </a:pPr>
            <a:r>
              <a:rPr dirty="0" sz="2000">
                <a:latin typeface="Times New Roman"/>
                <a:cs typeface="Times New Roman"/>
              </a:rPr>
              <a:t>=</a:t>
            </a:r>
            <a:r>
              <a:rPr dirty="0" sz="2000" i="1">
                <a:latin typeface="Times New Roman"/>
                <a:cs typeface="Times New Roman"/>
              </a:rPr>
              <a:t>IC</a:t>
            </a:r>
            <a:r>
              <a:rPr dirty="0" sz="2000">
                <a:latin typeface="宋体"/>
                <a:cs typeface="宋体"/>
              </a:rPr>
              <a:t>×（</a:t>
            </a:r>
            <a:r>
              <a:rPr dirty="0" sz="2000" i="1">
                <a:latin typeface="Times New Roman"/>
                <a:cs typeface="Times New Roman"/>
              </a:rPr>
              <a:t>CPI</a:t>
            </a:r>
            <a:r>
              <a:rPr dirty="0" sz="2000" spc="60" i="1">
                <a:latin typeface="Times New Roman"/>
                <a:cs typeface="Times New Roman"/>
              </a:rPr>
              <a:t> </a:t>
            </a:r>
            <a:r>
              <a:rPr dirty="0" baseline="-21367" sz="1950">
                <a:latin typeface="Times New Roman"/>
                <a:cs typeface="Times New Roman"/>
              </a:rPr>
              <a:t>execution</a:t>
            </a:r>
            <a:r>
              <a:rPr dirty="0" sz="2000" spc="-25">
                <a:latin typeface="宋体"/>
                <a:cs typeface="宋体"/>
              </a:rPr>
              <a:t>＋每条指令的平均访存次数×不命中率</a:t>
            </a:r>
            <a:endParaRPr sz="2000">
              <a:latin typeface="宋体"/>
              <a:cs typeface="宋体"/>
            </a:endParaRPr>
          </a:p>
          <a:p>
            <a:pPr marL="151765">
              <a:lnSpc>
                <a:spcPct val="100000"/>
              </a:lnSpc>
              <a:spcBef>
                <a:spcPts val="1200"/>
              </a:spcBef>
            </a:pPr>
            <a:r>
              <a:rPr dirty="0" sz="2000">
                <a:latin typeface="宋体"/>
                <a:cs typeface="宋体"/>
              </a:rPr>
              <a:t>×不命中开销）×</a:t>
            </a:r>
            <a:r>
              <a:rPr dirty="0" sz="2000" spc="-90">
                <a:latin typeface="宋体"/>
                <a:cs typeface="宋体"/>
              </a:rPr>
              <a:t> 时钟周期时间</a:t>
            </a:r>
            <a:endParaRPr sz="2000">
              <a:latin typeface="宋体"/>
              <a:cs typeface="宋体"/>
            </a:endParaRPr>
          </a:p>
        </p:txBody>
      </p:sp>
      <p:grpSp>
        <p:nvGrpSpPr>
          <p:cNvPr id="18" name="object 18" descr=""/>
          <p:cNvGrpSpPr/>
          <p:nvPr/>
        </p:nvGrpSpPr>
        <p:grpSpPr>
          <a:xfrm>
            <a:off x="5730938" y="1839912"/>
            <a:ext cx="514350" cy="730250"/>
            <a:chOff x="5730938" y="1839912"/>
            <a:chExt cx="514350" cy="730250"/>
          </a:xfrm>
        </p:grpSpPr>
        <p:sp>
          <p:nvSpPr>
            <p:cNvPr id="19" name="object 19" descr=""/>
            <p:cNvSpPr/>
            <p:nvPr/>
          </p:nvSpPr>
          <p:spPr>
            <a:xfrm>
              <a:off x="5735701" y="1844675"/>
              <a:ext cx="504825" cy="720725"/>
            </a:xfrm>
            <a:custGeom>
              <a:avLst/>
              <a:gdLst/>
              <a:ahLst/>
              <a:cxnLst/>
              <a:rect l="l" t="t" r="r" b="b"/>
              <a:pathLst>
                <a:path w="504825" h="720725">
                  <a:moveTo>
                    <a:pt x="378587" y="0"/>
                  </a:moveTo>
                  <a:lnTo>
                    <a:pt x="126111" y="0"/>
                  </a:lnTo>
                  <a:lnTo>
                    <a:pt x="126111" y="468249"/>
                  </a:lnTo>
                  <a:lnTo>
                    <a:pt x="0" y="468249"/>
                  </a:lnTo>
                  <a:lnTo>
                    <a:pt x="252349" y="720725"/>
                  </a:lnTo>
                  <a:lnTo>
                    <a:pt x="504825" y="468249"/>
                  </a:lnTo>
                  <a:lnTo>
                    <a:pt x="378587" y="468249"/>
                  </a:lnTo>
                  <a:lnTo>
                    <a:pt x="378587" y="0"/>
                  </a:lnTo>
                  <a:close/>
                </a:path>
              </a:pathLst>
            </a:custGeom>
            <a:solidFill>
              <a:srgbClr val="EBD782"/>
            </a:solidFill>
          </p:spPr>
          <p:txBody>
            <a:bodyPr wrap="square" lIns="0" tIns="0" rIns="0" bIns="0" rtlCol="0"/>
            <a:lstStyle/>
            <a:p/>
          </p:txBody>
        </p:sp>
        <p:sp>
          <p:nvSpPr>
            <p:cNvPr id="20" name="object 20" descr=""/>
            <p:cNvSpPr/>
            <p:nvPr/>
          </p:nvSpPr>
          <p:spPr>
            <a:xfrm>
              <a:off x="5735701" y="1844675"/>
              <a:ext cx="504825" cy="720725"/>
            </a:xfrm>
            <a:custGeom>
              <a:avLst/>
              <a:gdLst/>
              <a:ahLst/>
              <a:cxnLst/>
              <a:rect l="l" t="t" r="r" b="b"/>
              <a:pathLst>
                <a:path w="504825" h="720725">
                  <a:moveTo>
                    <a:pt x="0" y="468249"/>
                  </a:moveTo>
                  <a:lnTo>
                    <a:pt x="126111" y="468249"/>
                  </a:lnTo>
                  <a:lnTo>
                    <a:pt x="126111" y="0"/>
                  </a:lnTo>
                  <a:lnTo>
                    <a:pt x="378587" y="0"/>
                  </a:lnTo>
                  <a:lnTo>
                    <a:pt x="378587" y="468249"/>
                  </a:lnTo>
                  <a:lnTo>
                    <a:pt x="504825" y="468249"/>
                  </a:lnTo>
                  <a:lnTo>
                    <a:pt x="252349" y="720725"/>
                  </a:lnTo>
                  <a:lnTo>
                    <a:pt x="0" y="468249"/>
                  </a:lnTo>
                  <a:close/>
                </a:path>
              </a:pathLst>
            </a:custGeom>
            <a:ln w="9525">
              <a:solidFill>
                <a:srgbClr val="40458B"/>
              </a:solidFill>
            </a:ln>
          </p:spPr>
          <p:txBody>
            <a:bodyPr wrap="square" lIns="0" tIns="0" rIns="0" bIns="0" rtlCol="0"/>
            <a:lstStyle/>
            <a:p/>
          </p:txBody>
        </p:sp>
      </p:grpSp>
      <p:sp>
        <p:nvSpPr>
          <p:cNvPr id="21" name="object 21" descr=""/>
          <p:cNvSpPr txBox="1"/>
          <p:nvPr/>
        </p:nvSpPr>
        <p:spPr>
          <a:xfrm>
            <a:off x="-18186" y="564882"/>
            <a:ext cx="9676130" cy="3249930"/>
          </a:xfrm>
          <a:prstGeom prst="rect">
            <a:avLst/>
          </a:prstGeom>
        </p:spPr>
        <p:txBody>
          <a:bodyPr wrap="square" lIns="0" tIns="130175" rIns="0" bIns="0" rtlCol="0" vert="horz">
            <a:spAutoFit/>
          </a:bodyPr>
          <a:lstStyle/>
          <a:p>
            <a:pPr marL="469900" indent="-457200">
              <a:lnSpc>
                <a:spcPct val="100000"/>
              </a:lnSpc>
              <a:spcBef>
                <a:spcPts val="1025"/>
              </a:spcBef>
              <a:buClr>
                <a:srgbClr val="40458B"/>
              </a:buClr>
              <a:buFont typeface="Tahoma"/>
              <a:buAutoNum type="arabicPeriod" startAt="3"/>
              <a:tabLst>
                <a:tab pos="469900" algn="l"/>
              </a:tabLst>
            </a:pPr>
            <a:r>
              <a:rPr dirty="0" sz="2400" spc="-20">
                <a:solidFill>
                  <a:srgbClr val="C00000"/>
                </a:solidFill>
                <a:latin typeface="黑体"/>
                <a:cs typeface="黑体"/>
              </a:rPr>
              <a:t>程序执行时间</a:t>
            </a:r>
            <a:endParaRPr sz="2400">
              <a:latin typeface="黑体"/>
              <a:cs typeface="黑体"/>
            </a:endParaRPr>
          </a:p>
          <a:p>
            <a:pPr algn="r" marR="1976755">
              <a:lnSpc>
                <a:spcPct val="100000"/>
              </a:lnSpc>
              <a:spcBef>
                <a:spcPts val="775"/>
              </a:spcBef>
            </a:pPr>
            <a:r>
              <a:rPr dirty="0" sz="2000" spc="-10" b="1">
                <a:solidFill>
                  <a:srgbClr val="E14B04"/>
                </a:solidFill>
                <a:latin typeface="宋体"/>
                <a:cs typeface="宋体"/>
              </a:rPr>
              <a:t>CPU时间</a:t>
            </a:r>
            <a:r>
              <a:rPr dirty="0" sz="2000" spc="-20" b="1">
                <a:solidFill>
                  <a:srgbClr val="E14B04"/>
                </a:solidFill>
                <a:latin typeface="宋体"/>
                <a:cs typeface="宋体"/>
              </a:rPr>
              <a:t>＝（CPU执行周期数+存储器停顿周期数</a:t>
            </a:r>
            <a:r>
              <a:rPr dirty="0" sz="2000" b="1">
                <a:solidFill>
                  <a:srgbClr val="E14B04"/>
                </a:solidFill>
                <a:latin typeface="宋体"/>
                <a:cs typeface="宋体"/>
              </a:rPr>
              <a:t>）</a:t>
            </a:r>
            <a:r>
              <a:rPr dirty="0" sz="2000" spc="-15" b="1">
                <a:solidFill>
                  <a:srgbClr val="E14B04"/>
                </a:solidFill>
                <a:latin typeface="宋体"/>
                <a:cs typeface="宋体"/>
              </a:rPr>
              <a:t>× 时钟周期时间</a:t>
            </a:r>
            <a:endParaRPr sz="2000">
              <a:latin typeface="宋体"/>
              <a:cs typeface="宋体"/>
            </a:endParaRPr>
          </a:p>
          <a:p>
            <a:pPr algn="r" lvl="1" marL="456565" marR="1919605" indent="-456565">
              <a:lnSpc>
                <a:spcPct val="100000"/>
              </a:lnSpc>
              <a:spcBef>
                <a:spcPts val="720"/>
              </a:spcBef>
              <a:buSzPct val="90000"/>
              <a:buFont typeface="Wingdings"/>
              <a:buChar char=""/>
              <a:tabLst>
                <a:tab pos="456565" algn="l"/>
              </a:tabLst>
            </a:pPr>
            <a:r>
              <a:rPr dirty="0" sz="2000" spc="-10" b="1">
                <a:solidFill>
                  <a:srgbClr val="40458B"/>
                </a:solidFill>
                <a:latin typeface="宋体"/>
                <a:cs typeface="宋体"/>
              </a:rPr>
              <a:t>存储器停顿时钟周期数＝</a:t>
            </a:r>
            <a:r>
              <a:rPr dirty="0" sz="2000" spc="-25" b="1">
                <a:solidFill>
                  <a:srgbClr val="40458B"/>
                </a:solidFill>
                <a:latin typeface="宋体"/>
                <a:cs typeface="宋体"/>
              </a:rPr>
              <a:t>访存次数×不命中率×不命中开销</a:t>
            </a:r>
            <a:endParaRPr sz="2000">
              <a:latin typeface="宋体"/>
              <a:cs typeface="宋体"/>
            </a:endParaRPr>
          </a:p>
          <a:p>
            <a:pPr marL="6256655">
              <a:lnSpc>
                <a:spcPct val="100000"/>
              </a:lnSpc>
              <a:spcBef>
                <a:spcPts val="240"/>
              </a:spcBef>
            </a:pPr>
            <a:r>
              <a:rPr dirty="0" sz="2400" spc="-25">
                <a:solidFill>
                  <a:srgbClr val="FF09FF"/>
                </a:solidFill>
                <a:latin typeface="黑体"/>
                <a:cs typeface="黑体"/>
              </a:rPr>
              <a:t>代入</a:t>
            </a:r>
            <a:endParaRPr sz="2400">
              <a:latin typeface="黑体"/>
              <a:cs typeface="黑体"/>
            </a:endParaRPr>
          </a:p>
          <a:p>
            <a:pPr>
              <a:lnSpc>
                <a:spcPct val="100000"/>
              </a:lnSpc>
              <a:spcBef>
                <a:spcPts val="3045"/>
              </a:spcBef>
            </a:pPr>
            <a:endParaRPr sz="2400">
              <a:latin typeface="黑体"/>
              <a:cs typeface="黑体"/>
            </a:endParaRPr>
          </a:p>
          <a:p>
            <a:pPr marL="2173605">
              <a:lnSpc>
                <a:spcPct val="100000"/>
              </a:lnSpc>
            </a:pPr>
            <a:r>
              <a:rPr dirty="0" sz="2000" spc="-20">
                <a:latin typeface="Times New Roman"/>
                <a:cs typeface="Times New Roman"/>
              </a:rPr>
              <a:t>CPU</a:t>
            </a:r>
            <a:r>
              <a:rPr dirty="0" sz="2000">
                <a:latin typeface="宋体"/>
                <a:cs typeface="宋体"/>
              </a:rPr>
              <a:t>时间</a:t>
            </a:r>
            <a:r>
              <a:rPr dirty="0" sz="2000" spc="-10">
                <a:latin typeface="宋体"/>
                <a:cs typeface="宋体"/>
              </a:rPr>
              <a:t>＝（</a:t>
            </a:r>
            <a:r>
              <a:rPr dirty="0" sz="2000" spc="-10">
                <a:latin typeface="Times New Roman"/>
                <a:cs typeface="Times New Roman"/>
              </a:rPr>
              <a:t>CPU</a:t>
            </a:r>
            <a:r>
              <a:rPr dirty="0" sz="2000">
                <a:latin typeface="宋体"/>
                <a:cs typeface="宋体"/>
              </a:rPr>
              <a:t>执行周期数</a:t>
            </a:r>
            <a:r>
              <a:rPr dirty="0" sz="2000" spc="-10">
                <a:latin typeface="Times New Roman"/>
                <a:cs typeface="Times New Roman"/>
              </a:rPr>
              <a:t>+</a:t>
            </a:r>
            <a:r>
              <a:rPr dirty="0" sz="2000" spc="-15">
                <a:latin typeface="宋体"/>
                <a:cs typeface="宋体"/>
              </a:rPr>
              <a:t>访存次数×不命中率×不命中开销</a:t>
            </a:r>
            <a:r>
              <a:rPr dirty="0" sz="2000" spc="-50">
                <a:latin typeface="宋体"/>
                <a:cs typeface="宋体"/>
              </a:rPr>
              <a:t>）</a:t>
            </a:r>
            <a:endParaRPr sz="2000">
              <a:latin typeface="宋体"/>
              <a:cs typeface="宋体"/>
            </a:endParaRPr>
          </a:p>
          <a:p>
            <a:pPr algn="ctr" marR="298450">
              <a:lnSpc>
                <a:spcPct val="100000"/>
              </a:lnSpc>
              <a:spcBef>
                <a:spcPts val="1200"/>
              </a:spcBef>
            </a:pPr>
            <a:r>
              <a:rPr dirty="0" sz="2000" spc="-85">
                <a:latin typeface="宋体"/>
                <a:cs typeface="宋体"/>
              </a:rPr>
              <a:t>× 时钟周期时间</a:t>
            </a:r>
            <a:endParaRPr sz="2000">
              <a:latin typeface="宋体"/>
              <a:cs typeface="宋体"/>
            </a:endParaRPr>
          </a:p>
        </p:txBody>
      </p:sp>
      <p:sp>
        <p:nvSpPr>
          <p:cNvPr id="22" name="object 22"/>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972718" y="861415"/>
            <a:ext cx="10645140" cy="3517900"/>
          </a:xfrm>
          <a:prstGeom prst="rect">
            <a:avLst/>
          </a:prstGeom>
        </p:spPr>
        <p:txBody>
          <a:bodyPr wrap="square" lIns="0" tIns="22225" rIns="0" bIns="0" rtlCol="0" vert="horz">
            <a:spAutoFit/>
          </a:bodyPr>
          <a:lstStyle/>
          <a:p>
            <a:pPr marL="127000" marR="17780" indent="616585">
              <a:lnSpc>
                <a:spcPct val="133300"/>
              </a:lnSpc>
              <a:spcBef>
                <a:spcPts val="175"/>
              </a:spcBef>
            </a:pPr>
            <a:r>
              <a:rPr dirty="0" sz="2000" spc="-10" b="1">
                <a:solidFill>
                  <a:srgbClr val="E14B04"/>
                </a:solidFill>
                <a:latin typeface="宋体"/>
                <a:cs typeface="宋体"/>
              </a:rPr>
              <a:t>例7.1 </a:t>
            </a:r>
            <a:r>
              <a:rPr dirty="0" sz="2000" spc="-10" b="1">
                <a:latin typeface="宋体"/>
                <a:cs typeface="宋体"/>
              </a:rPr>
              <a:t>用一个和Alpha</a:t>
            </a:r>
            <a:r>
              <a:rPr dirty="0" sz="2000" spc="-20" b="1">
                <a:latin typeface="宋体"/>
                <a:cs typeface="宋体"/>
              </a:rPr>
              <a:t> </a:t>
            </a:r>
            <a:r>
              <a:rPr dirty="0" sz="2000" spc="-5" b="1">
                <a:latin typeface="宋体"/>
                <a:cs typeface="宋体"/>
              </a:rPr>
              <a:t>AXP</a:t>
            </a:r>
            <a:r>
              <a:rPr dirty="0" sz="2000" spc="-20" b="1">
                <a:latin typeface="宋体"/>
                <a:cs typeface="宋体"/>
              </a:rPr>
              <a:t>类似的机器作为第一个例子。假设</a:t>
            </a:r>
            <a:r>
              <a:rPr dirty="0" sz="2000" spc="-10" b="1">
                <a:latin typeface="宋体"/>
                <a:cs typeface="宋体"/>
              </a:rPr>
              <a:t>Cache</a:t>
            </a:r>
            <a:r>
              <a:rPr dirty="0" sz="2000" spc="-15" b="1">
                <a:latin typeface="宋体"/>
                <a:cs typeface="宋体"/>
              </a:rPr>
              <a:t>不命中开销为</a:t>
            </a:r>
            <a:r>
              <a:rPr dirty="0" sz="2000" spc="-10" b="1">
                <a:solidFill>
                  <a:srgbClr val="9933FF"/>
                </a:solidFill>
                <a:latin typeface="宋体"/>
                <a:cs typeface="宋体"/>
              </a:rPr>
              <a:t>50</a:t>
            </a:r>
            <a:r>
              <a:rPr dirty="0" sz="2000" spc="-10" b="1">
                <a:latin typeface="宋体"/>
                <a:cs typeface="宋体"/>
              </a:rPr>
              <a:t>个时钟</a:t>
            </a:r>
            <a:r>
              <a:rPr dirty="0" sz="2000" spc="-20" b="1">
                <a:latin typeface="宋体"/>
                <a:cs typeface="宋体"/>
              </a:rPr>
              <a:t>周期，当不考虑存储器停顿时，所有指令的执行时间都是</a:t>
            </a:r>
            <a:r>
              <a:rPr dirty="0" sz="2000" spc="-10" b="1">
                <a:solidFill>
                  <a:srgbClr val="9933FF"/>
                </a:solidFill>
                <a:latin typeface="宋体"/>
                <a:cs typeface="宋体"/>
              </a:rPr>
              <a:t>2.0</a:t>
            </a:r>
            <a:r>
              <a:rPr dirty="0" sz="2000" spc="-20" b="1">
                <a:latin typeface="宋体"/>
                <a:cs typeface="宋体"/>
              </a:rPr>
              <a:t>个时钟周期，访问</a:t>
            </a:r>
            <a:r>
              <a:rPr dirty="0" sz="2000" spc="-10" b="1">
                <a:latin typeface="宋体"/>
                <a:cs typeface="宋体"/>
              </a:rPr>
              <a:t>Cache</a:t>
            </a:r>
            <a:r>
              <a:rPr dirty="0" sz="2000" spc="-15" b="1">
                <a:latin typeface="宋体"/>
                <a:cs typeface="宋体"/>
              </a:rPr>
              <a:t>不命中率为</a:t>
            </a:r>
            <a:r>
              <a:rPr dirty="0" sz="2000" spc="-5" b="1">
                <a:solidFill>
                  <a:srgbClr val="9933FF"/>
                </a:solidFill>
                <a:latin typeface="宋体"/>
                <a:cs typeface="宋体"/>
              </a:rPr>
              <a:t>2%</a:t>
            </a:r>
            <a:r>
              <a:rPr dirty="0" sz="2000" spc="-20" b="1">
                <a:latin typeface="宋体"/>
                <a:cs typeface="宋体"/>
              </a:rPr>
              <a:t>，平均每条指令访存</a:t>
            </a:r>
            <a:r>
              <a:rPr dirty="0" sz="2000" spc="-5" b="1">
                <a:solidFill>
                  <a:srgbClr val="9933FF"/>
                </a:solidFill>
                <a:latin typeface="宋体"/>
                <a:cs typeface="宋体"/>
              </a:rPr>
              <a:t>1.33</a:t>
            </a:r>
            <a:r>
              <a:rPr dirty="0" sz="2000" spc="-20" b="1">
                <a:latin typeface="宋体"/>
                <a:cs typeface="宋体"/>
              </a:rPr>
              <a:t>次。试分析</a:t>
            </a:r>
            <a:r>
              <a:rPr dirty="0" sz="2000" spc="-5" b="1">
                <a:latin typeface="宋体"/>
                <a:cs typeface="宋体"/>
              </a:rPr>
              <a:t>Cache</a:t>
            </a:r>
            <a:r>
              <a:rPr dirty="0" sz="2000" spc="-20" b="1">
                <a:latin typeface="宋体"/>
                <a:cs typeface="宋体"/>
              </a:rPr>
              <a:t>对性能的影响。</a:t>
            </a:r>
            <a:endParaRPr sz="2000">
              <a:latin typeface="宋体"/>
              <a:cs typeface="宋体"/>
            </a:endParaRPr>
          </a:p>
          <a:p>
            <a:pPr marL="129539">
              <a:lnSpc>
                <a:spcPct val="100000"/>
              </a:lnSpc>
              <a:spcBef>
                <a:spcPts val="1764"/>
              </a:spcBef>
            </a:pPr>
            <a:r>
              <a:rPr dirty="0" sz="2000" spc="-50" b="1">
                <a:solidFill>
                  <a:srgbClr val="E14B04"/>
                </a:solidFill>
                <a:latin typeface="宋体"/>
                <a:cs typeface="宋体"/>
              </a:rPr>
              <a:t>解</a:t>
            </a:r>
            <a:endParaRPr sz="2000">
              <a:latin typeface="宋体"/>
              <a:cs typeface="宋体"/>
            </a:endParaRPr>
          </a:p>
          <a:p>
            <a:pPr marL="50800">
              <a:lnSpc>
                <a:spcPct val="100000"/>
              </a:lnSpc>
              <a:spcBef>
                <a:spcPts val="1180"/>
              </a:spcBef>
            </a:pPr>
            <a:r>
              <a:rPr dirty="0" sz="2000" spc="-20" b="1">
                <a:latin typeface="Times New Roman"/>
                <a:cs typeface="Times New Roman"/>
              </a:rPr>
              <a:t>CPU</a:t>
            </a:r>
            <a:r>
              <a:rPr dirty="0" sz="2000" spc="-10" b="1">
                <a:latin typeface="宋体"/>
                <a:cs typeface="宋体"/>
              </a:rPr>
              <a:t>时间</a:t>
            </a:r>
            <a:r>
              <a:rPr dirty="0" baseline="-21367" sz="1950" b="1">
                <a:latin typeface="宋体"/>
                <a:cs typeface="宋体"/>
              </a:rPr>
              <a:t>有</a:t>
            </a:r>
            <a:r>
              <a:rPr dirty="0" baseline="-21367" sz="1950" b="1">
                <a:latin typeface="Times New Roman"/>
                <a:cs typeface="Times New Roman"/>
              </a:rPr>
              <a:t>cache</a:t>
            </a:r>
            <a:r>
              <a:rPr dirty="0" sz="2000" b="1">
                <a:latin typeface="宋体"/>
                <a:cs typeface="宋体"/>
              </a:rPr>
              <a:t>＝</a:t>
            </a:r>
            <a:r>
              <a:rPr dirty="0" sz="2000" b="1" i="1">
                <a:latin typeface="Times New Roman"/>
                <a:cs typeface="Times New Roman"/>
              </a:rPr>
              <a:t>IC</a:t>
            </a:r>
            <a:r>
              <a:rPr dirty="0" sz="2000" spc="45" b="1" i="1">
                <a:latin typeface="Times New Roman"/>
                <a:cs typeface="Times New Roman"/>
              </a:rPr>
              <a:t> </a:t>
            </a:r>
            <a:r>
              <a:rPr dirty="0" sz="2000" b="1">
                <a:latin typeface="宋体"/>
                <a:cs typeface="宋体"/>
              </a:rPr>
              <a:t>×（</a:t>
            </a:r>
            <a:r>
              <a:rPr dirty="0" sz="2000" b="1" i="1">
                <a:latin typeface="Times New Roman"/>
                <a:cs typeface="Times New Roman"/>
              </a:rPr>
              <a:t>CPI</a:t>
            </a:r>
            <a:r>
              <a:rPr dirty="0" sz="2000" spc="60" b="1" i="1">
                <a:latin typeface="Times New Roman"/>
                <a:cs typeface="Times New Roman"/>
              </a:rPr>
              <a:t> </a:t>
            </a:r>
            <a:r>
              <a:rPr dirty="0" baseline="-21367" sz="1950" b="1">
                <a:latin typeface="Times New Roman"/>
                <a:cs typeface="Times New Roman"/>
              </a:rPr>
              <a:t>execution</a:t>
            </a:r>
            <a:r>
              <a:rPr dirty="0" sz="2000" spc="-25" b="1">
                <a:latin typeface="宋体"/>
                <a:cs typeface="宋体"/>
              </a:rPr>
              <a:t>＋每条指令的平均访存次数</a:t>
            </a:r>
            <a:endParaRPr sz="2000">
              <a:latin typeface="宋体"/>
              <a:cs typeface="宋体"/>
            </a:endParaRPr>
          </a:p>
          <a:p>
            <a:pPr algn="ctr" marR="1930400">
              <a:lnSpc>
                <a:spcPct val="100000"/>
              </a:lnSpc>
              <a:spcBef>
                <a:spcPts val="960"/>
              </a:spcBef>
            </a:pPr>
            <a:r>
              <a:rPr dirty="0" sz="2000" spc="-15" b="1">
                <a:latin typeface="宋体"/>
                <a:cs typeface="宋体"/>
              </a:rPr>
              <a:t>×不命中率×不命中开销）</a:t>
            </a:r>
            <a:r>
              <a:rPr dirty="0" sz="2000" spc="-95" b="1">
                <a:latin typeface="宋体"/>
                <a:cs typeface="宋体"/>
              </a:rPr>
              <a:t>× 时钟周期时间</a:t>
            </a:r>
            <a:endParaRPr sz="2000">
              <a:latin typeface="宋体"/>
              <a:cs typeface="宋体"/>
            </a:endParaRPr>
          </a:p>
          <a:p>
            <a:pPr algn="ctr" marR="1908810">
              <a:lnSpc>
                <a:spcPct val="100000"/>
              </a:lnSpc>
              <a:spcBef>
                <a:spcPts val="960"/>
              </a:spcBef>
            </a:pPr>
            <a:r>
              <a:rPr dirty="0" sz="2000" b="1">
                <a:latin typeface="宋体"/>
                <a:cs typeface="宋体"/>
              </a:rPr>
              <a:t>＝</a:t>
            </a:r>
            <a:r>
              <a:rPr dirty="0" sz="2000" b="1">
                <a:latin typeface="Times New Roman"/>
                <a:cs typeface="Times New Roman"/>
              </a:rPr>
              <a:t>IC</a:t>
            </a:r>
            <a:r>
              <a:rPr dirty="0" sz="2000" spc="-15" b="1">
                <a:latin typeface="Times New Roman"/>
                <a:cs typeface="Times New Roman"/>
              </a:rPr>
              <a:t> </a:t>
            </a:r>
            <a:r>
              <a:rPr dirty="0" sz="2000" b="1">
                <a:latin typeface="宋体"/>
                <a:cs typeface="宋体"/>
              </a:rPr>
              <a:t>×（</a:t>
            </a:r>
            <a:r>
              <a:rPr dirty="0" sz="2000" b="1">
                <a:latin typeface="Times New Roman"/>
                <a:cs typeface="Times New Roman"/>
              </a:rPr>
              <a:t>2.0</a:t>
            </a:r>
            <a:r>
              <a:rPr dirty="0" sz="2000" b="1">
                <a:latin typeface="宋体"/>
                <a:cs typeface="宋体"/>
              </a:rPr>
              <a:t>＋</a:t>
            </a:r>
            <a:r>
              <a:rPr dirty="0" sz="2000" b="1">
                <a:latin typeface="Times New Roman"/>
                <a:cs typeface="Times New Roman"/>
              </a:rPr>
              <a:t>1.33</a:t>
            </a:r>
            <a:r>
              <a:rPr dirty="0" sz="2000" b="1">
                <a:latin typeface="宋体"/>
                <a:cs typeface="宋体"/>
              </a:rPr>
              <a:t>×</a:t>
            </a:r>
            <a:r>
              <a:rPr dirty="0" sz="2000" b="1">
                <a:latin typeface="Times New Roman"/>
                <a:cs typeface="Times New Roman"/>
              </a:rPr>
              <a:t>2</a:t>
            </a:r>
            <a:r>
              <a:rPr dirty="0" sz="2000" spc="-30" b="1">
                <a:latin typeface="Times New Roman"/>
                <a:cs typeface="Times New Roman"/>
              </a:rPr>
              <a:t> %</a:t>
            </a:r>
            <a:r>
              <a:rPr dirty="0" sz="2000" spc="-20" b="1">
                <a:latin typeface="宋体"/>
                <a:cs typeface="宋体"/>
              </a:rPr>
              <a:t>×</a:t>
            </a:r>
            <a:r>
              <a:rPr dirty="0" sz="2000" spc="-20" b="1">
                <a:latin typeface="Times New Roman"/>
                <a:cs typeface="Times New Roman"/>
              </a:rPr>
              <a:t>50</a:t>
            </a:r>
            <a:r>
              <a:rPr dirty="0" sz="2000" spc="-20" b="1">
                <a:latin typeface="宋体"/>
                <a:cs typeface="宋体"/>
              </a:rPr>
              <a:t>）</a:t>
            </a:r>
            <a:r>
              <a:rPr dirty="0" sz="2000" spc="-85" b="1">
                <a:latin typeface="宋体"/>
                <a:cs typeface="宋体"/>
              </a:rPr>
              <a:t>× 时钟周期时间</a:t>
            </a:r>
            <a:endParaRPr sz="2000">
              <a:latin typeface="宋体"/>
              <a:cs typeface="宋体"/>
            </a:endParaRPr>
          </a:p>
          <a:p>
            <a:pPr algn="ctr" marR="4012565">
              <a:lnSpc>
                <a:spcPct val="100000"/>
              </a:lnSpc>
              <a:spcBef>
                <a:spcPts val="960"/>
              </a:spcBef>
            </a:pPr>
            <a:r>
              <a:rPr dirty="0" sz="2000" b="1">
                <a:latin typeface="宋体"/>
                <a:cs typeface="宋体"/>
              </a:rPr>
              <a:t>＝</a:t>
            </a:r>
            <a:r>
              <a:rPr dirty="0" sz="2000" b="1">
                <a:latin typeface="Times New Roman"/>
                <a:cs typeface="Times New Roman"/>
              </a:rPr>
              <a:t>IC</a:t>
            </a:r>
            <a:r>
              <a:rPr dirty="0" sz="2000" spc="-15" b="1">
                <a:latin typeface="Times New Roman"/>
                <a:cs typeface="Times New Roman"/>
              </a:rPr>
              <a:t> </a:t>
            </a:r>
            <a:r>
              <a:rPr dirty="0" sz="2000" spc="-260" b="1">
                <a:latin typeface="宋体"/>
                <a:cs typeface="宋体"/>
              </a:rPr>
              <a:t>× </a:t>
            </a:r>
            <a:r>
              <a:rPr dirty="0" sz="2000" b="1">
                <a:latin typeface="Times New Roman"/>
                <a:cs typeface="Times New Roman"/>
              </a:rPr>
              <a:t>3.33</a:t>
            </a:r>
            <a:r>
              <a:rPr dirty="0" sz="2000" spc="-85" b="1">
                <a:latin typeface="宋体"/>
                <a:cs typeface="宋体"/>
              </a:rPr>
              <a:t>× 时钟周期时间</a:t>
            </a:r>
            <a:endParaRPr sz="2000">
              <a:latin typeface="宋体"/>
              <a:cs typeface="宋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167790" y="800226"/>
            <a:ext cx="7055484" cy="3681095"/>
          </a:xfrm>
          <a:prstGeom prst="rect">
            <a:avLst/>
          </a:prstGeom>
        </p:spPr>
        <p:txBody>
          <a:bodyPr wrap="square" lIns="0" tIns="13335" rIns="0" bIns="0" rtlCol="0" vert="horz">
            <a:spAutoFit/>
          </a:bodyPr>
          <a:lstStyle/>
          <a:p>
            <a:pPr marL="86995">
              <a:lnSpc>
                <a:spcPct val="100000"/>
              </a:lnSpc>
              <a:spcBef>
                <a:spcPts val="105"/>
              </a:spcBef>
            </a:pPr>
            <a:r>
              <a:rPr dirty="0" sz="2000" spc="-10" b="1">
                <a:latin typeface="宋体"/>
                <a:cs typeface="宋体"/>
              </a:rPr>
              <a:t>考虑Cache</a:t>
            </a:r>
            <a:r>
              <a:rPr dirty="0" sz="2000" spc="-25" b="1">
                <a:latin typeface="宋体"/>
                <a:cs typeface="宋体"/>
              </a:rPr>
              <a:t>的不命中后，性能为：</a:t>
            </a:r>
            <a:endParaRPr sz="2000">
              <a:latin typeface="宋体"/>
              <a:cs typeface="宋体"/>
            </a:endParaRPr>
          </a:p>
          <a:p>
            <a:pPr marL="88900">
              <a:lnSpc>
                <a:spcPct val="100000"/>
              </a:lnSpc>
              <a:spcBef>
                <a:spcPts val="1630"/>
              </a:spcBef>
            </a:pPr>
            <a:r>
              <a:rPr dirty="0" sz="2000" spc="-10" b="1">
                <a:solidFill>
                  <a:srgbClr val="40458B"/>
                </a:solidFill>
                <a:latin typeface="宋体"/>
                <a:cs typeface="宋体"/>
              </a:rPr>
              <a:t>CPU时间</a:t>
            </a:r>
            <a:r>
              <a:rPr dirty="0" baseline="-21367" sz="1950" b="1">
                <a:solidFill>
                  <a:srgbClr val="40458B"/>
                </a:solidFill>
                <a:latin typeface="宋体"/>
                <a:cs typeface="宋体"/>
              </a:rPr>
              <a:t>有cache</a:t>
            </a:r>
            <a:r>
              <a:rPr dirty="0" sz="2000" b="1">
                <a:solidFill>
                  <a:srgbClr val="40458B"/>
                </a:solidFill>
                <a:latin typeface="宋体"/>
                <a:cs typeface="宋体"/>
              </a:rPr>
              <a:t>＝IC×（2.0＋1.33×2</a:t>
            </a:r>
            <a:r>
              <a:rPr dirty="0" sz="2000" spc="-20" b="1">
                <a:solidFill>
                  <a:srgbClr val="40458B"/>
                </a:solidFill>
                <a:latin typeface="宋体"/>
                <a:cs typeface="宋体"/>
              </a:rPr>
              <a:t> %×</a:t>
            </a:r>
            <a:r>
              <a:rPr dirty="0" sz="2000" spc="-10" b="1">
                <a:solidFill>
                  <a:srgbClr val="40458B"/>
                </a:solidFill>
                <a:latin typeface="宋体"/>
                <a:cs typeface="宋体"/>
              </a:rPr>
              <a:t>50）×</a:t>
            </a:r>
            <a:r>
              <a:rPr dirty="0" sz="2000" spc="-25" b="1">
                <a:solidFill>
                  <a:srgbClr val="40458B"/>
                </a:solidFill>
                <a:latin typeface="宋体"/>
                <a:cs typeface="宋体"/>
              </a:rPr>
              <a:t>时钟周期时间</a:t>
            </a:r>
            <a:endParaRPr sz="2000">
              <a:latin typeface="宋体"/>
              <a:cs typeface="宋体"/>
            </a:endParaRPr>
          </a:p>
          <a:p>
            <a:pPr marL="1583690">
              <a:lnSpc>
                <a:spcPct val="100000"/>
              </a:lnSpc>
              <a:spcBef>
                <a:spcPts val="1105"/>
              </a:spcBef>
            </a:pPr>
            <a:r>
              <a:rPr dirty="0" sz="2000" spc="-10" b="1">
                <a:solidFill>
                  <a:srgbClr val="40458B"/>
                </a:solidFill>
                <a:latin typeface="宋体"/>
                <a:cs typeface="宋体"/>
              </a:rPr>
              <a:t>＝IC×3.33</a:t>
            </a:r>
            <a:r>
              <a:rPr dirty="0" sz="2000" spc="-25" b="1">
                <a:solidFill>
                  <a:srgbClr val="40458B"/>
                </a:solidFill>
                <a:latin typeface="宋体"/>
                <a:cs typeface="宋体"/>
              </a:rPr>
              <a:t>×时钟周期时间</a:t>
            </a:r>
            <a:endParaRPr sz="2000">
              <a:latin typeface="宋体"/>
              <a:cs typeface="宋体"/>
            </a:endParaRPr>
          </a:p>
          <a:p>
            <a:pPr marL="86995">
              <a:lnSpc>
                <a:spcPct val="100000"/>
              </a:lnSpc>
              <a:spcBef>
                <a:spcPts val="1390"/>
              </a:spcBef>
            </a:pPr>
            <a:r>
              <a:rPr dirty="0" sz="2000" spc="-10" b="1">
                <a:latin typeface="宋体"/>
                <a:cs typeface="宋体"/>
              </a:rPr>
              <a:t>实际</a:t>
            </a:r>
            <a:r>
              <a:rPr dirty="0" sz="2100" b="1" i="1">
                <a:latin typeface="宋体"/>
                <a:cs typeface="宋体"/>
              </a:rPr>
              <a:t>CPI</a:t>
            </a:r>
            <a:r>
              <a:rPr dirty="0" sz="2100" spc="-220" b="1" i="1">
                <a:latin typeface="宋体"/>
                <a:cs typeface="宋体"/>
              </a:rPr>
              <a:t> </a:t>
            </a:r>
            <a:r>
              <a:rPr dirty="0" sz="2000" spc="-10" b="1">
                <a:latin typeface="宋体"/>
                <a:cs typeface="宋体"/>
              </a:rPr>
              <a:t>：</a:t>
            </a:r>
            <a:r>
              <a:rPr dirty="0" sz="2000" spc="-10" b="1">
                <a:solidFill>
                  <a:srgbClr val="9933FF"/>
                </a:solidFill>
                <a:latin typeface="宋体"/>
                <a:cs typeface="宋体"/>
              </a:rPr>
              <a:t>3.33</a:t>
            </a:r>
            <a:endParaRPr sz="2000">
              <a:latin typeface="宋体"/>
              <a:cs typeface="宋体"/>
            </a:endParaRPr>
          </a:p>
          <a:p>
            <a:pPr marL="1005840">
              <a:lnSpc>
                <a:spcPct val="100000"/>
              </a:lnSpc>
              <a:spcBef>
                <a:spcPts val="1610"/>
              </a:spcBef>
            </a:pPr>
            <a:r>
              <a:rPr dirty="0" sz="2000" b="1">
                <a:solidFill>
                  <a:srgbClr val="40458B"/>
                </a:solidFill>
                <a:latin typeface="宋体"/>
                <a:cs typeface="宋体"/>
              </a:rPr>
              <a:t>3.33/2.0</a:t>
            </a:r>
            <a:r>
              <a:rPr dirty="0" sz="2000" spc="-20" b="1">
                <a:solidFill>
                  <a:srgbClr val="40458B"/>
                </a:solidFill>
                <a:latin typeface="宋体"/>
                <a:cs typeface="宋体"/>
              </a:rPr>
              <a:t> = </a:t>
            </a:r>
            <a:r>
              <a:rPr dirty="0" sz="2000" spc="-10" b="1">
                <a:solidFill>
                  <a:srgbClr val="40458B"/>
                </a:solidFill>
                <a:latin typeface="宋体"/>
                <a:cs typeface="宋体"/>
              </a:rPr>
              <a:t>1.67</a:t>
            </a:r>
            <a:r>
              <a:rPr dirty="0" sz="2000" spc="-25" b="1">
                <a:solidFill>
                  <a:srgbClr val="40458B"/>
                </a:solidFill>
                <a:latin typeface="宋体"/>
                <a:cs typeface="宋体"/>
              </a:rPr>
              <a:t>(倍)</a:t>
            </a:r>
            <a:endParaRPr sz="2000">
              <a:latin typeface="宋体"/>
              <a:cs typeface="宋体"/>
            </a:endParaRPr>
          </a:p>
          <a:p>
            <a:pPr marL="86995">
              <a:lnSpc>
                <a:spcPct val="100000"/>
              </a:lnSpc>
              <a:spcBef>
                <a:spcPts val="1635"/>
              </a:spcBef>
            </a:pPr>
            <a:r>
              <a:rPr dirty="0" sz="2000" b="1">
                <a:latin typeface="宋体"/>
                <a:cs typeface="宋体"/>
              </a:rPr>
              <a:t>CPU</a:t>
            </a:r>
            <a:r>
              <a:rPr dirty="0" sz="2000" spc="-20" b="1">
                <a:latin typeface="宋体"/>
                <a:cs typeface="宋体"/>
              </a:rPr>
              <a:t>时间也增加为原来的</a:t>
            </a:r>
            <a:r>
              <a:rPr dirty="0" sz="2000" spc="-10" b="1">
                <a:solidFill>
                  <a:srgbClr val="9933FF"/>
                </a:solidFill>
                <a:latin typeface="宋体"/>
                <a:cs typeface="宋体"/>
              </a:rPr>
              <a:t>1.67</a:t>
            </a:r>
            <a:r>
              <a:rPr dirty="0" sz="2000" spc="-35" b="1">
                <a:latin typeface="宋体"/>
                <a:cs typeface="宋体"/>
              </a:rPr>
              <a:t>倍。</a:t>
            </a:r>
            <a:endParaRPr sz="2000">
              <a:latin typeface="宋体"/>
              <a:cs typeface="宋体"/>
            </a:endParaRPr>
          </a:p>
          <a:p>
            <a:pPr marL="114300">
              <a:lnSpc>
                <a:spcPct val="100000"/>
              </a:lnSpc>
              <a:spcBef>
                <a:spcPts val="1105"/>
              </a:spcBef>
            </a:pPr>
            <a:r>
              <a:rPr dirty="0" sz="2000" spc="-10" b="1">
                <a:latin typeface="宋体"/>
                <a:cs typeface="宋体"/>
              </a:rPr>
              <a:t>但若不采用Cache</a:t>
            </a:r>
            <a:r>
              <a:rPr dirty="0" sz="2000" spc="-30" b="1">
                <a:latin typeface="宋体"/>
                <a:cs typeface="宋体"/>
              </a:rPr>
              <a:t>,则：</a:t>
            </a:r>
            <a:endParaRPr sz="2000">
              <a:latin typeface="宋体"/>
              <a:cs typeface="宋体"/>
            </a:endParaRPr>
          </a:p>
          <a:p>
            <a:pPr marL="753110">
              <a:lnSpc>
                <a:spcPct val="100000"/>
              </a:lnSpc>
              <a:spcBef>
                <a:spcPts val="860"/>
              </a:spcBef>
            </a:pPr>
            <a:r>
              <a:rPr dirty="0" sz="2100" spc="-10" b="1" i="1">
                <a:solidFill>
                  <a:srgbClr val="40458B"/>
                </a:solidFill>
                <a:latin typeface="宋体"/>
                <a:cs typeface="宋体"/>
              </a:rPr>
              <a:t>CPI</a:t>
            </a:r>
            <a:r>
              <a:rPr dirty="0" sz="2000" spc="-10" b="1">
                <a:solidFill>
                  <a:srgbClr val="40458B"/>
                </a:solidFill>
                <a:latin typeface="宋体"/>
                <a:cs typeface="宋体"/>
              </a:rPr>
              <a:t>＝2.0＋50×1.33＝</a:t>
            </a:r>
            <a:r>
              <a:rPr dirty="0" sz="2000" spc="-10" b="1">
                <a:solidFill>
                  <a:srgbClr val="9933FF"/>
                </a:solidFill>
                <a:latin typeface="宋体"/>
                <a:cs typeface="宋体"/>
              </a:rPr>
              <a:t>68.5</a:t>
            </a:r>
            <a:endParaRPr sz="2000">
              <a:latin typeface="宋体"/>
              <a:cs typeface="宋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16991" y="864305"/>
            <a:ext cx="11527790" cy="3463925"/>
          </a:xfrm>
          <a:prstGeom prst="rect">
            <a:avLst/>
          </a:prstGeom>
        </p:spPr>
        <p:txBody>
          <a:bodyPr wrap="square" lIns="0" tIns="158115" rIns="0" bIns="0" rtlCol="0" vert="horz">
            <a:spAutoFit/>
          </a:bodyPr>
          <a:lstStyle/>
          <a:p>
            <a:pPr marL="38100">
              <a:lnSpc>
                <a:spcPct val="100000"/>
              </a:lnSpc>
              <a:spcBef>
                <a:spcPts val="1245"/>
              </a:spcBef>
            </a:pPr>
            <a:r>
              <a:rPr dirty="0" sz="2400" spc="-20">
                <a:solidFill>
                  <a:srgbClr val="FF09FF"/>
                </a:solidFill>
                <a:latin typeface="黑体"/>
                <a:cs typeface="黑体"/>
              </a:rPr>
              <a:t>结论：</a:t>
            </a:r>
            <a:endParaRPr sz="2400">
              <a:latin typeface="黑体"/>
              <a:cs typeface="黑体"/>
            </a:endParaRPr>
          </a:p>
          <a:p>
            <a:pPr marL="494030" indent="-455930">
              <a:lnSpc>
                <a:spcPct val="100000"/>
              </a:lnSpc>
              <a:spcBef>
                <a:spcPts val="1155"/>
              </a:spcBef>
              <a:buClr>
                <a:srgbClr val="40458B"/>
              </a:buClr>
              <a:buAutoNum type="arabicPeriod" startAt="4"/>
              <a:tabLst>
                <a:tab pos="494030" algn="l"/>
              </a:tabLst>
            </a:pPr>
            <a:r>
              <a:rPr dirty="0" sz="2400" spc="-10">
                <a:solidFill>
                  <a:srgbClr val="E14B04"/>
                </a:solidFill>
                <a:latin typeface="黑体"/>
                <a:cs typeface="黑体"/>
              </a:rPr>
              <a:t>Cache不命中对于一个CPI较小而时钟频率较高的CPU</a:t>
            </a:r>
            <a:r>
              <a:rPr dirty="0" sz="2400" spc="-15">
                <a:solidFill>
                  <a:srgbClr val="E14B04"/>
                </a:solidFill>
                <a:latin typeface="黑体"/>
                <a:cs typeface="黑体"/>
              </a:rPr>
              <a:t>来说，影响是双重的：</a:t>
            </a:r>
            <a:endParaRPr sz="2400">
              <a:latin typeface="黑体"/>
              <a:cs typeface="黑体"/>
            </a:endParaRPr>
          </a:p>
          <a:p>
            <a:pPr lvl="1" marL="1124585" indent="-457200">
              <a:lnSpc>
                <a:spcPct val="100000"/>
              </a:lnSpc>
              <a:spcBef>
                <a:spcPts val="1155"/>
              </a:spcBef>
              <a:buSzPct val="89583"/>
              <a:buFont typeface="Wingdings"/>
              <a:buChar char=""/>
              <a:tabLst>
                <a:tab pos="1124585" algn="l"/>
              </a:tabLst>
            </a:pPr>
            <a:r>
              <a:rPr dirty="0" sz="2400" spc="-10">
                <a:solidFill>
                  <a:srgbClr val="40458B"/>
                </a:solidFill>
                <a:latin typeface="黑体"/>
                <a:cs typeface="黑体"/>
              </a:rPr>
              <a:t>CPI</a:t>
            </a:r>
            <a:r>
              <a:rPr dirty="0" baseline="-20833" sz="2400" spc="-15">
                <a:solidFill>
                  <a:srgbClr val="40458B"/>
                </a:solidFill>
                <a:latin typeface="黑体"/>
                <a:cs typeface="黑体"/>
              </a:rPr>
              <a:t>execution</a:t>
            </a:r>
            <a:r>
              <a:rPr dirty="0" sz="2400">
                <a:solidFill>
                  <a:srgbClr val="40458B"/>
                </a:solidFill>
                <a:latin typeface="黑体"/>
                <a:cs typeface="黑体"/>
              </a:rPr>
              <a:t>越低，固定周期数的Cache</a:t>
            </a:r>
            <a:r>
              <a:rPr dirty="0" sz="2400" spc="-5">
                <a:solidFill>
                  <a:srgbClr val="40458B"/>
                </a:solidFill>
                <a:latin typeface="黑体"/>
                <a:cs typeface="黑体"/>
              </a:rPr>
              <a:t>不命中开销的相对影响就越大。</a:t>
            </a:r>
            <a:endParaRPr sz="2400">
              <a:latin typeface="黑体"/>
              <a:cs typeface="黑体"/>
            </a:endParaRPr>
          </a:p>
          <a:p>
            <a:pPr lvl="1" marL="1124585" marR="30480" indent="-457200">
              <a:lnSpc>
                <a:spcPct val="120000"/>
              </a:lnSpc>
              <a:spcBef>
                <a:spcPts val="575"/>
              </a:spcBef>
              <a:buSzPct val="89583"/>
              <a:buFont typeface="Wingdings"/>
              <a:buChar char=""/>
              <a:tabLst>
                <a:tab pos="1124585" algn="l"/>
              </a:tabLst>
            </a:pPr>
            <a:r>
              <a:rPr dirty="0" sz="2400">
                <a:solidFill>
                  <a:srgbClr val="40458B"/>
                </a:solidFill>
                <a:latin typeface="黑体"/>
                <a:cs typeface="黑体"/>
              </a:rPr>
              <a:t>在计算CPI</a:t>
            </a:r>
            <a:r>
              <a:rPr dirty="0" sz="2400" spc="-5">
                <a:solidFill>
                  <a:srgbClr val="40458B"/>
                </a:solidFill>
                <a:latin typeface="黑体"/>
                <a:cs typeface="黑体"/>
              </a:rPr>
              <a:t>时，不命中开销的单位是时钟周期数。因此，即使两台计算机的存</a:t>
            </a:r>
            <a:r>
              <a:rPr dirty="0" sz="2400" spc="-10">
                <a:solidFill>
                  <a:srgbClr val="40458B"/>
                </a:solidFill>
                <a:latin typeface="黑体"/>
                <a:cs typeface="黑体"/>
              </a:rPr>
              <a:t>储层次完全相同，时钟频率较高的CPU的不命中开销较大，其CPI</a:t>
            </a:r>
            <a:r>
              <a:rPr dirty="0" sz="2400" spc="-20">
                <a:solidFill>
                  <a:srgbClr val="40458B"/>
                </a:solidFill>
                <a:latin typeface="黑体"/>
                <a:cs typeface="黑体"/>
              </a:rPr>
              <a:t>中存储器停顿</a:t>
            </a:r>
            <a:r>
              <a:rPr dirty="0" sz="2400" spc="-10">
                <a:solidFill>
                  <a:srgbClr val="40458B"/>
                </a:solidFill>
                <a:latin typeface="黑体"/>
                <a:cs typeface="黑体"/>
              </a:rPr>
              <a:t>这部分也就较大。</a:t>
            </a:r>
            <a:endParaRPr sz="2400">
              <a:latin typeface="黑体"/>
              <a:cs typeface="黑体"/>
            </a:endParaRPr>
          </a:p>
          <a:p>
            <a:pPr marL="1734185">
              <a:lnSpc>
                <a:spcPct val="100000"/>
              </a:lnSpc>
              <a:spcBef>
                <a:spcPts val="1150"/>
              </a:spcBef>
            </a:pPr>
            <a:r>
              <a:rPr dirty="0" sz="2400" spc="-5">
                <a:solidFill>
                  <a:srgbClr val="E14B04"/>
                </a:solidFill>
                <a:latin typeface="黑体"/>
                <a:cs typeface="黑体"/>
              </a:rPr>
              <a:t>因此</a:t>
            </a:r>
            <a:r>
              <a:rPr dirty="0" sz="2400">
                <a:solidFill>
                  <a:srgbClr val="E14B04"/>
                </a:solidFill>
                <a:latin typeface="黑体"/>
                <a:cs typeface="黑体"/>
              </a:rPr>
              <a:t>Cache对于低CPI、高时钟频率的CPU</a:t>
            </a:r>
            <a:r>
              <a:rPr dirty="0" sz="2400" spc="-10">
                <a:solidFill>
                  <a:srgbClr val="E14B04"/>
                </a:solidFill>
                <a:latin typeface="黑体"/>
                <a:cs typeface="黑体"/>
              </a:rPr>
              <a:t>来说更加重要。</a:t>
            </a:r>
            <a:endParaRPr sz="2400">
              <a:latin typeface="黑体"/>
              <a:cs typeface="黑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655116" y="721588"/>
            <a:ext cx="11248390" cy="4035425"/>
          </a:xfrm>
          <a:prstGeom prst="rect">
            <a:avLst/>
          </a:prstGeom>
        </p:spPr>
        <p:txBody>
          <a:bodyPr wrap="square" lIns="0" tIns="12700" rIns="0" bIns="0" rtlCol="0" vert="horz">
            <a:spAutoFit/>
          </a:bodyPr>
          <a:lstStyle/>
          <a:p>
            <a:pPr marL="12700" marR="5080" indent="462915">
              <a:lnSpc>
                <a:spcPct val="126000"/>
              </a:lnSpc>
              <a:spcBef>
                <a:spcPts val="100"/>
              </a:spcBef>
            </a:pPr>
            <a:r>
              <a:rPr dirty="0" sz="2000" spc="-10" b="1">
                <a:solidFill>
                  <a:srgbClr val="E14B04"/>
                </a:solidFill>
                <a:latin typeface="宋体"/>
                <a:cs typeface="宋体"/>
              </a:rPr>
              <a:t>例</a:t>
            </a:r>
            <a:r>
              <a:rPr dirty="0" sz="2000" b="1">
                <a:solidFill>
                  <a:srgbClr val="E14B04"/>
                </a:solidFill>
                <a:latin typeface="宋体"/>
                <a:cs typeface="宋体"/>
              </a:rPr>
              <a:t>7.2 </a:t>
            </a:r>
            <a:r>
              <a:rPr dirty="0" sz="2000" spc="-15" b="1">
                <a:latin typeface="宋体"/>
                <a:cs typeface="宋体"/>
              </a:rPr>
              <a:t>考虑两种不同组织结构的</a:t>
            </a:r>
            <a:r>
              <a:rPr dirty="0" sz="2000" spc="-10" b="1">
                <a:latin typeface="宋体"/>
                <a:cs typeface="宋体"/>
              </a:rPr>
              <a:t>Cache</a:t>
            </a:r>
            <a:r>
              <a:rPr dirty="0" sz="2000" spc="-15" b="1">
                <a:latin typeface="宋体"/>
                <a:cs typeface="宋体"/>
              </a:rPr>
              <a:t>：直接映象</a:t>
            </a:r>
            <a:r>
              <a:rPr dirty="0" sz="2000" spc="-20" b="1">
                <a:latin typeface="宋体"/>
                <a:cs typeface="宋体"/>
              </a:rPr>
              <a:t>Cache</a:t>
            </a:r>
            <a:r>
              <a:rPr dirty="0" sz="2000" spc="-15" b="1">
                <a:latin typeface="宋体"/>
                <a:cs typeface="宋体"/>
              </a:rPr>
              <a:t>和两路组相联</a:t>
            </a:r>
            <a:r>
              <a:rPr dirty="0" sz="2000" spc="-20" b="1">
                <a:latin typeface="宋体"/>
                <a:cs typeface="宋体"/>
              </a:rPr>
              <a:t>Cache，试问它们对CPU</a:t>
            </a:r>
            <a:r>
              <a:rPr dirty="0" sz="2000" spc="-30" b="1">
                <a:latin typeface="宋体"/>
                <a:cs typeface="宋体"/>
              </a:rPr>
              <a:t>的性</a:t>
            </a:r>
            <a:r>
              <a:rPr dirty="0" sz="2000" spc="-20" b="1">
                <a:latin typeface="宋体"/>
                <a:cs typeface="宋体"/>
              </a:rPr>
              <a:t>能有何影响？先求平均访存时间，然后再计算CPU</a:t>
            </a:r>
            <a:r>
              <a:rPr dirty="0" sz="2000" spc="-25" b="1">
                <a:latin typeface="宋体"/>
                <a:cs typeface="宋体"/>
              </a:rPr>
              <a:t>性能。分析时请用以下假设：</a:t>
            </a:r>
            <a:endParaRPr sz="2000">
              <a:latin typeface="宋体"/>
              <a:cs typeface="宋体"/>
            </a:endParaRPr>
          </a:p>
          <a:p>
            <a:pPr marL="455930" marR="24765">
              <a:lnSpc>
                <a:spcPts val="3360"/>
              </a:lnSpc>
              <a:spcBef>
                <a:spcPts val="270"/>
              </a:spcBef>
            </a:pPr>
            <a:r>
              <a:rPr dirty="0" sz="2000" spc="-10" b="1">
                <a:latin typeface="宋体"/>
                <a:cs typeface="宋体"/>
              </a:rPr>
              <a:t>(1)理想</a:t>
            </a:r>
            <a:r>
              <a:rPr dirty="0" sz="2000" spc="-20" b="1">
                <a:latin typeface="宋体"/>
                <a:cs typeface="宋体"/>
              </a:rPr>
              <a:t>Cache（命中率为</a:t>
            </a:r>
            <a:r>
              <a:rPr dirty="0" sz="2000" spc="-20" b="1">
                <a:solidFill>
                  <a:srgbClr val="9933FF"/>
                </a:solidFill>
                <a:latin typeface="宋体"/>
                <a:cs typeface="宋体"/>
              </a:rPr>
              <a:t>100%</a:t>
            </a:r>
            <a:r>
              <a:rPr dirty="0" sz="2000" spc="-20" b="1">
                <a:latin typeface="宋体"/>
                <a:cs typeface="宋体"/>
              </a:rPr>
              <a:t>）</a:t>
            </a:r>
            <a:r>
              <a:rPr dirty="0" sz="2000" spc="-15" b="1">
                <a:latin typeface="宋体"/>
                <a:cs typeface="宋体"/>
              </a:rPr>
              <a:t>情况下的</a:t>
            </a:r>
            <a:r>
              <a:rPr dirty="0" sz="2000" spc="-20" b="1">
                <a:latin typeface="宋体"/>
                <a:cs typeface="宋体"/>
              </a:rPr>
              <a:t>CPI为</a:t>
            </a:r>
            <a:r>
              <a:rPr dirty="0" sz="2000" spc="-10" b="1">
                <a:solidFill>
                  <a:srgbClr val="9933FF"/>
                </a:solidFill>
                <a:latin typeface="宋体"/>
                <a:cs typeface="宋体"/>
              </a:rPr>
              <a:t>2.0</a:t>
            </a:r>
            <a:r>
              <a:rPr dirty="0" sz="2000" spc="-15" b="1">
                <a:latin typeface="宋体"/>
                <a:cs typeface="宋体"/>
              </a:rPr>
              <a:t>，时钟周期为</a:t>
            </a:r>
            <a:r>
              <a:rPr dirty="0" sz="2000" spc="-20" b="1">
                <a:solidFill>
                  <a:srgbClr val="9933FF"/>
                </a:solidFill>
                <a:latin typeface="宋体"/>
                <a:cs typeface="宋体"/>
              </a:rPr>
              <a:t>2ns</a:t>
            </a:r>
            <a:r>
              <a:rPr dirty="0" sz="2000" spc="-20" b="1">
                <a:latin typeface="宋体"/>
                <a:cs typeface="宋体"/>
              </a:rPr>
              <a:t>，平均每条指令访存</a:t>
            </a:r>
            <a:r>
              <a:rPr dirty="0" sz="2000" spc="-20" b="1">
                <a:solidFill>
                  <a:srgbClr val="9933FF"/>
                </a:solidFill>
                <a:latin typeface="宋体"/>
                <a:cs typeface="宋体"/>
              </a:rPr>
              <a:t>1.3</a:t>
            </a:r>
            <a:r>
              <a:rPr dirty="0" sz="2000" spc="-30" b="1">
                <a:latin typeface="宋体"/>
                <a:cs typeface="宋体"/>
              </a:rPr>
              <a:t>次。</a:t>
            </a:r>
            <a:r>
              <a:rPr dirty="0" sz="2000" spc="-50" b="1">
                <a:latin typeface="宋体"/>
                <a:cs typeface="宋体"/>
              </a:rPr>
              <a:t> </a:t>
            </a:r>
            <a:r>
              <a:rPr dirty="0" sz="2000" spc="-10" b="1">
                <a:latin typeface="宋体"/>
                <a:cs typeface="宋体"/>
              </a:rPr>
              <a:t>(2)两种</a:t>
            </a:r>
            <a:r>
              <a:rPr dirty="0" sz="2000" spc="-20" b="1">
                <a:latin typeface="宋体"/>
                <a:cs typeface="宋体"/>
              </a:rPr>
              <a:t>Cache容量均为</a:t>
            </a:r>
            <a:r>
              <a:rPr dirty="0" sz="2000" spc="-20" b="1">
                <a:solidFill>
                  <a:srgbClr val="9933FF"/>
                </a:solidFill>
                <a:latin typeface="宋体"/>
                <a:cs typeface="宋体"/>
              </a:rPr>
              <a:t>64KB</a:t>
            </a:r>
            <a:r>
              <a:rPr dirty="0" sz="2000" spc="-20" b="1">
                <a:latin typeface="宋体"/>
                <a:cs typeface="宋体"/>
              </a:rPr>
              <a:t>，块大小都是</a:t>
            </a:r>
            <a:r>
              <a:rPr dirty="0" sz="2000" spc="-15" b="1">
                <a:solidFill>
                  <a:srgbClr val="9933FF"/>
                </a:solidFill>
                <a:latin typeface="宋体"/>
                <a:cs typeface="宋体"/>
              </a:rPr>
              <a:t>32</a:t>
            </a:r>
            <a:r>
              <a:rPr dirty="0" sz="2000" spc="-25" b="1">
                <a:latin typeface="宋体"/>
                <a:cs typeface="宋体"/>
              </a:rPr>
              <a:t>字节。</a:t>
            </a:r>
            <a:endParaRPr sz="2000">
              <a:latin typeface="宋体"/>
              <a:cs typeface="宋体"/>
            </a:endParaRPr>
          </a:p>
          <a:p>
            <a:pPr marL="12700" marR="94615" indent="825500">
              <a:lnSpc>
                <a:spcPct val="130000"/>
              </a:lnSpc>
              <a:spcBef>
                <a:spcPts val="150"/>
              </a:spcBef>
              <a:buSzPct val="95000"/>
              <a:buAutoNum type="arabicParenBoth" startAt="3"/>
              <a:tabLst>
                <a:tab pos="838200" algn="l"/>
              </a:tabLst>
            </a:pPr>
            <a:r>
              <a:rPr dirty="0" sz="2000" spc="-10" b="1">
                <a:latin typeface="宋体"/>
                <a:cs typeface="宋体"/>
              </a:rPr>
              <a:t>在组相联</a:t>
            </a:r>
            <a:r>
              <a:rPr dirty="0" sz="2000" spc="-20" b="1">
                <a:latin typeface="宋体"/>
                <a:cs typeface="宋体"/>
              </a:rPr>
              <a:t>Cache中，由于多路选择器的存在而使</a:t>
            </a:r>
            <a:r>
              <a:rPr dirty="0" sz="2000" spc="-20" b="1">
                <a:latin typeface="Times New Roman"/>
                <a:cs typeface="Times New Roman"/>
              </a:rPr>
              <a:t>CPU</a:t>
            </a:r>
            <a:r>
              <a:rPr dirty="0" sz="2000" spc="-20" b="1">
                <a:latin typeface="宋体"/>
                <a:cs typeface="宋体"/>
              </a:rPr>
              <a:t>的时钟周期增加到原来的</a:t>
            </a:r>
            <a:r>
              <a:rPr dirty="0" sz="2000" spc="-10" b="1">
                <a:solidFill>
                  <a:srgbClr val="9933FF"/>
                </a:solidFill>
                <a:latin typeface="Times New Roman"/>
                <a:cs typeface="Times New Roman"/>
              </a:rPr>
              <a:t>1.10</a:t>
            </a:r>
            <a:r>
              <a:rPr dirty="0" sz="2000" spc="-30" b="1">
                <a:latin typeface="宋体"/>
                <a:cs typeface="宋体"/>
              </a:rPr>
              <a:t>倍。这是因</a:t>
            </a:r>
            <a:r>
              <a:rPr dirty="0" sz="2000" spc="-10" b="1">
                <a:latin typeface="宋体"/>
                <a:cs typeface="宋体"/>
              </a:rPr>
              <a:t>为对</a:t>
            </a:r>
            <a:r>
              <a:rPr dirty="0" sz="2000" spc="-10" b="1">
                <a:latin typeface="Times New Roman"/>
                <a:cs typeface="Times New Roman"/>
              </a:rPr>
              <a:t>Cache</a:t>
            </a:r>
            <a:r>
              <a:rPr dirty="0" sz="2000" spc="-20" b="1">
                <a:latin typeface="宋体"/>
                <a:cs typeface="宋体"/>
              </a:rPr>
              <a:t>的访问总是处于关键路径上，对</a:t>
            </a:r>
            <a:r>
              <a:rPr dirty="0" sz="2000" spc="-20" b="1">
                <a:latin typeface="Times New Roman"/>
                <a:cs typeface="Times New Roman"/>
              </a:rPr>
              <a:t>CPU</a:t>
            </a:r>
            <a:r>
              <a:rPr dirty="0" sz="2000" spc="-25" b="1">
                <a:latin typeface="宋体"/>
                <a:cs typeface="宋体"/>
              </a:rPr>
              <a:t>的时钟周期有直接的影响。</a:t>
            </a:r>
            <a:endParaRPr sz="2000">
              <a:latin typeface="宋体"/>
              <a:cs typeface="宋体"/>
            </a:endParaRPr>
          </a:p>
          <a:p>
            <a:pPr>
              <a:lnSpc>
                <a:spcPct val="100000"/>
              </a:lnSpc>
              <a:spcBef>
                <a:spcPts val="260"/>
              </a:spcBef>
              <a:buFont typeface=""/>
              <a:buAutoNum type="arabicParenBoth" startAt="3"/>
            </a:pPr>
            <a:endParaRPr sz="2000">
              <a:latin typeface="宋体"/>
              <a:cs typeface="宋体"/>
            </a:endParaRPr>
          </a:p>
          <a:p>
            <a:pPr marL="1111250" indent="-506095">
              <a:lnSpc>
                <a:spcPct val="100000"/>
              </a:lnSpc>
              <a:spcBef>
                <a:spcPts val="5"/>
              </a:spcBef>
              <a:buSzPct val="95000"/>
              <a:buAutoNum type="arabicParenBoth" startAt="3"/>
              <a:tabLst>
                <a:tab pos="1111250" algn="l"/>
              </a:tabLst>
            </a:pPr>
            <a:r>
              <a:rPr dirty="0" sz="2000" spc="-10" b="1">
                <a:latin typeface="宋体"/>
                <a:cs typeface="宋体"/>
              </a:rPr>
              <a:t>这两种结构Cache</a:t>
            </a:r>
            <a:r>
              <a:rPr dirty="0" sz="2000" spc="-20" b="1">
                <a:latin typeface="宋体"/>
                <a:cs typeface="宋体"/>
              </a:rPr>
              <a:t>的不命中开销都是</a:t>
            </a:r>
            <a:r>
              <a:rPr dirty="0" sz="2000" spc="-10" b="1">
                <a:solidFill>
                  <a:srgbClr val="9933FF"/>
                </a:solidFill>
                <a:latin typeface="宋体"/>
                <a:cs typeface="宋体"/>
              </a:rPr>
              <a:t>70ns</a:t>
            </a:r>
            <a:r>
              <a:rPr dirty="0" sz="2000" spc="-20" b="1">
                <a:latin typeface="宋体"/>
                <a:cs typeface="宋体"/>
              </a:rPr>
              <a:t>。</a:t>
            </a:r>
            <a:r>
              <a:rPr dirty="0" sz="2000" spc="-10" b="1">
                <a:latin typeface="宋体"/>
                <a:cs typeface="宋体"/>
              </a:rPr>
              <a:t>（</a:t>
            </a:r>
            <a:r>
              <a:rPr dirty="0" sz="2000" spc="-20" b="1">
                <a:latin typeface="宋体"/>
                <a:cs typeface="宋体"/>
              </a:rPr>
              <a:t>在实际应用中，应取整为整数个时钟周期</a:t>
            </a:r>
            <a:r>
              <a:rPr dirty="0" sz="2000" spc="-50" b="1">
                <a:latin typeface="宋体"/>
                <a:cs typeface="宋体"/>
              </a:rPr>
              <a:t>）</a:t>
            </a:r>
            <a:endParaRPr sz="2000">
              <a:latin typeface="宋体"/>
              <a:cs typeface="宋体"/>
            </a:endParaRPr>
          </a:p>
          <a:p>
            <a:pPr marL="85725" marR="393700" indent="1025525">
              <a:lnSpc>
                <a:spcPct val="130000"/>
              </a:lnSpc>
              <a:spcBef>
                <a:spcPts val="635"/>
              </a:spcBef>
              <a:buSzPct val="95000"/>
              <a:buAutoNum type="arabicParenBoth" startAt="3"/>
              <a:tabLst>
                <a:tab pos="1111250" algn="l"/>
              </a:tabLst>
            </a:pPr>
            <a:r>
              <a:rPr dirty="0" sz="2000" spc="-10" b="1">
                <a:latin typeface="宋体"/>
                <a:cs typeface="宋体"/>
              </a:rPr>
              <a:t>命中时间为</a:t>
            </a:r>
            <a:r>
              <a:rPr dirty="0" sz="2000" b="1">
                <a:solidFill>
                  <a:srgbClr val="9933FF"/>
                </a:solidFill>
                <a:latin typeface="宋体"/>
                <a:cs typeface="宋体"/>
              </a:rPr>
              <a:t>1</a:t>
            </a:r>
            <a:r>
              <a:rPr dirty="0" sz="2000" spc="-15" b="1">
                <a:latin typeface="宋体"/>
                <a:cs typeface="宋体"/>
              </a:rPr>
              <a:t>个时钟周期，</a:t>
            </a:r>
            <a:r>
              <a:rPr dirty="0" sz="2000" spc="-20" b="1">
                <a:solidFill>
                  <a:srgbClr val="9933FF"/>
                </a:solidFill>
                <a:latin typeface="宋体"/>
                <a:cs typeface="宋体"/>
              </a:rPr>
              <a:t>64KB</a:t>
            </a:r>
            <a:r>
              <a:rPr dirty="0" sz="2000" spc="-15" b="1">
                <a:latin typeface="宋体"/>
                <a:cs typeface="宋体"/>
              </a:rPr>
              <a:t>直接映象</a:t>
            </a:r>
            <a:r>
              <a:rPr dirty="0" sz="2000" spc="-10" b="1">
                <a:latin typeface="宋体"/>
                <a:cs typeface="宋体"/>
              </a:rPr>
              <a:t>Cache</a:t>
            </a:r>
            <a:r>
              <a:rPr dirty="0" sz="2000" spc="-20" b="1">
                <a:latin typeface="宋体"/>
                <a:cs typeface="宋体"/>
              </a:rPr>
              <a:t>的不命中率为</a:t>
            </a:r>
            <a:r>
              <a:rPr dirty="0" sz="2000" spc="-20" b="1">
                <a:solidFill>
                  <a:srgbClr val="9933FF"/>
                </a:solidFill>
                <a:latin typeface="宋体"/>
                <a:cs typeface="宋体"/>
              </a:rPr>
              <a:t>1.4%</a:t>
            </a:r>
            <a:r>
              <a:rPr dirty="0" sz="2000" spc="-25" b="1">
                <a:latin typeface="宋体"/>
                <a:cs typeface="宋体"/>
              </a:rPr>
              <a:t>，相同容量的两路组相</a:t>
            </a:r>
            <a:r>
              <a:rPr dirty="0" sz="2000" spc="-10" b="1">
                <a:latin typeface="宋体"/>
                <a:cs typeface="宋体"/>
              </a:rPr>
              <a:t>联Cache</a:t>
            </a:r>
            <a:r>
              <a:rPr dirty="0" sz="2000" spc="-20" b="1">
                <a:latin typeface="宋体"/>
                <a:cs typeface="宋体"/>
              </a:rPr>
              <a:t>的不命中率为</a:t>
            </a:r>
            <a:r>
              <a:rPr dirty="0" sz="2000" spc="-20" b="1">
                <a:solidFill>
                  <a:srgbClr val="9933FF"/>
                </a:solidFill>
                <a:latin typeface="宋体"/>
                <a:cs typeface="宋体"/>
              </a:rPr>
              <a:t>1.0%</a:t>
            </a:r>
            <a:r>
              <a:rPr dirty="0" sz="2000" spc="-50" b="1">
                <a:latin typeface="宋体"/>
                <a:cs typeface="宋体"/>
              </a:rPr>
              <a:t>。</a:t>
            </a:r>
            <a:endParaRPr sz="2000">
              <a:latin typeface="宋体"/>
              <a:cs typeface="宋体"/>
            </a:endParaRPr>
          </a:p>
        </p:txBody>
      </p:sp>
      <p:sp>
        <p:nvSpPr>
          <p:cNvPr id="3" name="object 3"/>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008786" y="1001013"/>
            <a:ext cx="7150734" cy="4181475"/>
          </a:xfrm>
          <a:prstGeom prst="rect">
            <a:avLst/>
          </a:prstGeom>
        </p:spPr>
        <p:txBody>
          <a:bodyPr wrap="square" lIns="0" tIns="149860" rIns="0" bIns="0" rtlCol="0" vert="horz">
            <a:spAutoFit/>
          </a:bodyPr>
          <a:lstStyle/>
          <a:p>
            <a:pPr marL="25400">
              <a:lnSpc>
                <a:spcPct val="100000"/>
              </a:lnSpc>
              <a:spcBef>
                <a:spcPts val="1180"/>
              </a:spcBef>
            </a:pPr>
            <a:r>
              <a:rPr dirty="0" sz="1800" spc="5" b="1">
                <a:solidFill>
                  <a:srgbClr val="E14B04"/>
                </a:solidFill>
                <a:latin typeface="宋体"/>
                <a:cs typeface="宋体"/>
              </a:rPr>
              <a:t>解 </a:t>
            </a:r>
            <a:r>
              <a:rPr dirty="0" sz="1800" spc="-20" b="1">
                <a:latin typeface="宋体"/>
                <a:cs typeface="宋体"/>
              </a:rPr>
              <a:t>平均访存时间为：</a:t>
            </a:r>
            <a:endParaRPr sz="1800">
              <a:latin typeface="宋体"/>
              <a:cs typeface="宋体"/>
            </a:endParaRPr>
          </a:p>
          <a:p>
            <a:pPr marL="604520">
              <a:lnSpc>
                <a:spcPct val="100000"/>
              </a:lnSpc>
              <a:spcBef>
                <a:spcPts val="1080"/>
              </a:spcBef>
            </a:pPr>
            <a:r>
              <a:rPr dirty="0" sz="1800" spc="-10" b="1">
                <a:latin typeface="宋体"/>
                <a:cs typeface="宋体"/>
              </a:rPr>
              <a:t>平均访存时间＝</a:t>
            </a:r>
            <a:r>
              <a:rPr dirty="0" sz="1800" spc="-15" b="1">
                <a:latin typeface="宋体"/>
                <a:cs typeface="宋体"/>
              </a:rPr>
              <a:t>命中时间＋不命中率×不命中开销</a:t>
            </a:r>
            <a:endParaRPr sz="1800">
              <a:latin typeface="宋体"/>
              <a:cs typeface="宋体"/>
            </a:endParaRPr>
          </a:p>
          <a:p>
            <a:pPr marL="25400">
              <a:lnSpc>
                <a:spcPct val="100000"/>
              </a:lnSpc>
              <a:spcBef>
                <a:spcPts val="1080"/>
              </a:spcBef>
            </a:pPr>
            <a:r>
              <a:rPr dirty="0" sz="1800" spc="-25" b="1">
                <a:latin typeface="宋体"/>
                <a:cs typeface="宋体"/>
              </a:rPr>
              <a:t>因此，两种结构的平均访存时间分别是：</a:t>
            </a:r>
            <a:endParaRPr sz="1800">
              <a:latin typeface="宋体"/>
              <a:cs typeface="宋体"/>
            </a:endParaRPr>
          </a:p>
          <a:p>
            <a:pPr marL="205104">
              <a:lnSpc>
                <a:spcPct val="100000"/>
              </a:lnSpc>
              <a:spcBef>
                <a:spcPts val="1355"/>
              </a:spcBef>
            </a:pPr>
            <a:r>
              <a:rPr dirty="0" sz="1800" spc="-10" b="1">
                <a:solidFill>
                  <a:srgbClr val="40458B"/>
                </a:solidFill>
                <a:latin typeface="宋体"/>
                <a:cs typeface="宋体"/>
              </a:rPr>
              <a:t>平均访存时间</a:t>
            </a:r>
            <a:r>
              <a:rPr dirty="0" baseline="-20833" sz="1800" b="1">
                <a:solidFill>
                  <a:srgbClr val="40458B"/>
                </a:solidFill>
                <a:latin typeface="宋体"/>
                <a:cs typeface="宋体"/>
              </a:rPr>
              <a:t>1路</a:t>
            </a:r>
            <a:r>
              <a:rPr dirty="0" sz="1800" spc="-10" b="1">
                <a:solidFill>
                  <a:srgbClr val="40458B"/>
                </a:solidFill>
                <a:latin typeface="宋体"/>
                <a:cs typeface="宋体"/>
              </a:rPr>
              <a:t>＝2.0＋（0.014×70）＝2.98ns</a:t>
            </a:r>
            <a:endParaRPr sz="1800">
              <a:latin typeface="宋体"/>
              <a:cs typeface="宋体"/>
            </a:endParaRPr>
          </a:p>
          <a:p>
            <a:pPr marL="256540">
              <a:lnSpc>
                <a:spcPct val="100000"/>
              </a:lnSpc>
              <a:spcBef>
                <a:spcPts val="1165"/>
              </a:spcBef>
            </a:pPr>
            <a:r>
              <a:rPr dirty="0" sz="1800" spc="-15" b="1">
                <a:solidFill>
                  <a:srgbClr val="40458B"/>
                </a:solidFill>
                <a:latin typeface="宋体"/>
                <a:cs typeface="宋体"/>
              </a:rPr>
              <a:t>平均访存时间</a:t>
            </a:r>
            <a:r>
              <a:rPr dirty="0" baseline="-20833" sz="1800" b="1">
                <a:solidFill>
                  <a:srgbClr val="40458B"/>
                </a:solidFill>
                <a:latin typeface="宋体"/>
                <a:cs typeface="宋体"/>
              </a:rPr>
              <a:t>2路</a:t>
            </a:r>
            <a:r>
              <a:rPr dirty="0" sz="1800" spc="-10" b="1">
                <a:solidFill>
                  <a:srgbClr val="40458B"/>
                </a:solidFill>
                <a:latin typeface="宋体"/>
                <a:cs typeface="宋体"/>
              </a:rPr>
              <a:t>＝2.0×1.10＋（0.010×70）＝2.90ns</a:t>
            </a:r>
            <a:endParaRPr sz="1800">
              <a:latin typeface="宋体"/>
              <a:cs typeface="宋体"/>
            </a:endParaRPr>
          </a:p>
          <a:p>
            <a:pPr marL="76835">
              <a:lnSpc>
                <a:spcPct val="100000"/>
              </a:lnSpc>
              <a:spcBef>
                <a:spcPts val="1360"/>
              </a:spcBef>
            </a:pPr>
            <a:r>
              <a:rPr dirty="0" sz="1800" spc="-20" b="1">
                <a:solidFill>
                  <a:srgbClr val="E14B04"/>
                </a:solidFill>
                <a:latin typeface="宋体"/>
                <a:cs typeface="宋体"/>
              </a:rPr>
              <a:t>两路组相联</a:t>
            </a:r>
            <a:r>
              <a:rPr dirty="0" sz="1800" spc="-10" b="1">
                <a:solidFill>
                  <a:srgbClr val="E14B04"/>
                </a:solidFill>
                <a:latin typeface="宋体"/>
                <a:cs typeface="宋体"/>
              </a:rPr>
              <a:t>Cache</a:t>
            </a:r>
            <a:r>
              <a:rPr dirty="0" sz="1800" spc="-25" b="1">
                <a:solidFill>
                  <a:srgbClr val="E14B04"/>
                </a:solidFill>
                <a:latin typeface="宋体"/>
                <a:cs typeface="宋体"/>
              </a:rPr>
              <a:t>的平均访存时间比较低。</a:t>
            </a:r>
            <a:endParaRPr sz="1800">
              <a:latin typeface="宋体"/>
              <a:cs typeface="宋体"/>
            </a:endParaRPr>
          </a:p>
          <a:p>
            <a:pPr marL="1403350" marR="431800" indent="-1262380">
              <a:lnSpc>
                <a:spcPct val="130000"/>
              </a:lnSpc>
              <a:spcBef>
                <a:spcPts val="160"/>
              </a:spcBef>
            </a:pPr>
            <a:r>
              <a:rPr dirty="0" sz="2000" spc="-20" b="1">
                <a:solidFill>
                  <a:srgbClr val="40458B"/>
                </a:solidFill>
                <a:latin typeface="Times New Roman"/>
                <a:cs typeface="Times New Roman"/>
              </a:rPr>
              <a:t>CPU</a:t>
            </a:r>
            <a:r>
              <a:rPr dirty="0" sz="2000" spc="-10" b="1">
                <a:solidFill>
                  <a:srgbClr val="40458B"/>
                </a:solidFill>
                <a:latin typeface="宋体"/>
                <a:cs typeface="宋体"/>
              </a:rPr>
              <a:t>时间</a:t>
            </a:r>
            <a:r>
              <a:rPr dirty="0" sz="2000" b="1">
                <a:solidFill>
                  <a:srgbClr val="40458B"/>
                </a:solidFill>
                <a:latin typeface="宋体"/>
                <a:cs typeface="宋体"/>
              </a:rPr>
              <a:t>＝</a:t>
            </a:r>
            <a:r>
              <a:rPr dirty="0" sz="2000" b="1" i="1">
                <a:solidFill>
                  <a:srgbClr val="40458B"/>
                </a:solidFill>
                <a:latin typeface="Times New Roman"/>
                <a:cs typeface="Times New Roman"/>
              </a:rPr>
              <a:t>IC</a:t>
            </a:r>
            <a:r>
              <a:rPr dirty="0" sz="2000" b="1">
                <a:solidFill>
                  <a:srgbClr val="40458B"/>
                </a:solidFill>
                <a:latin typeface="宋体"/>
                <a:cs typeface="宋体"/>
              </a:rPr>
              <a:t>×（</a:t>
            </a:r>
            <a:r>
              <a:rPr dirty="0" sz="2000" b="1" i="1">
                <a:solidFill>
                  <a:srgbClr val="40458B"/>
                </a:solidFill>
                <a:latin typeface="Times New Roman"/>
                <a:cs typeface="Times New Roman"/>
              </a:rPr>
              <a:t>CPI </a:t>
            </a:r>
            <a:r>
              <a:rPr dirty="0" baseline="-21367" sz="1950" b="1">
                <a:solidFill>
                  <a:srgbClr val="40458B"/>
                </a:solidFill>
                <a:latin typeface="Times New Roman"/>
                <a:cs typeface="Times New Roman"/>
              </a:rPr>
              <a:t>execution</a:t>
            </a:r>
            <a:r>
              <a:rPr dirty="0" sz="2000" spc="-25" b="1">
                <a:solidFill>
                  <a:srgbClr val="40458B"/>
                </a:solidFill>
                <a:latin typeface="宋体"/>
                <a:cs typeface="宋体"/>
              </a:rPr>
              <a:t>＋每条指令的平均访存次数×</a:t>
            </a:r>
            <a:r>
              <a:rPr dirty="0" sz="2000" spc="-10" b="1">
                <a:solidFill>
                  <a:srgbClr val="40458B"/>
                </a:solidFill>
                <a:latin typeface="宋体"/>
                <a:cs typeface="宋体"/>
              </a:rPr>
              <a:t>不命中率×不命中开销</a:t>
            </a:r>
            <a:r>
              <a:rPr dirty="0" sz="2000" spc="-20" b="1">
                <a:solidFill>
                  <a:srgbClr val="40458B"/>
                </a:solidFill>
                <a:latin typeface="宋体"/>
                <a:cs typeface="宋体"/>
              </a:rPr>
              <a:t>）×</a:t>
            </a:r>
            <a:r>
              <a:rPr dirty="0" sz="2000" spc="-100" b="1">
                <a:solidFill>
                  <a:srgbClr val="40458B"/>
                </a:solidFill>
                <a:latin typeface="宋体"/>
                <a:cs typeface="宋体"/>
              </a:rPr>
              <a:t> 时钟周期时间</a:t>
            </a:r>
            <a:endParaRPr sz="2000">
              <a:latin typeface="宋体"/>
              <a:cs typeface="宋体"/>
            </a:endParaRPr>
          </a:p>
          <a:p>
            <a:pPr marL="1149985">
              <a:lnSpc>
                <a:spcPct val="100000"/>
              </a:lnSpc>
              <a:spcBef>
                <a:spcPts val="720"/>
              </a:spcBef>
            </a:pPr>
            <a:r>
              <a:rPr dirty="0" sz="2000" b="1">
                <a:solidFill>
                  <a:srgbClr val="40458B"/>
                </a:solidFill>
                <a:latin typeface="宋体"/>
                <a:cs typeface="宋体"/>
              </a:rPr>
              <a:t>＝</a:t>
            </a:r>
            <a:r>
              <a:rPr dirty="0" sz="2000" b="1" i="1">
                <a:solidFill>
                  <a:srgbClr val="40458B"/>
                </a:solidFill>
                <a:latin typeface="Times New Roman"/>
                <a:cs typeface="Times New Roman"/>
              </a:rPr>
              <a:t>IC</a:t>
            </a:r>
            <a:r>
              <a:rPr dirty="0" sz="2000" b="1">
                <a:solidFill>
                  <a:srgbClr val="40458B"/>
                </a:solidFill>
                <a:latin typeface="宋体"/>
                <a:cs typeface="宋体"/>
              </a:rPr>
              <a:t>×（</a:t>
            </a:r>
            <a:r>
              <a:rPr dirty="0" sz="2000" b="1" i="1">
                <a:solidFill>
                  <a:srgbClr val="40458B"/>
                </a:solidFill>
                <a:latin typeface="Times New Roman"/>
                <a:cs typeface="Times New Roman"/>
              </a:rPr>
              <a:t>CPI</a:t>
            </a:r>
            <a:r>
              <a:rPr dirty="0" sz="2000" spc="-5" b="1" i="1">
                <a:solidFill>
                  <a:srgbClr val="40458B"/>
                </a:solidFill>
                <a:latin typeface="Times New Roman"/>
                <a:cs typeface="Times New Roman"/>
              </a:rPr>
              <a:t> </a:t>
            </a:r>
            <a:r>
              <a:rPr dirty="0" baseline="-21367" sz="1950" b="1">
                <a:solidFill>
                  <a:srgbClr val="40458B"/>
                </a:solidFill>
                <a:latin typeface="Times New Roman"/>
                <a:cs typeface="Times New Roman"/>
              </a:rPr>
              <a:t>execution</a:t>
            </a:r>
            <a:r>
              <a:rPr dirty="0" sz="2000" spc="-70" b="1">
                <a:solidFill>
                  <a:srgbClr val="40458B"/>
                </a:solidFill>
                <a:latin typeface="宋体"/>
                <a:cs typeface="宋体"/>
              </a:rPr>
              <a:t>× 时钟周期时间＋每条指令的</a:t>
            </a:r>
            <a:endParaRPr sz="2000">
              <a:latin typeface="宋体"/>
              <a:cs typeface="宋体"/>
            </a:endParaRPr>
          </a:p>
          <a:p>
            <a:pPr marL="704850">
              <a:lnSpc>
                <a:spcPct val="100000"/>
              </a:lnSpc>
              <a:spcBef>
                <a:spcPts val="720"/>
              </a:spcBef>
            </a:pPr>
            <a:r>
              <a:rPr dirty="0" sz="2000" spc="-20" b="1">
                <a:solidFill>
                  <a:srgbClr val="40458B"/>
                </a:solidFill>
                <a:latin typeface="宋体"/>
                <a:cs typeface="宋体"/>
              </a:rPr>
              <a:t>平均访存次数×不命中率×不命中开销×时钟周期时间</a:t>
            </a:r>
            <a:r>
              <a:rPr dirty="0" sz="2000" spc="-50" b="1">
                <a:solidFill>
                  <a:srgbClr val="40458B"/>
                </a:solidFill>
                <a:latin typeface="宋体"/>
                <a:cs typeface="宋体"/>
              </a:rPr>
              <a:t>）</a:t>
            </a:r>
            <a:endParaRPr sz="2000">
              <a:latin typeface="宋体"/>
              <a:cs typeface="宋体"/>
            </a:endParaRPr>
          </a:p>
        </p:txBody>
      </p:sp>
      <p:sp>
        <p:nvSpPr>
          <p:cNvPr id="10" name="object 10"/>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a:spLocks noGrp="1"/>
          </p:cNvSpPr>
          <p:nvPr>
            <p:ph type="body" idx="1"/>
          </p:nvPr>
        </p:nvSpPr>
        <p:spPr>
          <a:prstGeom prst="rect"/>
        </p:spPr>
        <p:txBody>
          <a:bodyPr wrap="square" lIns="0" tIns="157480" rIns="0" bIns="0" rtlCol="0" vert="horz">
            <a:spAutoFit/>
          </a:bodyPr>
          <a:lstStyle/>
          <a:p>
            <a:pPr marL="1529080">
              <a:lnSpc>
                <a:spcPct val="100000"/>
              </a:lnSpc>
              <a:spcBef>
                <a:spcPts val="1240"/>
              </a:spcBef>
            </a:pPr>
            <a:r>
              <a:rPr dirty="0" sz="2000" spc="-25" b="1">
                <a:solidFill>
                  <a:srgbClr val="000000"/>
                </a:solidFill>
                <a:latin typeface="宋体"/>
                <a:cs typeface="宋体"/>
              </a:rPr>
              <a:t>因此：</a:t>
            </a:r>
            <a:endParaRPr sz="2000">
              <a:latin typeface="宋体"/>
              <a:cs typeface="宋体"/>
            </a:endParaRPr>
          </a:p>
          <a:p>
            <a:pPr marL="1529080">
              <a:lnSpc>
                <a:spcPct val="100000"/>
              </a:lnSpc>
              <a:spcBef>
                <a:spcPts val="1140"/>
              </a:spcBef>
            </a:pPr>
            <a:r>
              <a:rPr dirty="0" sz="2000" spc="-10" b="1">
                <a:latin typeface="宋体"/>
                <a:cs typeface="宋体"/>
              </a:rPr>
              <a:t>CPU时间</a:t>
            </a:r>
            <a:r>
              <a:rPr dirty="0" baseline="-21367" sz="1950" b="1">
                <a:latin typeface="宋体"/>
                <a:cs typeface="宋体"/>
              </a:rPr>
              <a:t>1</a:t>
            </a:r>
            <a:r>
              <a:rPr dirty="0" baseline="-21367" sz="1950" spc="-7" b="1">
                <a:latin typeface="宋体"/>
                <a:cs typeface="宋体"/>
              </a:rPr>
              <a:t>路 </a:t>
            </a:r>
            <a:r>
              <a:rPr dirty="0" sz="2000" b="1">
                <a:latin typeface="宋体"/>
                <a:cs typeface="宋体"/>
              </a:rPr>
              <a:t>＝</a:t>
            </a:r>
            <a:r>
              <a:rPr dirty="0" sz="2000" spc="55" b="1">
                <a:latin typeface="宋体"/>
                <a:cs typeface="宋体"/>
              </a:rPr>
              <a:t> </a:t>
            </a:r>
            <a:r>
              <a:rPr dirty="0" sz="2000" spc="-10" b="1">
                <a:latin typeface="宋体"/>
                <a:cs typeface="宋体"/>
              </a:rPr>
              <a:t>IC×(2.0×2＋(1.3×0.014×70))</a:t>
            </a:r>
            <a:endParaRPr sz="2000">
              <a:latin typeface="宋体"/>
              <a:cs typeface="宋体"/>
            </a:endParaRPr>
          </a:p>
          <a:p>
            <a:pPr marL="2750820">
              <a:lnSpc>
                <a:spcPct val="100000"/>
              </a:lnSpc>
              <a:spcBef>
                <a:spcPts val="720"/>
              </a:spcBef>
            </a:pPr>
            <a:r>
              <a:rPr dirty="0" sz="2000" b="1">
                <a:latin typeface="宋体"/>
                <a:cs typeface="宋体"/>
              </a:rPr>
              <a:t>＝</a:t>
            </a:r>
            <a:r>
              <a:rPr dirty="0" sz="2000" spc="-25" b="1">
                <a:latin typeface="宋体"/>
                <a:cs typeface="宋体"/>
              </a:rPr>
              <a:t> </a:t>
            </a:r>
            <a:r>
              <a:rPr dirty="0" sz="2000" spc="-10" b="1">
                <a:latin typeface="宋体"/>
                <a:cs typeface="宋体"/>
              </a:rPr>
              <a:t>5.27×IC</a:t>
            </a:r>
            <a:endParaRPr sz="2000">
              <a:latin typeface="宋体"/>
              <a:cs typeface="宋体"/>
            </a:endParaRPr>
          </a:p>
          <a:p>
            <a:pPr marL="1529080">
              <a:lnSpc>
                <a:spcPct val="100000"/>
              </a:lnSpc>
              <a:spcBef>
                <a:spcPts val="1200"/>
              </a:spcBef>
            </a:pPr>
            <a:r>
              <a:rPr dirty="0" sz="2000" spc="-10" b="1">
                <a:latin typeface="宋体"/>
                <a:cs typeface="宋体"/>
              </a:rPr>
              <a:t>CPU时间</a:t>
            </a:r>
            <a:r>
              <a:rPr dirty="0" baseline="-21367" sz="1950" b="1">
                <a:latin typeface="宋体"/>
                <a:cs typeface="宋体"/>
              </a:rPr>
              <a:t>2</a:t>
            </a:r>
            <a:r>
              <a:rPr dirty="0" baseline="-21367" sz="1950" spc="-7" b="1">
                <a:latin typeface="宋体"/>
                <a:cs typeface="宋体"/>
              </a:rPr>
              <a:t>路 </a:t>
            </a:r>
            <a:r>
              <a:rPr dirty="0" sz="2000" b="1">
                <a:latin typeface="宋体"/>
                <a:cs typeface="宋体"/>
              </a:rPr>
              <a:t>＝</a:t>
            </a:r>
            <a:r>
              <a:rPr dirty="0" sz="2000" spc="55" b="1">
                <a:latin typeface="宋体"/>
                <a:cs typeface="宋体"/>
              </a:rPr>
              <a:t> </a:t>
            </a:r>
            <a:r>
              <a:rPr dirty="0" sz="2000" spc="-10" b="1">
                <a:latin typeface="宋体"/>
                <a:cs typeface="宋体"/>
              </a:rPr>
              <a:t>IC×(2.0×2×1.10＋(1.3×0.010×70))</a:t>
            </a:r>
            <a:endParaRPr sz="2000">
              <a:latin typeface="宋体"/>
              <a:cs typeface="宋体"/>
            </a:endParaRPr>
          </a:p>
          <a:p>
            <a:pPr marL="2750820">
              <a:lnSpc>
                <a:spcPct val="100000"/>
              </a:lnSpc>
              <a:spcBef>
                <a:spcPts val="720"/>
              </a:spcBef>
            </a:pPr>
            <a:r>
              <a:rPr dirty="0" sz="2000" b="1">
                <a:latin typeface="宋体"/>
                <a:cs typeface="宋体"/>
              </a:rPr>
              <a:t>＝</a:t>
            </a:r>
            <a:r>
              <a:rPr dirty="0" sz="2000" spc="-20" b="1">
                <a:latin typeface="宋体"/>
                <a:cs typeface="宋体"/>
              </a:rPr>
              <a:t> </a:t>
            </a:r>
            <a:r>
              <a:rPr dirty="0" sz="2000" spc="-10" b="1">
                <a:latin typeface="宋体"/>
                <a:cs typeface="宋体"/>
              </a:rPr>
              <a:t>5.31×IC</a:t>
            </a:r>
            <a:endParaRPr sz="2000">
              <a:latin typeface="宋体"/>
              <a:cs typeface="宋体"/>
            </a:endParaRPr>
          </a:p>
        </p:txBody>
      </p:sp>
      <p:sp>
        <p:nvSpPr>
          <p:cNvPr id="10" name="object 10" descr=""/>
          <p:cNvSpPr txBox="1"/>
          <p:nvPr/>
        </p:nvSpPr>
        <p:spPr>
          <a:xfrm>
            <a:off x="5527675" y="3919220"/>
            <a:ext cx="1214120"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E14B04"/>
                </a:solidFill>
                <a:latin typeface="微软雅黑"/>
                <a:cs typeface="微软雅黑"/>
              </a:rPr>
              <a:t>5.31×IC</a:t>
            </a:r>
            <a:endParaRPr sz="2400">
              <a:latin typeface="微软雅黑"/>
              <a:cs typeface="微软雅黑"/>
            </a:endParaRPr>
          </a:p>
        </p:txBody>
      </p:sp>
      <p:sp>
        <p:nvSpPr>
          <p:cNvPr id="11" name="object 11" descr=""/>
          <p:cNvSpPr txBox="1"/>
          <p:nvPr/>
        </p:nvSpPr>
        <p:spPr>
          <a:xfrm>
            <a:off x="4492244" y="4513579"/>
            <a:ext cx="353060" cy="269240"/>
          </a:xfrm>
          <a:prstGeom prst="rect">
            <a:avLst/>
          </a:prstGeom>
        </p:spPr>
        <p:txBody>
          <a:bodyPr wrap="square" lIns="0" tIns="12065" rIns="0" bIns="0" rtlCol="0" vert="horz">
            <a:spAutoFit/>
          </a:bodyPr>
          <a:lstStyle/>
          <a:p>
            <a:pPr marL="12700">
              <a:lnSpc>
                <a:spcPct val="100000"/>
              </a:lnSpc>
              <a:spcBef>
                <a:spcPts val="95"/>
              </a:spcBef>
            </a:pPr>
            <a:r>
              <a:rPr dirty="0" sz="1600" spc="-20" b="1">
                <a:solidFill>
                  <a:srgbClr val="E14B04"/>
                </a:solidFill>
                <a:latin typeface="微软雅黑"/>
                <a:cs typeface="微软雅黑"/>
              </a:rPr>
              <a:t>1</a:t>
            </a:r>
            <a:r>
              <a:rPr dirty="0" sz="1600" spc="-50" b="1">
                <a:solidFill>
                  <a:srgbClr val="E14B04"/>
                </a:solidFill>
                <a:latin typeface="微软雅黑"/>
                <a:cs typeface="微软雅黑"/>
              </a:rPr>
              <a:t>路</a:t>
            </a:r>
            <a:endParaRPr sz="1600">
              <a:latin typeface="微软雅黑"/>
              <a:cs typeface="微软雅黑"/>
            </a:endParaRPr>
          </a:p>
        </p:txBody>
      </p:sp>
      <p:sp>
        <p:nvSpPr>
          <p:cNvPr id="12" name="object 12" descr=""/>
          <p:cNvSpPr txBox="1"/>
          <p:nvPr/>
        </p:nvSpPr>
        <p:spPr>
          <a:xfrm>
            <a:off x="3215385" y="4155694"/>
            <a:ext cx="1294765" cy="391160"/>
          </a:xfrm>
          <a:prstGeom prst="rect">
            <a:avLst/>
          </a:prstGeom>
        </p:spPr>
        <p:txBody>
          <a:bodyPr wrap="square" lIns="0" tIns="12700" rIns="0" bIns="0" rtlCol="0" vert="horz">
            <a:spAutoFit/>
          </a:bodyPr>
          <a:lstStyle/>
          <a:p>
            <a:pPr marL="38100">
              <a:lnSpc>
                <a:spcPct val="100000"/>
              </a:lnSpc>
              <a:spcBef>
                <a:spcPts val="100"/>
              </a:spcBef>
            </a:pPr>
            <a:r>
              <a:rPr dirty="0" baseline="-33564" sz="3600" spc="-810" b="1">
                <a:solidFill>
                  <a:srgbClr val="E14B04"/>
                </a:solidFill>
                <a:latin typeface="微软雅黑"/>
                <a:cs typeface="微软雅黑"/>
              </a:rPr>
              <a:t>C</a:t>
            </a:r>
            <a:r>
              <a:rPr dirty="0" sz="2400" spc="-1170" b="1">
                <a:solidFill>
                  <a:srgbClr val="E14B04"/>
                </a:solidFill>
                <a:latin typeface="微软雅黑"/>
                <a:cs typeface="微软雅黑"/>
              </a:rPr>
              <a:t>─</a:t>
            </a:r>
            <a:r>
              <a:rPr dirty="0" baseline="-33564" sz="3600" spc="-622" b="1">
                <a:solidFill>
                  <a:srgbClr val="E14B04"/>
                </a:solidFill>
                <a:latin typeface="微软雅黑"/>
                <a:cs typeface="微软雅黑"/>
              </a:rPr>
              <a:t>P</a:t>
            </a:r>
            <a:r>
              <a:rPr dirty="0" sz="2400" spc="-1290" b="1">
                <a:solidFill>
                  <a:srgbClr val="E14B04"/>
                </a:solidFill>
                <a:latin typeface="微软雅黑"/>
                <a:cs typeface="微软雅黑"/>
              </a:rPr>
              <a:t>─</a:t>
            </a:r>
            <a:r>
              <a:rPr dirty="0" baseline="-33564" sz="3600" spc="-855" b="1">
                <a:solidFill>
                  <a:srgbClr val="E14B04"/>
                </a:solidFill>
                <a:latin typeface="微软雅黑"/>
                <a:cs typeface="微软雅黑"/>
              </a:rPr>
              <a:t>U</a:t>
            </a:r>
            <a:r>
              <a:rPr dirty="0" sz="2400" spc="-1135" b="1">
                <a:solidFill>
                  <a:srgbClr val="E14B04"/>
                </a:solidFill>
                <a:latin typeface="微软雅黑"/>
                <a:cs typeface="微软雅黑"/>
              </a:rPr>
              <a:t>─</a:t>
            </a:r>
            <a:r>
              <a:rPr dirty="0" baseline="-33564" sz="3600" spc="-1904" b="1">
                <a:solidFill>
                  <a:srgbClr val="E14B04"/>
                </a:solidFill>
                <a:latin typeface="微软雅黑"/>
                <a:cs typeface="微软雅黑"/>
              </a:rPr>
              <a:t>时</a:t>
            </a:r>
            <a:r>
              <a:rPr dirty="0" sz="2400" spc="-434" b="1">
                <a:solidFill>
                  <a:srgbClr val="E14B04"/>
                </a:solidFill>
                <a:latin typeface="微软雅黑"/>
                <a:cs typeface="微软雅黑"/>
              </a:rPr>
              <a:t>─</a:t>
            </a:r>
            <a:r>
              <a:rPr dirty="0" baseline="-33564" sz="3600" spc="-2947" b="1">
                <a:solidFill>
                  <a:srgbClr val="E14B04"/>
                </a:solidFill>
                <a:latin typeface="微软雅黑"/>
                <a:cs typeface="微软雅黑"/>
              </a:rPr>
              <a:t>间</a:t>
            </a:r>
            <a:r>
              <a:rPr dirty="0" sz="2400" spc="-50" b="1">
                <a:solidFill>
                  <a:srgbClr val="E14B04"/>
                </a:solidFill>
                <a:latin typeface="微软雅黑"/>
                <a:cs typeface="微软雅黑"/>
              </a:rPr>
              <a:t>─</a:t>
            </a:r>
            <a:endParaRPr sz="2400">
              <a:latin typeface="微软雅黑"/>
              <a:cs typeface="微软雅黑"/>
            </a:endParaRPr>
          </a:p>
        </p:txBody>
      </p:sp>
      <p:sp>
        <p:nvSpPr>
          <p:cNvPr id="13" name="object 13" descr=""/>
          <p:cNvSpPr txBox="1"/>
          <p:nvPr/>
        </p:nvSpPr>
        <p:spPr>
          <a:xfrm>
            <a:off x="5182615" y="4155694"/>
            <a:ext cx="1501140"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E14B04"/>
                </a:solidFill>
                <a:latin typeface="微软雅黑"/>
                <a:cs typeface="微软雅黑"/>
              </a:rPr>
              <a:t>＝</a:t>
            </a:r>
            <a:r>
              <a:rPr dirty="0" sz="2400" spc="-10" b="1">
                <a:solidFill>
                  <a:srgbClr val="E14B04"/>
                </a:solidFill>
                <a:latin typeface="微软雅黑"/>
                <a:cs typeface="微软雅黑"/>
              </a:rPr>
              <a:t> ─────</a:t>
            </a:r>
            <a:endParaRPr sz="2400">
              <a:latin typeface="微软雅黑"/>
              <a:cs typeface="微软雅黑"/>
            </a:endParaRPr>
          </a:p>
        </p:txBody>
      </p:sp>
      <p:sp>
        <p:nvSpPr>
          <p:cNvPr id="14" name="object 14" descr=""/>
          <p:cNvSpPr txBox="1"/>
          <p:nvPr/>
        </p:nvSpPr>
        <p:spPr>
          <a:xfrm>
            <a:off x="7019290" y="4155694"/>
            <a:ext cx="981075"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E14B04"/>
                </a:solidFill>
                <a:latin typeface="微软雅黑"/>
                <a:cs typeface="微软雅黑"/>
              </a:rPr>
              <a:t>＝1.01</a:t>
            </a:r>
            <a:endParaRPr sz="2400">
              <a:latin typeface="微软雅黑"/>
              <a:cs typeface="微软雅黑"/>
            </a:endParaRPr>
          </a:p>
        </p:txBody>
      </p:sp>
      <p:sp>
        <p:nvSpPr>
          <p:cNvPr id="15" name="object 15" descr=""/>
          <p:cNvSpPr txBox="1"/>
          <p:nvPr/>
        </p:nvSpPr>
        <p:spPr>
          <a:xfrm>
            <a:off x="5527675" y="4359020"/>
            <a:ext cx="1214120"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E14B04"/>
                </a:solidFill>
                <a:latin typeface="微软雅黑"/>
                <a:cs typeface="微软雅黑"/>
              </a:rPr>
              <a:t>5.27×IC</a:t>
            </a:r>
            <a:endParaRPr sz="2400">
              <a:latin typeface="微软雅黑"/>
              <a:cs typeface="微软雅黑"/>
            </a:endParaRPr>
          </a:p>
        </p:txBody>
      </p:sp>
      <p:sp>
        <p:nvSpPr>
          <p:cNvPr id="16" name="object 16" descr=""/>
          <p:cNvSpPr txBox="1"/>
          <p:nvPr/>
        </p:nvSpPr>
        <p:spPr>
          <a:xfrm>
            <a:off x="3197098" y="3879037"/>
            <a:ext cx="1655445" cy="391795"/>
          </a:xfrm>
          <a:prstGeom prst="rect">
            <a:avLst/>
          </a:prstGeom>
        </p:spPr>
        <p:txBody>
          <a:bodyPr wrap="square" lIns="0" tIns="12700" rIns="0" bIns="0" rtlCol="0" vert="horz">
            <a:spAutoFit/>
          </a:bodyPr>
          <a:lstStyle/>
          <a:p>
            <a:pPr marL="38100">
              <a:lnSpc>
                <a:spcPct val="100000"/>
              </a:lnSpc>
              <a:spcBef>
                <a:spcPts val="100"/>
              </a:spcBef>
            </a:pPr>
            <a:r>
              <a:rPr dirty="0" sz="2400" spc="-10" b="1">
                <a:solidFill>
                  <a:srgbClr val="E14B04"/>
                </a:solidFill>
                <a:latin typeface="微软雅黑"/>
                <a:cs typeface="微软雅黑"/>
              </a:rPr>
              <a:t>CPU时间</a:t>
            </a:r>
            <a:r>
              <a:rPr dirty="0" baseline="-20833" sz="2400" spc="-30" b="1">
                <a:solidFill>
                  <a:srgbClr val="E14B04"/>
                </a:solidFill>
                <a:latin typeface="微软雅黑"/>
                <a:cs typeface="微软雅黑"/>
              </a:rPr>
              <a:t>2</a:t>
            </a:r>
            <a:r>
              <a:rPr dirty="0" baseline="-20833" sz="2400" spc="-75" b="1">
                <a:solidFill>
                  <a:srgbClr val="E14B04"/>
                </a:solidFill>
                <a:latin typeface="微软雅黑"/>
                <a:cs typeface="微软雅黑"/>
              </a:rPr>
              <a:t>路</a:t>
            </a:r>
            <a:endParaRPr baseline="-20833" sz="2400">
              <a:latin typeface="微软雅黑"/>
              <a:cs typeface="微软雅黑"/>
            </a:endParaRPr>
          </a:p>
        </p:txBody>
      </p:sp>
      <p:sp>
        <p:nvSpPr>
          <p:cNvPr id="17" name="object 17" descr=""/>
          <p:cNvSpPr txBox="1"/>
          <p:nvPr/>
        </p:nvSpPr>
        <p:spPr>
          <a:xfrm>
            <a:off x="2822194" y="5131434"/>
            <a:ext cx="399351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40458B"/>
                </a:solidFill>
                <a:latin typeface="宋体"/>
                <a:cs typeface="宋体"/>
              </a:rPr>
              <a:t>直接映象Cache</a:t>
            </a:r>
            <a:r>
              <a:rPr dirty="0" sz="2000" spc="-25" b="1">
                <a:solidFill>
                  <a:srgbClr val="40458B"/>
                </a:solidFill>
                <a:latin typeface="宋体"/>
                <a:cs typeface="宋体"/>
              </a:rPr>
              <a:t>的平均性能好一些。</a:t>
            </a:r>
            <a:endParaRPr sz="2000">
              <a:latin typeface="宋体"/>
              <a:cs typeface="宋体"/>
            </a:endParaRPr>
          </a:p>
        </p:txBody>
      </p:sp>
      <p:sp>
        <p:nvSpPr>
          <p:cNvPr id="18" name="object 18"/>
          <p:cNvSpPr txBox="1">
            <a:spLocks noGrp="1"/>
          </p:cNvSpPr>
          <p:nvPr>
            <p:ph type="title"/>
          </p:nvPr>
        </p:nvSpPr>
        <p:spPr>
          <a:xfrm>
            <a:off x="1782317" y="41859"/>
            <a:ext cx="3495040"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7.2.7</a:t>
            </a:r>
            <a:r>
              <a:rPr dirty="0" u="none" sz="2600" spc="10">
                <a:solidFill>
                  <a:srgbClr val="0000CC"/>
                </a:solidFill>
              </a:rPr>
              <a:t> </a:t>
            </a:r>
            <a:r>
              <a:rPr dirty="0" u="none" sz="2600" spc="-10">
                <a:solidFill>
                  <a:srgbClr val="0000CC"/>
                </a:solidFill>
              </a:rPr>
              <a:t>Cache</a:t>
            </a:r>
            <a:r>
              <a:rPr dirty="0" u="none" sz="2600" spc="-20">
                <a:solidFill>
                  <a:srgbClr val="0000CC"/>
                </a:solidFill>
              </a:rPr>
              <a:t>的性能分析</a:t>
            </a:r>
            <a:endParaRPr sz="2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74293" y="901700"/>
            <a:ext cx="7189470" cy="4074795"/>
          </a:xfrm>
          <a:prstGeom prst="rect">
            <a:avLst/>
          </a:prstGeom>
        </p:spPr>
        <p:txBody>
          <a:bodyPr wrap="square" lIns="0" tIns="121920" rIns="0" bIns="0" rtlCol="0" vert="horz">
            <a:spAutoFit/>
          </a:bodyPr>
          <a:lstStyle/>
          <a:p>
            <a:pPr marL="469265" indent="-456565">
              <a:lnSpc>
                <a:spcPct val="100000"/>
              </a:lnSpc>
              <a:spcBef>
                <a:spcPts val="960"/>
              </a:spcBef>
              <a:buClr>
                <a:srgbClr val="40458B"/>
              </a:buClr>
              <a:buFont typeface="Tahoma"/>
              <a:buAutoNum type="arabicPeriod"/>
              <a:tabLst>
                <a:tab pos="469265" algn="l"/>
              </a:tabLst>
            </a:pPr>
            <a:r>
              <a:rPr dirty="0" sz="2400">
                <a:solidFill>
                  <a:srgbClr val="E14B04"/>
                </a:solidFill>
                <a:latin typeface="黑体"/>
                <a:cs typeface="黑体"/>
              </a:rPr>
              <a:t>平均访存时间＝</a:t>
            </a:r>
            <a:r>
              <a:rPr dirty="0" sz="2400" spc="-5">
                <a:solidFill>
                  <a:srgbClr val="E14B04"/>
                </a:solidFill>
                <a:latin typeface="黑体"/>
                <a:cs typeface="黑体"/>
              </a:rPr>
              <a:t>命中时间＋不命中率×不命中开销</a:t>
            </a:r>
            <a:endParaRPr sz="2400">
              <a:latin typeface="黑体"/>
              <a:cs typeface="黑体"/>
            </a:endParaRPr>
          </a:p>
          <a:p>
            <a:pPr marL="469265" indent="-456565">
              <a:lnSpc>
                <a:spcPct val="100000"/>
              </a:lnSpc>
              <a:spcBef>
                <a:spcPts val="865"/>
              </a:spcBef>
              <a:buClr>
                <a:srgbClr val="40458B"/>
              </a:buClr>
              <a:buAutoNum type="arabicPeriod"/>
              <a:tabLst>
                <a:tab pos="469265" algn="l"/>
              </a:tabLst>
            </a:pPr>
            <a:r>
              <a:rPr dirty="0" sz="2400">
                <a:solidFill>
                  <a:srgbClr val="E14B04"/>
                </a:solidFill>
                <a:latin typeface="黑体"/>
                <a:cs typeface="黑体"/>
              </a:rPr>
              <a:t>可以从三个方面改进Cache</a:t>
            </a:r>
            <a:r>
              <a:rPr dirty="0" sz="2400" spc="-15">
                <a:solidFill>
                  <a:srgbClr val="E14B04"/>
                </a:solidFill>
                <a:latin typeface="黑体"/>
                <a:cs typeface="黑体"/>
              </a:rPr>
              <a:t>的性能：</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20">
                <a:solidFill>
                  <a:srgbClr val="40458B"/>
                </a:solidFill>
                <a:latin typeface="黑体"/>
                <a:cs typeface="黑体"/>
              </a:rPr>
              <a:t>降低不命中率</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减少不命中开销</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a:solidFill>
                  <a:srgbClr val="40458B"/>
                </a:solidFill>
                <a:latin typeface="黑体"/>
                <a:cs typeface="黑体"/>
              </a:rPr>
              <a:t>减少Cache</a:t>
            </a:r>
            <a:r>
              <a:rPr dirty="0" sz="2400" spc="-15">
                <a:solidFill>
                  <a:srgbClr val="40458B"/>
                </a:solidFill>
                <a:latin typeface="黑体"/>
                <a:cs typeface="黑体"/>
              </a:rPr>
              <a:t>命中时间</a:t>
            </a:r>
            <a:endParaRPr sz="2400">
              <a:latin typeface="黑体"/>
              <a:cs typeface="黑体"/>
            </a:endParaRPr>
          </a:p>
          <a:p>
            <a:pPr marL="469265" indent="-456565">
              <a:lnSpc>
                <a:spcPct val="100000"/>
              </a:lnSpc>
              <a:spcBef>
                <a:spcPts val="865"/>
              </a:spcBef>
              <a:buClr>
                <a:srgbClr val="40458B"/>
              </a:buClr>
              <a:buAutoNum type="arabicPeriod"/>
              <a:tabLst>
                <a:tab pos="469265" algn="l"/>
              </a:tabLst>
            </a:pPr>
            <a:r>
              <a:rPr dirty="0" sz="2400">
                <a:solidFill>
                  <a:srgbClr val="E14B04"/>
                </a:solidFill>
                <a:latin typeface="黑体"/>
                <a:cs typeface="黑体"/>
              </a:rPr>
              <a:t>下面介绍17种Cache</a:t>
            </a:r>
            <a:r>
              <a:rPr dirty="0" sz="2400" spc="-15">
                <a:solidFill>
                  <a:srgbClr val="E14B04"/>
                </a:solidFill>
                <a:latin typeface="黑体"/>
                <a:cs typeface="黑体"/>
              </a:rPr>
              <a:t>优化技术</a:t>
            </a:r>
            <a:endParaRPr sz="2400">
              <a:latin typeface="黑体"/>
              <a:cs typeface="黑体"/>
            </a:endParaRPr>
          </a:p>
          <a:p>
            <a:pPr marL="1726564" indent="-456565">
              <a:lnSpc>
                <a:spcPct val="100000"/>
              </a:lnSpc>
              <a:spcBef>
                <a:spcPts val="775"/>
              </a:spcBef>
              <a:buClr>
                <a:srgbClr val="4668F5"/>
              </a:buClr>
              <a:buSzPct val="60000"/>
              <a:buFont typeface="Wingdings"/>
              <a:buChar char=""/>
              <a:tabLst>
                <a:tab pos="1726564" algn="l"/>
              </a:tabLst>
            </a:pPr>
            <a:r>
              <a:rPr dirty="0" sz="2000" spc="-10" b="1">
                <a:solidFill>
                  <a:srgbClr val="D50092"/>
                </a:solidFill>
                <a:latin typeface="宋体"/>
                <a:cs typeface="宋体"/>
              </a:rPr>
              <a:t>8种</a:t>
            </a:r>
            <a:r>
              <a:rPr dirty="0" sz="2000" spc="-20" b="1">
                <a:solidFill>
                  <a:srgbClr val="00AFEF"/>
                </a:solidFill>
                <a:latin typeface="宋体"/>
                <a:cs typeface="宋体"/>
              </a:rPr>
              <a:t>用于降低不命中率</a:t>
            </a:r>
            <a:endParaRPr sz="2000">
              <a:latin typeface="宋体"/>
              <a:cs typeface="宋体"/>
            </a:endParaRPr>
          </a:p>
          <a:p>
            <a:pPr marL="1726564" indent="-456565">
              <a:lnSpc>
                <a:spcPct val="100000"/>
              </a:lnSpc>
              <a:spcBef>
                <a:spcPts val="720"/>
              </a:spcBef>
              <a:buClr>
                <a:srgbClr val="4668F5"/>
              </a:buClr>
              <a:buSzPct val="60000"/>
              <a:buFont typeface="Wingdings"/>
              <a:buChar char=""/>
              <a:tabLst>
                <a:tab pos="1726564" algn="l"/>
              </a:tabLst>
            </a:pPr>
            <a:r>
              <a:rPr dirty="0" sz="2000" spc="-10" b="1">
                <a:solidFill>
                  <a:srgbClr val="D50092"/>
                </a:solidFill>
                <a:latin typeface="宋体"/>
                <a:cs typeface="宋体"/>
              </a:rPr>
              <a:t>5种</a:t>
            </a:r>
            <a:r>
              <a:rPr dirty="0" sz="2000" spc="-15" b="1">
                <a:solidFill>
                  <a:srgbClr val="00AFEF"/>
                </a:solidFill>
                <a:latin typeface="宋体"/>
                <a:cs typeface="宋体"/>
              </a:rPr>
              <a:t>用于减少不命中开销</a:t>
            </a:r>
            <a:endParaRPr sz="2000">
              <a:latin typeface="宋体"/>
              <a:cs typeface="宋体"/>
            </a:endParaRPr>
          </a:p>
          <a:p>
            <a:pPr marL="1726564" indent="-456565">
              <a:lnSpc>
                <a:spcPct val="100000"/>
              </a:lnSpc>
              <a:spcBef>
                <a:spcPts val="720"/>
              </a:spcBef>
              <a:buClr>
                <a:srgbClr val="4668F5"/>
              </a:buClr>
              <a:buSzPct val="60000"/>
              <a:buFont typeface="Wingdings"/>
              <a:buChar char=""/>
              <a:tabLst>
                <a:tab pos="1726564" algn="l"/>
              </a:tabLst>
            </a:pPr>
            <a:r>
              <a:rPr dirty="0" sz="2000" b="1">
                <a:solidFill>
                  <a:srgbClr val="D50092"/>
                </a:solidFill>
                <a:latin typeface="宋体"/>
                <a:cs typeface="宋体"/>
              </a:rPr>
              <a:t>4</a:t>
            </a:r>
            <a:r>
              <a:rPr dirty="0" sz="2000" spc="-15" b="1">
                <a:solidFill>
                  <a:srgbClr val="D50092"/>
                </a:solidFill>
                <a:latin typeface="宋体"/>
                <a:cs typeface="宋体"/>
              </a:rPr>
              <a:t>种</a:t>
            </a:r>
            <a:r>
              <a:rPr dirty="0" sz="2000" spc="-20" b="1">
                <a:solidFill>
                  <a:srgbClr val="00AFEF"/>
                </a:solidFill>
                <a:latin typeface="宋体"/>
                <a:cs typeface="宋体"/>
              </a:rPr>
              <a:t>用于减少命中时间</a:t>
            </a:r>
            <a:endParaRPr sz="2000">
              <a:latin typeface="宋体"/>
              <a:cs typeface="宋体"/>
            </a:endParaRPr>
          </a:p>
        </p:txBody>
      </p:sp>
      <p:sp>
        <p:nvSpPr>
          <p:cNvPr id="10" name="object 10"/>
          <p:cNvSpPr txBox="1">
            <a:spLocks noGrp="1"/>
          </p:cNvSpPr>
          <p:nvPr>
            <p:ph type="title"/>
          </p:nvPr>
        </p:nvSpPr>
        <p:spPr>
          <a:xfrm>
            <a:off x="1926717" y="86613"/>
            <a:ext cx="3494404"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7.2.8</a:t>
            </a:r>
            <a:r>
              <a:rPr dirty="0" u="none" sz="2600" spc="5">
                <a:solidFill>
                  <a:srgbClr val="0000CC"/>
                </a:solidFill>
              </a:rPr>
              <a:t> 改进</a:t>
            </a:r>
            <a:r>
              <a:rPr dirty="0" u="none" sz="2600" spc="-10">
                <a:solidFill>
                  <a:srgbClr val="0000CC"/>
                </a:solidFill>
              </a:rPr>
              <a:t>Cache</a:t>
            </a:r>
            <a:r>
              <a:rPr dirty="0" u="none" sz="2600" spc="-20">
                <a:solidFill>
                  <a:srgbClr val="0000CC"/>
                </a:solidFill>
              </a:rPr>
              <a:t>的性能</a:t>
            </a:r>
            <a:endParaRPr sz="26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8186" y="603630"/>
            <a:ext cx="11978005" cy="5680075"/>
          </a:xfrm>
          <a:prstGeom prst="rect">
            <a:avLst/>
          </a:prstGeom>
        </p:spPr>
        <p:txBody>
          <a:bodyPr wrap="square" lIns="0" tIns="158750" rIns="0" bIns="0" rtlCol="0" vert="horz">
            <a:spAutoFit/>
          </a:bodyPr>
          <a:lstStyle/>
          <a:p>
            <a:pPr marL="469900" indent="-457200">
              <a:lnSpc>
                <a:spcPct val="100000"/>
              </a:lnSpc>
              <a:spcBef>
                <a:spcPts val="1250"/>
              </a:spcBef>
              <a:buClr>
                <a:srgbClr val="40458B"/>
              </a:buClr>
              <a:buFont typeface="Tahoma"/>
              <a:buAutoNum type="arabicPeriod"/>
              <a:tabLst>
                <a:tab pos="469900" algn="l"/>
              </a:tabLst>
            </a:pPr>
            <a:r>
              <a:rPr dirty="0" sz="2400" spc="-5">
                <a:solidFill>
                  <a:srgbClr val="E14B04"/>
                </a:solidFill>
                <a:latin typeface="黑体"/>
                <a:cs typeface="黑体"/>
              </a:rPr>
              <a:t>三种类型的不命中</a:t>
            </a:r>
            <a:r>
              <a:rPr dirty="0" sz="2400" spc="-20">
                <a:solidFill>
                  <a:srgbClr val="E14B04"/>
                </a:solidFill>
                <a:latin typeface="Tahoma"/>
                <a:cs typeface="Tahoma"/>
              </a:rPr>
              <a:t>(3</a:t>
            </a:r>
            <a:r>
              <a:rPr dirty="0" sz="2400" spc="-20">
                <a:solidFill>
                  <a:srgbClr val="E14B04"/>
                </a:solidFill>
                <a:latin typeface="黑体"/>
                <a:cs typeface="黑体"/>
              </a:rPr>
              <a:t>C</a:t>
            </a:r>
            <a:r>
              <a:rPr dirty="0" sz="2400" spc="-20">
                <a:solidFill>
                  <a:srgbClr val="E14B04"/>
                </a:solidFill>
                <a:latin typeface="Tahoma"/>
                <a:cs typeface="Tahoma"/>
              </a:rPr>
              <a:t>)</a:t>
            </a:r>
            <a:endParaRPr sz="2400">
              <a:latin typeface="Tahoma"/>
              <a:cs typeface="Tahoma"/>
            </a:endParaRPr>
          </a:p>
          <a:p>
            <a:pPr lvl="1" marL="1099185" indent="-457200">
              <a:lnSpc>
                <a:spcPct val="100000"/>
              </a:lnSpc>
              <a:spcBef>
                <a:spcPts val="1155"/>
              </a:spcBef>
              <a:buClr>
                <a:srgbClr val="40458B"/>
              </a:buClr>
              <a:buSzPct val="89583"/>
              <a:buFont typeface="Wingdings"/>
              <a:buChar char=""/>
              <a:tabLst>
                <a:tab pos="1099185" algn="l"/>
                <a:tab pos="4757420" algn="l"/>
              </a:tabLst>
            </a:pPr>
            <a:r>
              <a:rPr dirty="0" sz="2400">
                <a:solidFill>
                  <a:srgbClr val="FF0000"/>
                </a:solidFill>
                <a:latin typeface="黑体"/>
                <a:cs typeface="黑体"/>
              </a:rPr>
              <a:t>强制性不命</a:t>
            </a:r>
            <a:r>
              <a:rPr dirty="0" sz="2400" spc="-10">
                <a:solidFill>
                  <a:srgbClr val="FF0000"/>
                </a:solidFill>
                <a:latin typeface="黑体"/>
                <a:cs typeface="黑体"/>
              </a:rPr>
              <a:t>中</a:t>
            </a:r>
            <a:r>
              <a:rPr dirty="0" sz="2400" spc="-10">
                <a:solidFill>
                  <a:srgbClr val="40458B"/>
                </a:solidFill>
                <a:latin typeface="黑体"/>
                <a:cs typeface="黑体"/>
              </a:rPr>
              <a:t>(</a:t>
            </a:r>
            <a:r>
              <a:rPr dirty="0" sz="2400" spc="-10">
                <a:solidFill>
                  <a:srgbClr val="D50092"/>
                </a:solidFill>
                <a:latin typeface="黑体"/>
                <a:cs typeface="黑体"/>
              </a:rPr>
              <a:t>C</a:t>
            </a:r>
            <a:r>
              <a:rPr dirty="0" sz="2400" spc="-10">
                <a:solidFill>
                  <a:srgbClr val="40458B"/>
                </a:solidFill>
                <a:latin typeface="黑体"/>
                <a:cs typeface="黑体"/>
              </a:rPr>
              <a:t>ompulsory</a:t>
            </a:r>
            <a:r>
              <a:rPr dirty="0" sz="2400">
                <a:solidFill>
                  <a:srgbClr val="40458B"/>
                </a:solidFill>
                <a:latin typeface="黑体"/>
                <a:cs typeface="黑体"/>
              </a:rPr>
              <a:t>	</a:t>
            </a:r>
            <a:r>
              <a:rPr dirty="0" sz="2400" spc="-10">
                <a:solidFill>
                  <a:srgbClr val="40458B"/>
                </a:solidFill>
                <a:latin typeface="黑体"/>
                <a:cs typeface="黑体"/>
              </a:rPr>
              <a:t>miss)</a:t>
            </a:r>
            <a:endParaRPr sz="2400">
              <a:latin typeface="黑体"/>
              <a:cs typeface="黑体"/>
            </a:endParaRPr>
          </a:p>
          <a:p>
            <a:pPr lvl="2" marL="1727200" indent="-457200">
              <a:lnSpc>
                <a:spcPct val="100000"/>
              </a:lnSpc>
              <a:spcBef>
                <a:spcPts val="1019"/>
              </a:spcBef>
              <a:buClr>
                <a:srgbClr val="4668F5"/>
              </a:buClr>
              <a:buSzPct val="60000"/>
              <a:buFont typeface="Wingdings"/>
              <a:buChar char=""/>
              <a:tabLst>
                <a:tab pos="1727200" algn="l"/>
              </a:tabLst>
            </a:pPr>
            <a:r>
              <a:rPr dirty="0" sz="2000" spc="-20" b="1">
                <a:solidFill>
                  <a:srgbClr val="00AFEF"/>
                </a:solidFill>
                <a:latin typeface="宋体"/>
                <a:cs typeface="宋体"/>
              </a:rPr>
              <a:t>当第一次访问一个块时，该块不在</a:t>
            </a:r>
            <a:r>
              <a:rPr dirty="0" sz="2000" spc="-10" b="1">
                <a:solidFill>
                  <a:srgbClr val="00AFEF"/>
                </a:solidFill>
                <a:latin typeface="宋体"/>
                <a:cs typeface="宋体"/>
              </a:rPr>
              <a:t>Cache</a:t>
            </a:r>
            <a:r>
              <a:rPr dirty="0" sz="2000" spc="-20" b="1">
                <a:solidFill>
                  <a:srgbClr val="00AFEF"/>
                </a:solidFill>
                <a:latin typeface="宋体"/>
                <a:cs typeface="宋体"/>
              </a:rPr>
              <a:t>中，需从下一级存储器中调入</a:t>
            </a:r>
            <a:r>
              <a:rPr dirty="0" sz="2000" spc="-10" b="1">
                <a:solidFill>
                  <a:srgbClr val="00AFEF"/>
                </a:solidFill>
                <a:latin typeface="宋体"/>
                <a:cs typeface="宋体"/>
              </a:rPr>
              <a:t>Cache</a:t>
            </a:r>
            <a:r>
              <a:rPr dirty="0" sz="2000" spc="-20" b="1">
                <a:solidFill>
                  <a:srgbClr val="00AFEF"/>
                </a:solidFill>
                <a:latin typeface="宋体"/>
                <a:cs typeface="宋体"/>
              </a:rPr>
              <a:t>，这就是强制性</a:t>
            </a:r>
            <a:endParaRPr sz="2000">
              <a:latin typeface="宋体"/>
              <a:cs typeface="宋体"/>
            </a:endParaRPr>
          </a:p>
          <a:p>
            <a:pPr marL="1727200">
              <a:lnSpc>
                <a:spcPct val="100000"/>
              </a:lnSpc>
              <a:spcBef>
                <a:spcPts val="484"/>
              </a:spcBef>
              <a:tabLst>
                <a:tab pos="3007360" algn="l"/>
              </a:tabLst>
            </a:pPr>
            <a:r>
              <a:rPr dirty="0" sz="2000" spc="-10" b="1">
                <a:solidFill>
                  <a:srgbClr val="00AFEF"/>
                </a:solidFill>
                <a:latin typeface="宋体"/>
                <a:cs typeface="宋体"/>
              </a:rPr>
              <a:t>不命中</a:t>
            </a:r>
            <a:r>
              <a:rPr dirty="0" sz="2000" spc="-50" b="1">
                <a:solidFill>
                  <a:srgbClr val="00AFEF"/>
                </a:solidFill>
                <a:latin typeface="宋体"/>
                <a:cs typeface="宋体"/>
              </a:rPr>
              <a:t>。</a:t>
            </a:r>
            <a:r>
              <a:rPr dirty="0" sz="2000" b="1">
                <a:solidFill>
                  <a:srgbClr val="00AFEF"/>
                </a:solidFill>
                <a:latin typeface="宋体"/>
                <a:cs typeface="宋体"/>
              </a:rPr>
              <a:t>	</a:t>
            </a:r>
            <a:r>
              <a:rPr dirty="0" sz="2000" spc="-10" b="1">
                <a:solidFill>
                  <a:srgbClr val="00AFEF"/>
                </a:solidFill>
                <a:latin typeface="宋体"/>
                <a:cs typeface="宋体"/>
              </a:rPr>
              <a:t>(冷启动不命中，首</a:t>
            </a:r>
            <a:r>
              <a:rPr dirty="0" sz="2000" spc="-20" b="1">
                <a:solidFill>
                  <a:srgbClr val="00AFEF"/>
                </a:solidFill>
                <a:latin typeface="宋体"/>
                <a:cs typeface="宋体"/>
              </a:rPr>
              <a:t>次</a:t>
            </a:r>
            <a:r>
              <a:rPr dirty="0" sz="2000" spc="-10" b="1">
                <a:solidFill>
                  <a:srgbClr val="00AFEF"/>
                </a:solidFill>
                <a:latin typeface="宋体"/>
                <a:cs typeface="宋体"/>
              </a:rPr>
              <a:t>访问</a:t>
            </a:r>
            <a:r>
              <a:rPr dirty="0" sz="2000" spc="-20" b="1">
                <a:solidFill>
                  <a:srgbClr val="00AFEF"/>
                </a:solidFill>
                <a:latin typeface="宋体"/>
                <a:cs typeface="宋体"/>
              </a:rPr>
              <a:t>不</a:t>
            </a:r>
            <a:r>
              <a:rPr dirty="0" sz="2000" spc="-10" b="1">
                <a:solidFill>
                  <a:srgbClr val="00AFEF"/>
                </a:solidFill>
                <a:latin typeface="宋体"/>
                <a:cs typeface="宋体"/>
              </a:rPr>
              <a:t>命中</a:t>
            </a:r>
            <a:r>
              <a:rPr dirty="0" sz="2000" spc="-50" b="1">
                <a:solidFill>
                  <a:srgbClr val="00AFEF"/>
                </a:solidFill>
                <a:latin typeface="宋体"/>
                <a:cs typeface="宋体"/>
              </a:rPr>
              <a:t>）</a:t>
            </a:r>
            <a:endParaRPr sz="2000">
              <a:latin typeface="宋体"/>
              <a:cs typeface="宋体"/>
            </a:endParaRPr>
          </a:p>
          <a:p>
            <a:pPr lvl="1" marL="1099185" indent="-457200">
              <a:lnSpc>
                <a:spcPct val="100000"/>
              </a:lnSpc>
              <a:spcBef>
                <a:spcPts val="1085"/>
              </a:spcBef>
              <a:buClr>
                <a:srgbClr val="40458B"/>
              </a:buClr>
              <a:buSzPct val="89583"/>
              <a:buFont typeface="Wingdings"/>
              <a:buChar char=""/>
              <a:tabLst>
                <a:tab pos="1099185" algn="l"/>
              </a:tabLst>
            </a:pPr>
            <a:r>
              <a:rPr dirty="0" sz="2400" spc="-5">
                <a:solidFill>
                  <a:srgbClr val="FF0000"/>
                </a:solidFill>
                <a:latin typeface="黑体"/>
                <a:cs typeface="黑体"/>
              </a:rPr>
              <a:t>容量不命中</a:t>
            </a:r>
            <a:r>
              <a:rPr dirty="0" sz="2400">
                <a:solidFill>
                  <a:srgbClr val="40458B"/>
                </a:solidFill>
                <a:latin typeface="黑体"/>
                <a:cs typeface="黑体"/>
              </a:rPr>
              <a:t>(</a:t>
            </a:r>
            <a:r>
              <a:rPr dirty="0" sz="2400">
                <a:solidFill>
                  <a:srgbClr val="D50092"/>
                </a:solidFill>
                <a:latin typeface="黑体"/>
                <a:cs typeface="黑体"/>
              </a:rPr>
              <a:t>C</a:t>
            </a:r>
            <a:r>
              <a:rPr dirty="0" sz="2400">
                <a:solidFill>
                  <a:srgbClr val="40458B"/>
                </a:solidFill>
                <a:latin typeface="黑体"/>
                <a:cs typeface="黑体"/>
              </a:rPr>
              <a:t>apacity miss</a:t>
            </a:r>
            <a:r>
              <a:rPr dirty="0" sz="2400" spc="-25">
                <a:solidFill>
                  <a:srgbClr val="40458B"/>
                </a:solidFill>
                <a:latin typeface="黑体"/>
                <a:cs typeface="黑体"/>
              </a:rPr>
              <a:t> )</a:t>
            </a:r>
            <a:endParaRPr sz="2400">
              <a:latin typeface="黑体"/>
              <a:cs typeface="黑体"/>
            </a:endParaRPr>
          </a:p>
          <a:p>
            <a:pPr lvl="2" marL="1727200" indent="-457200">
              <a:lnSpc>
                <a:spcPct val="100000"/>
              </a:lnSpc>
              <a:spcBef>
                <a:spcPts val="1025"/>
              </a:spcBef>
              <a:buClr>
                <a:srgbClr val="4668F5"/>
              </a:buClr>
              <a:buSzPct val="60000"/>
              <a:buFont typeface="Wingdings"/>
              <a:buChar char=""/>
              <a:tabLst>
                <a:tab pos="1727200" algn="l"/>
              </a:tabLst>
            </a:pPr>
            <a:r>
              <a:rPr dirty="0" sz="2000" spc="-25" b="1">
                <a:solidFill>
                  <a:srgbClr val="00AFEF"/>
                </a:solidFill>
                <a:latin typeface="宋体"/>
                <a:cs typeface="宋体"/>
              </a:rPr>
              <a:t>如果程序执行时所需的块不能全部调入</a:t>
            </a:r>
            <a:r>
              <a:rPr dirty="0" sz="2000" spc="-10" b="1">
                <a:solidFill>
                  <a:srgbClr val="00AFEF"/>
                </a:solidFill>
                <a:latin typeface="宋体"/>
                <a:cs typeface="宋体"/>
              </a:rPr>
              <a:t>Cache</a:t>
            </a:r>
            <a:r>
              <a:rPr dirty="0" sz="2000" spc="-20" b="1">
                <a:solidFill>
                  <a:srgbClr val="00AFEF"/>
                </a:solidFill>
                <a:latin typeface="宋体"/>
                <a:cs typeface="宋体"/>
              </a:rPr>
              <a:t>中，则当某些块被替换后，若又</a:t>
            </a:r>
            <a:r>
              <a:rPr dirty="0" sz="2000" spc="-20" b="1">
                <a:solidFill>
                  <a:srgbClr val="C00000"/>
                </a:solidFill>
                <a:latin typeface="宋体"/>
                <a:cs typeface="宋体"/>
              </a:rPr>
              <a:t>重新</a:t>
            </a:r>
            <a:r>
              <a:rPr dirty="0" sz="2000" spc="-30" b="1">
                <a:solidFill>
                  <a:srgbClr val="00AFEF"/>
                </a:solidFill>
                <a:latin typeface="宋体"/>
                <a:cs typeface="宋体"/>
              </a:rPr>
              <a:t>被访问，</a:t>
            </a:r>
            <a:endParaRPr sz="2000">
              <a:latin typeface="宋体"/>
              <a:cs typeface="宋体"/>
            </a:endParaRPr>
          </a:p>
          <a:p>
            <a:pPr marL="1727200">
              <a:lnSpc>
                <a:spcPct val="100000"/>
              </a:lnSpc>
              <a:spcBef>
                <a:spcPts val="484"/>
              </a:spcBef>
            </a:pPr>
            <a:r>
              <a:rPr dirty="0" sz="2000" spc="-25" b="1">
                <a:solidFill>
                  <a:srgbClr val="00AFEF"/>
                </a:solidFill>
                <a:latin typeface="宋体"/>
                <a:cs typeface="宋体"/>
              </a:rPr>
              <a:t>就会发生不命中。这种不命中称为容量不命中。</a:t>
            </a:r>
            <a:endParaRPr sz="2000">
              <a:latin typeface="宋体"/>
              <a:cs typeface="宋体"/>
            </a:endParaRPr>
          </a:p>
          <a:p>
            <a:pPr lvl="1" marL="1099185" indent="-457200">
              <a:lnSpc>
                <a:spcPct val="100000"/>
              </a:lnSpc>
              <a:spcBef>
                <a:spcPts val="1085"/>
              </a:spcBef>
              <a:buClr>
                <a:srgbClr val="40458B"/>
              </a:buClr>
              <a:buSzPct val="89583"/>
              <a:buFont typeface="Wingdings"/>
              <a:buChar char=""/>
              <a:tabLst>
                <a:tab pos="1099185" algn="l"/>
              </a:tabLst>
            </a:pPr>
            <a:r>
              <a:rPr dirty="0" sz="2400" spc="-5">
                <a:solidFill>
                  <a:srgbClr val="FF0000"/>
                </a:solidFill>
                <a:latin typeface="黑体"/>
                <a:cs typeface="黑体"/>
              </a:rPr>
              <a:t>冲突不命中</a:t>
            </a:r>
            <a:r>
              <a:rPr dirty="0" sz="2400">
                <a:solidFill>
                  <a:srgbClr val="40458B"/>
                </a:solidFill>
                <a:latin typeface="黑体"/>
                <a:cs typeface="黑体"/>
              </a:rPr>
              <a:t>(</a:t>
            </a:r>
            <a:r>
              <a:rPr dirty="0" sz="2400">
                <a:solidFill>
                  <a:srgbClr val="D50092"/>
                </a:solidFill>
                <a:latin typeface="黑体"/>
                <a:cs typeface="黑体"/>
              </a:rPr>
              <a:t>C</a:t>
            </a:r>
            <a:r>
              <a:rPr dirty="0" sz="2400">
                <a:solidFill>
                  <a:srgbClr val="40458B"/>
                </a:solidFill>
                <a:latin typeface="黑体"/>
                <a:cs typeface="黑体"/>
              </a:rPr>
              <a:t>onflict</a:t>
            </a:r>
            <a:r>
              <a:rPr dirty="0" sz="2400" spc="-5">
                <a:solidFill>
                  <a:srgbClr val="40458B"/>
                </a:solidFill>
                <a:latin typeface="黑体"/>
                <a:cs typeface="黑体"/>
              </a:rPr>
              <a:t> </a:t>
            </a:r>
            <a:r>
              <a:rPr dirty="0" sz="2400" spc="-10">
                <a:solidFill>
                  <a:srgbClr val="40458B"/>
                </a:solidFill>
                <a:latin typeface="黑体"/>
                <a:cs typeface="黑体"/>
              </a:rPr>
              <a:t>miss)</a:t>
            </a:r>
            <a:endParaRPr sz="2400">
              <a:latin typeface="黑体"/>
              <a:cs typeface="黑体"/>
            </a:endParaRPr>
          </a:p>
          <a:p>
            <a:pPr lvl="2" marL="1727200" indent="-457200">
              <a:lnSpc>
                <a:spcPct val="100000"/>
              </a:lnSpc>
              <a:spcBef>
                <a:spcPts val="1025"/>
              </a:spcBef>
              <a:buClr>
                <a:srgbClr val="4668F5"/>
              </a:buClr>
              <a:buSzPct val="60000"/>
              <a:buFont typeface="Wingdings"/>
              <a:buChar char=""/>
              <a:tabLst>
                <a:tab pos="1727200" algn="l"/>
              </a:tabLst>
            </a:pPr>
            <a:r>
              <a:rPr dirty="0" sz="2000" spc="-20" b="1">
                <a:solidFill>
                  <a:srgbClr val="00AFEF"/>
                </a:solidFill>
                <a:latin typeface="宋体"/>
                <a:cs typeface="宋体"/>
              </a:rPr>
              <a:t>与前两种不同</a:t>
            </a:r>
            <a:endParaRPr sz="2000">
              <a:latin typeface="宋体"/>
              <a:cs typeface="宋体"/>
            </a:endParaRPr>
          </a:p>
          <a:p>
            <a:pPr lvl="2" marL="1727200" marR="15875" indent="-457200">
              <a:lnSpc>
                <a:spcPct val="120000"/>
              </a:lnSpc>
              <a:spcBef>
                <a:spcPts val="484"/>
              </a:spcBef>
              <a:buClr>
                <a:srgbClr val="4668F5"/>
              </a:buClr>
              <a:buSzPct val="60000"/>
              <a:buFont typeface="Wingdings"/>
              <a:buChar char=""/>
              <a:tabLst>
                <a:tab pos="1727200" algn="l"/>
              </a:tabLst>
            </a:pPr>
            <a:r>
              <a:rPr dirty="0" sz="2000" spc="-10" b="1">
                <a:solidFill>
                  <a:srgbClr val="00AFEF"/>
                </a:solidFill>
                <a:latin typeface="宋体"/>
                <a:cs typeface="宋体"/>
              </a:rPr>
              <a:t>在组相联或直接映象Cache</a:t>
            </a:r>
            <a:r>
              <a:rPr dirty="0" sz="2000" spc="-20" b="1">
                <a:solidFill>
                  <a:srgbClr val="00AFEF"/>
                </a:solidFill>
                <a:latin typeface="宋体"/>
                <a:cs typeface="宋体"/>
              </a:rPr>
              <a:t>中，若太多的块映象到同一组(块)中，则会出现该组中某个块被别的块替换(即使别的组或块有空闲位置)，然后又被重新访问的情况，这就是发生了冲突不命</a:t>
            </a:r>
            <a:r>
              <a:rPr dirty="0" sz="2000" spc="-10" b="1">
                <a:solidFill>
                  <a:srgbClr val="00AFEF"/>
                </a:solidFill>
                <a:latin typeface="宋体"/>
                <a:cs typeface="宋体"/>
              </a:rPr>
              <a:t>中。</a:t>
            </a:r>
            <a:endParaRPr sz="2000">
              <a:latin typeface="宋体"/>
              <a:cs typeface="宋体"/>
            </a:endParaRPr>
          </a:p>
          <a:p>
            <a:pPr marL="2170430">
              <a:lnSpc>
                <a:spcPct val="100000"/>
              </a:lnSpc>
              <a:spcBef>
                <a:spcPts val="960"/>
              </a:spcBef>
            </a:pPr>
            <a:r>
              <a:rPr dirty="0" sz="2000" spc="-25" b="1">
                <a:solidFill>
                  <a:srgbClr val="00AFEF"/>
                </a:solidFill>
                <a:latin typeface="宋体"/>
                <a:cs typeface="宋体"/>
              </a:rPr>
              <a:t>(碰撞不命中，干扰不命中)</a:t>
            </a:r>
            <a:endParaRPr sz="2000">
              <a:latin typeface="宋体"/>
              <a:cs typeface="宋体"/>
            </a:endParaRPr>
          </a:p>
        </p:txBody>
      </p:sp>
      <p:sp>
        <p:nvSpPr>
          <p:cNvPr id="10" name="object 10"/>
          <p:cNvSpPr txBox="1">
            <a:spLocks noGrp="1"/>
          </p:cNvSpPr>
          <p:nvPr>
            <p:ph type="title"/>
          </p:nvPr>
        </p:nvSpPr>
        <p:spPr>
          <a:xfrm>
            <a:off x="1782317" y="57734"/>
            <a:ext cx="3494404"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7.3 降低</a:t>
            </a:r>
            <a:r>
              <a:rPr dirty="0" u="none" sz="2600" spc="-10">
                <a:solidFill>
                  <a:srgbClr val="0000CC"/>
                </a:solidFill>
              </a:rPr>
              <a:t>Cache</a:t>
            </a:r>
            <a:r>
              <a:rPr dirty="0" u="none" sz="2600" spc="-20">
                <a:solidFill>
                  <a:srgbClr val="0000CC"/>
                </a:solidFill>
              </a:rPr>
              <a:t>不命中率</a:t>
            </a:r>
            <a:endParaRPr sz="2600"/>
          </a:p>
        </p:txBody>
      </p:sp>
      <p:sp>
        <p:nvSpPr>
          <p:cNvPr id="11" name="object 11" descr=""/>
          <p:cNvSpPr txBox="1"/>
          <p:nvPr/>
        </p:nvSpPr>
        <p:spPr>
          <a:xfrm>
            <a:off x="6607302" y="61340"/>
            <a:ext cx="366077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7.3.1</a:t>
            </a:r>
            <a:r>
              <a:rPr dirty="0" sz="2600" spc="-15">
                <a:solidFill>
                  <a:srgbClr val="0000CC"/>
                </a:solidFill>
                <a:latin typeface="黑体"/>
                <a:cs typeface="黑体"/>
              </a:rPr>
              <a:t> 三种类型的不命中</a:t>
            </a:r>
            <a:endParaRPr sz="2600">
              <a:latin typeface="黑体"/>
              <a:cs typeface="黑体"/>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69/170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289966" y="748030"/>
            <a:ext cx="3987800" cy="4674235"/>
          </a:xfrm>
          <a:prstGeom prst="rect">
            <a:avLst/>
          </a:prstGeom>
        </p:spPr>
        <p:txBody>
          <a:bodyPr wrap="square" lIns="0" tIns="158750" rIns="0" bIns="0" rtlCol="0" vert="horz">
            <a:spAutoFit/>
          </a:bodyPr>
          <a:lstStyle/>
          <a:p>
            <a:pPr marL="843915" indent="-457200">
              <a:lnSpc>
                <a:spcPct val="100000"/>
              </a:lnSpc>
              <a:spcBef>
                <a:spcPts val="1250"/>
              </a:spcBef>
              <a:buClr>
                <a:srgbClr val="40458B"/>
              </a:buClr>
              <a:buFont typeface="Tahoma"/>
              <a:buAutoNum type="arabicPeriod" startAt="2"/>
              <a:tabLst>
                <a:tab pos="843915" algn="l"/>
              </a:tabLst>
            </a:pPr>
            <a:r>
              <a:rPr dirty="0" sz="2400" spc="-5">
                <a:solidFill>
                  <a:srgbClr val="E14B04"/>
                </a:solidFill>
                <a:latin typeface="黑体"/>
                <a:cs typeface="黑体"/>
              </a:rPr>
              <a:t>三种不命中所占的比例</a:t>
            </a:r>
            <a:endParaRPr sz="2400">
              <a:latin typeface="黑体"/>
              <a:cs typeface="黑体"/>
            </a:endParaRPr>
          </a:p>
          <a:p>
            <a:pPr lvl="1" marL="1473835" indent="-457200">
              <a:lnSpc>
                <a:spcPct val="100000"/>
              </a:lnSpc>
              <a:spcBef>
                <a:spcPts val="1150"/>
              </a:spcBef>
              <a:buClr>
                <a:srgbClr val="40458B"/>
              </a:buClr>
              <a:buSzPct val="89583"/>
              <a:buFont typeface="Wingdings"/>
              <a:buChar char=""/>
              <a:tabLst>
                <a:tab pos="1473835" algn="l"/>
              </a:tabLst>
            </a:pPr>
            <a:r>
              <a:rPr dirty="0" sz="2400">
                <a:solidFill>
                  <a:srgbClr val="8185C5"/>
                </a:solidFill>
                <a:latin typeface="黑体"/>
                <a:cs typeface="黑体"/>
              </a:rPr>
              <a:t>图示I(</a:t>
            </a:r>
            <a:r>
              <a:rPr dirty="0" sz="2400" spc="-15">
                <a:solidFill>
                  <a:srgbClr val="8185C5"/>
                </a:solidFill>
                <a:latin typeface="黑体"/>
                <a:cs typeface="黑体"/>
              </a:rPr>
              <a:t>绝对值)</a:t>
            </a:r>
            <a:endParaRPr sz="2400">
              <a:latin typeface="黑体"/>
              <a:cs typeface="黑体"/>
            </a:endParaRPr>
          </a:p>
          <a:p>
            <a:pPr lvl="1" marL="1473835" indent="-457200">
              <a:lnSpc>
                <a:spcPct val="100000"/>
              </a:lnSpc>
              <a:spcBef>
                <a:spcPts val="1155"/>
              </a:spcBef>
              <a:buClr>
                <a:srgbClr val="40458B"/>
              </a:buClr>
              <a:buSzPct val="89583"/>
              <a:buFont typeface="Wingdings"/>
              <a:buChar char=""/>
              <a:tabLst>
                <a:tab pos="1473835" algn="l"/>
              </a:tabLst>
            </a:pPr>
            <a:r>
              <a:rPr dirty="0" sz="2400" spc="-20">
                <a:solidFill>
                  <a:srgbClr val="8185C5"/>
                </a:solidFill>
                <a:latin typeface="黑体"/>
                <a:cs typeface="黑体"/>
              </a:rPr>
              <a:t>图示Ⅱ(相对值)</a:t>
            </a:r>
            <a:endParaRPr sz="2400">
              <a:latin typeface="黑体"/>
              <a:cs typeface="黑体"/>
            </a:endParaRPr>
          </a:p>
          <a:p>
            <a:pPr>
              <a:lnSpc>
                <a:spcPct val="100000"/>
              </a:lnSpc>
              <a:spcBef>
                <a:spcPts val="1800"/>
              </a:spcBef>
            </a:pPr>
            <a:endParaRPr sz="2400">
              <a:latin typeface="黑体"/>
              <a:cs typeface="黑体"/>
            </a:endParaRPr>
          </a:p>
          <a:p>
            <a:pPr marL="12700" marR="1224280">
              <a:lnSpc>
                <a:spcPct val="140000"/>
              </a:lnSpc>
            </a:pPr>
            <a:r>
              <a:rPr dirty="0" sz="2400" spc="-10">
                <a:solidFill>
                  <a:srgbClr val="E14B04"/>
                </a:solidFill>
                <a:latin typeface="黑体"/>
                <a:cs typeface="黑体"/>
              </a:rPr>
              <a:t>相同容量下的区别？</a:t>
            </a:r>
            <a:r>
              <a:rPr dirty="0" sz="2400" spc="-15">
                <a:solidFill>
                  <a:srgbClr val="E14B04"/>
                </a:solidFill>
                <a:latin typeface="黑体"/>
                <a:cs typeface="黑体"/>
              </a:rPr>
              <a:t>相联度越高？冲突？</a:t>
            </a:r>
            <a:endParaRPr sz="2400">
              <a:latin typeface="黑体"/>
              <a:cs typeface="黑体"/>
            </a:endParaRPr>
          </a:p>
          <a:p>
            <a:pPr marL="12700" marR="5080">
              <a:lnSpc>
                <a:spcPct val="120000"/>
              </a:lnSpc>
              <a:spcBef>
                <a:spcPts val="580"/>
              </a:spcBef>
            </a:pPr>
            <a:r>
              <a:rPr dirty="0" sz="2400" spc="-5">
                <a:solidFill>
                  <a:srgbClr val="E14B04"/>
                </a:solidFill>
                <a:latin typeface="黑体"/>
                <a:cs typeface="黑体"/>
              </a:rPr>
              <a:t>强制性失效与相联度、容量的</a:t>
            </a:r>
            <a:r>
              <a:rPr dirty="0" sz="2400" spc="-20">
                <a:solidFill>
                  <a:srgbClr val="E14B04"/>
                </a:solidFill>
                <a:latin typeface="黑体"/>
                <a:cs typeface="黑体"/>
              </a:rPr>
              <a:t>关系？</a:t>
            </a:r>
            <a:endParaRPr sz="2400">
              <a:latin typeface="黑体"/>
              <a:cs typeface="黑体"/>
            </a:endParaRPr>
          </a:p>
          <a:p>
            <a:pPr marL="12700">
              <a:lnSpc>
                <a:spcPct val="100000"/>
              </a:lnSpc>
              <a:spcBef>
                <a:spcPts val="1150"/>
              </a:spcBef>
            </a:pPr>
            <a:r>
              <a:rPr dirty="0" sz="2400" spc="-15">
                <a:solidFill>
                  <a:srgbClr val="E14B04"/>
                </a:solidFill>
                <a:latin typeface="黑体"/>
                <a:cs typeface="黑体"/>
              </a:rPr>
              <a:t>容量失效与容量的关系？</a:t>
            </a:r>
            <a:endParaRPr sz="2400">
              <a:latin typeface="黑体"/>
              <a:cs typeface="黑体"/>
            </a:endParaRPr>
          </a:p>
        </p:txBody>
      </p:sp>
      <p:pic>
        <p:nvPicPr>
          <p:cNvPr id="9" name="object 9"/>
          <p:cNvPicPr/>
          <p:nvPr/>
        </p:nvPicPr>
        <p:blipFill>
          <a:blip r:embed="rId3" cstate="print"/>
          <a:stretch>
            <a:fillRect/>
          </a:stretch>
        </p:blipFill>
        <p:spPr>
          <a:xfrm>
            <a:off x="4408551" y="1143000"/>
            <a:ext cx="7589774" cy="4321175"/>
          </a:xfrm>
          <a:prstGeom prst="rect">
            <a:avLst/>
          </a:prstGeom>
        </p:spPr>
      </p:pic>
      <p:sp>
        <p:nvSpPr>
          <p:cNvPr id="10" name="object 10"/>
          <p:cNvSpPr txBox="1">
            <a:spLocks noGrp="1"/>
          </p:cNvSpPr>
          <p:nvPr>
            <p:ph type="title"/>
          </p:nvPr>
        </p:nvSpPr>
        <p:spPr>
          <a:prstGeom prst="rect"/>
        </p:spPr>
        <p:txBody>
          <a:bodyPr wrap="square" lIns="0" tIns="101650" rIns="0" bIns="0" rtlCol="0" vert="horz">
            <a:spAutoFit/>
          </a:bodyPr>
          <a:lstStyle/>
          <a:p>
            <a:pPr marL="12700">
              <a:lnSpc>
                <a:spcPct val="100000"/>
              </a:lnSpc>
              <a:spcBef>
                <a:spcPts val="100"/>
              </a:spcBef>
              <a:tabLst>
                <a:tab pos="10648315" algn="l"/>
              </a:tabLst>
            </a:pPr>
            <a:r>
              <a:rPr dirty="0" sz="2600" spc="580">
                <a:solidFill>
                  <a:srgbClr val="0000CC"/>
                </a:solidFill>
              </a:rPr>
              <a:t> </a:t>
            </a:r>
            <a:r>
              <a:rPr dirty="0" sz="2600">
                <a:solidFill>
                  <a:srgbClr val="0000CC"/>
                </a:solidFill>
              </a:rPr>
              <a:t>7.3.1</a:t>
            </a:r>
            <a:r>
              <a:rPr dirty="0" sz="2600" spc="-10">
                <a:solidFill>
                  <a:srgbClr val="0000CC"/>
                </a:solidFill>
              </a:rPr>
              <a:t> </a:t>
            </a:r>
            <a:r>
              <a:rPr dirty="0" sz="2600">
                <a:solidFill>
                  <a:srgbClr val="0000CC"/>
                </a:solidFill>
              </a:rPr>
              <a:t>三种类型</a:t>
            </a:r>
            <a:r>
              <a:rPr dirty="0" sz="2600" spc="-15">
                <a:solidFill>
                  <a:srgbClr val="0000CC"/>
                </a:solidFill>
              </a:rPr>
              <a:t>的</a:t>
            </a:r>
            <a:r>
              <a:rPr dirty="0" sz="2600">
                <a:solidFill>
                  <a:srgbClr val="0000CC"/>
                </a:solidFill>
              </a:rPr>
              <a:t>不命</a:t>
            </a:r>
            <a:r>
              <a:rPr dirty="0" sz="2600" spc="-50">
                <a:solidFill>
                  <a:srgbClr val="0000CC"/>
                </a:solidFill>
              </a:rPr>
              <a:t>中</a:t>
            </a:r>
            <a:r>
              <a:rPr dirty="0" sz="2600">
                <a:solidFill>
                  <a:srgbClr val="0000CC"/>
                </a:solidFill>
              </a:rPr>
              <a:t>	</a:t>
            </a:r>
            <a:endParaRPr sz="2600"/>
          </a:p>
        </p:txBody>
      </p:sp>
      <p:sp>
        <p:nvSpPr>
          <p:cNvPr id="11" name="object 11" descr=""/>
          <p:cNvSpPr txBox="1"/>
          <p:nvPr/>
        </p:nvSpPr>
        <p:spPr>
          <a:xfrm>
            <a:off x="6600190" y="5812637"/>
            <a:ext cx="200723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8185C5"/>
                </a:solidFill>
                <a:latin typeface="黑体"/>
                <a:cs typeface="黑体"/>
              </a:rPr>
              <a:t>图示I(</a:t>
            </a:r>
            <a:r>
              <a:rPr dirty="0" sz="2400" spc="-15">
                <a:solidFill>
                  <a:srgbClr val="8185C5"/>
                </a:solidFill>
                <a:latin typeface="黑体"/>
                <a:cs typeface="黑体"/>
              </a:rPr>
              <a:t>绝对值)</a:t>
            </a:r>
            <a:endParaRPr sz="2400">
              <a:latin typeface="黑体"/>
              <a:cs typeface="黑体"/>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70/170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240588" y="1195831"/>
            <a:ext cx="3531235" cy="1562100"/>
          </a:xfrm>
          <a:prstGeom prst="rect">
            <a:avLst/>
          </a:prstGeom>
        </p:spPr>
        <p:txBody>
          <a:bodyPr wrap="square" lIns="0" tIns="158750" rIns="0" bIns="0" rtlCol="0" vert="horz">
            <a:spAutoFit/>
          </a:bodyPr>
          <a:lstStyle/>
          <a:p>
            <a:pPr marL="469900" indent="-457200">
              <a:lnSpc>
                <a:spcPct val="100000"/>
              </a:lnSpc>
              <a:spcBef>
                <a:spcPts val="1250"/>
              </a:spcBef>
              <a:buClr>
                <a:srgbClr val="40458B"/>
              </a:buClr>
              <a:buFont typeface="Tahoma"/>
              <a:buAutoNum type="arabicPeriod" startAt="2"/>
              <a:tabLst>
                <a:tab pos="469900" algn="l"/>
              </a:tabLst>
            </a:pPr>
            <a:r>
              <a:rPr dirty="0" sz="2400" spc="-5">
                <a:solidFill>
                  <a:srgbClr val="E14B04"/>
                </a:solidFill>
                <a:latin typeface="黑体"/>
                <a:cs typeface="黑体"/>
              </a:rPr>
              <a:t>三种不命中所占的比例</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8185C5"/>
                </a:solidFill>
                <a:latin typeface="黑体"/>
                <a:cs typeface="黑体"/>
              </a:rPr>
              <a:t>图示I(</a:t>
            </a:r>
            <a:r>
              <a:rPr dirty="0" sz="2400" spc="-15">
                <a:solidFill>
                  <a:srgbClr val="8185C5"/>
                </a:solidFill>
                <a:latin typeface="黑体"/>
                <a:cs typeface="黑体"/>
              </a:rPr>
              <a:t>绝对值)</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spc="-10">
                <a:solidFill>
                  <a:srgbClr val="8185C5"/>
                </a:solidFill>
                <a:latin typeface="黑体"/>
                <a:cs typeface="黑体"/>
              </a:rPr>
              <a:t>图示Ⅱ(相对值)</a:t>
            </a:r>
            <a:endParaRPr sz="2400">
              <a:latin typeface="黑体"/>
              <a:cs typeface="黑体"/>
            </a:endParaRPr>
          </a:p>
        </p:txBody>
      </p:sp>
      <p:pic>
        <p:nvPicPr>
          <p:cNvPr id="9" name="object 9"/>
          <p:cNvPicPr/>
          <p:nvPr/>
        </p:nvPicPr>
        <p:blipFill>
          <a:blip r:embed="rId3" cstate="print"/>
          <a:stretch>
            <a:fillRect/>
          </a:stretch>
        </p:blipFill>
        <p:spPr>
          <a:xfrm>
            <a:off x="4440301" y="606425"/>
            <a:ext cx="7589647" cy="4319524"/>
          </a:xfrm>
          <a:prstGeom prst="rect">
            <a:avLst/>
          </a:prstGeom>
        </p:spPr>
      </p:pic>
      <p:sp>
        <p:nvSpPr>
          <p:cNvPr id="10" name="object 10"/>
          <p:cNvSpPr txBox="1">
            <a:spLocks noGrp="1"/>
          </p:cNvSpPr>
          <p:nvPr>
            <p:ph type="title"/>
          </p:nvPr>
        </p:nvSpPr>
        <p:spPr>
          <a:prstGeom prst="rect"/>
        </p:spPr>
        <p:txBody>
          <a:bodyPr wrap="square" lIns="0" tIns="101650" rIns="0" bIns="0" rtlCol="0" vert="horz">
            <a:spAutoFit/>
          </a:bodyPr>
          <a:lstStyle/>
          <a:p>
            <a:pPr marL="12700">
              <a:lnSpc>
                <a:spcPct val="100000"/>
              </a:lnSpc>
              <a:spcBef>
                <a:spcPts val="100"/>
              </a:spcBef>
              <a:tabLst>
                <a:tab pos="10648315" algn="l"/>
              </a:tabLst>
            </a:pPr>
            <a:r>
              <a:rPr dirty="0" sz="2600" spc="580">
                <a:solidFill>
                  <a:srgbClr val="0000CC"/>
                </a:solidFill>
              </a:rPr>
              <a:t> </a:t>
            </a:r>
            <a:r>
              <a:rPr dirty="0" sz="2600">
                <a:solidFill>
                  <a:srgbClr val="0000CC"/>
                </a:solidFill>
              </a:rPr>
              <a:t>7.3.1</a:t>
            </a:r>
            <a:r>
              <a:rPr dirty="0" sz="2600" spc="-10">
                <a:solidFill>
                  <a:srgbClr val="0000CC"/>
                </a:solidFill>
              </a:rPr>
              <a:t> </a:t>
            </a:r>
            <a:r>
              <a:rPr dirty="0" sz="2600">
                <a:solidFill>
                  <a:srgbClr val="0000CC"/>
                </a:solidFill>
              </a:rPr>
              <a:t>三种类型</a:t>
            </a:r>
            <a:r>
              <a:rPr dirty="0" sz="2600" spc="-15">
                <a:solidFill>
                  <a:srgbClr val="0000CC"/>
                </a:solidFill>
              </a:rPr>
              <a:t>的</a:t>
            </a:r>
            <a:r>
              <a:rPr dirty="0" sz="2600">
                <a:solidFill>
                  <a:srgbClr val="0000CC"/>
                </a:solidFill>
              </a:rPr>
              <a:t>不命</a:t>
            </a:r>
            <a:r>
              <a:rPr dirty="0" sz="2600" spc="-50">
                <a:solidFill>
                  <a:srgbClr val="0000CC"/>
                </a:solidFill>
              </a:rPr>
              <a:t>中</a:t>
            </a:r>
            <a:r>
              <a:rPr dirty="0" sz="2600">
                <a:solidFill>
                  <a:srgbClr val="0000CC"/>
                </a:solidFill>
              </a:rPr>
              <a:t>	</a:t>
            </a:r>
            <a:endParaRPr sz="2600"/>
          </a:p>
        </p:txBody>
      </p:sp>
      <p:sp>
        <p:nvSpPr>
          <p:cNvPr id="11" name="object 11" descr=""/>
          <p:cNvSpPr txBox="1"/>
          <p:nvPr/>
        </p:nvSpPr>
        <p:spPr>
          <a:xfrm>
            <a:off x="123850" y="3897712"/>
            <a:ext cx="6483350" cy="2362835"/>
          </a:xfrm>
          <a:prstGeom prst="rect">
            <a:avLst/>
          </a:prstGeom>
        </p:spPr>
        <p:txBody>
          <a:bodyPr wrap="square" lIns="0" tIns="205740" rIns="0" bIns="0" rtlCol="0" vert="horz">
            <a:spAutoFit/>
          </a:bodyPr>
          <a:lstStyle/>
          <a:p>
            <a:pPr marL="12700">
              <a:lnSpc>
                <a:spcPct val="100000"/>
              </a:lnSpc>
              <a:spcBef>
                <a:spcPts val="1620"/>
              </a:spcBef>
            </a:pPr>
            <a:r>
              <a:rPr dirty="0" sz="2400" spc="-10">
                <a:solidFill>
                  <a:srgbClr val="D50092"/>
                </a:solidFill>
                <a:latin typeface="黑体"/>
                <a:cs typeface="黑体"/>
              </a:rPr>
              <a:t>可以看出：</a:t>
            </a:r>
            <a:endParaRPr sz="2400">
              <a:latin typeface="黑体"/>
              <a:cs typeface="黑体"/>
            </a:endParaRPr>
          </a:p>
          <a:p>
            <a:pPr marL="1097915" indent="-457200">
              <a:lnSpc>
                <a:spcPct val="100000"/>
              </a:lnSpc>
              <a:spcBef>
                <a:spcPts val="1280"/>
              </a:spcBef>
              <a:buClr>
                <a:srgbClr val="4668F5"/>
              </a:buClr>
              <a:buSzPct val="60000"/>
              <a:buFont typeface="Wingdings"/>
              <a:buChar char=""/>
              <a:tabLst>
                <a:tab pos="1097915" algn="l"/>
              </a:tabLst>
            </a:pPr>
            <a:r>
              <a:rPr dirty="0" sz="2000" spc="-20" b="1">
                <a:solidFill>
                  <a:srgbClr val="00AFEF"/>
                </a:solidFill>
                <a:latin typeface="宋体"/>
                <a:cs typeface="宋体"/>
              </a:rPr>
              <a:t>相联度越高，冲突不命中就越少；</a:t>
            </a:r>
            <a:endParaRPr sz="2000">
              <a:latin typeface="宋体"/>
              <a:cs typeface="宋体"/>
            </a:endParaRPr>
          </a:p>
          <a:p>
            <a:pPr marL="1097915" indent="-457200">
              <a:lnSpc>
                <a:spcPct val="100000"/>
              </a:lnSpc>
              <a:spcBef>
                <a:spcPts val="1200"/>
              </a:spcBef>
              <a:buClr>
                <a:srgbClr val="4668F5"/>
              </a:buClr>
              <a:buSzPct val="60000"/>
              <a:buFont typeface="Wingdings"/>
              <a:buChar char=""/>
              <a:tabLst>
                <a:tab pos="1097915" algn="l"/>
              </a:tabLst>
            </a:pPr>
            <a:r>
              <a:rPr dirty="0" sz="2000" spc="-25" b="1">
                <a:solidFill>
                  <a:srgbClr val="00AFEF"/>
                </a:solidFill>
                <a:latin typeface="宋体"/>
                <a:cs typeface="宋体"/>
              </a:rPr>
              <a:t>强制性不命中和容量不命中不受相联度的影响；</a:t>
            </a:r>
            <a:endParaRPr sz="2000">
              <a:latin typeface="宋体"/>
              <a:cs typeface="宋体"/>
            </a:endParaRPr>
          </a:p>
          <a:p>
            <a:pPr marL="1097915" marR="130810" indent="-457200">
              <a:lnSpc>
                <a:spcPct val="130000"/>
              </a:lnSpc>
              <a:spcBef>
                <a:spcPts val="480"/>
              </a:spcBef>
              <a:buClr>
                <a:srgbClr val="4668F5"/>
              </a:buClr>
              <a:buSzPct val="60000"/>
              <a:buFont typeface="Wingdings"/>
              <a:buChar char=""/>
              <a:tabLst>
                <a:tab pos="1097915" algn="l"/>
              </a:tabLst>
            </a:pPr>
            <a:r>
              <a:rPr dirty="0" sz="2000" spc="-10" b="1">
                <a:solidFill>
                  <a:srgbClr val="00AFEF"/>
                </a:solidFill>
                <a:latin typeface="宋体"/>
                <a:cs typeface="宋体"/>
              </a:rPr>
              <a:t>强制性不命中不受Cache</a:t>
            </a:r>
            <a:r>
              <a:rPr dirty="0" sz="2000" spc="-25" b="1">
                <a:solidFill>
                  <a:srgbClr val="00AFEF"/>
                </a:solidFill>
                <a:latin typeface="宋体"/>
                <a:cs typeface="宋体"/>
              </a:rPr>
              <a:t>容量的影响，但容量不</a:t>
            </a:r>
            <a:r>
              <a:rPr dirty="0" sz="2000" spc="-20" b="1">
                <a:solidFill>
                  <a:srgbClr val="00AFEF"/>
                </a:solidFill>
                <a:latin typeface="宋体"/>
                <a:cs typeface="宋体"/>
              </a:rPr>
              <a:t>命中却随着容量的增加而减少。</a:t>
            </a:r>
            <a:endParaRPr sz="2000">
              <a:latin typeface="宋体"/>
              <a:cs typeface="宋体"/>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71/170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664565" y="748030"/>
            <a:ext cx="3533775" cy="1562100"/>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Font typeface="Tahoma"/>
              <a:buAutoNum type="arabicPeriod" startAt="2"/>
              <a:tabLst>
                <a:tab pos="469265" algn="l"/>
              </a:tabLst>
            </a:pPr>
            <a:r>
              <a:rPr dirty="0" sz="2400" spc="-5">
                <a:solidFill>
                  <a:srgbClr val="E14B04"/>
                </a:solidFill>
                <a:latin typeface="黑体"/>
                <a:cs typeface="黑体"/>
              </a:rPr>
              <a:t>三种不命中所占的比例</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a:solidFill>
                  <a:srgbClr val="8185C5"/>
                </a:solidFill>
                <a:latin typeface="黑体"/>
                <a:cs typeface="黑体"/>
              </a:rPr>
              <a:t>图示I(</a:t>
            </a:r>
            <a:r>
              <a:rPr dirty="0" sz="2400" spc="-15">
                <a:solidFill>
                  <a:srgbClr val="8185C5"/>
                </a:solidFill>
                <a:latin typeface="黑体"/>
                <a:cs typeface="黑体"/>
              </a:rPr>
              <a:t>绝对值)</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spc="-20">
                <a:solidFill>
                  <a:srgbClr val="8185C5"/>
                </a:solidFill>
                <a:latin typeface="黑体"/>
                <a:cs typeface="黑体"/>
              </a:rPr>
              <a:t>图示Ⅱ(相对值)</a:t>
            </a:r>
            <a:endParaRPr sz="2400">
              <a:latin typeface="黑体"/>
              <a:cs typeface="黑体"/>
            </a:endParaRPr>
          </a:p>
        </p:txBody>
      </p:sp>
      <p:pic>
        <p:nvPicPr>
          <p:cNvPr id="9" name="object 9"/>
          <p:cNvPicPr/>
          <p:nvPr/>
        </p:nvPicPr>
        <p:blipFill>
          <a:blip r:embed="rId3" cstate="print"/>
          <a:stretch>
            <a:fillRect/>
          </a:stretch>
        </p:blipFill>
        <p:spPr>
          <a:xfrm>
            <a:off x="5016500" y="1143000"/>
            <a:ext cx="6696075" cy="4721225"/>
          </a:xfrm>
          <a:prstGeom prst="rect">
            <a:avLst/>
          </a:prstGeom>
        </p:spPr>
      </p:pic>
      <p:sp>
        <p:nvSpPr>
          <p:cNvPr id="10" name="object 10"/>
          <p:cNvSpPr txBox="1">
            <a:spLocks noGrp="1"/>
          </p:cNvSpPr>
          <p:nvPr>
            <p:ph type="title"/>
          </p:nvPr>
        </p:nvSpPr>
        <p:spPr>
          <a:prstGeom prst="rect"/>
        </p:spPr>
        <p:txBody>
          <a:bodyPr wrap="square" lIns="0" tIns="101650" rIns="0" bIns="0" rtlCol="0" vert="horz">
            <a:spAutoFit/>
          </a:bodyPr>
          <a:lstStyle/>
          <a:p>
            <a:pPr marL="12700">
              <a:lnSpc>
                <a:spcPct val="100000"/>
              </a:lnSpc>
              <a:spcBef>
                <a:spcPts val="100"/>
              </a:spcBef>
              <a:tabLst>
                <a:tab pos="10648315" algn="l"/>
              </a:tabLst>
            </a:pPr>
            <a:r>
              <a:rPr dirty="0" sz="2600" spc="-270">
                <a:solidFill>
                  <a:srgbClr val="0000CC"/>
                </a:solidFill>
              </a:rPr>
              <a:t> </a:t>
            </a:r>
            <a:r>
              <a:rPr dirty="0" sz="2600">
                <a:solidFill>
                  <a:srgbClr val="0000CC"/>
                </a:solidFill>
              </a:rPr>
              <a:t>7.3.1</a:t>
            </a:r>
            <a:r>
              <a:rPr dirty="0" sz="2600" spc="-5">
                <a:solidFill>
                  <a:srgbClr val="0000CC"/>
                </a:solidFill>
              </a:rPr>
              <a:t> </a:t>
            </a:r>
            <a:r>
              <a:rPr dirty="0" sz="2600">
                <a:solidFill>
                  <a:srgbClr val="0000CC"/>
                </a:solidFill>
              </a:rPr>
              <a:t>三种类型</a:t>
            </a:r>
            <a:r>
              <a:rPr dirty="0" sz="2600" spc="-15">
                <a:solidFill>
                  <a:srgbClr val="0000CC"/>
                </a:solidFill>
              </a:rPr>
              <a:t>的</a:t>
            </a:r>
            <a:r>
              <a:rPr dirty="0" sz="2600">
                <a:solidFill>
                  <a:srgbClr val="0000CC"/>
                </a:solidFill>
              </a:rPr>
              <a:t>不命</a:t>
            </a:r>
            <a:r>
              <a:rPr dirty="0" sz="2600" spc="-50">
                <a:solidFill>
                  <a:srgbClr val="0000CC"/>
                </a:solidFill>
              </a:rPr>
              <a:t>中</a:t>
            </a:r>
            <a:r>
              <a:rPr dirty="0" sz="2600">
                <a:solidFill>
                  <a:srgbClr val="0000CC"/>
                </a:solidFill>
              </a:rPr>
              <a:t>	</a:t>
            </a:r>
            <a:endParaRPr sz="2600"/>
          </a:p>
        </p:txBody>
      </p:sp>
      <p:sp>
        <p:nvSpPr>
          <p:cNvPr id="11" name="object 11" descr=""/>
          <p:cNvSpPr txBox="1"/>
          <p:nvPr/>
        </p:nvSpPr>
        <p:spPr>
          <a:xfrm>
            <a:off x="6660642" y="6013805"/>
            <a:ext cx="2159635" cy="391795"/>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8185C5"/>
                </a:solidFill>
                <a:latin typeface="黑体"/>
                <a:cs typeface="黑体"/>
              </a:rPr>
              <a:t>图示Ⅱ(相对值)</a:t>
            </a:r>
            <a:endParaRPr sz="2400">
              <a:latin typeface="黑体"/>
              <a:cs typeface="黑体"/>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72/170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1294002" y="799370"/>
            <a:ext cx="9602470" cy="3877945"/>
          </a:xfrm>
          <a:prstGeom prst="rect">
            <a:avLst/>
          </a:prstGeom>
        </p:spPr>
        <p:txBody>
          <a:bodyPr wrap="square" lIns="0" tIns="206375" rIns="0" bIns="0" rtlCol="0" vert="horz">
            <a:spAutoFit/>
          </a:bodyPr>
          <a:lstStyle/>
          <a:p>
            <a:pPr marL="283210" indent="-270510">
              <a:lnSpc>
                <a:spcPct val="100000"/>
              </a:lnSpc>
              <a:spcBef>
                <a:spcPts val="1625"/>
              </a:spcBef>
              <a:buSzPct val="89583"/>
              <a:buFont typeface="Wingdings"/>
              <a:buChar char=""/>
              <a:tabLst>
                <a:tab pos="283210" algn="l"/>
              </a:tabLst>
            </a:pPr>
            <a:r>
              <a:rPr dirty="0" sz="2400" spc="-5">
                <a:solidFill>
                  <a:srgbClr val="40458B"/>
                </a:solidFill>
                <a:latin typeface="黑体"/>
                <a:cs typeface="黑体"/>
              </a:rPr>
              <a:t>减少三种不命中的方法</a:t>
            </a:r>
            <a:endParaRPr sz="2400">
              <a:latin typeface="黑体"/>
              <a:cs typeface="黑体"/>
            </a:endParaRPr>
          </a:p>
          <a:p>
            <a:pPr lvl="1" marL="1097915" indent="-457200">
              <a:lnSpc>
                <a:spcPct val="100000"/>
              </a:lnSpc>
              <a:spcBef>
                <a:spcPts val="1275"/>
              </a:spcBef>
              <a:buClr>
                <a:srgbClr val="4668F5"/>
              </a:buClr>
              <a:buSzPct val="60000"/>
              <a:buFont typeface="Wingdings"/>
              <a:buChar char=""/>
              <a:tabLst>
                <a:tab pos="1097915" algn="l"/>
              </a:tabLst>
            </a:pPr>
            <a:r>
              <a:rPr dirty="0" sz="2000" spc="-10" b="1">
                <a:solidFill>
                  <a:srgbClr val="00AFEF"/>
                </a:solidFill>
                <a:latin typeface="宋体"/>
                <a:cs typeface="宋体"/>
              </a:rPr>
              <a:t>强制性不命中：</a:t>
            </a:r>
            <a:r>
              <a:rPr dirty="0" sz="2000" spc="-20" b="1">
                <a:solidFill>
                  <a:srgbClr val="D50092"/>
                </a:solidFill>
                <a:latin typeface="宋体"/>
                <a:cs typeface="宋体"/>
              </a:rPr>
              <a:t>增加块大小，预取</a:t>
            </a:r>
            <a:endParaRPr sz="2000">
              <a:latin typeface="宋体"/>
              <a:cs typeface="宋体"/>
            </a:endParaRPr>
          </a:p>
          <a:p>
            <a:pPr marL="1992630">
              <a:lnSpc>
                <a:spcPct val="100000"/>
              </a:lnSpc>
              <a:spcBef>
                <a:spcPts val="1200"/>
              </a:spcBef>
            </a:pPr>
            <a:r>
              <a:rPr dirty="0" sz="2000" spc="-10" b="1">
                <a:solidFill>
                  <a:srgbClr val="00AFEF"/>
                </a:solidFill>
                <a:latin typeface="宋体"/>
                <a:cs typeface="宋体"/>
              </a:rPr>
              <a:t>（本身很少</a:t>
            </a:r>
            <a:r>
              <a:rPr dirty="0" sz="2000" spc="-50" b="1">
                <a:solidFill>
                  <a:srgbClr val="00AFEF"/>
                </a:solidFill>
                <a:latin typeface="宋体"/>
                <a:cs typeface="宋体"/>
              </a:rPr>
              <a:t>）</a:t>
            </a:r>
            <a:endParaRPr sz="2000">
              <a:latin typeface="宋体"/>
              <a:cs typeface="宋体"/>
            </a:endParaRPr>
          </a:p>
          <a:p>
            <a:pPr lvl="1" marL="1097915" indent="-457200">
              <a:lnSpc>
                <a:spcPct val="100000"/>
              </a:lnSpc>
              <a:spcBef>
                <a:spcPts val="1200"/>
              </a:spcBef>
              <a:buClr>
                <a:srgbClr val="4668F5"/>
              </a:buClr>
              <a:buSzPct val="60000"/>
              <a:buFont typeface="Wingdings"/>
              <a:buChar char=""/>
              <a:tabLst>
                <a:tab pos="1097915" algn="l"/>
              </a:tabLst>
            </a:pPr>
            <a:r>
              <a:rPr dirty="0" sz="2000" spc="-10" b="1">
                <a:solidFill>
                  <a:srgbClr val="00AFEF"/>
                </a:solidFill>
                <a:latin typeface="宋体"/>
                <a:cs typeface="宋体"/>
              </a:rPr>
              <a:t>容量不命中（不能全部调入</a:t>
            </a:r>
            <a:r>
              <a:rPr dirty="0" sz="2000" spc="-20" b="1">
                <a:solidFill>
                  <a:srgbClr val="00AFEF"/>
                </a:solidFill>
                <a:latin typeface="宋体"/>
                <a:cs typeface="宋体"/>
              </a:rPr>
              <a:t>）：</a:t>
            </a:r>
            <a:r>
              <a:rPr dirty="0" sz="2000" spc="-30" b="1">
                <a:solidFill>
                  <a:srgbClr val="D50092"/>
                </a:solidFill>
                <a:latin typeface="宋体"/>
                <a:cs typeface="宋体"/>
              </a:rPr>
              <a:t>增加容量</a:t>
            </a:r>
            <a:endParaRPr sz="2000">
              <a:latin typeface="宋体"/>
              <a:cs typeface="宋体"/>
            </a:endParaRPr>
          </a:p>
          <a:p>
            <a:pPr marL="1918970">
              <a:lnSpc>
                <a:spcPct val="100000"/>
              </a:lnSpc>
              <a:spcBef>
                <a:spcPts val="1205"/>
              </a:spcBef>
            </a:pPr>
            <a:r>
              <a:rPr dirty="0" sz="2000" spc="-10" b="1">
                <a:solidFill>
                  <a:srgbClr val="00AFEF"/>
                </a:solidFill>
                <a:latin typeface="宋体"/>
                <a:cs typeface="宋体"/>
              </a:rPr>
              <a:t>提前将要访问的块调入</a:t>
            </a:r>
            <a:r>
              <a:rPr dirty="0" sz="2000" spc="-10" b="1">
                <a:solidFill>
                  <a:srgbClr val="00AFEF"/>
                </a:solidFill>
                <a:latin typeface="Tahoma"/>
                <a:cs typeface="Tahoma"/>
              </a:rPr>
              <a:t>Cache</a:t>
            </a:r>
            <a:r>
              <a:rPr dirty="0" sz="2000" spc="-10" b="1">
                <a:solidFill>
                  <a:srgbClr val="00AFEF"/>
                </a:solidFill>
                <a:latin typeface="宋体"/>
                <a:cs typeface="宋体"/>
              </a:rPr>
              <a:t>（</a:t>
            </a:r>
            <a:r>
              <a:rPr dirty="0" sz="2000" spc="-20" b="1">
                <a:solidFill>
                  <a:srgbClr val="00AFEF"/>
                </a:solidFill>
                <a:latin typeface="宋体"/>
                <a:cs typeface="宋体"/>
              </a:rPr>
              <a:t>可能产生抖动现象，反复调进调出</a:t>
            </a:r>
            <a:r>
              <a:rPr dirty="0" sz="2000" spc="-50" b="1">
                <a:solidFill>
                  <a:srgbClr val="00AFEF"/>
                </a:solidFill>
                <a:latin typeface="宋体"/>
                <a:cs typeface="宋体"/>
              </a:rPr>
              <a:t>）</a:t>
            </a:r>
            <a:endParaRPr sz="2000">
              <a:latin typeface="宋体"/>
              <a:cs typeface="宋体"/>
            </a:endParaRPr>
          </a:p>
          <a:p>
            <a:pPr lvl="1" marL="1097915" indent="-457200">
              <a:lnSpc>
                <a:spcPct val="100000"/>
              </a:lnSpc>
              <a:spcBef>
                <a:spcPts val="1200"/>
              </a:spcBef>
              <a:buClr>
                <a:srgbClr val="4668F5"/>
              </a:buClr>
              <a:buSzPct val="60000"/>
              <a:buFont typeface="Wingdings"/>
              <a:buChar char=""/>
              <a:tabLst>
                <a:tab pos="1097915" algn="l"/>
              </a:tabLst>
            </a:pPr>
            <a:r>
              <a:rPr dirty="0" sz="2000" spc="-10" b="1">
                <a:solidFill>
                  <a:srgbClr val="00AFEF"/>
                </a:solidFill>
                <a:latin typeface="宋体"/>
                <a:cs typeface="宋体"/>
              </a:rPr>
              <a:t>冲突不命中（</a:t>
            </a:r>
            <a:r>
              <a:rPr dirty="0" sz="2000" spc="-20" b="1">
                <a:solidFill>
                  <a:srgbClr val="00AFEF"/>
                </a:solidFill>
                <a:latin typeface="宋体"/>
                <a:cs typeface="宋体"/>
              </a:rPr>
              <a:t>要访问的块被别的组或别的块替换）：</a:t>
            </a:r>
            <a:r>
              <a:rPr dirty="0" sz="2000" spc="-25" b="1">
                <a:solidFill>
                  <a:srgbClr val="D50092"/>
                </a:solidFill>
                <a:latin typeface="宋体"/>
                <a:cs typeface="宋体"/>
              </a:rPr>
              <a:t>提高相联度</a:t>
            </a:r>
            <a:endParaRPr sz="2000">
              <a:latin typeface="宋体"/>
              <a:cs typeface="宋体"/>
            </a:endParaRPr>
          </a:p>
          <a:p>
            <a:pPr marL="1918970">
              <a:lnSpc>
                <a:spcPct val="100000"/>
              </a:lnSpc>
              <a:spcBef>
                <a:spcPts val="1200"/>
              </a:spcBef>
            </a:pPr>
            <a:r>
              <a:rPr dirty="0" sz="2000" spc="-10" b="1">
                <a:solidFill>
                  <a:srgbClr val="00AFEF"/>
                </a:solidFill>
                <a:latin typeface="宋体"/>
                <a:cs typeface="宋体"/>
              </a:rPr>
              <a:t>（理想情况：全相联</a:t>
            </a:r>
            <a:r>
              <a:rPr dirty="0" sz="2000" spc="-50" b="1">
                <a:solidFill>
                  <a:srgbClr val="00AFEF"/>
                </a:solidFill>
                <a:latin typeface="宋体"/>
                <a:cs typeface="宋体"/>
              </a:rPr>
              <a:t>）</a:t>
            </a:r>
            <a:endParaRPr sz="2000">
              <a:latin typeface="宋体"/>
              <a:cs typeface="宋体"/>
            </a:endParaRPr>
          </a:p>
          <a:p>
            <a:pPr marL="283210" indent="-270510">
              <a:lnSpc>
                <a:spcPct val="100000"/>
              </a:lnSpc>
              <a:spcBef>
                <a:spcPts val="1365"/>
              </a:spcBef>
              <a:buSzPct val="89583"/>
              <a:buFont typeface="Wingdings"/>
              <a:buChar char=""/>
              <a:tabLst>
                <a:tab pos="283210" algn="l"/>
              </a:tabLst>
            </a:pPr>
            <a:r>
              <a:rPr dirty="0" sz="2400" spc="-5">
                <a:solidFill>
                  <a:srgbClr val="40458B"/>
                </a:solidFill>
                <a:latin typeface="黑体"/>
                <a:cs typeface="黑体"/>
              </a:rPr>
              <a:t>许多降低不命中率的方法会增加命中时间或不命中开销</a:t>
            </a:r>
            <a:endParaRPr sz="2400">
              <a:latin typeface="黑体"/>
              <a:cs typeface="黑体"/>
            </a:endParaRPr>
          </a:p>
        </p:txBody>
      </p:sp>
      <p:sp>
        <p:nvSpPr>
          <p:cNvPr id="9" name="object 9"/>
          <p:cNvSpPr txBox="1">
            <a:spLocks noGrp="1"/>
          </p:cNvSpPr>
          <p:nvPr>
            <p:ph type="title"/>
          </p:nvPr>
        </p:nvSpPr>
        <p:spPr>
          <a:prstGeom prst="rect"/>
        </p:spPr>
        <p:txBody>
          <a:bodyPr wrap="square" lIns="0" tIns="101650" rIns="0" bIns="0" rtlCol="0" vert="horz">
            <a:spAutoFit/>
          </a:bodyPr>
          <a:lstStyle/>
          <a:p>
            <a:pPr marL="12700">
              <a:lnSpc>
                <a:spcPct val="100000"/>
              </a:lnSpc>
              <a:spcBef>
                <a:spcPts val="100"/>
              </a:spcBef>
              <a:tabLst>
                <a:tab pos="10648315" algn="l"/>
              </a:tabLst>
            </a:pPr>
            <a:r>
              <a:rPr dirty="0" sz="2600" spc="-270">
                <a:solidFill>
                  <a:srgbClr val="0000CC"/>
                </a:solidFill>
              </a:rPr>
              <a:t> </a:t>
            </a:r>
            <a:r>
              <a:rPr dirty="0" sz="2600">
                <a:solidFill>
                  <a:srgbClr val="0000CC"/>
                </a:solidFill>
              </a:rPr>
              <a:t>7.3.1</a:t>
            </a:r>
            <a:r>
              <a:rPr dirty="0" sz="2600" spc="-5">
                <a:solidFill>
                  <a:srgbClr val="0000CC"/>
                </a:solidFill>
              </a:rPr>
              <a:t> </a:t>
            </a:r>
            <a:r>
              <a:rPr dirty="0" sz="2600">
                <a:solidFill>
                  <a:srgbClr val="0000CC"/>
                </a:solidFill>
              </a:rPr>
              <a:t>三种类型</a:t>
            </a:r>
            <a:r>
              <a:rPr dirty="0" sz="2600" spc="-15">
                <a:solidFill>
                  <a:srgbClr val="0000CC"/>
                </a:solidFill>
              </a:rPr>
              <a:t>的</a:t>
            </a:r>
            <a:r>
              <a:rPr dirty="0" sz="2600">
                <a:solidFill>
                  <a:srgbClr val="0000CC"/>
                </a:solidFill>
              </a:rPr>
              <a:t>不命</a:t>
            </a:r>
            <a:r>
              <a:rPr dirty="0" sz="2600" spc="-50">
                <a:solidFill>
                  <a:srgbClr val="0000CC"/>
                </a:solidFill>
              </a:rPr>
              <a:t>中</a:t>
            </a:r>
            <a:r>
              <a:rPr dirty="0" sz="2600">
                <a:solidFill>
                  <a:srgbClr val="0000CC"/>
                </a:solidFill>
              </a:rPr>
              <a:t>	</a:t>
            </a:r>
            <a:endParaRPr sz="2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558190" y="582548"/>
            <a:ext cx="11329670" cy="3834129"/>
          </a:xfrm>
          <a:prstGeom prst="rect">
            <a:avLst/>
          </a:prstGeom>
        </p:spPr>
        <p:txBody>
          <a:bodyPr wrap="square" lIns="0" tIns="12700" rIns="0" bIns="0" rtlCol="0" vert="horz">
            <a:spAutoFit/>
          </a:bodyPr>
          <a:lstStyle/>
          <a:p>
            <a:pPr marL="588645">
              <a:lnSpc>
                <a:spcPct val="100000"/>
              </a:lnSpc>
              <a:spcBef>
                <a:spcPts val="100"/>
              </a:spcBef>
            </a:pPr>
            <a:r>
              <a:rPr dirty="0" sz="2400">
                <a:solidFill>
                  <a:srgbClr val="0000CC"/>
                </a:solidFill>
                <a:latin typeface="黑体"/>
                <a:cs typeface="黑体"/>
              </a:rPr>
              <a:t>第一种优化策略：增加Cache</a:t>
            </a:r>
            <a:r>
              <a:rPr dirty="0" sz="2400" spc="-20">
                <a:solidFill>
                  <a:srgbClr val="0000CC"/>
                </a:solidFill>
                <a:latin typeface="黑体"/>
                <a:cs typeface="黑体"/>
              </a:rPr>
              <a:t>块大小</a:t>
            </a:r>
            <a:endParaRPr sz="2400">
              <a:latin typeface="黑体"/>
              <a:cs typeface="黑体"/>
            </a:endParaRPr>
          </a:p>
          <a:p>
            <a:pPr marL="469265" indent="-456565">
              <a:lnSpc>
                <a:spcPct val="100000"/>
              </a:lnSpc>
              <a:spcBef>
                <a:spcPts val="1760"/>
              </a:spcBef>
              <a:buClr>
                <a:srgbClr val="40458B"/>
              </a:buClr>
              <a:buFont typeface="Tahoma"/>
              <a:buAutoNum type="arabicPeriod"/>
              <a:tabLst>
                <a:tab pos="469265" algn="l"/>
              </a:tabLst>
            </a:pPr>
            <a:r>
              <a:rPr dirty="0" sz="2400" spc="-5">
                <a:solidFill>
                  <a:srgbClr val="C00000"/>
                </a:solidFill>
                <a:latin typeface="黑体"/>
                <a:cs typeface="黑体"/>
              </a:rPr>
              <a:t>不命中率与块大小的关系</a:t>
            </a:r>
            <a:endParaRPr sz="2400">
              <a:latin typeface="黑体"/>
              <a:cs typeface="黑体"/>
            </a:endParaRPr>
          </a:p>
          <a:p>
            <a:pPr lvl="1" marL="1099185" marR="10795" indent="-457834">
              <a:lnSpc>
                <a:spcPct val="100000"/>
              </a:lnSpc>
              <a:spcBef>
                <a:spcPts val="645"/>
              </a:spcBef>
              <a:buSzPct val="89583"/>
              <a:buFont typeface="Wingdings"/>
              <a:buChar char=""/>
              <a:tabLst>
                <a:tab pos="1099185" algn="l"/>
              </a:tabLst>
            </a:pPr>
            <a:r>
              <a:rPr dirty="0" sz="2400">
                <a:solidFill>
                  <a:srgbClr val="40458B"/>
                </a:solidFill>
                <a:latin typeface="黑体"/>
                <a:cs typeface="黑体"/>
              </a:rPr>
              <a:t>对于给定的Cache</a:t>
            </a:r>
            <a:r>
              <a:rPr dirty="0" sz="2400" spc="-5">
                <a:solidFill>
                  <a:srgbClr val="40458B"/>
                </a:solidFill>
                <a:latin typeface="黑体"/>
                <a:cs typeface="黑体"/>
              </a:rPr>
              <a:t>容量，当块大小增加时，不命中率开始是下降，后来反而上</a:t>
            </a:r>
            <a:r>
              <a:rPr dirty="0" sz="2400" spc="-20">
                <a:solidFill>
                  <a:srgbClr val="40458B"/>
                </a:solidFill>
                <a:latin typeface="黑体"/>
                <a:cs typeface="黑体"/>
              </a:rPr>
              <a:t>升了。</a:t>
            </a:r>
            <a:endParaRPr sz="2400">
              <a:latin typeface="黑体"/>
              <a:cs typeface="黑体"/>
            </a:endParaRPr>
          </a:p>
          <a:p>
            <a:pPr marL="1117600">
              <a:lnSpc>
                <a:spcPct val="100000"/>
              </a:lnSpc>
              <a:spcBef>
                <a:spcPts val="505"/>
              </a:spcBef>
            </a:pPr>
            <a:r>
              <a:rPr dirty="0" sz="2400" spc="-25">
                <a:solidFill>
                  <a:srgbClr val="D50092"/>
                </a:solidFill>
                <a:latin typeface="黑体"/>
                <a:cs typeface="黑体"/>
              </a:rPr>
              <a:t>原因：</a:t>
            </a:r>
            <a:endParaRPr sz="2400">
              <a:latin typeface="黑体"/>
              <a:cs typeface="黑体"/>
            </a:endParaRPr>
          </a:p>
          <a:p>
            <a:pPr lvl="2" marL="1727200" indent="-457200">
              <a:lnSpc>
                <a:spcPct val="100000"/>
              </a:lnSpc>
              <a:spcBef>
                <a:spcPts val="545"/>
              </a:spcBef>
              <a:buClr>
                <a:srgbClr val="4668F5"/>
              </a:buClr>
              <a:buSzPct val="60000"/>
              <a:buFont typeface="Wingdings"/>
              <a:buChar char=""/>
              <a:tabLst>
                <a:tab pos="1727200" algn="l"/>
              </a:tabLst>
            </a:pPr>
            <a:r>
              <a:rPr dirty="0" sz="2000" spc="-20" b="1">
                <a:solidFill>
                  <a:srgbClr val="00AFEF"/>
                </a:solidFill>
                <a:latin typeface="宋体"/>
                <a:cs typeface="宋体"/>
              </a:rPr>
              <a:t>一方面它减少了强制性不命中；</a:t>
            </a:r>
            <a:endParaRPr sz="2000">
              <a:latin typeface="宋体"/>
              <a:cs typeface="宋体"/>
            </a:endParaRPr>
          </a:p>
          <a:p>
            <a:pPr lvl="2" marL="1727200" indent="-457200">
              <a:lnSpc>
                <a:spcPct val="100000"/>
              </a:lnSpc>
              <a:spcBef>
                <a:spcPts val="420"/>
              </a:spcBef>
              <a:buClr>
                <a:srgbClr val="4668F5"/>
              </a:buClr>
              <a:buSzPct val="60000"/>
              <a:buFont typeface="Wingdings"/>
              <a:buChar char=""/>
              <a:tabLst>
                <a:tab pos="1727200" algn="l"/>
              </a:tabLst>
            </a:pPr>
            <a:r>
              <a:rPr dirty="0" sz="2000" spc="-15" b="1">
                <a:solidFill>
                  <a:srgbClr val="00AFEF"/>
                </a:solidFill>
                <a:latin typeface="宋体"/>
                <a:cs typeface="宋体"/>
              </a:rPr>
              <a:t>另一方面，由于增加块大小会减少</a:t>
            </a:r>
            <a:r>
              <a:rPr dirty="0" sz="2000" spc="-10" b="1">
                <a:solidFill>
                  <a:srgbClr val="00AFEF"/>
                </a:solidFill>
                <a:latin typeface="宋体"/>
                <a:cs typeface="宋体"/>
              </a:rPr>
              <a:t>Cache</a:t>
            </a:r>
            <a:r>
              <a:rPr dirty="0" sz="2000" spc="-25" b="1">
                <a:solidFill>
                  <a:srgbClr val="00AFEF"/>
                </a:solidFill>
                <a:latin typeface="宋体"/>
                <a:cs typeface="宋体"/>
              </a:rPr>
              <a:t>中块的数目，所以有可能会增加冲突不命中。</a:t>
            </a:r>
            <a:endParaRPr sz="2000">
              <a:latin typeface="宋体"/>
              <a:cs typeface="宋体"/>
            </a:endParaRPr>
          </a:p>
          <a:p>
            <a:pPr lvl="1" marL="1099185" indent="-457200">
              <a:lnSpc>
                <a:spcPct val="100000"/>
              </a:lnSpc>
              <a:spcBef>
                <a:spcPts val="645"/>
              </a:spcBef>
              <a:buSzPct val="89583"/>
              <a:buFont typeface="Wingdings"/>
              <a:buChar char=""/>
              <a:tabLst>
                <a:tab pos="1099185" algn="l"/>
              </a:tabLst>
            </a:pPr>
            <a:r>
              <a:rPr dirty="0" sz="2400" spc="-10">
                <a:solidFill>
                  <a:srgbClr val="40458B"/>
                </a:solidFill>
                <a:latin typeface="黑体"/>
                <a:cs typeface="黑体"/>
              </a:rPr>
              <a:t>Cache</a:t>
            </a:r>
            <a:r>
              <a:rPr dirty="0" sz="2400" spc="-15">
                <a:solidFill>
                  <a:srgbClr val="40458B"/>
                </a:solidFill>
                <a:latin typeface="黑体"/>
                <a:cs typeface="黑体"/>
              </a:rPr>
              <a:t>容量越大，使不命中率达到最低的块大小就越大。</a:t>
            </a:r>
            <a:endParaRPr sz="2400">
              <a:latin typeface="黑体"/>
              <a:cs typeface="黑体"/>
            </a:endParaRPr>
          </a:p>
          <a:p>
            <a:pPr marL="469265" indent="-456565">
              <a:lnSpc>
                <a:spcPct val="100000"/>
              </a:lnSpc>
              <a:spcBef>
                <a:spcPts val="505"/>
              </a:spcBef>
              <a:buClr>
                <a:srgbClr val="40458B"/>
              </a:buClr>
              <a:buFont typeface="Tahoma"/>
              <a:buAutoNum type="arabicPeriod"/>
              <a:tabLst>
                <a:tab pos="469265" algn="l"/>
              </a:tabLst>
            </a:pPr>
            <a:r>
              <a:rPr dirty="0" sz="2400" spc="-5">
                <a:solidFill>
                  <a:srgbClr val="E14B04"/>
                </a:solidFill>
                <a:latin typeface="黑体"/>
                <a:cs typeface="黑体"/>
              </a:rPr>
              <a:t>增加块大小会增加不命中开销</a:t>
            </a:r>
            <a:endParaRPr sz="2400">
              <a:latin typeface="黑体"/>
              <a:cs typeface="黑体"/>
            </a:endParaRPr>
          </a:p>
        </p:txBody>
      </p:sp>
      <p:sp>
        <p:nvSpPr>
          <p:cNvPr id="10" name="object 10"/>
          <p:cNvSpPr txBox="1">
            <a:spLocks noGrp="1"/>
          </p:cNvSpPr>
          <p:nvPr>
            <p:ph type="title"/>
          </p:nvPr>
        </p:nvSpPr>
        <p:spPr>
          <a:xfrm>
            <a:off x="1853945" y="41859"/>
            <a:ext cx="3494404"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7.3.2</a:t>
            </a:r>
            <a:r>
              <a:rPr dirty="0" u="none" sz="2600" spc="-10">
                <a:solidFill>
                  <a:srgbClr val="0000CC"/>
                </a:solidFill>
              </a:rPr>
              <a:t> 增加Cache</a:t>
            </a:r>
            <a:r>
              <a:rPr dirty="0" u="none" sz="2600" spc="-30">
                <a:solidFill>
                  <a:srgbClr val="0000CC"/>
                </a:solidFill>
              </a:rPr>
              <a:t>块大小</a:t>
            </a:r>
            <a:endParaRPr sz="26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p:nvPr/>
        </p:nvSpPr>
        <p:spPr>
          <a:xfrm>
            <a:off x="5735701" y="889000"/>
            <a:ext cx="6432550" cy="3773804"/>
          </a:xfrm>
          <a:custGeom>
            <a:avLst/>
            <a:gdLst/>
            <a:ahLst/>
            <a:cxnLst/>
            <a:rect l="l" t="t" r="r" b="b"/>
            <a:pathLst>
              <a:path w="6432550" h="3773804">
                <a:moveTo>
                  <a:pt x="6432550" y="0"/>
                </a:moveTo>
                <a:lnTo>
                  <a:pt x="0" y="0"/>
                </a:lnTo>
                <a:lnTo>
                  <a:pt x="0" y="3773551"/>
                </a:lnTo>
                <a:lnTo>
                  <a:pt x="6432550" y="3773551"/>
                </a:lnTo>
                <a:lnTo>
                  <a:pt x="6432550" y="0"/>
                </a:lnTo>
                <a:close/>
              </a:path>
            </a:pathLst>
          </a:custGeom>
          <a:solidFill>
            <a:srgbClr val="C9F5FD"/>
          </a:solidFill>
        </p:spPr>
        <p:txBody>
          <a:bodyPr wrap="square" lIns="0" tIns="0" rIns="0" bIns="0" rtlCol="0"/>
          <a:lstStyle/>
          <a:p/>
        </p:txBody>
      </p:sp>
      <p:sp>
        <p:nvSpPr>
          <p:cNvPr id="10" name="object 10" descr=""/>
          <p:cNvSpPr txBox="1"/>
          <p:nvPr/>
        </p:nvSpPr>
        <p:spPr>
          <a:xfrm>
            <a:off x="6664912" y="3976102"/>
            <a:ext cx="211454"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16</a:t>
            </a:r>
            <a:endParaRPr sz="1350">
              <a:latin typeface="宋体"/>
              <a:cs typeface="宋体"/>
            </a:endParaRPr>
          </a:p>
        </p:txBody>
      </p:sp>
      <p:sp>
        <p:nvSpPr>
          <p:cNvPr id="11" name="object 11" descr=""/>
          <p:cNvSpPr txBox="1"/>
          <p:nvPr/>
        </p:nvSpPr>
        <p:spPr>
          <a:xfrm>
            <a:off x="7831007" y="3976102"/>
            <a:ext cx="211454"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32</a:t>
            </a:r>
            <a:endParaRPr sz="1350">
              <a:latin typeface="宋体"/>
              <a:cs typeface="宋体"/>
            </a:endParaRPr>
          </a:p>
        </p:txBody>
      </p:sp>
      <p:sp>
        <p:nvSpPr>
          <p:cNvPr id="12" name="object 12" descr=""/>
          <p:cNvSpPr txBox="1"/>
          <p:nvPr/>
        </p:nvSpPr>
        <p:spPr>
          <a:xfrm>
            <a:off x="9112487" y="3976102"/>
            <a:ext cx="211454"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64</a:t>
            </a:r>
            <a:endParaRPr sz="1350">
              <a:latin typeface="宋体"/>
              <a:cs typeface="宋体"/>
            </a:endParaRPr>
          </a:p>
        </p:txBody>
      </p:sp>
      <p:sp>
        <p:nvSpPr>
          <p:cNvPr id="13" name="object 13" descr=""/>
          <p:cNvSpPr txBox="1"/>
          <p:nvPr/>
        </p:nvSpPr>
        <p:spPr>
          <a:xfrm>
            <a:off x="10349001" y="3976102"/>
            <a:ext cx="310515"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128</a:t>
            </a:r>
            <a:endParaRPr sz="1350">
              <a:latin typeface="宋体"/>
              <a:cs typeface="宋体"/>
            </a:endParaRPr>
          </a:p>
        </p:txBody>
      </p:sp>
      <p:sp>
        <p:nvSpPr>
          <p:cNvPr id="14" name="object 14" descr=""/>
          <p:cNvSpPr txBox="1"/>
          <p:nvPr/>
        </p:nvSpPr>
        <p:spPr>
          <a:xfrm>
            <a:off x="11653606" y="3976102"/>
            <a:ext cx="310515"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256</a:t>
            </a:r>
            <a:endParaRPr sz="1350">
              <a:latin typeface="宋体"/>
              <a:cs typeface="宋体"/>
            </a:endParaRPr>
          </a:p>
        </p:txBody>
      </p:sp>
      <p:sp>
        <p:nvSpPr>
          <p:cNvPr id="15" name="object 15" descr=""/>
          <p:cNvSpPr txBox="1"/>
          <p:nvPr/>
        </p:nvSpPr>
        <p:spPr>
          <a:xfrm>
            <a:off x="8646945" y="4331075"/>
            <a:ext cx="1391920" cy="232410"/>
          </a:xfrm>
          <a:prstGeom prst="rect">
            <a:avLst/>
          </a:prstGeom>
        </p:spPr>
        <p:txBody>
          <a:bodyPr wrap="square" lIns="0" tIns="13335" rIns="0" bIns="0" rtlCol="0" vert="horz">
            <a:spAutoFit/>
          </a:bodyPr>
          <a:lstStyle/>
          <a:p>
            <a:pPr>
              <a:lnSpc>
                <a:spcPct val="100000"/>
              </a:lnSpc>
              <a:spcBef>
                <a:spcPts val="105"/>
              </a:spcBef>
            </a:pPr>
            <a:r>
              <a:rPr dirty="0" sz="1350" spc="185" b="1">
                <a:solidFill>
                  <a:srgbClr val="0000FF"/>
                </a:solidFill>
                <a:latin typeface="宋体"/>
                <a:cs typeface="宋体"/>
              </a:rPr>
              <a:t>块大小（</a:t>
            </a:r>
            <a:r>
              <a:rPr dirty="0" sz="1350" spc="190" b="1">
                <a:solidFill>
                  <a:srgbClr val="0000FF"/>
                </a:solidFill>
                <a:latin typeface="宋体"/>
                <a:cs typeface="宋体"/>
              </a:rPr>
              <a:t>字节</a:t>
            </a:r>
            <a:r>
              <a:rPr dirty="0" sz="1350" spc="135" b="1">
                <a:solidFill>
                  <a:srgbClr val="0000FF"/>
                </a:solidFill>
                <a:latin typeface="宋体"/>
                <a:cs typeface="宋体"/>
              </a:rPr>
              <a:t>）</a:t>
            </a:r>
            <a:endParaRPr sz="1350">
              <a:latin typeface="宋体"/>
              <a:cs typeface="宋体"/>
            </a:endParaRPr>
          </a:p>
        </p:txBody>
      </p:sp>
      <p:sp>
        <p:nvSpPr>
          <p:cNvPr id="16" name="object 16" descr=""/>
          <p:cNvSpPr txBox="1"/>
          <p:nvPr/>
        </p:nvSpPr>
        <p:spPr>
          <a:xfrm>
            <a:off x="6275313" y="1225664"/>
            <a:ext cx="310515"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10%</a:t>
            </a:r>
            <a:endParaRPr sz="1350">
              <a:latin typeface="宋体"/>
              <a:cs typeface="宋体"/>
            </a:endParaRPr>
          </a:p>
        </p:txBody>
      </p:sp>
      <p:sp>
        <p:nvSpPr>
          <p:cNvPr id="17" name="object 17" descr=""/>
          <p:cNvSpPr txBox="1"/>
          <p:nvPr/>
        </p:nvSpPr>
        <p:spPr>
          <a:xfrm>
            <a:off x="6366921" y="2498038"/>
            <a:ext cx="211454"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5%</a:t>
            </a:r>
            <a:endParaRPr sz="1350">
              <a:latin typeface="宋体"/>
              <a:cs typeface="宋体"/>
            </a:endParaRPr>
          </a:p>
        </p:txBody>
      </p:sp>
      <p:sp>
        <p:nvSpPr>
          <p:cNvPr id="18" name="object 18" descr=""/>
          <p:cNvSpPr txBox="1"/>
          <p:nvPr/>
        </p:nvSpPr>
        <p:spPr>
          <a:xfrm>
            <a:off x="6366921" y="3767839"/>
            <a:ext cx="211454" cy="232410"/>
          </a:xfrm>
          <a:prstGeom prst="rect">
            <a:avLst/>
          </a:prstGeom>
        </p:spPr>
        <p:txBody>
          <a:bodyPr wrap="square" lIns="0" tIns="13335" rIns="0" bIns="0" rtlCol="0" vert="horz">
            <a:spAutoFit/>
          </a:bodyPr>
          <a:lstStyle/>
          <a:p>
            <a:pPr>
              <a:lnSpc>
                <a:spcPct val="100000"/>
              </a:lnSpc>
              <a:spcBef>
                <a:spcPts val="105"/>
              </a:spcBef>
            </a:pPr>
            <a:r>
              <a:rPr dirty="0" sz="1350" spc="70" b="1">
                <a:latin typeface="宋体"/>
                <a:cs typeface="宋体"/>
              </a:rPr>
              <a:t>0%</a:t>
            </a:r>
            <a:endParaRPr sz="1350">
              <a:latin typeface="宋体"/>
              <a:cs typeface="宋体"/>
            </a:endParaRPr>
          </a:p>
        </p:txBody>
      </p:sp>
      <p:sp>
        <p:nvSpPr>
          <p:cNvPr id="19" name="object 19" descr=""/>
          <p:cNvSpPr txBox="1"/>
          <p:nvPr/>
        </p:nvSpPr>
        <p:spPr>
          <a:xfrm>
            <a:off x="6014797" y="2261361"/>
            <a:ext cx="209550" cy="742315"/>
          </a:xfrm>
          <a:prstGeom prst="rect">
            <a:avLst/>
          </a:prstGeom>
        </p:spPr>
        <p:txBody>
          <a:bodyPr wrap="square" lIns="0" tIns="48894" rIns="0" bIns="0" rtlCol="0" vert="horz">
            <a:spAutoFit/>
          </a:bodyPr>
          <a:lstStyle/>
          <a:p>
            <a:pPr algn="just" marR="5080">
              <a:lnSpc>
                <a:spcPts val="1340"/>
              </a:lnSpc>
              <a:spcBef>
                <a:spcPts val="384"/>
              </a:spcBef>
            </a:pPr>
            <a:r>
              <a:rPr dirty="0" sz="1350" spc="135" b="1">
                <a:solidFill>
                  <a:srgbClr val="0000FF"/>
                </a:solidFill>
                <a:latin typeface="宋体"/>
                <a:cs typeface="宋体"/>
              </a:rPr>
              <a:t>不命中率</a:t>
            </a:r>
            <a:endParaRPr sz="1350">
              <a:latin typeface="宋体"/>
              <a:cs typeface="宋体"/>
            </a:endParaRPr>
          </a:p>
        </p:txBody>
      </p:sp>
      <p:grpSp>
        <p:nvGrpSpPr>
          <p:cNvPr id="20" name="object 20" descr=""/>
          <p:cNvGrpSpPr/>
          <p:nvPr/>
        </p:nvGrpSpPr>
        <p:grpSpPr>
          <a:xfrm>
            <a:off x="6574125" y="1304006"/>
            <a:ext cx="5286375" cy="2677795"/>
            <a:chOff x="6574125" y="1304006"/>
            <a:chExt cx="5286375" cy="2677795"/>
          </a:xfrm>
        </p:grpSpPr>
        <p:sp>
          <p:nvSpPr>
            <p:cNvPr id="21" name="object 21" descr=""/>
            <p:cNvSpPr/>
            <p:nvPr/>
          </p:nvSpPr>
          <p:spPr>
            <a:xfrm>
              <a:off x="6643896" y="1311943"/>
              <a:ext cx="0" cy="2661920"/>
            </a:xfrm>
            <a:custGeom>
              <a:avLst/>
              <a:gdLst/>
              <a:ahLst/>
              <a:cxnLst/>
              <a:rect l="l" t="t" r="r" b="b"/>
              <a:pathLst>
                <a:path w="0" h="2661920">
                  <a:moveTo>
                    <a:pt x="0" y="426093"/>
                  </a:moveTo>
                  <a:lnTo>
                    <a:pt x="0" y="2661560"/>
                  </a:lnTo>
                </a:path>
                <a:path w="0" h="2661920">
                  <a:moveTo>
                    <a:pt x="0" y="0"/>
                  </a:moveTo>
                  <a:lnTo>
                    <a:pt x="0" y="355100"/>
                  </a:lnTo>
                </a:path>
              </a:pathLst>
            </a:custGeom>
            <a:ln w="15627">
              <a:solidFill>
                <a:srgbClr val="000000"/>
              </a:solidFill>
            </a:ln>
          </p:spPr>
          <p:txBody>
            <a:bodyPr wrap="square" lIns="0" tIns="0" rIns="0" bIns="0" rtlCol="0"/>
            <a:lstStyle/>
            <a:p/>
          </p:txBody>
        </p:sp>
        <p:sp>
          <p:nvSpPr>
            <p:cNvPr id="22" name="object 22" descr=""/>
            <p:cNvSpPr/>
            <p:nvPr/>
          </p:nvSpPr>
          <p:spPr>
            <a:xfrm>
              <a:off x="6643897" y="3973504"/>
              <a:ext cx="5149215" cy="0"/>
            </a:xfrm>
            <a:custGeom>
              <a:avLst/>
              <a:gdLst/>
              <a:ahLst/>
              <a:cxnLst/>
              <a:rect l="l" t="t" r="r" b="b"/>
              <a:pathLst>
                <a:path w="5149215" h="0">
                  <a:moveTo>
                    <a:pt x="0" y="0"/>
                  </a:moveTo>
                  <a:lnTo>
                    <a:pt x="5148718" y="0"/>
                  </a:lnTo>
                </a:path>
              </a:pathLst>
            </a:custGeom>
            <a:ln w="13688">
              <a:solidFill>
                <a:srgbClr val="000000"/>
              </a:solidFill>
            </a:ln>
          </p:spPr>
          <p:txBody>
            <a:bodyPr wrap="square" lIns="0" tIns="0" rIns="0" bIns="0" rtlCol="0"/>
            <a:lstStyle/>
            <a:p/>
          </p:txBody>
        </p:sp>
        <p:pic>
          <p:nvPicPr>
            <p:cNvPr id="23" name="object 23" descr=""/>
            <p:cNvPicPr/>
            <p:nvPr/>
          </p:nvPicPr>
          <p:blipFill>
            <a:blip r:embed="rId3" cstate="print"/>
            <a:stretch>
              <a:fillRect/>
            </a:stretch>
          </p:blipFill>
          <p:spPr>
            <a:xfrm>
              <a:off x="6638245" y="1306979"/>
              <a:ext cx="5101328" cy="16217"/>
            </a:xfrm>
            <a:prstGeom prst="rect">
              <a:avLst/>
            </a:prstGeom>
          </p:spPr>
        </p:pic>
        <p:pic>
          <p:nvPicPr>
            <p:cNvPr id="24" name="object 24" descr=""/>
            <p:cNvPicPr/>
            <p:nvPr/>
          </p:nvPicPr>
          <p:blipFill>
            <a:blip r:embed="rId4" cstate="print"/>
            <a:stretch>
              <a:fillRect/>
            </a:stretch>
          </p:blipFill>
          <p:spPr>
            <a:xfrm>
              <a:off x="6638241" y="2636517"/>
              <a:ext cx="5101335" cy="18702"/>
            </a:xfrm>
            <a:prstGeom prst="rect">
              <a:avLst/>
            </a:prstGeom>
          </p:spPr>
        </p:pic>
        <p:sp>
          <p:nvSpPr>
            <p:cNvPr id="25" name="object 25" descr=""/>
            <p:cNvSpPr/>
            <p:nvPr/>
          </p:nvSpPr>
          <p:spPr>
            <a:xfrm>
              <a:off x="7925311" y="3914278"/>
              <a:ext cx="3867785" cy="59690"/>
            </a:xfrm>
            <a:custGeom>
              <a:avLst/>
              <a:gdLst/>
              <a:ahLst/>
              <a:cxnLst/>
              <a:rect l="l" t="t" r="r" b="b"/>
              <a:pathLst>
                <a:path w="3867784" h="59689">
                  <a:moveTo>
                    <a:pt x="0" y="0"/>
                  </a:moveTo>
                  <a:lnTo>
                    <a:pt x="0" y="59226"/>
                  </a:lnTo>
                </a:path>
                <a:path w="3867784" h="59689">
                  <a:moveTo>
                    <a:pt x="1281371" y="0"/>
                  </a:moveTo>
                  <a:lnTo>
                    <a:pt x="1281371" y="59226"/>
                  </a:lnTo>
                </a:path>
                <a:path w="3867784" h="59689">
                  <a:moveTo>
                    <a:pt x="2562263" y="0"/>
                  </a:moveTo>
                  <a:lnTo>
                    <a:pt x="2562263" y="59226"/>
                  </a:lnTo>
                </a:path>
                <a:path w="3867784" h="59689">
                  <a:moveTo>
                    <a:pt x="3867303" y="0"/>
                  </a:moveTo>
                  <a:lnTo>
                    <a:pt x="3867303" y="59226"/>
                  </a:lnTo>
                </a:path>
              </a:pathLst>
            </a:custGeom>
            <a:ln w="14657">
              <a:solidFill>
                <a:srgbClr val="000000"/>
              </a:solidFill>
            </a:ln>
          </p:spPr>
          <p:txBody>
            <a:bodyPr wrap="square" lIns="0" tIns="0" rIns="0" bIns="0" rtlCol="0"/>
            <a:lstStyle/>
            <a:p/>
          </p:txBody>
        </p:sp>
        <p:pic>
          <p:nvPicPr>
            <p:cNvPr id="26" name="object 26" descr=""/>
            <p:cNvPicPr/>
            <p:nvPr/>
          </p:nvPicPr>
          <p:blipFill>
            <a:blip r:embed="rId5" cstate="print"/>
            <a:stretch>
              <a:fillRect/>
            </a:stretch>
          </p:blipFill>
          <p:spPr>
            <a:xfrm>
              <a:off x="6574125" y="3595763"/>
              <a:ext cx="129319" cy="103878"/>
            </a:xfrm>
            <a:prstGeom prst="rect">
              <a:avLst/>
            </a:prstGeom>
          </p:spPr>
        </p:pic>
        <p:pic>
          <p:nvPicPr>
            <p:cNvPr id="27" name="object 27" descr=""/>
            <p:cNvPicPr/>
            <p:nvPr/>
          </p:nvPicPr>
          <p:blipFill>
            <a:blip r:embed="rId6" cstate="print"/>
            <a:stretch>
              <a:fillRect/>
            </a:stretch>
          </p:blipFill>
          <p:spPr>
            <a:xfrm>
              <a:off x="6578934" y="3362056"/>
              <a:ext cx="114305" cy="99255"/>
            </a:xfrm>
            <a:prstGeom prst="rect">
              <a:avLst/>
            </a:prstGeom>
          </p:spPr>
        </p:pic>
        <p:sp>
          <p:nvSpPr>
            <p:cNvPr id="28" name="object 28" descr=""/>
            <p:cNvSpPr/>
            <p:nvPr/>
          </p:nvSpPr>
          <p:spPr>
            <a:xfrm>
              <a:off x="6588923" y="1667044"/>
              <a:ext cx="115570" cy="71120"/>
            </a:xfrm>
            <a:custGeom>
              <a:avLst/>
              <a:gdLst/>
              <a:ahLst/>
              <a:cxnLst/>
              <a:rect l="l" t="t" r="r" b="b"/>
              <a:pathLst>
                <a:path w="115570" h="71119">
                  <a:moveTo>
                    <a:pt x="115317" y="0"/>
                  </a:moveTo>
                  <a:lnTo>
                    <a:pt x="0" y="0"/>
                  </a:lnTo>
                  <a:lnTo>
                    <a:pt x="0" y="70993"/>
                  </a:lnTo>
                  <a:lnTo>
                    <a:pt x="115317" y="70993"/>
                  </a:lnTo>
                  <a:lnTo>
                    <a:pt x="115317" y="0"/>
                  </a:lnTo>
                  <a:close/>
                </a:path>
              </a:pathLst>
            </a:custGeom>
            <a:solidFill>
              <a:srgbClr val="FFFFFF"/>
            </a:solidFill>
          </p:spPr>
          <p:txBody>
            <a:bodyPr wrap="square" lIns="0" tIns="0" rIns="0" bIns="0" rtlCol="0"/>
            <a:lstStyle/>
            <a:p/>
          </p:txBody>
        </p:sp>
        <p:sp>
          <p:nvSpPr>
            <p:cNvPr id="29" name="object 29" descr=""/>
            <p:cNvSpPr/>
            <p:nvPr/>
          </p:nvSpPr>
          <p:spPr>
            <a:xfrm>
              <a:off x="6588923" y="1667044"/>
              <a:ext cx="115570" cy="71120"/>
            </a:xfrm>
            <a:custGeom>
              <a:avLst/>
              <a:gdLst/>
              <a:ahLst/>
              <a:cxnLst/>
              <a:rect l="l" t="t" r="r" b="b"/>
              <a:pathLst>
                <a:path w="115570" h="71119">
                  <a:moveTo>
                    <a:pt x="0" y="70993"/>
                  </a:moveTo>
                  <a:lnTo>
                    <a:pt x="115317" y="70993"/>
                  </a:lnTo>
                  <a:lnTo>
                    <a:pt x="115317" y="0"/>
                  </a:lnTo>
                  <a:lnTo>
                    <a:pt x="0" y="0"/>
                  </a:lnTo>
                  <a:lnTo>
                    <a:pt x="0" y="70993"/>
                  </a:lnTo>
                  <a:close/>
                </a:path>
              </a:pathLst>
            </a:custGeom>
            <a:ln w="14221">
              <a:solidFill>
                <a:srgbClr val="000000"/>
              </a:solidFill>
            </a:ln>
          </p:spPr>
          <p:txBody>
            <a:bodyPr wrap="square" lIns="0" tIns="0" rIns="0" bIns="0" rtlCol="0"/>
            <a:lstStyle/>
            <a:p/>
          </p:txBody>
        </p:sp>
        <p:pic>
          <p:nvPicPr>
            <p:cNvPr id="30" name="object 30" descr=""/>
            <p:cNvPicPr/>
            <p:nvPr/>
          </p:nvPicPr>
          <p:blipFill>
            <a:blip r:embed="rId7" cstate="print"/>
            <a:stretch>
              <a:fillRect/>
            </a:stretch>
          </p:blipFill>
          <p:spPr>
            <a:xfrm>
              <a:off x="6581596" y="2856161"/>
              <a:ext cx="114353" cy="101625"/>
            </a:xfrm>
            <a:prstGeom prst="rect">
              <a:avLst/>
            </a:prstGeom>
          </p:spPr>
        </p:pic>
        <p:pic>
          <p:nvPicPr>
            <p:cNvPr id="31" name="object 31" descr=""/>
            <p:cNvPicPr/>
            <p:nvPr/>
          </p:nvPicPr>
          <p:blipFill>
            <a:blip r:embed="rId8" cstate="print"/>
            <a:stretch>
              <a:fillRect/>
            </a:stretch>
          </p:blipFill>
          <p:spPr>
            <a:xfrm>
              <a:off x="7854998" y="3721288"/>
              <a:ext cx="129858" cy="103874"/>
            </a:xfrm>
            <a:prstGeom prst="rect">
              <a:avLst/>
            </a:prstGeom>
          </p:spPr>
        </p:pic>
        <p:pic>
          <p:nvPicPr>
            <p:cNvPr id="32" name="object 32" descr=""/>
            <p:cNvPicPr/>
            <p:nvPr/>
          </p:nvPicPr>
          <p:blipFill>
            <a:blip r:embed="rId9" cstate="print"/>
            <a:stretch>
              <a:fillRect/>
            </a:stretch>
          </p:blipFill>
          <p:spPr>
            <a:xfrm>
              <a:off x="9139151" y="3773956"/>
              <a:ext cx="129189" cy="103860"/>
            </a:xfrm>
            <a:prstGeom prst="rect">
              <a:avLst/>
            </a:prstGeom>
          </p:spPr>
        </p:pic>
        <p:pic>
          <p:nvPicPr>
            <p:cNvPr id="33" name="object 33" descr=""/>
            <p:cNvPicPr/>
            <p:nvPr/>
          </p:nvPicPr>
          <p:blipFill>
            <a:blip r:embed="rId10" cstate="print"/>
            <a:stretch>
              <a:fillRect/>
            </a:stretch>
          </p:blipFill>
          <p:spPr>
            <a:xfrm>
              <a:off x="10412432" y="3781010"/>
              <a:ext cx="129837" cy="103855"/>
            </a:xfrm>
            <a:prstGeom prst="rect">
              <a:avLst/>
            </a:prstGeom>
          </p:spPr>
        </p:pic>
        <p:pic>
          <p:nvPicPr>
            <p:cNvPr id="34" name="object 34" descr=""/>
            <p:cNvPicPr/>
            <p:nvPr/>
          </p:nvPicPr>
          <p:blipFill>
            <a:blip r:embed="rId11" cstate="print"/>
            <a:stretch>
              <a:fillRect/>
            </a:stretch>
          </p:blipFill>
          <p:spPr>
            <a:xfrm>
              <a:off x="11725086" y="3773959"/>
              <a:ext cx="129837" cy="103855"/>
            </a:xfrm>
            <a:prstGeom prst="rect">
              <a:avLst/>
            </a:prstGeom>
          </p:spPr>
        </p:pic>
        <p:sp>
          <p:nvSpPr>
            <p:cNvPr id="35" name="object 35" descr=""/>
            <p:cNvSpPr/>
            <p:nvPr/>
          </p:nvSpPr>
          <p:spPr>
            <a:xfrm>
              <a:off x="6667609" y="3648636"/>
              <a:ext cx="5148580" cy="206375"/>
            </a:xfrm>
            <a:custGeom>
              <a:avLst/>
              <a:gdLst/>
              <a:ahLst/>
              <a:cxnLst/>
              <a:rect l="l" t="t" r="r" b="b"/>
              <a:pathLst>
                <a:path w="5148580" h="206375">
                  <a:moveTo>
                    <a:pt x="0" y="0"/>
                  </a:moveTo>
                  <a:lnTo>
                    <a:pt x="1257702" y="146693"/>
                  </a:lnTo>
                </a:path>
                <a:path w="5148580" h="206375">
                  <a:moveTo>
                    <a:pt x="1257702" y="146693"/>
                  </a:moveTo>
                  <a:lnTo>
                    <a:pt x="2515361" y="205919"/>
                  </a:lnTo>
                </a:path>
                <a:path w="5148580" h="206375">
                  <a:moveTo>
                    <a:pt x="2515361" y="205919"/>
                  </a:moveTo>
                  <a:lnTo>
                    <a:pt x="3819966" y="205919"/>
                  </a:lnTo>
                </a:path>
                <a:path w="5148580" h="206375">
                  <a:moveTo>
                    <a:pt x="3843678" y="205919"/>
                  </a:moveTo>
                  <a:lnTo>
                    <a:pt x="5148283" y="205919"/>
                  </a:lnTo>
                </a:path>
              </a:pathLst>
            </a:custGeom>
            <a:ln w="14657">
              <a:solidFill>
                <a:srgbClr val="000000"/>
              </a:solidFill>
            </a:ln>
          </p:spPr>
          <p:txBody>
            <a:bodyPr wrap="square" lIns="0" tIns="0" rIns="0" bIns="0" rtlCol="0"/>
            <a:lstStyle/>
            <a:p/>
          </p:txBody>
        </p:sp>
        <p:pic>
          <p:nvPicPr>
            <p:cNvPr id="36" name="object 36" descr=""/>
            <p:cNvPicPr/>
            <p:nvPr/>
          </p:nvPicPr>
          <p:blipFill>
            <a:blip r:embed="rId12" cstate="print"/>
            <a:stretch>
              <a:fillRect/>
            </a:stretch>
          </p:blipFill>
          <p:spPr>
            <a:xfrm>
              <a:off x="7863022" y="3551985"/>
              <a:ext cx="113788" cy="99260"/>
            </a:xfrm>
            <a:prstGeom prst="rect">
              <a:avLst/>
            </a:prstGeom>
          </p:spPr>
        </p:pic>
        <p:pic>
          <p:nvPicPr>
            <p:cNvPr id="37" name="object 37" descr=""/>
            <p:cNvPicPr/>
            <p:nvPr/>
          </p:nvPicPr>
          <p:blipFill>
            <a:blip r:embed="rId13" cstate="print"/>
            <a:stretch>
              <a:fillRect/>
            </a:stretch>
          </p:blipFill>
          <p:spPr>
            <a:xfrm>
              <a:off x="9147143" y="3632370"/>
              <a:ext cx="113858" cy="101649"/>
            </a:xfrm>
            <a:prstGeom prst="rect">
              <a:avLst/>
            </a:prstGeom>
          </p:spPr>
        </p:pic>
        <p:pic>
          <p:nvPicPr>
            <p:cNvPr id="38" name="object 38" descr=""/>
            <p:cNvPicPr/>
            <p:nvPr/>
          </p:nvPicPr>
          <p:blipFill>
            <a:blip r:embed="rId14" cstate="print"/>
            <a:stretch>
              <a:fillRect/>
            </a:stretch>
          </p:blipFill>
          <p:spPr>
            <a:xfrm>
              <a:off x="10425211" y="3662005"/>
              <a:ext cx="114504" cy="101624"/>
            </a:xfrm>
            <a:prstGeom prst="rect">
              <a:avLst/>
            </a:prstGeom>
          </p:spPr>
        </p:pic>
        <p:pic>
          <p:nvPicPr>
            <p:cNvPr id="39" name="object 39" descr=""/>
            <p:cNvPicPr/>
            <p:nvPr/>
          </p:nvPicPr>
          <p:blipFill>
            <a:blip r:embed="rId15" cstate="print"/>
            <a:stretch>
              <a:fillRect/>
            </a:stretch>
          </p:blipFill>
          <p:spPr>
            <a:xfrm>
              <a:off x="11730478" y="3588668"/>
              <a:ext cx="113831" cy="99260"/>
            </a:xfrm>
            <a:prstGeom prst="rect">
              <a:avLst/>
            </a:prstGeom>
          </p:spPr>
        </p:pic>
        <p:sp>
          <p:nvSpPr>
            <p:cNvPr id="40" name="object 40" descr=""/>
            <p:cNvSpPr/>
            <p:nvPr/>
          </p:nvSpPr>
          <p:spPr>
            <a:xfrm>
              <a:off x="6691321" y="3410740"/>
              <a:ext cx="5053965" cy="297815"/>
            </a:xfrm>
            <a:custGeom>
              <a:avLst/>
              <a:gdLst/>
              <a:ahLst/>
              <a:cxnLst/>
              <a:rect l="l" t="t" r="r" b="b"/>
              <a:pathLst>
                <a:path w="5053965" h="297814">
                  <a:moveTo>
                    <a:pt x="0" y="0"/>
                  </a:moveTo>
                  <a:lnTo>
                    <a:pt x="1189263" y="208282"/>
                  </a:lnTo>
                </a:path>
                <a:path w="5053965" h="297814">
                  <a:moveTo>
                    <a:pt x="1280870" y="208282"/>
                  </a:moveTo>
                  <a:lnTo>
                    <a:pt x="2470765" y="267509"/>
                  </a:lnTo>
                </a:path>
                <a:path w="5053965" h="297814">
                  <a:moveTo>
                    <a:pt x="2562350" y="267509"/>
                  </a:moveTo>
                  <a:lnTo>
                    <a:pt x="3752093" y="295254"/>
                  </a:lnTo>
                </a:path>
                <a:path w="5053965" h="297814">
                  <a:moveTo>
                    <a:pt x="3843678" y="297598"/>
                  </a:moveTo>
                  <a:lnTo>
                    <a:pt x="5053869" y="237896"/>
                  </a:lnTo>
                </a:path>
              </a:pathLst>
            </a:custGeom>
            <a:ln w="14657">
              <a:solidFill>
                <a:srgbClr val="000000"/>
              </a:solidFill>
            </a:ln>
          </p:spPr>
          <p:txBody>
            <a:bodyPr wrap="square" lIns="0" tIns="0" rIns="0" bIns="0" rtlCol="0"/>
            <a:lstStyle/>
            <a:p/>
          </p:txBody>
        </p:sp>
        <p:pic>
          <p:nvPicPr>
            <p:cNvPr id="41" name="object 41" descr=""/>
            <p:cNvPicPr/>
            <p:nvPr/>
          </p:nvPicPr>
          <p:blipFill>
            <a:blip r:embed="rId16" cstate="print"/>
            <a:stretch>
              <a:fillRect/>
            </a:stretch>
          </p:blipFill>
          <p:spPr>
            <a:xfrm>
              <a:off x="7875966" y="3167415"/>
              <a:ext cx="114310" cy="99718"/>
            </a:xfrm>
            <a:prstGeom prst="rect">
              <a:avLst/>
            </a:prstGeom>
          </p:spPr>
        </p:pic>
        <p:pic>
          <p:nvPicPr>
            <p:cNvPr id="42" name="object 42" descr=""/>
            <p:cNvPicPr/>
            <p:nvPr/>
          </p:nvPicPr>
          <p:blipFill>
            <a:blip r:embed="rId17" cstate="print"/>
            <a:stretch>
              <a:fillRect/>
            </a:stretch>
          </p:blipFill>
          <p:spPr>
            <a:xfrm>
              <a:off x="9136269" y="3263790"/>
              <a:ext cx="114504" cy="101624"/>
            </a:xfrm>
            <a:prstGeom prst="rect">
              <a:avLst/>
            </a:prstGeom>
          </p:spPr>
        </p:pic>
        <p:pic>
          <p:nvPicPr>
            <p:cNvPr id="43" name="object 43" descr=""/>
            <p:cNvPicPr/>
            <p:nvPr/>
          </p:nvPicPr>
          <p:blipFill>
            <a:blip r:embed="rId18" cstate="print"/>
            <a:stretch>
              <a:fillRect/>
            </a:stretch>
          </p:blipFill>
          <p:spPr>
            <a:xfrm>
              <a:off x="10425224" y="3204082"/>
              <a:ext cx="114478" cy="99253"/>
            </a:xfrm>
            <a:prstGeom prst="rect">
              <a:avLst/>
            </a:prstGeom>
          </p:spPr>
        </p:pic>
        <p:pic>
          <p:nvPicPr>
            <p:cNvPr id="44" name="object 44" descr=""/>
            <p:cNvPicPr/>
            <p:nvPr/>
          </p:nvPicPr>
          <p:blipFill>
            <a:blip r:embed="rId19" cstate="print"/>
            <a:stretch>
              <a:fillRect/>
            </a:stretch>
          </p:blipFill>
          <p:spPr>
            <a:xfrm>
              <a:off x="11733089" y="2998159"/>
              <a:ext cx="113831" cy="99260"/>
            </a:xfrm>
            <a:prstGeom prst="rect">
              <a:avLst/>
            </a:prstGeom>
          </p:spPr>
        </p:pic>
        <p:sp>
          <p:nvSpPr>
            <p:cNvPr id="45" name="object 45" descr=""/>
            <p:cNvSpPr/>
            <p:nvPr/>
          </p:nvSpPr>
          <p:spPr>
            <a:xfrm>
              <a:off x="6643896" y="2909566"/>
              <a:ext cx="5101590" cy="414655"/>
            </a:xfrm>
            <a:custGeom>
              <a:avLst/>
              <a:gdLst/>
              <a:ahLst/>
              <a:cxnLst/>
              <a:rect l="l" t="t" r="r" b="b"/>
              <a:pathLst>
                <a:path w="5101590" h="414654">
                  <a:moveTo>
                    <a:pt x="0" y="0"/>
                  </a:moveTo>
                  <a:lnTo>
                    <a:pt x="1236687" y="295254"/>
                  </a:lnTo>
                </a:path>
                <a:path w="5101590" h="414654">
                  <a:moveTo>
                    <a:pt x="1349309" y="324867"/>
                  </a:moveTo>
                  <a:lnTo>
                    <a:pt x="2494477" y="414202"/>
                  </a:lnTo>
                </a:path>
                <a:path w="5101590" h="414654">
                  <a:moveTo>
                    <a:pt x="2609775" y="414202"/>
                  </a:moveTo>
                  <a:lnTo>
                    <a:pt x="3775805" y="354481"/>
                  </a:lnTo>
                </a:path>
                <a:path w="5101590" h="414654">
                  <a:moveTo>
                    <a:pt x="3891103" y="354481"/>
                  </a:moveTo>
                  <a:lnTo>
                    <a:pt x="5101294" y="146217"/>
                  </a:lnTo>
                </a:path>
              </a:pathLst>
            </a:custGeom>
            <a:ln w="14657">
              <a:solidFill>
                <a:srgbClr val="000000"/>
              </a:solidFill>
            </a:ln>
          </p:spPr>
          <p:txBody>
            <a:bodyPr wrap="square" lIns="0" tIns="0" rIns="0" bIns="0" rtlCol="0"/>
            <a:lstStyle/>
            <a:p/>
          </p:txBody>
        </p:sp>
        <p:sp>
          <p:nvSpPr>
            <p:cNvPr id="46" name="object 46" descr=""/>
            <p:cNvSpPr/>
            <p:nvPr/>
          </p:nvSpPr>
          <p:spPr>
            <a:xfrm>
              <a:off x="7873035" y="1991759"/>
              <a:ext cx="114935" cy="71120"/>
            </a:xfrm>
            <a:custGeom>
              <a:avLst/>
              <a:gdLst/>
              <a:ahLst/>
              <a:cxnLst/>
              <a:rect l="l" t="t" r="r" b="b"/>
              <a:pathLst>
                <a:path w="114934" h="71119">
                  <a:moveTo>
                    <a:pt x="114777" y="0"/>
                  </a:moveTo>
                  <a:lnTo>
                    <a:pt x="0" y="0"/>
                  </a:lnTo>
                  <a:lnTo>
                    <a:pt x="0" y="70993"/>
                  </a:lnTo>
                  <a:lnTo>
                    <a:pt x="114777" y="70993"/>
                  </a:lnTo>
                  <a:lnTo>
                    <a:pt x="114777" y="0"/>
                  </a:lnTo>
                  <a:close/>
                </a:path>
              </a:pathLst>
            </a:custGeom>
            <a:solidFill>
              <a:srgbClr val="FFFFFF"/>
            </a:solidFill>
          </p:spPr>
          <p:txBody>
            <a:bodyPr wrap="square" lIns="0" tIns="0" rIns="0" bIns="0" rtlCol="0"/>
            <a:lstStyle/>
            <a:p/>
          </p:txBody>
        </p:sp>
        <p:sp>
          <p:nvSpPr>
            <p:cNvPr id="47" name="object 47" descr=""/>
            <p:cNvSpPr/>
            <p:nvPr/>
          </p:nvSpPr>
          <p:spPr>
            <a:xfrm>
              <a:off x="7873035" y="1991759"/>
              <a:ext cx="114935" cy="71120"/>
            </a:xfrm>
            <a:custGeom>
              <a:avLst/>
              <a:gdLst/>
              <a:ahLst/>
              <a:cxnLst/>
              <a:rect l="l" t="t" r="r" b="b"/>
              <a:pathLst>
                <a:path w="114934" h="71119">
                  <a:moveTo>
                    <a:pt x="0" y="70993"/>
                  </a:moveTo>
                  <a:lnTo>
                    <a:pt x="114777" y="70993"/>
                  </a:lnTo>
                  <a:lnTo>
                    <a:pt x="114777" y="0"/>
                  </a:lnTo>
                  <a:lnTo>
                    <a:pt x="0" y="0"/>
                  </a:lnTo>
                  <a:lnTo>
                    <a:pt x="0" y="70993"/>
                  </a:lnTo>
                  <a:close/>
                </a:path>
              </a:pathLst>
            </a:custGeom>
            <a:ln w="14225">
              <a:solidFill>
                <a:srgbClr val="000000"/>
              </a:solidFill>
            </a:ln>
          </p:spPr>
          <p:txBody>
            <a:bodyPr wrap="square" lIns="0" tIns="0" rIns="0" bIns="0" rtlCol="0"/>
            <a:lstStyle/>
            <a:p/>
          </p:txBody>
        </p:sp>
        <p:sp>
          <p:nvSpPr>
            <p:cNvPr id="48" name="object 48" descr=""/>
            <p:cNvSpPr/>
            <p:nvPr/>
          </p:nvSpPr>
          <p:spPr>
            <a:xfrm>
              <a:off x="9146423" y="2081197"/>
              <a:ext cx="114935" cy="69215"/>
            </a:xfrm>
            <a:custGeom>
              <a:avLst/>
              <a:gdLst/>
              <a:ahLst/>
              <a:cxnLst/>
              <a:rect l="l" t="t" r="r" b="b"/>
              <a:pathLst>
                <a:path w="114934" h="69214">
                  <a:moveTo>
                    <a:pt x="114777" y="0"/>
                  </a:moveTo>
                  <a:lnTo>
                    <a:pt x="0" y="0"/>
                  </a:lnTo>
                  <a:lnTo>
                    <a:pt x="0" y="68641"/>
                  </a:lnTo>
                  <a:lnTo>
                    <a:pt x="114777" y="68641"/>
                  </a:lnTo>
                  <a:lnTo>
                    <a:pt x="114777" y="0"/>
                  </a:lnTo>
                  <a:close/>
                </a:path>
              </a:pathLst>
            </a:custGeom>
            <a:solidFill>
              <a:srgbClr val="FFFFFF"/>
            </a:solidFill>
          </p:spPr>
          <p:txBody>
            <a:bodyPr wrap="square" lIns="0" tIns="0" rIns="0" bIns="0" rtlCol="0"/>
            <a:lstStyle/>
            <a:p/>
          </p:txBody>
        </p:sp>
        <p:sp>
          <p:nvSpPr>
            <p:cNvPr id="49" name="object 49" descr=""/>
            <p:cNvSpPr/>
            <p:nvPr/>
          </p:nvSpPr>
          <p:spPr>
            <a:xfrm>
              <a:off x="9146423" y="2081197"/>
              <a:ext cx="114935" cy="69215"/>
            </a:xfrm>
            <a:custGeom>
              <a:avLst/>
              <a:gdLst/>
              <a:ahLst/>
              <a:cxnLst/>
              <a:rect l="l" t="t" r="r" b="b"/>
              <a:pathLst>
                <a:path w="114934" h="69214">
                  <a:moveTo>
                    <a:pt x="0" y="68641"/>
                  </a:moveTo>
                  <a:lnTo>
                    <a:pt x="114777" y="68641"/>
                  </a:lnTo>
                  <a:lnTo>
                    <a:pt x="114777" y="0"/>
                  </a:lnTo>
                  <a:lnTo>
                    <a:pt x="0" y="0"/>
                  </a:lnTo>
                  <a:lnTo>
                    <a:pt x="0" y="68641"/>
                  </a:lnTo>
                  <a:close/>
                </a:path>
              </a:pathLst>
            </a:custGeom>
            <a:ln w="14199">
              <a:solidFill>
                <a:srgbClr val="000000"/>
              </a:solidFill>
            </a:ln>
          </p:spPr>
          <p:txBody>
            <a:bodyPr wrap="square" lIns="0" tIns="0" rIns="0" bIns="0" rtlCol="0"/>
            <a:lstStyle/>
            <a:p/>
          </p:txBody>
        </p:sp>
        <p:sp>
          <p:nvSpPr>
            <p:cNvPr id="50" name="object 50" descr=""/>
            <p:cNvSpPr/>
            <p:nvPr/>
          </p:nvSpPr>
          <p:spPr>
            <a:xfrm>
              <a:off x="10427751" y="1895997"/>
              <a:ext cx="114935" cy="71120"/>
            </a:xfrm>
            <a:custGeom>
              <a:avLst/>
              <a:gdLst/>
              <a:ahLst/>
              <a:cxnLst/>
              <a:rect l="l" t="t" r="r" b="b"/>
              <a:pathLst>
                <a:path w="114934" h="71119">
                  <a:moveTo>
                    <a:pt x="114777" y="0"/>
                  </a:moveTo>
                  <a:lnTo>
                    <a:pt x="0" y="0"/>
                  </a:lnTo>
                  <a:lnTo>
                    <a:pt x="0" y="70522"/>
                  </a:lnTo>
                  <a:lnTo>
                    <a:pt x="114777" y="70522"/>
                  </a:lnTo>
                  <a:lnTo>
                    <a:pt x="114777" y="0"/>
                  </a:lnTo>
                  <a:close/>
                </a:path>
              </a:pathLst>
            </a:custGeom>
            <a:solidFill>
              <a:srgbClr val="FFFFFF"/>
            </a:solidFill>
          </p:spPr>
          <p:txBody>
            <a:bodyPr wrap="square" lIns="0" tIns="0" rIns="0" bIns="0" rtlCol="0"/>
            <a:lstStyle/>
            <a:p/>
          </p:txBody>
        </p:sp>
        <p:sp>
          <p:nvSpPr>
            <p:cNvPr id="51" name="object 51" descr=""/>
            <p:cNvSpPr/>
            <p:nvPr/>
          </p:nvSpPr>
          <p:spPr>
            <a:xfrm>
              <a:off x="10427751" y="1895997"/>
              <a:ext cx="114935" cy="71120"/>
            </a:xfrm>
            <a:custGeom>
              <a:avLst/>
              <a:gdLst/>
              <a:ahLst/>
              <a:cxnLst/>
              <a:rect l="l" t="t" r="r" b="b"/>
              <a:pathLst>
                <a:path w="114934" h="71119">
                  <a:moveTo>
                    <a:pt x="0" y="70522"/>
                  </a:moveTo>
                  <a:lnTo>
                    <a:pt x="114777" y="70522"/>
                  </a:lnTo>
                  <a:lnTo>
                    <a:pt x="114777" y="0"/>
                  </a:lnTo>
                  <a:lnTo>
                    <a:pt x="0" y="0"/>
                  </a:lnTo>
                  <a:lnTo>
                    <a:pt x="0" y="70522"/>
                  </a:lnTo>
                  <a:close/>
                </a:path>
              </a:pathLst>
            </a:custGeom>
            <a:ln w="14219">
              <a:solidFill>
                <a:srgbClr val="000000"/>
              </a:solidFill>
            </a:ln>
          </p:spPr>
          <p:txBody>
            <a:bodyPr wrap="square" lIns="0" tIns="0" rIns="0" bIns="0" rtlCol="0"/>
            <a:lstStyle/>
            <a:p/>
          </p:txBody>
        </p:sp>
        <p:sp>
          <p:nvSpPr>
            <p:cNvPr id="52" name="object 52" descr=""/>
            <p:cNvSpPr/>
            <p:nvPr/>
          </p:nvSpPr>
          <p:spPr>
            <a:xfrm>
              <a:off x="11737794" y="1401276"/>
              <a:ext cx="114935" cy="69215"/>
            </a:xfrm>
            <a:custGeom>
              <a:avLst/>
              <a:gdLst/>
              <a:ahLst/>
              <a:cxnLst/>
              <a:rect l="l" t="t" r="r" b="b"/>
              <a:pathLst>
                <a:path w="114934" h="69215">
                  <a:moveTo>
                    <a:pt x="114777" y="0"/>
                  </a:moveTo>
                  <a:lnTo>
                    <a:pt x="0" y="0"/>
                  </a:lnTo>
                  <a:lnTo>
                    <a:pt x="0" y="68641"/>
                  </a:lnTo>
                  <a:lnTo>
                    <a:pt x="114777" y="68641"/>
                  </a:lnTo>
                  <a:lnTo>
                    <a:pt x="114777" y="0"/>
                  </a:lnTo>
                  <a:close/>
                </a:path>
              </a:pathLst>
            </a:custGeom>
            <a:solidFill>
              <a:srgbClr val="FFFFFF"/>
            </a:solidFill>
          </p:spPr>
          <p:txBody>
            <a:bodyPr wrap="square" lIns="0" tIns="0" rIns="0" bIns="0" rtlCol="0"/>
            <a:lstStyle/>
            <a:p/>
          </p:txBody>
        </p:sp>
        <p:sp>
          <p:nvSpPr>
            <p:cNvPr id="53" name="object 53" descr=""/>
            <p:cNvSpPr/>
            <p:nvPr/>
          </p:nvSpPr>
          <p:spPr>
            <a:xfrm>
              <a:off x="6711791" y="1401276"/>
              <a:ext cx="5140960" cy="709930"/>
            </a:xfrm>
            <a:custGeom>
              <a:avLst/>
              <a:gdLst/>
              <a:ahLst/>
              <a:cxnLst/>
              <a:rect l="l" t="t" r="r" b="b"/>
              <a:pathLst>
                <a:path w="5140959" h="709930">
                  <a:moveTo>
                    <a:pt x="5026002" y="68641"/>
                  </a:moveTo>
                  <a:lnTo>
                    <a:pt x="5140780" y="68641"/>
                  </a:lnTo>
                  <a:lnTo>
                    <a:pt x="5140780" y="0"/>
                  </a:lnTo>
                  <a:lnTo>
                    <a:pt x="5026002" y="0"/>
                  </a:lnTo>
                  <a:lnTo>
                    <a:pt x="5026002" y="68641"/>
                  </a:lnTo>
                  <a:close/>
                </a:path>
                <a:path w="5140959" h="709930">
                  <a:moveTo>
                    <a:pt x="0" y="295218"/>
                  </a:moveTo>
                  <a:lnTo>
                    <a:pt x="1145624" y="620124"/>
                  </a:lnTo>
                </a:path>
                <a:path w="5140959" h="709930">
                  <a:moveTo>
                    <a:pt x="1281414" y="620124"/>
                  </a:moveTo>
                  <a:lnTo>
                    <a:pt x="2426582" y="709497"/>
                  </a:lnTo>
                </a:path>
                <a:path w="5140959" h="709930">
                  <a:moveTo>
                    <a:pt x="2562764" y="709497"/>
                  </a:moveTo>
                  <a:lnTo>
                    <a:pt x="3707910" y="530751"/>
                  </a:lnTo>
                </a:path>
                <a:path w="5140959" h="709930">
                  <a:moveTo>
                    <a:pt x="3823207" y="503501"/>
                  </a:moveTo>
                  <a:lnTo>
                    <a:pt x="5012514" y="29576"/>
                  </a:lnTo>
                </a:path>
              </a:pathLst>
            </a:custGeom>
            <a:ln w="14657">
              <a:solidFill>
                <a:srgbClr val="000000"/>
              </a:solidFill>
            </a:ln>
          </p:spPr>
          <p:txBody>
            <a:bodyPr wrap="square" lIns="0" tIns="0" rIns="0" bIns="0" rtlCol="0"/>
            <a:lstStyle/>
            <a:p/>
          </p:txBody>
        </p:sp>
      </p:grpSp>
      <p:sp>
        <p:nvSpPr>
          <p:cNvPr id="54" name="object 54" descr=""/>
          <p:cNvSpPr txBox="1"/>
          <p:nvPr/>
        </p:nvSpPr>
        <p:spPr>
          <a:xfrm>
            <a:off x="8097649" y="1374301"/>
            <a:ext cx="409575" cy="232410"/>
          </a:xfrm>
          <a:prstGeom prst="rect">
            <a:avLst/>
          </a:prstGeom>
        </p:spPr>
        <p:txBody>
          <a:bodyPr wrap="square" lIns="0" tIns="13335" rIns="0" bIns="0" rtlCol="0" vert="horz">
            <a:spAutoFit/>
          </a:bodyPr>
          <a:lstStyle/>
          <a:p>
            <a:pPr>
              <a:lnSpc>
                <a:spcPct val="100000"/>
              </a:lnSpc>
              <a:spcBef>
                <a:spcPts val="105"/>
              </a:spcBef>
            </a:pPr>
            <a:r>
              <a:rPr dirty="0" sz="1350" spc="75" b="1">
                <a:solidFill>
                  <a:srgbClr val="993300"/>
                </a:solidFill>
                <a:latin typeface="宋体"/>
                <a:cs typeface="宋体"/>
              </a:rPr>
              <a:t>256K</a:t>
            </a:r>
            <a:endParaRPr sz="1350">
              <a:latin typeface="宋体"/>
              <a:cs typeface="宋体"/>
            </a:endParaRPr>
          </a:p>
        </p:txBody>
      </p:sp>
      <p:sp>
        <p:nvSpPr>
          <p:cNvPr id="55" name="object 55" descr=""/>
          <p:cNvSpPr txBox="1"/>
          <p:nvPr/>
        </p:nvSpPr>
        <p:spPr>
          <a:xfrm>
            <a:off x="8884936" y="1374301"/>
            <a:ext cx="310515" cy="232410"/>
          </a:xfrm>
          <a:prstGeom prst="rect">
            <a:avLst/>
          </a:prstGeom>
        </p:spPr>
        <p:txBody>
          <a:bodyPr wrap="square" lIns="0" tIns="13335" rIns="0" bIns="0" rtlCol="0" vert="horz">
            <a:spAutoFit/>
          </a:bodyPr>
          <a:lstStyle/>
          <a:p>
            <a:pPr>
              <a:lnSpc>
                <a:spcPct val="100000"/>
              </a:lnSpc>
              <a:spcBef>
                <a:spcPts val="105"/>
              </a:spcBef>
            </a:pPr>
            <a:r>
              <a:rPr dirty="0" sz="1350" spc="70" b="1">
                <a:solidFill>
                  <a:srgbClr val="993300"/>
                </a:solidFill>
                <a:latin typeface="宋体"/>
                <a:cs typeface="宋体"/>
              </a:rPr>
              <a:t>64K</a:t>
            </a:r>
            <a:endParaRPr sz="1350">
              <a:latin typeface="宋体"/>
              <a:cs typeface="宋体"/>
            </a:endParaRPr>
          </a:p>
        </p:txBody>
      </p:sp>
      <p:sp>
        <p:nvSpPr>
          <p:cNvPr id="56" name="object 56" descr=""/>
          <p:cNvSpPr txBox="1"/>
          <p:nvPr/>
        </p:nvSpPr>
        <p:spPr>
          <a:xfrm>
            <a:off x="9575200" y="1374301"/>
            <a:ext cx="310515" cy="232410"/>
          </a:xfrm>
          <a:prstGeom prst="rect">
            <a:avLst/>
          </a:prstGeom>
        </p:spPr>
        <p:txBody>
          <a:bodyPr wrap="square" lIns="0" tIns="13335" rIns="0" bIns="0" rtlCol="0" vert="horz">
            <a:spAutoFit/>
          </a:bodyPr>
          <a:lstStyle/>
          <a:p>
            <a:pPr>
              <a:lnSpc>
                <a:spcPct val="100000"/>
              </a:lnSpc>
              <a:spcBef>
                <a:spcPts val="105"/>
              </a:spcBef>
            </a:pPr>
            <a:r>
              <a:rPr dirty="0" sz="1350" spc="70" b="1">
                <a:solidFill>
                  <a:srgbClr val="993300"/>
                </a:solidFill>
                <a:latin typeface="宋体"/>
                <a:cs typeface="宋体"/>
              </a:rPr>
              <a:t>16K</a:t>
            </a:r>
            <a:endParaRPr sz="1350">
              <a:latin typeface="宋体"/>
              <a:cs typeface="宋体"/>
            </a:endParaRPr>
          </a:p>
        </p:txBody>
      </p:sp>
      <p:sp>
        <p:nvSpPr>
          <p:cNvPr id="57" name="object 57" descr=""/>
          <p:cNvSpPr txBox="1"/>
          <p:nvPr/>
        </p:nvSpPr>
        <p:spPr>
          <a:xfrm>
            <a:off x="10262854" y="1374301"/>
            <a:ext cx="211454" cy="232410"/>
          </a:xfrm>
          <a:prstGeom prst="rect">
            <a:avLst/>
          </a:prstGeom>
        </p:spPr>
        <p:txBody>
          <a:bodyPr wrap="square" lIns="0" tIns="13335" rIns="0" bIns="0" rtlCol="0" vert="horz">
            <a:spAutoFit/>
          </a:bodyPr>
          <a:lstStyle/>
          <a:p>
            <a:pPr>
              <a:lnSpc>
                <a:spcPct val="100000"/>
              </a:lnSpc>
              <a:spcBef>
                <a:spcPts val="105"/>
              </a:spcBef>
            </a:pPr>
            <a:r>
              <a:rPr dirty="0" sz="1350" spc="70" b="1">
                <a:solidFill>
                  <a:srgbClr val="993300"/>
                </a:solidFill>
                <a:latin typeface="宋体"/>
                <a:cs typeface="宋体"/>
              </a:rPr>
              <a:t>4K</a:t>
            </a:r>
            <a:endParaRPr sz="1350">
              <a:latin typeface="宋体"/>
              <a:cs typeface="宋体"/>
            </a:endParaRPr>
          </a:p>
        </p:txBody>
      </p:sp>
      <p:grpSp>
        <p:nvGrpSpPr>
          <p:cNvPr id="58" name="object 58" descr=""/>
          <p:cNvGrpSpPr/>
          <p:nvPr/>
        </p:nvGrpSpPr>
        <p:grpSpPr>
          <a:xfrm>
            <a:off x="7918039" y="1453632"/>
            <a:ext cx="2302510" cy="104139"/>
            <a:chOff x="7918039" y="1453632"/>
            <a:chExt cx="2302510" cy="104139"/>
          </a:xfrm>
        </p:grpSpPr>
        <p:pic>
          <p:nvPicPr>
            <p:cNvPr id="59" name="object 59" descr=""/>
            <p:cNvPicPr/>
            <p:nvPr/>
          </p:nvPicPr>
          <p:blipFill>
            <a:blip r:embed="rId20" cstate="print"/>
            <a:stretch>
              <a:fillRect/>
            </a:stretch>
          </p:blipFill>
          <p:spPr>
            <a:xfrm>
              <a:off x="7918039" y="1453690"/>
              <a:ext cx="129319" cy="103917"/>
            </a:xfrm>
            <a:prstGeom prst="rect">
              <a:avLst/>
            </a:prstGeom>
          </p:spPr>
        </p:pic>
        <p:pic>
          <p:nvPicPr>
            <p:cNvPr id="60" name="object 60" descr=""/>
            <p:cNvPicPr/>
            <p:nvPr/>
          </p:nvPicPr>
          <p:blipFill>
            <a:blip r:embed="rId21" cstate="print"/>
            <a:stretch>
              <a:fillRect/>
            </a:stretch>
          </p:blipFill>
          <p:spPr>
            <a:xfrm>
              <a:off x="8710115" y="1453648"/>
              <a:ext cx="114262" cy="99236"/>
            </a:xfrm>
            <a:prstGeom prst="rect">
              <a:avLst/>
            </a:prstGeom>
          </p:spPr>
        </p:pic>
        <p:pic>
          <p:nvPicPr>
            <p:cNvPr id="61" name="object 61" descr=""/>
            <p:cNvPicPr/>
            <p:nvPr/>
          </p:nvPicPr>
          <p:blipFill>
            <a:blip r:embed="rId22" cstate="print"/>
            <a:stretch>
              <a:fillRect/>
            </a:stretch>
          </p:blipFill>
          <p:spPr>
            <a:xfrm>
              <a:off x="9429513" y="1453632"/>
              <a:ext cx="111031" cy="99268"/>
            </a:xfrm>
            <a:prstGeom prst="rect">
              <a:avLst/>
            </a:prstGeom>
          </p:spPr>
        </p:pic>
        <p:sp>
          <p:nvSpPr>
            <p:cNvPr id="62" name="object 62" descr=""/>
            <p:cNvSpPr/>
            <p:nvPr/>
          </p:nvSpPr>
          <p:spPr>
            <a:xfrm>
              <a:off x="10097956" y="1479342"/>
              <a:ext cx="115570" cy="71120"/>
            </a:xfrm>
            <a:custGeom>
              <a:avLst/>
              <a:gdLst/>
              <a:ahLst/>
              <a:cxnLst/>
              <a:rect l="l" t="t" r="r" b="b"/>
              <a:pathLst>
                <a:path w="115570" h="71119">
                  <a:moveTo>
                    <a:pt x="115317" y="0"/>
                  </a:moveTo>
                  <a:lnTo>
                    <a:pt x="0" y="0"/>
                  </a:lnTo>
                  <a:lnTo>
                    <a:pt x="0" y="70993"/>
                  </a:lnTo>
                  <a:lnTo>
                    <a:pt x="115317" y="70993"/>
                  </a:lnTo>
                  <a:lnTo>
                    <a:pt x="115317" y="0"/>
                  </a:lnTo>
                  <a:close/>
                </a:path>
              </a:pathLst>
            </a:custGeom>
            <a:solidFill>
              <a:srgbClr val="FFFFFF"/>
            </a:solidFill>
          </p:spPr>
          <p:txBody>
            <a:bodyPr wrap="square" lIns="0" tIns="0" rIns="0" bIns="0" rtlCol="0"/>
            <a:lstStyle/>
            <a:p/>
          </p:txBody>
        </p:sp>
        <p:sp>
          <p:nvSpPr>
            <p:cNvPr id="63" name="object 63" descr=""/>
            <p:cNvSpPr/>
            <p:nvPr/>
          </p:nvSpPr>
          <p:spPr>
            <a:xfrm>
              <a:off x="10097956" y="1479342"/>
              <a:ext cx="115570" cy="71120"/>
            </a:xfrm>
            <a:custGeom>
              <a:avLst/>
              <a:gdLst/>
              <a:ahLst/>
              <a:cxnLst/>
              <a:rect l="l" t="t" r="r" b="b"/>
              <a:pathLst>
                <a:path w="115570" h="71119">
                  <a:moveTo>
                    <a:pt x="0" y="70993"/>
                  </a:moveTo>
                  <a:lnTo>
                    <a:pt x="115317" y="70993"/>
                  </a:lnTo>
                  <a:lnTo>
                    <a:pt x="115317" y="0"/>
                  </a:lnTo>
                  <a:lnTo>
                    <a:pt x="0" y="0"/>
                  </a:lnTo>
                  <a:lnTo>
                    <a:pt x="0" y="70993"/>
                  </a:lnTo>
                  <a:close/>
                </a:path>
              </a:pathLst>
            </a:custGeom>
            <a:ln w="14221">
              <a:solidFill>
                <a:srgbClr val="000000"/>
              </a:solidFill>
            </a:ln>
          </p:spPr>
          <p:txBody>
            <a:bodyPr wrap="square" lIns="0" tIns="0" rIns="0" bIns="0" rtlCol="0"/>
            <a:lstStyle/>
            <a:p/>
          </p:txBody>
        </p:sp>
      </p:grpSp>
      <p:sp>
        <p:nvSpPr>
          <p:cNvPr id="64" name="object 64" descr=""/>
          <p:cNvSpPr txBox="1"/>
          <p:nvPr/>
        </p:nvSpPr>
        <p:spPr>
          <a:xfrm>
            <a:off x="7567930" y="4923282"/>
            <a:ext cx="3354704"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40458B"/>
                </a:solidFill>
                <a:latin typeface="宋体"/>
                <a:cs typeface="宋体"/>
              </a:rPr>
              <a:t>不命中率随</a:t>
            </a:r>
            <a:r>
              <a:rPr dirty="0" sz="2000" spc="-10" b="1">
                <a:solidFill>
                  <a:srgbClr val="C00000"/>
                </a:solidFill>
                <a:latin typeface="宋体"/>
                <a:cs typeface="宋体"/>
              </a:rPr>
              <a:t>块大小</a:t>
            </a:r>
            <a:r>
              <a:rPr dirty="0" sz="2000" spc="-20" b="1">
                <a:solidFill>
                  <a:srgbClr val="40458B"/>
                </a:solidFill>
                <a:latin typeface="宋体"/>
                <a:cs typeface="宋体"/>
              </a:rPr>
              <a:t>变化的曲线</a:t>
            </a:r>
            <a:endParaRPr sz="2000">
              <a:latin typeface="宋体"/>
              <a:cs typeface="宋体"/>
            </a:endParaRPr>
          </a:p>
        </p:txBody>
      </p:sp>
      <p:sp>
        <p:nvSpPr>
          <p:cNvPr id="65" name="object 65"/>
          <p:cNvSpPr txBox="1">
            <a:spLocks noGrp="1"/>
          </p:cNvSpPr>
          <p:nvPr>
            <p:ph type="title"/>
          </p:nvPr>
        </p:nvSpPr>
        <p:spPr>
          <a:xfrm>
            <a:off x="1853945" y="41859"/>
            <a:ext cx="3494404"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7.3.2</a:t>
            </a:r>
            <a:r>
              <a:rPr dirty="0" u="none" sz="2600" spc="-10">
                <a:solidFill>
                  <a:srgbClr val="0000CC"/>
                </a:solidFill>
              </a:rPr>
              <a:t> 增加Cache</a:t>
            </a:r>
            <a:r>
              <a:rPr dirty="0" u="none" sz="2600" spc="-30">
                <a:solidFill>
                  <a:srgbClr val="0000CC"/>
                </a:solidFill>
              </a:rPr>
              <a:t>块大小</a:t>
            </a:r>
            <a:endParaRPr sz="2600"/>
          </a:p>
        </p:txBody>
      </p:sp>
      <p:grpSp>
        <p:nvGrpSpPr>
          <p:cNvPr id="66" name="object 66" descr=""/>
          <p:cNvGrpSpPr/>
          <p:nvPr/>
        </p:nvGrpSpPr>
        <p:grpSpPr>
          <a:xfrm>
            <a:off x="70260" y="1195324"/>
            <a:ext cx="5401310" cy="3349625"/>
            <a:chOff x="70260" y="1195324"/>
            <a:chExt cx="5401310" cy="3349625"/>
          </a:xfrm>
        </p:grpSpPr>
        <p:pic>
          <p:nvPicPr>
            <p:cNvPr id="67" name="object 67" descr=""/>
            <p:cNvPicPr/>
            <p:nvPr/>
          </p:nvPicPr>
          <p:blipFill>
            <a:blip r:embed="rId23" cstate="print"/>
            <a:stretch>
              <a:fillRect/>
            </a:stretch>
          </p:blipFill>
          <p:spPr>
            <a:xfrm>
              <a:off x="70260" y="1195324"/>
              <a:ext cx="5401093" cy="3349625"/>
            </a:xfrm>
            <a:prstGeom prst="rect">
              <a:avLst/>
            </a:prstGeom>
          </p:spPr>
        </p:pic>
        <p:sp>
          <p:nvSpPr>
            <p:cNvPr id="68" name="object 68" descr=""/>
            <p:cNvSpPr/>
            <p:nvPr/>
          </p:nvSpPr>
          <p:spPr>
            <a:xfrm>
              <a:off x="1055687" y="2924213"/>
              <a:ext cx="4343400" cy="1098550"/>
            </a:xfrm>
            <a:custGeom>
              <a:avLst/>
              <a:gdLst/>
              <a:ahLst/>
              <a:cxnLst/>
              <a:rect l="l" t="t" r="r" b="b"/>
              <a:pathLst>
                <a:path w="4343400" h="1098550">
                  <a:moveTo>
                    <a:pt x="0" y="288378"/>
                  </a:moveTo>
                  <a:lnTo>
                    <a:pt x="720115" y="288378"/>
                  </a:lnTo>
                  <a:lnTo>
                    <a:pt x="720115" y="0"/>
                  </a:lnTo>
                  <a:lnTo>
                    <a:pt x="0" y="0"/>
                  </a:lnTo>
                  <a:lnTo>
                    <a:pt x="0" y="288378"/>
                  </a:lnTo>
                  <a:close/>
                </a:path>
                <a:path w="4343400" h="1098550">
                  <a:moveTo>
                    <a:pt x="2736405" y="1081366"/>
                  </a:moveTo>
                  <a:lnTo>
                    <a:pt x="3456520" y="1081366"/>
                  </a:lnTo>
                  <a:lnTo>
                    <a:pt x="3456520" y="792988"/>
                  </a:lnTo>
                  <a:lnTo>
                    <a:pt x="2736405" y="792988"/>
                  </a:lnTo>
                  <a:lnTo>
                    <a:pt x="2736405" y="1081366"/>
                  </a:lnTo>
                  <a:close/>
                </a:path>
                <a:path w="4343400" h="1098550">
                  <a:moveTo>
                    <a:pt x="1816163" y="648804"/>
                  </a:moveTo>
                  <a:lnTo>
                    <a:pt x="2536278" y="648804"/>
                  </a:lnTo>
                  <a:lnTo>
                    <a:pt x="2536278" y="360425"/>
                  </a:lnTo>
                  <a:lnTo>
                    <a:pt x="1816163" y="360425"/>
                  </a:lnTo>
                  <a:lnTo>
                    <a:pt x="1816163" y="648804"/>
                  </a:lnTo>
                  <a:close/>
                </a:path>
                <a:path w="4343400" h="1098550">
                  <a:moveTo>
                    <a:pt x="3623246" y="1098511"/>
                  </a:moveTo>
                  <a:lnTo>
                    <a:pt x="4343361" y="1098511"/>
                  </a:lnTo>
                  <a:lnTo>
                    <a:pt x="4343361" y="810133"/>
                  </a:lnTo>
                  <a:lnTo>
                    <a:pt x="3623246" y="810133"/>
                  </a:lnTo>
                  <a:lnTo>
                    <a:pt x="3623246" y="1098511"/>
                  </a:lnTo>
                  <a:close/>
                </a:path>
                <a:path w="4343400" h="1098550">
                  <a:moveTo>
                    <a:pt x="964628" y="648804"/>
                  </a:moveTo>
                  <a:lnTo>
                    <a:pt x="1684743" y="648804"/>
                  </a:lnTo>
                  <a:lnTo>
                    <a:pt x="1684743" y="360425"/>
                  </a:lnTo>
                  <a:lnTo>
                    <a:pt x="964628" y="360425"/>
                  </a:lnTo>
                  <a:lnTo>
                    <a:pt x="964628" y="648804"/>
                  </a:lnTo>
                  <a:close/>
                </a:path>
              </a:pathLst>
            </a:custGeom>
            <a:ln w="28575">
              <a:solidFill>
                <a:srgbClr val="FF0000"/>
              </a:solidFill>
            </a:ln>
          </p:spPr>
          <p:txBody>
            <a:bodyPr wrap="square" lIns="0" tIns="0" rIns="0" bIns="0" rtlCol="0"/>
            <a:lstStyle/>
            <a:p/>
          </p:txBody>
        </p:sp>
      </p:grpSp>
      <p:sp>
        <p:nvSpPr>
          <p:cNvPr id="69" name="object 69" descr=""/>
          <p:cNvSpPr txBox="1"/>
          <p:nvPr/>
        </p:nvSpPr>
        <p:spPr>
          <a:xfrm>
            <a:off x="148539" y="5055234"/>
            <a:ext cx="6885305" cy="933450"/>
          </a:xfrm>
          <a:prstGeom prst="rect">
            <a:avLst/>
          </a:prstGeom>
        </p:spPr>
        <p:txBody>
          <a:bodyPr wrap="square" lIns="0" tIns="17145" rIns="0" bIns="0" rtlCol="0" vert="horz">
            <a:spAutoFit/>
          </a:bodyPr>
          <a:lstStyle/>
          <a:p>
            <a:pPr algn="just" marL="12700" marR="5080">
              <a:lnSpc>
                <a:spcPct val="98700"/>
              </a:lnSpc>
              <a:spcBef>
                <a:spcPts val="135"/>
              </a:spcBef>
            </a:pPr>
            <a:r>
              <a:rPr dirty="0" sz="2000" spc="-10">
                <a:solidFill>
                  <a:srgbClr val="C00000"/>
                </a:solidFill>
                <a:latin typeface="黑体"/>
                <a:cs typeface="黑体"/>
              </a:rPr>
              <a:t>最上曲线变化</a:t>
            </a:r>
            <a:r>
              <a:rPr dirty="0" sz="2000" spc="-10">
                <a:solidFill>
                  <a:srgbClr val="40458B"/>
                </a:solidFill>
                <a:latin typeface="黑体"/>
                <a:cs typeface="黑体"/>
              </a:rPr>
              <a:t>：容量增加开始下降</a:t>
            </a:r>
            <a:r>
              <a:rPr dirty="0" sz="2000" spc="-15">
                <a:solidFill>
                  <a:srgbClr val="40458B"/>
                </a:solidFill>
                <a:latin typeface="黑体"/>
                <a:cs typeface="黑体"/>
              </a:rPr>
              <a:t>（强制性失效变低</a:t>
            </a:r>
            <a:r>
              <a:rPr dirty="0" sz="2000" spc="-10">
                <a:solidFill>
                  <a:srgbClr val="40458B"/>
                </a:solidFill>
                <a:latin typeface="黑体"/>
                <a:cs typeface="黑体"/>
              </a:rPr>
              <a:t>）</a:t>
            </a:r>
            <a:r>
              <a:rPr dirty="0" sz="2000" spc="-20">
                <a:solidFill>
                  <a:srgbClr val="40458B"/>
                </a:solidFill>
                <a:latin typeface="黑体"/>
                <a:cs typeface="黑体"/>
              </a:rPr>
              <a:t>，继续</a:t>
            </a:r>
            <a:r>
              <a:rPr dirty="0" sz="2000" spc="-15">
                <a:solidFill>
                  <a:srgbClr val="40458B"/>
                </a:solidFill>
                <a:latin typeface="黑体"/>
                <a:cs typeface="黑体"/>
              </a:rPr>
              <a:t>增加容量到一定程度，不命中率或失效率反而增大</a:t>
            </a:r>
            <a:r>
              <a:rPr dirty="0" sz="2000">
                <a:solidFill>
                  <a:srgbClr val="40458B"/>
                </a:solidFill>
                <a:latin typeface="黑体"/>
                <a:cs typeface="黑体"/>
              </a:rPr>
              <a:t>（</a:t>
            </a:r>
            <a:r>
              <a:rPr dirty="0" sz="2000" spc="-20">
                <a:solidFill>
                  <a:srgbClr val="40458B"/>
                </a:solidFill>
                <a:latin typeface="黑体"/>
                <a:cs typeface="黑体"/>
              </a:rPr>
              <a:t>块大小变大，容量不变，冲突增加，不命中率升高</a:t>
            </a:r>
            <a:r>
              <a:rPr dirty="0" sz="2000" spc="-50">
                <a:solidFill>
                  <a:srgbClr val="40458B"/>
                </a:solidFill>
                <a:latin typeface="黑体"/>
                <a:cs typeface="黑体"/>
              </a:rPr>
              <a:t>）</a:t>
            </a:r>
            <a:endParaRPr sz="2000">
              <a:latin typeface="黑体"/>
              <a:cs typeface="黑体"/>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aphicFrame>
        <p:nvGraphicFramePr>
          <p:cNvPr id="9" name="object 9" descr=""/>
          <p:cNvGraphicFramePr>
            <a:graphicFrameLocks noGrp="1"/>
          </p:cNvGraphicFramePr>
          <p:nvPr/>
        </p:nvGraphicFramePr>
        <p:xfrm>
          <a:off x="2409888" y="1901888"/>
          <a:ext cx="7664450" cy="4037329"/>
        </p:xfrm>
        <a:graphic>
          <a:graphicData uri="http://schemas.openxmlformats.org/drawingml/2006/table">
            <a:tbl>
              <a:tblPr firstRow="1" bandRow="1">
                <a:tableStyleId>{2D5ABB26-0587-4C30-8999-92F81FD0307C}</a:tableStyleId>
              </a:tblPr>
              <a:tblGrid>
                <a:gridCol w="1260475"/>
                <a:gridCol w="1258570"/>
                <a:gridCol w="1260475"/>
                <a:gridCol w="1260475"/>
                <a:gridCol w="1259204"/>
                <a:gridCol w="1260475"/>
              </a:tblGrid>
              <a:tr h="577850">
                <a:tc rowSpan="2">
                  <a:txBody>
                    <a:bodyPr/>
                    <a:lstStyle/>
                    <a:p>
                      <a:pPr algn="ctr" marL="1270">
                        <a:lnSpc>
                          <a:spcPct val="100000"/>
                        </a:lnSpc>
                        <a:spcBef>
                          <a:spcPts val="1060"/>
                        </a:spcBef>
                      </a:pPr>
                      <a:r>
                        <a:rPr dirty="0" sz="2000" spc="-20">
                          <a:solidFill>
                            <a:srgbClr val="E14B04"/>
                          </a:solidFill>
                          <a:latin typeface="黑体"/>
                          <a:cs typeface="黑体"/>
                        </a:rPr>
                        <a:t>块大小</a:t>
                      </a:r>
                      <a:endParaRPr sz="2000">
                        <a:latin typeface="黑体"/>
                        <a:cs typeface="黑体"/>
                      </a:endParaRPr>
                    </a:p>
                    <a:p>
                      <a:pPr algn="ctr">
                        <a:lnSpc>
                          <a:spcPct val="100000"/>
                        </a:lnSpc>
                        <a:spcBef>
                          <a:spcPts val="1685"/>
                        </a:spcBef>
                      </a:pPr>
                      <a:r>
                        <a:rPr dirty="0" sz="2000">
                          <a:solidFill>
                            <a:srgbClr val="E14B04"/>
                          </a:solidFill>
                          <a:latin typeface="黑体"/>
                          <a:cs typeface="黑体"/>
                        </a:rPr>
                        <a:t>（字节</a:t>
                      </a:r>
                      <a:r>
                        <a:rPr dirty="0" sz="2000" spc="-50">
                          <a:solidFill>
                            <a:srgbClr val="E14B04"/>
                          </a:solidFill>
                          <a:latin typeface="黑体"/>
                          <a:cs typeface="黑体"/>
                        </a:rPr>
                        <a:t>）</a:t>
                      </a:r>
                      <a:endParaRPr sz="2000">
                        <a:latin typeface="黑体"/>
                        <a:cs typeface="黑体"/>
                      </a:endParaRPr>
                    </a:p>
                  </a:txBody>
                  <a:tcPr marL="0" marR="0" marB="0" marT="13462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FFFCC"/>
                    </a:solidFill>
                  </a:tcPr>
                </a:tc>
                <a:tc gridSpan="5">
                  <a:txBody>
                    <a:bodyPr/>
                    <a:lstStyle/>
                    <a:p>
                      <a:pPr algn="ctr">
                        <a:lnSpc>
                          <a:spcPct val="100000"/>
                        </a:lnSpc>
                        <a:spcBef>
                          <a:spcPts val="1060"/>
                        </a:spcBef>
                      </a:pPr>
                      <a:r>
                        <a:rPr dirty="0" sz="2000" spc="-10">
                          <a:solidFill>
                            <a:srgbClr val="E14B04"/>
                          </a:solidFill>
                          <a:latin typeface="Tahoma"/>
                          <a:cs typeface="Tahoma"/>
                        </a:rPr>
                        <a:t>Cache</a:t>
                      </a:r>
                      <a:r>
                        <a:rPr dirty="0" sz="2000">
                          <a:solidFill>
                            <a:srgbClr val="E14B04"/>
                          </a:solidFill>
                          <a:latin typeface="黑体"/>
                          <a:cs typeface="黑体"/>
                        </a:rPr>
                        <a:t>容量（</a:t>
                      </a:r>
                      <a:r>
                        <a:rPr dirty="0" sz="2000" spc="-10">
                          <a:solidFill>
                            <a:srgbClr val="E14B04"/>
                          </a:solidFill>
                          <a:latin typeface="黑体"/>
                          <a:cs typeface="黑体"/>
                        </a:rPr>
                        <a:t>字节</a:t>
                      </a:r>
                      <a:r>
                        <a:rPr dirty="0" sz="2000" spc="-50">
                          <a:solidFill>
                            <a:srgbClr val="E14B04"/>
                          </a:solidFill>
                          <a:latin typeface="黑体"/>
                          <a:cs typeface="黑体"/>
                        </a:rPr>
                        <a:t>）</a:t>
                      </a:r>
                      <a:endParaRPr sz="2000">
                        <a:latin typeface="黑体"/>
                        <a:cs typeface="黑体"/>
                      </a:endParaRPr>
                    </a:p>
                  </a:txBody>
                  <a:tcPr marL="0" marR="0" marB="0" marT="13462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solidFill>
                      <a:srgbClr val="FFFFCC"/>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574675">
                <a:tc vMerge="1">
                  <a:txBody>
                    <a:bodyPr/>
                    <a:lstStyle/>
                    <a:p>
                      <a:pPr/>
                    </a:p>
                  </a:txBody>
                  <a:tcPr marL="0" marR="0" marB="0" marT="13462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0"/>
                        </a:spcBef>
                      </a:pPr>
                      <a:r>
                        <a:rPr dirty="0" sz="2000" spc="-25">
                          <a:solidFill>
                            <a:srgbClr val="660066"/>
                          </a:solidFill>
                          <a:latin typeface="Tahoma"/>
                          <a:cs typeface="Tahoma"/>
                        </a:rPr>
                        <a:t>1K</a:t>
                      </a:r>
                      <a:endParaRPr sz="2000">
                        <a:latin typeface="Tahoma"/>
                        <a:cs typeface="Tahoma"/>
                      </a:endParaRPr>
                    </a:p>
                  </a:txBody>
                  <a:tcPr marL="0" marR="0" marB="0" marT="1346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0"/>
                        </a:spcBef>
                      </a:pPr>
                      <a:r>
                        <a:rPr dirty="0" sz="2000" spc="-25">
                          <a:solidFill>
                            <a:srgbClr val="660066"/>
                          </a:solidFill>
                          <a:latin typeface="Tahoma"/>
                          <a:cs typeface="Tahoma"/>
                        </a:rPr>
                        <a:t>4K</a:t>
                      </a:r>
                      <a:endParaRPr sz="2000">
                        <a:latin typeface="Tahoma"/>
                        <a:cs typeface="Tahoma"/>
                      </a:endParaRPr>
                    </a:p>
                  </a:txBody>
                  <a:tcPr marL="0" marR="0" marB="0" marT="1346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marL="1270">
                        <a:lnSpc>
                          <a:spcPct val="100000"/>
                        </a:lnSpc>
                        <a:spcBef>
                          <a:spcPts val="1060"/>
                        </a:spcBef>
                      </a:pPr>
                      <a:r>
                        <a:rPr dirty="0" sz="2000" spc="-25">
                          <a:solidFill>
                            <a:srgbClr val="660066"/>
                          </a:solidFill>
                          <a:latin typeface="Tahoma"/>
                          <a:cs typeface="Tahoma"/>
                        </a:rPr>
                        <a:t>16K</a:t>
                      </a:r>
                      <a:endParaRPr sz="2000">
                        <a:latin typeface="Tahoma"/>
                        <a:cs typeface="Tahoma"/>
                      </a:endParaRPr>
                    </a:p>
                  </a:txBody>
                  <a:tcPr marL="0" marR="0" marB="0" marT="1346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0"/>
                        </a:spcBef>
                      </a:pPr>
                      <a:r>
                        <a:rPr dirty="0" sz="2000" spc="-25">
                          <a:solidFill>
                            <a:srgbClr val="660066"/>
                          </a:solidFill>
                          <a:latin typeface="Tahoma"/>
                          <a:cs typeface="Tahoma"/>
                        </a:rPr>
                        <a:t>64K</a:t>
                      </a:r>
                      <a:endParaRPr sz="2000">
                        <a:latin typeface="Tahoma"/>
                        <a:cs typeface="Tahoma"/>
                      </a:endParaRPr>
                    </a:p>
                  </a:txBody>
                  <a:tcPr marL="0" marR="0" marB="0" marT="13462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0"/>
                        </a:spcBef>
                      </a:pPr>
                      <a:r>
                        <a:rPr dirty="0" sz="2000" spc="-20">
                          <a:solidFill>
                            <a:srgbClr val="660066"/>
                          </a:solidFill>
                          <a:latin typeface="Tahoma"/>
                          <a:cs typeface="Tahoma"/>
                        </a:rPr>
                        <a:t>256K</a:t>
                      </a:r>
                      <a:endParaRPr sz="2000">
                        <a:latin typeface="Tahoma"/>
                        <a:cs typeface="Tahoma"/>
                      </a:endParaRPr>
                    </a:p>
                  </a:txBody>
                  <a:tcPr marL="0" marR="0" marB="0" marT="13462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solidFill>
                      <a:srgbClr val="FFFFCC"/>
                    </a:solidFill>
                  </a:tcPr>
                </a:tc>
              </a:tr>
              <a:tr h="577215">
                <a:tc>
                  <a:txBody>
                    <a:bodyPr/>
                    <a:lstStyle/>
                    <a:p>
                      <a:pPr algn="ctr">
                        <a:lnSpc>
                          <a:spcPct val="100000"/>
                        </a:lnSpc>
                        <a:spcBef>
                          <a:spcPts val="1065"/>
                        </a:spcBef>
                      </a:pPr>
                      <a:r>
                        <a:rPr dirty="0" sz="2000" spc="-25">
                          <a:solidFill>
                            <a:srgbClr val="660066"/>
                          </a:solidFill>
                          <a:latin typeface="Tahoma"/>
                          <a:cs typeface="Tahoma"/>
                        </a:rPr>
                        <a:t>16</a:t>
                      </a:r>
                      <a:endParaRPr sz="2000">
                        <a:latin typeface="Tahoma"/>
                        <a:cs typeface="Tahoma"/>
                      </a:endParaRPr>
                    </a:p>
                  </a:txBody>
                  <a:tcPr marL="0" marR="0" marB="0" marT="1352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5"/>
                        </a:spcBef>
                      </a:pPr>
                      <a:r>
                        <a:rPr dirty="0" sz="2000" spc="-10">
                          <a:solidFill>
                            <a:srgbClr val="40458B"/>
                          </a:solidFill>
                          <a:latin typeface="Tahoma"/>
                          <a:cs typeface="Tahoma"/>
                        </a:rPr>
                        <a:t>15.05%</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65"/>
                        </a:spcBef>
                      </a:pPr>
                      <a:r>
                        <a:rPr dirty="0" sz="2000" spc="-10">
                          <a:solidFill>
                            <a:srgbClr val="40458B"/>
                          </a:solidFill>
                          <a:latin typeface="Tahoma"/>
                          <a:cs typeface="Tahoma"/>
                        </a:rPr>
                        <a:t>8.57%</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65"/>
                        </a:spcBef>
                      </a:pPr>
                      <a:r>
                        <a:rPr dirty="0" sz="2000" spc="-10">
                          <a:solidFill>
                            <a:srgbClr val="40458B"/>
                          </a:solidFill>
                          <a:latin typeface="Tahoma"/>
                          <a:cs typeface="Tahoma"/>
                        </a:rPr>
                        <a:t>3.94%</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065"/>
                        </a:spcBef>
                      </a:pPr>
                      <a:r>
                        <a:rPr dirty="0" sz="2000" spc="-10">
                          <a:solidFill>
                            <a:srgbClr val="40458B"/>
                          </a:solidFill>
                          <a:latin typeface="Tahoma"/>
                          <a:cs typeface="Tahoma"/>
                        </a:rPr>
                        <a:t>2.04%</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65"/>
                        </a:spcBef>
                      </a:pPr>
                      <a:r>
                        <a:rPr dirty="0" sz="2000" spc="-10">
                          <a:solidFill>
                            <a:srgbClr val="40458B"/>
                          </a:solidFill>
                          <a:latin typeface="Tahoma"/>
                          <a:cs typeface="Tahoma"/>
                        </a:rPr>
                        <a:t>1.09%</a:t>
                      </a:r>
                      <a:endParaRPr sz="2000">
                        <a:latin typeface="Tahoma"/>
                        <a:cs typeface="Tahoma"/>
                      </a:endParaRPr>
                    </a:p>
                  </a:txBody>
                  <a:tcPr marL="0" marR="0" marB="0" marT="1352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77850">
                <a:tc>
                  <a:txBody>
                    <a:bodyPr/>
                    <a:lstStyle/>
                    <a:p>
                      <a:pPr algn="ctr">
                        <a:lnSpc>
                          <a:spcPct val="100000"/>
                        </a:lnSpc>
                        <a:spcBef>
                          <a:spcPts val="1065"/>
                        </a:spcBef>
                      </a:pPr>
                      <a:r>
                        <a:rPr dirty="0" sz="2000" spc="-25">
                          <a:solidFill>
                            <a:srgbClr val="660066"/>
                          </a:solidFill>
                          <a:latin typeface="Tahoma"/>
                          <a:cs typeface="Tahoma"/>
                        </a:rPr>
                        <a:t>32</a:t>
                      </a:r>
                      <a:endParaRPr sz="2000">
                        <a:latin typeface="Tahoma"/>
                        <a:cs typeface="Tahoma"/>
                      </a:endParaRPr>
                    </a:p>
                  </a:txBody>
                  <a:tcPr marL="0" marR="0" marB="0" marT="1352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5"/>
                        </a:spcBef>
                      </a:pPr>
                      <a:r>
                        <a:rPr dirty="0" sz="2000" spc="-10">
                          <a:solidFill>
                            <a:srgbClr val="D50092"/>
                          </a:solidFill>
                          <a:latin typeface="Tahoma"/>
                          <a:cs typeface="Tahoma"/>
                        </a:rPr>
                        <a:t>13.34%</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65"/>
                        </a:spcBef>
                      </a:pPr>
                      <a:r>
                        <a:rPr dirty="0" sz="2000" spc="-10">
                          <a:solidFill>
                            <a:srgbClr val="40458B"/>
                          </a:solidFill>
                          <a:latin typeface="Tahoma"/>
                          <a:cs typeface="Tahoma"/>
                        </a:rPr>
                        <a:t>7.24%</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65"/>
                        </a:spcBef>
                      </a:pPr>
                      <a:r>
                        <a:rPr dirty="0" sz="2000" spc="-10">
                          <a:solidFill>
                            <a:srgbClr val="40458B"/>
                          </a:solidFill>
                          <a:latin typeface="Tahoma"/>
                          <a:cs typeface="Tahoma"/>
                        </a:rPr>
                        <a:t>2.87%</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065"/>
                        </a:spcBef>
                      </a:pPr>
                      <a:r>
                        <a:rPr dirty="0" sz="2000" spc="-10">
                          <a:solidFill>
                            <a:srgbClr val="40458B"/>
                          </a:solidFill>
                          <a:latin typeface="Tahoma"/>
                          <a:cs typeface="Tahoma"/>
                        </a:rPr>
                        <a:t>1.35%</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1065"/>
                        </a:spcBef>
                      </a:pPr>
                      <a:r>
                        <a:rPr dirty="0" sz="2000" spc="-10">
                          <a:solidFill>
                            <a:srgbClr val="40458B"/>
                          </a:solidFill>
                          <a:latin typeface="Tahoma"/>
                          <a:cs typeface="Tahoma"/>
                        </a:rPr>
                        <a:t>0.70%</a:t>
                      </a:r>
                      <a:endParaRPr sz="2000">
                        <a:latin typeface="Tahoma"/>
                        <a:cs typeface="Tahoma"/>
                      </a:endParaRPr>
                    </a:p>
                  </a:txBody>
                  <a:tcPr marL="0" marR="0" marB="0" marT="1352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77850">
                <a:tc>
                  <a:txBody>
                    <a:bodyPr/>
                    <a:lstStyle/>
                    <a:p>
                      <a:pPr algn="ctr">
                        <a:lnSpc>
                          <a:spcPct val="100000"/>
                        </a:lnSpc>
                        <a:spcBef>
                          <a:spcPts val="1065"/>
                        </a:spcBef>
                      </a:pPr>
                      <a:r>
                        <a:rPr dirty="0" sz="2000" spc="-25">
                          <a:solidFill>
                            <a:srgbClr val="660066"/>
                          </a:solidFill>
                          <a:latin typeface="Tahoma"/>
                          <a:cs typeface="Tahoma"/>
                        </a:rPr>
                        <a:t>64</a:t>
                      </a:r>
                      <a:endParaRPr sz="2000">
                        <a:latin typeface="Tahoma"/>
                        <a:cs typeface="Tahoma"/>
                      </a:endParaRPr>
                    </a:p>
                  </a:txBody>
                  <a:tcPr marL="0" marR="0" marB="0" marT="1352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65"/>
                        </a:spcBef>
                      </a:pPr>
                      <a:r>
                        <a:rPr dirty="0" sz="2000" spc="-10">
                          <a:solidFill>
                            <a:srgbClr val="40458B"/>
                          </a:solidFill>
                          <a:latin typeface="Tahoma"/>
                          <a:cs typeface="Tahoma"/>
                        </a:rPr>
                        <a:t>13.76%</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65"/>
                        </a:spcBef>
                      </a:pPr>
                      <a:r>
                        <a:rPr dirty="0" sz="2000" spc="-10">
                          <a:solidFill>
                            <a:srgbClr val="D50092"/>
                          </a:solidFill>
                          <a:latin typeface="Tahoma"/>
                          <a:cs typeface="Tahoma"/>
                        </a:rPr>
                        <a:t>7.00%</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65"/>
                        </a:spcBef>
                      </a:pPr>
                      <a:r>
                        <a:rPr dirty="0" sz="2000" spc="-10">
                          <a:solidFill>
                            <a:srgbClr val="D50092"/>
                          </a:solidFill>
                          <a:latin typeface="Tahoma"/>
                          <a:cs typeface="Tahoma"/>
                        </a:rPr>
                        <a:t>2.64%</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065"/>
                        </a:spcBef>
                      </a:pPr>
                      <a:r>
                        <a:rPr dirty="0" sz="2000" spc="-10">
                          <a:solidFill>
                            <a:srgbClr val="40458B"/>
                          </a:solidFill>
                          <a:latin typeface="Tahoma"/>
                          <a:cs typeface="Tahoma"/>
                        </a:rPr>
                        <a:t>1.06%</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65"/>
                        </a:spcBef>
                      </a:pPr>
                      <a:r>
                        <a:rPr dirty="0" sz="2000" spc="-10">
                          <a:solidFill>
                            <a:srgbClr val="40458B"/>
                          </a:solidFill>
                          <a:latin typeface="Tahoma"/>
                          <a:cs typeface="Tahoma"/>
                        </a:rPr>
                        <a:t>0.51%</a:t>
                      </a:r>
                      <a:endParaRPr sz="2000">
                        <a:latin typeface="Tahoma"/>
                        <a:cs typeface="Tahoma"/>
                      </a:endParaRPr>
                    </a:p>
                  </a:txBody>
                  <a:tcPr marL="0" marR="0" marB="0" marT="1352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74675">
                <a:tc>
                  <a:txBody>
                    <a:bodyPr/>
                    <a:lstStyle/>
                    <a:p>
                      <a:pPr algn="ctr">
                        <a:lnSpc>
                          <a:spcPct val="100000"/>
                        </a:lnSpc>
                        <a:spcBef>
                          <a:spcPts val="1070"/>
                        </a:spcBef>
                      </a:pPr>
                      <a:r>
                        <a:rPr dirty="0" sz="2000" spc="-25">
                          <a:solidFill>
                            <a:srgbClr val="660066"/>
                          </a:solidFill>
                          <a:latin typeface="Tahoma"/>
                          <a:cs typeface="Tahoma"/>
                        </a:rPr>
                        <a:t>128</a:t>
                      </a:r>
                      <a:endParaRPr sz="2000">
                        <a:latin typeface="Tahoma"/>
                        <a:cs typeface="Tahoma"/>
                      </a:endParaRPr>
                    </a:p>
                  </a:txBody>
                  <a:tcPr marL="0" marR="0" marB="0" marT="13589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solidFill>
                      <a:srgbClr val="FFFFCC"/>
                    </a:solidFill>
                  </a:tcPr>
                </a:tc>
                <a:tc>
                  <a:txBody>
                    <a:bodyPr/>
                    <a:lstStyle/>
                    <a:p>
                      <a:pPr algn="ctr">
                        <a:lnSpc>
                          <a:spcPct val="100000"/>
                        </a:lnSpc>
                        <a:spcBef>
                          <a:spcPts val="1070"/>
                        </a:spcBef>
                      </a:pPr>
                      <a:r>
                        <a:rPr dirty="0" sz="2000" spc="-10">
                          <a:solidFill>
                            <a:srgbClr val="40458B"/>
                          </a:solidFill>
                          <a:latin typeface="Tahoma"/>
                          <a:cs typeface="Tahoma"/>
                        </a:rPr>
                        <a:t>16.64%</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70"/>
                        </a:spcBef>
                      </a:pPr>
                      <a:r>
                        <a:rPr dirty="0" sz="2000" spc="-10">
                          <a:solidFill>
                            <a:srgbClr val="40458B"/>
                          </a:solidFill>
                          <a:latin typeface="Tahoma"/>
                          <a:cs typeface="Tahoma"/>
                        </a:rPr>
                        <a:t>7.78%</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70"/>
                        </a:spcBef>
                      </a:pPr>
                      <a:r>
                        <a:rPr dirty="0" sz="2000" spc="-10">
                          <a:solidFill>
                            <a:srgbClr val="40458B"/>
                          </a:solidFill>
                          <a:latin typeface="Tahoma"/>
                          <a:cs typeface="Tahoma"/>
                        </a:rPr>
                        <a:t>2.77%</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070"/>
                        </a:spcBef>
                      </a:pPr>
                      <a:r>
                        <a:rPr dirty="0" sz="2000" spc="-10">
                          <a:solidFill>
                            <a:srgbClr val="D50092"/>
                          </a:solidFill>
                          <a:latin typeface="Tahoma"/>
                          <a:cs typeface="Tahoma"/>
                        </a:rPr>
                        <a:t>1.02%</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70"/>
                        </a:spcBef>
                      </a:pPr>
                      <a:r>
                        <a:rPr dirty="0" sz="2000" spc="-10">
                          <a:solidFill>
                            <a:srgbClr val="D50092"/>
                          </a:solidFill>
                          <a:latin typeface="Tahoma"/>
                          <a:cs typeface="Tahoma"/>
                        </a:rPr>
                        <a:t>0.49%</a:t>
                      </a:r>
                      <a:endParaRPr sz="2000">
                        <a:latin typeface="Tahoma"/>
                        <a:cs typeface="Tahoma"/>
                      </a:endParaRPr>
                    </a:p>
                  </a:txBody>
                  <a:tcPr marL="0" marR="0" marB="0" marT="13589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577215">
                <a:tc>
                  <a:txBody>
                    <a:bodyPr/>
                    <a:lstStyle/>
                    <a:p>
                      <a:pPr algn="ctr">
                        <a:lnSpc>
                          <a:spcPct val="100000"/>
                        </a:lnSpc>
                        <a:spcBef>
                          <a:spcPts val="1070"/>
                        </a:spcBef>
                      </a:pPr>
                      <a:r>
                        <a:rPr dirty="0" sz="2000" spc="-25">
                          <a:solidFill>
                            <a:srgbClr val="660066"/>
                          </a:solidFill>
                          <a:latin typeface="Tahoma"/>
                          <a:cs typeface="Tahoma"/>
                        </a:rPr>
                        <a:t>256</a:t>
                      </a:r>
                      <a:endParaRPr sz="2000">
                        <a:latin typeface="Tahoma"/>
                        <a:cs typeface="Tahoma"/>
                      </a:endParaRPr>
                    </a:p>
                  </a:txBody>
                  <a:tcPr marL="0" marR="0" marB="0" marT="13589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solidFill>
                      <a:srgbClr val="FFFFCC"/>
                    </a:solidFill>
                  </a:tcPr>
                </a:tc>
                <a:tc>
                  <a:txBody>
                    <a:bodyPr/>
                    <a:lstStyle/>
                    <a:p>
                      <a:pPr algn="ctr">
                        <a:lnSpc>
                          <a:spcPct val="100000"/>
                        </a:lnSpc>
                        <a:spcBef>
                          <a:spcPts val="1070"/>
                        </a:spcBef>
                      </a:pPr>
                      <a:r>
                        <a:rPr dirty="0" sz="2000" spc="-10">
                          <a:solidFill>
                            <a:srgbClr val="40458B"/>
                          </a:solidFill>
                          <a:latin typeface="Tahoma"/>
                          <a:cs typeface="Tahoma"/>
                        </a:rPr>
                        <a:t>22.01%</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1070"/>
                        </a:spcBef>
                      </a:pPr>
                      <a:r>
                        <a:rPr dirty="0" sz="2000" spc="-10">
                          <a:solidFill>
                            <a:srgbClr val="40458B"/>
                          </a:solidFill>
                          <a:latin typeface="Tahoma"/>
                          <a:cs typeface="Tahoma"/>
                        </a:rPr>
                        <a:t>9.51%</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1070"/>
                        </a:spcBef>
                      </a:pPr>
                      <a:r>
                        <a:rPr dirty="0" sz="2000" spc="-10">
                          <a:solidFill>
                            <a:srgbClr val="40458B"/>
                          </a:solidFill>
                          <a:latin typeface="Tahoma"/>
                          <a:cs typeface="Tahoma"/>
                        </a:rPr>
                        <a:t>3.29%</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1070"/>
                        </a:spcBef>
                      </a:pPr>
                      <a:r>
                        <a:rPr dirty="0" sz="2000" spc="-10">
                          <a:solidFill>
                            <a:srgbClr val="40458B"/>
                          </a:solidFill>
                          <a:latin typeface="Tahoma"/>
                          <a:cs typeface="Tahoma"/>
                        </a:rPr>
                        <a:t>1.15%</a:t>
                      </a:r>
                      <a:endParaRPr sz="2000">
                        <a:latin typeface="Tahoma"/>
                        <a:cs typeface="Tahoma"/>
                      </a:endParaRPr>
                    </a:p>
                  </a:txBody>
                  <a:tcPr marL="0" marR="0" marB="0" marT="13589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635">
                        <a:lnSpc>
                          <a:spcPct val="100000"/>
                        </a:lnSpc>
                        <a:spcBef>
                          <a:spcPts val="1070"/>
                        </a:spcBef>
                      </a:pPr>
                      <a:r>
                        <a:rPr dirty="0" sz="2000" spc="-10">
                          <a:solidFill>
                            <a:srgbClr val="40458B"/>
                          </a:solidFill>
                          <a:latin typeface="Tahoma"/>
                          <a:cs typeface="Tahoma"/>
                        </a:rPr>
                        <a:t>0.49%</a:t>
                      </a:r>
                      <a:endParaRPr sz="2000">
                        <a:latin typeface="Tahoma"/>
                        <a:cs typeface="Tahoma"/>
                      </a:endParaRPr>
                    </a:p>
                  </a:txBody>
                  <a:tcPr marL="0" marR="0" marB="0" marT="13589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10" name="object 10" descr=""/>
          <p:cNvSpPr txBox="1"/>
          <p:nvPr/>
        </p:nvSpPr>
        <p:spPr>
          <a:xfrm>
            <a:off x="2918205" y="1276858"/>
            <a:ext cx="5207635" cy="391160"/>
          </a:xfrm>
          <a:prstGeom prst="rect">
            <a:avLst/>
          </a:prstGeom>
        </p:spPr>
        <p:txBody>
          <a:bodyPr wrap="square" lIns="0" tIns="12700" rIns="0" bIns="0" rtlCol="0" vert="horz">
            <a:spAutoFit/>
          </a:bodyPr>
          <a:lstStyle/>
          <a:p>
            <a:pPr marL="469265" indent="-456565">
              <a:lnSpc>
                <a:spcPct val="100000"/>
              </a:lnSpc>
              <a:spcBef>
                <a:spcPts val="100"/>
              </a:spcBef>
              <a:buSzPct val="89583"/>
              <a:buFont typeface="Wingdings"/>
              <a:buChar char=""/>
              <a:tabLst>
                <a:tab pos="469265" algn="l"/>
              </a:tabLst>
            </a:pPr>
            <a:r>
              <a:rPr dirty="0" sz="2400" spc="-5">
                <a:solidFill>
                  <a:srgbClr val="40458B"/>
                </a:solidFill>
                <a:latin typeface="黑体"/>
                <a:cs typeface="黑体"/>
              </a:rPr>
              <a:t>各种块大小情况下</a:t>
            </a:r>
            <a:r>
              <a:rPr dirty="0" sz="2400">
                <a:solidFill>
                  <a:srgbClr val="40458B"/>
                </a:solidFill>
                <a:latin typeface="黑体"/>
                <a:cs typeface="黑体"/>
              </a:rPr>
              <a:t>Cache</a:t>
            </a:r>
            <a:r>
              <a:rPr dirty="0" sz="2400" spc="-10">
                <a:solidFill>
                  <a:srgbClr val="40458B"/>
                </a:solidFill>
                <a:latin typeface="黑体"/>
                <a:cs typeface="黑体"/>
              </a:rPr>
              <a:t>的不命中率</a:t>
            </a:r>
            <a:endParaRPr sz="2400">
              <a:latin typeface="黑体"/>
              <a:cs typeface="黑体"/>
            </a:endParaRPr>
          </a:p>
        </p:txBody>
      </p:sp>
      <p:sp>
        <p:nvSpPr>
          <p:cNvPr id="11" name="object 11"/>
          <p:cNvSpPr txBox="1">
            <a:spLocks noGrp="1"/>
          </p:cNvSpPr>
          <p:nvPr>
            <p:ph type="title"/>
          </p:nvPr>
        </p:nvSpPr>
        <p:spPr>
          <a:xfrm>
            <a:off x="1853945" y="41859"/>
            <a:ext cx="3494404"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7.3.2</a:t>
            </a:r>
            <a:r>
              <a:rPr dirty="0" u="none" sz="2600" spc="-10">
                <a:solidFill>
                  <a:srgbClr val="0000CC"/>
                </a:solidFill>
              </a:rPr>
              <a:t> 增加Cache</a:t>
            </a:r>
            <a:r>
              <a:rPr dirty="0" u="none" sz="2600" spc="-30">
                <a:solidFill>
                  <a:srgbClr val="0000CC"/>
                </a:solidFill>
              </a:rPr>
              <a:t>块大小</a:t>
            </a:r>
            <a:endParaRPr sz="26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845616" y="863473"/>
            <a:ext cx="5388610" cy="2876550"/>
          </a:xfrm>
          <a:prstGeom prst="rect">
            <a:avLst/>
          </a:prstGeom>
        </p:spPr>
        <p:txBody>
          <a:bodyPr wrap="square" lIns="0" tIns="133350" rIns="0" bIns="0" rtlCol="0" vert="horz">
            <a:spAutoFit/>
          </a:bodyPr>
          <a:lstStyle/>
          <a:p>
            <a:pPr marL="12700">
              <a:lnSpc>
                <a:spcPct val="100000"/>
              </a:lnSpc>
              <a:spcBef>
                <a:spcPts val="1050"/>
              </a:spcBef>
            </a:pPr>
            <a:r>
              <a:rPr dirty="0" sz="2400">
                <a:solidFill>
                  <a:srgbClr val="0000CC"/>
                </a:solidFill>
                <a:latin typeface="黑体"/>
                <a:cs typeface="黑体"/>
              </a:rPr>
              <a:t>第二种优化策略：增加Cache</a:t>
            </a:r>
            <a:r>
              <a:rPr dirty="0" sz="2400" spc="-20">
                <a:solidFill>
                  <a:srgbClr val="0000CC"/>
                </a:solidFill>
                <a:latin typeface="黑体"/>
                <a:cs typeface="黑体"/>
              </a:rPr>
              <a:t>的容量</a:t>
            </a:r>
            <a:endParaRPr sz="2400">
              <a:latin typeface="黑体"/>
              <a:cs typeface="黑体"/>
            </a:endParaRPr>
          </a:p>
          <a:p>
            <a:pPr marL="650875" indent="-457200">
              <a:lnSpc>
                <a:spcPct val="100000"/>
              </a:lnSpc>
              <a:spcBef>
                <a:spcPts val="950"/>
              </a:spcBef>
              <a:buClr>
                <a:srgbClr val="40458B"/>
              </a:buClr>
              <a:buAutoNum type="arabicPeriod"/>
              <a:tabLst>
                <a:tab pos="650875" algn="l"/>
              </a:tabLst>
            </a:pPr>
            <a:r>
              <a:rPr dirty="0" sz="2400">
                <a:solidFill>
                  <a:srgbClr val="E14B04"/>
                </a:solidFill>
                <a:latin typeface="黑体"/>
                <a:cs typeface="黑体"/>
              </a:rPr>
              <a:t>最直接的方法是增加Cache</a:t>
            </a:r>
            <a:r>
              <a:rPr dirty="0" sz="2400" spc="-20">
                <a:solidFill>
                  <a:srgbClr val="E14B04"/>
                </a:solidFill>
                <a:latin typeface="黑体"/>
                <a:cs typeface="黑体"/>
              </a:rPr>
              <a:t>的容量</a:t>
            </a:r>
            <a:endParaRPr sz="2400">
              <a:latin typeface="黑体"/>
              <a:cs typeface="黑体"/>
            </a:endParaRPr>
          </a:p>
          <a:p>
            <a:pPr lvl="1" marL="1280160" indent="-457200">
              <a:lnSpc>
                <a:spcPct val="100000"/>
              </a:lnSpc>
              <a:spcBef>
                <a:spcPts val="1155"/>
              </a:spcBef>
              <a:buClr>
                <a:srgbClr val="40458B"/>
              </a:buClr>
              <a:buSzPct val="89583"/>
              <a:buFont typeface="Wingdings"/>
              <a:buChar char=""/>
              <a:tabLst>
                <a:tab pos="1280160" algn="l"/>
              </a:tabLst>
            </a:pPr>
            <a:r>
              <a:rPr dirty="0" sz="2400">
                <a:solidFill>
                  <a:srgbClr val="D50092"/>
                </a:solidFill>
                <a:latin typeface="黑体"/>
                <a:cs typeface="黑体"/>
              </a:rPr>
              <a:t>缺点</a:t>
            </a:r>
            <a:r>
              <a:rPr dirty="0" sz="2400" spc="-50">
                <a:solidFill>
                  <a:srgbClr val="D50092"/>
                </a:solidFill>
                <a:latin typeface="Tahoma"/>
                <a:cs typeface="Tahoma"/>
              </a:rPr>
              <a:t>:</a:t>
            </a:r>
            <a:endParaRPr sz="2400">
              <a:latin typeface="Tahoma"/>
              <a:cs typeface="Tahoma"/>
            </a:endParaRPr>
          </a:p>
          <a:p>
            <a:pPr lvl="2" marL="1908175" indent="-457200">
              <a:lnSpc>
                <a:spcPct val="100000"/>
              </a:lnSpc>
              <a:spcBef>
                <a:spcPts val="1019"/>
              </a:spcBef>
              <a:buClr>
                <a:srgbClr val="4668F5"/>
              </a:buClr>
              <a:buSzPct val="60000"/>
              <a:buFont typeface="Wingdings"/>
              <a:buChar char=""/>
              <a:tabLst>
                <a:tab pos="1908175" algn="l"/>
              </a:tabLst>
            </a:pPr>
            <a:r>
              <a:rPr dirty="0" sz="2000" spc="-25" b="1">
                <a:solidFill>
                  <a:srgbClr val="00AFEF"/>
                </a:solidFill>
                <a:latin typeface="宋体"/>
                <a:cs typeface="宋体"/>
              </a:rPr>
              <a:t>增加成本</a:t>
            </a:r>
            <a:endParaRPr sz="2000">
              <a:latin typeface="宋体"/>
              <a:cs typeface="宋体"/>
            </a:endParaRPr>
          </a:p>
          <a:p>
            <a:pPr lvl="2" marL="1908175" indent="-457200">
              <a:lnSpc>
                <a:spcPct val="100000"/>
              </a:lnSpc>
              <a:spcBef>
                <a:spcPts val="965"/>
              </a:spcBef>
              <a:buClr>
                <a:srgbClr val="4668F5"/>
              </a:buClr>
              <a:buSzPct val="60000"/>
              <a:buFont typeface="Wingdings"/>
              <a:buChar char=""/>
              <a:tabLst>
                <a:tab pos="1908175" algn="l"/>
              </a:tabLst>
            </a:pPr>
            <a:r>
              <a:rPr dirty="0" sz="2000" spc="-20" b="1">
                <a:solidFill>
                  <a:srgbClr val="00AFEF"/>
                </a:solidFill>
                <a:latin typeface="宋体"/>
                <a:cs typeface="宋体"/>
              </a:rPr>
              <a:t>可能增加命中时间</a:t>
            </a:r>
            <a:endParaRPr sz="2000">
              <a:latin typeface="宋体"/>
              <a:cs typeface="宋体"/>
            </a:endParaRPr>
          </a:p>
          <a:p>
            <a:pPr marL="650875" indent="-457200">
              <a:lnSpc>
                <a:spcPct val="100000"/>
              </a:lnSpc>
              <a:spcBef>
                <a:spcPts val="1085"/>
              </a:spcBef>
              <a:buClr>
                <a:srgbClr val="40458B"/>
              </a:buClr>
              <a:buAutoNum type="arabicPeriod"/>
              <a:tabLst>
                <a:tab pos="650875" algn="l"/>
              </a:tabLst>
            </a:pPr>
            <a:r>
              <a:rPr dirty="0" sz="2400">
                <a:solidFill>
                  <a:srgbClr val="E14B04"/>
                </a:solidFill>
                <a:latin typeface="黑体"/>
                <a:cs typeface="黑体"/>
              </a:rPr>
              <a:t>这种方法在片外Cache</a:t>
            </a:r>
            <a:r>
              <a:rPr dirty="0" sz="2400" spc="-10">
                <a:solidFill>
                  <a:srgbClr val="E14B04"/>
                </a:solidFill>
                <a:latin typeface="黑体"/>
                <a:cs typeface="黑体"/>
              </a:rPr>
              <a:t>中用得比较多</a:t>
            </a:r>
            <a:endParaRPr sz="2400">
              <a:latin typeface="黑体"/>
              <a:cs typeface="黑体"/>
            </a:endParaRPr>
          </a:p>
        </p:txBody>
      </p:sp>
      <p:sp>
        <p:nvSpPr>
          <p:cNvPr id="10" name="object 10"/>
          <p:cNvSpPr txBox="1">
            <a:spLocks noGrp="1"/>
          </p:cNvSpPr>
          <p:nvPr>
            <p:ph type="title"/>
          </p:nvPr>
        </p:nvSpPr>
        <p:spPr>
          <a:xfrm>
            <a:off x="1637792" y="46989"/>
            <a:ext cx="3494404"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7.3.3</a:t>
            </a:r>
            <a:r>
              <a:rPr dirty="0" u="none" sz="2600" spc="5">
                <a:solidFill>
                  <a:srgbClr val="0000CC"/>
                </a:solidFill>
              </a:rPr>
              <a:t> 增加</a:t>
            </a:r>
            <a:r>
              <a:rPr dirty="0" u="none" sz="2600" spc="-10">
                <a:solidFill>
                  <a:srgbClr val="0000CC"/>
                </a:solidFill>
              </a:rPr>
              <a:t>Cache</a:t>
            </a:r>
            <a:r>
              <a:rPr dirty="0" u="none" sz="2600" spc="-20">
                <a:solidFill>
                  <a:srgbClr val="0000CC"/>
                </a:solidFill>
              </a:rPr>
              <a:t>的容量</a:t>
            </a:r>
            <a:endParaRPr sz="26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061415" y="946150"/>
            <a:ext cx="9693275" cy="286512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0000CC"/>
                </a:solidFill>
                <a:latin typeface="黑体"/>
                <a:cs typeface="黑体"/>
              </a:rPr>
              <a:t>第三种优化策略：提高相联度</a:t>
            </a:r>
            <a:endParaRPr sz="2400">
              <a:latin typeface="黑体"/>
              <a:cs typeface="黑体"/>
            </a:endParaRPr>
          </a:p>
          <a:p>
            <a:pPr marL="687070" indent="-457200">
              <a:lnSpc>
                <a:spcPct val="100000"/>
              </a:lnSpc>
              <a:spcBef>
                <a:spcPts val="2265"/>
              </a:spcBef>
              <a:buClr>
                <a:srgbClr val="40458B"/>
              </a:buClr>
              <a:buAutoNum type="arabicPeriod"/>
              <a:tabLst>
                <a:tab pos="687070" algn="l"/>
              </a:tabLst>
            </a:pPr>
            <a:r>
              <a:rPr dirty="0" sz="2400">
                <a:solidFill>
                  <a:srgbClr val="E14B04"/>
                </a:solidFill>
                <a:latin typeface="黑体"/>
                <a:cs typeface="黑体"/>
              </a:rPr>
              <a:t>采用相联度超过8</a:t>
            </a:r>
            <a:r>
              <a:rPr dirty="0" sz="2400" spc="-5">
                <a:solidFill>
                  <a:srgbClr val="E14B04"/>
                </a:solidFill>
                <a:latin typeface="黑体"/>
                <a:cs typeface="黑体"/>
              </a:rPr>
              <a:t>的方案的实际意义不大。</a:t>
            </a:r>
            <a:endParaRPr sz="2400">
              <a:latin typeface="黑体"/>
              <a:cs typeface="黑体"/>
            </a:endParaRPr>
          </a:p>
          <a:p>
            <a:pPr marL="687070" indent="-457200">
              <a:lnSpc>
                <a:spcPct val="100000"/>
              </a:lnSpc>
              <a:spcBef>
                <a:spcPts val="580"/>
              </a:spcBef>
              <a:buClr>
                <a:srgbClr val="40458B"/>
              </a:buClr>
              <a:buAutoNum type="arabicPeriod"/>
              <a:tabLst>
                <a:tab pos="687070" algn="l"/>
                <a:tab pos="1296670" algn="l"/>
              </a:tabLst>
            </a:pPr>
            <a:r>
              <a:rPr dirty="0" sz="2400" spc="-25">
                <a:solidFill>
                  <a:srgbClr val="FF3300"/>
                </a:solidFill>
                <a:latin typeface="黑体"/>
                <a:cs typeface="黑体"/>
              </a:rPr>
              <a:t>2:1</a:t>
            </a:r>
            <a:r>
              <a:rPr dirty="0" sz="2400">
                <a:solidFill>
                  <a:srgbClr val="FF3300"/>
                </a:solidFill>
                <a:latin typeface="黑体"/>
                <a:cs typeface="黑体"/>
              </a:rPr>
              <a:t>	Cache</a:t>
            </a:r>
            <a:r>
              <a:rPr dirty="0" sz="2400" spc="-15">
                <a:solidFill>
                  <a:srgbClr val="FF3300"/>
                </a:solidFill>
                <a:latin typeface="黑体"/>
                <a:cs typeface="黑体"/>
              </a:rPr>
              <a:t>经验规则</a:t>
            </a:r>
            <a:endParaRPr sz="2400">
              <a:latin typeface="黑体"/>
              <a:cs typeface="黑体"/>
            </a:endParaRPr>
          </a:p>
          <a:p>
            <a:pPr marL="1296670">
              <a:lnSpc>
                <a:spcPct val="100000"/>
              </a:lnSpc>
              <a:spcBef>
                <a:spcPts val="695"/>
              </a:spcBef>
            </a:pPr>
            <a:r>
              <a:rPr dirty="0" sz="2400" spc="-5">
                <a:solidFill>
                  <a:srgbClr val="40458B"/>
                </a:solidFill>
                <a:latin typeface="黑体"/>
                <a:cs typeface="黑体"/>
              </a:rPr>
              <a:t>容量为</a:t>
            </a:r>
            <a:r>
              <a:rPr dirty="0" sz="2400" spc="-10">
                <a:solidFill>
                  <a:srgbClr val="9933FF"/>
                </a:solidFill>
                <a:latin typeface="黑体"/>
                <a:cs typeface="黑体"/>
              </a:rPr>
              <a:t>N</a:t>
            </a:r>
            <a:r>
              <a:rPr dirty="0" sz="2400" spc="-10">
                <a:solidFill>
                  <a:srgbClr val="40458B"/>
                </a:solidFill>
                <a:latin typeface="黑体"/>
                <a:cs typeface="黑体"/>
              </a:rPr>
              <a:t>的</a:t>
            </a:r>
            <a:r>
              <a:rPr dirty="0" sz="2400" spc="-10">
                <a:solidFill>
                  <a:srgbClr val="D50092"/>
                </a:solidFill>
                <a:latin typeface="黑体"/>
                <a:cs typeface="黑体"/>
              </a:rPr>
              <a:t>直接映象</a:t>
            </a:r>
            <a:r>
              <a:rPr dirty="0" sz="2400" spc="-10">
                <a:solidFill>
                  <a:srgbClr val="40458B"/>
                </a:solidFill>
                <a:latin typeface="黑体"/>
                <a:cs typeface="黑体"/>
              </a:rPr>
              <a:t>Cache的不命中率和容量为</a:t>
            </a:r>
            <a:r>
              <a:rPr dirty="0" sz="2400" spc="-10">
                <a:solidFill>
                  <a:srgbClr val="9933FF"/>
                </a:solidFill>
                <a:latin typeface="黑体"/>
                <a:cs typeface="黑体"/>
              </a:rPr>
              <a:t>N/2</a:t>
            </a:r>
            <a:r>
              <a:rPr dirty="0" sz="2400" spc="-10">
                <a:solidFill>
                  <a:srgbClr val="40458B"/>
                </a:solidFill>
                <a:latin typeface="黑体"/>
                <a:cs typeface="黑体"/>
              </a:rPr>
              <a:t>的</a:t>
            </a:r>
            <a:r>
              <a:rPr dirty="0" sz="2400" spc="-20">
                <a:solidFill>
                  <a:srgbClr val="D50092"/>
                </a:solidFill>
                <a:latin typeface="黑体"/>
                <a:cs typeface="黑体"/>
              </a:rPr>
              <a:t>两路组相联</a:t>
            </a:r>
            <a:endParaRPr sz="2400">
              <a:latin typeface="黑体"/>
              <a:cs typeface="黑体"/>
            </a:endParaRPr>
          </a:p>
          <a:p>
            <a:pPr marL="687070">
              <a:lnSpc>
                <a:spcPct val="100000"/>
              </a:lnSpc>
              <a:spcBef>
                <a:spcPts val="580"/>
              </a:spcBef>
            </a:pPr>
            <a:r>
              <a:rPr dirty="0" sz="2400">
                <a:solidFill>
                  <a:srgbClr val="40458B"/>
                </a:solidFill>
                <a:latin typeface="黑体"/>
                <a:cs typeface="黑体"/>
              </a:rPr>
              <a:t>Cache</a:t>
            </a:r>
            <a:r>
              <a:rPr dirty="0" sz="2400" spc="-5">
                <a:solidFill>
                  <a:srgbClr val="40458B"/>
                </a:solidFill>
                <a:latin typeface="黑体"/>
                <a:cs typeface="黑体"/>
              </a:rPr>
              <a:t>的不命中率差不多相同。</a:t>
            </a:r>
            <a:endParaRPr sz="2400">
              <a:latin typeface="黑体"/>
              <a:cs typeface="黑体"/>
            </a:endParaRPr>
          </a:p>
          <a:p>
            <a:pPr marL="687070" indent="-457200">
              <a:lnSpc>
                <a:spcPct val="100000"/>
              </a:lnSpc>
              <a:spcBef>
                <a:spcPts val="955"/>
              </a:spcBef>
              <a:buClr>
                <a:srgbClr val="40458B"/>
              </a:buClr>
              <a:buFont typeface="Tahoma"/>
              <a:buAutoNum type="arabicPeriod" startAt="3"/>
              <a:tabLst>
                <a:tab pos="687070" algn="l"/>
              </a:tabLst>
            </a:pPr>
            <a:r>
              <a:rPr dirty="0" sz="2400" spc="-5">
                <a:solidFill>
                  <a:srgbClr val="E14B04"/>
                </a:solidFill>
                <a:latin typeface="黑体"/>
                <a:cs typeface="黑体"/>
              </a:rPr>
              <a:t>提高相联度是以增加命中时间为代价。</a:t>
            </a:r>
            <a:endParaRPr sz="2400">
              <a:latin typeface="黑体"/>
              <a:cs typeface="黑体"/>
            </a:endParaRPr>
          </a:p>
        </p:txBody>
      </p:sp>
      <p:sp>
        <p:nvSpPr>
          <p:cNvPr id="10" name="object 10"/>
          <p:cNvSpPr txBox="1">
            <a:spLocks noGrp="1"/>
          </p:cNvSpPr>
          <p:nvPr>
            <p:ph type="title"/>
          </p:nvPr>
        </p:nvSpPr>
        <p:spPr>
          <a:xfrm>
            <a:off x="1926717" y="46989"/>
            <a:ext cx="2670175" cy="422275"/>
          </a:xfrm>
          <a:prstGeom prst="rect"/>
        </p:spPr>
        <p:txBody>
          <a:bodyPr wrap="square" lIns="0" tIns="12700" rIns="0" bIns="0" rtlCol="0" vert="horz">
            <a:spAutoFit/>
          </a:bodyPr>
          <a:lstStyle/>
          <a:p>
            <a:pPr marL="12700">
              <a:lnSpc>
                <a:spcPct val="100000"/>
              </a:lnSpc>
              <a:spcBef>
                <a:spcPts val="100"/>
              </a:spcBef>
            </a:pPr>
            <a:r>
              <a:rPr dirty="0" u="none" sz="2600">
                <a:solidFill>
                  <a:srgbClr val="0000CC"/>
                </a:solidFill>
              </a:rPr>
              <a:t>7.3.4</a:t>
            </a:r>
            <a:r>
              <a:rPr dirty="0" u="none" sz="2600" spc="-15">
                <a:solidFill>
                  <a:srgbClr val="0000CC"/>
                </a:solidFill>
              </a:rPr>
              <a:t> 提高相联度</a:t>
            </a:r>
            <a:endParaRPr sz="26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279016" y="86944"/>
            <a:ext cx="6883400" cy="1919605"/>
          </a:xfrm>
          <a:prstGeom prst="rect">
            <a:avLst/>
          </a:prstGeom>
        </p:spPr>
        <p:txBody>
          <a:bodyPr wrap="square" lIns="0" tIns="0" rIns="0" bIns="0" rtlCol="0" vert="horz">
            <a:spAutoFit/>
          </a:bodyPr>
          <a:lstStyle/>
          <a:p>
            <a:pPr marL="518795">
              <a:lnSpc>
                <a:spcPts val="3020"/>
              </a:lnSpc>
            </a:pPr>
            <a:r>
              <a:rPr dirty="0" sz="2600">
                <a:solidFill>
                  <a:srgbClr val="0000CC"/>
                </a:solidFill>
                <a:latin typeface="黑体"/>
                <a:cs typeface="黑体"/>
              </a:rPr>
              <a:t>7.3.5</a:t>
            </a:r>
            <a:r>
              <a:rPr dirty="0" sz="2600" spc="-70">
                <a:solidFill>
                  <a:srgbClr val="0000CC"/>
                </a:solidFill>
                <a:latin typeface="黑体"/>
                <a:cs typeface="黑体"/>
              </a:rPr>
              <a:t> </a:t>
            </a:r>
            <a:r>
              <a:rPr dirty="0" sz="2400" spc="-120">
                <a:solidFill>
                  <a:srgbClr val="0000CC"/>
                </a:solidFill>
                <a:latin typeface="黑体"/>
                <a:cs typeface="黑体"/>
              </a:rPr>
              <a:t>伪相联 </a:t>
            </a:r>
            <a:r>
              <a:rPr dirty="0" sz="2400">
                <a:solidFill>
                  <a:srgbClr val="0000CC"/>
                </a:solidFill>
                <a:latin typeface="Tahoma"/>
                <a:cs typeface="Tahoma"/>
              </a:rPr>
              <a:t>Cache</a:t>
            </a:r>
            <a:r>
              <a:rPr dirty="0" sz="2400" spc="-10">
                <a:solidFill>
                  <a:srgbClr val="0000CC"/>
                </a:solidFill>
                <a:latin typeface="Tahoma"/>
                <a:cs typeface="Tahoma"/>
              </a:rPr>
              <a:t> </a:t>
            </a:r>
            <a:r>
              <a:rPr dirty="0" sz="2400" spc="-10">
                <a:solidFill>
                  <a:srgbClr val="40458B"/>
                </a:solidFill>
                <a:latin typeface="Tahoma"/>
                <a:cs typeface="Tahoma"/>
              </a:rPr>
              <a:t>(</a:t>
            </a:r>
            <a:r>
              <a:rPr dirty="0" sz="2400" spc="-120">
                <a:solidFill>
                  <a:srgbClr val="0000CC"/>
                </a:solidFill>
                <a:latin typeface="黑体"/>
                <a:cs typeface="黑体"/>
              </a:rPr>
              <a:t>列相联 </a:t>
            </a:r>
            <a:r>
              <a:rPr dirty="0" sz="2400">
                <a:solidFill>
                  <a:srgbClr val="0000CC"/>
                </a:solidFill>
                <a:latin typeface="Tahoma"/>
                <a:cs typeface="Tahoma"/>
              </a:rPr>
              <a:t>Cache</a:t>
            </a:r>
            <a:r>
              <a:rPr dirty="0" sz="2400" spc="5">
                <a:solidFill>
                  <a:srgbClr val="0000CC"/>
                </a:solidFill>
                <a:latin typeface="Tahoma"/>
                <a:cs typeface="Tahoma"/>
              </a:rPr>
              <a:t> </a:t>
            </a:r>
            <a:r>
              <a:rPr dirty="0" sz="2400" spc="-50">
                <a:solidFill>
                  <a:srgbClr val="40458B"/>
                </a:solidFill>
                <a:latin typeface="Tahoma"/>
                <a:cs typeface="Tahoma"/>
              </a:rPr>
              <a:t>)</a:t>
            </a:r>
            <a:endParaRPr sz="2400">
              <a:latin typeface="Tahoma"/>
              <a:cs typeface="Tahoma"/>
            </a:endParaRPr>
          </a:p>
          <a:p>
            <a:pPr>
              <a:lnSpc>
                <a:spcPct val="100000"/>
              </a:lnSpc>
              <a:spcBef>
                <a:spcPts val="1120"/>
              </a:spcBef>
            </a:pPr>
            <a:endParaRPr sz="2400">
              <a:latin typeface="Tahoma"/>
              <a:cs typeface="Tahoma"/>
            </a:endParaRPr>
          </a:p>
          <a:p>
            <a:pPr marL="155575">
              <a:lnSpc>
                <a:spcPct val="100000"/>
              </a:lnSpc>
            </a:pPr>
            <a:r>
              <a:rPr dirty="0" sz="2400" spc="-40">
                <a:solidFill>
                  <a:srgbClr val="0000CC"/>
                </a:solidFill>
                <a:latin typeface="黑体"/>
                <a:cs typeface="黑体"/>
              </a:rPr>
              <a:t>第四种优化策略：伪相联 </a:t>
            </a:r>
            <a:r>
              <a:rPr dirty="0" sz="2400">
                <a:solidFill>
                  <a:srgbClr val="0000CC"/>
                </a:solidFill>
                <a:latin typeface="Tahoma"/>
                <a:cs typeface="Tahoma"/>
              </a:rPr>
              <a:t>Cache</a:t>
            </a:r>
            <a:r>
              <a:rPr dirty="0" sz="2400" spc="-130">
                <a:solidFill>
                  <a:srgbClr val="0000CC"/>
                </a:solidFill>
                <a:latin typeface="Tahoma"/>
                <a:cs typeface="Tahoma"/>
              </a:rPr>
              <a:t> </a:t>
            </a:r>
            <a:r>
              <a:rPr dirty="0" sz="2400" spc="-10">
                <a:solidFill>
                  <a:srgbClr val="40458B"/>
                </a:solidFill>
                <a:latin typeface="Tahoma"/>
                <a:cs typeface="Tahoma"/>
              </a:rPr>
              <a:t>(</a:t>
            </a:r>
            <a:r>
              <a:rPr dirty="0" sz="2400" spc="-114">
                <a:solidFill>
                  <a:srgbClr val="0000CC"/>
                </a:solidFill>
                <a:latin typeface="黑体"/>
                <a:cs typeface="黑体"/>
              </a:rPr>
              <a:t>列相联 </a:t>
            </a:r>
            <a:r>
              <a:rPr dirty="0" sz="2400">
                <a:solidFill>
                  <a:srgbClr val="0000CC"/>
                </a:solidFill>
                <a:latin typeface="Tahoma"/>
                <a:cs typeface="Tahoma"/>
              </a:rPr>
              <a:t>Cache</a:t>
            </a:r>
            <a:r>
              <a:rPr dirty="0" sz="2400" spc="-35">
                <a:solidFill>
                  <a:srgbClr val="0000CC"/>
                </a:solidFill>
                <a:latin typeface="Tahoma"/>
                <a:cs typeface="Tahoma"/>
              </a:rPr>
              <a:t> </a:t>
            </a:r>
            <a:r>
              <a:rPr dirty="0" sz="2400" spc="-50">
                <a:solidFill>
                  <a:srgbClr val="40458B"/>
                </a:solidFill>
                <a:latin typeface="Tahoma"/>
                <a:cs typeface="Tahoma"/>
              </a:rPr>
              <a:t>)</a:t>
            </a:r>
            <a:endParaRPr sz="2400">
              <a:latin typeface="Tahoma"/>
              <a:cs typeface="Tahoma"/>
            </a:endParaRPr>
          </a:p>
          <a:p>
            <a:pPr marL="12700">
              <a:lnSpc>
                <a:spcPct val="100000"/>
              </a:lnSpc>
              <a:spcBef>
                <a:spcPts val="2215"/>
              </a:spcBef>
              <a:tabLst>
                <a:tab pos="469265" algn="l"/>
              </a:tabLst>
            </a:pPr>
            <a:r>
              <a:rPr dirty="0" sz="2400" spc="-25">
                <a:solidFill>
                  <a:srgbClr val="40458B"/>
                </a:solidFill>
                <a:latin typeface="黑体"/>
                <a:cs typeface="黑体"/>
              </a:rPr>
              <a:t>1.</a:t>
            </a:r>
            <a:r>
              <a:rPr dirty="0" sz="2400">
                <a:solidFill>
                  <a:srgbClr val="40458B"/>
                </a:solidFill>
                <a:latin typeface="黑体"/>
                <a:cs typeface="黑体"/>
              </a:rPr>
              <a:t>	</a:t>
            </a:r>
            <a:r>
              <a:rPr dirty="0" sz="2400" spc="-5">
                <a:solidFill>
                  <a:srgbClr val="E14B04"/>
                </a:solidFill>
                <a:latin typeface="黑体"/>
                <a:cs typeface="黑体"/>
              </a:rPr>
              <a:t>多路组相联的低不命中率和直接映象的命中速度</a:t>
            </a:r>
            <a:endParaRPr sz="2400">
              <a:latin typeface="黑体"/>
              <a:cs typeface="黑体"/>
            </a:endParaRPr>
          </a:p>
        </p:txBody>
      </p:sp>
      <p:sp>
        <p:nvSpPr>
          <p:cNvPr id="10" name="object 10" descr=""/>
          <p:cNvSpPr txBox="1"/>
          <p:nvPr/>
        </p:nvSpPr>
        <p:spPr>
          <a:xfrm>
            <a:off x="1279016" y="4158367"/>
            <a:ext cx="3126105" cy="1689735"/>
          </a:xfrm>
          <a:prstGeom prst="rect">
            <a:avLst/>
          </a:prstGeom>
        </p:spPr>
        <p:txBody>
          <a:bodyPr wrap="square" lIns="0" tIns="222250" rIns="0" bIns="0" rtlCol="0" vert="horz">
            <a:spAutoFit/>
          </a:bodyPr>
          <a:lstStyle/>
          <a:p>
            <a:pPr marL="469265" indent="-456565">
              <a:lnSpc>
                <a:spcPct val="100000"/>
              </a:lnSpc>
              <a:spcBef>
                <a:spcPts val="1750"/>
              </a:spcBef>
              <a:buClr>
                <a:srgbClr val="40458B"/>
              </a:buClr>
              <a:buFont typeface="Tahoma"/>
              <a:buAutoNum type="arabicPeriod" startAt="2"/>
              <a:tabLst>
                <a:tab pos="469265" algn="l"/>
              </a:tabLst>
            </a:pPr>
            <a:r>
              <a:rPr dirty="0" sz="2400">
                <a:solidFill>
                  <a:srgbClr val="E14B04"/>
                </a:solidFill>
                <a:latin typeface="黑体"/>
                <a:cs typeface="黑体"/>
              </a:rPr>
              <a:t>伪相联</a:t>
            </a:r>
            <a:r>
              <a:rPr dirty="0" sz="2400" spc="-25">
                <a:solidFill>
                  <a:srgbClr val="E14B04"/>
                </a:solidFill>
                <a:latin typeface="Tahoma"/>
                <a:cs typeface="Tahoma"/>
              </a:rPr>
              <a:t>Cache</a:t>
            </a:r>
            <a:r>
              <a:rPr dirty="0" sz="2400">
                <a:solidFill>
                  <a:srgbClr val="E14B04"/>
                </a:solidFill>
                <a:latin typeface="黑体"/>
                <a:cs typeface="黑体"/>
              </a:rPr>
              <a:t>的</a:t>
            </a:r>
            <a:r>
              <a:rPr dirty="0" sz="2400" spc="-25">
                <a:solidFill>
                  <a:srgbClr val="D50092"/>
                </a:solidFill>
                <a:latin typeface="黑体"/>
                <a:cs typeface="黑体"/>
              </a:rPr>
              <a:t>优点</a:t>
            </a:r>
            <a:endParaRPr sz="2400">
              <a:latin typeface="黑体"/>
              <a:cs typeface="黑体"/>
            </a:endParaRPr>
          </a:p>
          <a:p>
            <a:pPr lvl="1" marL="1099185" indent="-457200">
              <a:lnSpc>
                <a:spcPct val="100000"/>
              </a:lnSpc>
              <a:spcBef>
                <a:spcPts val="1655"/>
              </a:spcBef>
              <a:buSzPct val="89583"/>
              <a:buFont typeface="Wingdings"/>
              <a:buChar char=""/>
              <a:tabLst>
                <a:tab pos="1099185" algn="l"/>
              </a:tabLst>
            </a:pPr>
            <a:r>
              <a:rPr dirty="0" sz="2400" spc="-10">
                <a:solidFill>
                  <a:srgbClr val="40458B"/>
                </a:solidFill>
                <a:latin typeface="黑体"/>
                <a:cs typeface="黑体"/>
              </a:rPr>
              <a:t>命中时间小</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不命中率低</a:t>
            </a:r>
            <a:endParaRPr sz="2400">
              <a:latin typeface="黑体"/>
              <a:cs typeface="黑体"/>
            </a:endParaRPr>
          </a:p>
        </p:txBody>
      </p:sp>
      <p:graphicFrame>
        <p:nvGraphicFramePr>
          <p:cNvPr id="11" name="object 11" descr=""/>
          <p:cNvGraphicFramePr>
            <a:graphicFrameLocks noGrp="1"/>
          </p:cNvGraphicFramePr>
          <p:nvPr/>
        </p:nvGraphicFramePr>
        <p:xfrm>
          <a:off x="3430651" y="2595626"/>
          <a:ext cx="5334000" cy="1493520"/>
        </p:xfrm>
        <a:graphic>
          <a:graphicData uri="http://schemas.openxmlformats.org/drawingml/2006/table">
            <a:tbl>
              <a:tblPr firstRow="1" bandRow="1">
                <a:tableStyleId>{2D5ABB26-0587-4C30-8999-92F81FD0307C}</a:tableStyleId>
              </a:tblPr>
              <a:tblGrid>
                <a:gridCol w="1600200"/>
                <a:gridCol w="1905000"/>
                <a:gridCol w="1752600"/>
              </a:tblGrid>
              <a:tr h="464820">
                <a:tc>
                  <a:txBody>
                    <a:bodyPr/>
                    <a:lstStyle/>
                    <a:p>
                      <a:pPr>
                        <a:lnSpc>
                          <a:spcPct val="100000"/>
                        </a:lnSpc>
                      </a:pPr>
                      <a:endParaRPr sz="2400">
                        <a:latin typeface="Times New Roman"/>
                        <a:cs typeface="Times New Roman"/>
                      </a:endParaRPr>
                    </a:p>
                  </a:txBody>
                  <a:tcPr marL="0" marR="0" marB="0" marT="0">
                    <a:lnR w="19050">
                      <a:solidFill>
                        <a:srgbClr val="40458B"/>
                      </a:solidFill>
                      <a:prstDash val="solid"/>
                    </a:lnR>
                    <a:lnB w="19050">
                      <a:solidFill>
                        <a:srgbClr val="40458B"/>
                      </a:solidFill>
                      <a:prstDash val="solid"/>
                    </a:lnB>
                    <a:solidFill>
                      <a:srgbClr val="FFFFCC"/>
                    </a:solidFill>
                  </a:tcPr>
                </a:tc>
                <a:tc>
                  <a:txBody>
                    <a:bodyPr/>
                    <a:lstStyle/>
                    <a:p>
                      <a:pPr algn="ctr" marR="33655">
                        <a:lnSpc>
                          <a:spcPct val="100000"/>
                        </a:lnSpc>
                        <a:spcBef>
                          <a:spcPts val="80"/>
                        </a:spcBef>
                        <a:tabLst>
                          <a:tab pos="612775" algn="l"/>
                        </a:tabLst>
                      </a:pPr>
                      <a:r>
                        <a:rPr dirty="0" sz="2400" spc="-50" b="1">
                          <a:latin typeface="宋体"/>
                          <a:cs typeface="宋体"/>
                        </a:rPr>
                        <a:t>优</a:t>
                      </a:r>
                      <a:r>
                        <a:rPr dirty="0" sz="2400" b="1">
                          <a:latin typeface="宋体"/>
                          <a:cs typeface="宋体"/>
                        </a:rPr>
                        <a:t>	</a:t>
                      </a:r>
                      <a:r>
                        <a:rPr dirty="0" sz="2400" spc="-50" b="1">
                          <a:latin typeface="宋体"/>
                          <a:cs typeface="宋体"/>
                        </a:rPr>
                        <a:t>点</a:t>
                      </a:r>
                      <a:endParaRPr sz="2400">
                        <a:latin typeface="宋体"/>
                        <a:cs typeface="宋体"/>
                      </a:endParaRPr>
                    </a:p>
                  </a:txBody>
                  <a:tcPr marL="0" marR="0" marB="0" marT="10160">
                    <a:lnL w="19050">
                      <a:solidFill>
                        <a:srgbClr val="40458B"/>
                      </a:solidFill>
                      <a:prstDash val="solid"/>
                    </a:lnL>
                    <a:lnR w="9525">
                      <a:solidFill>
                        <a:srgbClr val="40458B"/>
                      </a:solidFill>
                      <a:prstDash val="solid"/>
                    </a:lnR>
                    <a:lnB w="19050">
                      <a:solidFill>
                        <a:srgbClr val="40458B"/>
                      </a:solidFill>
                      <a:prstDash val="solid"/>
                    </a:lnB>
                    <a:solidFill>
                      <a:srgbClr val="FFFFCC"/>
                    </a:solidFill>
                  </a:tcPr>
                </a:tc>
                <a:tc>
                  <a:txBody>
                    <a:bodyPr/>
                    <a:lstStyle/>
                    <a:p>
                      <a:pPr algn="ctr" marR="71120">
                        <a:lnSpc>
                          <a:spcPct val="100000"/>
                        </a:lnSpc>
                        <a:spcBef>
                          <a:spcPts val="80"/>
                        </a:spcBef>
                        <a:tabLst>
                          <a:tab pos="612140" algn="l"/>
                        </a:tabLst>
                      </a:pPr>
                      <a:r>
                        <a:rPr dirty="0" sz="2400" spc="-50" b="1">
                          <a:latin typeface="宋体"/>
                          <a:cs typeface="宋体"/>
                        </a:rPr>
                        <a:t>缺</a:t>
                      </a:r>
                      <a:r>
                        <a:rPr dirty="0" sz="2400" b="1">
                          <a:latin typeface="宋体"/>
                          <a:cs typeface="宋体"/>
                        </a:rPr>
                        <a:t>	</a:t>
                      </a:r>
                      <a:r>
                        <a:rPr dirty="0" sz="2400" spc="-50" b="1">
                          <a:latin typeface="宋体"/>
                          <a:cs typeface="宋体"/>
                        </a:rPr>
                        <a:t>点</a:t>
                      </a:r>
                      <a:endParaRPr sz="2400">
                        <a:latin typeface="宋体"/>
                        <a:cs typeface="宋体"/>
                      </a:endParaRPr>
                    </a:p>
                  </a:txBody>
                  <a:tcPr marL="0" marR="0" marB="0" marT="10160">
                    <a:lnL w="9525">
                      <a:solidFill>
                        <a:srgbClr val="40458B"/>
                      </a:solidFill>
                      <a:prstDash val="solid"/>
                    </a:lnL>
                    <a:lnB w="19050">
                      <a:solidFill>
                        <a:srgbClr val="40458B"/>
                      </a:solidFill>
                      <a:prstDash val="solid"/>
                    </a:lnB>
                    <a:solidFill>
                      <a:srgbClr val="FFFFCC"/>
                    </a:solidFill>
                  </a:tcPr>
                </a:tc>
              </a:tr>
              <a:tr h="495300">
                <a:tc>
                  <a:txBody>
                    <a:bodyPr/>
                    <a:lstStyle/>
                    <a:p>
                      <a:pPr marL="243840">
                        <a:lnSpc>
                          <a:spcPct val="100000"/>
                        </a:lnSpc>
                        <a:spcBef>
                          <a:spcPts val="190"/>
                        </a:spcBef>
                      </a:pPr>
                      <a:r>
                        <a:rPr dirty="0" sz="2400" spc="-30" b="1">
                          <a:latin typeface="宋体"/>
                          <a:cs typeface="宋体"/>
                        </a:rPr>
                        <a:t>直接映象</a:t>
                      </a:r>
                      <a:endParaRPr sz="2400">
                        <a:latin typeface="宋体"/>
                        <a:cs typeface="宋体"/>
                      </a:endParaRPr>
                    </a:p>
                  </a:txBody>
                  <a:tcPr marL="0" marR="0" marB="0" marT="24130">
                    <a:lnR w="19050">
                      <a:solidFill>
                        <a:srgbClr val="40458B"/>
                      </a:solidFill>
                      <a:prstDash val="solid"/>
                    </a:lnR>
                    <a:lnT w="19050">
                      <a:solidFill>
                        <a:srgbClr val="40458B"/>
                      </a:solidFill>
                      <a:prstDash val="solid"/>
                    </a:lnT>
                    <a:lnB w="9525">
                      <a:solidFill>
                        <a:srgbClr val="40458B"/>
                      </a:solidFill>
                      <a:prstDash val="solid"/>
                    </a:lnB>
                    <a:solidFill>
                      <a:srgbClr val="FFFFCC"/>
                    </a:solidFill>
                  </a:tcPr>
                </a:tc>
                <a:tc>
                  <a:txBody>
                    <a:bodyPr/>
                    <a:lstStyle/>
                    <a:p>
                      <a:pPr algn="ctr">
                        <a:lnSpc>
                          <a:spcPct val="100000"/>
                        </a:lnSpc>
                        <a:spcBef>
                          <a:spcPts val="580"/>
                        </a:spcBef>
                      </a:pPr>
                      <a:r>
                        <a:rPr dirty="0" sz="2400" spc="-20" b="1">
                          <a:solidFill>
                            <a:srgbClr val="40458B"/>
                          </a:solidFill>
                          <a:latin typeface="微软雅黑"/>
                          <a:cs typeface="微软雅黑"/>
                        </a:rPr>
                        <a:t>命中时间小</a:t>
                      </a:r>
                      <a:endParaRPr sz="2400">
                        <a:latin typeface="微软雅黑"/>
                        <a:cs typeface="微软雅黑"/>
                      </a:endParaRPr>
                    </a:p>
                  </a:txBody>
                  <a:tcPr marL="0" marR="0" marB="0" marT="73660">
                    <a:lnL w="19050">
                      <a:solidFill>
                        <a:srgbClr val="40458B"/>
                      </a:solidFill>
                      <a:prstDash val="solid"/>
                    </a:lnL>
                    <a:lnR w="9525">
                      <a:solidFill>
                        <a:srgbClr val="40458B"/>
                      </a:solidFill>
                      <a:prstDash val="solid"/>
                    </a:lnR>
                    <a:lnT w="19050">
                      <a:solidFill>
                        <a:srgbClr val="40458B"/>
                      </a:solidFill>
                      <a:prstDash val="solid"/>
                    </a:lnT>
                    <a:lnB w="9525">
                      <a:solidFill>
                        <a:srgbClr val="40458B"/>
                      </a:solidFill>
                      <a:prstDash val="solid"/>
                    </a:lnB>
                    <a:solidFill>
                      <a:srgbClr val="FFC8FF"/>
                    </a:solidFill>
                  </a:tcPr>
                </a:tc>
                <a:tc>
                  <a:txBody>
                    <a:bodyPr/>
                    <a:lstStyle/>
                    <a:p>
                      <a:pPr algn="ctr" marR="59055">
                        <a:lnSpc>
                          <a:spcPct val="100000"/>
                        </a:lnSpc>
                        <a:spcBef>
                          <a:spcPts val="580"/>
                        </a:spcBef>
                      </a:pPr>
                      <a:r>
                        <a:rPr dirty="0" sz="2400" spc="-20" b="1">
                          <a:solidFill>
                            <a:srgbClr val="40458B"/>
                          </a:solidFill>
                          <a:latin typeface="微软雅黑"/>
                          <a:cs typeface="微软雅黑"/>
                        </a:rPr>
                        <a:t>不命中率高</a:t>
                      </a:r>
                      <a:endParaRPr sz="2400">
                        <a:latin typeface="微软雅黑"/>
                        <a:cs typeface="微软雅黑"/>
                      </a:endParaRPr>
                    </a:p>
                  </a:txBody>
                  <a:tcPr marL="0" marR="0" marB="0" marT="73660">
                    <a:lnL w="9525">
                      <a:solidFill>
                        <a:srgbClr val="40458B"/>
                      </a:solidFill>
                      <a:prstDash val="solid"/>
                    </a:lnL>
                    <a:lnT w="19050">
                      <a:solidFill>
                        <a:srgbClr val="40458B"/>
                      </a:solidFill>
                      <a:prstDash val="solid"/>
                    </a:lnT>
                    <a:lnB w="9525">
                      <a:solidFill>
                        <a:srgbClr val="40458B"/>
                      </a:solidFill>
                      <a:prstDash val="solid"/>
                    </a:lnB>
                    <a:solidFill>
                      <a:srgbClr val="FFC8FF"/>
                    </a:solidFill>
                  </a:tcPr>
                </a:tc>
              </a:tr>
              <a:tr h="533400">
                <a:tc>
                  <a:txBody>
                    <a:bodyPr/>
                    <a:lstStyle/>
                    <a:p>
                      <a:pPr marL="309245">
                        <a:lnSpc>
                          <a:spcPct val="100000"/>
                        </a:lnSpc>
                        <a:spcBef>
                          <a:spcPts val="495"/>
                        </a:spcBef>
                      </a:pPr>
                      <a:r>
                        <a:rPr dirty="0" sz="2400" spc="-35" b="1">
                          <a:latin typeface="宋体"/>
                          <a:cs typeface="宋体"/>
                        </a:rPr>
                        <a:t>组相联</a:t>
                      </a:r>
                      <a:endParaRPr sz="2400">
                        <a:latin typeface="宋体"/>
                        <a:cs typeface="宋体"/>
                      </a:endParaRPr>
                    </a:p>
                  </a:txBody>
                  <a:tcPr marL="0" marR="0" marB="0" marT="62865">
                    <a:lnR w="19050">
                      <a:solidFill>
                        <a:srgbClr val="40458B"/>
                      </a:solidFill>
                      <a:prstDash val="solid"/>
                    </a:lnR>
                    <a:lnT w="9525">
                      <a:solidFill>
                        <a:srgbClr val="40458B"/>
                      </a:solidFill>
                      <a:prstDash val="solid"/>
                    </a:lnT>
                    <a:solidFill>
                      <a:srgbClr val="FFFFCC"/>
                    </a:solidFill>
                  </a:tcPr>
                </a:tc>
                <a:tc>
                  <a:txBody>
                    <a:bodyPr/>
                    <a:lstStyle/>
                    <a:p>
                      <a:pPr algn="ctr" marR="75565">
                        <a:lnSpc>
                          <a:spcPct val="100000"/>
                        </a:lnSpc>
                        <a:spcBef>
                          <a:spcPts val="280"/>
                        </a:spcBef>
                      </a:pPr>
                      <a:r>
                        <a:rPr dirty="0" sz="2400" spc="-10" b="1">
                          <a:solidFill>
                            <a:srgbClr val="40458B"/>
                          </a:solidFill>
                          <a:latin typeface="微软雅黑"/>
                          <a:cs typeface="微软雅黑"/>
                        </a:rPr>
                        <a:t>不命中率低</a:t>
                      </a:r>
                      <a:endParaRPr sz="2400">
                        <a:latin typeface="微软雅黑"/>
                        <a:cs typeface="微软雅黑"/>
                      </a:endParaRPr>
                    </a:p>
                  </a:txBody>
                  <a:tcPr marL="0" marR="0" marB="0" marT="35560">
                    <a:lnL w="19050">
                      <a:solidFill>
                        <a:srgbClr val="40458B"/>
                      </a:solidFill>
                      <a:prstDash val="solid"/>
                    </a:lnL>
                    <a:lnR w="9525">
                      <a:solidFill>
                        <a:srgbClr val="40458B"/>
                      </a:solidFill>
                      <a:prstDash val="solid"/>
                    </a:lnR>
                    <a:lnT w="9525">
                      <a:solidFill>
                        <a:srgbClr val="40458B"/>
                      </a:solidFill>
                      <a:prstDash val="solid"/>
                    </a:lnT>
                    <a:solidFill>
                      <a:srgbClr val="FFC8FF"/>
                    </a:solidFill>
                  </a:tcPr>
                </a:tc>
                <a:tc>
                  <a:txBody>
                    <a:bodyPr/>
                    <a:lstStyle/>
                    <a:p>
                      <a:pPr algn="ctr" marR="36195">
                        <a:lnSpc>
                          <a:spcPct val="100000"/>
                        </a:lnSpc>
                        <a:spcBef>
                          <a:spcPts val="280"/>
                        </a:spcBef>
                      </a:pPr>
                      <a:r>
                        <a:rPr dirty="0" sz="2400" spc="-10" b="1">
                          <a:solidFill>
                            <a:srgbClr val="40458B"/>
                          </a:solidFill>
                          <a:latin typeface="微软雅黑"/>
                          <a:cs typeface="微软雅黑"/>
                        </a:rPr>
                        <a:t>命中时间大</a:t>
                      </a:r>
                      <a:endParaRPr sz="2400">
                        <a:latin typeface="微软雅黑"/>
                        <a:cs typeface="微软雅黑"/>
                      </a:endParaRPr>
                    </a:p>
                  </a:txBody>
                  <a:tcPr marL="0" marR="0" marB="0" marT="35560">
                    <a:lnL w="9525">
                      <a:solidFill>
                        <a:srgbClr val="40458B"/>
                      </a:solidFill>
                      <a:prstDash val="solid"/>
                    </a:lnL>
                    <a:lnT w="9525">
                      <a:solidFill>
                        <a:srgbClr val="40458B"/>
                      </a:solidFill>
                      <a:prstDash val="solid"/>
                    </a:lnT>
                    <a:solidFill>
                      <a:srgbClr val="FFC8FF"/>
                    </a:solid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79/170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42391" y="799370"/>
            <a:ext cx="11362055" cy="1844675"/>
          </a:xfrm>
          <a:prstGeom prst="rect">
            <a:avLst/>
          </a:prstGeom>
        </p:spPr>
        <p:txBody>
          <a:bodyPr wrap="square" lIns="0" tIns="206375" rIns="0" bIns="0" rtlCol="0" vert="horz">
            <a:spAutoFit/>
          </a:bodyPr>
          <a:lstStyle/>
          <a:p>
            <a:pPr marL="12700">
              <a:lnSpc>
                <a:spcPct val="100000"/>
              </a:lnSpc>
              <a:spcBef>
                <a:spcPts val="1625"/>
              </a:spcBef>
              <a:tabLst>
                <a:tab pos="469265"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a:solidFill>
                  <a:srgbClr val="E14B04"/>
                </a:solidFill>
                <a:latin typeface="黑体"/>
                <a:cs typeface="黑体"/>
              </a:rPr>
              <a:t>基本思想及工作原理（直接映射的命中时间，两路组相联的命中率</a:t>
            </a:r>
            <a:r>
              <a:rPr dirty="0" sz="2400" spc="-50">
                <a:solidFill>
                  <a:srgbClr val="E14B04"/>
                </a:solidFill>
                <a:latin typeface="黑体"/>
                <a:cs typeface="黑体"/>
              </a:rPr>
              <a:t>）</a:t>
            </a:r>
            <a:endParaRPr sz="2400">
              <a:latin typeface="黑体"/>
              <a:cs typeface="黑体"/>
            </a:endParaRPr>
          </a:p>
          <a:p>
            <a:pPr marL="469900" marR="5080" indent="572770">
              <a:lnSpc>
                <a:spcPct val="130000"/>
              </a:lnSpc>
              <a:spcBef>
                <a:spcPts val="555"/>
              </a:spcBef>
            </a:pPr>
            <a:r>
              <a:rPr dirty="0" sz="2000" spc="-15" b="1">
                <a:solidFill>
                  <a:srgbClr val="40458B"/>
                </a:solidFill>
                <a:latin typeface="宋体"/>
                <a:cs typeface="宋体"/>
              </a:rPr>
              <a:t>在逻辑上把直接映象</a:t>
            </a:r>
            <a:r>
              <a:rPr dirty="0" sz="2000" spc="-10" b="1">
                <a:solidFill>
                  <a:srgbClr val="40458B"/>
                </a:solidFill>
                <a:latin typeface="宋体"/>
                <a:cs typeface="宋体"/>
              </a:rPr>
              <a:t>Cache</a:t>
            </a:r>
            <a:r>
              <a:rPr dirty="0" sz="2000" spc="-20" b="1">
                <a:solidFill>
                  <a:srgbClr val="40458B"/>
                </a:solidFill>
                <a:latin typeface="宋体"/>
                <a:cs typeface="宋体"/>
              </a:rPr>
              <a:t>的空间上下平分为两个区</a:t>
            </a:r>
            <a:r>
              <a:rPr dirty="0" sz="2000" spc="-10" b="1">
                <a:solidFill>
                  <a:srgbClr val="40458B"/>
                </a:solidFill>
                <a:latin typeface="宋体"/>
                <a:cs typeface="宋体"/>
              </a:rPr>
              <a:t>（</a:t>
            </a:r>
            <a:r>
              <a:rPr dirty="0" sz="2000" spc="-20" b="1">
                <a:solidFill>
                  <a:srgbClr val="40458B"/>
                </a:solidFill>
                <a:latin typeface="宋体"/>
                <a:cs typeface="宋体"/>
              </a:rPr>
              <a:t>地址不连续</a:t>
            </a:r>
            <a:r>
              <a:rPr dirty="0" sz="2000" spc="-10" b="1">
                <a:solidFill>
                  <a:srgbClr val="40458B"/>
                </a:solidFill>
                <a:latin typeface="宋体"/>
                <a:cs typeface="宋体"/>
              </a:rPr>
              <a:t>）</a:t>
            </a:r>
            <a:r>
              <a:rPr dirty="0" sz="2000" spc="-25" b="1">
                <a:solidFill>
                  <a:srgbClr val="40458B"/>
                </a:solidFill>
                <a:latin typeface="宋体"/>
                <a:cs typeface="宋体"/>
              </a:rPr>
              <a:t>。对于任何一次访问，</a:t>
            </a:r>
            <a:r>
              <a:rPr dirty="0" sz="2000" spc="-50" b="1">
                <a:solidFill>
                  <a:srgbClr val="40458B"/>
                </a:solidFill>
                <a:latin typeface="宋体"/>
                <a:cs typeface="宋体"/>
              </a:rPr>
              <a:t> </a:t>
            </a:r>
            <a:r>
              <a:rPr dirty="0" sz="2000" spc="-10" b="1">
                <a:solidFill>
                  <a:srgbClr val="40458B"/>
                </a:solidFill>
                <a:latin typeface="宋体"/>
                <a:cs typeface="宋体"/>
              </a:rPr>
              <a:t>伪相联Cache</a:t>
            </a:r>
            <a:r>
              <a:rPr dirty="0" sz="2000" spc="-20" b="1">
                <a:solidFill>
                  <a:srgbClr val="40458B"/>
                </a:solidFill>
                <a:latin typeface="宋体"/>
                <a:cs typeface="宋体"/>
              </a:rPr>
              <a:t>先按直接映象</a:t>
            </a:r>
            <a:r>
              <a:rPr dirty="0" sz="2000" spc="-10" b="1">
                <a:solidFill>
                  <a:srgbClr val="40458B"/>
                </a:solidFill>
                <a:latin typeface="宋体"/>
                <a:cs typeface="宋体"/>
              </a:rPr>
              <a:t>Cache</a:t>
            </a:r>
            <a:r>
              <a:rPr dirty="0" sz="2000" spc="-20" b="1">
                <a:solidFill>
                  <a:srgbClr val="40458B"/>
                </a:solidFill>
                <a:latin typeface="宋体"/>
                <a:cs typeface="宋体"/>
              </a:rPr>
              <a:t>的方式去处理。若命中，则其访问过程与直接映象</a:t>
            </a:r>
            <a:r>
              <a:rPr dirty="0" sz="2000" spc="-10" b="1">
                <a:solidFill>
                  <a:srgbClr val="40458B"/>
                </a:solidFill>
                <a:latin typeface="宋体"/>
                <a:cs typeface="宋体"/>
              </a:rPr>
              <a:t>Cache</a:t>
            </a:r>
            <a:r>
              <a:rPr dirty="0" sz="2000" spc="-25" b="1">
                <a:solidFill>
                  <a:srgbClr val="40458B"/>
                </a:solidFill>
                <a:latin typeface="宋体"/>
                <a:cs typeface="宋体"/>
              </a:rPr>
              <a:t>的情况一</a:t>
            </a:r>
            <a:r>
              <a:rPr dirty="0" sz="2000" spc="-20" b="1">
                <a:solidFill>
                  <a:srgbClr val="40458B"/>
                </a:solidFill>
                <a:latin typeface="宋体"/>
                <a:cs typeface="宋体"/>
              </a:rPr>
              <a:t>样。若不命中，则再到另一区相应的位置去查找。若找到，则发生了</a:t>
            </a:r>
            <a:r>
              <a:rPr dirty="0" sz="2000" spc="-15" b="1">
                <a:solidFill>
                  <a:srgbClr val="FF0000"/>
                </a:solidFill>
                <a:latin typeface="宋体"/>
                <a:cs typeface="宋体"/>
              </a:rPr>
              <a:t>伪命中</a:t>
            </a:r>
            <a:r>
              <a:rPr dirty="0" sz="2000" spc="-25" b="1">
                <a:solidFill>
                  <a:srgbClr val="40458B"/>
                </a:solidFill>
                <a:latin typeface="宋体"/>
                <a:cs typeface="宋体"/>
              </a:rPr>
              <a:t>，否则就只好访问下</a:t>
            </a:r>
            <a:endParaRPr sz="2000">
              <a:latin typeface="宋体"/>
              <a:cs typeface="宋体"/>
            </a:endParaRPr>
          </a:p>
        </p:txBody>
      </p:sp>
      <p:sp>
        <p:nvSpPr>
          <p:cNvPr id="10" name="object 10" descr=""/>
          <p:cNvSpPr txBox="1"/>
          <p:nvPr/>
        </p:nvSpPr>
        <p:spPr>
          <a:xfrm>
            <a:off x="799591" y="2709113"/>
            <a:ext cx="1562100" cy="331470"/>
          </a:xfrm>
          <a:prstGeom prst="rect">
            <a:avLst/>
          </a:prstGeom>
        </p:spPr>
        <p:txBody>
          <a:bodyPr wrap="square" lIns="0" tIns="13335" rIns="0" bIns="0" rtlCol="0" vert="horz">
            <a:spAutoFit/>
          </a:bodyPr>
          <a:lstStyle/>
          <a:p>
            <a:pPr marL="12700">
              <a:lnSpc>
                <a:spcPct val="100000"/>
              </a:lnSpc>
              <a:spcBef>
                <a:spcPts val="105"/>
              </a:spcBef>
            </a:pPr>
            <a:r>
              <a:rPr dirty="0" sz="2000" spc="-25" b="1">
                <a:solidFill>
                  <a:srgbClr val="40458B"/>
                </a:solidFill>
                <a:latin typeface="宋体"/>
                <a:cs typeface="宋体"/>
              </a:rPr>
              <a:t>一级存储器。</a:t>
            </a:r>
            <a:endParaRPr sz="2000">
              <a:latin typeface="宋体"/>
              <a:cs typeface="宋体"/>
            </a:endParaRPr>
          </a:p>
        </p:txBody>
      </p:sp>
      <p:grpSp>
        <p:nvGrpSpPr>
          <p:cNvPr id="11" name="object 11" descr=""/>
          <p:cNvGrpSpPr/>
          <p:nvPr/>
        </p:nvGrpSpPr>
        <p:grpSpPr>
          <a:xfrm>
            <a:off x="1474205" y="3109760"/>
            <a:ext cx="2613660" cy="2910840"/>
            <a:chOff x="1474205" y="3109760"/>
            <a:chExt cx="2613660" cy="2910840"/>
          </a:xfrm>
        </p:grpSpPr>
        <p:sp>
          <p:nvSpPr>
            <p:cNvPr id="12" name="object 12" descr=""/>
            <p:cNvSpPr/>
            <p:nvPr/>
          </p:nvSpPr>
          <p:spPr>
            <a:xfrm>
              <a:off x="2253350" y="3208970"/>
              <a:ext cx="1243330" cy="2803525"/>
            </a:xfrm>
            <a:custGeom>
              <a:avLst/>
              <a:gdLst/>
              <a:ahLst/>
              <a:cxnLst/>
              <a:rect l="l" t="t" r="r" b="b"/>
              <a:pathLst>
                <a:path w="1243329" h="2803525">
                  <a:moveTo>
                    <a:pt x="1242802" y="0"/>
                  </a:moveTo>
                  <a:lnTo>
                    <a:pt x="0" y="0"/>
                  </a:lnTo>
                  <a:lnTo>
                    <a:pt x="0" y="2803310"/>
                  </a:lnTo>
                  <a:lnTo>
                    <a:pt x="1242802" y="2803310"/>
                  </a:lnTo>
                  <a:lnTo>
                    <a:pt x="1242802" y="0"/>
                  </a:lnTo>
                  <a:close/>
                </a:path>
              </a:pathLst>
            </a:custGeom>
            <a:solidFill>
              <a:srgbClr val="FFFF99"/>
            </a:solidFill>
          </p:spPr>
          <p:txBody>
            <a:bodyPr wrap="square" lIns="0" tIns="0" rIns="0" bIns="0" rtlCol="0"/>
            <a:lstStyle/>
            <a:p/>
          </p:txBody>
        </p:sp>
        <p:sp>
          <p:nvSpPr>
            <p:cNvPr id="13" name="object 13" descr=""/>
            <p:cNvSpPr/>
            <p:nvPr/>
          </p:nvSpPr>
          <p:spPr>
            <a:xfrm>
              <a:off x="2253350" y="3208970"/>
              <a:ext cx="1243330" cy="2803525"/>
            </a:xfrm>
            <a:custGeom>
              <a:avLst/>
              <a:gdLst/>
              <a:ahLst/>
              <a:cxnLst/>
              <a:rect l="l" t="t" r="r" b="b"/>
              <a:pathLst>
                <a:path w="1243329" h="2803525">
                  <a:moveTo>
                    <a:pt x="0" y="2803310"/>
                  </a:moveTo>
                  <a:lnTo>
                    <a:pt x="1242802" y="2803310"/>
                  </a:lnTo>
                  <a:lnTo>
                    <a:pt x="1242802" y="0"/>
                  </a:lnTo>
                  <a:lnTo>
                    <a:pt x="0" y="0"/>
                  </a:lnTo>
                  <a:lnTo>
                    <a:pt x="0" y="2803310"/>
                  </a:lnTo>
                  <a:close/>
                </a:path>
              </a:pathLst>
            </a:custGeom>
            <a:ln w="15454">
              <a:solidFill>
                <a:srgbClr val="000000"/>
              </a:solidFill>
            </a:ln>
          </p:spPr>
          <p:txBody>
            <a:bodyPr wrap="square" lIns="0" tIns="0" rIns="0" bIns="0" rtlCol="0"/>
            <a:lstStyle/>
            <a:p/>
          </p:txBody>
        </p:sp>
        <p:pic>
          <p:nvPicPr>
            <p:cNvPr id="14" name="object 14" descr=""/>
            <p:cNvPicPr/>
            <p:nvPr/>
          </p:nvPicPr>
          <p:blipFill>
            <a:blip r:embed="rId3" cstate="print"/>
            <a:stretch>
              <a:fillRect/>
            </a:stretch>
          </p:blipFill>
          <p:spPr>
            <a:xfrm>
              <a:off x="2263484" y="3508440"/>
              <a:ext cx="1217220" cy="299863"/>
            </a:xfrm>
            <a:prstGeom prst="rect">
              <a:avLst/>
            </a:prstGeom>
          </p:spPr>
        </p:pic>
        <p:pic>
          <p:nvPicPr>
            <p:cNvPr id="15" name="object 15" descr=""/>
            <p:cNvPicPr/>
            <p:nvPr/>
          </p:nvPicPr>
          <p:blipFill>
            <a:blip r:embed="rId4" cstate="print"/>
            <a:stretch>
              <a:fillRect/>
            </a:stretch>
          </p:blipFill>
          <p:spPr>
            <a:xfrm>
              <a:off x="2263484" y="4908912"/>
              <a:ext cx="1214574" cy="302508"/>
            </a:xfrm>
            <a:prstGeom prst="rect">
              <a:avLst/>
            </a:prstGeom>
          </p:spPr>
        </p:pic>
        <p:sp>
          <p:nvSpPr>
            <p:cNvPr id="16" name="object 16" descr=""/>
            <p:cNvSpPr/>
            <p:nvPr/>
          </p:nvSpPr>
          <p:spPr>
            <a:xfrm>
              <a:off x="1475792" y="3605024"/>
              <a:ext cx="781050" cy="85090"/>
            </a:xfrm>
            <a:custGeom>
              <a:avLst/>
              <a:gdLst/>
              <a:ahLst/>
              <a:cxnLst/>
              <a:rect l="l" t="t" r="r" b="b"/>
              <a:pathLst>
                <a:path w="781050" h="85089">
                  <a:moveTo>
                    <a:pt x="651264" y="0"/>
                  </a:moveTo>
                  <a:lnTo>
                    <a:pt x="695499" y="43882"/>
                  </a:lnTo>
                  <a:lnTo>
                    <a:pt x="651264" y="84753"/>
                  </a:lnTo>
                  <a:lnTo>
                    <a:pt x="748729" y="53992"/>
                  </a:lnTo>
                  <a:lnTo>
                    <a:pt x="698167" y="53992"/>
                  </a:lnTo>
                  <a:lnTo>
                    <a:pt x="702943" y="51411"/>
                  </a:lnTo>
                  <a:lnTo>
                    <a:pt x="705611" y="46033"/>
                  </a:lnTo>
                  <a:lnTo>
                    <a:pt x="705611" y="38719"/>
                  </a:lnTo>
                  <a:lnTo>
                    <a:pt x="702943" y="35923"/>
                  </a:lnTo>
                  <a:lnTo>
                    <a:pt x="698167" y="33342"/>
                  </a:lnTo>
                  <a:lnTo>
                    <a:pt x="749658" y="33342"/>
                  </a:lnTo>
                  <a:lnTo>
                    <a:pt x="651264" y="0"/>
                  </a:lnTo>
                  <a:close/>
                </a:path>
                <a:path w="781050" h="85089">
                  <a:moveTo>
                    <a:pt x="684874" y="33342"/>
                  </a:moveTo>
                  <a:lnTo>
                    <a:pt x="8003" y="33342"/>
                  </a:lnTo>
                  <a:lnTo>
                    <a:pt x="5335" y="35923"/>
                  </a:lnTo>
                  <a:lnTo>
                    <a:pt x="2667" y="38719"/>
                  </a:lnTo>
                  <a:lnTo>
                    <a:pt x="0" y="43882"/>
                  </a:lnTo>
                  <a:lnTo>
                    <a:pt x="2667" y="46033"/>
                  </a:lnTo>
                  <a:lnTo>
                    <a:pt x="5335" y="51411"/>
                  </a:lnTo>
                  <a:lnTo>
                    <a:pt x="8003" y="53992"/>
                  </a:lnTo>
                  <a:lnTo>
                    <a:pt x="684556" y="53992"/>
                  </a:lnTo>
                  <a:lnTo>
                    <a:pt x="695499" y="43882"/>
                  </a:lnTo>
                  <a:lnTo>
                    <a:pt x="684874" y="33342"/>
                  </a:lnTo>
                  <a:close/>
                </a:path>
                <a:path w="781050" h="85089">
                  <a:moveTo>
                    <a:pt x="749658" y="33342"/>
                  </a:moveTo>
                  <a:lnTo>
                    <a:pt x="698167" y="33342"/>
                  </a:lnTo>
                  <a:lnTo>
                    <a:pt x="702943" y="35923"/>
                  </a:lnTo>
                  <a:lnTo>
                    <a:pt x="705611" y="38719"/>
                  </a:lnTo>
                  <a:lnTo>
                    <a:pt x="705611" y="46033"/>
                  </a:lnTo>
                  <a:lnTo>
                    <a:pt x="702943" y="51411"/>
                  </a:lnTo>
                  <a:lnTo>
                    <a:pt x="698167" y="53992"/>
                  </a:lnTo>
                  <a:lnTo>
                    <a:pt x="748729" y="53992"/>
                  </a:lnTo>
                  <a:lnTo>
                    <a:pt x="780763" y="43882"/>
                  </a:lnTo>
                  <a:lnTo>
                    <a:pt x="749658" y="33342"/>
                  </a:lnTo>
                  <a:close/>
                </a:path>
              </a:pathLst>
            </a:custGeom>
            <a:solidFill>
              <a:srgbClr val="000000"/>
            </a:solidFill>
          </p:spPr>
          <p:txBody>
            <a:bodyPr wrap="square" lIns="0" tIns="0" rIns="0" bIns="0" rtlCol="0"/>
            <a:lstStyle/>
            <a:p/>
          </p:txBody>
        </p:sp>
        <p:sp>
          <p:nvSpPr>
            <p:cNvPr id="17" name="object 17" descr=""/>
            <p:cNvSpPr/>
            <p:nvPr/>
          </p:nvSpPr>
          <p:spPr>
            <a:xfrm>
              <a:off x="1475792" y="3605024"/>
              <a:ext cx="781050" cy="85090"/>
            </a:xfrm>
            <a:custGeom>
              <a:avLst/>
              <a:gdLst/>
              <a:ahLst/>
              <a:cxnLst/>
              <a:rect l="l" t="t" r="r" b="b"/>
              <a:pathLst>
                <a:path w="781050" h="85089">
                  <a:moveTo>
                    <a:pt x="13339" y="33342"/>
                  </a:moveTo>
                  <a:lnTo>
                    <a:pt x="695499" y="33342"/>
                  </a:lnTo>
                  <a:lnTo>
                    <a:pt x="705611" y="43882"/>
                  </a:lnTo>
                  <a:lnTo>
                    <a:pt x="705611" y="46033"/>
                  </a:lnTo>
                  <a:lnTo>
                    <a:pt x="702943" y="51411"/>
                  </a:lnTo>
                  <a:lnTo>
                    <a:pt x="698167" y="53992"/>
                  </a:lnTo>
                  <a:lnTo>
                    <a:pt x="695499" y="53992"/>
                  </a:lnTo>
                  <a:lnTo>
                    <a:pt x="13339" y="53992"/>
                  </a:lnTo>
                  <a:lnTo>
                    <a:pt x="8003" y="53992"/>
                  </a:lnTo>
                  <a:lnTo>
                    <a:pt x="5335" y="51411"/>
                  </a:lnTo>
                  <a:lnTo>
                    <a:pt x="2667" y="46033"/>
                  </a:lnTo>
                  <a:lnTo>
                    <a:pt x="0" y="43882"/>
                  </a:lnTo>
                  <a:lnTo>
                    <a:pt x="2667" y="38719"/>
                  </a:lnTo>
                  <a:lnTo>
                    <a:pt x="5335" y="35923"/>
                  </a:lnTo>
                  <a:lnTo>
                    <a:pt x="8003" y="33342"/>
                  </a:lnTo>
                  <a:lnTo>
                    <a:pt x="13339" y="33342"/>
                  </a:lnTo>
                  <a:close/>
                </a:path>
                <a:path w="781050" h="85089">
                  <a:moveTo>
                    <a:pt x="695499" y="43882"/>
                  </a:moveTo>
                  <a:lnTo>
                    <a:pt x="651264" y="0"/>
                  </a:lnTo>
                  <a:lnTo>
                    <a:pt x="780763" y="43882"/>
                  </a:lnTo>
                  <a:lnTo>
                    <a:pt x="651264" y="84753"/>
                  </a:lnTo>
                  <a:lnTo>
                    <a:pt x="695499" y="43882"/>
                  </a:lnTo>
                  <a:close/>
                </a:path>
              </a:pathLst>
            </a:custGeom>
            <a:ln w="3175">
              <a:solidFill>
                <a:srgbClr val="000000"/>
              </a:solidFill>
            </a:ln>
          </p:spPr>
          <p:txBody>
            <a:bodyPr wrap="square" lIns="0" tIns="0" rIns="0" bIns="0" rtlCol="0"/>
            <a:lstStyle/>
            <a:p/>
          </p:txBody>
        </p:sp>
        <p:sp>
          <p:nvSpPr>
            <p:cNvPr id="18" name="object 18" descr=""/>
            <p:cNvSpPr/>
            <p:nvPr/>
          </p:nvSpPr>
          <p:spPr>
            <a:xfrm>
              <a:off x="4000834" y="3111347"/>
              <a:ext cx="85725" cy="1946275"/>
            </a:xfrm>
            <a:custGeom>
              <a:avLst/>
              <a:gdLst/>
              <a:ahLst/>
              <a:cxnLst/>
              <a:rect l="l" t="t" r="r" b="b"/>
              <a:pathLst>
                <a:path w="85725" h="1946275">
                  <a:moveTo>
                    <a:pt x="41093" y="84968"/>
                  </a:moveTo>
                  <a:lnTo>
                    <a:pt x="30981" y="95819"/>
                  </a:lnTo>
                  <a:lnTo>
                    <a:pt x="30981" y="1940333"/>
                  </a:lnTo>
                  <a:lnTo>
                    <a:pt x="33563" y="1942979"/>
                  </a:lnTo>
                  <a:lnTo>
                    <a:pt x="38297" y="1945646"/>
                  </a:lnTo>
                  <a:lnTo>
                    <a:pt x="46472" y="1945646"/>
                  </a:lnTo>
                  <a:lnTo>
                    <a:pt x="51636" y="1940333"/>
                  </a:lnTo>
                  <a:lnTo>
                    <a:pt x="51636" y="95508"/>
                  </a:lnTo>
                  <a:lnTo>
                    <a:pt x="41093" y="84968"/>
                  </a:lnTo>
                  <a:close/>
                </a:path>
                <a:path w="85725" h="1946275">
                  <a:moveTo>
                    <a:pt x="41093" y="0"/>
                  </a:moveTo>
                  <a:lnTo>
                    <a:pt x="0" y="129065"/>
                  </a:lnTo>
                  <a:lnTo>
                    <a:pt x="30981" y="95819"/>
                  </a:lnTo>
                  <a:lnTo>
                    <a:pt x="30981" y="82817"/>
                  </a:lnTo>
                  <a:lnTo>
                    <a:pt x="33563" y="77439"/>
                  </a:lnTo>
                  <a:lnTo>
                    <a:pt x="38296" y="74858"/>
                  </a:lnTo>
                  <a:lnTo>
                    <a:pt x="66675" y="74858"/>
                  </a:lnTo>
                  <a:lnTo>
                    <a:pt x="41093" y="0"/>
                  </a:lnTo>
                  <a:close/>
                </a:path>
                <a:path w="85725" h="1946275">
                  <a:moveTo>
                    <a:pt x="66675" y="74858"/>
                  </a:moveTo>
                  <a:lnTo>
                    <a:pt x="46472" y="74858"/>
                  </a:lnTo>
                  <a:lnTo>
                    <a:pt x="49054" y="77439"/>
                  </a:lnTo>
                  <a:lnTo>
                    <a:pt x="51636" y="82817"/>
                  </a:lnTo>
                  <a:lnTo>
                    <a:pt x="51636" y="95508"/>
                  </a:lnTo>
                  <a:lnTo>
                    <a:pt x="85200" y="129065"/>
                  </a:lnTo>
                  <a:lnTo>
                    <a:pt x="66675" y="74858"/>
                  </a:lnTo>
                  <a:close/>
                </a:path>
                <a:path w="85725" h="1946275">
                  <a:moveTo>
                    <a:pt x="46472" y="74858"/>
                  </a:moveTo>
                  <a:lnTo>
                    <a:pt x="38296" y="74858"/>
                  </a:lnTo>
                  <a:lnTo>
                    <a:pt x="33563" y="77439"/>
                  </a:lnTo>
                  <a:lnTo>
                    <a:pt x="30981" y="82817"/>
                  </a:lnTo>
                  <a:lnTo>
                    <a:pt x="30981" y="95819"/>
                  </a:lnTo>
                  <a:lnTo>
                    <a:pt x="41093" y="84968"/>
                  </a:lnTo>
                  <a:lnTo>
                    <a:pt x="51636" y="84968"/>
                  </a:lnTo>
                  <a:lnTo>
                    <a:pt x="51636" y="82817"/>
                  </a:lnTo>
                  <a:lnTo>
                    <a:pt x="49054" y="77439"/>
                  </a:lnTo>
                  <a:lnTo>
                    <a:pt x="46472" y="74858"/>
                  </a:lnTo>
                  <a:close/>
                </a:path>
                <a:path w="85725" h="1946275">
                  <a:moveTo>
                    <a:pt x="51636" y="84968"/>
                  </a:moveTo>
                  <a:lnTo>
                    <a:pt x="41093" y="84968"/>
                  </a:lnTo>
                  <a:lnTo>
                    <a:pt x="51636" y="95508"/>
                  </a:lnTo>
                  <a:lnTo>
                    <a:pt x="51636" y="84968"/>
                  </a:lnTo>
                  <a:close/>
                </a:path>
              </a:pathLst>
            </a:custGeom>
            <a:solidFill>
              <a:srgbClr val="000000"/>
            </a:solidFill>
          </p:spPr>
          <p:txBody>
            <a:bodyPr wrap="square" lIns="0" tIns="0" rIns="0" bIns="0" rtlCol="0"/>
            <a:lstStyle/>
            <a:p/>
          </p:txBody>
        </p:sp>
        <p:sp>
          <p:nvSpPr>
            <p:cNvPr id="19" name="object 19" descr=""/>
            <p:cNvSpPr/>
            <p:nvPr/>
          </p:nvSpPr>
          <p:spPr>
            <a:xfrm>
              <a:off x="4000834" y="3111347"/>
              <a:ext cx="85725" cy="1946275"/>
            </a:xfrm>
            <a:custGeom>
              <a:avLst/>
              <a:gdLst/>
              <a:ahLst/>
              <a:cxnLst/>
              <a:rect l="l" t="t" r="r" b="b"/>
              <a:pathLst>
                <a:path w="85725" h="1946275">
                  <a:moveTo>
                    <a:pt x="30981" y="1935557"/>
                  </a:moveTo>
                  <a:lnTo>
                    <a:pt x="30981" y="84968"/>
                  </a:lnTo>
                  <a:lnTo>
                    <a:pt x="30981" y="82817"/>
                  </a:lnTo>
                  <a:lnTo>
                    <a:pt x="33563" y="77439"/>
                  </a:lnTo>
                  <a:lnTo>
                    <a:pt x="38296" y="74858"/>
                  </a:lnTo>
                  <a:lnTo>
                    <a:pt x="41093" y="74858"/>
                  </a:lnTo>
                  <a:lnTo>
                    <a:pt x="46472" y="74858"/>
                  </a:lnTo>
                  <a:lnTo>
                    <a:pt x="51636" y="1935557"/>
                  </a:lnTo>
                  <a:lnTo>
                    <a:pt x="51636" y="1940333"/>
                  </a:lnTo>
                  <a:lnTo>
                    <a:pt x="49054" y="1942979"/>
                  </a:lnTo>
                  <a:lnTo>
                    <a:pt x="46472" y="1945646"/>
                  </a:lnTo>
                  <a:lnTo>
                    <a:pt x="41094" y="1945646"/>
                  </a:lnTo>
                  <a:lnTo>
                    <a:pt x="38297" y="1945646"/>
                  </a:lnTo>
                  <a:lnTo>
                    <a:pt x="33563" y="1942979"/>
                  </a:lnTo>
                  <a:lnTo>
                    <a:pt x="30981" y="1940333"/>
                  </a:lnTo>
                  <a:lnTo>
                    <a:pt x="30981" y="1935557"/>
                  </a:lnTo>
                  <a:close/>
                </a:path>
                <a:path w="85725" h="1946275">
                  <a:moveTo>
                    <a:pt x="41093" y="84968"/>
                  </a:moveTo>
                  <a:lnTo>
                    <a:pt x="0" y="129065"/>
                  </a:lnTo>
                  <a:lnTo>
                    <a:pt x="41093" y="0"/>
                  </a:lnTo>
                  <a:lnTo>
                    <a:pt x="85200" y="129065"/>
                  </a:lnTo>
                  <a:lnTo>
                    <a:pt x="41093" y="84968"/>
                  </a:lnTo>
                  <a:close/>
                </a:path>
              </a:pathLst>
            </a:custGeom>
            <a:ln w="3175">
              <a:solidFill>
                <a:srgbClr val="000000"/>
              </a:solidFill>
            </a:ln>
          </p:spPr>
          <p:txBody>
            <a:bodyPr wrap="square" lIns="0" tIns="0" rIns="0" bIns="0" rtlCol="0"/>
            <a:lstStyle/>
            <a:p/>
          </p:txBody>
        </p:sp>
      </p:grpSp>
      <p:sp>
        <p:nvSpPr>
          <p:cNvPr id="20" name="object 20" descr=""/>
          <p:cNvSpPr txBox="1"/>
          <p:nvPr/>
        </p:nvSpPr>
        <p:spPr>
          <a:xfrm>
            <a:off x="1041546" y="3484743"/>
            <a:ext cx="419100" cy="259079"/>
          </a:xfrm>
          <a:prstGeom prst="rect">
            <a:avLst/>
          </a:prstGeom>
        </p:spPr>
        <p:txBody>
          <a:bodyPr wrap="square" lIns="0" tIns="16510" rIns="0" bIns="0" rtlCol="0" vert="horz">
            <a:spAutoFit/>
          </a:bodyPr>
          <a:lstStyle/>
          <a:p>
            <a:pPr marL="12700">
              <a:lnSpc>
                <a:spcPct val="100000"/>
              </a:lnSpc>
              <a:spcBef>
                <a:spcPts val="130"/>
              </a:spcBef>
            </a:pPr>
            <a:r>
              <a:rPr dirty="0" sz="1500" spc="-25">
                <a:solidFill>
                  <a:srgbClr val="0000FF"/>
                </a:solidFill>
                <a:latin typeface="宋体"/>
                <a:cs typeface="宋体"/>
              </a:rPr>
              <a:t>索引</a:t>
            </a:r>
            <a:endParaRPr sz="1500">
              <a:latin typeface="宋体"/>
              <a:cs typeface="宋体"/>
            </a:endParaRPr>
          </a:p>
        </p:txBody>
      </p:sp>
      <p:sp>
        <p:nvSpPr>
          <p:cNvPr id="21" name="object 21" descr=""/>
          <p:cNvSpPr txBox="1"/>
          <p:nvPr/>
        </p:nvSpPr>
        <p:spPr>
          <a:xfrm>
            <a:off x="3754694" y="2812956"/>
            <a:ext cx="563245" cy="259079"/>
          </a:xfrm>
          <a:prstGeom prst="rect">
            <a:avLst/>
          </a:prstGeom>
        </p:spPr>
        <p:txBody>
          <a:bodyPr wrap="square" lIns="0" tIns="16510" rIns="0" bIns="0" rtlCol="0" vert="horz">
            <a:spAutoFit/>
          </a:bodyPr>
          <a:lstStyle/>
          <a:p>
            <a:pPr marL="12700">
              <a:lnSpc>
                <a:spcPct val="100000"/>
              </a:lnSpc>
              <a:spcBef>
                <a:spcPts val="130"/>
              </a:spcBef>
            </a:pPr>
            <a:r>
              <a:rPr dirty="0" sz="1500" spc="-175">
                <a:solidFill>
                  <a:srgbClr val="0000FF"/>
                </a:solidFill>
                <a:latin typeface="宋体"/>
                <a:cs typeface="宋体"/>
              </a:rPr>
              <a:t>至 </a:t>
            </a:r>
            <a:r>
              <a:rPr dirty="0" sz="1500" spc="-25">
                <a:solidFill>
                  <a:srgbClr val="0000FF"/>
                </a:solidFill>
                <a:latin typeface="宋体"/>
                <a:cs typeface="宋体"/>
              </a:rPr>
              <a:t>CPU</a:t>
            </a:r>
            <a:endParaRPr sz="1500">
              <a:latin typeface="宋体"/>
              <a:cs typeface="宋体"/>
            </a:endParaRPr>
          </a:p>
        </p:txBody>
      </p:sp>
      <p:sp>
        <p:nvSpPr>
          <p:cNvPr id="22" name="object 22" descr=""/>
          <p:cNvSpPr txBox="1"/>
          <p:nvPr/>
        </p:nvSpPr>
        <p:spPr>
          <a:xfrm>
            <a:off x="4137449" y="3448605"/>
            <a:ext cx="1536700" cy="259079"/>
          </a:xfrm>
          <a:prstGeom prst="rect">
            <a:avLst/>
          </a:prstGeom>
        </p:spPr>
        <p:txBody>
          <a:bodyPr wrap="square" lIns="0" tIns="16510" rIns="0" bIns="0" rtlCol="0" vert="horz">
            <a:spAutoFit/>
          </a:bodyPr>
          <a:lstStyle/>
          <a:p>
            <a:pPr marL="12700">
              <a:lnSpc>
                <a:spcPct val="100000"/>
              </a:lnSpc>
              <a:spcBef>
                <a:spcPts val="130"/>
              </a:spcBef>
            </a:pPr>
            <a:r>
              <a:rPr dirty="0" sz="1500" spc="65">
                <a:solidFill>
                  <a:srgbClr val="0000FF"/>
                </a:solidFill>
                <a:latin typeface="宋体"/>
                <a:cs typeface="宋体"/>
              </a:rPr>
              <a:t>取出数据送往</a:t>
            </a:r>
            <a:r>
              <a:rPr dirty="0" sz="1500" spc="-25">
                <a:solidFill>
                  <a:srgbClr val="0000FF"/>
                </a:solidFill>
                <a:latin typeface="宋体"/>
                <a:cs typeface="宋体"/>
              </a:rPr>
              <a:t>CPU</a:t>
            </a:r>
            <a:endParaRPr sz="1500">
              <a:latin typeface="宋体"/>
              <a:cs typeface="宋体"/>
            </a:endParaRPr>
          </a:p>
        </p:txBody>
      </p:sp>
      <p:sp>
        <p:nvSpPr>
          <p:cNvPr id="23" name="object 23" descr=""/>
          <p:cNvSpPr txBox="1"/>
          <p:nvPr/>
        </p:nvSpPr>
        <p:spPr>
          <a:xfrm>
            <a:off x="4679846" y="4244791"/>
            <a:ext cx="804545" cy="259079"/>
          </a:xfrm>
          <a:prstGeom prst="rect">
            <a:avLst/>
          </a:prstGeom>
        </p:spPr>
        <p:txBody>
          <a:bodyPr wrap="square" lIns="0" tIns="16510" rIns="0" bIns="0" rtlCol="0" vert="horz">
            <a:spAutoFit/>
          </a:bodyPr>
          <a:lstStyle/>
          <a:p>
            <a:pPr marL="12700">
              <a:lnSpc>
                <a:spcPct val="100000"/>
              </a:lnSpc>
              <a:spcBef>
                <a:spcPts val="130"/>
              </a:spcBef>
            </a:pPr>
            <a:r>
              <a:rPr dirty="0" sz="1500" spc="-15">
                <a:solidFill>
                  <a:srgbClr val="FF0000"/>
                </a:solidFill>
                <a:latin typeface="宋体"/>
                <a:cs typeface="宋体"/>
              </a:rPr>
              <a:t>伪相联组</a:t>
            </a:r>
            <a:endParaRPr sz="1500">
              <a:latin typeface="宋体"/>
              <a:cs typeface="宋体"/>
            </a:endParaRPr>
          </a:p>
        </p:txBody>
      </p:sp>
      <p:sp>
        <p:nvSpPr>
          <p:cNvPr id="24" name="object 24" descr=""/>
          <p:cNvSpPr/>
          <p:nvPr/>
        </p:nvSpPr>
        <p:spPr>
          <a:xfrm>
            <a:off x="2253348" y="3500716"/>
            <a:ext cx="1243330" cy="2217420"/>
          </a:xfrm>
          <a:custGeom>
            <a:avLst/>
            <a:gdLst/>
            <a:ahLst/>
            <a:cxnLst/>
            <a:rect l="l" t="t" r="r" b="b"/>
            <a:pathLst>
              <a:path w="1243329" h="2217420">
                <a:moveTo>
                  <a:pt x="1242733" y="2201862"/>
                </a:moveTo>
                <a:lnTo>
                  <a:pt x="0" y="2201862"/>
                </a:lnTo>
                <a:lnTo>
                  <a:pt x="0" y="2217318"/>
                </a:lnTo>
                <a:lnTo>
                  <a:pt x="1242733" y="2217318"/>
                </a:lnTo>
                <a:lnTo>
                  <a:pt x="1242733" y="2201862"/>
                </a:lnTo>
                <a:close/>
              </a:path>
              <a:path w="1243329" h="2217420">
                <a:moveTo>
                  <a:pt x="1242733" y="1400479"/>
                </a:moveTo>
                <a:lnTo>
                  <a:pt x="0" y="1400479"/>
                </a:lnTo>
                <a:lnTo>
                  <a:pt x="0" y="1415923"/>
                </a:lnTo>
                <a:lnTo>
                  <a:pt x="1242733" y="1415923"/>
                </a:lnTo>
                <a:lnTo>
                  <a:pt x="1242733" y="1400479"/>
                </a:lnTo>
                <a:close/>
              </a:path>
              <a:path w="1243329" h="2217420">
                <a:moveTo>
                  <a:pt x="1242733" y="1101153"/>
                </a:moveTo>
                <a:lnTo>
                  <a:pt x="0" y="1101153"/>
                </a:lnTo>
                <a:lnTo>
                  <a:pt x="0" y="1116596"/>
                </a:lnTo>
                <a:lnTo>
                  <a:pt x="1242733" y="1116596"/>
                </a:lnTo>
                <a:lnTo>
                  <a:pt x="1242733" y="1101153"/>
                </a:lnTo>
                <a:close/>
              </a:path>
              <a:path w="1243329" h="2217420">
                <a:moveTo>
                  <a:pt x="1242733" y="801306"/>
                </a:moveTo>
                <a:lnTo>
                  <a:pt x="0" y="801306"/>
                </a:lnTo>
                <a:lnTo>
                  <a:pt x="0" y="816762"/>
                </a:lnTo>
                <a:lnTo>
                  <a:pt x="1242733" y="816762"/>
                </a:lnTo>
                <a:lnTo>
                  <a:pt x="1242733" y="801306"/>
                </a:lnTo>
                <a:close/>
              </a:path>
              <a:path w="1243329" h="2217420">
                <a:moveTo>
                  <a:pt x="1242733" y="0"/>
                </a:moveTo>
                <a:lnTo>
                  <a:pt x="0" y="0"/>
                </a:lnTo>
                <a:lnTo>
                  <a:pt x="0" y="15455"/>
                </a:lnTo>
                <a:lnTo>
                  <a:pt x="1242733" y="15455"/>
                </a:lnTo>
                <a:lnTo>
                  <a:pt x="1242733" y="0"/>
                </a:lnTo>
                <a:close/>
              </a:path>
            </a:pathLst>
          </a:custGeom>
          <a:solidFill>
            <a:srgbClr val="000000"/>
          </a:solidFill>
        </p:spPr>
        <p:txBody>
          <a:bodyPr wrap="square" lIns="0" tIns="0" rIns="0" bIns="0" rtlCol="0"/>
          <a:lstStyle/>
          <a:p/>
        </p:txBody>
      </p:sp>
      <p:sp>
        <p:nvSpPr>
          <p:cNvPr id="25" name="object 25" descr=""/>
          <p:cNvSpPr txBox="1"/>
          <p:nvPr/>
        </p:nvSpPr>
        <p:spPr>
          <a:xfrm>
            <a:off x="2253350" y="3808303"/>
            <a:ext cx="1243330" cy="501650"/>
          </a:xfrm>
          <a:prstGeom prst="rect">
            <a:avLst/>
          </a:prstGeom>
          <a:solidFill>
            <a:srgbClr val="FFFF99"/>
          </a:solidFill>
          <a:ln w="15454">
            <a:solidFill>
              <a:srgbClr val="000000"/>
            </a:solidFill>
          </a:ln>
        </p:spPr>
        <p:txBody>
          <a:bodyPr wrap="square" lIns="0" tIns="111760" rIns="0" bIns="0" rtlCol="0" vert="horz">
            <a:spAutoFit/>
          </a:bodyPr>
          <a:lstStyle/>
          <a:p>
            <a:pPr algn="ctr" marR="22225">
              <a:lnSpc>
                <a:spcPct val="100000"/>
              </a:lnSpc>
              <a:spcBef>
                <a:spcPts val="880"/>
              </a:spcBef>
            </a:pPr>
            <a:r>
              <a:rPr dirty="0" sz="1800" spc="-50">
                <a:latin typeface="宋体"/>
                <a:cs typeface="宋体"/>
              </a:rPr>
              <a:t>…</a:t>
            </a:r>
            <a:endParaRPr sz="1800">
              <a:latin typeface="宋体"/>
              <a:cs typeface="宋体"/>
            </a:endParaRPr>
          </a:p>
        </p:txBody>
      </p:sp>
      <p:sp>
        <p:nvSpPr>
          <p:cNvPr id="26" name="object 26" descr=""/>
          <p:cNvSpPr txBox="1"/>
          <p:nvPr/>
        </p:nvSpPr>
        <p:spPr>
          <a:xfrm>
            <a:off x="2253350" y="5211421"/>
            <a:ext cx="1243330" cy="499109"/>
          </a:xfrm>
          <a:prstGeom prst="rect">
            <a:avLst/>
          </a:prstGeom>
          <a:solidFill>
            <a:srgbClr val="FFFF99"/>
          </a:solidFill>
          <a:ln w="15454">
            <a:solidFill>
              <a:srgbClr val="000000"/>
            </a:solidFill>
          </a:ln>
        </p:spPr>
        <p:txBody>
          <a:bodyPr wrap="square" lIns="0" tIns="111760" rIns="0" bIns="0" rtlCol="0" vert="horz">
            <a:spAutoFit/>
          </a:bodyPr>
          <a:lstStyle/>
          <a:p>
            <a:pPr algn="ctr" marR="22225">
              <a:lnSpc>
                <a:spcPct val="100000"/>
              </a:lnSpc>
              <a:spcBef>
                <a:spcPts val="880"/>
              </a:spcBef>
            </a:pPr>
            <a:r>
              <a:rPr dirty="0" sz="1800" spc="-50">
                <a:latin typeface="宋体"/>
                <a:cs typeface="宋体"/>
              </a:rPr>
              <a:t>…</a:t>
            </a:r>
            <a:endParaRPr sz="1800">
              <a:latin typeface="宋体"/>
              <a:cs typeface="宋体"/>
            </a:endParaRPr>
          </a:p>
        </p:txBody>
      </p:sp>
      <p:grpSp>
        <p:nvGrpSpPr>
          <p:cNvPr id="27" name="object 27" descr=""/>
          <p:cNvGrpSpPr/>
          <p:nvPr/>
        </p:nvGrpSpPr>
        <p:grpSpPr>
          <a:xfrm>
            <a:off x="1567555" y="3634279"/>
            <a:ext cx="3117215" cy="1522730"/>
            <a:chOff x="1567555" y="3634279"/>
            <a:chExt cx="3117215" cy="1522730"/>
          </a:xfrm>
        </p:grpSpPr>
        <p:sp>
          <p:nvSpPr>
            <p:cNvPr id="28" name="object 28" descr=""/>
            <p:cNvSpPr/>
            <p:nvPr/>
          </p:nvSpPr>
          <p:spPr>
            <a:xfrm>
              <a:off x="1569060" y="4604811"/>
              <a:ext cx="2667000" cy="15875"/>
            </a:xfrm>
            <a:custGeom>
              <a:avLst/>
              <a:gdLst/>
              <a:ahLst/>
              <a:cxnLst/>
              <a:rect l="l" t="t" r="r" b="b"/>
              <a:pathLst>
                <a:path w="2667000" h="15875">
                  <a:moveTo>
                    <a:pt x="59166" y="0"/>
                  </a:moveTo>
                  <a:lnTo>
                    <a:pt x="5335" y="0"/>
                  </a:lnTo>
                  <a:lnTo>
                    <a:pt x="2667" y="2667"/>
                  </a:lnTo>
                  <a:lnTo>
                    <a:pt x="2667" y="5313"/>
                  </a:lnTo>
                  <a:lnTo>
                    <a:pt x="0" y="7959"/>
                  </a:lnTo>
                  <a:lnTo>
                    <a:pt x="2667" y="10088"/>
                  </a:lnTo>
                  <a:lnTo>
                    <a:pt x="2667" y="12734"/>
                  </a:lnTo>
                  <a:lnTo>
                    <a:pt x="5335" y="15401"/>
                  </a:lnTo>
                  <a:lnTo>
                    <a:pt x="59166" y="15401"/>
                  </a:lnTo>
                  <a:lnTo>
                    <a:pt x="64480" y="10088"/>
                  </a:lnTo>
                  <a:lnTo>
                    <a:pt x="64480" y="5313"/>
                  </a:lnTo>
                  <a:lnTo>
                    <a:pt x="59166" y="0"/>
                  </a:lnTo>
                  <a:close/>
                </a:path>
                <a:path w="2667000" h="15875">
                  <a:moveTo>
                    <a:pt x="173218" y="0"/>
                  </a:moveTo>
                  <a:lnTo>
                    <a:pt x="118849" y="0"/>
                  </a:lnTo>
                  <a:lnTo>
                    <a:pt x="113514" y="5313"/>
                  </a:lnTo>
                  <a:lnTo>
                    <a:pt x="113514" y="10088"/>
                  </a:lnTo>
                  <a:lnTo>
                    <a:pt x="118849" y="15401"/>
                  </a:lnTo>
                  <a:lnTo>
                    <a:pt x="173218" y="15401"/>
                  </a:lnTo>
                  <a:lnTo>
                    <a:pt x="175864" y="12734"/>
                  </a:lnTo>
                  <a:lnTo>
                    <a:pt x="177994" y="10088"/>
                  </a:lnTo>
                  <a:lnTo>
                    <a:pt x="177994" y="5313"/>
                  </a:lnTo>
                  <a:lnTo>
                    <a:pt x="175864" y="2667"/>
                  </a:lnTo>
                  <a:lnTo>
                    <a:pt x="173218" y="0"/>
                  </a:lnTo>
                  <a:close/>
                </a:path>
                <a:path w="2667000" h="15875">
                  <a:moveTo>
                    <a:pt x="286732" y="0"/>
                  </a:moveTo>
                  <a:lnTo>
                    <a:pt x="232363" y="0"/>
                  </a:lnTo>
                  <a:lnTo>
                    <a:pt x="229695" y="2667"/>
                  </a:lnTo>
                  <a:lnTo>
                    <a:pt x="227565" y="5313"/>
                  </a:lnTo>
                  <a:lnTo>
                    <a:pt x="227565" y="10088"/>
                  </a:lnTo>
                  <a:lnTo>
                    <a:pt x="229695" y="12734"/>
                  </a:lnTo>
                  <a:lnTo>
                    <a:pt x="232363" y="15401"/>
                  </a:lnTo>
                  <a:lnTo>
                    <a:pt x="286732" y="15401"/>
                  </a:lnTo>
                  <a:lnTo>
                    <a:pt x="289378" y="12734"/>
                  </a:lnTo>
                  <a:lnTo>
                    <a:pt x="292046" y="10088"/>
                  </a:lnTo>
                  <a:lnTo>
                    <a:pt x="292046" y="5313"/>
                  </a:lnTo>
                  <a:lnTo>
                    <a:pt x="289378" y="2667"/>
                  </a:lnTo>
                  <a:lnTo>
                    <a:pt x="286732" y="0"/>
                  </a:lnTo>
                  <a:close/>
                </a:path>
                <a:path w="2667000" h="15875">
                  <a:moveTo>
                    <a:pt x="400246" y="0"/>
                  </a:moveTo>
                  <a:lnTo>
                    <a:pt x="346415" y="0"/>
                  </a:lnTo>
                  <a:lnTo>
                    <a:pt x="341079" y="5313"/>
                  </a:lnTo>
                  <a:lnTo>
                    <a:pt x="341079" y="10088"/>
                  </a:lnTo>
                  <a:lnTo>
                    <a:pt x="346415" y="15401"/>
                  </a:lnTo>
                  <a:lnTo>
                    <a:pt x="400246" y="15401"/>
                  </a:lnTo>
                  <a:lnTo>
                    <a:pt x="402914" y="12734"/>
                  </a:lnTo>
                  <a:lnTo>
                    <a:pt x="402914" y="10088"/>
                  </a:lnTo>
                  <a:lnTo>
                    <a:pt x="405560" y="7959"/>
                  </a:lnTo>
                  <a:lnTo>
                    <a:pt x="402914" y="5313"/>
                  </a:lnTo>
                  <a:lnTo>
                    <a:pt x="402914" y="2667"/>
                  </a:lnTo>
                  <a:lnTo>
                    <a:pt x="400246" y="0"/>
                  </a:lnTo>
                  <a:close/>
                </a:path>
                <a:path w="2667000" h="15875">
                  <a:moveTo>
                    <a:pt x="511630" y="0"/>
                  </a:moveTo>
                  <a:lnTo>
                    <a:pt x="457261" y="0"/>
                  </a:lnTo>
                  <a:lnTo>
                    <a:pt x="454593" y="2667"/>
                  </a:lnTo>
                  <a:lnTo>
                    <a:pt x="454593" y="5313"/>
                  </a:lnTo>
                  <a:lnTo>
                    <a:pt x="451926" y="7959"/>
                  </a:lnTo>
                  <a:lnTo>
                    <a:pt x="454593" y="10088"/>
                  </a:lnTo>
                  <a:lnTo>
                    <a:pt x="454593" y="12734"/>
                  </a:lnTo>
                  <a:lnTo>
                    <a:pt x="457261" y="15401"/>
                  </a:lnTo>
                  <a:lnTo>
                    <a:pt x="511630" y="15401"/>
                  </a:lnTo>
                  <a:lnTo>
                    <a:pt x="516944" y="10088"/>
                  </a:lnTo>
                  <a:lnTo>
                    <a:pt x="516944" y="5313"/>
                  </a:lnTo>
                  <a:lnTo>
                    <a:pt x="511630" y="0"/>
                  </a:lnTo>
                  <a:close/>
                </a:path>
                <a:path w="2667000" h="15875">
                  <a:moveTo>
                    <a:pt x="625144" y="0"/>
                  </a:moveTo>
                  <a:lnTo>
                    <a:pt x="570775" y="0"/>
                  </a:lnTo>
                  <a:lnTo>
                    <a:pt x="568645" y="2667"/>
                  </a:lnTo>
                  <a:lnTo>
                    <a:pt x="565977" y="5313"/>
                  </a:lnTo>
                  <a:lnTo>
                    <a:pt x="565977" y="10088"/>
                  </a:lnTo>
                  <a:lnTo>
                    <a:pt x="568645" y="12734"/>
                  </a:lnTo>
                  <a:lnTo>
                    <a:pt x="570775" y="15401"/>
                  </a:lnTo>
                  <a:lnTo>
                    <a:pt x="625144" y="15401"/>
                  </a:lnTo>
                  <a:lnTo>
                    <a:pt x="630480" y="10088"/>
                  </a:lnTo>
                  <a:lnTo>
                    <a:pt x="630480" y="5313"/>
                  </a:lnTo>
                  <a:lnTo>
                    <a:pt x="625144" y="0"/>
                  </a:lnTo>
                  <a:close/>
                </a:path>
                <a:path w="2667000" h="15875">
                  <a:moveTo>
                    <a:pt x="739196" y="0"/>
                  </a:moveTo>
                  <a:lnTo>
                    <a:pt x="684827" y="0"/>
                  </a:lnTo>
                  <a:lnTo>
                    <a:pt x="679491" y="5313"/>
                  </a:lnTo>
                  <a:lnTo>
                    <a:pt x="679491" y="10088"/>
                  </a:lnTo>
                  <a:lnTo>
                    <a:pt x="684827" y="15401"/>
                  </a:lnTo>
                  <a:lnTo>
                    <a:pt x="739196" y="15401"/>
                  </a:lnTo>
                  <a:lnTo>
                    <a:pt x="741864" y="12734"/>
                  </a:lnTo>
                  <a:lnTo>
                    <a:pt x="743994" y="10088"/>
                  </a:lnTo>
                  <a:lnTo>
                    <a:pt x="743994" y="5313"/>
                  </a:lnTo>
                  <a:lnTo>
                    <a:pt x="741864" y="2667"/>
                  </a:lnTo>
                  <a:lnTo>
                    <a:pt x="739196" y="0"/>
                  </a:lnTo>
                  <a:close/>
                </a:path>
                <a:path w="2667000" h="15875">
                  <a:moveTo>
                    <a:pt x="852710" y="0"/>
                  </a:moveTo>
                  <a:lnTo>
                    <a:pt x="798341" y="0"/>
                  </a:lnTo>
                  <a:lnTo>
                    <a:pt x="793005" y="5313"/>
                  </a:lnTo>
                  <a:lnTo>
                    <a:pt x="793005" y="10088"/>
                  </a:lnTo>
                  <a:lnTo>
                    <a:pt x="798341" y="15401"/>
                  </a:lnTo>
                  <a:lnTo>
                    <a:pt x="852710" y="15401"/>
                  </a:lnTo>
                  <a:lnTo>
                    <a:pt x="855378" y="12734"/>
                  </a:lnTo>
                  <a:lnTo>
                    <a:pt x="855378" y="10088"/>
                  </a:lnTo>
                  <a:lnTo>
                    <a:pt x="858024" y="7959"/>
                  </a:lnTo>
                  <a:lnTo>
                    <a:pt x="855378" y="5313"/>
                  </a:lnTo>
                  <a:lnTo>
                    <a:pt x="855378" y="2667"/>
                  </a:lnTo>
                  <a:lnTo>
                    <a:pt x="852710" y="0"/>
                  </a:lnTo>
                  <a:close/>
                </a:path>
                <a:path w="2667000" h="15875">
                  <a:moveTo>
                    <a:pt x="964094" y="0"/>
                  </a:moveTo>
                  <a:lnTo>
                    <a:pt x="909725" y="0"/>
                  </a:lnTo>
                  <a:lnTo>
                    <a:pt x="907057" y="2667"/>
                  </a:lnTo>
                  <a:lnTo>
                    <a:pt x="907057" y="5313"/>
                  </a:lnTo>
                  <a:lnTo>
                    <a:pt x="904389" y="7959"/>
                  </a:lnTo>
                  <a:lnTo>
                    <a:pt x="907057" y="10088"/>
                  </a:lnTo>
                  <a:lnTo>
                    <a:pt x="907057" y="12734"/>
                  </a:lnTo>
                  <a:lnTo>
                    <a:pt x="909725" y="15401"/>
                  </a:lnTo>
                  <a:lnTo>
                    <a:pt x="964094" y="15401"/>
                  </a:lnTo>
                  <a:lnTo>
                    <a:pt x="966224" y="12734"/>
                  </a:lnTo>
                  <a:lnTo>
                    <a:pt x="968892" y="10088"/>
                  </a:lnTo>
                  <a:lnTo>
                    <a:pt x="968892" y="5313"/>
                  </a:lnTo>
                  <a:lnTo>
                    <a:pt x="966224" y="2667"/>
                  </a:lnTo>
                  <a:lnTo>
                    <a:pt x="964094" y="0"/>
                  </a:lnTo>
                  <a:close/>
                </a:path>
                <a:path w="2667000" h="15875">
                  <a:moveTo>
                    <a:pt x="1077608" y="0"/>
                  </a:moveTo>
                  <a:lnTo>
                    <a:pt x="1023239" y="0"/>
                  </a:lnTo>
                  <a:lnTo>
                    <a:pt x="1017925" y="5313"/>
                  </a:lnTo>
                  <a:lnTo>
                    <a:pt x="1017925" y="10088"/>
                  </a:lnTo>
                  <a:lnTo>
                    <a:pt x="1023239" y="15401"/>
                  </a:lnTo>
                  <a:lnTo>
                    <a:pt x="1077608" y="15401"/>
                  </a:lnTo>
                  <a:lnTo>
                    <a:pt x="1082944" y="10088"/>
                  </a:lnTo>
                  <a:lnTo>
                    <a:pt x="1082944" y="5313"/>
                  </a:lnTo>
                  <a:lnTo>
                    <a:pt x="1077608" y="0"/>
                  </a:lnTo>
                  <a:close/>
                </a:path>
                <a:path w="2667000" h="15875">
                  <a:moveTo>
                    <a:pt x="1191122" y="0"/>
                  </a:moveTo>
                  <a:lnTo>
                    <a:pt x="1136753" y="0"/>
                  </a:lnTo>
                  <a:lnTo>
                    <a:pt x="1134623" y="2667"/>
                  </a:lnTo>
                  <a:lnTo>
                    <a:pt x="1131955" y="5313"/>
                  </a:lnTo>
                  <a:lnTo>
                    <a:pt x="1131955" y="10088"/>
                  </a:lnTo>
                  <a:lnTo>
                    <a:pt x="1134623" y="12734"/>
                  </a:lnTo>
                  <a:lnTo>
                    <a:pt x="1136753" y="15401"/>
                  </a:lnTo>
                  <a:lnTo>
                    <a:pt x="1191122" y="15401"/>
                  </a:lnTo>
                  <a:lnTo>
                    <a:pt x="1196458" y="10088"/>
                  </a:lnTo>
                  <a:lnTo>
                    <a:pt x="1196458" y="5313"/>
                  </a:lnTo>
                  <a:lnTo>
                    <a:pt x="1191122" y="0"/>
                  </a:lnTo>
                  <a:close/>
                </a:path>
                <a:path w="2667000" h="15875">
                  <a:moveTo>
                    <a:pt x="1305174" y="0"/>
                  </a:moveTo>
                  <a:lnTo>
                    <a:pt x="1250805" y="0"/>
                  </a:lnTo>
                  <a:lnTo>
                    <a:pt x="1245469" y="5313"/>
                  </a:lnTo>
                  <a:lnTo>
                    <a:pt x="1245469" y="10088"/>
                  </a:lnTo>
                  <a:lnTo>
                    <a:pt x="1250805" y="15401"/>
                  </a:lnTo>
                  <a:lnTo>
                    <a:pt x="1305174" y="15401"/>
                  </a:lnTo>
                  <a:lnTo>
                    <a:pt x="1307304" y="12734"/>
                  </a:lnTo>
                  <a:lnTo>
                    <a:pt x="1307304" y="10088"/>
                  </a:lnTo>
                  <a:lnTo>
                    <a:pt x="1309972" y="7959"/>
                  </a:lnTo>
                  <a:lnTo>
                    <a:pt x="1307304" y="5313"/>
                  </a:lnTo>
                  <a:lnTo>
                    <a:pt x="1307304" y="2667"/>
                  </a:lnTo>
                  <a:lnTo>
                    <a:pt x="1305174" y="0"/>
                  </a:lnTo>
                  <a:close/>
                </a:path>
                <a:path w="2667000" h="15875">
                  <a:moveTo>
                    <a:pt x="1416020" y="0"/>
                  </a:moveTo>
                  <a:lnTo>
                    <a:pt x="1361651" y="0"/>
                  </a:lnTo>
                  <a:lnTo>
                    <a:pt x="1359005" y="2667"/>
                  </a:lnTo>
                  <a:lnTo>
                    <a:pt x="1359005" y="5313"/>
                  </a:lnTo>
                  <a:lnTo>
                    <a:pt x="1356853" y="7959"/>
                  </a:lnTo>
                  <a:lnTo>
                    <a:pt x="1359005" y="10088"/>
                  </a:lnTo>
                  <a:lnTo>
                    <a:pt x="1359005" y="12734"/>
                  </a:lnTo>
                  <a:lnTo>
                    <a:pt x="1361651" y="15401"/>
                  </a:lnTo>
                  <a:lnTo>
                    <a:pt x="1416020" y="15401"/>
                  </a:lnTo>
                  <a:lnTo>
                    <a:pt x="1421356" y="10088"/>
                  </a:lnTo>
                  <a:lnTo>
                    <a:pt x="1421356" y="5313"/>
                  </a:lnTo>
                  <a:lnTo>
                    <a:pt x="1416020" y="0"/>
                  </a:lnTo>
                  <a:close/>
                </a:path>
                <a:path w="2667000" h="15875">
                  <a:moveTo>
                    <a:pt x="1529534" y="0"/>
                  </a:moveTo>
                  <a:lnTo>
                    <a:pt x="1475703" y="0"/>
                  </a:lnTo>
                  <a:lnTo>
                    <a:pt x="1470389" y="5313"/>
                  </a:lnTo>
                  <a:lnTo>
                    <a:pt x="1470389" y="10088"/>
                  </a:lnTo>
                  <a:lnTo>
                    <a:pt x="1475703" y="15401"/>
                  </a:lnTo>
                  <a:lnTo>
                    <a:pt x="1529534" y="15401"/>
                  </a:lnTo>
                  <a:lnTo>
                    <a:pt x="1534870" y="10088"/>
                  </a:lnTo>
                  <a:lnTo>
                    <a:pt x="1534870" y="5313"/>
                  </a:lnTo>
                  <a:lnTo>
                    <a:pt x="1529534" y="0"/>
                  </a:lnTo>
                  <a:close/>
                </a:path>
                <a:path w="2667000" h="15875">
                  <a:moveTo>
                    <a:pt x="1643672" y="0"/>
                  </a:moveTo>
                  <a:lnTo>
                    <a:pt x="1589217" y="0"/>
                  </a:lnTo>
                  <a:lnTo>
                    <a:pt x="1586571" y="2667"/>
                  </a:lnTo>
                  <a:lnTo>
                    <a:pt x="1583903" y="5313"/>
                  </a:lnTo>
                  <a:lnTo>
                    <a:pt x="1583903" y="10088"/>
                  </a:lnTo>
                  <a:lnTo>
                    <a:pt x="1586571" y="12734"/>
                  </a:lnTo>
                  <a:lnTo>
                    <a:pt x="1589217" y="15401"/>
                  </a:lnTo>
                  <a:lnTo>
                    <a:pt x="1643672" y="15401"/>
                  </a:lnTo>
                  <a:lnTo>
                    <a:pt x="1646254" y="12734"/>
                  </a:lnTo>
                  <a:lnTo>
                    <a:pt x="1648405" y="10088"/>
                  </a:lnTo>
                  <a:lnTo>
                    <a:pt x="1648405" y="5313"/>
                  </a:lnTo>
                  <a:lnTo>
                    <a:pt x="1646254" y="2667"/>
                  </a:lnTo>
                  <a:lnTo>
                    <a:pt x="1643672" y="0"/>
                  </a:lnTo>
                  <a:close/>
                </a:path>
                <a:path w="2667000" h="15875">
                  <a:moveTo>
                    <a:pt x="1757057" y="0"/>
                  </a:moveTo>
                  <a:lnTo>
                    <a:pt x="1702839" y="0"/>
                  </a:lnTo>
                  <a:lnTo>
                    <a:pt x="1700042" y="2667"/>
                  </a:lnTo>
                  <a:lnTo>
                    <a:pt x="1697890" y="5313"/>
                  </a:lnTo>
                  <a:lnTo>
                    <a:pt x="1697890" y="10088"/>
                  </a:lnTo>
                  <a:lnTo>
                    <a:pt x="1700042" y="12734"/>
                  </a:lnTo>
                  <a:lnTo>
                    <a:pt x="1702839" y="15401"/>
                  </a:lnTo>
                  <a:lnTo>
                    <a:pt x="1757057" y="15401"/>
                  </a:lnTo>
                  <a:lnTo>
                    <a:pt x="1759854" y="12734"/>
                  </a:lnTo>
                  <a:lnTo>
                    <a:pt x="1759854" y="10088"/>
                  </a:lnTo>
                  <a:lnTo>
                    <a:pt x="1762436" y="7959"/>
                  </a:lnTo>
                  <a:lnTo>
                    <a:pt x="1759854" y="5313"/>
                  </a:lnTo>
                  <a:lnTo>
                    <a:pt x="1759854" y="2667"/>
                  </a:lnTo>
                  <a:lnTo>
                    <a:pt x="1757057" y="0"/>
                  </a:lnTo>
                  <a:close/>
                </a:path>
                <a:path w="2667000" h="15875">
                  <a:moveTo>
                    <a:pt x="1868506" y="0"/>
                  </a:moveTo>
                  <a:lnTo>
                    <a:pt x="1814072" y="0"/>
                  </a:lnTo>
                  <a:lnTo>
                    <a:pt x="1811490" y="2667"/>
                  </a:lnTo>
                  <a:lnTo>
                    <a:pt x="1811490" y="5313"/>
                  </a:lnTo>
                  <a:lnTo>
                    <a:pt x="1808693" y="7959"/>
                  </a:lnTo>
                  <a:lnTo>
                    <a:pt x="1811490" y="10088"/>
                  </a:lnTo>
                  <a:lnTo>
                    <a:pt x="1811490" y="12734"/>
                  </a:lnTo>
                  <a:lnTo>
                    <a:pt x="1814072" y="15401"/>
                  </a:lnTo>
                  <a:lnTo>
                    <a:pt x="1868506" y="15401"/>
                  </a:lnTo>
                  <a:lnTo>
                    <a:pt x="1870657" y="12734"/>
                  </a:lnTo>
                  <a:lnTo>
                    <a:pt x="1873239" y="10088"/>
                  </a:lnTo>
                  <a:lnTo>
                    <a:pt x="1873239" y="5313"/>
                  </a:lnTo>
                  <a:lnTo>
                    <a:pt x="1870657" y="2667"/>
                  </a:lnTo>
                  <a:lnTo>
                    <a:pt x="1868506" y="0"/>
                  </a:lnTo>
                  <a:close/>
                </a:path>
                <a:path w="2667000" h="15875">
                  <a:moveTo>
                    <a:pt x="1982106" y="0"/>
                  </a:moveTo>
                  <a:lnTo>
                    <a:pt x="1927672" y="0"/>
                  </a:lnTo>
                  <a:lnTo>
                    <a:pt x="1924875" y="2667"/>
                  </a:lnTo>
                  <a:lnTo>
                    <a:pt x="1922294" y="5313"/>
                  </a:lnTo>
                  <a:lnTo>
                    <a:pt x="1922294" y="10088"/>
                  </a:lnTo>
                  <a:lnTo>
                    <a:pt x="1924875" y="12734"/>
                  </a:lnTo>
                  <a:lnTo>
                    <a:pt x="1927672" y="15401"/>
                  </a:lnTo>
                  <a:lnTo>
                    <a:pt x="1982106" y="15401"/>
                  </a:lnTo>
                  <a:lnTo>
                    <a:pt x="1987269" y="10088"/>
                  </a:lnTo>
                  <a:lnTo>
                    <a:pt x="1987269" y="5313"/>
                  </a:lnTo>
                  <a:lnTo>
                    <a:pt x="1982106" y="0"/>
                  </a:lnTo>
                  <a:close/>
                </a:path>
                <a:path w="2667000" h="15875">
                  <a:moveTo>
                    <a:pt x="2095491" y="0"/>
                  </a:moveTo>
                  <a:lnTo>
                    <a:pt x="2041057" y="0"/>
                  </a:lnTo>
                  <a:lnTo>
                    <a:pt x="2039121" y="2667"/>
                  </a:lnTo>
                  <a:lnTo>
                    <a:pt x="2036324" y="5313"/>
                  </a:lnTo>
                  <a:lnTo>
                    <a:pt x="2036324" y="10088"/>
                  </a:lnTo>
                  <a:lnTo>
                    <a:pt x="2039121" y="12734"/>
                  </a:lnTo>
                  <a:lnTo>
                    <a:pt x="2041057" y="15401"/>
                  </a:lnTo>
                  <a:lnTo>
                    <a:pt x="2095491" y="15401"/>
                  </a:lnTo>
                  <a:lnTo>
                    <a:pt x="2098288" y="12734"/>
                  </a:lnTo>
                  <a:lnTo>
                    <a:pt x="2100869" y="10088"/>
                  </a:lnTo>
                  <a:lnTo>
                    <a:pt x="2100869" y="5313"/>
                  </a:lnTo>
                  <a:lnTo>
                    <a:pt x="2098288" y="2667"/>
                  </a:lnTo>
                  <a:lnTo>
                    <a:pt x="2095491" y="0"/>
                  </a:lnTo>
                  <a:close/>
                </a:path>
                <a:path w="2667000" h="15875">
                  <a:moveTo>
                    <a:pt x="2209521" y="0"/>
                  </a:moveTo>
                  <a:lnTo>
                    <a:pt x="2155303" y="0"/>
                  </a:lnTo>
                  <a:lnTo>
                    <a:pt x="2152506" y="2667"/>
                  </a:lnTo>
                  <a:lnTo>
                    <a:pt x="2149924" y="5313"/>
                  </a:lnTo>
                  <a:lnTo>
                    <a:pt x="2149924" y="10088"/>
                  </a:lnTo>
                  <a:lnTo>
                    <a:pt x="2152506" y="12734"/>
                  </a:lnTo>
                  <a:lnTo>
                    <a:pt x="2155303" y="15401"/>
                  </a:lnTo>
                  <a:lnTo>
                    <a:pt x="2209521" y="15401"/>
                  </a:lnTo>
                  <a:lnTo>
                    <a:pt x="2212318" y="12734"/>
                  </a:lnTo>
                  <a:lnTo>
                    <a:pt x="2212318" y="10088"/>
                  </a:lnTo>
                  <a:lnTo>
                    <a:pt x="2214254" y="7959"/>
                  </a:lnTo>
                  <a:lnTo>
                    <a:pt x="2212318" y="5313"/>
                  </a:lnTo>
                  <a:lnTo>
                    <a:pt x="2212318" y="2667"/>
                  </a:lnTo>
                  <a:lnTo>
                    <a:pt x="2209521" y="0"/>
                  </a:lnTo>
                  <a:close/>
                </a:path>
                <a:path w="2667000" h="15875">
                  <a:moveTo>
                    <a:pt x="2320324" y="0"/>
                  </a:moveTo>
                  <a:lnTo>
                    <a:pt x="2266106" y="0"/>
                  </a:lnTo>
                  <a:lnTo>
                    <a:pt x="2263309" y="2667"/>
                  </a:lnTo>
                  <a:lnTo>
                    <a:pt x="2263309" y="5313"/>
                  </a:lnTo>
                  <a:lnTo>
                    <a:pt x="2261157" y="7959"/>
                  </a:lnTo>
                  <a:lnTo>
                    <a:pt x="2263309" y="10088"/>
                  </a:lnTo>
                  <a:lnTo>
                    <a:pt x="2263309" y="12734"/>
                  </a:lnTo>
                  <a:lnTo>
                    <a:pt x="2266106" y="15401"/>
                  </a:lnTo>
                  <a:lnTo>
                    <a:pt x="2320324" y="15401"/>
                  </a:lnTo>
                  <a:lnTo>
                    <a:pt x="2323121" y="12734"/>
                  </a:lnTo>
                  <a:lnTo>
                    <a:pt x="2325703" y="10088"/>
                  </a:lnTo>
                  <a:lnTo>
                    <a:pt x="2325703" y="5313"/>
                  </a:lnTo>
                  <a:lnTo>
                    <a:pt x="2323121" y="2667"/>
                  </a:lnTo>
                  <a:lnTo>
                    <a:pt x="2320324" y="0"/>
                  </a:lnTo>
                  <a:close/>
                </a:path>
                <a:path w="2667000" h="15875">
                  <a:moveTo>
                    <a:pt x="2434570" y="0"/>
                  </a:moveTo>
                  <a:lnTo>
                    <a:pt x="2380136" y="0"/>
                  </a:lnTo>
                  <a:lnTo>
                    <a:pt x="2377339" y="2667"/>
                  </a:lnTo>
                  <a:lnTo>
                    <a:pt x="2374757" y="5313"/>
                  </a:lnTo>
                  <a:lnTo>
                    <a:pt x="2374757" y="10088"/>
                  </a:lnTo>
                  <a:lnTo>
                    <a:pt x="2377339" y="12734"/>
                  </a:lnTo>
                  <a:lnTo>
                    <a:pt x="2380136" y="15401"/>
                  </a:lnTo>
                  <a:lnTo>
                    <a:pt x="2434570" y="15401"/>
                  </a:lnTo>
                  <a:lnTo>
                    <a:pt x="2436506" y="12734"/>
                  </a:lnTo>
                  <a:lnTo>
                    <a:pt x="2439303" y="10088"/>
                  </a:lnTo>
                  <a:lnTo>
                    <a:pt x="2439303" y="5313"/>
                  </a:lnTo>
                  <a:lnTo>
                    <a:pt x="2436506" y="2667"/>
                  </a:lnTo>
                  <a:lnTo>
                    <a:pt x="2434570" y="0"/>
                  </a:lnTo>
                  <a:close/>
                </a:path>
                <a:path w="2667000" h="15875">
                  <a:moveTo>
                    <a:pt x="2547955" y="0"/>
                  </a:moveTo>
                  <a:lnTo>
                    <a:pt x="2493521" y="0"/>
                  </a:lnTo>
                  <a:lnTo>
                    <a:pt x="2488358" y="5313"/>
                  </a:lnTo>
                  <a:lnTo>
                    <a:pt x="2488358" y="10088"/>
                  </a:lnTo>
                  <a:lnTo>
                    <a:pt x="2493521" y="15401"/>
                  </a:lnTo>
                  <a:lnTo>
                    <a:pt x="2547955" y="15401"/>
                  </a:lnTo>
                  <a:lnTo>
                    <a:pt x="2550752" y="12734"/>
                  </a:lnTo>
                  <a:lnTo>
                    <a:pt x="2553333" y="10088"/>
                  </a:lnTo>
                  <a:lnTo>
                    <a:pt x="2553333" y="5313"/>
                  </a:lnTo>
                  <a:lnTo>
                    <a:pt x="2550752" y="2667"/>
                  </a:lnTo>
                  <a:lnTo>
                    <a:pt x="2547955" y="0"/>
                  </a:lnTo>
                  <a:close/>
                </a:path>
                <a:path w="2667000" h="15875">
                  <a:moveTo>
                    <a:pt x="2661555" y="0"/>
                  </a:moveTo>
                  <a:lnTo>
                    <a:pt x="2607121" y="0"/>
                  </a:lnTo>
                  <a:lnTo>
                    <a:pt x="2604970" y="2667"/>
                  </a:lnTo>
                  <a:lnTo>
                    <a:pt x="2602388" y="5313"/>
                  </a:lnTo>
                  <a:lnTo>
                    <a:pt x="2602388" y="10088"/>
                  </a:lnTo>
                  <a:lnTo>
                    <a:pt x="2604970" y="12734"/>
                  </a:lnTo>
                  <a:lnTo>
                    <a:pt x="2607121" y="15401"/>
                  </a:lnTo>
                  <a:lnTo>
                    <a:pt x="2661555" y="15401"/>
                  </a:lnTo>
                  <a:lnTo>
                    <a:pt x="2664136" y="12734"/>
                  </a:lnTo>
                  <a:lnTo>
                    <a:pt x="2664136" y="10088"/>
                  </a:lnTo>
                  <a:lnTo>
                    <a:pt x="2666933" y="7959"/>
                  </a:lnTo>
                  <a:lnTo>
                    <a:pt x="2664136" y="5313"/>
                  </a:lnTo>
                  <a:lnTo>
                    <a:pt x="2664136" y="2667"/>
                  </a:lnTo>
                  <a:lnTo>
                    <a:pt x="2661555" y="0"/>
                  </a:lnTo>
                  <a:close/>
                </a:path>
              </a:pathLst>
            </a:custGeom>
            <a:solidFill>
              <a:srgbClr val="000000"/>
            </a:solidFill>
          </p:spPr>
          <p:txBody>
            <a:bodyPr wrap="square" lIns="0" tIns="0" rIns="0" bIns="0" rtlCol="0"/>
            <a:lstStyle/>
            <a:p/>
          </p:txBody>
        </p:sp>
        <p:pic>
          <p:nvPicPr>
            <p:cNvPr id="29" name="object 29" descr=""/>
            <p:cNvPicPr/>
            <p:nvPr/>
          </p:nvPicPr>
          <p:blipFill>
            <a:blip r:embed="rId5" cstate="print"/>
            <a:stretch>
              <a:fillRect/>
            </a:stretch>
          </p:blipFill>
          <p:spPr>
            <a:xfrm>
              <a:off x="1567555" y="3634279"/>
              <a:ext cx="3117030" cy="1522396"/>
            </a:xfrm>
            <a:prstGeom prst="rect">
              <a:avLst/>
            </a:prstGeom>
          </p:spPr>
        </p:pic>
      </p:grpSp>
      <p:sp>
        <p:nvSpPr>
          <p:cNvPr id="30" name="object 30"/>
          <p:cNvSpPr txBox="1">
            <a:spLocks noGrp="1"/>
          </p:cNvSpPr>
          <p:nvPr>
            <p:ph type="title"/>
          </p:nvPr>
        </p:nvSpPr>
        <p:spPr>
          <a:prstGeom prst="rect"/>
        </p:spPr>
        <p:txBody>
          <a:bodyPr wrap="square" lIns="0" tIns="0" rIns="0" bIns="0" rtlCol="0" vert="horz">
            <a:spAutoFit/>
          </a:bodyPr>
          <a:lstStyle/>
          <a:p>
            <a:pPr marL="255270">
              <a:lnSpc>
                <a:spcPts val="3020"/>
              </a:lnSpc>
            </a:pPr>
            <a:r>
              <a:rPr dirty="0" u="none" sz="2600">
                <a:solidFill>
                  <a:srgbClr val="0000CC"/>
                </a:solidFill>
              </a:rPr>
              <a:t>7.3.5</a:t>
            </a:r>
            <a:r>
              <a:rPr dirty="0" u="none" sz="2600" spc="-70">
                <a:solidFill>
                  <a:srgbClr val="0000CC"/>
                </a:solidFill>
              </a:rPr>
              <a:t> </a:t>
            </a:r>
            <a:r>
              <a:rPr dirty="0" u="none" sz="2400" spc="-120">
                <a:solidFill>
                  <a:srgbClr val="0000CC"/>
                </a:solidFill>
              </a:rPr>
              <a:t>伪相联 </a:t>
            </a:r>
            <a:r>
              <a:rPr dirty="0" u="none" sz="2400">
                <a:solidFill>
                  <a:srgbClr val="0000CC"/>
                </a:solidFill>
                <a:latin typeface="Tahoma"/>
                <a:cs typeface="Tahoma"/>
              </a:rPr>
              <a:t>Cache</a:t>
            </a:r>
            <a:r>
              <a:rPr dirty="0" u="none" sz="2400" spc="-10">
                <a:solidFill>
                  <a:srgbClr val="0000CC"/>
                </a:solidFill>
                <a:latin typeface="Tahoma"/>
                <a:cs typeface="Tahoma"/>
              </a:rPr>
              <a:t> </a:t>
            </a:r>
            <a:r>
              <a:rPr dirty="0" u="none" sz="2400" spc="-10">
                <a:solidFill>
                  <a:srgbClr val="40458B"/>
                </a:solidFill>
                <a:latin typeface="Tahoma"/>
                <a:cs typeface="Tahoma"/>
              </a:rPr>
              <a:t>(</a:t>
            </a:r>
            <a:r>
              <a:rPr dirty="0" u="none" sz="2400" spc="-120">
                <a:solidFill>
                  <a:srgbClr val="0000CC"/>
                </a:solidFill>
              </a:rPr>
              <a:t>列相联 </a:t>
            </a:r>
            <a:r>
              <a:rPr dirty="0" u="none" sz="2400">
                <a:solidFill>
                  <a:srgbClr val="0000CC"/>
                </a:solidFill>
                <a:latin typeface="Tahoma"/>
                <a:cs typeface="Tahoma"/>
              </a:rPr>
              <a:t>Cache</a:t>
            </a:r>
            <a:r>
              <a:rPr dirty="0" u="none" sz="2400" spc="5">
                <a:solidFill>
                  <a:srgbClr val="0000CC"/>
                </a:solidFill>
                <a:latin typeface="Tahoma"/>
                <a:cs typeface="Tahoma"/>
              </a:rPr>
              <a:t> </a:t>
            </a:r>
            <a:r>
              <a:rPr dirty="0" u="none" sz="2400" spc="-50">
                <a:solidFill>
                  <a:srgbClr val="40458B"/>
                </a:solidFill>
                <a:latin typeface="Tahoma"/>
                <a:cs typeface="Tahoma"/>
              </a:rPr>
              <a:t>)</a:t>
            </a:r>
            <a:endParaRPr sz="2400">
              <a:latin typeface="Tahoma"/>
              <a:cs typeface="Tahoma"/>
            </a:endParaRPr>
          </a:p>
        </p:txBody>
      </p:sp>
      <p:grpSp>
        <p:nvGrpSpPr>
          <p:cNvPr id="31" name="object 31" descr=""/>
          <p:cNvGrpSpPr/>
          <p:nvPr/>
        </p:nvGrpSpPr>
        <p:grpSpPr>
          <a:xfrm>
            <a:off x="8318500" y="2852801"/>
            <a:ext cx="3043555" cy="1297305"/>
            <a:chOff x="8318500" y="2852801"/>
            <a:chExt cx="3043555" cy="1297305"/>
          </a:xfrm>
        </p:grpSpPr>
        <p:pic>
          <p:nvPicPr>
            <p:cNvPr id="32" name="object 32" descr=""/>
            <p:cNvPicPr/>
            <p:nvPr/>
          </p:nvPicPr>
          <p:blipFill>
            <a:blip r:embed="rId6" cstate="print"/>
            <a:stretch>
              <a:fillRect/>
            </a:stretch>
          </p:blipFill>
          <p:spPr>
            <a:xfrm>
              <a:off x="8399526" y="2852801"/>
              <a:ext cx="2881249" cy="1296924"/>
            </a:xfrm>
            <a:prstGeom prst="rect">
              <a:avLst/>
            </a:prstGeom>
          </p:spPr>
        </p:pic>
        <p:sp>
          <p:nvSpPr>
            <p:cNvPr id="33" name="object 33" descr=""/>
            <p:cNvSpPr/>
            <p:nvPr/>
          </p:nvSpPr>
          <p:spPr>
            <a:xfrm>
              <a:off x="8328025" y="3141662"/>
              <a:ext cx="3024505" cy="287655"/>
            </a:xfrm>
            <a:custGeom>
              <a:avLst/>
              <a:gdLst/>
              <a:ahLst/>
              <a:cxnLst/>
              <a:rect l="l" t="t" r="r" b="b"/>
              <a:pathLst>
                <a:path w="3024504" h="287654">
                  <a:moveTo>
                    <a:pt x="0" y="287337"/>
                  </a:moveTo>
                  <a:lnTo>
                    <a:pt x="3024251" y="287337"/>
                  </a:lnTo>
                  <a:lnTo>
                    <a:pt x="3024251" y="0"/>
                  </a:lnTo>
                  <a:lnTo>
                    <a:pt x="0" y="0"/>
                  </a:lnTo>
                  <a:lnTo>
                    <a:pt x="0" y="287337"/>
                  </a:lnTo>
                  <a:close/>
                </a:path>
              </a:pathLst>
            </a:custGeom>
            <a:ln w="19050">
              <a:solidFill>
                <a:srgbClr val="FF0000"/>
              </a:solidFill>
            </a:ln>
          </p:spPr>
          <p:txBody>
            <a:bodyPr wrap="square" lIns="0" tIns="0" rIns="0" bIns="0" rtlCol="0"/>
            <a:lstStyle/>
            <a:p/>
          </p:txBody>
        </p:sp>
      </p:grpSp>
      <p:sp>
        <p:nvSpPr>
          <p:cNvPr id="34" name="object 34" descr=""/>
          <p:cNvSpPr txBox="1"/>
          <p:nvPr/>
        </p:nvSpPr>
        <p:spPr>
          <a:xfrm>
            <a:off x="8912732" y="4279138"/>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两路组相联</a:t>
            </a:r>
            <a:endParaRPr sz="2400">
              <a:latin typeface="黑体"/>
              <a:cs typeface="黑体"/>
            </a:endParaRPr>
          </a:p>
        </p:txBody>
      </p:sp>
      <p:sp>
        <p:nvSpPr>
          <p:cNvPr id="35" name="object 35" descr=""/>
          <p:cNvSpPr txBox="1"/>
          <p:nvPr/>
        </p:nvSpPr>
        <p:spPr>
          <a:xfrm>
            <a:off x="1566417" y="3296157"/>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黑体"/>
                <a:cs typeface="黑体"/>
              </a:rPr>
              <a:t>命中</a:t>
            </a:r>
            <a:endParaRPr sz="2400">
              <a:latin typeface="黑体"/>
              <a:cs typeface="黑体"/>
            </a:endParaRPr>
          </a:p>
        </p:txBody>
      </p:sp>
      <p:sp>
        <p:nvSpPr>
          <p:cNvPr id="36" name="object 36" descr=""/>
          <p:cNvSpPr txBox="1"/>
          <p:nvPr/>
        </p:nvSpPr>
        <p:spPr>
          <a:xfrm>
            <a:off x="1279016" y="5168265"/>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黑体"/>
                <a:cs typeface="黑体"/>
              </a:rPr>
              <a:t>伪命中</a:t>
            </a:r>
            <a:endParaRPr sz="2400">
              <a:latin typeface="黑体"/>
              <a:cs typeface="黑体"/>
            </a:endParaRPr>
          </a:p>
        </p:txBody>
      </p:sp>
      <p:sp>
        <p:nvSpPr>
          <p:cNvPr id="37" name="object 37" descr=""/>
          <p:cNvSpPr txBox="1"/>
          <p:nvPr/>
        </p:nvSpPr>
        <p:spPr>
          <a:xfrm>
            <a:off x="4495546" y="4723638"/>
            <a:ext cx="7788275" cy="330835"/>
          </a:xfrm>
          <a:prstGeom prst="rect">
            <a:avLst/>
          </a:prstGeom>
        </p:spPr>
        <p:txBody>
          <a:bodyPr wrap="square" lIns="0" tIns="12700" rIns="0" bIns="0" rtlCol="0" vert="horz">
            <a:spAutoFit/>
          </a:bodyPr>
          <a:lstStyle/>
          <a:p>
            <a:pPr marL="355600" indent="-342900">
              <a:lnSpc>
                <a:spcPct val="100000"/>
              </a:lnSpc>
              <a:spcBef>
                <a:spcPts val="100"/>
              </a:spcBef>
              <a:buClr>
                <a:srgbClr val="4F55AC"/>
              </a:buClr>
              <a:buFont typeface="Wingdings"/>
              <a:buChar char=""/>
              <a:tabLst>
                <a:tab pos="355600" algn="l"/>
              </a:tabLst>
            </a:pPr>
            <a:r>
              <a:rPr dirty="0" sz="2000">
                <a:solidFill>
                  <a:srgbClr val="006FC0"/>
                </a:solidFill>
                <a:latin typeface="Tahoma"/>
                <a:cs typeface="Tahoma"/>
              </a:rPr>
              <a:t>CPU</a:t>
            </a:r>
            <a:r>
              <a:rPr dirty="0" sz="2000" spc="-15">
                <a:solidFill>
                  <a:srgbClr val="006FC0"/>
                </a:solidFill>
                <a:latin typeface="黑体"/>
                <a:cs typeface="黑体"/>
              </a:rPr>
              <a:t>发出访存地址，首先按照直接映像，通过索引检索主候选区</a:t>
            </a:r>
            <a:r>
              <a:rPr dirty="0" sz="2000">
                <a:solidFill>
                  <a:srgbClr val="006FC0"/>
                </a:solidFill>
                <a:latin typeface="Tahoma"/>
                <a:cs typeface="Tahoma"/>
              </a:rPr>
              <a:t>(</a:t>
            </a:r>
            <a:r>
              <a:rPr dirty="0" sz="2000" spc="-50">
                <a:solidFill>
                  <a:srgbClr val="006FC0"/>
                </a:solidFill>
                <a:latin typeface="黑体"/>
                <a:cs typeface="黑体"/>
              </a:rPr>
              <a:t>上</a:t>
            </a:r>
            <a:endParaRPr sz="2000">
              <a:latin typeface="黑体"/>
              <a:cs typeface="黑体"/>
            </a:endParaRPr>
          </a:p>
        </p:txBody>
      </p:sp>
      <p:sp>
        <p:nvSpPr>
          <p:cNvPr id="38" name="object 38" descr=""/>
          <p:cNvSpPr txBox="1"/>
          <p:nvPr/>
        </p:nvSpPr>
        <p:spPr>
          <a:xfrm>
            <a:off x="4838827" y="5028133"/>
            <a:ext cx="4300220" cy="331470"/>
          </a:xfrm>
          <a:prstGeom prst="rect">
            <a:avLst/>
          </a:prstGeom>
        </p:spPr>
        <p:txBody>
          <a:bodyPr wrap="square" lIns="0" tIns="13335" rIns="0" bIns="0" rtlCol="0" vert="horz">
            <a:spAutoFit/>
          </a:bodyPr>
          <a:lstStyle/>
          <a:p>
            <a:pPr marL="12700">
              <a:lnSpc>
                <a:spcPct val="100000"/>
              </a:lnSpc>
              <a:spcBef>
                <a:spcPts val="105"/>
              </a:spcBef>
            </a:pPr>
            <a:r>
              <a:rPr dirty="0" sz="2000">
                <a:solidFill>
                  <a:srgbClr val="006FC0"/>
                </a:solidFill>
                <a:latin typeface="黑体"/>
                <a:cs typeface="黑体"/>
              </a:rPr>
              <a:t>面的区</a:t>
            </a:r>
            <a:r>
              <a:rPr dirty="0" sz="2000" spc="-20">
                <a:solidFill>
                  <a:srgbClr val="006FC0"/>
                </a:solidFill>
                <a:latin typeface="黑体"/>
                <a:cs typeface="黑体"/>
              </a:rPr>
              <a:t>）</a:t>
            </a:r>
            <a:r>
              <a:rPr dirty="0" sz="2000" spc="-25">
                <a:solidFill>
                  <a:srgbClr val="006FC0"/>
                </a:solidFill>
                <a:latin typeface="黑体"/>
                <a:cs typeface="黑体"/>
              </a:rPr>
              <a:t>，若命中，则将数据送往</a:t>
            </a:r>
            <a:r>
              <a:rPr dirty="0" sz="2000" spc="-25">
                <a:solidFill>
                  <a:srgbClr val="006FC0"/>
                </a:solidFill>
                <a:latin typeface="Tahoma"/>
                <a:cs typeface="Tahoma"/>
              </a:rPr>
              <a:t>CPU</a:t>
            </a:r>
            <a:endParaRPr sz="2000">
              <a:latin typeface="Tahoma"/>
              <a:cs typeface="Tahoma"/>
            </a:endParaRPr>
          </a:p>
        </p:txBody>
      </p:sp>
      <p:sp>
        <p:nvSpPr>
          <p:cNvPr id="39" name="object 39" descr=""/>
          <p:cNvSpPr txBox="1"/>
          <p:nvPr/>
        </p:nvSpPr>
        <p:spPr>
          <a:xfrm>
            <a:off x="4591050" y="5520334"/>
            <a:ext cx="7689215" cy="331470"/>
          </a:xfrm>
          <a:prstGeom prst="rect">
            <a:avLst/>
          </a:prstGeom>
        </p:spPr>
        <p:txBody>
          <a:bodyPr wrap="square" lIns="0" tIns="13335" rIns="0" bIns="0" rtlCol="0" vert="horz">
            <a:spAutoFit/>
          </a:bodyPr>
          <a:lstStyle/>
          <a:p>
            <a:pPr marL="354965" indent="-342265">
              <a:lnSpc>
                <a:spcPct val="100000"/>
              </a:lnSpc>
              <a:spcBef>
                <a:spcPts val="105"/>
              </a:spcBef>
              <a:buClr>
                <a:srgbClr val="4F55AC"/>
              </a:buClr>
              <a:buFont typeface="Wingdings"/>
              <a:buChar char=""/>
              <a:tabLst>
                <a:tab pos="354965" algn="l"/>
              </a:tabLst>
            </a:pPr>
            <a:r>
              <a:rPr dirty="0" sz="2000" spc="-10">
                <a:solidFill>
                  <a:srgbClr val="FF09FF"/>
                </a:solidFill>
                <a:latin typeface="Tahoma"/>
                <a:cs typeface="Tahoma"/>
              </a:rPr>
              <a:t>CPU</a:t>
            </a:r>
            <a:r>
              <a:rPr dirty="0" sz="2000" spc="-30">
                <a:solidFill>
                  <a:srgbClr val="FF09FF"/>
                </a:solidFill>
                <a:latin typeface="黑体"/>
                <a:cs typeface="黑体"/>
              </a:rPr>
              <a:t>发出访存地址，首先按照直接映像，通过索引检索主候选区，</a:t>
            </a:r>
            <a:endParaRPr sz="2000">
              <a:latin typeface="黑体"/>
              <a:cs typeface="黑体"/>
            </a:endParaRPr>
          </a:p>
        </p:txBody>
      </p:sp>
      <p:sp>
        <p:nvSpPr>
          <p:cNvPr id="40" name="object 40" descr=""/>
          <p:cNvSpPr txBox="1"/>
          <p:nvPr/>
        </p:nvSpPr>
        <p:spPr>
          <a:xfrm>
            <a:off x="4933950" y="5825744"/>
            <a:ext cx="7349490" cy="635635"/>
          </a:xfrm>
          <a:prstGeom prst="rect">
            <a:avLst/>
          </a:prstGeom>
        </p:spPr>
        <p:txBody>
          <a:bodyPr wrap="square" lIns="0" tIns="12700" rIns="0" bIns="0" rtlCol="0" vert="horz">
            <a:spAutoFit/>
          </a:bodyPr>
          <a:lstStyle/>
          <a:p>
            <a:pPr marL="12700" marR="5080">
              <a:lnSpc>
                <a:spcPct val="100000"/>
              </a:lnSpc>
              <a:spcBef>
                <a:spcPts val="100"/>
              </a:spcBef>
            </a:pPr>
            <a:r>
              <a:rPr dirty="0" sz="2000" spc="-15">
                <a:solidFill>
                  <a:srgbClr val="FF09FF"/>
                </a:solidFill>
                <a:latin typeface="黑体"/>
                <a:cs typeface="黑体"/>
              </a:rPr>
              <a:t>若未命中，则检索次候选区，若命中，数据送往</a:t>
            </a:r>
            <a:r>
              <a:rPr dirty="0" sz="2000" spc="-10">
                <a:solidFill>
                  <a:srgbClr val="FF09FF"/>
                </a:solidFill>
                <a:latin typeface="Tahoma"/>
                <a:cs typeface="Tahoma"/>
              </a:rPr>
              <a:t>CPU</a:t>
            </a:r>
            <a:r>
              <a:rPr dirty="0" sz="2000" spc="-20">
                <a:solidFill>
                  <a:srgbClr val="FF09FF"/>
                </a:solidFill>
                <a:latin typeface="黑体"/>
                <a:cs typeface="黑体"/>
              </a:rPr>
              <a:t>，则发生了伪命中，否则访问下一次存储器。</a:t>
            </a:r>
            <a:endParaRPr sz="2000">
              <a:latin typeface="黑体"/>
              <a:cs typeface="黑体"/>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42391" y="799370"/>
            <a:ext cx="11362055" cy="1844675"/>
          </a:xfrm>
          <a:prstGeom prst="rect">
            <a:avLst/>
          </a:prstGeom>
        </p:spPr>
        <p:txBody>
          <a:bodyPr wrap="square" lIns="0" tIns="206375" rIns="0" bIns="0" rtlCol="0" vert="horz">
            <a:spAutoFit/>
          </a:bodyPr>
          <a:lstStyle/>
          <a:p>
            <a:pPr marL="12700">
              <a:lnSpc>
                <a:spcPct val="100000"/>
              </a:lnSpc>
              <a:spcBef>
                <a:spcPts val="1625"/>
              </a:spcBef>
              <a:tabLst>
                <a:tab pos="469265"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spc="-10">
                <a:solidFill>
                  <a:srgbClr val="E14B04"/>
                </a:solidFill>
                <a:latin typeface="黑体"/>
                <a:cs typeface="黑体"/>
              </a:rPr>
              <a:t>基本思想及工作原理</a:t>
            </a:r>
            <a:endParaRPr sz="2400">
              <a:latin typeface="黑体"/>
              <a:cs typeface="黑体"/>
            </a:endParaRPr>
          </a:p>
          <a:p>
            <a:pPr marL="469900" marR="5080" indent="572770">
              <a:lnSpc>
                <a:spcPct val="130000"/>
              </a:lnSpc>
              <a:spcBef>
                <a:spcPts val="555"/>
              </a:spcBef>
            </a:pPr>
            <a:r>
              <a:rPr dirty="0" sz="2000" spc="-15" b="1">
                <a:solidFill>
                  <a:srgbClr val="40458B"/>
                </a:solidFill>
                <a:latin typeface="宋体"/>
                <a:cs typeface="宋体"/>
              </a:rPr>
              <a:t>在逻辑上把直接映象</a:t>
            </a:r>
            <a:r>
              <a:rPr dirty="0" sz="2000" spc="-10" b="1">
                <a:solidFill>
                  <a:srgbClr val="40458B"/>
                </a:solidFill>
                <a:latin typeface="宋体"/>
                <a:cs typeface="宋体"/>
              </a:rPr>
              <a:t>Cache</a:t>
            </a:r>
            <a:r>
              <a:rPr dirty="0" sz="2000" spc="-20" b="1">
                <a:solidFill>
                  <a:srgbClr val="40458B"/>
                </a:solidFill>
                <a:latin typeface="宋体"/>
                <a:cs typeface="宋体"/>
              </a:rPr>
              <a:t>的空间上下平分为两个区</a:t>
            </a:r>
            <a:r>
              <a:rPr dirty="0" sz="2000" spc="-10" b="1">
                <a:solidFill>
                  <a:srgbClr val="40458B"/>
                </a:solidFill>
                <a:latin typeface="宋体"/>
                <a:cs typeface="宋体"/>
              </a:rPr>
              <a:t>（</a:t>
            </a:r>
            <a:r>
              <a:rPr dirty="0" sz="2000" spc="-20" b="1">
                <a:solidFill>
                  <a:srgbClr val="40458B"/>
                </a:solidFill>
                <a:latin typeface="宋体"/>
                <a:cs typeface="宋体"/>
              </a:rPr>
              <a:t>地址不连续</a:t>
            </a:r>
            <a:r>
              <a:rPr dirty="0" sz="2000" spc="-10" b="1">
                <a:solidFill>
                  <a:srgbClr val="40458B"/>
                </a:solidFill>
                <a:latin typeface="宋体"/>
                <a:cs typeface="宋体"/>
              </a:rPr>
              <a:t>）</a:t>
            </a:r>
            <a:r>
              <a:rPr dirty="0" sz="2000" spc="-25" b="1">
                <a:solidFill>
                  <a:srgbClr val="40458B"/>
                </a:solidFill>
                <a:latin typeface="宋体"/>
                <a:cs typeface="宋体"/>
              </a:rPr>
              <a:t>。对于任何一次访问，</a:t>
            </a:r>
            <a:r>
              <a:rPr dirty="0" sz="2000" spc="-50" b="1">
                <a:solidFill>
                  <a:srgbClr val="40458B"/>
                </a:solidFill>
                <a:latin typeface="宋体"/>
                <a:cs typeface="宋体"/>
              </a:rPr>
              <a:t> </a:t>
            </a:r>
            <a:r>
              <a:rPr dirty="0" sz="2000" spc="-10" b="1">
                <a:solidFill>
                  <a:srgbClr val="40458B"/>
                </a:solidFill>
                <a:latin typeface="宋体"/>
                <a:cs typeface="宋体"/>
              </a:rPr>
              <a:t>伪相联Cache</a:t>
            </a:r>
            <a:r>
              <a:rPr dirty="0" sz="2000" spc="-20" b="1">
                <a:solidFill>
                  <a:srgbClr val="40458B"/>
                </a:solidFill>
                <a:latin typeface="宋体"/>
                <a:cs typeface="宋体"/>
              </a:rPr>
              <a:t>先按直接映象</a:t>
            </a:r>
            <a:r>
              <a:rPr dirty="0" sz="2000" spc="-10" b="1">
                <a:solidFill>
                  <a:srgbClr val="40458B"/>
                </a:solidFill>
                <a:latin typeface="宋体"/>
                <a:cs typeface="宋体"/>
              </a:rPr>
              <a:t>Cache</a:t>
            </a:r>
            <a:r>
              <a:rPr dirty="0" sz="2000" spc="-20" b="1">
                <a:solidFill>
                  <a:srgbClr val="40458B"/>
                </a:solidFill>
                <a:latin typeface="宋体"/>
                <a:cs typeface="宋体"/>
              </a:rPr>
              <a:t>的方式去处理。若命中，则其访问过程与直接映象</a:t>
            </a:r>
            <a:r>
              <a:rPr dirty="0" sz="2000" spc="-10" b="1">
                <a:solidFill>
                  <a:srgbClr val="40458B"/>
                </a:solidFill>
                <a:latin typeface="宋体"/>
                <a:cs typeface="宋体"/>
              </a:rPr>
              <a:t>Cache</a:t>
            </a:r>
            <a:r>
              <a:rPr dirty="0" sz="2000" spc="-25" b="1">
                <a:solidFill>
                  <a:srgbClr val="40458B"/>
                </a:solidFill>
                <a:latin typeface="宋体"/>
                <a:cs typeface="宋体"/>
              </a:rPr>
              <a:t>的情况一样。若不命中，则再到另一区相应的位置去查找。若找到，则发生了伪命中，否则就只好访问下</a:t>
            </a:r>
            <a:endParaRPr sz="2000">
              <a:latin typeface="宋体"/>
              <a:cs typeface="宋体"/>
            </a:endParaRPr>
          </a:p>
        </p:txBody>
      </p:sp>
      <p:sp>
        <p:nvSpPr>
          <p:cNvPr id="10" name="object 10" descr=""/>
          <p:cNvSpPr txBox="1"/>
          <p:nvPr/>
        </p:nvSpPr>
        <p:spPr>
          <a:xfrm>
            <a:off x="799591" y="2709113"/>
            <a:ext cx="1562100" cy="331470"/>
          </a:xfrm>
          <a:prstGeom prst="rect">
            <a:avLst/>
          </a:prstGeom>
        </p:spPr>
        <p:txBody>
          <a:bodyPr wrap="square" lIns="0" tIns="13335" rIns="0" bIns="0" rtlCol="0" vert="horz">
            <a:spAutoFit/>
          </a:bodyPr>
          <a:lstStyle/>
          <a:p>
            <a:pPr marL="12700">
              <a:lnSpc>
                <a:spcPct val="100000"/>
              </a:lnSpc>
              <a:spcBef>
                <a:spcPts val="105"/>
              </a:spcBef>
            </a:pPr>
            <a:r>
              <a:rPr dirty="0" sz="2000" spc="-25" b="1">
                <a:solidFill>
                  <a:srgbClr val="40458B"/>
                </a:solidFill>
                <a:latin typeface="宋体"/>
                <a:cs typeface="宋体"/>
              </a:rPr>
              <a:t>一级存储器。</a:t>
            </a:r>
            <a:endParaRPr sz="2000">
              <a:latin typeface="宋体"/>
              <a:cs typeface="宋体"/>
            </a:endParaRPr>
          </a:p>
        </p:txBody>
      </p:sp>
      <p:grpSp>
        <p:nvGrpSpPr>
          <p:cNvPr id="11" name="object 11" descr=""/>
          <p:cNvGrpSpPr/>
          <p:nvPr/>
        </p:nvGrpSpPr>
        <p:grpSpPr>
          <a:xfrm>
            <a:off x="1364667" y="3082772"/>
            <a:ext cx="2613660" cy="2910840"/>
            <a:chOff x="1364667" y="3082772"/>
            <a:chExt cx="2613660" cy="2910840"/>
          </a:xfrm>
        </p:grpSpPr>
        <p:sp>
          <p:nvSpPr>
            <p:cNvPr id="12" name="object 12" descr=""/>
            <p:cNvSpPr/>
            <p:nvPr/>
          </p:nvSpPr>
          <p:spPr>
            <a:xfrm>
              <a:off x="2143813" y="3181983"/>
              <a:ext cx="1243330" cy="2803525"/>
            </a:xfrm>
            <a:custGeom>
              <a:avLst/>
              <a:gdLst/>
              <a:ahLst/>
              <a:cxnLst/>
              <a:rect l="l" t="t" r="r" b="b"/>
              <a:pathLst>
                <a:path w="1243329" h="2803525">
                  <a:moveTo>
                    <a:pt x="1242802" y="0"/>
                  </a:moveTo>
                  <a:lnTo>
                    <a:pt x="0" y="0"/>
                  </a:lnTo>
                  <a:lnTo>
                    <a:pt x="0" y="2803310"/>
                  </a:lnTo>
                  <a:lnTo>
                    <a:pt x="1242802" y="2803310"/>
                  </a:lnTo>
                  <a:lnTo>
                    <a:pt x="1242802" y="0"/>
                  </a:lnTo>
                  <a:close/>
                </a:path>
              </a:pathLst>
            </a:custGeom>
            <a:solidFill>
              <a:srgbClr val="FFFF99"/>
            </a:solidFill>
          </p:spPr>
          <p:txBody>
            <a:bodyPr wrap="square" lIns="0" tIns="0" rIns="0" bIns="0" rtlCol="0"/>
            <a:lstStyle/>
            <a:p/>
          </p:txBody>
        </p:sp>
        <p:sp>
          <p:nvSpPr>
            <p:cNvPr id="13" name="object 13" descr=""/>
            <p:cNvSpPr/>
            <p:nvPr/>
          </p:nvSpPr>
          <p:spPr>
            <a:xfrm>
              <a:off x="2143813" y="3181983"/>
              <a:ext cx="1243330" cy="2803525"/>
            </a:xfrm>
            <a:custGeom>
              <a:avLst/>
              <a:gdLst/>
              <a:ahLst/>
              <a:cxnLst/>
              <a:rect l="l" t="t" r="r" b="b"/>
              <a:pathLst>
                <a:path w="1243329" h="2803525">
                  <a:moveTo>
                    <a:pt x="0" y="2803310"/>
                  </a:moveTo>
                  <a:lnTo>
                    <a:pt x="1242802" y="2803310"/>
                  </a:lnTo>
                  <a:lnTo>
                    <a:pt x="1242802" y="0"/>
                  </a:lnTo>
                  <a:lnTo>
                    <a:pt x="0" y="0"/>
                  </a:lnTo>
                  <a:lnTo>
                    <a:pt x="0" y="2803310"/>
                  </a:lnTo>
                  <a:close/>
                </a:path>
              </a:pathLst>
            </a:custGeom>
            <a:ln w="15454">
              <a:solidFill>
                <a:srgbClr val="000000"/>
              </a:solidFill>
            </a:ln>
          </p:spPr>
          <p:txBody>
            <a:bodyPr wrap="square" lIns="0" tIns="0" rIns="0" bIns="0" rtlCol="0"/>
            <a:lstStyle/>
            <a:p/>
          </p:txBody>
        </p:sp>
        <p:pic>
          <p:nvPicPr>
            <p:cNvPr id="14" name="object 14" descr=""/>
            <p:cNvPicPr/>
            <p:nvPr/>
          </p:nvPicPr>
          <p:blipFill>
            <a:blip r:embed="rId3" cstate="print"/>
            <a:stretch>
              <a:fillRect/>
            </a:stretch>
          </p:blipFill>
          <p:spPr>
            <a:xfrm>
              <a:off x="2153947" y="3481452"/>
              <a:ext cx="1217220" cy="299863"/>
            </a:xfrm>
            <a:prstGeom prst="rect">
              <a:avLst/>
            </a:prstGeom>
          </p:spPr>
        </p:pic>
        <p:pic>
          <p:nvPicPr>
            <p:cNvPr id="15" name="object 15" descr=""/>
            <p:cNvPicPr/>
            <p:nvPr/>
          </p:nvPicPr>
          <p:blipFill>
            <a:blip r:embed="rId4" cstate="print"/>
            <a:stretch>
              <a:fillRect/>
            </a:stretch>
          </p:blipFill>
          <p:spPr>
            <a:xfrm>
              <a:off x="2153947" y="4881925"/>
              <a:ext cx="1214574" cy="302508"/>
            </a:xfrm>
            <a:prstGeom prst="rect">
              <a:avLst/>
            </a:prstGeom>
          </p:spPr>
        </p:pic>
        <p:sp>
          <p:nvSpPr>
            <p:cNvPr id="16" name="object 16" descr=""/>
            <p:cNvSpPr/>
            <p:nvPr/>
          </p:nvSpPr>
          <p:spPr>
            <a:xfrm>
              <a:off x="1366255" y="3578036"/>
              <a:ext cx="781050" cy="85090"/>
            </a:xfrm>
            <a:custGeom>
              <a:avLst/>
              <a:gdLst/>
              <a:ahLst/>
              <a:cxnLst/>
              <a:rect l="l" t="t" r="r" b="b"/>
              <a:pathLst>
                <a:path w="781050" h="85089">
                  <a:moveTo>
                    <a:pt x="651264" y="0"/>
                  </a:moveTo>
                  <a:lnTo>
                    <a:pt x="695499" y="43882"/>
                  </a:lnTo>
                  <a:lnTo>
                    <a:pt x="651264" y="84753"/>
                  </a:lnTo>
                  <a:lnTo>
                    <a:pt x="748729" y="53992"/>
                  </a:lnTo>
                  <a:lnTo>
                    <a:pt x="698167" y="53992"/>
                  </a:lnTo>
                  <a:lnTo>
                    <a:pt x="702943" y="51411"/>
                  </a:lnTo>
                  <a:lnTo>
                    <a:pt x="705611" y="46033"/>
                  </a:lnTo>
                  <a:lnTo>
                    <a:pt x="705611" y="38719"/>
                  </a:lnTo>
                  <a:lnTo>
                    <a:pt x="702943" y="35923"/>
                  </a:lnTo>
                  <a:lnTo>
                    <a:pt x="698167" y="33342"/>
                  </a:lnTo>
                  <a:lnTo>
                    <a:pt x="749658" y="33342"/>
                  </a:lnTo>
                  <a:lnTo>
                    <a:pt x="651264" y="0"/>
                  </a:lnTo>
                  <a:close/>
                </a:path>
                <a:path w="781050" h="85089">
                  <a:moveTo>
                    <a:pt x="684874" y="33342"/>
                  </a:moveTo>
                  <a:lnTo>
                    <a:pt x="8003" y="33342"/>
                  </a:lnTo>
                  <a:lnTo>
                    <a:pt x="5335" y="35923"/>
                  </a:lnTo>
                  <a:lnTo>
                    <a:pt x="2667" y="38719"/>
                  </a:lnTo>
                  <a:lnTo>
                    <a:pt x="0" y="43882"/>
                  </a:lnTo>
                  <a:lnTo>
                    <a:pt x="2667" y="46033"/>
                  </a:lnTo>
                  <a:lnTo>
                    <a:pt x="5335" y="51411"/>
                  </a:lnTo>
                  <a:lnTo>
                    <a:pt x="8003" y="53992"/>
                  </a:lnTo>
                  <a:lnTo>
                    <a:pt x="684556" y="53992"/>
                  </a:lnTo>
                  <a:lnTo>
                    <a:pt x="695499" y="43882"/>
                  </a:lnTo>
                  <a:lnTo>
                    <a:pt x="684874" y="33342"/>
                  </a:lnTo>
                  <a:close/>
                </a:path>
                <a:path w="781050" h="85089">
                  <a:moveTo>
                    <a:pt x="749658" y="33342"/>
                  </a:moveTo>
                  <a:lnTo>
                    <a:pt x="698167" y="33342"/>
                  </a:lnTo>
                  <a:lnTo>
                    <a:pt x="702943" y="35923"/>
                  </a:lnTo>
                  <a:lnTo>
                    <a:pt x="705611" y="38719"/>
                  </a:lnTo>
                  <a:lnTo>
                    <a:pt x="705611" y="46033"/>
                  </a:lnTo>
                  <a:lnTo>
                    <a:pt x="702943" y="51411"/>
                  </a:lnTo>
                  <a:lnTo>
                    <a:pt x="698167" y="53992"/>
                  </a:lnTo>
                  <a:lnTo>
                    <a:pt x="748729" y="53992"/>
                  </a:lnTo>
                  <a:lnTo>
                    <a:pt x="780763" y="43882"/>
                  </a:lnTo>
                  <a:lnTo>
                    <a:pt x="749658" y="33342"/>
                  </a:lnTo>
                  <a:close/>
                </a:path>
              </a:pathLst>
            </a:custGeom>
            <a:solidFill>
              <a:srgbClr val="000000"/>
            </a:solidFill>
          </p:spPr>
          <p:txBody>
            <a:bodyPr wrap="square" lIns="0" tIns="0" rIns="0" bIns="0" rtlCol="0"/>
            <a:lstStyle/>
            <a:p/>
          </p:txBody>
        </p:sp>
        <p:sp>
          <p:nvSpPr>
            <p:cNvPr id="17" name="object 17" descr=""/>
            <p:cNvSpPr/>
            <p:nvPr/>
          </p:nvSpPr>
          <p:spPr>
            <a:xfrm>
              <a:off x="1366255" y="3578036"/>
              <a:ext cx="781050" cy="85090"/>
            </a:xfrm>
            <a:custGeom>
              <a:avLst/>
              <a:gdLst/>
              <a:ahLst/>
              <a:cxnLst/>
              <a:rect l="l" t="t" r="r" b="b"/>
              <a:pathLst>
                <a:path w="781050" h="85089">
                  <a:moveTo>
                    <a:pt x="13339" y="33342"/>
                  </a:moveTo>
                  <a:lnTo>
                    <a:pt x="695499" y="33342"/>
                  </a:lnTo>
                  <a:lnTo>
                    <a:pt x="698167" y="33342"/>
                  </a:lnTo>
                  <a:lnTo>
                    <a:pt x="702943" y="35923"/>
                  </a:lnTo>
                  <a:lnTo>
                    <a:pt x="705611" y="38719"/>
                  </a:lnTo>
                  <a:lnTo>
                    <a:pt x="705611" y="43882"/>
                  </a:lnTo>
                  <a:lnTo>
                    <a:pt x="705611" y="46033"/>
                  </a:lnTo>
                  <a:lnTo>
                    <a:pt x="702943" y="51411"/>
                  </a:lnTo>
                  <a:lnTo>
                    <a:pt x="698167" y="53992"/>
                  </a:lnTo>
                  <a:lnTo>
                    <a:pt x="695499" y="53992"/>
                  </a:lnTo>
                  <a:lnTo>
                    <a:pt x="13339" y="53992"/>
                  </a:lnTo>
                  <a:lnTo>
                    <a:pt x="8003" y="53992"/>
                  </a:lnTo>
                  <a:lnTo>
                    <a:pt x="5335" y="51411"/>
                  </a:lnTo>
                  <a:lnTo>
                    <a:pt x="2667" y="46033"/>
                  </a:lnTo>
                  <a:lnTo>
                    <a:pt x="0" y="43882"/>
                  </a:lnTo>
                  <a:lnTo>
                    <a:pt x="2667" y="38719"/>
                  </a:lnTo>
                  <a:lnTo>
                    <a:pt x="5335" y="35923"/>
                  </a:lnTo>
                  <a:lnTo>
                    <a:pt x="8003" y="33342"/>
                  </a:lnTo>
                  <a:lnTo>
                    <a:pt x="13339" y="33342"/>
                  </a:lnTo>
                  <a:close/>
                </a:path>
                <a:path w="781050" h="85089">
                  <a:moveTo>
                    <a:pt x="695499" y="43882"/>
                  </a:moveTo>
                  <a:lnTo>
                    <a:pt x="651264" y="0"/>
                  </a:lnTo>
                  <a:lnTo>
                    <a:pt x="780763" y="43882"/>
                  </a:lnTo>
                  <a:lnTo>
                    <a:pt x="651264" y="84753"/>
                  </a:lnTo>
                  <a:lnTo>
                    <a:pt x="695499" y="43882"/>
                  </a:lnTo>
                  <a:close/>
                </a:path>
              </a:pathLst>
            </a:custGeom>
            <a:ln w="3175">
              <a:solidFill>
                <a:srgbClr val="000000"/>
              </a:solidFill>
            </a:ln>
          </p:spPr>
          <p:txBody>
            <a:bodyPr wrap="square" lIns="0" tIns="0" rIns="0" bIns="0" rtlCol="0"/>
            <a:lstStyle/>
            <a:p/>
          </p:txBody>
        </p:sp>
        <p:sp>
          <p:nvSpPr>
            <p:cNvPr id="18" name="object 18" descr=""/>
            <p:cNvSpPr/>
            <p:nvPr/>
          </p:nvSpPr>
          <p:spPr>
            <a:xfrm>
              <a:off x="3891296" y="3084360"/>
              <a:ext cx="85725" cy="1946275"/>
            </a:xfrm>
            <a:custGeom>
              <a:avLst/>
              <a:gdLst/>
              <a:ahLst/>
              <a:cxnLst/>
              <a:rect l="l" t="t" r="r" b="b"/>
              <a:pathLst>
                <a:path w="85725" h="1946275">
                  <a:moveTo>
                    <a:pt x="41093" y="84968"/>
                  </a:moveTo>
                  <a:lnTo>
                    <a:pt x="30981" y="95819"/>
                  </a:lnTo>
                  <a:lnTo>
                    <a:pt x="30981" y="1940333"/>
                  </a:lnTo>
                  <a:lnTo>
                    <a:pt x="33563" y="1942979"/>
                  </a:lnTo>
                  <a:lnTo>
                    <a:pt x="38297" y="1945646"/>
                  </a:lnTo>
                  <a:lnTo>
                    <a:pt x="46472" y="1945646"/>
                  </a:lnTo>
                  <a:lnTo>
                    <a:pt x="51636" y="1940333"/>
                  </a:lnTo>
                  <a:lnTo>
                    <a:pt x="51636" y="95508"/>
                  </a:lnTo>
                  <a:lnTo>
                    <a:pt x="41093" y="84968"/>
                  </a:lnTo>
                  <a:close/>
                </a:path>
                <a:path w="85725" h="1946275">
                  <a:moveTo>
                    <a:pt x="41093" y="0"/>
                  </a:moveTo>
                  <a:lnTo>
                    <a:pt x="0" y="129065"/>
                  </a:lnTo>
                  <a:lnTo>
                    <a:pt x="30981" y="95819"/>
                  </a:lnTo>
                  <a:lnTo>
                    <a:pt x="30981" y="82817"/>
                  </a:lnTo>
                  <a:lnTo>
                    <a:pt x="33563" y="77439"/>
                  </a:lnTo>
                  <a:lnTo>
                    <a:pt x="38296" y="74858"/>
                  </a:lnTo>
                  <a:lnTo>
                    <a:pt x="66675" y="74858"/>
                  </a:lnTo>
                  <a:lnTo>
                    <a:pt x="41093" y="0"/>
                  </a:lnTo>
                  <a:close/>
                </a:path>
                <a:path w="85725" h="1946275">
                  <a:moveTo>
                    <a:pt x="66675" y="74858"/>
                  </a:moveTo>
                  <a:lnTo>
                    <a:pt x="46472" y="74858"/>
                  </a:lnTo>
                  <a:lnTo>
                    <a:pt x="49054" y="77439"/>
                  </a:lnTo>
                  <a:lnTo>
                    <a:pt x="51636" y="82817"/>
                  </a:lnTo>
                  <a:lnTo>
                    <a:pt x="51636" y="95508"/>
                  </a:lnTo>
                  <a:lnTo>
                    <a:pt x="85200" y="129065"/>
                  </a:lnTo>
                  <a:lnTo>
                    <a:pt x="66675" y="74858"/>
                  </a:lnTo>
                  <a:close/>
                </a:path>
                <a:path w="85725" h="1946275">
                  <a:moveTo>
                    <a:pt x="46472" y="74858"/>
                  </a:moveTo>
                  <a:lnTo>
                    <a:pt x="38296" y="74858"/>
                  </a:lnTo>
                  <a:lnTo>
                    <a:pt x="33563" y="77439"/>
                  </a:lnTo>
                  <a:lnTo>
                    <a:pt x="30981" y="82817"/>
                  </a:lnTo>
                  <a:lnTo>
                    <a:pt x="30981" y="95819"/>
                  </a:lnTo>
                  <a:lnTo>
                    <a:pt x="41093" y="84968"/>
                  </a:lnTo>
                  <a:lnTo>
                    <a:pt x="51636" y="84968"/>
                  </a:lnTo>
                  <a:lnTo>
                    <a:pt x="51636" y="82817"/>
                  </a:lnTo>
                  <a:lnTo>
                    <a:pt x="49054" y="77439"/>
                  </a:lnTo>
                  <a:lnTo>
                    <a:pt x="46472" y="74858"/>
                  </a:lnTo>
                  <a:close/>
                </a:path>
                <a:path w="85725" h="1946275">
                  <a:moveTo>
                    <a:pt x="51636" y="84968"/>
                  </a:moveTo>
                  <a:lnTo>
                    <a:pt x="41093" y="84968"/>
                  </a:lnTo>
                  <a:lnTo>
                    <a:pt x="51636" y="95508"/>
                  </a:lnTo>
                  <a:lnTo>
                    <a:pt x="51636" y="84968"/>
                  </a:lnTo>
                  <a:close/>
                </a:path>
              </a:pathLst>
            </a:custGeom>
            <a:solidFill>
              <a:srgbClr val="000000"/>
            </a:solidFill>
          </p:spPr>
          <p:txBody>
            <a:bodyPr wrap="square" lIns="0" tIns="0" rIns="0" bIns="0" rtlCol="0"/>
            <a:lstStyle/>
            <a:p/>
          </p:txBody>
        </p:sp>
        <p:sp>
          <p:nvSpPr>
            <p:cNvPr id="19" name="object 19" descr=""/>
            <p:cNvSpPr/>
            <p:nvPr/>
          </p:nvSpPr>
          <p:spPr>
            <a:xfrm>
              <a:off x="3891296" y="3084359"/>
              <a:ext cx="85725" cy="1946275"/>
            </a:xfrm>
            <a:custGeom>
              <a:avLst/>
              <a:gdLst/>
              <a:ahLst/>
              <a:cxnLst/>
              <a:rect l="l" t="t" r="r" b="b"/>
              <a:pathLst>
                <a:path w="85725" h="1946275">
                  <a:moveTo>
                    <a:pt x="30981" y="1935557"/>
                  </a:moveTo>
                  <a:lnTo>
                    <a:pt x="30981" y="84968"/>
                  </a:lnTo>
                  <a:lnTo>
                    <a:pt x="30981" y="82817"/>
                  </a:lnTo>
                  <a:lnTo>
                    <a:pt x="33563" y="77439"/>
                  </a:lnTo>
                  <a:lnTo>
                    <a:pt x="38296" y="74858"/>
                  </a:lnTo>
                  <a:lnTo>
                    <a:pt x="41093" y="74858"/>
                  </a:lnTo>
                  <a:lnTo>
                    <a:pt x="46472" y="74858"/>
                  </a:lnTo>
                  <a:lnTo>
                    <a:pt x="51636" y="1935557"/>
                  </a:lnTo>
                  <a:lnTo>
                    <a:pt x="51636" y="1940333"/>
                  </a:lnTo>
                  <a:lnTo>
                    <a:pt x="49054" y="1942979"/>
                  </a:lnTo>
                  <a:lnTo>
                    <a:pt x="46472" y="1945646"/>
                  </a:lnTo>
                  <a:lnTo>
                    <a:pt x="41094" y="1945646"/>
                  </a:lnTo>
                  <a:lnTo>
                    <a:pt x="38297" y="1945646"/>
                  </a:lnTo>
                  <a:lnTo>
                    <a:pt x="33563" y="1942979"/>
                  </a:lnTo>
                  <a:lnTo>
                    <a:pt x="30981" y="1940333"/>
                  </a:lnTo>
                  <a:lnTo>
                    <a:pt x="30981" y="1935557"/>
                  </a:lnTo>
                  <a:close/>
                </a:path>
                <a:path w="85725" h="1946275">
                  <a:moveTo>
                    <a:pt x="41093" y="84968"/>
                  </a:moveTo>
                  <a:lnTo>
                    <a:pt x="0" y="129065"/>
                  </a:lnTo>
                  <a:lnTo>
                    <a:pt x="41093" y="0"/>
                  </a:lnTo>
                  <a:lnTo>
                    <a:pt x="85200" y="129065"/>
                  </a:lnTo>
                  <a:lnTo>
                    <a:pt x="41093" y="84968"/>
                  </a:lnTo>
                  <a:close/>
                </a:path>
              </a:pathLst>
            </a:custGeom>
            <a:ln w="3175">
              <a:solidFill>
                <a:srgbClr val="000000"/>
              </a:solidFill>
            </a:ln>
          </p:spPr>
          <p:txBody>
            <a:bodyPr wrap="square" lIns="0" tIns="0" rIns="0" bIns="0" rtlCol="0"/>
            <a:lstStyle/>
            <a:p/>
          </p:txBody>
        </p:sp>
      </p:grpSp>
      <p:sp>
        <p:nvSpPr>
          <p:cNvPr id="20" name="object 20" descr=""/>
          <p:cNvSpPr txBox="1"/>
          <p:nvPr/>
        </p:nvSpPr>
        <p:spPr>
          <a:xfrm>
            <a:off x="932009" y="3457756"/>
            <a:ext cx="419100" cy="259079"/>
          </a:xfrm>
          <a:prstGeom prst="rect">
            <a:avLst/>
          </a:prstGeom>
        </p:spPr>
        <p:txBody>
          <a:bodyPr wrap="square" lIns="0" tIns="16510" rIns="0" bIns="0" rtlCol="0" vert="horz">
            <a:spAutoFit/>
          </a:bodyPr>
          <a:lstStyle/>
          <a:p>
            <a:pPr marL="12700">
              <a:lnSpc>
                <a:spcPct val="100000"/>
              </a:lnSpc>
              <a:spcBef>
                <a:spcPts val="130"/>
              </a:spcBef>
            </a:pPr>
            <a:r>
              <a:rPr dirty="0" sz="1500" spc="-25">
                <a:solidFill>
                  <a:srgbClr val="0000FF"/>
                </a:solidFill>
                <a:latin typeface="宋体"/>
                <a:cs typeface="宋体"/>
              </a:rPr>
              <a:t>索引</a:t>
            </a:r>
            <a:endParaRPr sz="1500">
              <a:latin typeface="宋体"/>
              <a:cs typeface="宋体"/>
            </a:endParaRPr>
          </a:p>
        </p:txBody>
      </p:sp>
      <p:sp>
        <p:nvSpPr>
          <p:cNvPr id="21" name="object 21" descr=""/>
          <p:cNvSpPr txBox="1"/>
          <p:nvPr/>
        </p:nvSpPr>
        <p:spPr>
          <a:xfrm>
            <a:off x="3645156" y="2785968"/>
            <a:ext cx="563245" cy="259079"/>
          </a:xfrm>
          <a:prstGeom prst="rect">
            <a:avLst/>
          </a:prstGeom>
        </p:spPr>
        <p:txBody>
          <a:bodyPr wrap="square" lIns="0" tIns="16510" rIns="0" bIns="0" rtlCol="0" vert="horz">
            <a:spAutoFit/>
          </a:bodyPr>
          <a:lstStyle/>
          <a:p>
            <a:pPr marL="12700">
              <a:lnSpc>
                <a:spcPct val="100000"/>
              </a:lnSpc>
              <a:spcBef>
                <a:spcPts val="130"/>
              </a:spcBef>
            </a:pPr>
            <a:r>
              <a:rPr dirty="0" sz="1500" spc="-175">
                <a:solidFill>
                  <a:srgbClr val="0000FF"/>
                </a:solidFill>
                <a:latin typeface="宋体"/>
                <a:cs typeface="宋体"/>
              </a:rPr>
              <a:t>至 </a:t>
            </a:r>
            <a:r>
              <a:rPr dirty="0" sz="1500" spc="-25">
                <a:solidFill>
                  <a:srgbClr val="0000FF"/>
                </a:solidFill>
                <a:latin typeface="宋体"/>
                <a:cs typeface="宋体"/>
              </a:rPr>
              <a:t>CPU</a:t>
            </a:r>
            <a:endParaRPr sz="1500">
              <a:latin typeface="宋体"/>
              <a:cs typeface="宋体"/>
            </a:endParaRPr>
          </a:p>
        </p:txBody>
      </p:sp>
      <p:sp>
        <p:nvSpPr>
          <p:cNvPr id="22" name="object 22" descr=""/>
          <p:cNvSpPr txBox="1"/>
          <p:nvPr/>
        </p:nvSpPr>
        <p:spPr>
          <a:xfrm>
            <a:off x="4027911" y="3421617"/>
            <a:ext cx="1536700" cy="259079"/>
          </a:xfrm>
          <a:prstGeom prst="rect">
            <a:avLst/>
          </a:prstGeom>
        </p:spPr>
        <p:txBody>
          <a:bodyPr wrap="square" lIns="0" tIns="16510" rIns="0" bIns="0" rtlCol="0" vert="horz">
            <a:spAutoFit/>
          </a:bodyPr>
          <a:lstStyle/>
          <a:p>
            <a:pPr marL="12700">
              <a:lnSpc>
                <a:spcPct val="100000"/>
              </a:lnSpc>
              <a:spcBef>
                <a:spcPts val="130"/>
              </a:spcBef>
            </a:pPr>
            <a:r>
              <a:rPr dirty="0" sz="1500" spc="65">
                <a:solidFill>
                  <a:srgbClr val="0000FF"/>
                </a:solidFill>
                <a:latin typeface="宋体"/>
                <a:cs typeface="宋体"/>
              </a:rPr>
              <a:t>取出数据送往</a:t>
            </a:r>
            <a:r>
              <a:rPr dirty="0" sz="1500" spc="-25">
                <a:solidFill>
                  <a:srgbClr val="0000FF"/>
                </a:solidFill>
                <a:latin typeface="宋体"/>
                <a:cs typeface="宋体"/>
              </a:rPr>
              <a:t>CPU</a:t>
            </a:r>
            <a:endParaRPr sz="1500">
              <a:latin typeface="宋体"/>
              <a:cs typeface="宋体"/>
            </a:endParaRPr>
          </a:p>
        </p:txBody>
      </p:sp>
      <p:sp>
        <p:nvSpPr>
          <p:cNvPr id="23" name="object 23" descr=""/>
          <p:cNvSpPr txBox="1"/>
          <p:nvPr/>
        </p:nvSpPr>
        <p:spPr>
          <a:xfrm>
            <a:off x="4570309" y="4217803"/>
            <a:ext cx="804545" cy="259079"/>
          </a:xfrm>
          <a:prstGeom prst="rect">
            <a:avLst/>
          </a:prstGeom>
        </p:spPr>
        <p:txBody>
          <a:bodyPr wrap="square" lIns="0" tIns="16510" rIns="0" bIns="0" rtlCol="0" vert="horz">
            <a:spAutoFit/>
          </a:bodyPr>
          <a:lstStyle/>
          <a:p>
            <a:pPr marL="12700">
              <a:lnSpc>
                <a:spcPct val="100000"/>
              </a:lnSpc>
              <a:spcBef>
                <a:spcPts val="130"/>
              </a:spcBef>
            </a:pPr>
            <a:r>
              <a:rPr dirty="0" sz="1500" spc="-15">
                <a:solidFill>
                  <a:srgbClr val="FF0000"/>
                </a:solidFill>
                <a:latin typeface="宋体"/>
                <a:cs typeface="宋体"/>
              </a:rPr>
              <a:t>伪相联组</a:t>
            </a:r>
            <a:endParaRPr sz="1500">
              <a:latin typeface="宋体"/>
              <a:cs typeface="宋体"/>
            </a:endParaRPr>
          </a:p>
        </p:txBody>
      </p:sp>
      <p:sp>
        <p:nvSpPr>
          <p:cNvPr id="24" name="object 24" descr=""/>
          <p:cNvSpPr/>
          <p:nvPr/>
        </p:nvSpPr>
        <p:spPr>
          <a:xfrm>
            <a:off x="2143810" y="3473729"/>
            <a:ext cx="1243330" cy="2217420"/>
          </a:xfrm>
          <a:custGeom>
            <a:avLst/>
            <a:gdLst/>
            <a:ahLst/>
            <a:cxnLst/>
            <a:rect l="l" t="t" r="r" b="b"/>
            <a:pathLst>
              <a:path w="1243329" h="2217420">
                <a:moveTo>
                  <a:pt x="1242733" y="2201862"/>
                </a:moveTo>
                <a:lnTo>
                  <a:pt x="0" y="2201862"/>
                </a:lnTo>
                <a:lnTo>
                  <a:pt x="0" y="2217318"/>
                </a:lnTo>
                <a:lnTo>
                  <a:pt x="1242733" y="2217318"/>
                </a:lnTo>
                <a:lnTo>
                  <a:pt x="1242733" y="2201862"/>
                </a:lnTo>
                <a:close/>
              </a:path>
              <a:path w="1243329" h="2217420">
                <a:moveTo>
                  <a:pt x="1242733" y="1702981"/>
                </a:moveTo>
                <a:lnTo>
                  <a:pt x="0" y="1702981"/>
                </a:lnTo>
                <a:lnTo>
                  <a:pt x="0" y="1718437"/>
                </a:lnTo>
                <a:lnTo>
                  <a:pt x="1242733" y="1718437"/>
                </a:lnTo>
                <a:lnTo>
                  <a:pt x="1242733" y="1702981"/>
                </a:lnTo>
                <a:close/>
              </a:path>
              <a:path w="1243329" h="2217420">
                <a:moveTo>
                  <a:pt x="1242733" y="1400479"/>
                </a:moveTo>
                <a:lnTo>
                  <a:pt x="0" y="1400479"/>
                </a:lnTo>
                <a:lnTo>
                  <a:pt x="0" y="1415923"/>
                </a:lnTo>
                <a:lnTo>
                  <a:pt x="1242733" y="1415923"/>
                </a:lnTo>
                <a:lnTo>
                  <a:pt x="1242733" y="1400479"/>
                </a:lnTo>
                <a:close/>
              </a:path>
              <a:path w="1243329" h="2217420">
                <a:moveTo>
                  <a:pt x="1242733" y="1101153"/>
                </a:moveTo>
                <a:lnTo>
                  <a:pt x="0" y="1101153"/>
                </a:lnTo>
                <a:lnTo>
                  <a:pt x="0" y="1116596"/>
                </a:lnTo>
                <a:lnTo>
                  <a:pt x="1242733" y="1116596"/>
                </a:lnTo>
                <a:lnTo>
                  <a:pt x="1242733" y="1101153"/>
                </a:lnTo>
                <a:close/>
              </a:path>
              <a:path w="1243329" h="2217420">
                <a:moveTo>
                  <a:pt x="1242733" y="801306"/>
                </a:moveTo>
                <a:lnTo>
                  <a:pt x="0" y="801306"/>
                </a:lnTo>
                <a:lnTo>
                  <a:pt x="0" y="816762"/>
                </a:lnTo>
                <a:lnTo>
                  <a:pt x="1242733" y="816762"/>
                </a:lnTo>
                <a:lnTo>
                  <a:pt x="1242733" y="801306"/>
                </a:lnTo>
                <a:close/>
              </a:path>
              <a:path w="1243329" h="2217420">
                <a:moveTo>
                  <a:pt x="1242733" y="0"/>
                </a:moveTo>
                <a:lnTo>
                  <a:pt x="0" y="0"/>
                </a:lnTo>
                <a:lnTo>
                  <a:pt x="0" y="15455"/>
                </a:lnTo>
                <a:lnTo>
                  <a:pt x="1242733" y="15455"/>
                </a:lnTo>
                <a:lnTo>
                  <a:pt x="1242733" y="0"/>
                </a:lnTo>
                <a:close/>
              </a:path>
            </a:pathLst>
          </a:custGeom>
          <a:solidFill>
            <a:srgbClr val="000000"/>
          </a:solidFill>
        </p:spPr>
        <p:txBody>
          <a:bodyPr wrap="square" lIns="0" tIns="0" rIns="0" bIns="0" rtlCol="0"/>
          <a:lstStyle/>
          <a:p/>
        </p:txBody>
      </p:sp>
      <p:sp>
        <p:nvSpPr>
          <p:cNvPr id="25" name="object 25" descr=""/>
          <p:cNvSpPr txBox="1"/>
          <p:nvPr/>
        </p:nvSpPr>
        <p:spPr>
          <a:xfrm>
            <a:off x="2143813" y="3781315"/>
            <a:ext cx="1243330" cy="501650"/>
          </a:xfrm>
          <a:prstGeom prst="rect">
            <a:avLst/>
          </a:prstGeom>
          <a:solidFill>
            <a:srgbClr val="FFFF99"/>
          </a:solidFill>
          <a:ln w="15454">
            <a:solidFill>
              <a:srgbClr val="000000"/>
            </a:solidFill>
          </a:ln>
        </p:spPr>
        <p:txBody>
          <a:bodyPr wrap="square" lIns="0" tIns="111760" rIns="0" bIns="0" rtlCol="0" vert="horz">
            <a:spAutoFit/>
          </a:bodyPr>
          <a:lstStyle/>
          <a:p>
            <a:pPr algn="ctr" marR="22225">
              <a:lnSpc>
                <a:spcPct val="100000"/>
              </a:lnSpc>
              <a:spcBef>
                <a:spcPts val="880"/>
              </a:spcBef>
            </a:pPr>
            <a:r>
              <a:rPr dirty="0" sz="1800" spc="-50">
                <a:latin typeface="宋体"/>
                <a:cs typeface="宋体"/>
              </a:rPr>
              <a:t>…</a:t>
            </a:r>
            <a:endParaRPr sz="1800">
              <a:latin typeface="宋体"/>
              <a:cs typeface="宋体"/>
            </a:endParaRPr>
          </a:p>
        </p:txBody>
      </p:sp>
      <p:sp>
        <p:nvSpPr>
          <p:cNvPr id="26" name="object 26" descr=""/>
          <p:cNvSpPr txBox="1"/>
          <p:nvPr/>
        </p:nvSpPr>
        <p:spPr>
          <a:xfrm>
            <a:off x="2623358" y="5284473"/>
            <a:ext cx="254000" cy="299085"/>
          </a:xfrm>
          <a:prstGeom prst="rect">
            <a:avLst/>
          </a:prstGeom>
        </p:spPr>
        <p:txBody>
          <a:bodyPr wrap="square" lIns="0" tIns="12065" rIns="0" bIns="0" rtlCol="0" vert="horz">
            <a:spAutoFit/>
          </a:bodyPr>
          <a:lstStyle/>
          <a:p>
            <a:pPr marL="12700">
              <a:lnSpc>
                <a:spcPct val="100000"/>
              </a:lnSpc>
              <a:spcBef>
                <a:spcPts val="95"/>
              </a:spcBef>
            </a:pPr>
            <a:r>
              <a:rPr dirty="0" sz="1800" spc="-50">
                <a:latin typeface="宋体"/>
                <a:cs typeface="宋体"/>
              </a:rPr>
              <a:t>…</a:t>
            </a:r>
            <a:endParaRPr sz="1800">
              <a:latin typeface="宋体"/>
              <a:cs typeface="宋体"/>
            </a:endParaRPr>
          </a:p>
        </p:txBody>
      </p:sp>
      <p:grpSp>
        <p:nvGrpSpPr>
          <p:cNvPr id="27" name="object 27" descr=""/>
          <p:cNvGrpSpPr/>
          <p:nvPr/>
        </p:nvGrpSpPr>
        <p:grpSpPr>
          <a:xfrm>
            <a:off x="1458017" y="3607291"/>
            <a:ext cx="3117215" cy="1522730"/>
            <a:chOff x="1458017" y="3607291"/>
            <a:chExt cx="3117215" cy="1522730"/>
          </a:xfrm>
        </p:grpSpPr>
        <p:sp>
          <p:nvSpPr>
            <p:cNvPr id="28" name="object 28" descr=""/>
            <p:cNvSpPr/>
            <p:nvPr/>
          </p:nvSpPr>
          <p:spPr>
            <a:xfrm>
              <a:off x="1459523" y="4577824"/>
              <a:ext cx="2667000" cy="15875"/>
            </a:xfrm>
            <a:custGeom>
              <a:avLst/>
              <a:gdLst/>
              <a:ahLst/>
              <a:cxnLst/>
              <a:rect l="l" t="t" r="r" b="b"/>
              <a:pathLst>
                <a:path w="2667000" h="15875">
                  <a:moveTo>
                    <a:pt x="59166" y="0"/>
                  </a:moveTo>
                  <a:lnTo>
                    <a:pt x="5335" y="0"/>
                  </a:lnTo>
                  <a:lnTo>
                    <a:pt x="2667" y="2667"/>
                  </a:lnTo>
                  <a:lnTo>
                    <a:pt x="2667" y="5313"/>
                  </a:lnTo>
                  <a:lnTo>
                    <a:pt x="0" y="7959"/>
                  </a:lnTo>
                  <a:lnTo>
                    <a:pt x="2667" y="10088"/>
                  </a:lnTo>
                  <a:lnTo>
                    <a:pt x="2667" y="12734"/>
                  </a:lnTo>
                  <a:lnTo>
                    <a:pt x="5335" y="15401"/>
                  </a:lnTo>
                  <a:lnTo>
                    <a:pt x="59166" y="15401"/>
                  </a:lnTo>
                  <a:lnTo>
                    <a:pt x="64480" y="10088"/>
                  </a:lnTo>
                  <a:lnTo>
                    <a:pt x="64480" y="5313"/>
                  </a:lnTo>
                  <a:lnTo>
                    <a:pt x="59166" y="0"/>
                  </a:lnTo>
                  <a:close/>
                </a:path>
                <a:path w="2667000" h="15875">
                  <a:moveTo>
                    <a:pt x="173218" y="0"/>
                  </a:moveTo>
                  <a:lnTo>
                    <a:pt x="118849" y="0"/>
                  </a:lnTo>
                  <a:lnTo>
                    <a:pt x="113514" y="5313"/>
                  </a:lnTo>
                  <a:lnTo>
                    <a:pt x="113514" y="10088"/>
                  </a:lnTo>
                  <a:lnTo>
                    <a:pt x="118849" y="15401"/>
                  </a:lnTo>
                  <a:lnTo>
                    <a:pt x="173218" y="15401"/>
                  </a:lnTo>
                  <a:lnTo>
                    <a:pt x="175864" y="12734"/>
                  </a:lnTo>
                  <a:lnTo>
                    <a:pt x="177994" y="10088"/>
                  </a:lnTo>
                  <a:lnTo>
                    <a:pt x="177994" y="5313"/>
                  </a:lnTo>
                  <a:lnTo>
                    <a:pt x="175864" y="2667"/>
                  </a:lnTo>
                  <a:lnTo>
                    <a:pt x="173218" y="0"/>
                  </a:lnTo>
                  <a:close/>
                </a:path>
                <a:path w="2667000" h="15875">
                  <a:moveTo>
                    <a:pt x="286732" y="0"/>
                  </a:moveTo>
                  <a:lnTo>
                    <a:pt x="232363" y="0"/>
                  </a:lnTo>
                  <a:lnTo>
                    <a:pt x="229695" y="2667"/>
                  </a:lnTo>
                  <a:lnTo>
                    <a:pt x="227565" y="5313"/>
                  </a:lnTo>
                  <a:lnTo>
                    <a:pt x="227565" y="10088"/>
                  </a:lnTo>
                  <a:lnTo>
                    <a:pt x="229695" y="12734"/>
                  </a:lnTo>
                  <a:lnTo>
                    <a:pt x="232363" y="15401"/>
                  </a:lnTo>
                  <a:lnTo>
                    <a:pt x="286732" y="15401"/>
                  </a:lnTo>
                  <a:lnTo>
                    <a:pt x="289378" y="12734"/>
                  </a:lnTo>
                  <a:lnTo>
                    <a:pt x="292046" y="10088"/>
                  </a:lnTo>
                  <a:lnTo>
                    <a:pt x="292046" y="5313"/>
                  </a:lnTo>
                  <a:lnTo>
                    <a:pt x="289378" y="2667"/>
                  </a:lnTo>
                  <a:lnTo>
                    <a:pt x="286732" y="0"/>
                  </a:lnTo>
                  <a:close/>
                </a:path>
                <a:path w="2667000" h="15875">
                  <a:moveTo>
                    <a:pt x="400246" y="0"/>
                  </a:moveTo>
                  <a:lnTo>
                    <a:pt x="346415" y="0"/>
                  </a:lnTo>
                  <a:lnTo>
                    <a:pt x="341079" y="5313"/>
                  </a:lnTo>
                  <a:lnTo>
                    <a:pt x="341079" y="10088"/>
                  </a:lnTo>
                  <a:lnTo>
                    <a:pt x="346415" y="15401"/>
                  </a:lnTo>
                  <a:lnTo>
                    <a:pt x="400246" y="15401"/>
                  </a:lnTo>
                  <a:lnTo>
                    <a:pt x="402914" y="12734"/>
                  </a:lnTo>
                  <a:lnTo>
                    <a:pt x="402914" y="10088"/>
                  </a:lnTo>
                  <a:lnTo>
                    <a:pt x="405560" y="7959"/>
                  </a:lnTo>
                  <a:lnTo>
                    <a:pt x="402914" y="5313"/>
                  </a:lnTo>
                  <a:lnTo>
                    <a:pt x="402914" y="2667"/>
                  </a:lnTo>
                  <a:lnTo>
                    <a:pt x="400246" y="0"/>
                  </a:lnTo>
                  <a:close/>
                </a:path>
                <a:path w="2667000" h="15875">
                  <a:moveTo>
                    <a:pt x="511630" y="0"/>
                  </a:moveTo>
                  <a:lnTo>
                    <a:pt x="457261" y="0"/>
                  </a:lnTo>
                  <a:lnTo>
                    <a:pt x="454593" y="2667"/>
                  </a:lnTo>
                  <a:lnTo>
                    <a:pt x="454593" y="5313"/>
                  </a:lnTo>
                  <a:lnTo>
                    <a:pt x="451926" y="7959"/>
                  </a:lnTo>
                  <a:lnTo>
                    <a:pt x="454593" y="10088"/>
                  </a:lnTo>
                  <a:lnTo>
                    <a:pt x="454593" y="12734"/>
                  </a:lnTo>
                  <a:lnTo>
                    <a:pt x="457261" y="15401"/>
                  </a:lnTo>
                  <a:lnTo>
                    <a:pt x="511630" y="15401"/>
                  </a:lnTo>
                  <a:lnTo>
                    <a:pt x="516944" y="10088"/>
                  </a:lnTo>
                  <a:lnTo>
                    <a:pt x="516944" y="5313"/>
                  </a:lnTo>
                  <a:lnTo>
                    <a:pt x="511630" y="0"/>
                  </a:lnTo>
                  <a:close/>
                </a:path>
                <a:path w="2667000" h="15875">
                  <a:moveTo>
                    <a:pt x="625144" y="0"/>
                  </a:moveTo>
                  <a:lnTo>
                    <a:pt x="570775" y="0"/>
                  </a:lnTo>
                  <a:lnTo>
                    <a:pt x="568645" y="2667"/>
                  </a:lnTo>
                  <a:lnTo>
                    <a:pt x="565977" y="5313"/>
                  </a:lnTo>
                  <a:lnTo>
                    <a:pt x="565977" y="10088"/>
                  </a:lnTo>
                  <a:lnTo>
                    <a:pt x="568645" y="12734"/>
                  </a:lnTo>
                  <a:lnTo>
                    <a:pt x="570775" y="15401"/>
                  </a:lnTo>
                  <a:lnTo>
                    <a:pt x="625144" y="15401"/>
                  </a:lnTo>
                  <a:lnTo>
                    <a:pt x="630480" y="10088"/>
                  </a:lnTo>
                  <a:lnTo>
                    <a:pt x="630480" y="5313"/>
                  </a:lnTo>
                  <a:lnTo>
                    <a:pt x="625144" y="0"/>
                  </a:lnTo>
                  <a:close/>
                </a:path>
                <a:path w="2667000" h="15875">
                  <a:moveTo>
                    <a:pt x="739196" y="0"/>
                  </a:moveTo>
                  <a:lnTo>
                    <a:pt x="684827" y="0"/>
                  </a:lnTo>
                  <a:lnTo>
                    <a:pt x="679491" y="5313"/>
                  </a:lnTo>
                  <a:lnTo>
                    <a:pt x="679491" y="10088"/>
                  </a:lnTo>
                  <a:lnTo>
                    <a:pt x="684827" y="15401"/>
                  </a:lnTo>
                  <a:lnTo>
                    <a:pt x="739196" y="15401"/>
                  </a:lnTo>
                  <a:lnTo>
                    <a:pt x="741864" y="12734"/>
                  </a:lnTo>
                  <a:lnTo>
                    <a:pt x="743994" y="10088"/>
                  </a:lnTo>
                  <a:lnTo>
                    <a:pt x="743994" y="5313"/>
                  </a:lnTo>
                  <a:lnTo>
                    <a:pt x="741864" y="2667"/>
                  </a:lnTo>
                  <a:lnTo>
                    <a:pt x="739196" y="0"/>
                  </a:lnTo>
                  <a:close/>
                </a:path>
                <a:path w="2667000" h="15875">
                  <a:moveTo>
                    <a:pt x="852710" y="0"/>
                  </a:moveTo>
                  <a:lnTo>
                    <a:pt x="798341" y="0"/>
                  </a:lnTo>
                  <a:lnTo>
                    <a:pt x="793005" y="5313"/>
                  </a:lnTo>
                  <a:lnTo>
                    <a:pt x="793005" y="10088"/>
                  </a:lnTo>
                  <a:lnTo>
                    <a:pt x="798341" y="15401"/>
                  </a:lnTo>
                  <a:lnTo>
                    <a:pt x="852710" y="15401"/>
                  </a:lnTo>
                  <a:lnTo>
                    <a:pt x="855378" y="12734"/>
                  </a:lnTo>
                  <a:lnTo>
                    <a:pt x="855378" y="10088"/>
                  </a:lnTo>
                  <a:lnTo>
                    <a:pt x="858024" y="7959"/>
                  </a:lnTo>
                  <a:lnTo>
                    <a:pt x="855378" y="5313"/>
                  </a:lnTo>
                  <a:lnTo>
                    <a:pt x="855378" y="2667"/>
                  </a:lnTo>
                  <a:lnTo>
                    <a:pt x="852710" y="0"/>
                  </a:lnTo>
                  <a:close/>
                </a:path>
                <a:path w="2667000" h="15875">
                  <a:moveTo>
                    <a:pt x="964094" y="0"/>
                  </a:moveTo>
                  <a:lnTo>
                    <a:pt x="909725" y="0"/>
                  </a:lnTo>
                  <a:lnTo>
                    <a:pt x="907057" y="2667"/>
                  </a:lnTo>
                  <a:lnTo>
                    <a:pt x="907057" y="5313"/>
                  </a:lnTo>
                  <a:lnTo>
                    <a:pt x="904389" y="7959"/>
                  </a:lnTo>
                  <a:lnTo>
                    <a:pt x="907057" y="10088"/>
                  </a:lnTo>
                  <a:lnTo>
                    <a:pt x="907057" y="12734"/>
                  </a:lnTo>
                  <a:lnTo>
                    <a:pt x="909725" y="15401"/>
                  </a:lnTo>
                  <a:lnTo>
                    <a:pt x="964094" y="15401"/>
                  </a:lnTo>
                  <a:lnTo>
                    <a:pt x="966224" y="12734"/>
                  </a:lnTo>
                  <a:lnTo>
                    <a:pt x="968892" y="10088"/>
                  </a:lnTo>
                  <a:lnTo>
                    <a:pt x="968892" y="5313"/>
                  </a:lnTo>
                  <a:lnTo>
                    <a:pt x="966224" y="2667"/>
                  </a:lnTo>
                  <a:lnTo>
                    <a:pt x="964094" y="0"/>
                  </a:lnTo>
                  <a:close/>
                </a:path>
                <a:path w="2667000" h="15875">
                  <a:moveTo>
                    <a:pt x="1077608" y="0"/>
                  </a:moveTo>
                  <a:lnTo>
                    <a:pt x="1023239" y="0"/>
                  </a:lnTo>
                  <a:lnTo>
                    <a:pt x="1017925" y="5313"/>
                  </a:lnTo>
                  <a:lnTo>
                    <a:pt x="1017925" y="10088"/>
                  </a:lnTo>
                  <a:lnTo>
                    <a:pt x="1023239" y="15401"/>
                  </a:lnTo>
                  <a:lnTo>
                    <a:pt x="1077608" y="15401"/>
                  </a:lnTo>
                  <a:lnTo>
                    <a:pt x="1082944" y="10088"/>
                  </a:lnTo>
                  <a:lnTo>
                    <a:pt x="1082944" y="5313"/>
                  </a:lnTo>
                  <a:lnTo>
                    <a:pt x="1077608" y="0"/>
                  </a:lnTo>
                  <a:close/>
                </a:path>
                <a:path w="2667000" h="15875">
                  <a:moveTo>
                    <a:pt x="1191122" y="0"/>
                  </a:moveTo>
                  <a:lnTo>
                    <a:pt x="1136753" y="0"/>
                  </a:lnTo>
                  <a:lnTo>
                    <a:pt x="1134623" y="2667"/>
                  </a:lnTo>
                  <a:lnTo>
                    <a:pt x="1131955" y="5313"/>
                  </a:lnTo>
                  <a:lnTo>
                    <a:pt x="1131955" y="10088"/>
                  </a:lnTo>
                  <a:lnTo>
                    <a:pt x="1134623" y="12734"/>
                  </a:lnTo>
                  <a:lnTo>
                    <a:pt x="1136753" y="15401"/>
                  </a:lnTo>
                  <a:lnTo>
                    <a:pt x="1191122" y="15401"/>
                  </a:lnTo>
                  <a:lnTo>
                    <a:pt x="1196458" y="10088"/>
                  </a:lnTo>
                  <a:lnTo>
                    <a:pt x="1196458" y="5313"/>
                  </a:lnTo>
                  <a:lnTo>
                    <a:pt x="1191122" y="0"/>
                  </a:lnTo>
                  <a:close/>
                </a:path>
                <a:path w="2667000" h="15875">
                  <a:moveTo>
                    <a:pt x="1305174" y="0"/>
                  </a:moveTo>
                  <a:lnTo>
                    <a:pt x="1250805" y="0"/>
                  </a:lnTo>
                  <a:lnTo>
                    <a:pt x="1245469" y="5313"/>
                  </a:lnTo>
                  <a:lnTo>
                    <a:pt x="1245469" y="10088"/>
                  </a:lnTo>
                  <a:lnTo>
                    <a:pt x="1250805" y="15401"/>
                  </a:lnTo>
                  <a:lnTo>
                    <a:pt x="1305174" y="15401"/>
                  </a:lnTo>
                  <a:lnTo>
                    <a:pt x="1307304" y="12734"/>
                  </a:lnTo>
                  <a:lnTo>
                    <a:pt x="1307304" y="10088"/>
                  </a:lnTo>
                  <a:lnTo>
                    <a:pt x="1309972" y="7959"/>
                  </a:lnTo>
                  <a:lnTo>
                    <a:pt x="1307304" y="5313"/>
                  </a:lnTo>
                  <a:lnTo>
                    <a:pt x="1307304" y="2667"/>
                  </a:lnTo>
                  <a:lnTo>
                    <a:pt x="1305174" y="0"/>
                  </a:lnTo>
                  <a:close/>
                </a:path>
                <a:path w="2667000" h="15875">
                  <a:moveTo>
                    <a:pt x="1416020" y="0"/>
                  </a:moveTo>
                  <a:lnTo>
                    <a:pt x="1361651" y="0"/>
                  </a:lnTo>
                  <a:lnTo>
                    <a:pt x="1359005" y="2667"/>
                  </a:lnTo>
                  <a:lnTo>
                    <a:pt x="1359005" y="5313"/>
                  </a:lnTo>
                  <a:lnTo>
                    <a:pt x="1356853" y="7959"/>
                  </a:lnTo>
                  <a:lnTo>
                    <a:pt x="1359005" y="10088"/>
                  </a:lnTo>
                  <a:lnTo>
                    <a:pt x="1359005" y="12734"/>
                  </a:lnTo>
                  <a:lnTo>
                    <a:pt x="1361651" y="15401"/>
                  </a:lnTo>
                  <a:lnTo>
                    <a:pt x="1416020" y="15401"/>
                  </a:lnTo>
                  <a:lnTo>
                    <a:pt x="1421356" y="10088"/>
                  </a:lnTo>
                  <a:lnTo>
                    <a:pt x="1421356" y="5313"/>
                  </a:lnTo>
                  <a:lnTo>
                    <a:pt x="1416020" y="0"/>
                  </a:lnTo>
                  <a:close/>
                </a:path>
                <a:path w="2667000" h="15875">
                  <a:moveTo>
                    <a:pt x="1529534" y="0"/>
                  </a:moveTo>
                  <a:lnTo>
                    <a:pt x="1475703" y="0"/>
                  </a:lnTo>
                  <a:lnTo>
                    <a:pt x="1470389" y="5313"/>
                  </a:lnTo>
                  <a:lnTo>
                    <a:pt x="1470389" y="10088"/>
                  </a:lnTo>
                  <a:lnTo>
                    <a:pt x="1475703" y="15401"/>
                  </a:lnTo>
                  <a:lnTo>
                    <a:pt x="1529534" y="15401"/>
                  </a:lnTo>
                  <a:lnTo>
                    <a:pt x="1534870" y="10088"/>
                  </a:lnTo>
                  <a:lnTo>
                    <a:pt x="1534870" y="5313"/>
                  </a:lnTo>
                  <a:lnTo>
                    <a:pt x="1529534" y="0"/>
                  </a:lnTo>
                  <a:close/>
                </a:path>
                <a:path w="2667000" h="15875">
                  <a:moveTo>
                    <a:pt x="1643672" y="0"/>
                  </a:moveTo>
                  <a:lnTo>
                    <a:pt x="1589217" y="0"/>
                  </a:lnTo>
                  <a:lnTo>
                    <a:pt x="1586571" y="2667"/>
                  </a:lnTo>
                  <a:lnTo>
                    <a:pt x="1583903" y="5313"/>
                  </a:lnTo>
                  <a:lnTo>
                    <a:pt x="1583903" y="10088"/>
                  </a:lnTo>
                  <a:lnTo>
                    <a:pt x="1586571" y="12734"/>
                  </a:lnTo>
                  <a:lnTo>
                    <a:pt x="1589217" y="15401"/>
                  </a:lnTo>
                  <a:lnTo>
                    <a:pt x="1643672" y="15401"/>
                  </a:lnTo>
                  <a:lnTo>
                    <a:pt x="1646254" y="12734"/>
                  </a:lnTo>
                  <a:lnTo>
                    <a:pt x="1648405" y="10088"/>
                  </a:lnTo>
                  <a:lnTo>
                    <a:pt x="1648405" y="5313"/>
                  </a:lnTo>
                  <a:lnTo>
                    <a:pt x="1646254" y="2667"/>
                  </a:lnTo>
                  <a:lnTo>
                    <a:pt x="1643672" y="0"/>
                  </a:lnTo>
                  <a:close/>
                </a:path>
                <a:path w="2667000" h="15875">
                  <a:moveTo>
                    <a:pt x="1757057" y="0"/>
                  </a:moveTo>
                  <a:lnTo>
                    <a:pt x="1702839" y="0"/>
                  </a:lnTo>
                  <a:lnTo>
                    <a:pt x="1700042" y="2667"/>
                  </a:lnTo>
                  <a:lnTo>
                    <a:pt x="1697890" y="5313"/>
                  </a:lnTo>
                  <a:lnTo>
                    <a:pt x="1697890" y="10088"/>
                  </a:lnTo>
                  <a:lnTo>
                    <a:pt x="1700042" y="12734"/>
                  </a:lnTo>
                  <a:lnTo>
                    <a:pt x="1702839" y="15401"/>
                  </a:lnTo>
                  <a:lnTo>
                    <a:pt x="1757057" y="15401"/>
                  </a:lnTo>
                  <a:lnTo>
                    <a:pt x="1759854" y="12734"/>
                  </a:lnTo>
                  <a:lnTo>
                    <a:pt x="1759854" y="10088"/>
                  </a:lnTo>
                  <a:lnTo>
                    <a:pt x="1762436" y="7959"/>
                  </a:lnTo>
                  <a:lnTo>
                    <a:pt x="1759854" y="5313"/>
                  </a:lnTo>
                  <a:lnTo>
                    <a:pt x="1759854" y="2667"/>
                  </a:lnTo>
                  <a:lnTo>
                    <a:pt x="1757057" y="0"/>
                  </a:lnTo>
                  <a:close/>
                </a:path>
                <a:path w="2667000" h="15875">
                  <a:moveTo>
                    <a:pt x="1868506" y="0"/>
                  </a:moveTo>
                  <a:lnTo>
                    <a:pt x="1814072" y="0"/>
                  </a:lnTo>
                  <a:lnTo>
                    <a:pt x="1811490" y="2667"/>
                  </a:lnTo>
                  <a:lnTo>
                    <a:pt x="1811490" y="5313"/>
                  </a:lnTo>
                  <a:lnTo>
                    <a:pt x="1808693" y="7959"/>
                  </a:lnTo>
                  <a:lnTo>
                    <a:pt x="1811490" y="10088"/>
                  </a:lnTo>
                  <a:lnTo>
                    <a:pt x="1811490" y="12734"/>
                  </a:lnTo>
                  <a:lnTo>
                    <a:pt x="1814072" y="15401"/>
                  </a:lnTo>
                  <a:lnTo>
                    <a:pt x="1868506" y="15401"/>
                  </a:lnTo>
                  <a:lnTo>
                    <a:pt x="1870657" y="12734"/>
                  </a:lnTo>
                  <a:lnTo>
                    <a:pt x="1873239" y="10088"/>
                  </a:lnTo>
                  <a:lnTo>
                    <a:pt x="1873239" y="5313"/>
                  </a:lnTo>
                  <a:lnTo>
                    <a:pt x="1870657" y="2667"/>
                  </a:lnTo>
                  <a:lnTo>
                    <a:pt x="1868506" y="0"/>
                  </a:lnTo>
                  <a:close/>
                </a:path>
                <a:path w="2667000" h="15875">
                  <a:moveTo>
                    <a:pt x="1982106" y="0"/>
                  </a:moveTo>
                  <a:lnTo>
                    <a:pt x="1927672" y="0"/>
                  </a:lnTo>
                  <a:lnTo>
                    <a:pt x="1924875" y="2667"/>
                  </a:lnTo>
                  <a:lnTo>
                    <a:pt x="1922294" y="5313"/>
                  </a:lnTo>
                  <a:lnTo>
                    <a:pt x="1922294" y="10088"/>
                  </a:lnTo>
                  <a:lnTo>
                    <a:pt x="1924875" y="12734"/>
                  </a:lnTo>
                  <a:lnTo>
                    <a:pt x="1927672" y="15401"/>
                  </a:lnTo>
                  <a:lnTo>
                    <a:pt x="1982106" y="15401"/>
                  </a:lnTo>
                  <a:lnTo>
                    <a:pt x="1987269" y="10088"/>
                  </a:lnTo>
                  <a:lnTo>
                    <a:pt x="1987269" y="5313"/>
                  </a:lnTo>
                  <a:lnTo>
                    <a:pt x="1982106" y="0"/>
                  </a:lnTo>
                  <a:close/>
                </a:path>
                <a:path w="2667000" h="15875">
                  <a:moveTo>
                    <a:pt x="2095491" y="0"/>
                  </a:moveTo>
                  <a:lnTo>
                    <a:pt x="2041057" y="0"/>
                  </a:lnTo>
                  <a:lnTo>
                    <a:pt x="2039121" y="2667"/>
                  </a:lnTo>
                  <a:lnTo>
                    <a:pt x="2036324" y="5313"/>
                  </a:lnTo>
                  <a:lnTo>
                    <a:pt x="2036324" y="10088"/>
                  </a:lnTo>
                  <a:lnTo>
                    <a:pt x="2039121" y="12734"/>
                  </a:lnTo>
                  <a:lnTo>
                    <a:pt x="2041057" y="15401"/>
                  </a:lnTo>
                  <a:lnTo>
                    <a:pt x="2095491" y="15401"/>
                  </a:lnTo>
                  <a:lnTo>
                    <a:pt x="2098288" y="12734"/>
                  </a:lnTo>
                  <a:lnTo>
                    <a:pt x="2100869" y="10088"/>
                  </a:lnTo>
                  <a:lnTo>
                    <a:pt x="2100869" y="5313"/>
                  </a:lnTo>
                  <a:lnTo>
                    <a:pt x="2098288" y="2667"/>
                  </a:lnTo>
                  <a:lnTo>
                    <a:pt x="2095491" y="0"/>
                  </a:lnTo>
                  <a:close/>
                </a:path>
                <a:path w="2667000" h="15875">
                  <a:moveTo>
                    <a:pt x="2209521" y="0"/>
                  </a:moveTo>
                  <a:lnTo>
                    <a:pt x="2155303" y="0"/>
                  </a:lnTo>
                  <a:lnTo>
                    <a:pt x="2152506" y="2667"/>
                  </a:lnTo>
                  <a:lnTo>
                    <a:pt x="2149924" y="5313"/>
                  </a:lnTo>
                  <a:lnTo>
                    <a:pt x="2149924" y="10088"/>
                  </a:lnTo>
                  <a:lnTo>
                    <a:pt x="2152506" y="12734"/>
                  </a:lnTo>
                  <a:lnTo>
                    <a:pt x="2155303" y="15401"/>
                  </a:lnTo>
                  <a:lnTo>
                    <a:pt x="2209521" y="15401"/>
                  </a:lnTo>
                  <a:lnTo>
                    <a:pt x="2212318" y="12734"/>
                  </a:lnTo>
                  <a:lnTo>
                    <a:pt x="2212318" y="10088"/>
                  </a:lnTo>
                  <a:lnTo>
                    <a:pt x="2214254" y="7959"/>
                  </a:lnTo>
                  <a:lnTo>
                    <a:pt x="2212318" y="5313"/>
                  </a:lnTo>
                  <a:lnTo>
                    <a:pt x="2212318" y="2667"/>
                  </a:lnTo>
                  <a:lnTo>
                    <a:pt x="2209521" y="0"/>
                  </a:lnTo>
                  <a:close/>
                </a:path>
                <a:path w="2667000" h="15875">
                  <a:moveTo>
                    <a:pt x="2320324" y="0"/>
                  </a:moveTo>
                  <a:lnTo>
                    <a:pt x="2266106" y="0"/>
                  </a:lnTo>
                  <a:lnTo>
                    <a:pt x="2263309" y="2667"/>
                  </a:lnTo>
                  <a:lnTo>
                    <a:pt x="2263309" y="5313"/>
                  </a:lnTo>
                  <a:lnTo>
                    <a:pt x="2261157" y="7959"/>
                  </a:lnTo>
                  <a:lnTo>
                    <a:pt x="2263309" y="10088"/>
                  </a:lnTo>
                  <a:lnTo>
                    <a:pt x="2263309" y="12734"/>
                  </a:lnTo>
                  <a:lnTo>
                    <a:pt x="2266106" y="15401"/>
                  </a:lnTo>
                  <a:lnTo>
                    <a:pt x="2320324" y="15401"/>
                  </a:lnTo>
                  <a:lnTo>
                    <a:pt x="2323121" y="12734"/>
                  </a:lnTo>
                  <a:lnTo>
                    <a:pt x="2325703" y="10088"/>
                  </a:lnTo>
                  <a:lnTo>
                    <a:pt x="2325703" y="5313"/>
                  </a:lnTo>
                  <a:lnTo>
                    <a:pt x="2323121" y="2667"/>
                  </a:lnTo>
                  <a:lnTo>
                    <a:pt x="2320324" y="0"/>
                  </a:lnTo>
                  <a:close/>
                </a:path>
                <a:path w="2667000" h="15875">
                  <a:moveTo>
                    <a:pt x="2434570" y="0"/>
                  </a:moveTo>
                  <a:lnTo>
                    <a:pt x="2380136" y="0"/>
                  </a:lnTo>
                  <a:lnTo>
                    <a:pt x="2377339" y="2667"/>
                  </a:lnTo>
                  <a:lnTo>
                    <a:pt x="2374757" y="5313"/>
                  </a:lnTo>
                  <a:lnTo>
                    <a:pt x="2374757" y="10088"/>
                  </a:lnTo>
                  <a:lnTo>
                    <a:pt x="2377339" y="12734"/>
                  </a:lnTo>
                  <a:lnTo>
                    <a:pt x="2380136" y="15401"/>
                  </a:lnTo>
                  <a:lnTo>
                    <a:pt x="2434570" y="15401"/>
                  </a:lnTo>
                  <a:lnTo>
                    <a:pt x="2436506" y="12734"/>
                  </a:lnTo>
                  <a:lnTo>
                    <a:pt x="2439303" y="10088"/>
                  </a:lnTo>
                  <a:lnTo>
                    <a:pt x="2439303" y="5313"/>
                  </a:lnTo>
                  <a:lnTo>
                    <a:pt x="2436506" y="2667"/>
                  </a:lnTo>
                  <a:lnTo>
                    <a:pt x="2434570" y="0"/>
                  </a:lnTo>
                  <a:close/>
                </a:path>
                <a:path w="2667000" h="15875">
                  <a:moveTo>
                    <a:pt x="2547955" y="0"/>
                  </a:moveTo>
                  <a:lnTo>
                    <a:pt x="2493521" y="0"/>
                  </a:lnTo>
                  <a:lnTo>
                    <a:pt x="2488358" y="5313"/>
                  </a:lnTo>
                  <a:lnTo>
                    <a:pt x="2488358" y="10088"/>
                  </a:lnTo>
                  <a:lnTo>
                    <a:pt x="2493521" y="15401"/>
                  </a:lnTo>
                  <a:lnTo>
                    <a:pt x="2547955" y="15401"/>
                  </a:lnTo>
                  <a:lnTo>
                    <a:pt x="2550752" y="12734"/>
                  </a:lnTo>
                  <a:lnTo>
                    <a:pt x="2553333" y="10088"/>
                  </a:lnTo>
                  <a:lnTo>
                    <a:pt x="2553333" y="5313"/>
                  </a:lnTo>
                  <a:lnTo>
                    <a:pt x="2550752" y="2667"/>
                  </a:lnTo>
                  <a:lnTo>
                    <a:pt x="2547955" y="0"/>
                  </a:lnTo>
                  <a:close/>
                </a:path>
                <a:path w="2667000" h="15875">
                  <a:moveTo>
                    <a:pt x="2661555" y="0"/>
                  </a:moveTo>
                  <a:lnTo>
                    <a:pt x="2607121" y="0"/>
                  </a:lnTo>
                  <a:lnTo>
                    <a:pt x="2604970" y="2667"/>
                  </a:lnTo>
                  <a:lnTo>
                    <a:pt x="2602388" y="5313"/>
                  </a:lnTo>
                  <a:lnTo>
                    <a:pt x="2602388" y="10088"/>
                  </a:lnTo>
                  <a:lnTo>
                    <a:pt x="2604970" y="12734"/>
                  </a:lnTo>
                  <a:lnTo>
                    <a:pt x="2607121" y="15401"/>
                  </a:lnTo>
                  <a:lnTo>
                    <a:pt x="2661555" y="15401"/>
                  </a:lnTo>
                  <a:lnTo>
                    <a:pt x="2664136" y="12734"/>
                  </a:lnTo>
                  <a:lnTo>
                    <a:pt x="2664136" y="10088"/>
                  </a:lnTo>
                  <a:lnTo>
                    <a:pt x="2666933" y="7959"/>
                  </a:lnTo>
                  <a:lnTo>
                    <a:pt x="2664136" y="5313"/>
                  </a:lnTo>
                  <a:lnTo>
                    <a:pt x="2664136" y="2667"/>
                  </a:lnTo>
                  <a:lnTo>
                    <a:pt x="2661555" y="0"/>
                  </a:lnTo>
                  <a:close/>
                </a:path>
              </a:pathLst>
            </a:custGeom>
            <a:solidFill>
              <a:srgbClr val="000000"/>
            </a:solidFill>
          </p:spPr>
          <p:txBody>
            <a:bodyPr wrap="square" lIns="0" tIns="0" rIns="0" bIns="0" rtlCol="0"/>
            <a:lstStyle/>
            <a:p/>
          </p:txBody>
        </p:sp>
        <p:pic>
          <p:nvPicPr>
            <p:cNvPr id="29" name="object 29" descr=""/>
            <p:cNvPicPr/>
            <p:nvPr/>
          </p:nvPicPr>
          <p:blipFill>
            <a:blip r:embed="rId5" cstate="print"/>
            <a:stretch>
              <a:fillRect/>
            </a:stretch>
          </p:blipFill>
          <p:spPr>
            <a:xfrm>
              <a:off x="1458017" y="3607291"/>
              <a:ext cx="3117030" cy="1522396"/>
            </a:xfrm>
            <a:prstGeom prst="rect">
              <a:avLst/>
            </a:prstGeom>
          </p:spPr>
        </p:pic>
      </p:grpSp>
      <p:sp>
        <p:nvSpPr>
          <p:cNvPr id="30" name="object 30"/>
          <p:cNvSpPr txBox="1">
            <a:spLocks noGrp="1"/>
          </p:cNvSpPr>
          <p:nvPr>
            <p:ph type="title"/>
          </p:nvPr>
        </p:nvSpPr>
        <p:spPr>
          <a:prstGeom prst="rect"/>
        </p:spPr>
        <p:txBody>
          <a:bodyPr wrap="square" lIns="0" tIns="0" rIns="0" bIns="0" rtlCol="0" vert="horz">
            <a:spAutoFit/>
          </a:bodyPr>
          <a:lstStyle/>
          <a:p>
            <a:pPr marL="255270">
              <a:lnSpc>
                <a:spcPts val="3020"/>
              </a:lnSpc>
            </a:pPr>
            <a:r>
              <a:rPr dirty="0" u="none" sz="2600">
                <a:solidFill>
                  <a:srgbClr val="0000CC"/>
                </a:solidFill>
              </a:rPr>
              <a:t>7.3.5</a:t>
            </a:r>
            <a:r>
              <a:rPr dirty="0" u="none" sz="2600" spc="-70">
                <a:solidFill>
                  <a:srgbClr val="0000CC"/>
                </a:solidFill>
              </a:rPr>
              <a:t> </a:t>
            </a:r>
            <a:r>
              <a:rPr dirty="0" u="none" sz="2400" spc="-120">
                <a:solidFill>
                  <a:srgbClr val="0000CC"/>
                </a:solidFill>
              </a:rPr>
              <a:t>伪相联 </a:t>
            </a:r>
            <a:r>
              <a:rPr dirty="0" u="none" sz="2400">
                <a:solidFill>
                  <a:srgbClr val="0000CC"/>
                </a:solidFill>
                <a:latin typeface="Tahoma"/>
                <a:cs typeface="Tahoma"/>
              </a:rPr>
              <a:t>Cache</a:t>
            </a:r>
            <a:r>
              <a:rPr dirty="0" u="none" sz="2400" spc="-10">
                <a:solidFill>
                  <a:srgbClr val="0000CC"/>
                </a:solidFill>
                <a:latin typeface="Tahoma"/>
                <a:cs typeface="Tahoma"/>
              </a:rPr>
              <a:t> </a:t>
            </a:r>
            <a:r>
              <a:rPr dirty="0" u="none" sz="2400" spc="-10">
                <a:solidFill>
                  <a:srgbClr val="40458B"/>
                </a:solidFill>
                <a:latin typeface="Tahoma"/>
                <a:cs typeface="Tahoma"/>
              </a:rPr>
              <a:t>(</a:t>
            </a:r>
            <a:r>
              <a:rPr dirty="0" u="none" sz="2400" spc="-120">
                <a:solidFill>
                  <a:srgbClr val="0000CC"/>
                </a:solidFill>
              </a:rPr>
              <a:t>列相联 </a:t>
            </a:r>
            <a:r>
              <a:rPr dirty="0" u="none" sz="2400">
                <a:solidFill>
                  <a:srgbClr val="0000CC"/>
                </a:solidFill>
                <a:latin typeface="Tahoma"/>
                <a:cs typeface="Tahoma"/>
              </a:rPr>
              <a:t>Cache</a:t>
            </a:r>
            <a:r>
              <a:rPr dirty="0" u="none" sz="2400" spc="5">
                <a:solidFill>
                  <a:srgbClr val="0000CC"/>
                </a:solidFill>
                <a:latin typeface="Tahoma"/>
                <a:cs typeface="Tahoma"/>
              </a:rPr>
              <a:t> </a:t>
            </a:r>
            <a:r>
              <a:rPr dirty="0" u="none" sz="2400" spc="-50">
                <a:solidFill>
                  <a:srgbClr val="40458B"/>
                </a:solidFill>
                <a:latin typeface="Tahoma"/>
                <a:cs typeface="Tahoma"/>
              </a:rPr>
              <a:t>)</a:t>
            </a:r>
            <a:endParaRPr sz="2400">
              <a:latin typeface="Tahoma"/>
              <a:cs typeface="Tahoma"/>
            </a:endParaRPr>
          </a:p>
        </p:txBody>
      </p:sp>
      <p:grpSp>
        <p:nvGrpSpPr>
          <p:cNvPr id="31" name="object 31" descr=""/>
          <p:cNvGrpSpPr/>
          <p:nvPr/>
        </p:nvGrpSpPr>
        <p:grpSpPr>
          <a:xfrm>
            <a:off x="7967598" y="2906539"/>
            <a:ext cx="1441450" cy="1716405"/>
            <a:chOff x="7967598" y="2906539"/>
            <a:chExt cx="1441450" cy="1716405"/>
          </a:xfrm>
        </p:grpSpPr>
        <p:pic>
          <p:nvPicPr>
            <p:cNvPr id="32" name="object 32" descr=""/>
            <p:cNvPicPr/>
            <p:nvPr/>
          </p:nvPicPr>
          <p:blipFill>
            <a:blip r:embed="rId6" cstate="print"/>
            <a:stretch>
              <a:fillRect/>
            </a:stretch>
          </p:blipFill>
          <p:spPr>
            <a:xfrm>
              <a:off x="7967598" y="2906539"/>
              <a:ext cx="1441196" cy="1716260"/>
            </a:xfrm>
            <a:prstGeom prst="rect">
              <a:avLst/>
            </a:prstGeom>
          </p:spPr>
        </p:pic>
        <p:sp>
          <p:nvSpPr>
            <p:cNvPr id="33" name="object 33" descr=""/>
            <p:cNvSpPr/>
            <p:nvPr/>
          </p:nvSpPr>
          <p:spPr>
            <a:xfrm>
              <a:off x="7991474" y="3262249"/>
              <a:ext cx="1368425" cy="311150"/>
            </a:xfrm>
            <a:custGeom>
              <a:avLst/>
              <a:gdLst/>
              <a:ahLst/>
              <a:cxnLst/>
              <a:rect l="l" t="t" r="r" b="b"/>
              <a:pathLst>
                <a:path w="1368425" h="311150">
                  <a:moveTo>
                    <a:pt x="1368425" y="0"/>
                  </a:moveTo>
                  <a:lnTo>
                    <a:pt x="0" y="0"/>
                  </a:lnTo>
                  <a:lnTo>
                    <a:pt x="0" y="311150"/>
                  </a:lnTo>
                  <a:lnTo>
                    <a:pt x="1368425" y="311150"/>
                  </a:lnTo>
                  <a:lnTo>
                    <a:pt x="1368425" y="0"/>
                  </a:lnTo>
                  <a:close/>
                </a:path>
              </a:pathLst>
            </a:custGeom>
            <a:solidFill>
              <a:srgbClr val="647AD3"/>
            </a:solidFill>
          </p:spPr>
          <p:txBody>
            <a:bodyPr wrap="square" lIns="0" tIns="0" rIns="0" bIns="0" rtlCol="0"/>
            <a:lstStyle/>
            <a:p/>
          </p:txBody>
        </p:sp>
        <p:sp>
          <p:nvSpPr>
            <p:cNvPr id="34" name="object 34" descr=""/>
            <p:cNvSpPr/>
            <p:nvPr/>
          </p:nvSpPr>
          <p:spPr>
            <a:xfrm>
              <a:off x="7991474" y="3262249"/>
              <a:ext cx="1368425" cy="311150"/>
            </a:xfrm>
            <a:custGeom>
              <a:avLst/>
              <a:gdLst/>
              <a:ahLst/>
              <a:cxnLst/>
              <a:rect l="l" t="t" r="r" b="b"/>
              <a:pathLst>
                <a:path w="1368425" h="311150">
                  <a:moveTo>
                    <a:pt x="0" y="311150"/>
                  </a:moveTo>
                  <a:lnTo>
                    <a:pt x="1368425" y="311150"/>
                  </a:lnTo>
                  <a:lnTo>
                    <a:pt x="1368425" y="0"/>
                  </a:lnTo>
                  <a:lnTo>
                    <a:pt x="0" y="0"/>
                  </a:lnTo>
                  <a:lnTo>
                    <a:pt x="0" y="311150"/>
                  </a:lnTo>
                  <a:close/>
                </a:path>
              </a:pathLst>
            </a:custGeom>
            <a:ln w="19050">
              <a:solidFill>
                <a:srgbClr val="FF0000"/>
              </a:solidFill>
            </a:ln>
          </p:spPr>
          <p:txBody>
            <a:bodyPr wrap="square" lIns="0" tIns="0" rIns="0" bIns="0" rtlCol="0"/>
            <a:lstStyle/>
            <a:p/>
          </p:txBody>
        </p:sp>
      </p:grpSp>
      <p:grpSp>
        <p:nvGrpSpPr>
          <p:cNvPr id="35" name="object 35" descr=""/>
          <p:cNvGrpSpPr/>
          <p:nvPr/>
        </p:nvGrpSpPr>
        <p:grpSpPr>
          <a:xfrm>
            <a:off x="9542780" y="2898538"/>
            <a:ext cx="1441450" cy="1716405"/>
            <a:chOff x="9542780" y="2898538"/>
            <a:chExt cx="1441450" cy="1716405"/>
          </a:xfrm>
        </p:grpSpPr>
        <p:pic>
          <p:nvPicPr>
            <p:cNvPr id="36" name="object 36" descr=""/>
            <p:cNvPicPr/>
            <p:nvPr/>
          </p:nvPicPr>
          <p:blipFill>
            <a:blip r:embed="rId6" cstate="print"/>
            <a:stretch>
              <a:fillRect/>
            </a:stretch>
          </p:blipFill>
          <p:spPr>
            <a:xfrm>
              <a:off x="9542780" y="2898538"/>
              <a:ext cx="1441196" cy="1716260"/>
            </a:xfrm>
            <a:prstGeom prst="rect">
              <a:avLst/>
            </a:prstGeom>
          </p:spPr>
        </p:pic>
        <p:sp>
          <p:nvSpPr>
            <p:cNvPr id="37" name="object 37" descr=""/>
            <p:cNvSpPr/>
            <p:nvPr/>
          </p:nvSpPr>
          <p:spPr>
            <a:xfrm>
              <a:off x="9585452" y="3234880"/>
              <a:ext cx="1368425" cy="311150"/>
            </a:xfrm>
            <a:custGeom>
              <a:avLst/>
              <a:gdLst/>
              <a:ahLst/>
              <a:cxnLst/>
              <a:rect l="l" t="t" r="r" b="b"/>
              <a:pathLst>
                <a:path w="1368425" h="311150">
                  <a:moveTo>
                    <a:pt x="1368298" y="0"/>
                  </a:moveTo>
                  <a:lnTo>
                    <a:pt x="0" y="0"/>
                  </a:lnTo>
                  <a:lnTo>
                    <a:pt x="0" y="310705"/>
                  </a:lnTo>
                  <a:lnTo>
                    <a:pt x="1368298" y="310705"/>
                  </a:lnTo>
                  <a:lnTo>
                    <a:pt x="1368298" y="0"/>
                  </a:lnTo>
                  <a:close/>
                </a:path>
              </a:pathLst>
            </a:custGeom>
            <a:solidFill>
              <a:srgbClr val="00AFEF"/>
            </a:solidFill>
          </p:spPr>
          <p:txBody>
            <a:bodyPr wrap="square" lIns="0" tIns="0" rIns="0" bIns="0" rtlCol="0"/>
            <a:lstStyle/>
            <a:p/>
          </p:txBody>
        </p:sp>
        <p:sp>
          <p:nvSpPr>
            <p:cNvPr id="38" name="object 38" descr=""/>
            <p:cNvSpPr/>
            <p:nvPr/>
          </p:nvSpPr>
          <p:spPr>
            <a:xfrm>
              <a:off x="9585452" y="3234880"/>
              <a:ext cx="1368425" cy="311150"/>
            </a:xfrm>
            <a:custGeom>
              <a:avLst/>
              <a:gdLst/>
              <a:ahLst/>
              <a:cxnLst/>
              <a:rect l="l" t="t" r="r" b="b"/>
              <a:pathLst>
                <a:path w="1368425" h="311150">
                  <a:moveTo>
                    <a:pt x="0" y="310705"/>
                  </a:moveTo>
                  <a:lnTo>
                    <a:pt x="1368298" y="310705"/>
                  </a:lnTo>
                  <a:lnTo>
                    <a:pt x="1368298" y="0"/>
                  </a:lnTo>
                  <a:lnTo>
                    <a:pt x="0" y="0"/>
                  </a:lnTo>
                  <a:lnTo>
                    <a:pt x="0" y="310705"/>
                  </a:lnTo>
                  <a:close/>
                </a:path>
              </a:pathLst>
            </a:custGeom>
            <a:ln w="19050">
              <a:solidFill>
                <a:srgbClr val="FF0000"/>
              </a:solidFill>
            </a:ln>
          </p:spPr>
          <p:txBody>
            <a:bodyPr wrap="square" lIns="0" tIns="0" rIns="0" bIns="0" rtlCol="0"/>
            <a:lstStyle/>
            <a:p/>
          </p:txBody>
        </p:sp>
      </p:grpSp>
      <p:sp>
        <p:nvSpPr>
          <p:cNvPr id="39" name="object 39" descr=""/>
          <p:cNvSpPr txBox="1"/>
          <p:nvPr/>
        </p:nvSpPr>
        <p:spPr>
          <a:xfrm>
            <a:off x="8499729" y="4777181"/>
            <a:ext cx="155130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两路组相联</a:t>
            </a:r>
            <a:endParaRPr sz="2400">
              <a:latin typeface="黑体"/>
              <a:cs typeface="黑体"/>
            </a:endParaRPr>
          </a:p>
        </p:txBody>
      </p:sp>
      <p:sp>
        <p:nvSpPr>
          <p:cNvPr id="40" name="object 40" descr=""/>
          <p:cNvSpPr txBox="1"/>
          <p:nvPr/>
        </p:nvSpPr>
        <p:spPr>
          <a:xfrm>
            <a:off x="2646045" y="3461384"/>
            <a:ext cx="185420" cy="39116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FF0000"/>
                </a:solidFill>
                <a:latin typeface="Tahoma"/>
                <a:cs typeface="Tahoma"/>
              </a:rPr>
              <a:t>a</a:t>
            </a:r>
            <a:endParaRPr sz="2400">
              <a:latin typeface="Tahoma"/>
              <a:cs typeface="Tahoma"/>
            </a:endParaRPr>
          </a:p>
        </p:txBody>
      </p:sp>
      <p:sp>
        <p:nvSpPr>
          <p:cNvPr id="41" name="object 41" descr=""/>
          <p:cNvSpPr txBox="1"/>
          <p:nvPr/>
        </p:nvSpPr>
        <p:spPr>
          <a:xfrm>
            <a:off x="2151540" y="4901565"/>
            <a:ext cx="1227455" cy="391160"/>
          </a:xfrm>
          <a:prstGeom prst="rect">
            <a:avLst/>
          </a:prstGeom>
        </p:spPr>
        <p:txBody>
          <a:bodyPr wrap="square" lIns="0" tIns="12700" rIns="0" bIns="0" rtlCol="0" vert="horz">
            <a:spAutoFit/>
          </a:bodyPr>
          <a:lstStyle/>
          <a:p>
            <a:pPr algn="ctr" marL="186690">
              <a:lnSpc>
                <a:spcPct val="100000"/>
              </a:lnSpc>
              <a:spcBef>
                <a:spcPts val="100"/>
              </a:spcBef>
            </a:pPr>
            <a:r>
              <a:rPr dirty="0" sz="2400" spc="-50">
                <a:solidFill>
                  <a:srgbClr val="FF0000"/>
                </a:solidFill>
                <a:latin typeface="Tahoma"/>
                <a:cs typeface="Tahoma"/>
              </a:rPr>
              <a:t>b</a:t>
            </a:r>
            <a:endParaRPr sz="2400">
              <a:latin typeface="Tahoma"/>
              <a:cs typeface="Tahoma"/>
            </a:endParaRPr>
          </a:p>
        </p:txBody>
      </p:sp>
      <p:sp>
        <p:nvSpPr>
          <p:cNvPr id="42" name="object 42" descr=""/>
          <p:cNvSpPr txBox="1"/>
          <p:nvPr/>
        </p:nvSpPr>
        <p:spPr>
          <a:xfrm>
            <a:off x="1566417" y="3296157"/>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黑体"/>
                <a:cs typeface="黑体"/>
              </a:rPr>
              <a:t>命中</a:t>
            </a:r>
            <a:endParaRPr sz="2400">
              <a:latin typeface="黑体"/>
              <a:cs typeface="黑体"/>
            </a:endParaRPr>
          </a:p>
        </p:txBody>
      </p:sp>
      <p:sp>
        <p:nvSpPr>
          <p:cNvPr id="43" name="object 43" descr=""/>
          <p:cNvSpPr txBox="1"/>
          <p:nvPr/>
        </p:nvSpPr>
        <p:spPr>
          <a:xfrm>
            <a:off x="1245819" y="5134432"/>
            <a:ext cx="93980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黑体"/>
                <a:cs typeface="黑体"/>
              </a:rPr>
              <a:t>伪命中</a:t>
            </a:r>
            <a:endParaRPr sz="2400">
              <a:latin typeface="黑体"/>
              <a:cs typeface="黑体"/>
            </a:endParaRPr>
          </a:p>
        </p:txBody>
      </p:sp>
      <p:sp>
        <p:nvSpPr>
          <p:cNvPr id="44" name="object 44" descr=""/>
          <p:cNvSpPr txBox="1"/>
          <p:nvPr/>
        </p:nvSpPr>
        <p:spPr>
          <a:xfrm>
            <a:off x="3798823" y="5281041"/>
            <a:ext cx="8072120" cy="1155065"/>
          </a:xfrm>
          <a:prstGeom prst="rect">
            <a:avLst/>
          </a:prstGeom>
        </p:spPr>
        <p:txBody>
          <a:bodyPr wrap="square" lIns="0" tIns="12700" rIns="0" bIns="0" rtlCol="0" vert="horz">
            <a:spAutoFit/>
          </a:bodyPr>
          <a:lstStyle/>
          <a:p>
            <a:pPr marL="417195" indent="-342900">
              <a:lnSpc>
                <a:spcPct val="100000"/>
              </a:lnSpc>
              <a:spcBef>
                <a:spcPts val="100"/>
              </a:spcBef>
              <a:buClr>
                <a:srgbClr val="4F55AC"/>
              </a:buClr>
              <a:buFont typeface="Wingdings"/>
              <a:buChar char=""/>
              <a:tabLst>
                <a:tab pos="417195" algn="l"/>
              </a:tabLst>
            </a:pPr>
            <a:r>
              <a:rPr dirty="0" sz="2000" spc="-45">
                <a:solidFill>
                  <a:srgbClr val="FF09FF"/>
                </a:solidFill>
                <a:latin typeface="黑体"/>
                <a:cs typeface="黑体"/>
              </a:rPr>
              <a:t>检索方法， 主候选区索引假设</a:t>
            </a:r>
            <a:r>
              <a:rPr dirty="0" sz="2000" spc="-10">
                <a:solidFill>
                  <a:srgbClr val="FF09FF"/>
                </a:solidFill>
                <a:latin typeface="Tahoma"/>
                <a:cs typeface="Tahoma"/>
              </a:rPr>
              <a:t>1001</a:t>
            </a:r>
            <a:r>
              <a:rPr dirty="0" sz="2000" spc="-50">
                <a:solidFill>
                  <a:srgbClr val="FF09FF"/>
                </a:solidFill>
                <a:latin typeface="黑体"/>
                <a:cs typeface="黑体"/>
              </a:rPr>
              <a:t>，次候选区则最高位变反 </a:t>
            </a:r>
            <a:r>
              <a:rPr dirty="0" sz="2000" spc="-20">
                <a:solidFill>
                  <a:srgbClr val="FF09FF"/>
                </a:solidFill>
                <a:latin typeface="Tahoma"/>
                <a:cs typeface="Tahoma"/>
              </a:rPr>
              <a:t>0001</a:t>
            </a:r>
            <a:endParaRPr sz="2000">
              <a:latin typeface="Tahoma"/>
              <a:cs typeface="Tahoma"/>
            </a:endParaRPr>
          </a:p>
          <a:p>
            <a:pPr marL="354965" indent="-342265">
              <a:lnSpc>
                <a:spcPct val="100000"/>
              </a:lnSpc>
              <a:spcBef>
                <a:spcPts val="1689"/>
              </a:spcBef>
              <a:buClr>
                <a:srgbClr val="4F55AC"/>
              </a:buClr>
              <a:buFont typeface="Wingdings"/>
              <a:buChar char=""/>
              <a:tabLst>
                <a:tab pos="354965" algn="l"/>
              </a:tabLst>
            </a:pPr>
            <a:r>
              <a:rPr dirty="0" sz="2000" spc="-50">
                <a:solidFill>
                  <a:srgbClr val="FF09FF"/>
                </a:solidFill>
                <a:latin typeface="黑体"/>
                <a:cs typeface="黑体"/>
              </a:rPr>
              <a:t>检索顺序， 先检索主候选区，若未命中，然后检索次候选区，若命中</a:t>
            </a:r>
            <a:endParaRPr sz="2000">
              <a:latin typeface="黑体"/>
              <a:cs typeface="黑体"/>
            </a:endParaRPr>
          </a:p>
          <a:p>
            <a:pPr marL="355600">
              <a:lnSpc>
                <a:spcPct val="100000"/>
              </a:lnSpc>
            </a:pPr>
            <a:r>
              <a:rPr dirty="0" sz="2000" spc="-5">
                <a:solidFill>
                  <a:srgbClr val="FF09FF"/>
                </a:solidFill>
                <a:latin typeface="黑体"/>
                <a:cs typeface="黑体"/>
              </a:rPr>
              <a:t>，则数据送往</a:t>
            </a:r>
            <a:r>
              <a:rPr dirty="0" sz="2000" spc="-10">
                <a:solidFill>
                  <a:srgbClr val="FF09FF"/>
                </a:solidFill>
                <a:latin typeface="Tahoma"/>
                <a:cs typeface="Tahoma"/>
              </a:rPr>
              <a:t>CPU</a:t>
            </a:r>
            <a:r>
              <a:rPr dirty="0" sz="2000" spc="-30">
                <a:solidFill>
                  <a:srgbClr val="FF09FF"/>
                </a:solidFill>
                <a:latin typeface="黑体"/>
                <a:cs typeface="黑体"/>
              </a:rPr>
              <a:t>，因此伪命中的时间要大于命中的时间。</a:t>
            </a:r>
            <a:endParaRPr sz="2000">
              <a:latin typeface="黑体"/>
              <a:cs typeface="黑体"/>
            </a:endParaRPr>
          </a:p>
        </p:txBody>
      </p:sp>
      <p:sp>
        <p:nvSpPr>
          <p:cNvPr id="45" name="object 45" descr=""/>
          <p:cNvSpPr txBox="1"/>
          <p:nvPr/>
        </p:nvSpPr>
        <p:spPr>
          <a:xfrm>
            <a:off x="6918452" y="3243834"/>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黑体"/>
                <a:cs typeface="黑体"/>
              </a:rPr>
              <a:t>伪相联</a:t>
            </a:r>
            <a:endParaRPr sz="2400">
              <a:latin typeface="黑体"/>
              <a:cs typeface="黑体"/>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42391" y="799370"/>
            <a:ext cx="11362055" cy="1844675"/>
          </a:xfrm>
          <a:prstGeom prst="rect">
            <a:avLst/>
          </a:prstGeom>
        </p:spPr>
        <p:txBody>
          <a:bodyPr wrap="square" lIns="0" tIns="206375" rIns="0" bIns="0" rtlCol="0" vert="horz">
            <a:spAutoFit/>
          </a:bodyPr>
          <a:lstStyle/>
          <a:p>
            <a:pPr marL="12700">
              <a:lnSpc>
                <a:spcPct val="100000"/>
              </a:lnSpc>
              <a:spcBef>
                <a:spcPts val="1625"/>
              </a:spcBef>
              <a:tabLst>
                <a:tab pos="469265"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spc="-10">
                <a:solidFill>
                  <a:srgbClr val="E14B04"/>
                </a:solidFill>
                <a:latin typeface="黑体"/>
                <a:cs typeface="黑体"/>
              </a:rPr>
              <a:t>基本思想及工作原理</a:t>
            </a:r>
            <a:endParaRPr sz="2400">
              <a:latin typeface="黑体"/>
              <a:cs typeface="黑体"/>
            </a:endParaRPr>
          </a:p>
          <a:p>
            <a:pPr marL="469900" marR="5080" indent="572770">
              <a:lnSpc>
                <a:spcPct val="130000"/>
              </a:lnSpc>
              <a:spcBef>
                <a:spcPts val="555"/>
              </a:spcBef>
            </a:pPr>
            <a:r>
              <a:rPr dirty="0" sz="2000" spc="-15" b="1">
                <a:solidFill>
                  <a:srgbClr val="40458B"/>
                </a:solidFill>
                <a:latin typeface="宋体"/>
                <a:cs typeface="宋体"/>
              </a:rPr>
              <a:t>在逻辑上把直接映象</a:t>
            </a:r>
            <a:r>
              <a:rPr dirty="0" sz="2000" spc="-10" b="1">
                <a:solidFill>
                  <a:srgbClr val="40458B"/>
                </a:solidFill>
                <a:latin typeface="宋体"/>
                <a:cs typeface="宋体"/>
              </a:rPr>
              <a:t>Cache</a:t>
            </a:r>
            <a:r>
              <a:rPr dirty="0" sz="2000" spc="-20" b="1">
                <a:solidFill>
                  <a:srgbClr val="40458B"/>
                </a:solidFill>
                <a:latin typeface="宋体"/>
                <a:cs typeface="宋体"/>
              </a:rPr>
              <a:t>的空间上下平分为两个区</a:t>
            </a:r>
            <a:r>
              <a:rPr dirty="0" sz="2000" spc="-10" b="1">
                <a:solidFill>
                  <a:srgbClr val="40458B"/>
                </a:solidFill>
                <a:latin typeface="宋体"/>
                <a:cs typeface="宋体"/>
              </a:rPr>
              <a:t>（</a:t>
            </a:r>
            <a:r>
              <a:rPr dirty="0" sz="2000" spc="-20" b="1">
                <a:solidFill>
                  <a:srgbClr val="40458B"/>
                </a:solidFill>
                <a:latin typeface="宋体"/>
                <a:cs typeface="宋体"/>
              </a:rPr>
              <a:t>地址不连续</a:t>
            </a:r>
            <a:r>
              <a:rPr dirty="0" sz="2000" spc="-10" b="1">
                <a:solidFill>
                  <a:srgbClr val="40458B"/>
                </a:solidFill>
                <a:latin typeface="宋体"/>
                <a:cs typeface="宋体"/>
              </a:rPr>
              <a:t>）</a:t>
            </a:r>
            <a:r>
              <a:rPr dirty="0" sz="2000" spc="-25" b="1">
                <a:solidFill>
                  <a:srgbClr val="40458B"/>
                </a:solidFill>
                <a:latin typeface="宋体"/>
                <a:cs typeface="宋体"/>
              </a:rPr>
              <a:t>。对于任何一次访问，</a:t>
            </a:r>
            <a:r>
              <a:rPr dirty="0" sz="2000" spc="-50" b="1">
                <a:solidFill>
                  <a:srgbClr val="40458B"/>
                </a:solidFill>
                <a:latin typeface="宋体"/>
                <a:cs typeface="宋体"/>
              </a:rPr>
              <a:t> </a:t>
            </a:r>
            <a:r>
              <a:rPr dirty="0" sz="2000" spc="-10" b="1">
                <a:solidFill>
                  <a:srgbClr val="40458B"/>
                </a:solidFill>
                <a:latin typeface="宋体"/>
                <a:cs typeface="宋体"/>
              </a:rPr>
              <a:t>伪相联Cache</a:t>
            </a:r>
            <a:r>
              <a:rPr dirty="0" sz="2000" spc="-20" b="1">
                <a:solidFill>
                  <a:srgbClr val="40458B"/>
                </a:solidFill>
                <a:latin typeface="宋体"/>
                <a:cs typeface="宋体"/>
              </a:rPr>
              <a:t>先按直接映象</a:t>
            </a:r>
            <a:r>
              <a:rPr dirty="0" sz="2000" spc="-10" b="1">
                <a:solidFill>
                  <a:srgbClr val="40458B"/>
                </a:solidFill>
                <a:latin typeface="宋体"/>
                <a:cs typeface="宋体"/>
              </a:rPr>
              <a:t>Cache</a:t>
            </a:r>
            <a:r>
              <a:rPr dirty="0" sz="2000" spc="-20" b="1">
                <a:solidFill>
                  <a:srgbClr val="40458B"/>
                </a:solidFill>
                <a:latin typeface="宋体"/>
                <a:cs typeface="宋体"/>
              </a:rPr>
              <a:t>的方式去处理。若命中，则其访问过程与直接映象</a:t>
            </a:r>
            <a:r>
              <a:rPr dirty="0" sz="2000" spc="-10" b="1">
                <a:solidFill>
                  <a:srgbClr val="40458B"/>
                </a:solidFill>
                <a:latin typeface="宋体"/>
                <a:cs typeface="宋体"/>
              </a:rPr>
              <a:t>Cache</a:t>
            </a:r>
            <a:r>
              <a:rPr dirty="0" sz="2000" spc="-25" b="1">
                <a:solidFill>
                  <a:srgbClr val="40458B"/>
                </a:solidFill>
                <a:latin typeface="宋体"/>
                <a:cs typeface="宋体"/>
              </a:rPr>
              <a:t>的情况一样。若不命中，则再到另一区相应的位置去查找。若找到，则发生了伪命中，否则就只好访问下</a:t>
            </a:r>
            <a:endParaRPr sz="2000">
              <a:latin typeface="宋体"/>
              <a:cs typeface="宋体"/>
            </a:endParaRPr>
          </a:p>
        </p:txBody>
      </p:sp>
      <p:sp>
        <p:nvSpPr>
          <p:cNvPr id="10" name="object 10" descr=""/>
          <p:cNvSpPr txBox="1"/>
          <p:nvPr/>
        </p:nvSpPr>
        <p:spPr>
          <a:xfrm>
            <a:off x="799591" y="2709113"/>
            <a:ext cx="1562100" cy="331470"/>
          </a:xfrm>
          <a:prstGeom prst="rect">
            <a:avLst/>
          </a:prstGeom>
        </p:spPr>
        <p:txBody>
          <a:bodyPr wrap="square" lIns="0" tIns="13335" rIns="0" bIns="0" rtlCol="0" vert="horz">
            <a:spAutoFit/>
          </a:bodyPr>
          <a:lstStyle/>
          <a:p>
            <a:pPr marL="12700">
              <a:lnSpc>
                <a:spcPct val="100000"/>
              </a:lnSpc>
              <a:spcBef>
                <a:spcPts val="105"/>
              </a:spcBef>
            </a:pPr>
            <a:r>
              <a:rPr dirty="0" sz="2000" spc="-25" b="1">
                <a:solidFill>
                  <a:srgbClr val="40458B"/>
                </a:solidFill>
                <a:latin typeface="宋体"/>
                <a:cs typeface="宋体"/>
              </a:rPr>
              <a:t>一级存储器。</a:t>
            </a:r>
            <a:endParaRPr sz="2000">
              <a:latin typeface="宋体"/>
              <a:cs typeface="宋体"/>
            </a:endParaRPr>
          </a:p>
        </p:txBody>
      </p:sp>
      <p:grpSp>
        <p:nvGrpSpPr>
          <p:cNvPr id="11" name="object 11" descr=""/>
          <p:cNvGrpSpPr/>
          <p:nvPr/>
        </p:nvGrpSpPr>
        <p:grpSpPr>
          <a:xfrm>
            <a:off x="1364667" y="3082772"/>
            <a:ext cx="2613660" cy="2902585"/>
            <a:chOff x="1364667" y="3082772"/>
            <a:chExt cx="2613660" cy="2902585"/>
          </a:xfrm>
        </p:grpSpPr>
        <p:sp>
          <p:nvSpPr>
            <p:cNvPr id="12" name="object 12" descr=""/>
            <p:cNvSpPr/>
            <p:nvPr/>
          </p:nvSpPr>
          <p:spPr>
            <a:xfrm>
              <a:off x="2143813" y="3181983"/>
              <a:ext cx="1243330" cy="2803525"/>
            </a:xfrm>
            <a:custGeom>
              <a:avLst/>
              <a:gdLst/>
              <a:ahLst/>
              <a:cxnLst/>
              <a:rect l="l" t="t" r="r" b="b"/>
              <a:pathLst>
                <a:path w="1243329" h="2803525">
                  <a:moveTo>
                    <a:pt x="1242802" y="0"/>
                  </a:moveTo>
                  <a:lnTo>
                    <a:pt x="0" y="0"/>
                  </a:lnTo>
                  <a:lnTo>
                    <a:pt x="0" y="2803310"/>
                  </a:lnTo>
                  <a:lnTo>
                    <a:pt x="1242802" y="2803310"/>
                  </a:lnTo>
                  <a:lnTo>
                    <a:pt x="1242802" y="0"/>
                  </a:lnTo>
                  <a:close/>
                </a:path>
              </a:pathLst>
            </a:custGeom>
            <a:solidFill>
              <a:srgbClr val="FFFF99"/>
            </a:solidFill>
          </p:spPr>
          <p:txBody>
            <a:bodyPr wrap="square" lIns="0" tIns="0" rIns="0" bIns="0" rtlCol="0"/>
            <a:lstStyle/>
            <a:p/>
          </p:txBody>
        </p:sp>
        <p:pic>
          <p:nvPicPr>
            <p:cNvPr id="13" name="object 13" descr=""/>
            <p:cNvPicPr/>
            <p:nvPr/>
          </p:nvPicPr>
          <p:blipFill>
            <a:blip r:embed="rId3" cstate="print"/>
            <a:stretch>
              <a:fillRect/>
            </a:stretch>
          </p:blipFill>
          <p:spPr>
            <a:xfrm>
              <a:off x="2153947" y="3481452"/>
              <a:ext cx="1217220" cy="299863"/>
            </a:xfrm>
            <a:prstGeom prst="rect">
              <a:avLst/>
            </a:prstGeom>
          </p:spPr>
        </p:pic>
        <p:pic>
          <p:nvPicPr>
            <p:cNvPr id="14" name="object 14" descr=""/>
            <p:cNvPicPr/>
            <p:nvPr/>
          </p:nvPicPr>
          <p:blipFill>
            <a:blip r:embed="rId4" cstate="print"/>
            <a:stretch>
              <a:fillRect/>
            </a:stretch>
          </p:blipFill>
          <p:spPr>
            <a:xfrm>
              <a:off x="2153947" y="4881925"/>
              <a:ext cx="1214574" cy="302508"/>
            </a:xfrm>
            <a:prstGeom prst="rect">
              <a:avLst/>
            </a:prstGeom>
          </p:spPr>
        </p:pic>
        <p:sp>
          <p:nvSpPr>
            <p:cNvPr id="15" name="object 15" descr=""/>
            <p:cNvSpPr/>
            <p:nvPr/>
          </p:nvSpPr>
          <p:spPr>
            <a:xfrm>
              <a:off x="1366255" y="3578036"/>
              <a:ext cx="781050" cy="85090"/>
            </a:xfrm>
            <a:custGeom>
              <a:avLst/>
              <a:gdLst/>
              <a:ahLst/>
              <a:cxnLst/>
              <a:rect l="l" t="t" r="r" b="b"/>
              <a:pathLst>
                <a:path w="781050" h="85089">
                  <a:moveTo>
                    <a:pt x="651264" y="0"/>
                  </a:moveTo>
                  <a:lnTo>
                    <a:pt x="695499" y="43882"/>
                  </a:lnTo>
                  <a:lnTo>
                    <a:pt x="651264" y="84753"/>
                  </a:lnTo>
                  <a:lnTo>
                    <a:pt x="748729" y="53992"/>
                  </a:lnTo>
                  <a:lnTo>
                    <a:pt x="698167" y="53992"/>
                  </a:lnTo>
                  <a:lnTo>
                    <a:pt x="702943" y="51411"/>
                  </a:lnTo>
                  <a:lnTo>
                    <a:pt x="705611" y="46033"/>
                  </a:lnTo>
                  <a:lnTo>
                    <a:pt x="705611" y="38719"/>
                  </a:lnTo>
                  <a:lnTo>
                    <a:pt x="702943" y="35923"/>
                  </a:lnTo>
                  <a:lnTo>
                    <a:pt x="698167" y="33342"/>
                  </a:lnTo>
                  <a:lnTo>
                    <a:pt x="749658" y="33342"/>
                  </a:lnTo>
                  <a:lnTo>
                    <a:pt x="651264" y="0"/>
                  </a:lnTo>
                  <a:close/>
                </a:path>
                <a:path w="781050" h="85089">
                  <a:moveTo>
                    <a:pt x="684874" y="33342"/>
                  </a:moveTo>
                  <a:lnTo>
                    <a:pt x="8003" y="33342"/>
                  </a:lnTo>
                  <a:lnTo>
                    <a:pt x="5335" y="35923"/>
                  </a:lnTo>
                  <a:lnTo>
                    <a:pt x="2667" y="38719"/>
                  </a:lnTo>
                  <a:lnTo>
                    <a:pt x="0" y="43882"/>
                  </a:lnTo>
                  <a:lnTo>
                    <a:pt x="2667" y="46033"/>
                  </a:lnTo>
                  <a:lnTo>
                    <a:pt x="5335" y="51411"/>
                  </a:lnTo>
                  <a:lnTo>
                    <a:pt x="8003" y="53992"/>
                  </a:lnTo>
                  <a:lnTo>
                    <a:pt x="684556" y="53992"/>
                  </a:lnTo>
                  <a:lnTo>
                    <a:pt x="695499" y="43882"/>
                  </a:lnTo>
                  <a:lnTo>
                    <a:pt x="684874" y="33342"/>
                  </a:lnTo>
                  <a:close/>
                </a:path>
                <a:path w="781050" h="85089">
                  <a:moveTo>
                    <a:pt x="749658" y="33342"/>
                  </a:moveTo>
                  <a:lnTo>
                    <a:pt x="698167" y="33342"/>
                  </a:lnTo>
                  <a:lnTo>
                    <a:pt x="702943" y="35923"/>
                  </a:lnTo>
                  <a:lnTo>
                    <a:pt x="705611" y="38719"/>
                  </a:lnTo>
                  <a:lnTo>
                    <a:pt x="705611" y="46033"/>
                  </a:lnTo>
                  <a:lnTo>
                    <a:pt x="702943" y="51411"/>
                  </a:lnTo>
                  <a:lnTo>
                    <a:pt x="698167" y="53992"/>
                  </a:lnTo>
                  <a:lnTo>
                    <a:pt x="748729" y="53992"/>
                  </a:lnTo>
                  <a:lnTo>
                    <a:pt x="780763" y="43882"/>
                  </a:lnTo>
                  <a:lnTo>
                    <a:pt x="749658" y="33342"/>
                  </a:lnTo>
                  <a:close/>
                </a:path>
              </a:pathLst>
            </a:custGeom>
            <a:solidFill>
              <a:srgbClr val="000000"/>
            </a:solidFill>
          </p:spPr>
          <p:txBody>
            <a:bodyPr wrap="square" lIns="0" tIns="0" rIns="0" bIns="0" rtlCol="0"/>
            <a:lstStyle/>
            <a:p/>
          </p:txBody>
        </p:sp>
        <p:sp>
          <p:nvSpPr>
            <p:cNvPr id="16" name="object 16" descr=""/>
            <p:cNvSpPr/>
            <p:nvPr/>
          </p:nvSpPr>
          <p:spPr>
            <a:xfrm>
              <a:off x="1366255" y="3578036"/>
              <a:ext cx="781050" cy="85090"/>
            </a:xfrm>
            <a:custGeom>
              <a:avLst/>
              <a:gdLst/>
              <a:ahLst/>
              <a:cxnLst/>
              <a:rect l="l" t="t" r="r" b="b"/>
              <a:pathLst>
                <a:path w="781050" h="85089">
                  <a:moveTo>
                    <a:pt x="13339" y="33342"/>
                  </a:moveTo>
                  <a:lnTo>
                    <a:pt x="695499" y="33342"/>
                  </a:lnTo>
                  <a:lnTo>
                    <a:pt x="698167" y="33342"/>
                  </a:lnTo>
                  <a:lnTo>
                    <a:pt x="702943" y="35923"/>
                  </a:lnTo>
                  <a:lnTo>
                    <a:pt x="705611" y="38719"/>
                  </a:lnTo>
                  <a:lnTo>
                    <a:pt x="705611" y="43882"/>
                  </a:lnTo>
                  <a:lnTo>
                    <a:pt x="705611" y="46033"/>
                  </a:lnTo>
                  <a:lnTo>
                    <a:pt x="702943" y="51411"/>
                  </a:lnTo>
                  <a:lnTo>
                    <a:pt x="698167" y="53992"/>
                  </a:lnTo>
                  <a:lnTo>
                    <a:pt x="695499" y="53992"/>
                  </a:lnTo>
                  <a:lnTo>
                    <a:pt x="13339" y="53992"/>
                  </a:lnTo>
                  <a:lnTo>
                    <a:pt x="8003" y="53992"/>
                  </a:lnTo>
                  <a:lnTo>
                    <a:pt x="5335" y="51411"/>
                  </a:lnTo>
                  <a:lnTo>
                    <a:pt x="2667" y="46033"/>
                  </a:lnTo>
                  <a:lnTo>
                    <a:pt x="0" y="43882"/>
                  </a:lnTo>
                  <a:lnTo>
                    <a:pt x="2667" y="38719"/>
                  </a:lnTo>
                  <a:lnTo>
                    <a:pt x="5335" y="35923"/>
                  </a:lnTo>
                  <a:lnTo>
                    <a:pt x="8003" y="33342"/>
                  </a:lnTo>
                  <a:lnTo>
                    <a:pt x="13339" y="33342"/>
                  </a:lnTo>
                  <a:close/>
                </a:path>
                <a:path w="781050" h="85089">
                  <a:moveTo>
                    <a:pt x="695499" y="43882"/>
                  </a:moveTo>
                  <a:lnTo>
                    <a:pt x="651264" y="0"/>
                  </a:lnTo>
                  <a:lnTo>
                    <a:pt x="780763" y="43882"/>
                  </a:lnTo>
                  <a:lnTo>
                    <a:pt x="651264" y="84753"/>
                  </a:lnTo>
                  <a:lnTo>
                    <a:pt x="695499" y="43882"/>
                  </a:lnTo>
                  <a:close/>
                </a:path>
              </a:pathLst>
            </a:custGeom>
            <a:ln w="3175">
              <a:solidFill>
                <a:srgbClr val="000000"/>
              </a:solidFill>
            </a:ln>
          </p:spPr>
          <p:txBody>
            <a:bodyPr wrap="square" lIns="0" tIns="0" rIns="0" bIns="0" rtlCol="0"/>
            <a:lstStyle/>
            <a:p/>
          </p:txBody>
        </p:sp>
        <p:sp>
          <p:nvSpPr>
            <p:cNvPr id="17" name="object 17" descr=""/>
            <p:cNvSpPr/>
            <p:nvPr/>
          </p:nvSpPr>
          <p:spPr>
            <a:xfrm>
              <a:off x="3891296" y="3084360"/>
              <a:ext cx="85725" cy="1946275"/>
            </a:xfrm>
            <a:custGeom>
              <a:avLst/>
              <a:gdLst/>
              <a:ahLst/>
              <a:cxnLst/>
              <a:rect l="l" t="t" r="r" b="b"/>
              <a:pathLst>
                <a:path w="85725" h="1946275">
                  <a:moveTo>
                    <a:pt x="41093" y="84968"/>
                  </a:moveTo>
                  <a:lnTo>
                    <a:pt x="30981" y="95819"/>
                  </a:lnTo>
                  <a:lnTo>
                    <a:pt x="30981" y="1940333"/>
                  </a:lnTo>
                  <a:lnTo>
                    <a:pt x="33563" y="1942979"/>
                  </a:lnTo>
                  <a:lnTo>
                    <a:pt x="38297" y="1945646"/>
                  </a:lnTo>
                  <a:lnTo>
                    <a:pt x="46472" y="1945646"/>
                  </a:lnTo>
                  <a:lnTo>
                    <a:pt x="51636" y="1940333"/>
                  </a:lnTo>
                  <a:lnTo>
                    <a:pt x="51636" y="95508"/>
                  </a:lnTo>
                  <a:lnTo>
                    <a:pt x="41093" y="84968"/>
                  </a:lnTo>
                  <a:close/>
                </a:path>
                <a:path w="85725" h="1946275">
                  <a:moveTo>
                    <a:pt x="41093" y="0"/>
                  </a:moveTo>
                  <a:lnTo>
                    <a:pt x="0" y="129065"/>
                  </a:lnTo>
                  <a:lnTo>
                    <a:pt x="30981" y="95819"/>
                  </a:lnTo>
                  <a:lnTo>
                    <a:pt x="30981" y="82817"/>
                  </a:lnTo>
                  <a:lnTo>
                    <a:pt x="33563" y="77439"/>
                  </a:lnTo>
                  <a:lnTo>
                    <a:pt x="38296" y="74858"/>
                  </a:lnTo>
                  <a:lnTo>
                    <a:pt x="66675" y="74858"/>
                  </a:lnTo>
                  <a:lnTo>
                    <a:pt x="41093" y="0"/>
                  </a:lnTo>
                  <a:close/>
                </a:path>
                <a:path w="85725" h="1946275">
                  <a:moveTo>
                    <a:pt x="66675" y="74858"/>
                  </a:moveTo>
                  <a:lnTo>
                    <a:pt x="46472" y="74858"/>
                  </a:lnTo>
                  <a:lnTo>
                    <a:pt x="49054" y="77439"/>
                  </a:lnTo>
                  <a:lnTo>
                    <a:pt x="51636" y="82817"/>
                  </a:lnTo>
                  <a:lnTo>
                    <a:pt x="51636" y="95508"/>
                  </a:lnTo>
                  <a:lnTo>
                    <a:pt x="85200" y="129065"/>
                  </a:lnTo>
                  <a:lnTo>
                    <a:pt x="66675" y="74858"/>
                  </a:lnTo>
                  <a:close/>
                </a:path>
                <a:path w="85725" h="1946275">
                  <a:moveTo>
                    <a:pt x="46472" y="74858"/>
                  </a:moveTo>
                  <a:lnTo>
                    <a:pt x="38296" y="74858"/>
                  </a:lnTo>
                  <a:lnTo>
                    <a:pt x="33563" y="77439"/>
                  </a:lnTo>
                  <a:lnTo>
                    <a:pt x="30981" y="82817"/>
                  </a:lnTo>
                  <a:lnTo>
                    <a:pt x="30981" y="95819"/>
                  </a:lnTo>
                  <a:lnTo>
                    <a:pt x="41093" y="84968"/>
                  </a:lnTo>
                  <a:lnTo>
                    <a:pt x="51636" y="84968"/>
                  </a:lnTo>
                  <a:lnTo>
                    <a:pt x="51636" y="82817"/>
                  </a:lnTo>
                  <a:lnTo>
                    <a:pt x="49054" y="77439"/>
                  </a:lnTo>
                  <a:lnTo>
                    <a:pt x="46472" y="74858"/>
                  </a:lnTo>
                  <a:close/>
                </a:path>
                <a:path w="85725" h="1946275">
                  <a:moveTo>
                    <a:pt x="51636" y="84968"/>
                  </a:moveTo>
                  <a:lnTo>
                    <a:pt x="41093" y="84968"/>
                  </a:lnTo>
                  <a:lnTo>
                    <a:pt x="51636" y="95508"/>
                  </a:lnTo>
                  <a:lnTo>
                    <a:pt x="51636" y="84968"/>
                  </a:lnTo>
                  <a:close/>
                </a:path>
              </a:pathLst>
            </a:custGeom>
            <a:solidFill>
              <a:srgbClr val="000000"/>
            </a:solidFill>
          </p:spPr>
          <p:txBody>
            <a:bodyPr wrap="square" lIns="0" tIns="0" rIns="0" bIns="0" rtlCol="0"/>
            <a:lstStyle/>
            <a:p/>
          </p:txBody>
        </p:sp>
        <p:sp>
          <p:nvSpPr>
            <p:cNvPr id="18" name="object 18" descr=""/>
            <p:cNvSpPr/>
            <p:nvPr/>
          </p:nvSpPr>
          <p:spPr>
            <a:xfrm>
              <a:off x="3891296" y="3084359"/>
              <a:ext cx="85725" cy="1946275"/>
            </a:xfrm>
            <a:custGeom>
              <a:avLst/>
              <a:gdLst/>
              <a:ahLst/>
              <a:cxnLst/>
              <a:rect l="l" t="t" r="r" b="b"/>
              <a:pathLst>
                <a:path w="85725" h="1946275">
                  <a:moveTo>
                    <a:pt x="30981" y="1935557"/>
                  </a:moveTo>
                  <a:lnTo>
                    <a:pt x="30981" y="84968"/>
                  </a:lnTo>
                  <a:lnTo>
                    <a:pt x="30981" y="82817"/>
                  </a:lnTo>
                  <a:lnTo>
                    <a:pt x="33563" y="77439"/>
                  </a:lnTo>
                  <a:lnTo>
                    <a:pt x="38296" y="74858"/>
                  </a:lnTo>
                  <a:lnTo>
                    <a:pt x="41093" y="74858"/>
                  </a:lnTo>
                  <a:lnTo>
                    <a:pt x="46472" y="74858"/>
                  </a:lnTo>
                  <a:lnTo>
                    <a:pt x="51636" y="1935557"/>
                  </a:lnTo>
                  <a:lnTo>
                    <a:pt x="51636" y="1940333"/>
                  </a:lnTo>
                  <a:lnTo>
                    <a:pt x="49054" y="1942979"/>
                  </a:lnTo>
                  <a:lnTo>
                    <a:pt x="46472" y="1945646"/>
                  </a:lnTo>
                  <a:lnTo>
                    <a:pt x="41094" y="1945646"/>
                  </a:lnTo>
                  <a:lnTo>
                    <a:pt x="38297" y="1945646"/>
                  </a:lnTo>
                  <a:lnTo>
                    <a:pt x="33563" y="1942979"/>
                  </a:lnTo>
                  <a:lnTo>
                    <a:pt x="30981" y="1940333"/>
                  </a:lnTo>
                  <a:lnTo>
                    <a:pt x="30981" y="1935557"/>
                  </a:lnTo>
                  <a:close/>
                </a:path>
                <a:path w="85725" h="1946275">
                  <a:moveTo>
                    <a:pt x="41093" y="84968"/>
                  </a:moveTo>
                  <a:lnTo>
                    <a:pt x="0" y="129065"/>
                  </a:lnTo>
                  <a:lnTo>
                    <a:pt x="41093" y="0"/>
                  </a:lnTo>
                  <a:lnTo>
                    <a:pt x="85200" y="129065"/>
                  </a:lnTo>
                  <a:lnTo>
                    <a:pt x="41093" y="84968"/>
                  </a:lnTo>
                  <a:close/>
                </a:path>
              </a:pathLst>
            </a:custGeom>
            <a:ln w="3175">
              <a:solidFill>
                <a:srgbClr val="000000"/>
              </a:solidFill>
            </a:ln>
          </p:spPr>
          <p:txBody>
            <a:bodyPr wrap="square" lIns="0" tIns="0" rIns="0" bIns="0" rtlCol="0"/>
            <a:lstStyle/>
            <a:p/>
          </p:txBody>
        </p:sp>
      </p:grpSp>
      <p:sp>
        <p:nvSpPr>
          <p:cNvPr id="19" name="object 19" descr=""/>
          <p:cNvSpPr txBox="1"/>
          <p:nvPr/>
        </p:nvSpPr>
        <p:spPr>
          <a:xfrm>
            <a:off x="3645156" y="2785968"/>
            <a:ext cx="563245" cy="259079"/>
          </a:xfrm>
          <a:prstGeom prst="rect">
            <a:avLst/>
          </a:prstGeom>
        </p:spPr>
        <p:txBody>
          <a:bodyPr wrap="square" lIns="0" tIns="16510" rIns="0" bIns="0" rtlCol="0" vert="horz">
            <a:spAutoFit/>
          </a:bodyPr>
          <a:lstStyle/>
          <a:p>
            <a:pPr marL="12700">
              <a:lnSpc>
                <a:spcPct val="100000"/>
              </a:lnSpc>
              <a:spcBef>
                <a:spcPts val="130"/>
              </a:spcBef>
            </a:pPr>
            <a:r>
              <a:rPr dirty="0" sz="1500" spc="-175">
                <a:solidFill>
                  <a:srgbClr val="0000FF"/>
                </a:solidFill>
                <a:latin typeface="宋体"/>
                <a:cs typeface="宋体"/>
              </a:rPr>
              <a:t>至 </a:t>
            </a:r>
            <a:r>
              <a:rPr dirty="0" sz="1500" spc="-25">
                <a:solidFill>
                  <a:srgbClr val="0000FF"/>
                </a:solidFill>
                <a:latin typeface="宋体"/>
                <a:cs typeface="宋体"/>
              </a:rPr>
              <a:t>CPU</a:t>
            </a:r>
            <a:endParaRPr sz="1500">
              <a:latin typeface="宋体"/>
              <a:cs typeface="宋体"/>
            </a:endParaRPr>
          </a:p>
        </p:txBody>
      </p:sp>
      <p:sp>
        <p:nvSpPr>
          <p:cNvPr id="20" name="object 20" descr=""/>
          <p:cNvSpPr txBox="1"/>
          <p:nvPr/>
        </p:nvSpPr>
        <p:spPr>
          <a:xfrm>
            <a:off x="4027911" y="3421617"/>
            <a:ext cx="1536700" cy="259079"/>
          </a:xfrm>
          <a:prstGeom prst="rect">
            <a:avLst/>
          </a:prstGeom>
        </p:spPr>
        <p:txBody>
          <a:bodyPr wrap="square" lIns="0" tIns="16510" rIns="0" bIns="0" rtlCol="0" vert="horz">
            <a:spAutoFit/>
          </a:bodyPr>
          <a:lstStyle/>
          <a:p>
            <a:pPr marL="12700">
              <a:lnSpc>
                <a:spcPct val="100000"/>
              </a:lnSpc>
              <a:spcBef>
                <a:spcPts val="130"/>
              </a:spcBef>
            </a:pPr>
            <a:r>
              <a:rPr dirty="0" sz="1500" spc="65">
                <a:solidFill>
                  <a:srgbClr val="0000FF"/>
                </a:solidFill>
                <a:latin typeface="宋体"/>
                <a:cs typeface="宋体"/>
              </a:rPr>
              <a:t>取出数据送往</a:t>
            </a:r>
            <a:r>
              <a:rPr dirty="0" sz="1500" spc="-25">
                <a:solidFill>
                  <a:srgbClr val="0000FF"/>
                </a:solidFill>
                <a:latin typeface="宋体"/>
                <a:cs typeface="宋体"/>
              </a:rPr>
              <a:t>CPU</a:t>
            </a:r>
            <a:endParaRPr sz="1500">
              <a:latin typeface="宋体"/>
              <a:cs typeface="宋体"/>
            </a:endParaRPr>
          </a:p>
        </p:txBody>
      </p:sp>
      <p:sp>
        <p:nvSpPr>
          <p:cNvPr id="21" name="object 21" descr=""/>
          <p:cNvSpPr txBox="1"/>
          <p:nvPr/>
        </p:nvSpPr>
        <p:spPr>
          <a:xfrm>
            <a:off x="4570309" y="4217803"/>
            <a:ext cx="804545" cy="259079"/>
          </a:xfrm>
          <a:prstGeom prst="rect">
            <a:avLst/>
          </a:prstGeom>
        </p:spPr>
        <p:txBody>
          <a:bodyPr wrap="square" lIns="0" tIns="16510" rIns="0" bIns="0" rtlCol="0" vert="horz">
            <a:spAutoFit/>
          </a:bodyPr>
          <a:lstStyle/>
          <a:p>
            <a:pPr marL="12700">
              <a:lnSpc>
                <a:spcPct val="100000"/>
              </a:lnSpc>
              <a:spcBef>
                <a:spcPts val="130"/>
              </a:spcBef>
            </a:pPr>
            <a:r>
              <a:rPr dirty="0" sz="1500" spc="-15">
                <a:solidFill>
                  <a:srgbClr val="FF0000"/>
                </a:solidFill>
                <a:latin typeface="宋体"/>
                <a:cs typeface="宋体"/>
              </a:rPr>
              <a:t>伪相联组</a:t>
            </a:r>
            <a:endParaRPr sz="1500">
              <a:latin typeface="宋体"/>
              <a:cs typeface="宋体"/>
            </a:endParaRPr>
          </a:p>
        </p:txBody>
      </p:sp>
      <p:grpSp>
        <p:nvGrpSpPr>
          <p:cNvPr id="22" name="object 22" descr=""/>
          <p:cNvGrpSpPr/>
          <p:nvPr/>
        </p:nvGrpSpPr>
        <p:grpSpPr>
          <a:xfrm>
            <a:off x="1458017" y="3607291"/>
            <a:ext cx="3117215" cy="1522730"/>
            <a:chOff x="1458017" y="3607291"/>
            <a:chExt cx="3117215" cy="1522730"/>
          </a:xfrm>
        </p:grpSpPr>
        <p:sp>
          <p:nvSpPr>
            <p:cNvPr id="23" name="object 23" descr=""/>
            <p:cNvSpPr/>
            <p:nvPr/>
          </p:nvSpPr>
          <p:spPr>
            <a:xfrm>
              <a:off x="1459523" y="4577824"/>
              <a:ext cx="2667000" cy="15875"/>
            </a:xfrm>
            <a:custGeom>
              <a:avLst/>
              <a:gdLst/>
              <a:ahLst/>
              <a:cxnLst/>
              <a:rect l="l" t="t" r="r" b="b"/>
              <a:pathLst>
                <a:path w="2667000" h="15875">
                  <a:moveTo>
                    <a:pt x="59166" y="0"/>
                  </a:moveTo>
                  <a:lnTo>
                    <a:pt x="5335" y="0"/>
                  </a:lnTo>
                  <a:lnTo>
                    <a:pt x="2667" y="2667"/>
                  </a:lnTo>
                  <a:lnTo>
                    <a:pt x="2667" y="5313"/>
                  </a:lnTo>
                  <a:lnTo>
                    <a:pt x="0" y="7959"/>
                  </a:lnTo>
                  <a:lnTo>
                    <a:pt x="2667" y="10088"/>
                  </a:lnTo>
                  <a:lnTo>
                    <a:pt x="2667" y="12734"/>
                  </a:lnTo>
                  <a:lnTo>
                    <a:pt x="5335" y="15401"/>
                  </a:lnTo>
                  <a:lnTo>
                    <a:pt x="59166" y="15401"/>
                  </a:lnTo>
                  <a:lnTo>
                    <a:pt x="64480" y="10088"/>
                  </a:lnTo>
                  <a:lnTo>
                    <a:pt x="64480" y="5313"/>
                  </a:lnTo>
                  <a:lnTo>
                    <a:pt x="59166" y="0"/>
                  </a:lnTo>
                  <a:close/>
                </a:path>
                <a:path w="2667000" h="15875">
                  <a:moveTo>
                    <a:pt x="173218" y="0"/>
                  </a:moveTo>
                  <a:lnTo>
                    <a:pt x="118849" y="0"/>
                  </a:lnTo>
                  <a:lnTo>
                    <a:pt x="113514" y="5313"/>
                  </a:lnTo>
                  <a:lnTo>
                    <a:pt x="113514" y="10088"/>
                  </a:lnTo>
                  <a:lnTo>
                    <a:pt x="118849" y="15401"/>
                  </a:lnTo>
                  <a:lnTo>
                    <a:pt x="173218" y="15401"/>
                  </a:lnTo>
                  <a:lnTo>
                    <a:pt x="175864" y="12734"/>
                  </a:lnTo>
                  <a:lnTo>
                    <a:pt x="177994" y="10088"/>
                  </a:lnTo>
                  <a:lnTo>
                    <a:pt x="177994" y="5313"/>
                  </a:lnTo>
                  <a:lnTo>
                    <a:pt x="175864" y="2667"/>
                  </a:lnTo>
                  <a:lnTo>
                    <a:pt x="173218" y="0"/>
                  </a:lnTo>
                  <a:close/>
                </a:path>
                <a:path w="2667000" h="15875">
                  <a:moveTo>
                    <a:pt x="286732" y="0"/>
                  </a:moveTo>
                  <a:lnTo>
                    <a:pt x="232363" y="0"/>
                  </a:lnTo>
                  <a:lnTo>
                    <a:pt x="229695" y="2667"/>
                  </a:lnTo>
                  <a:lnTo>
                    <a:pt x="227565" y="5313"/>
                  </a:lnTo>
                  <a:lnTo>
                    <a:pt x="227565" y="10088"/>
                  </a:lnTo>
                  <a:lnTo>
                    <a:pt x="229695" y="12734"/>
                  </a:lnTo>
                  <a:lnTo>
                    <a:pt x="232363" y="15401"/>
                  </a:lnTo>
                  <a:lnTo>
                    <a:pt x="286732" y="15401"/>
                  </a:lnTo>
                  <a:lnTo>
                    <a:pt x="289378" y="12734"/>
                  </a:lnTo>
                  <a:lnTo>
                    <a:pt x="292046" y="10088"/>
                  </a:lnTo>
                  <a:lnTo>
                    <a:pt x="292046" y="5313"/>
                  </a:lnTo>
                  <a:lnTo>
                    <a:pt x="289378" y="2667"/>
                  </a:lnTo>
                  <a:lnTo>
                    <a:pt x="286732" y="0"/>
                  </a:lnTo>
                  <a:close/>
                </a:path>
                <a:path w="2667000" h="15875">
                  <a:moveTo>
                    <a:pt x="400246" y="0"/>
                  </a:moveTo>
                  <a:lnTo>
                    <a:pt x="346415" y="0"/>
                  </a:lnTo>
                  <a:lnTo>
                    <a:pt x="341079" y="5313"/>
                  </a:lnTo>
                  <a:lnTo>
                    <a:pt x="341079" y="10088"/>
                  </a:lnTo>
                  <a:lnTo>
                    <a:pt x="346415" y="15401"/>
                  </a:lnTo>
                  <a:lnTo>
                    <a:pt x="400246" y="15401"/>
                  </a:lnTo>
                  <a:lnTo>
                    <a:pt x="402914" y="12734"/>
                  </a:lnTo>
                  <a:lnTo>
                    <a:pt x="402914" y="10088"/>
                  </a:lnTo>
                  <a:lnTo>
                    <a:pt x="405560" y="7959"/>
                  </a:lnTo>
                  <a:lnTo>
                    <a:pt x="402914" y="5313"/>
                  </a:lnTo>
                  <a:lnTo>
                    <a:pt x="402914" y="2667"/>
                  </a:lnTo>
                  <a:lnTo>
                    <a:pt x="400246" y="0"/>
                  </a:lnTo>
                  <a:close/>
                </a:path>
                <a:path w="2667000" h="15875">
                  <a:moveTo>
                    <a:pt x="511630" y="0"/>
                  </a:moveTo>
                  <a:lnTo>
                    <a:pt x="457261" y="0"/>
                  </a:lnTo>
                  <a:lnTo>
                    <a:pt x="454593" y="2667"/>
                  </a:lnTo>
                  <a:lnTo>
                    <a:pt x="454593" y="5313"/>
                  </a:lnTo>
                  <a:lnTo>
                    <a:pt x="451926" y="7959"/>
                  </a:lnTo>
                  <a:lnTo>
                    <a:pt x="454593" y="10088"/>
                  </a:lnTo>
                  <a:lnTo>
                    <a:pt x="454593" y="12734"/>
                  </a:lnTo>
                  <a:lnTo>
                    <a:pt x="457261" y="15401"/>
                  </a:lnTo>
                  <a:lnTo>
                    <a:pt x="511630" y="15401"/>
                  </a:lnTo>
                  <a:lnTo>
                    <a:pt x="516944" y="10088"/>
                  </a:lnTo>
                  <a:lnTo>
                    <a:pt x="516944" y="5313"/>
                  </a:lnTo>
                  <a:lnTo>
                    <a:pt x="511630" y="0"/>
                  </a:lnTo>
                  <a:close/>
                </a:path>
                <a:path w="2667000" h="15875">
                  <a:moveTo>
                    <a:pt x="625144" y="0"/>
                  </a:moveTo>
                  <a:lnTo>
                    <a:pt x="570775" y="0"/>
                  </a:lnTo>
                  <a:lnTo>
                    <a:pt x="568645" y="2667"/>
                  </a:lnTo>
                  <a:lnTo>
                    <a:pt x="565977" y="5313"/>
                  </a:lnTo>
                  <a:lnTo>
                    <a:pt x="565977" y="10088"/>
                  </a:lnTo>
                  <a:lnTo>
                    <a:pt x="568645" y="12734"/>
                  </a:lnTo>
                  <a:lnTo>
                    <a:pt x="570775" y="15401"/>
                  </a:lnTo>
                  <a:lnTo>
                    <a:pt x="625144" y="15401"/>
                  </a:lnTo>
                  <a:lnTo>
                    <a:pt x="630480" y="10088"/>
                  </a:lnTo>
                  <a:lnTo>
                    <a:pt x="630480" y="5313"/>
                  </a:lnTo>
                  <a:lnTo>
                    <a:pt x="625144" y="0"/>
                  </a:lnTo>
                  <a:close/>
                </a:path>
                <a:path w="2667000" h="15875">
                  <a:moveTo>
                    <a:pt x="739196" y="0"/>
                  </a:moveTo>
                  <a:lnTo>
                    <a:pt x="684827" y="0"/>
                  </a:lnTo>
                  <a:lnTo>
                    <a:pt x="679491" y="5313"/>
                  </a:lnTo>
                  <a:lnTo>
                    <a:pt x="679491" y="10088"/>
                  </a:lnTo>
                  <a:lnTo>
                    <a:pt x="684827" y="15401"/>
                  </a:lnTo>
                  <a:lnTo>
                    <a:pt x="739196" y="15401"/>
                  </a:lnTo>
                  <a:lnTo>
                    <a:pt x="741864" y="12734"/>
                  </a:lnTo>
                  <a:lnTo>
                    <a:pt x="743994" y="10088"/>
                  </a:lnTo>
                  <a:lnTo>
                    <a:pt x="743994" y="5313"/>
                  </a:lnTo>
                  <a:lnTo>
                    <a:pt x="741864" y="2667"/>
                  </a:lnTo>
                  <a:lnTo>
                    <a:pt x="739196" y="0"/>
                  </a:lnTo>
                  <a:close/>
                </a:path>
                <a:path w="2667000" h="15875">
                  <a:moveTo>
                    <a:pt x="852710" y="0"/>
                  </a:moveTo>
                  <a:lnTo>
                    <a:pt x="798341" y="0"/>
                  </a:lnTo>
                  <a:lnTo>
                    <a:pt x="793005" y="5313"/>
                  </a:lnTo>
                  <a:lnTo>
                    <a:pt x="793005" y="10088"/>
                  </a:lnTo>
                  <a:lnTo>
                    <a:pt x="798341" y="15401"/>
                  </a:lnTo>
                  <a:lnTo>
                    <a:pt x="852710" y="15401"/>
                  </a:lnTo>
                  <a:lnTo>
                    <a:pt x="855378" y="12734"/>
                  </a:lnTo>
                  <a:lnTo>
                    <a:pt x="855378" y="10088"/>
                  </a:lnTo>
                  <a:lnTo>
                    <a:pt x="858024" y="7959"/>
                  </a:lnTo>
                  <a:lnTo>
                    <a:pt x="855378" y="5313"/>
                  </a:lnTo>
                  <a:lnTo>
                    <a:pt x="855378" y="2667"/>
                  </a:lnTo>
                  <a:lnTo>
                    <a:pt x="852710" y="0"/>
                  </a:lnTo>
                  <a:close/>
                </a:path>
                <a:path w="2667000" h="15875">
                  <a:moveTo>
                    <a:pt x="964094" y="0"/>
                  </a:moveTo>
                  <a:lnTo>
                    <a:pt x="909725" y="0"/>
                  </a:lnTo>
                  <a:lnTo>
                    <a:pt x="907057" y="2667"/>
                  </a:lnTo>
                  <a:lnTo>
                    <a:pt x="907057" y="5313"/>
                  </a:lnTo>
                  <a:lnTo>
                    <a:pt x="904389" y="7959"/>
                  </a:lnTo>
                  <a:lnTo>
                    <a:pt x="907057" y="10088"/>
                  </a:lnTo>
                  <a:lnTo>
                    <a:pt x="907057" y="12734"/>
                  </a:lnTo>
                  <a:lnTo>
                    <a:pt x="909725" y="15401"/>
                  </a:lnTo>
                  <a:lnTo>
                    <a:pt x="964094" y="15401"/>
                  </a:lnTo>
                  <a:lnTo>
                    <a:pt x="966224" y="12734"/>
                  </a:lnTo>
                  <a:lnTo>
                    <a:pt x="968892" y="10088"/>
                  </a:lnTo>
                  <a:lnTo>
                    <a:pt x="968892" y="5313"/>
                  </a:lnTo>
                  <a:lnTo>
                    <a:pt x="966224" y="2667"/>
                  </a:lnTo>
                  <a:lnTo>
                    <a:pt x="964094" y="0"/>
                  </a:lnTo>
                  <a:close/>
                </a:path>
                <a:path w="2667000" h="15875">
                  <a:moveTo>
                    <a:pt x="1077608" y="0"/>
                  </a:moveTo>
                  <a:lnTo>
                    <a:pt x="1023239" y="0"/>
                  </a:lnTo>
                  <a:lnTo>
                    <a:pt x="1017925" y="5313"/>
                  </a:lnTo>
                  <a:lnTo>
                    <a:pt x="1017925" y="10088"/>
                  </a:lnTo>
                  <a:lnTo>
                    <a:pt x="1023239" y="15401"/>
                  </a:lnTo>
                  <a:lnTo>
                    <a:pt x="1077608" y="15401"/>
                  </a:lnTo>
                  <a:lnTo>
                    <a:pt x="1082944" y="10088"/>
                  </a:lnTo>
                  <a:lnTo>
                    <a:pt x="1082944" y="5313"/>
                  </a:lnTo>
                  <a:lnTo>
                    <a:pt x="1077608" y="0"/>
                  </a:lnTo>
                  <a:close/>
                </a:path>
                <a:path w="2667000" h="15875">
                  <a:moveTo>
                    <a:pt x="1191122" y="0"/>
                  </a:moveTo>
                  <a:lnTo>
                    <a:pt x="1136753" y="0"/>
                  </a:lnTo>
                  <a:lnTo>
                    <a:pt x="1134623" y="2667"/>
                  </a:lnTo>
                  <a:lnTo>
                    <a:pt x="1131955" y="5313"/>
                  </a:lnTo>
                  <a:lnTo>
                    <a:pt x="1131955" y="10088"/>
                  </a:lnTo>
                  <a:lnTo>
                    <a:pt x="1134623" y="12734"/>
                  </a:lnTo>
                  <a:lnTo>
                    <a:pt x="1136753" y="15401"/>
                  </a:lnTo>
                  <a:lnTo>
                    <a:pt x="1191122" y="15401"/>
                  </a:lnTo>
                  <a:lnTo>
                    <a:pt x="1196458" y="10088"/>
                  </a:lnTo>
                  <a:lnTo>
                    <a:pt x="1196458" y="5313"/>
                  </a:lnTo>
                  <a:lnTo>
                    <a:pt x="1191122" y="0"/>
                  </a:lnTo>
                  <a:close/>
                </a:path>
                <a:path w="2667000" h="15875">
                  <a:moveTo>
                    <a:pt x="1305174" y="0"/>
                  </a:moveTo>
                  <a:lnTo>
                    <a:pt x="1250805" y="0"/>
                  </a:lnTo>
                  <a:lnTo>
                    <a:pt x="1245469" y="5313"/>
                  </a:lnTo>
                  <a:lnTo>
                    <a:pt x="1245469" y="10088"/>
                  </a:lnTo>
                  <a:lnTo>
                    <a:pt x="1250805" y="15401"/>
                  </a:lnTo>
                  <a:lnTo>
                    <a:pt x="1305174" y="15401"/>
                  </a:lnTo>
                  <a:lnTo>
                    <a:pt x="1307304" y="12734"/>
                  </a:lnTo>
                  <a:lnTo>
                    <a:pt x="1307304" y="10088"/>
                  </a:lnTo>
                  <a:lnTo>
                    <a:pt x="1309972" y="7959"/>
                  </a:lnTo>
                  <a:lnTo>
                    <a:pt x="1307304" y="5313"/>
                  </a:lnTo>
                  <a:lnTo>
                    <a:pt x="1307304" y="2667"/>
                  </a:lnTo>
                  <a:lnTo>
                    <a:pt x="1305174" y="0"/>
                  </a:lnTo>
                  <a:close/>
                </a:path>
                <a:path w="2667000" h="15875">
                  <a:moveTo>
                    <a:pt x="1416020" y="0"/>
                  </a:moveTo>
                  <a:lnTo>
                    <a:pt x="1361651" y="0"/>
                  </a:lnTo>
                  <a:lnTo>
                    <a:pt x="1359005" y="2667"/>
                  </a:lnTo>
                  <a:lnTo>
                    <a:pt x="1359005" y="5313"/>
                  </a:lnTo>
                  <a:lnTo>
                    <a:pt x="1356853" y="7959"/>
                  </a:lnTo>
                  <a:lnTo>
                    <a:pt x="1359005" y="10088"/>
                  </a:lnTo>
                  <a:lnTo>
                    <a:pt x="1359005" y="12734"/>
                  </a:lnTo>
                  <a:lnTo>
                    <a:pt x="1361651" y="15401"/>
                  </a:lnTo>
                  <a:lnTo>
                    <a:pt x="1416020" y="15401"/>
                  </a:lnTo>
                  <a:lnTo>
                    <a:pt x="1421356" y="10088"/>
                  </a:lnTo>
                  <a:lnTo>
                    <a:pt x="1421356" y="5313"/>
                  </a:lnTo>
                  <a:lnTo>
                    <a:pt x="1416020" y="0"/>
                  </a:lnTo>
                  <a:close/>
                </a:path>
                <a:path w="2667000" h="15875">
                  <a:moveTo>
                    <a:pt x="1529534" y="0"/>
                  </a:moveTo>
                  <a:lnTo>
                    <a:pt x="1475703" y="0"/>
                  </a:lnTo>
                  <a:lnTo>
                    <a:pt x="1470389" y="5313"/>
                  </a:lnTo>
                  <a:lnTo>
                    <a:pt x="1470389" y="10088"/>
                  </a:lnTo>
                  <a:lnTo>
                    <a:pt x="1475703" y="15401"/>
                  </a:lnTo>
                  <a:lnTo>
                    <a:pt x="1529534" y="15401"/>
                  </a:lnTo>
                  <a:lnTo>
                    <a:pt x="1534870" y="10088"/>
                  </a:lnTo>
                  <a:lnTo>
                    <a:pt x="1534870" y="5313"/>
                  </a:lnTo>
                  <a:lnTo>
                    <a:pt x="1529534" y="0"/>
                  </a:lnTo>
                  <a:close/>
                </a:path>
                <a:path w="2667000" h="15875">
                  <a:moveTo>
                    <a:pt x="1643672" y="0"/>
                  </a:moveTo>
                  <a:lnTo>
                    <a:pt x="1589217" y="0"/>
                  </a:lnTo>
                  <a:lnTo>
                    <a:pt x="1586571" y="2667"/>
                  </a:lnTo>
                  <a:lnTo>
                    <a:pt x="1583903" y="5313"/>
                  </a:lnTo>
                  <a:lnTo>
                    <a:pt x="1583903" y="10088"/>
                  </a:lnTo>
                  <a:lnTo>
                    <a:pt x="1586571" y="12734"/>
                  </a:lnTo>
                  <a:lnTo>
                    <a:pt x="1589217" y="15401"/>
                  </a:lnTo>
                  <a:lnTo>
                    <a:pt x="1643672" y="15401"/>
                  </a:lnTo>
                  <a:lnTo>
                    <a:pt x="1646254" y="12734"/>
                  </a:lnTo>
                  <a:lnTo>
                    <a:pt x="1648405" y="10088"/>
                  </a:lnTo>
                  <a:lnTo>
                    <a:pt x="1648405" y="5313"/>
                  </a:lnTo>
                  <a:lnTo>
                    <a:pt x="1646254" y="2667"/>
                  </a:lnTo>
                  <a:lnTo>
                    <a:pt x="1643672" y="0"/>
                  </a:lnTo>
                  <a:close/>
                </a:path>
                <a:path w="2667000" h="15875">
                  <a:moveTo>
                    <a:pt x="1757057" y="0"/>
                  </a:moveTo>
                  <a:lnTo>
                    <a:pt x="1702839" y="0"/>
                  </a:lnTo>
                  <a:lnTo>
                    <a:pt x="1700042" y="2667"/>
                  </a:lnTo>
                  <a:lnTo>
                    <a:pt x="1697890" y="5313"/>
                  </a:lnTo>
                  <a:lnTo>
                    <a:pt x="1697890" y="10088"/>
                  </a:lnTo>
                  <a:lnTo>
                    <a:pt x="1700042" y="12734"/>
                  </a:lnTo>
                  <a:lnTo>
                    <a:pt x="1702839" y="15401"/>
                  </a:lnTo>
                  <a:lnTo>
                    <a:pt x="1757057" y="15401"/>
                  </a:lnTo>
                  <a:lnTo>
                    <a:pt x="1759854" y="12734"/>
                  </a:lnTo>
                  <a:lnTo>
                    <a:pt x="1759854" y="10088"/>
                  </a:lnTo>
                  <a:lnTo>
                    <a:pt x="1762436" y="7959"/>
                  </a:lnTo>
                  <a:lnTo>
                    <a:pt x="1759854" y="5313"/>
                  </a:lnTo>
                  <a:lnTo>
                    <a:pt x="1759854" y="2667"/>
                  </a:lnTo>
                  <a:lnTo>
                    <a:pt x="1757057" y="0"/>
                  </a:lnTo>
                  <a:close/>
                </a:path>
                <a:path w="2667000" h="15875">
                  <a:moveTo>
                    <a:pt x="1868506" y="0"/>
                  </a:moveTo>
                  <a:lnTo>
                    <a:pt x="1814072" y="0"/>
                  </a:lnTo>
                  <a:lnTo>
                    <a:pt x="1811490" y="2667"/>
                  </a:lnTo>
                  <a:lnTo>
                    <a:pt x="1811490" y="5313"/>
                  </a:lnTo>
                  <a:lnTo>
                    <a:pt x="1808693" y="7959"/>
                  </a:lnTo>
                  <a:lnTo>
                    <a:pt x="1811490" y="10088"/>
                  </a:lnTo>
                  <a:lnTo>
                    <a:pt x="1811490" y="12734"/>
                  </a:lnTo>
                  <a:lnTo>
                    <a:pt x="1814072" y="15401"/>
                  </a:lnTo>
                  <a:lnTo>
                    <a:pt x="1868506" y="15401"/>
                  </a:lnTo>
                  <a:lnTo>
                    <a:pt x="1870657" y="12734"/>
                  </a:lnTo>
                  <a:lnTo>
                    <a:pt x="1873239" y="10088"/>
                  </a:lnTo>
                  <a:lnTo>
                    <a:pt x="1873239" y="5313"/>
                  </a:lnTo>
                  <a:lnTo>
                    <a:pt x="1870657" y="2667"/>
                  </a:lnTo>
                  <a:lnTo>
                    <a:pt x="1868506" y="0"/>
                  </a:lnTo>
                  <a:close/>
                </a:path>
                <a:path w="2667000" h="15875">
                  <a:moveTo>
                    <a:pt x="1982106" y="0"/>
                  </a:moveTo>
                  <a:lnTo>
                    <a:pt x="1927672" y="0"/>
                  </a:lnTo>
                  <a:lnTo>
                    <a:pt x="1924875" y="2667"/>
                  </a:lnTo>
                  <a:lnTo>
                    <a:pt x="1922294" y="5313"/>
                  </a:lnTo>
                  <a:lnTo>
                    <a:pt x="1922294" y="10088"/>
                  </a:lnTo>
                  <a:lnTo>
                    <a:pt x="1924875" y="12734"/>
                  </a:lnTo>
                  <a:lnTo>
                    <a:pt x="1927672" y="15401"/>
                  </a:lnTo>
                  <a:lnTo>
                    <a:pt x="1982106" y="15401"/>
                  </a:lnTo>
                  <a:lnTo>
                    <a:pt x="1987269" y="10088"/>
                  </a:lnTo>
                  <a:lnTo>
                    <a:pt x="1987269" y="5313"/>
                  </a:lnTo>
                  <a:lnTo>
                    <a:pt x="1982106" y="0"/>
                  </a:lnTo>
                  <a:close/>
                </a:path>
                <a:path w="2667000" h="15875">
                  <a:moveTo>
                    <a:pt x="2095491" y="0"/>
                  </a:moveTo>
                  <a:lnTo>
                    <a:pt x="2041057" y="0"/>
                  </a:lnTo>
                  <a:lnTo>
                    <a:pt x="2039121" y="2667"/>
                  </a:lnTo>
                  <a:lnTo>
                    <a:pt x="2036324" y="5313"/>
                  </a:lnTo>
                  <a:lnTo>
                    <a:pt x="2036324" y="10088"/>
                  </a:lnTo>
                  <a:lnTo>
                    <a:pt x="2039121" y="12734"/>
                  </a:lnTo>
                  <a:lnTo>
                    <a:pt x="2041057" y="15401"/>
                  </a:lnTo>
                  <a:lnTo>
                    <a:pt x="2095491" y="15401"/>
                  </a:lnTo>
                  <a:lnTo>
                    <a:pt x="2098288" y="12734"/>
                  </a:lnTo>
                  <a:lnTo>
                    <a:pt x="2100869" y="10088"/>
                  </a:lnTo>
                  <a:lnTo>
                    <a:pt x="2100869" y="5313"/>
                  </a:lnTo>
                  <a:lnTo>
                    <a:pt x="2098288" y="2667"/>
                  </a:lnTo>
                  <a:lnTo>
                    <a:pt x="2095491" y="0"/>
                  </a:lnTo>
                  <a:close/>
                </a:path>
                <a:path w="2667000" h="15875">
                  <a:moveTo>
                    <a:pt x="2209521" y="0"/>
                  </a:moveTo>
                  <a:lnTo>
                    <a:pt x="2155303" y="0"/>
                  </a:lnTo>
                  <a:lnTo>
                    <a:pt x="2152506" y="2667"/>
                  </a:lnTo>
                  <a:lnTo>
                    <a:pt x="2149924" y="5313"/>
                  </a:lnTo>
                  <a:lnTo>
                    <a:pt x="2149924" y="10088"/>
                  </a:lnTo>
                  <a:lnTo>
                    <a:pt x="2152506" y="12734"/>
                  </a:lnTo>
                  <a:lnTo>
                    <a:pt x="2155303" y="15401"/>
                  </a:lnTo>
                  <a:lnTo>
                    <a:pt x="2209521" y="15401"/>
                  </a:lnTo>
                  <a:lnTo>
                    <a:pt x="2212318" y="12734"/>
                  </a:lnTo>
                  <a:lnTo>
                    <a:pt x="2212318" y="10088"/>
                  </a:lnTo>
                  <a:lnTo>
                    <a:pt x="2214254" y="7959"/>
                  </a:lnTo>
                  <a:lnTo>
                    <a:pt x="2212318" y="5313"/>
                  </a:lnTo>
                  <a:lnTo>
                    <a:pt x="2212318" y="2667"/>
                  </a:lnTo>
                  <a:lnTo>
                    <a:pt x="2209521" y="0"/>
                  </a:lnTo>
                  <a:close/>
                </a:path>
                <a:path w="2667000" h="15875">
                  <a:moveTo>
                    <a:pt x="2320324" y="0"/>
                  </a:moveTo>
                  <a:lnTo>
                    <a:pt x="2266106" y="0"/>
                  </a:lnTo>
                  <a:lnTo>
                    <a:pt x="2263309" y="2667"/>
                  </a:lnTo>
                  <a:lnTo>
                    <a:pt x="2263309" y="5313"/>
                  </a:lnTo>
                  <a:lnTo>
                    <a:pt x="2261157" y="7959"/>
                  </a:lnTo>
                  <a:lnTo>
                    <a:pt x="2263309" y="10088"/>
                  </a:lnTo>
                  <a:lnTo>
                    <a:pt x="2263309" y="12734"/>
                  </a:lnTo>
                  <a:lnTo>
                    <a:pt x="2266106" y="15401"/>
                  </a:lnTo>
                  <a:lnTo>
                    <a:pt x="2320324" y="15401"/>
                  </a:lnTo>
                  <a:lnTo>
                    <a:pt x="2323121" y="12734"/>
                  </a:lnTo>
                  <a:lnTo>
                    <a:pt x="2325703" y="10088"/>
                  </a:lnTo>
                  <a:lnTo>
                    <a:pt x="2325703" y="5313"/>
                  </a:lnTo>
                  <a:lnTo>
                    <a:pt x="2323121" y="2667"/>
                  </a:lnTo>
                  <a:lnTo>
                    <a:pt x="2320324" y="0"/>
                  </a:lnTo>
                  <a:close/>
                </a:path>
                <a:path w="2667000" h="15875">
                  <a:moveTo>
                    <a:pt x="2434570" y="0"/>
                  </a:moveTo>
                  <a:lnTo>
                    <a:pt x="2380136" y="0"/>
                  </a:lnTo>
                  <a:lnTo>
                    <a:pt x="2377339" y="2667"/>
                  </a:lnTo>
                  <a:lnTo>
                    <a:pt x="2374757" y="5313"/>
                  </a:lnTo>
                  <a:lnTo>
                    <a:pt x="2374757" y="10088"/>
                  </a:lnTo>
                  <a:lnTo>
                    <a:pt x="2377339" y="12734"/>
                  </a:lnTo>
                  <a:lnTo>
                    <a:pt x="2380136" y="15401"/>
                  </a:lnTo>
                  <a:lnTo>
                    <a:pt x="2434570" y="15401"/>
                  </a:lnTo>
                  <a:lnTo>
                    <a:pt x="2436506" y="12734"/>
                  </a:lnTo>
                  <a:lnTo>
                    <a:pt x="2439303" y="10088"/>
                  </a:lnTo>
                  <a:lnTo>
                    <a:pt x="2439303" y="5313"/>
                  </a:lnTo>
                  <a:lnTo>
                    <a:pt x="2436506" y="2667"/>
                  </a:lnTo>
                  <a:lnTo>
                    <a:pt x="2434570" y="0"/>
                  </a:lnTo>
                  <a:close/>
                </a:path>
                <a:path w="2667000" h="15875">
                  <a:moveTo>
                    <a:pt x="2547955" y="0"/>
                  </a:moveTo>
                  <a:lnTo>
                    <a:pt x="2493521" y="0"/>
                  </a:lnTo>
                  <a:lnTo>
                    <a:pt x="2488358" y="5313"/>
                  </a:lnTo>
                  <a:lnTo>
                    <a:pt x="2488358" y="10088"/>
                  </a:lnTo>
                  <a:lnTo>
                    <a:pt x="2493521" y="15401"/>
                  </a:lnTo>
                  <a:lnTo>
                    <a:pt x="2547955" y="15401"/>
                  </a:lnTo>
                  <a:lnTo>
                    <a:pt x="2550752" y="12734"/>
                  </a:lnTo>
                  <a:lnTo>
                    <a:pt x="2553333" y="10088"/>
                  </a:lnTo>
                  <a:lnTo>
                    <a:pt x="2553333" y="5313"/>
                  </a:lnTo>
                  <a:lnTo>
                    <a:pt x="2550752" y="2667"/>
                  </a:lnTo>
                  <a:lnTo>
                    <a:pt x="2547955" y="0"/>
                  </a:lnTo>
                  <a:close/>
                </a:path>
                <a:path w="2667000" h="15875">
                  <a:moveTo>
                    <a:pt x="2661555" y="0"/>
                  </a:moveTo>
                  <a:lnTo>
                    <a:pt x="2607121" y="0"/>
                  </a:lnTo>
                  <a:lnTo>
                    <a:pt x="2604970" y="2667"/>
                  </a:lnTo>
                  <a:lnTo>
                    <a:pt x="2602388" y="5313"/>
                  </a:lnTo>
                  <a:lnTo>
                    <a:pt x="2602388" y="10088"/>
                  </a:lnTo>
                  <a:lnTo>
                    <a:pt x="2604970" y="12734"/>
                  </a:lnTo>
                  <a:lnTo>
                    <a:pt x="2607121" y="15401"/>
                  </a:lnTo>
                  <a:lnTo>
                    <a:pt x="2661555" y="15401"/>
                  </a:lnTo>
                  <a:lnTo>
                    <a:pt x="2664136" y="12734"/>
                  </a:lnTo>
                  <a:lnTo>
                    <a:pt x="2664136" y="10088"/>
                  </a:lnTo>
                  <a:lnTo>
                    <a:pt x="2666933" y="7959"/>
                  </a:lnTo>
                  <a:lnTo>
                    <a:pt x="2664136" y="5313"/>
                  </a:lnTo>
                  <a:lnTo>
                    <a:pt x="2664136" y="2667"/>
                  </a:lnTo>
                  <a:lnTo>
                    <a:pt x="2661555" y="0"/>
                  </a:lnTo>
                  <a:close/>
                </a:path>
              </a:pathLst>
            </a:custGeom>
            <a:solidFill>
              <a:srgbClr val="000000"/>
            </a:solidFill>
          </p:spPr>
          <p:txBody>
            <a:bodyPr wrap="square" lIns="0" tIns="0" rIns="0" bIns="0" rtlCol="0"/>
            <a:lstStyle/>
            <a:p/>
          </p:txBody>
        </p:sp>
        <p:pic>
          <p:nvPicPr>
            <p:cNvPr id="24" name="object 24" descr=""/>
            <p:cNvPicPr/>
            <p:nvPr/>
          </p:nvPicPr>
          <p:blipFill>
            <a:blip r:embed="rId5" cstate="print"/>
            <a:stretch>
              <a:fillRect/>
            </a:stretch>
          </p:blipFill>
          <p:spPr>
            <a:xfrm>
              <a:off x="1458017" y="3607291"/>
              <a:ext cx="3117030" cy="1522396"/>
            </a:xfrm>
            <a:prstGeom prst="rect">
              <a:avLst/>
            </a:prstGeom>
          </p:spPr>
        </p:pic>
      </p:grpSp>
      <p:sp>
        <p:nvSpPr>
          <p:cNvPr id="25" name="object 25" descr=""/>
          <p:cNvSpPr txBox="1"/>
          <p:nvPr/>
        </p:nvSpPr>
        <p:spPr>
          <a:xfrm>
            <a:off x="906609" y="3243834"/>
            <a:ext cx="1071245" cy="391160"/>
          </a:xfrm>
          <a:prstGeom prst="rect">
            <a:avLst/>
          </a:prstGeom>
        </p:spPr>
        <p:txBody>
          <a:bodyPr wrap="square" lIns="0" tIns="12700" rIns="0" bIns="0" rtlCol="0" vert="horz">
            <a:spAutoFit/>
          </a:bodyPr>
          <a:lstStyle/>
          <a:p>
            <a:pPr marL="38100">
              <a:lnSpc>
                <a:spcPct val="100000"/>
              </a:lnSpc>
              <a:spcBef>
                <a:spcPts val="100"/>
              </a:spcBef>
            </a:pPr>
            <a:r>
              <a:rPr dirty="0" baseline="-29629" sz="2250" spc="-15">
                <a:solidFill>
                  <a:srgbClr val="0000FF"/>
                </a:solidFill>
                <a:latin typeface="宋体"/>
                <a:cs typeface="宋体"/>
              </a:rPr>
              <a:t>索引</a:t>
            </a:r>
            <a:r>
              <a:rPr dirty="0" sz="2400" spc="-25">
                <a:solidFill>
                  <a:srgbClr val="FF0000"/>
                </a:solidFill>
                <a:latin typeface="黑体"/>
                <a:cs typeface="黑体"/>
              </a:rPr>
              <a:t>命中</a:t>
            </a:r>
            <a:endParaRPr sz="2400">
              <a:latin typeface="黑体"/>
              <a:cs typeface="黑体"/>
            </a:endParaRPr>
          </a:p>
        </p:txBody>
      </p:sp>
      <p:graphicFrame>
        <p:nvGraphicFramePr>
          <p:cNvPr id="26" name="object 26" descr=""/>
          <p:cNvGraphicFramePr>
            <a:graphicFrameLocks noGrp="1"/>
          </p:cNvGraphicFramePr>
          <p:nvPr/>
        </p:nvGraphicFramePr>
        <p:xfrm>
          <a:off x="2136085" y="3174256"/>
          <a:ext cx="1334770" cy="2800985"/>
        </p:xfrm>
        <a:graphic>
          <a:graphicData uri="http://schemas.openxmlformats.org/drawingml/2006/table">
            <a:tbl>
              <a:tblPr firstRow="1" bandRow="1">
                <a:tableStyleId>{2D5ABB26-0587-4C30-8999-92F81FD0307C}</a:tableStyleId>
              </a:tblPr>
              <a:tblGrid>
                <a:gridCol w="1242695"/>
              </a:tblGrid>
              <a:tr h="299085">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299720">
                <a:tc>
                  <a:txBody>
                    <a:bodyPr/>
                    <a:lstStyle/>
                    <a:p>
                      <a:pPr algn="ctr" marR="144145">
                        <a:lnSpc>
                          <a:spcPts val="2230"/>
                        </a:lnSpc>
                        <a:spcBef>
                          <a:spcPts val="25"/>
                        </a:spcBef>
                      </a:pPr>
                      <a:r>
                        <a:rPr dirty="0" sz="2400" spc="-50">
                          <a:solidFill>
                            <a:srgbClr val="FF0000"/>
                          </a:solidFill>
                          <a:latin typeface="Tahoma"/>
                          <a:cs typeface="Tahoma"/>
                        </a:rPr>
                        <a:t>b</a:t>
                      </a:r>
                      <a:endParaRPr sz="2400">
                        <a:latin typeface="Tahoma"/>
                        <a:cs typeface="Tahoma"/>
                      </a:endParaRPr>
                    </a:p>
                  </a:txBody>
                  <a:tcPr marL="0" marR="0" marB="0" marT="317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501015">
                <a:tc>
                  <a:txBody>
                    <a:bodyPr/>
                    <a:lstStyle/>
                    <a:p>
                      <a:pPr algn="r" marR="514350">
                        <a:lnSpc>
                          <a:spcPct val="100000"/>
                        </a:lnSpc>
                        <a:spcBef>
                          <a:spcPts val="880"/>
                        </a:spcBef>
                      </a:pPr>
                      <a:r>
                        <a:rPr dirty="0" sz="1800" spc="-50">
                          <a:latin typeface="宋体"/>
                          <a:cs typeface="宋体"/>
                        </a:rPr>
                        <a:t>…</a:t>
                      </a:r>
                      <a:endParaRPr sz="1800">
                        <a:latin typeface="宋体"/>
                        <a:cs typeface="宋体"/>
                      </a:endParaRPr>
                    </a:p>
                  </a:txBody>
                  <a:tcPr marL="0" marR="0" marB="0" marT="11176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29972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299085">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302260">
                <a:tc>
                  <a:txBody>
                    <a:bodyPr/>
                    <a:lstStyle/>
                    <a:p>
                      <a:pPr algn="ctr" marR="187325">
                        <a:lnSpc>
                          <a:spcPts val="2280"/>
                        </a:lnSpc>
                      </a:pPr>
                      <a:r>
                        <a:rPr dirty="0" sz="2400" spc="-50">
                          <a:solidFill>
                            <a:srgbClr val="FF0000"/>
                          </a:solidFill>
                          <a:latin typeface="Tahoma"/>
                          <a:cs typeface="Tahoma"/>
                        </a:rPr>
                        <a:t>a</a:t>
                      </a:r>
                      <a:endParaRPr sz="2400">
                        <a:latin typeface="Tahoma"/>
                        <a:cs typeface="Tahoma"/>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r>
              <a:tr h="498475">
                <a:tc>
                  <a:txBody>
                    <a:bodyPr/>
                    <a:lstStyle/>
                    <a:p>
                      <a:pPr algn="r" marR="514350">
                        <a:lnSpc>
                          <a:spcPts val="2590"/>
                        </a:lnSpc>
                        <a:tabLst>
                          <a:tab pos="492125" algn="l"/>
                        </a:tabLst>
                      </a:pPr>
                      <a:r>
                        <a:rPr dirty="0" sz="2400" spc="-50">
                          <a:solidFill>
                            <a:srgbClr val="FF0000"/>
                          </a:solidFill>
                          <a:latin typeface="黑体"/>
                          <a:cs typeface="黑体"/>
                        </a:rPr>
                        <a:t>中</a:t>
                      </a:r>
                      <a:r>
                        <a:rPr dirty="0" sz="2400">
                          <a:solidFill>
                            <a:srgbClr val="FF0000"/>
                          </a:solidFill>
                          <a:latin typeface="黑体"/>
                          <a:cs typeface="黑体"/>
                        </a:rPr>
                        <a:t>	</a:t>
                      </a:r>
                      <a:r>
                        <a:rPr dirty="0" baseline="-16975" sz="2700" spc="-75">
                          <a:latin typeface="宋体"/>
                          <a:cs typeface="宋体"/>
                        </a:rPr>
                        <a:t>…</a:t>
                      </a:r>
                      <a:endParaRPr baseline="-16975" sz="2700">
                        <a:latin typeface="宋体"/>
                        <a:cs typeface="宋体"/>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301625">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bl>
          </a:graphicData>
        </a:graphic>
      </p:graphicFrame>
      <p:sp>
        <p:nvSpPr>
          <p:cNvPr id="27" name="object 27"/>
          <p:cNvSpPr txBox="1">
            <a:spLocks noGrp="1"/>
          </p:cNvSpPr>
          <p:nvPr>
            <p:ph type="title"/>
          </p:nvPr>
        </p:nvSpPr>
        <p:spPr>
          <a:prstGeom prst="rect"/>
        </p:spPr>
        <p:txBody>
          <a:bodyPr wrap="square" lIns="0" tIns="0" rIns="0" bIns="0" rtlCol="0" vert="horz">
            <a:spAutoFit/>
          </a:bodyPr>
          <a:lstStyle/>
          <a:p>
            <a:pPr marL="255270">
              <a:lnSpc>
                <a:spcPts val="3020"/>
              </a:lnSpc>
            </a:pPr>
            <a:r>
              <a:rPr dirty="0" u="none" sz="2600">
                <a:solidFill>
                  <a:srgbClr val="0000CC"/>
                </a:solidFill>
              </a:rPr>
              <a:t>7.3.5</a:t>
            </a:r>
            <a:r>
              <a:rPr dirty="0" u="none" sz="2600" spc="-70">
                <a:solidFill>
                  <a:srgbClr val="0000CC"/>
                </a:solidFill>
              </a:rPr>
              <a:t> </a:t>
            </a:r>
            <a:r>
              <a:rPr dirty="0" u="none" sz="2400" spc="-120">
                <a:solidFill>
                  <a:srgbClr val="0000CC"/>
                </a:solidFill>
              </a:rPr>
              <a:t>伪相联 </a:t>
            </a:r>
            <a:r>
              <a:rPr dirty="0" u="none" sz="2400">
                <a:solidFill>
                  <a:srgbClr val="0000CC"/>
                </a:solidFill>
                <a:latin typeface="Tahoma"/>
                <a:cs typeface="Tahoma"/>
              </a:rPr>
              <a:t>Cache</a:t>
            </a:r>
            <a:r>
              <a:rPr dirty="0" u="none" sz="2400" spc="-10">
                <a:solidFill>
                  <a:srgbClr val="0000CC"/>
                </a:solidFill>
                <a:latin typeface="Tahoma"/>
                <a:cs typeface="Tahoma"/>
              </a:rPr>
              <a:t> </a:t>
            </a:r>
            <a:r>
              <a:rPr dirty="0" u="none" sz="2400" spc="-10">
                <a:solidFill>
                  <a:srgbClr val="40458B"/>
                </a:solidFill>
                <a:latin typeface="Tahoma"/>
                <a:cs typeface="Tahoma"/>
              </a:rPr>
              <a:t>(</a:t>
            </a:r>
            <a:r>
              <a:rPr dirty="0" u="none" sz="2400" spc="-120">
                <a:solidFill>
                  <a:srgbClr val="0000CC"/>
                </a:solidFill>
              </a:rPr>
              <a:t>列相联 </a:t>
            </a:r>
            <a:r>
              <a:rPr dirty="0" u="none" sz="2400">
                <a:solidFill>
                  <a:srgbClr val="0000CC"/>
                </a:solidFill>
                <a:latin typeface="Tahoma"/>
                <a:cs typeface="Tahoma"/>
              </a:rPr>
              <a:t>Cache</a:t>
            </a:r>
            <a:r>
              <a:rPr dirty="0" u="none" sz="2400" spc="5">
                <a:solidFill>
                  <a:srgbClr val="0000CC"/>
                </a:solidFill>
                <a:latin typeface="Tahoma"/>
                <a:cs typeface="Tahoma"/>
              </a:rPr>
              <a:t> </a:t>
            </a:r>
            <a:r>
              <a:rPr dirty="0" u="none" sz="2400" spc="-50">
                <a:solidFill>
                  <a:srgbClr val="40458B"/>
                </a:solidFill>
                <a:latin typeface="Tahoma"/>
                <a:cs typeface="Tahoma"/>
              </a:rPr>
              <a:t>)</a:t>
            </a:r>
            <a:endParaRPr sz="2400">
              <a:latin typeface="Tahoma"/>
              <a:cs typeface="Tahoma"/>
            </a:endParaRPr>
          </a:p>
        </p:txBody>
      </p:sp>
      <p:grpSp>
        <p:nvGrpSpPr>
          <p:cNvPr id="28" name="object 28" descr=""/>
          <p:cNvGrpSpPr/>
          <p:nvPr/>
        </p:nvGrpSpPr>
        <p:grpSpPr>
          <a:xfrm>
            <a:off x="7967598" y="2906539"/>
            <a:ext cx="1441450" cy="1716405"/>
            <a:chOff x="7967598" y="2906539"/>
            <a:chExt cx="1441450" cy="1716405"/>
          </a:xfrm>
        </p:grpSpPr>
        <p:pic>
          <p:nvPicPr>
            <p:cNvPr id="29" name="object 29" descr=""/>
            <p:cNvPicPr/>
            <p:nvPr/>
          </p:nvPicPr>
          <p:blipFill>
            <a:blip r:embed="rId6" cstate="print"/>
            <a:stretch>
              <a:fillRect/>
            </a:stretch>
          </p:blipFill>
          <p:spPr>
            <a:xfrm>
              <a:off x="7967598" y="2906539"/>
              <a:ext cx="1441196" cy="1716260"/>
            </a:xfrm>
            <a:prstGeom prst="rect">
              <a:avLst/>
            </a:prstGeom>
          </p:spPr>
        </p:pic>
        <p:sp>
          <p:nvSpPr>
            <p:cNvPr id="30" name="object 30" descr=""/>
            <p:cNvSpPr/>
            <p:nvPr/>
          </p:nvSpPr>
          <p:spPr>
            <a:xfrm>
              <a:off x="7991474" y="3262249"/>
              <a:ext cx="1368425" cy="311150"/>
            </a:xfrm>
            <a:custGeom>
              <a:avLst/>
              <a:gdLst/>
              <a:ahLst/>
              <a:cxnLst/>
              <a:rect l="l" t="t" r="r" b="b"/>
              <a:pathLst>
                <a:path w="1368425" h="311150">
                  <a:moveTo>
                    <a:pt x="1368425" y="0"/>
                  </a:moveTo>
                  <a:lnTo>
                    <a:pt x="0" y="0"/>
                  </a:lnTo>
                  <a:lnTo>
                    <a:pt x="0" y="311150"/>
                  </a:lnTo>
                  <a:lnTo>
                    <a:pt x="1368425" y="311150"/>
                  </a:lnTo>
                  <a:lnTo>
                    <a:pt x="1368425" y="0"/>
                  </a:lnTo>
                  <a:close/>
                </a:path>
              </a:pathLst>
            </a:custGeom>
            <a:solidFill>
              <a:srgbClr val="647AD3"/>
            </a:solidFill>
          </p:spPr>
          <p:txBody>
            <a:bodyPr wrap="square" lIns="0" tIns="0" rIns="0" bIns="0" rtlCol="0"/>
            <a:lstStyle/>
            <a:p/>
          </p:txBody>
        </p:sp>
        <p:sp>
          <p:nvSpPr>
            <p:cNvPr id="31" name="object 31" descr=""/>
            <p:cNvSpPr/>
            <p:nvPr/>
          </p:nvSpPr>
          <p:spPr>
            <a:xfrm>
              <a:off x="7991474" y="3262249"/>
              <a:ext cx="1368425" cy="311150"/>
            </a:xfrm>
            <a:custGeom>
              <a:avLst/>
              <a:gdLst/>
              <a:ahLst/>
              <a:cxnLst/>
              <a:rect l="l" t="t" r="r" b="b"/>
              <a:pathLst>
                <a:path w="1368425" h="311150">
                  <a:moveTo>
                    <a:pt x="0" y="311150"/>
                  </a:moveTo>
                  <a:lnTo>
                    <a:pt x="1368425" y="311150"/>
                  </a:lnTo>
                  <a:lnTo>
                    <a:pt x="1368425" y="0"/>
                  </a:lnTo>
                  <a:lnTo>
                    <a:pt x="0" y="0"/>
                  </a:lnTo>
                  <a:lnTo>
                    <a:pt x="0" y="311150"/>
                  </a:lnTo>
                  <a:close/>
                </a:path>
              </a:pathLst>
            </a:custGeom>
            <a:ln w="19050">
              <a:solidFill>
                <a:srgbClr val="FF0000"/>
              </a:solidFill>
            </a:ln>
          </p:spPr>
          <p:txBody>
            <a:bodyPr wrap="square" lIns="0" tIns="0" rIns="0" bIns="0" rtlCol="0"/>
            <a:lstStyle/>
            <a:p/>
          </p:txBody>
        </p:sp>
      </p:grpSp>
      <p:grpSp>
        <p:nvGrpSpPr>
          <p:cNvPr id="32" name="object 32" descr=""/>
          <p:cNvGrpSpPr/>
          <p:nvPr/>
        </p:nvGrpSpPr>
        <p:grpSpPr>
          <a:xfrm>
            <a:off x="9542780" y="2898538"/>
            <a:ext cx="1441450" cy="1716405"/>
            <a:chOff x="9542780" y="2898538"/>
            <a:chExt cx="1441450" cy="1716405"/>
          </a:xfrm>
        </p:grpSpPr>
        <p:pic>
          <p:nvPicPr>
            <p:cNvPr id="33" name="object 33" descr=""/>
            <p:cNvPicPr/>
            <p:nvPr/>
          </p:nvPicPr>
          <p:blipFill>
            <a:blip r:embed="rId6" cstate="print"/>
            <a:stretch>
              <a:fillRect/>
            </a:stretch>
          </p:blipFill>
          <p:spPr>
            <a:xfrm>
              <a:off x="9542780" y="2898538"/>
              <a:ext cx="1441196" cy="1716260"/>
            </a:xfrm>
            <a:prstGeom prst="rect">
              <a:avLst/>
            </a:prstGeom>
          </p:spPr>
        </p:pic>
        <p:sp>
          <p:nvSpPr>
            <p:cNvPr id="34" name="object 34" descr=""/>
            <p:cNvSpPr/>
            <p:nvPr/>
          </p:nvSpPr>
          <p:spPr>
            <a:xfrm>
              <a:off x="9585452" y="3234880"/>
              <a:ext cx="1368425" cy="311150"/>
            </a:xfrm>
            <a:custGeom>
              <a:avLst/>
              <a:gdLst/>
              <a:ahLst/>
              <a:cxnLst/>
              <a:rect l="l" t="t" r="r" b="b"/>
              <a:pathLst>
                <a:path w="1368425" h="311150">
                  <a:moveTo>
                    <a:pt x="1368298" y="0"/>
                  </a:moveTo>
                  <a:lnTo>
                    <a:pt x="0" y="0"/>
                  </a:lnTo>
                  <a:lnTo>
                    <a:pt x="0" y="310705"/>
                  </a:lnTo>
                  <a:lnTo>
                    <a:pt x="1368298" y="310705"/>
                  </a:lnTo>
                  <a:lnTo>
                    <a:pt x="1368298" y="0"/>
                  </a:lnTo>
                  <a:close/>
                </a:path>
              </a:pathLst>
            </a:custGeom>
            <a:solidFill>
              <a:srgbClr val="00AFEF"/>
            </a:solidFill>
          </p:spPr>
          <p:txBody>
            <a:bodyPr wrap="square" lIns="0" tIns="0" rIns="0" bIns="0" rtlCol="0"/>
            <a:lstStyle/>
            <a:p/>
          </p:txBody>
        </p:sp>
        <p:sp>
          <p:nvSpPr>
            <p:cNvPr id="35" name="object 35" descr=""/>
            <p:cNvSpPr/>
            <p:nvPr/>
          </p:nvSpPr>
          <p:spPr>
            <a:xfrm>
              <a:off x="9585452" y="3234880"/>
              <a:ext cx="1368425" cy="311150"/>
            </a:xfrm>
            <a:custGeom>
              <a:avLst/>
              <a:gdLst/>
              <a:ahLst/>
              <a:cxnLst/>
              <a:rect l="l" t="t" r="r" b="b"/>
              <a:pathLst>
                <a:path w="1368425" h="311150">
                  <a:moveTo>
                    <a:pt x="0" y="310705"/>
                  </a:moveTo>
                  <a:lnTo>
                    <a:pt x="1368298" y="310705"/>
                  </a:lnTo>
                  <a:lnTo>
                    <a:pt x="1368298" y="0"/>
                  </a:lnTo>
                  <a:lnTo>
                    <a:pt x="0" y="0"/>
                  </a:lnTo>
                  <a:lnTo>
                    <a:pt x="0" y="310705"/>
                  </a:lnTo>
                  <a:close/>
                </a:path>
              </a:pathLst>
            </a:custGeom>
            <a:ln w="19050">
              <a:solidFill>
                <a:srgbClr val="FF0000"/>
              </a:solidFill>
            </a:ln>
          </p:spPr>
          <p:txBody>
            <a:bodyPr wrap="square" lIns="0" tIns="0" rIns="0" bIns="0" rtlCol="0"/>
            <a:lstStyle/>
            <a:p/>
          </p:txBody>
        </p:sp>
      </p:grpSp>
      <p:sp>
        <p:nvSpPr>
          <p:cNvPr id="36" name="object 36" descr=""/>
          <p:cNvSpPr txBox="1"/>
          <p:nvPr/>
        </p:nvSpPr>
        <p:spPr>
          <a:xfrm>
            <a:off x="8499729" y="4777181"/>
            <a:ext cx="155130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两路组相联</a:t>
            </a:r>
            <a:endParaRPr sz="2400">
              <a:latin typeface="黑体"/>
              <a:cs typeface="黑体"/>
            </a:endParaRPr>
          </a:p>
        </p:txBody>
      </p:sp>
      <p:sp>
        <p:nvSpPr>
          <p:cNvPr id="37" name="object 37" descr=""/>
          <p:cNvSpPr txBox="1"/>
          <p:nvPr/>
        </p:nvSpPr>
        <p:spPr>
          <a:xfrm>
            <a:off x="1245819" y="5134432"/>
            <a:ext cx="635000" cy="391795"/>
          </a:xfrm>
          <a:prstGeom prst="rect">
            <a:avLst/>
          </a:prstGeom>
        </p:spPr>
        <p:txBody>
          <a:bodyPr wrap="square" lIns="0" tIns="12700" rIns="0" bIns="0" rtlCol="0" vert="horz">
            <a:spAutoFit/>
          </a:bodyPr>
          <a:lstStyle/>
          <a:p>
            <a:pPr marL="12700">
              <a:lnSpc>
                <a:spcPct val="100000"/>
              </a:lnSpc>
              <a:spcBef>
                <a:spcPts val="100"/>
              </a:spcBef>
            </a:pPr>
            <a:r>
              <a:rPr dirty="0" sz="2400" spc="-30">
                <a:solidFill>
                  <a:srgbClr val="FF0000"/>
                </a:solidFill>
                <a:latin typeface="黑体"/>
                <a:cs typeface="黑体"/>
              </a:rPr>
              <a:t>伪命</a:t>
            </a:r>
            <a:endParaRPr sz="2400">
              <a:latin typeface="黑体"/>
              <a:cs typeface="黑体"/>
            </a:endParaRPr>
          </a:p>
        </p:txBody>
      </p:sp>
      <p:sp>
        <p:nvSpPr>
          <p:cNvPr id="38" name="object 38" descr=""/>
          <p:cNvSpPr txBox="1"/>
          <p:nvPr/>
        </p:nvSpPr>
        <p:spPr>
          <a:xfrm>
            <a:off x="6918452" y="3243834"/>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黑体"/>
                <a:cs typeface="黑体"/>
              </a:rPr>
              <a:t>伪相联</a:t>
            </a:r>
            <a:endParaRPr sz="2400">
              <a:latin typeface="黑体"/>
              <a:cs typeface="黑体"/>
            </a:endParaRPr>
          </a:p>
        </p:txBody>
      </p:sp>
      <p:sp>
        <p:nvSpPr>
          <p:cNvPr id="39" name="object 39" descr=""/>
          <p:cNvSpPr txBox="1"/>
          <p:nvPr/>
        </p:nvSpPr>
        <p:spPr>
          <a:xfrm>
            <a:off x="3943350" y="5595315"/>
            <a:ext cx="5958840" cy="330835"/>
          </a:xfrm>
          <a:prstGeom prst="rect">
            <a:avLst/>
          </a:prstGeom>
        </p:spPr>
        <p:txBody>
          <a:bodyPr wrap="square" lIns="0" tIns="12700" rIns="0" bIns="0" rtlCol="0" vert="horz">
            <a:spAutoFit/>
          </a:bodyPr>
          <a:lstStyle/>
          <a:p>
            <a:pPr marL="354965" indent="-342265">
              <a:lnSpc>
                <a:spcPct val="100000"/>
              </a:lnSpc>
              <a:spcBef>
                <a:spcPts val="100"/>
              </a:spcBef>
              <a:buClr>
                <a:srgbClr val="4F55AC"/>
              </a:buClr>
              <a:buFont typeface="Wingdings"/>
              <a:buChar char=""/>
              <a:tabLst>
                <a:tab pos="354965" algn="l"/>
              </a:tabLst>
            </a:pPr>
            <a:r>
              <a:rPr dirty="0" sz="2000" spc="-20">
                <a:solidFill>
                  <a:srgbClr val="FF09FF"/>
                </a:solidFill>
                <a:latin typeface="黑体"/>
                <a:cs typeface="黑体"/>
              </a:rPr>
              <a:t>命中后，基于程序局部性原理，数据对调，如左图</a:t>
            </a:r>
            <a:endParaRPr sz="2000">
              <a:latin typeface="黑体"/>
              <a:cs typeface="黑体"/>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42391" y="799370"/>
            <a:ext cx="11362055" cy="1844675"/>
          </a:xfrm>
          <a:prstGeom prst="rect">
            <a:avLst/>
          </a:prstGeom>
        </p:spPr>
        <p:txBody>
          <a:bodyPr wrap="square" lIns="0" tIns="206375" rIns="0" bIns="0" rtlCol="0" vert="horz">
            <a:spAutoFit/>
          </a:bodyPr>
          <a:lstStyle/>
          <a:p>
            <a:pPr marL="12700">
              <a:lnSpc>
                <a:spcPct val="100000"/>
              </a:lnSpc>
              <a:spcBef>
                <a:spcPts val="1625"/>
              </a:spcBef>
              <a:tabLst>
                <a:tab pos="469265" algn="l"/>
              </a:tabLst>
            </a:pPr>
            <a:r>
              <a:rPr dirty="0" sz="2400" spc="-25">
                <a:solidFill>
                  <a:srgbClr val="40458B"/>
                </a:solidFill>
                <a:latin typeface="Tahoma"/>
                <a:cs typeface="Tahoma"/>
              </a:rPr>
              <a:t>3.</a:t>
            </a:r>
            <a:r>
              <a:rPr dirty="0" sz="2400">
                <a:solidFill>
                  <a:srgbClr val="40458B"/>
                </a:solidFill>
                <a:latin typeface="Tahoma"/>
                <a:cs typeface="Tahoma"/>
              </a:rPr>
              <a:t>	</a:t>
            </a:r>
            <a:r>
              <a:rPr dirty="0" sz="2400" spc="-10">
                <a:solidFill>
                  <a:srgbClr val="E14B04"/>
                </a:solidFill>
                <a:latin typeface="黑体"/>
                <a:cs typeface="黑体"/>
              </a:rPr>
              <a:t>基本思想及工作原理</a:t>
            </a:r>
            <a:endParaRPr sz="2400">
              <a:latin typeface="黑体"/>
              <a:cs typeface="黑体"/>
            </a:endParaRPr>
          </a:p>
          <a:p>
            <a:pPr marL="469900" marR="5080" indent="572770">
              <a:lnSpc>
                <a:spcPct val="130000"/>
              </a:lnSpc>
              <a:spcBef>
                <a:spcPts val="555"/>
              </a:spcBef>
            </a:pPr>
            <a:r>
              <a:rPr dirty="0" sz="2000" spc="-15" b="1">
                <a:solidFill>
                  <a:srgbClr val="40458B"/>
                </a:solidFill>
                <a:latin typeface="宋体"/>
                <a:cs typeface="宋体"/>
              </a:rPr>
              <a:t>在逻辑上把直接映象</a:t>
            </a:r>
            <a:r>
              <a:rPr dirty="0" sz="2000" spc="-10" b="1">
                <a:solidFill>
                  <a:srgbClr val="40458B"/>
                </a:solidFill>
                <a:latin typeface="宋体"/>
                <a:cs typeface="宋体"/>
              </a:rPr>
              <a:t>Cache</a:t>
            </a:r>
            <a:r>
              <a:rPr dirty="0" sz="2000" spc="-20" b="1">
                <a:solidFill>
                  <a:srgbClr val="40458B"/>
                </a:solidFill>
                <a:latin typeface="宋体"/>
                <a:cs typeface="宋体"/>
              </a:rPr>
              <a:t>的空间上下平分为两个区</a:t>
            </a:r>
            <a:r>
              <a:rPr dirty="0" sz="2000" spc="-10" b="1">
                <a:solidFill>
                  <a:srgbClr val="40458B"/>
                </a:solidFill>
                <a:latin typeface="宋体"/>
                <a:cs typeface="宋体"/>
              </a:rPr>
              <a:t>（</a:t>
            </a:r>
            <a:r>
              <a:rPr dirty="0" sz="2000" spc="-20" b="1">
                <a:solidFill>
                  <a:srgbClr val="40458B"/>
                </a:solidFill>
                <a:latin typeface="宋体"/>
                <a:cs typeface="宋体"/>
              </a:rPr>
              <a:t>地址不连续</a:t>
            </a:r>
            <a:r>
              <a:rPr dirty="0" sz="2000" spc="-10" b="1">
                <a:solidFill>
                  <a:srgbClr val="40458B"/>
                </a:solidFill>
                <a:latin typeface="宋体"/>
                <a:cs typeface="宋体"/>
              </a:rPr>
              <a:t>）</a:t>
            </a:r>
            <a:r>
              <a:rPr dirty="0" sz="2000" spc="-25" b="1">
                <a:solidFill>
                  <a:srgbClr val="40458B"/>
                </a:solidFill>
                <a:latin typeface="宋体"/>
                <a:cs typeface="宋体"/>
              </a:rPr>
              <a:t>。对于任何一次访问，</a:t>
            </a:r>
            <a:r>
              <a:rPr dirty="0" sz="2000" spc="-50" b="1">
                <a:solidFill>
                  <a:srgbClr val="40458B"/>
                </a:solidFill>
                <a:latin typeface="宋体"/>
                <a:cs typeface="宋体"/>
              </a:rPr>
              <a:t> </a:t>
            </a:r>
            <a:r>
              <a:rPr dirty="0" sz="2000" spc="-10" b="1">
                <a:solidFill>
                  <a:srgbClr val="40458B"/>
                </a:solidFill>
                <a:latin typeface="宋体"/>
                <a:cs typeface="宋体"/>
              </a:rPr>
              <a:t>伪相联Cache</a:t>
            </a:r>
            <a:r>
              <a:rPr dirty="0" sz="2000" spc="-20" b="1">
                <a:solidFill>
                  <a:srgbClr val="40458B"/>
                </a:solidFill>
                <a:latin typeface="宋体"/>
                <a:cs typeface="宋体"/>
              </a:rPr>
              <a:t>先按直接映象</a:t>
            </a:r>
            <a:r>
              <a:rPr dirty="0" sz="2000" spc="-10" b="1">
                <a:solidFill>
                  <a:srgbClr val="40458B"/>
                </a:solidFill>
                <a:latin typeface="宋体"/>
                <a:cs typeface="宋体"/>
              </a:rPr>
              <a:t>Cache</a:t>
            </a:r>
            <a:r>
              <a:rPr dirty="0" sz="2000" spc="-20" b="1">
                <a:solidFill>
                  <a:srgbClr val="40458B"/>
                </a:solidFill>
                <a:latin typeface="宋体"/>
                <a:cs typeface="宋体"/>
              </a:rPr>
              <a:t>的方式去处理。若命中，则其访问过程与直接映象</a:t>
            </a:r>
            <a:r>
              <a:rPr dirty="0" sz="2000" spc="-10" b="1">
                <a:solidFill>
                  <a:srgbClr val="40458B"/>
                </a:solidFill>
                <a:latin typeface="宋体"/>
                <a:cs typeface="宋体"/>
              </a:rPr>
              <a:t>Cache</a:t>
            </a:r>
            <a:r>
              <a:rPr dirty="0" sz="2000" spc="-25" b="1">
                <a:solidFill>
                  <a:srgbClr val="40458B"/>
                </a:solidFill>
                <a:latin typeface="宋体"/>
                <a:cs typeface="宋体"/>
              </a:rPr>
              <a:t>的情况一样。若不命中，则再到另一区相应的位置去查找。若找到，则发生了伪命中，否则就只好访问下</a:t>
            </a:r>
            <a:endParaRPr sz="2000">
              <a:latin typeface="宋体"/>
              <a:cs typeface="宋体"/>
            </a:endParaRPr>
          </a:p>
        </p:txBody>
      </p:sp>
      <p:sp>
        <p:nvSpPr>
          <p:cNvPr id="10" name="object 10" descr=""/>
          <p:cNvSpPr txBox="1"/>
          <p:nvPr/>
        </p:nvSpPr>
        <p:spPr>
          <a:xfrm>
            <a:off x="799591" y="2709113"/>
            <a:ext cx="1562100" cy="331470"/>
          </a:xfrm>
          <a:prstGeom prst="rect">
            <a:avLst/>
          </a:prstGeom>
        </p:spPr>
        <p:txBody>
          <a:bodyPr wrap="square" lIns="0" tIns="13335" rIns="0" bIns="0" rtlCol="0" vert="horz">
            <a:spAutoFit/>
          </a:bodyPr>
          <a:lstStyle/>
          <a:p>
            <a:pPr marL="12700">
              <a:lnSpc>
                <a:spcPct val="100000"/>
              </a:lnSpc>
              <a:spcBef>
                <a:spcPts val="105"/>
              </a:spcBef>
            </a:pPr>
            <a:r>
              <a:rPr dirty="0" sz="2000" spc="-25" b="1">
                <a:solidFill>
                  <a:srgbClr val="40458B"/>
                </a:solidFill>
                <a:latin typeface="宋体"/>
                <a:cs typeface="宋体"/>
              </a:rPr>
              <a:t>一级存储器。</a:t>
            </a:r>
            <a:endParaRPr sz="2000">
              <a:latin typeface="宋体"/>
              <a:cs typeface="宋体"/>
            </a:endParaRPr>
          </a:p>
        </p:txBody>
      </p:sp>
      <p:grpSp>
        <p:nvGrpSpPr>
          <p:cNvPr id="11" name="object 11" descr=""/>
          <p:cNvGrpSpPr/>
          <p:nvPr/>
        </p:nvGrpSpPr>
        <p:grpSpPr>
          <a:xfrm>
            <a:off x="1364667" y="3082772"/>
            <a:ext cx="2613660" cy="2910840"/>
            <a:chOff x="1364667" y="3082772"/>
            <a:chExt cx="2613660" cy="2910840"/>
          </a:xfrm>
        </p:grpSpPr>
        <p:sp>
          <p:nvSpPr>
            <p:cNvPr id="12" name="object 12" descr=""/>
            <p:cNvSpPr/>
            <p:nvPr/>
          </p:nvSpPr>
          <p:spPr>
            <a:xfrm>
              <a:off x="2143813" y="3181983"/>
              <a:ext cx="1243330" cy="2803525"/>
            </a:xfrm>
            <a:custGeom>
              <a:avLst/>
              <a:gdLst/>
              <a:ahLst/>
              <a:cxnLst/>
              <a:rect l="l" t="t" r="r" b="b"/>
              <a:pathLst>
                <a:path w="1243329" h="2803525">
                  <a:moveTo>
                    <a:pt x="1242802" y="0"/>
                  </a:moveTo>
                  <a:lnTo>
                    <a:pt x="0" y="0"/>
                  </a:lnTo>
                  <a:lnTo>
                    <a:pt x="0" y="2803310"/>
                  </a:lnTo>
                  <a:lnTo>
                    <a:pt x="1242802" y="2803310"/>
                  </a:lnTo>
                  <a:lnTo>
                    <a:pt x="1242802" y="0"/>
                  </a:lnTo>
                  <a:close/>
                </a:path>
              </a:pathLst>
            </a:custGeom>
            <a:solidFill>
              <a:srgbClr val="FFFF99"/>
            </a:solidFill>
          </p:spPr>
          <p:txBody>
            <a:bodyPr wrap="square" lIns="0" tIns="0" rIns="0" bIns="0" rtlCol="0"/>
            <a:lstStyle/>
            <a:p/>
          </p:txBody>
        </p:sp>
        <p:sp>
          <p:nvSpPr>
            <p:cNvPr id="13" name="object 13" descr=""/>
            <p:cNvSpPr/>
            <p:nvPr/>
          </p:nvSpPr>
          <p:spPr>
            <a:xfrm>
              <a:off x="2143813" y="3181983"/>
              <a:ext cx="1243330" cy="2803525"/>
            </a:xfrm>
            <a:custGeom>
              <a:avLst/>
              <a:gdLst/>
              <a:ahLst/>
              <a:cxnLst/>
              <a:rect l="l" t="t" r="r" b="b"/>
              <a:pathLst>
                <a:path w="1243329" h="2803525">
                  <a:moveTo>
                    <a:pt x="0" y="2803310"/>
                  </a:moveTo>
                  <a:lnTo>
                    <a:pt x="1242802" y="2803310"/>
                  </a:lnTo>
                  <a:lnTo>
                    <a:pt x="1242802" y="0"/>
                  </a:lnTo>
                  <a:lnTo>
                    <a:pt x="0" y="0"/>
                  </a:lnTo>
                  <a:lnTo>
                    <a:pt x="0" y="2803310"/>
                  </a:lnTo>
                  <a:close/>
                </a:path>
              </a:pathLst>
            </a:custGeom>
            <a:ln w="15454">
              <a:solidFill>
                <a:srgbClr val="000000"/>
              </a:solidFill>
            </a:ln>
          </p:spPr>
          <p:txBody>
            <a:bodyPr wrap="square" lIns="0" tIns="0" rIns="0" bIns="0" rtlCol="0"/>
            <a:lstStyle/>
            <a:p/>
          </p:txBody>
        </p:sp>
        <p:pic>
          <p:nvPicPr>
            <p:cNvPr id="14" name="object 14" descr=""/>
            <p:cNvPicPr/>
            <p:nvPr/>
          </p:nvPicPr>
          <p:blipFill>
            <a:blip r:embed="rId3" cstate="print"/>
            <a:stretch>
              <a:fillRect/>
            </a:stretch>
          </p:blipFill>
          <p:spPr>
            <a:xfrm>
              <a:off x="2153947" y="3481452"/>
              <a:ext cx="1217220" cy="299863"/>
            </a:xfrm>
            <a:prstGeom prst="rect">
              <a:avLst/>
            </a:prstGeom>
          </p:spPr>
        </p:pic>
        <p:pic>
          <p:nvPicPr>
            <p:cNvPr id="15" name="object 15" descr=""/>
            <p:cNvPicPr/>
            <p:nvPr/>
          </p:nvPicPr>
          <p:blipFill>
            <a:blip r:embed="rId4" cstate="print"/>
            <a:stretch>
              <a:fillRect/>
            </a:stretch>
          </p:blipFill>
          <p:spPr>
            <a:xfrm>
              <a:off x="2153947" y="4881925"/>
              <a:ext cx="1214574" cy="302508"/>
            </a:xfrm>
            <a:prstGeom prst="rect">
              <a:avLst/>
            </a:prstGeom>
          </p:spPr>
        </p:pic>
        <p:sp>
          <p:nvSpPr>
            <p:cNvPr id="16" name="object 16" descr=""/>
            <p:cNvSpPr/>
            <p:nvPr/>
          </p:nvSpPr>
          <p:spPr>
            <a:xfrm>
              <a:off x="1366255" y="3578036"/>
              <a:ext cx="781050" cy="85090"/>
            </a:xfrm>
            <a:custGeom>
              <a:avLst/>
              <a:gdLst/>
              <a:ahLst/>
              <a:cxnLst/>
              <a:rect l="l" t="t" r="r" b="b"/>
              <a:pathLst>
                <a:path w="781050" h="85089">
                  <a:moveTo>
                    <a:pt x="651264" y="0"/>
                  </a:moveTo>
                  <a:lnTo>
                    <a:pt x="695499" y="43882"/>
                  </a:lnTo>
                  <a:lnTo>
                    <a:pt x="651264" y="84753"/>
                  </a:lnTo>
                  <a:lnTo>
                    <a:pt x="748729" y="53992"/>
                  </a:lnTo>
                  <a:lnTo>
                    <a:pt x="698167" y="53992"/>
                  </a:lnTo>
                  <a:lnTo>
                    <a:pt x="702943" y="51411"/>
                  </a:lnTo>
                  <a:lnTo>
                    <a:pt x="705611" y="46033"/>
                  </a:lnTo>
                  <a:lnTo>
                    <a:pt x="705611" y="38719"/>
                  </a:lnTo>
                  <a:lnTo>
                    <a:pt x="702943" y="35923"/>
                  </a:lnTo>
                  <a:lnTo>
                    <a:pt x="698167" y="33342"/>
                  </a:lnTo>
                  <a:lnTo>
                    <a:pt x="749658" y="33342"/>
                  </a:lnTo>
                  <a:lnTo>
                    <a:pt x="651264" y="0"/>
                  </a:lnTo>
                  <a:close/>
                </a:path>
                <a:path w="781050" h="85089">
                  <a:moveTo>
                    <a:pt x="684874" y="33342"/>
                  </a:moveTo>
                  <a:lnTo>
                    <a:pt x="8003" y="33342"/>
                  </a:lnTo>
                  <a:lnTo>
                    <a:pt x="5335" y="35923"/>
                  </a:lnTo>
                  <a:lnTo>
                    <a:pt x="2667" y="38719"/>
                  </a:lnTo>
                  <a:lnTo>
                    <a:pt x="0" y="43882"/>
                  </a:lnTo>
                  <a:lnTo>
                    <a:pt x="2667" y="46033"/>
                  </a:lnTo>
                  <a:lnTo>
                    <a:pt x="5335" y="51411"/>
                  </a:lnTo>
                  <a:lnTo>
                    <a:pt x="8003" y="53992"/>
                  </a:lnTo>
                  <a:lnTo>
                    <a:pt x="684556" y="53992"/>
                  </a:lnTo>
                  <a:lnTo>
                    <a:pt x="695499" y="43882"/>
                  </a:lnTo>
                  <a:lnTo>
                    <a:pt x="684874" y="33342"/>
                  </a:lnTo>
                  <a:close/>
                </a:path>
                <a:path w="781050" h="85089">
                  <a:moveTo>
                    <a:pt x="749658" y="33342"/>
                  </a:moveTo>
                  <a:lnTo>
                    <a:pt x="698167" y="33342"/>
                  </a:lnTo>
                  <a:lnTo>
                    <a:pt x="702943" y="35923"/>
                  </a:lnTo>
                  <a:lnTo>
                    <a:pt x="705611" y="38719"/>
                  </a:lnTo>
                  <a:lnTo>
                    <a:pt x="705611" y="46033"/>
                  </a:lnTo>
                  <a:lnTo>
                    <a:pt x="702943" y="51411"/>
                  </a:lnTo>
                  <a:lnTo>
                    <a:pt x="698167" y="53992"/>
                  </a:lnTo>
                  <a:lnTo>
                    <a:pt x="748729" y="53992"/>
                  </a:lnTo>
                  <a:lnTo>
                    <a:pt x="780763" y="43882"/>
                  </a:lnTo>
                  <a:lnTo>
                    <a:pt x="749658" y="33342"/>
                  </a:lnTo>
                  <a:close/>
                </a:path>
              </a:pathLst>
            </a:custGeom>
            <a:solidFill>
              <a:srgbClr val="000000"/>
            </a:solidFill>
          </p:spPr>
          <p:txBody>
            <a:bodyPr wrap="square" lIns="0" tIns="0" rIns="0" bIns="0" rtlCol="0"/>
            <a:lstStyle/>
            <a:p/>
          </p:txBody>
        </p:sp>
        <p:sp>
          <p:nvSpPr>
            <p:cNvPr id="17" name="object 17" descr=""/>
            <p:cNvSpPr/>
            <p:nvPr/>
          </p:nvSpPr>
          <p:spPr>
            <a:xfrm>
              <a:off x="1366255" y="3578036"/>
              <a:ext cx="781050" cy="85090"/>
            </a:xfrm>
            <a:custGeom>
              <a:avLst/>
              <a:gdLst/>
              <a:ahLst/>
              <a:cxnLst/>
              <a:rect l="l" t="t" r="r" b="b"/>
              <a:pathLst>
                <a:path w="781050" h="85089">
                  <a:moveTo>
                    <a:pt x="13339" y="33342"/>
                  </a:moveTo>
                  <a:lnTo>
                    <a:pt x="695499" y="33342"/>
                  </a:lnTo>
                  <a:lnTo>
                    <a:pt x="698167" y="33342"/>
                  </a:lnTo>
                  <a:lnTo>
                    <a:pt x="702943" y="35923"/>
                  </a:lnTo>
                  <a:lnTo>
                    <a:pt x="705611" y="38719"/>
                  </a:lnTo>
                  <a:lnTo>
                    <a:pt x="705611" y="43882"/>
                  </a:lnTo>
                  <a:lnTo>
                    <a:pt x="705611" y="46033"/>
                  </a:lnTo>
                  <a:lnTo>
                    <a:pt x="702943" y="51411"/>
                  </a:lnTo>
                  <a:lnTo>
                    <a:pt x="698167" y="53992"/>
                  </a:lnTo>
                  <a:lnTo>
                    <a:pt x="695499" y="53992"/>
                  </a:lnTo>
                  <a:lnTo>
                    <a:pt x="13339" y="53992"/>
                  </a:lnTo>
                  <a:lnTo>
                    <a:pt x="8003" y="53992"/>
                  </a:lnTo>
                  <a:lnTo>
                    <a:pt x="5335" y="51411"/>
                  </a:lnTo>
                  <a:lnTo>
                    <a:pt x="2667" y="46033"/>
                  </a:lnTo>
                  <a:lnTo>
                    <a:pt x="0" y="43882"/>
                  </a:lnTo>
                  <a:lnTo>
                    <a:pt x="2667" y="38719"/>
                  </a:lnTo>
                  <a:lnTo>
                    <a:pt x="5335" y="35923"/>
                  </a:lnTo>
                  <a:lnTo>
                    <a:pt x="8003" y="33342"/>
                  </a:lnTo>
                  <a:lnTo>
                    <a:pt x="13339" y="33342"/>
                  </a:lnTo>
                  <a:close/>
                </a:path>
                <a:path w="781050" h="85089">
                  <a:moveTo>
                    <a:pt x="695499" y="43882"/>
                  </a:moveTo>
                  <a:lnTo>
                    <a:pt x="651264" y="0"/>
                  </a:lnTo>
                  <a:lnTo>
                    <a:pt x="780763" y="43882"/>
                  </a:lnTo>
                  <a:lnTo>
                    <a:pt x="651264" y="84753"/>
                  </a:lnTo>
                  <a:lnTo>
                    <a:pt x="695499" y="43882"/>
                  </a:lnTo>
                  <a:close/>
                </a:path>
              </a:pathLst>
            </a:custGeom>
            <a:ln w="3175">
              <a:solidFill>
                <a:srgbClr val="000000"/>
              </a:solidFill>
            </a:ln>
          </p:spPr>
          <p:txBody>
            <a:bodyPr wrap="square" lIns="0" tIns="0" rIns="0" bIns="0" rtlCol="0"/>
            <a:lstStyle/>
            <a:p/>
          </p:txBody>
        </p:sp>
        <p:sp>
          <p:nvSpPr>
            <p:cNvPr id="18" name="object 18" descr=""/>
            <p:cNvSpPr/>
            <p:nvPr/>
          </p:nvSpPr>
          <p:spPr>
            <a:xfrm>
              <a:off x="3891296" y="3084360"/>
              <a:ext cx="85725" cy="1946275"/>
            </a:xfrm>
            <a:custGeom>
              <a:avLst/>
              <a:gdLst/>
              <a:ahLst/>
              <a:cxnLst/>
              <a:rect l="l" t="t" r="r" b="b"/>
              <a:pathLst>
                <a:path w="85725" h="1946275">
                  <a:moveTo>
                    <a:pt x="41093" y="84968"/>
                  </a:moveTo>
                  <a:lnTo>
                    <a:pt x="30981" y="95819"/>
                  </a:lnTo>
                  <a:lnTo>
                    <a:pt x="30981" y="1940333"/>
                  </a:lnTo>
                  <a:lnTo>
                    <a:pt x="33563" y="1942979"/>
                  </a:lnTo>
                  <a:lnTo>
                    <a:pt x="38297" y="1945646"/>
                  </a:lnTo>
                  <a:lnTo>
                    <a:pt x="46472" y="1945646"/>
                  </a:lnTo>
                  <a:lnTo>
                    <a:pt x="51636" y="1940333"/>
                  </a:lnTo>
                  <a:lnTo>
                    <a:pt x="51636" y="95508"/>
                  </a:lnTo>
                  <a:lnTo>
                    <a:pt x="41093" y="84968"/>
                  </a:lnTo>
                  <a:close/>
                </a:path>
                <a:path w="85725" h="1946275">
                  <a:moveTo>
                    <a:pt x="41093" y="0"/>
                  </a:moveTo>
                  <a:lnTo>
                    <a:pt x="0" y="129065"/>
                  </a:lnTo>
                  <a:lnTo>
                    <a:pt x="30981" y="95819"/>
                  </a:lnTo>
                  <a:lnTo>
                    <a:pt x="30981" y="82817"/>
                  </a:lnTo>
                  <a:lnTo>
                    <a:pt x="33563" y="77439"/>
                  </a:lnTo>
                  <a:lnTo>
                    <a:pt x="38296" y="74858"/>
                  </a:lnTo>
                  <a:lnTo>
                    <a:pt x="66675" y="74858"/>
                  </a:lnTo>
                  <a:lnTo>
                    <a:pt x="41093" y="0"/>
                  </a:lnTo>
                  <a:close/>
                </a:path>
                <a:path w="85725" h="1946275">
                  <a:moveTo>
                    <a:pt x="66675" y="74858"/>
                  </a:moveTo>
                  <a:lnTo>
                    <a:pt x="46472" y="74858"/>
                  </a:lnTo>
                  <a:lnTo>
                    <a:pt x="49054" y="77439"/>
                  </a:lnTo>
                  <a:lnTo>
                    <a:pt x="51636" y="82817"/>
                  </a:lnTo>
                  <a:lnTo>
                    <a:pt x="51636" y="95508"/>
                  </a:lnTo>
                  <a:lnTo>
                    <a:pt x="85200" y="129065"/>
                  </a:lnTo>
                  <a:lnTo>
                    <a:pt x="66675" y="74858"/>
                  </a:lnTo>
                  <a:close/>
                </a:path>
                <a:path w="85725" h="1946275">
                  <a:moveTo>
                    <a:pt x="46472" y="74858"/>
                  </a:moveTo>
                  <a:lnTo>
                    <a:pt x="38296" y="74858"/>
                  </a:lnTo>
                  <a:lnTo>
                    <a:pt x="33563" y="77439"/>
                  </a:lnTo>
                  <a:lnTo>
                    <a:pt x="30981" y="82817"/>
                  </a:lnTo>
                  <a:lnTo>
                    <a:pt x="30981" y="95819"/>
                  </a:lnTo>
                  <a:lnTo>
                    <a:pt x="41093" y="84968"/>
                  </a:lnTo>
                  <a:lnTo>
                    <a:pt x="51636" y="84968"/>
                  </a:lnTo>
                  <a:lnTo>
                    <a:pt x="51636" y="82817"/>
                  </a:lnTo>
                  <a:lnTo>
                    <a:pt x="49054" y="77439"/>
                  </a:lnTo>
                  <a:lnTo>
                    <a:pt x="46472" y="74858"/>
                  </a:lnTo>
                  <a:close/>
                </a:path>
                <a:path w="85725" h="1946275">
                  <a:moveTo>
                    <a:pt x="51636" y="84968"/>
                  </a:moveTo>
                  <a:lnTo>
                    <a:pt x="41093" y="84968"/>
                  </a:lnTo>
                  <a:lnTo>
                    <a:pt x="51636" y="95508"/>
                  </a:lnTo>
                  <a:lnTo>
                    <a:pt x="51636" y="84968"/>
                  </a:lnTo>
                  <a:close/>
                </a:path>
              </a:pathLst>
            </a:custGeom>
            <a:solidFill>
              <a:srgbClr val="000000"/>
            </a:solidFill>
          </p:spPr>
          <p:txBody>
            <a:bodyPr wrap="square" lIns="0" tIns="0" rIns="0" bIns="0" rtlCol="0"/>
            <a:lstStyle/>
            <a:p/>
          </p:txBody>
        </p:sp>
        <p:sp>
          <p:nvSpPr>
            <p:cNvPr id="19" name="object 19" descr=""/>
            <p:cNvSpPr/>
            <p:nvPr/>
          </p:nvSpPr>
          <p:spPr>
            <a:xfrm>
              <a:off x="3891296" y="3084359"/>
              <a:ext cx="85725" cy="1946275"/>
            </a:xfrm>
            <a:custGeom>
              <a:avLst/>
              <a:gdLst/>
              <a:ahLst/>
              <a:cxnLst/>
              <a:rect l="l" t="t" r="r" b="b"/>
              <a:pathLst>
                <a:path w="85725" h="1946275">
                  <a:moveTo>
                    <a:pt x="30981" y="1935557"/>
                  </a:moveTo>
                  <a:lnTo>
                    <a:pt x="30981" y="84968"/>
                  </a:lnTo>
                  <a:lnTo>
                    <a:pt x="30981" y="82817"/>
                  </a:lnTo>
                  <a:lnTo>
                    <a:pt x="33563" y="77439"/>
                  </a:lnTo>
                  <a:lnTo>
                    <a:pt x="38296" y="74858"/>
                  </a:lnTo>
                  <a:lnTo>
                    <a:pt x="41093" y="74858"/>
                  </a:lnTo>
                  <a:lnTo>
                    <a:pt x="46472" y="74858"/>
                  </a:lnTo>
                  <a:lnTo>
                    <a:pt x="51636" y="1935557"/>
                  </a:lnTo>
                  <a:lnTo>
                    <a:pt x="51636" y="1940333"/>
                  </a:lnTo>
                  <a:lnTo>
                    <a:pt x="49054" y="1942979"/>
                  </a:lnTo>
                  <a:lnTo>
                    <a:pt x="46472" y="1945646"/>
                  </a:lnTo>
                  <a:lnTo>
                    <a:pt x="41094" y="1945646"/>
                  </a:lnTo>
                  <a:lnTo>
                    <a:pt x="38297" y="1945646"/>
                  </a:lnTo>
                  <a:lnTo>
                    <a:pt x="33563" y="1942979"/>
                  </a:lnTo>
                  <a:lnTo>
                    <a:pt x="30981" y="1940333"/>
                  </a:lnTo>
                  <a:lnTo>
                    <a:pt x="30981" y="1935557"/>
                  </a:lnTo>
                  <a:close/>
                </a:path>
                <a:path w="85725" h="1946275">
                  <a:moveTo>
                    <a:pt x="41093" y="84968"/>
                  </a:moveTo>
                  <a:lnTo>
                    <a:pt x="0" y="129065"/>
                  </a:lnTo>
                  <a:lnTo>
                    <a:pt x="41093" y="0"/>
                  </a:lnTo>
                  <a:lnTo>
                    <a:pt x="85200" y="129065"/>
                  </a:lnTo>
                  <a:lnTo>
                    <a:pt x="41093" y="84968"/>
                  </a:lnTo>
                  <a:close/>
                </a:path>
              </a:pathLst>
            </a:custGeom>
            <a:ln w="3175">
              <a:solidFill>
                <a:srgbClr val="000000"/>
              </a:solidFill>
            </a:ln>
          </p:spPr>
          <p:txBody>
            <a:bodyPr wrap="square" lIns="0" tIns="0" rIns="0" bIns="0" rtlCol="0"/>
            <a:lstStyle/>
            <a:p/>
          </p:txBody>
        </p:sp>
      </p:grpSp>
      <p:sp>
        <p:nvSpPr>
          <p:cNvPr id="20" name="object 20" descr=""/>
          <p:cNvSpPr txBox="1"/>
          <p:nvPr/>
        </p:nvSpPr>
        <p:spPr>
          <a:xfrm>
            <a:off x="3645156" y="2785968"/>
            <a:ext cx="563245" cy="259079"/>
          </a:xfrm>
          <a:prstGeom prst="rect">
            <a:avLst/>
          </a:prstGeom>
        </p:spPr>
        <p:txBody>
          <a:bodyPr wrap="square" lIns="0" tIns="16510" rIns="0" bIns="0" rtlCol="0" vert="horz">
            <a:spAutoFit/>
          </a:bodyPr>
          <a:lstStyle/>
          <a:p>
            <a:pPr marL="12700">
              <a:lnSpc>
                <a:spcPct val="100000"/>
              </a:lnSpc>
              <a:spcBef>
                <a:spcPts val="130"/>
              </a:spcBef>
            </a:pPr>
            <a:r>
              <a:rPr dirty="0" sz="1500" spc="-175">
                <a:solidFill>
                  <a:srgbClr val="0000FF"/>
                </a:solidFill>
                <a:latin typeface="宋体"/>
                <a:cs typeface="宋体"/>
              </a:rPr>
              <a:t>至 </a:t>
            </a:r>
            <a:r>
              <a:rPr dirty="0" sz="1500" spc="-25">
                <a:solidFill>
                  <a:srgbClr val="0000FF"/>
                </a:solidFill>
                <a:latin typeface="宋体"/>
                <a:cs typeface="宋体"/>
              </a:rPr>
              <a:t>CPU</a:t>
            </a:r>
            <a:endParaRPr sz="1500">
              <a:latin typeface="宋体"/>
              <a:cs typeface="宋体"/>
            </a:endParaRPr>
          </a:p>
        </p:txBody>
      </p:sp>
      <p:sp>
        <p:nvSpPr>
          <p:cNvPr id="21" name="object 21" descr=""/>
          <p:cNvSpPr txBox="1"/>
          <p:nvPr/>
        </p:nvSpPr>
        <p:spPr>
          <a:xfrm>
            <a:off x="4027911" y="3421617"/>
            <a:ext cx="1536700" cy="259079"/>
          </a:xfrm>
          <a:prstGeom prst="rect">
            <a:avLst/>
          </a:prstGeom>
        </p:spPr>
        <p:txBody>
          <a:bodyPr wrap="square" lIns="0" tIns="16510" rIns="0" bIns="0" rtlCol="0" vert="horz">
            <a:spAutoFit/>
          </a:bodyPr>
          <a:lstStyle/>
          <a:p>
            <a:pPr marL="12700">
              <a:lnSpc>
                <a:spcPct val="100000"/>
              </a:lnSpc>
              <a:spcBef>
                <a:spcPts val="130"/>
              </a:spcBef>
            </a:pPr>
            <a:r>
              <a:rPr dirty="0" sz="1500" spc="65">
                <a:solidFill>
                  <a:srgbClr val="0000FF"/>
                </a:solidFill>
                <a:latin typeface="宋体"/>
                <a:cs typeface="宋体"/>
              </a:rPr>
              <a:t>取出数据送往</a:t>
            </a:r>
            <a:r>
              <a:rPr dirty="0" sz="1500" spc="-25">
                <a:solidFill>
                  <a:srgbClr val="0000FF"/>
                </a:solidFill>
                <a:latin typeface="宋体"/>
                <a:cs typeface="宋体"/>
              </a:rPr>
              <a:t>CPU</a:t>
            </a:r>
            <a:endParaRPr sz="1500">
              <a:latin typeface="宋体"/>
              <a:cs typeface="宋体"/>
            </a:endParaRPr>
          </a:p>
        </p:txBody>
      </p:sp>
      <p:sp>
        <p:nvSpPr>
          <p:cNvPr id="22" name="object 22" descr=""/>
          <p:cNvSpPr txBox="1"/>
          <p:nvPr/>
        </p:nvSpPr>
        <p:spPr>
          <a:xfrm>
            <a:off x="4570309" y="4217803"/>
            <a:ext cx="804545" cy="259079"/>
          </a:xfrm>
          <a:prstGeom prst="rect">
            <a:avLst/>
          </a:prstGeom>
        </p:spPr>
        <p:txBody>
          <a:bodyPr wrap="square" lIns="0" tIns="16510" rIns="0" bIns="0" rtlCol="0" vert="horz">
            <a:spAutoFit/>
          </a:bodyPr>
          <a:lstStyle/>
          <a:p>
            <a:pPr marL="12700">
              <a:lnSpc>
                <a:spcPct val="100000"/>
              </a:lnSpc>
              <a:spcBef>
                <a:spcPts val="130"/>
              </a:spcBef>
            </a:pPr>
            <a:r>
              <a:rPr dirty="0" sz="1500" spc="-15">
                <a:solidFill>
                  <a:srgbClr val="FF0000"/>
                </a:solidFill>
                <a:latin typeface="宋体"/>
                <a:cs typeface="宋体"/>
              </a:rPr>
              <a:t>伪相联组</a:t>
            </a:r>
            <a:endParaRPr sz="1500">
              <a:latin typeface="宋体"/>
              <a:cs typeface="宋体"/>
            </a:endParaRPr>
          </a:p>
        </p:txBody>
      </p:sp>
      <p:sp>
        <p:nvSpPr>
          <p:cNvPr id="23" name="object 23" descr=""/>
          <p:cNvSpPr/>
          <p:nvPr/>
        </p:nvSpPr>
        <p:spPr>
          <a:xfrm>
            <a:off x="2143810" y="3473729"/>
            <a:ext cx="1243330" cy="2217420"/>
          </a:xfrm>
          <a:custGeom>
            <a:avLst/>
            <a:gdLst/>
            <a:ahLst/>
            <a:cxnLst/>
            <a:rect l="l" t="t" r="r" b="b"/>
            <a:pathLst>
              <a:path w="1243329" h="2217420">
                <a:moveTo>
                  <a:pt x="1242733" y="2201862"/>
                </a:moveTo>
                <a:lnTo>
                  <a:pt x="0" y="2201862"/>
                </a:lnTo>
                <a:lnTo>
                  <a:pt x="0" y="2217318"/>
                </a:lnTo>
                <a:lnTo>
                  <a:pt x="1242733" y="2217318"/>
                </a:lnTo>
                <a:lnTo>
                  <a:pt x="1242733" y="2201862"/>
                </a:lnTo>
                <a:close/>
              </a:path>
              <a:path w="1243329" h="2217420">
                <a:moveTo>
                  <a:pt x="1242733" y="1702981"/>
                </a:moveTo>
                <a:lnTo>
                  <a:pt x="0" y="1702981"/>
                </a:lnTo>
                <a:lnTo>
                  <a:pt x="0" y="1718437"/>
                </a:lnTo>
                <a:lnTo>
                  <a:pt x="1242733" y="1718437"/>
                </a:lnTo>
                <a:lnTo>
                  <a:pt x="1242733" y="1702981"/>
                </a:lnTo>
                <a:close/>
              </a:path>
              <a:path w="1243329" h="2217420">
                <a:moveTo>
                  <a:pt x="1242733" y="1400479"/>
                </a:moveTo>
                <a:lnTo>
                  <a:pt x="0" y="1400479"/>
                </a:lnTo>
                <a:lnTo>
                  <a:pt x="0" y="1415923"/>
                </a:lnTo>
                <a:lnTo>
                  <a:pt x="1242733" y="1415923"/>
                </a:lnTo>
                <a:lnTo>
                  <a:pt x="1242733" y="1400479"/>
                </a:lnTo>
                <a:close/>
              </a:path>
              <a:path w="1243329" h="2217420">
                <a:moveTo>
                  <a:pt x="1242733" y="1101153"/>
                </a:moveTo>
                <a:lnTo>
                  <a:pt x="0" y="1101153"/>
                </a:lnTo>
                <a:lnTo>
                  <a:pt x="0" y="1116596"/>
                </a:lnTo>
                <a:lnTo>
                  <a:pt x="1242733" y="1116596"/>
                </a:lnTo>
                <a:lnTo>
                  <a:pt x="1242733" y="1101153"/>
                </a:lnTo>
                <a:close/>
              </a:path>
              <a:path w="1243329" h="2217420">
                <a:moveTo>
                  <a:pt x="1242733" y="801306"/>
                </a:moveTo>
                <a:lnTo>
                  <a:pt x="0" y="801306"/>
                </a:lnTo>
                <a:lnTo>
                  <a:pt x="0" y="816762"/>
                </a:lnTo>
                <a:lnTo>
                  <a:pt x="1242733" y="816762"/>
                </a:lnTo>
                <a:lnTo>
                  <a:pt x="1242733" y="801306"/>
                </a:lnTo>
                <a:close/>
              </a:path>
              <a:path w="1243329" h="2217420">
                <a:moveTo>
                  <a:pt x="1242733" y="0"/>
                </a:moveTo>
                <a:lnTo>
                  <a:pt x="0" y="0"/>
                </a:lnTo>
                <a:lnTo>
                  <a:pt x="0" y="15455"/>
                </a:lnTo>
                <a:lnTo>
                  <a:pt x="1242733" y="15455"/>
                </a:lnTo>
                <a:lnTo>
                  <a:pt x="1242733" y="0"/>
                </a:lnTo>
                <a:close/>
              </a:path>
            </a:pathLst>
          </a:custGeom>
          <a:solidFill>
            <a:srgbClr val="000000"/>
          </a:solidFill>
        </p:spPr>
        <p:txBody>
          <a:bodyPr wrap="square" lIns="0" tIns="0" rIns="0" bIns="0" rtlCol="0"/>
          <a:lstStyle/>
          <a:p/>
        </p:txBody>
      </p:sp>
      <p:sp>
        <p:nvSpPr>
          <p:cNvPr id="24" name="object 24" descr=""/>
          <p:cNvSpPr txBox="1"/>
          <p:nvPr/>
        </p:nvSpPr>
        <p:spPr>
          <a:xfrm>
            <a:off x="2143813" y="3781315"/>
            <a:ext cx="1243330" cy="501650"/>
          </a:xfrm>
          <a:prstGeom prst="rect">
            <a:avLst/>
          </a:prstGeom>
          <a:solidFill>
            <a:srgbClr val="FFFF99"/>
          </a:solidFill>
          <a:ln w="15454">
            <a:solidFill>
              <a:srgbClr val="000000"/>
            </a:solidFill>
          </a:ln>
        </p:spPr>
        <p:txBody>
          <a:bodyPr wrap="square" lIns="0" tIns="111760" rIns="0" bIns="0" rtlCol="0" vert="horz">
            <a:spAutoFit/>
          </a:bodyPr>
          <a:lstStyle/>
          <a:p>
            <a:pPr algn="ctr" marR="22225">
              <a:lnSpc>
                <a:spcPct val="100000"/>
              </a:lnSpc>
              <a:spcBef>
                <a:spcPts val="880"/>
              </a:spcBef>
            </a:pPr>
            <a:r>
              <a:rPr dirty="0" sz="1800" spc="-50">
                <a:latin typeface="宋体"/>
                <a:cs typeface="宋体"/>
              </a:rPr>
              <a:t>…</a:t>
            </a:r>
            <a:endParaRPr sz="1800">
              <a:latin typeface="宋体"/>
              <a:cs typeface="宋体"/>
            </a:endParaRPr>
          </a:p>
        </p:txBody>
      </p:sp>
      <p:sp>
        <p:nvSpPr>
          <p:cNvPr id="25" name="object 25" descr=""/>
          <p:cNvSpPr txBox="1"/>
          <p:nvPr/>
        </p:nvSpPr>
        <p:spPr>
          <a:xfrm>
            <a:off x="2623358" y="5284473"/>
            <a:ext cx="254000" cy="299085"/>
          </a:xfrm>
          <a:prstGeom prst="rect">
            <a:avLst/>
          </a:prstGeom>
        </p:spPr>
        <p:txBody>
          <a:bodyPr wrap="square" lIns="0" tIns="12065" rIns="0" bIns="0" rtlCol="0" vert="horz">
            <a:spAutoFit/>
          </a:bodyPr>
          <a:lstStyle/>
          <a:p>
            <a:pPr marL="12700">
              <a:lnSpc>
                <a:spcPct val="100000"/>
              </a:lnSpc>
              <a:spcBef>
                <a:spcPts val="95"/>
              </a:spcBef>
            </a:pPr>
            <a:r>
              <a:rPr dirty="0" sz="1800" spc="-50">
                <a:latin typeface="宋体"/>
                <a:cs typeface="宋体"/>
              </a:rPr>
              <a:t>…</a:t>
            </a:r>
            <a:endParaRPr sz="1800">
              <a:latin typeface="宋体"/>
              <a:cs typeface="宋体"/>
            </a:endParaRPr>
          </a:p>
        </p:txBody>
      </p:sp>
      <p:grpSp>
        <p:nvGrpSpPr>
          <p:cNvPr id="26" name="object 26" descr=""/>
          <p:cNvGrpSpPr/>
          <p:nvPr/>
        </p:nvGrpSpPr>
        <p:grpSpPr>
          <a:xfrm>
            <a:off x="1458017" y="3607291"/>
            <a:ext cx="3117215" cy="1522730"/>
            <a:chOff x="1458017" y="3607291"/>
            <a:chExt cx="3117215" cy="1522730"/>
          </a:xfrm>
        </p:grpSpPr>
        <p:sp>
          <p:nvSpPr>
            <p:cNvPr id="27" name="object 27" descr=""/>
            <p:cNvSpPr/>
            <p:nvPr/>
          </p:nvSpPr>
          <p:spPr>
            <a:xfrm>
              <a:off x="1459523" y="4577824"/>
              <a:ext cx="2667000" cy="15875"/>
            </a:xfrm>
            <a:custGeom>
              <a:avLst/>
              <a:gdLst/>
              <a:ahLst/>
              <a:cxnLst/>
              <a:rect l="l" t="t" r="r" b="b"/>
              <a:pathLst>
                <a:path w="2667000" h="15875">
                  <a:moveTo>
                    <a:pt x="59166" y="0"/>
                  </a:moveTo>
                  <a:lnTo>
                    <a:pt x="5335" y="0"/>
                  </a:lnTo>
                  <a:lnTo>
                    <a:pt x="2667" y="2667"/>
                  </a:lnTo>
                  <a:lnTo>
                    <a:pt x="2667" y="5313"/>
                  </a:lnTo>
                  <a:lnTo>
                    <a:pt x="0" y="7959"/>
                  </a:lnTo>
                  <a:lnTo>
                    <a:pt x="2667" y="10088"/>
                  </a:lnTo>
                  <a:lnTo>
                    <a:pt x="2667" y="12734"/>
                  </a:lnTo>
                  <a:lnTo>
                    <a:pt x="5335" y="15401"/>
                  </a:lnTo>
                  <a:lnTo>
                    <a:pt x="59166" y="15401"/>
                  </a:lnTo>
                  <a:lnTo>
                    <a:pt x="64480" y="10088"/>
                  </a:lnTo>
                  <a:lnTo>
                    <a:pt x="64480" y="5313"/>
                  </a:lnTo>
                  <a:lnTo>
                    <a:pt x="59166" y="0"/>
                  </a:lnTo>
                  <a:close/>
                </a:path>
                <a:path w="2667000" h="15875">
                  <a:moveTo>
                    <a:pt x="173218" y="0"/>
                  </a:moveTo>
                  <a:lnTo>
                    <a:pt x="118849" y="0"/>
                  </a:lnTo>
                  <a:lnTo>
                    <a:pt x="113514" y="5313"/>
                  </a:lnTo>
                  <a:lnTo>
                    <a:pt x="113514" y="10088"/>
                  </a:lnTo>
                  <a:lnTo>
                    <a:pt x="118849" y="15401"/>
                  </a:lnTo>
                  <a:lnTo>
                    <a:pt x="173218" y="15401"/>
                  </a:lnTo>
                  <a:lnTo>
                    <a:pt x="175864" y="12734"/>
                  </a:lnTo>
                  <a:lnTo>
                    <a:pt x="177994" y="10088"/>
                  </a:lnTo>
                  <a:lnTo>
                    <a:pt x="177994" y="5313"/>
                  </a:lnTo>
                  <a:lnTo>
                    <a:pt x="175864" y="2667"/>
                  </a:lnTo>
                  <a:lnTo>
                    <a:pt x="173218" y="0"/>
                  </a:lnTo>
                  <a:close/>
                </a:path>
                <a:path w="2667000" h="15875">
                  <a:moveTo>
                    <a:pt x="286732" y="0"/>
                  </a:moveTo>
                  <a:lnTo>
                    <a:pt x="232363" y="0"/>
                  </a:lnTo>
                  <a:lnTo>
                    <a:pt x="229695" y="2667"/>
                  </a:lnTo>
                  <a:lnTo>
                    <a:pt x="227565" y="5313"/>
                  </a:lnTo>
                  <a:lnTo>
                    <a:pt x="227565" y="10088"/>
                  </a:lnTo>
                  <a:lnTo>
                    <a:pt x="229695" y="12734"/>
                  </a:lnTo>
                  <a:lnTo>
                    <a:pt x="232363" y="15401"/>
                  </a:lnTo>
                  <a:lnTo>
                    <a:pt x="286732" y="15401"/>
                  </a:lnTo>
                  <a:lnTo>
                    <a:pt x="289378" y="12734"/>
                  </a:lnTo>
                  <a:lnTo>
                    <a:pt x="292046" y="10088"/>
                  </a:lnTo>
                  <a:lnTo>
                    <a:pt x="292046" y="5313"/>
                  </a:lnTo>
                  <a:lnTo>
                    <a:pt x="289378" y="2667"/>
                  </a:lnTo>
                  <a:lnTo>
                    <a:pt x="286732" y="0"/>
                  </a:lnTo>
                  <a:close/>
                </a:path>
                <a:path w="2667000" h="15875">
                  <a:moveTo>
                    <a:pt x="400246" y="0"/>
                  </a:moveTo>
                  <a:lnTo>
                    <a:pt x="346415" y="0"/>
                  </a:lnTo>
                  <a:lnTo>
                    <a:pt x="341079" y="5313"/>
                  </a:lnTo>
                  <a:lnTo>
                    <a:pt x="341079" y="10088"/>
                  </a:lnTo>
                  <a:lnTo>
                    <a:pt x="346415" y="15401"/>
                  </a:lnTo>
                  <a:lnTo>
                    <a:pt x="400246" y="15401"/>
                  </a:lnTo>
                  <a:lnTo>
                    <a:pt x="402914" y="12734"/>
                  </a:lnTo>
                  <a:lnTo>
                    <a:pt x="402914" y="10088"/>
                  </a:lnTo>
                  <a:lnTo>
                    <a:pt x="405560" y="7959"/>
                  </a:lnTo>
                  <a:lnTo>
                    <a:pt x="402914" y="5313"/>
                  </a:lnTo>
                  <a:lnTo>
                    <a:pt x="402914" y="2667"/>
                  </a:lnTo>
                  <a:lnTo>
                    <a:pt x="400246" y="0"/>
                  </a:lnTo>
                  <a:close/>
                </a:path>
                <a:path w="2667000" h="15875">
                  <a:moveTo>
                    <a:pt x="511630" y="0"/>
                  </a:moveTo>
                  <a:lnTo>
                    <a:pt x="457261" y="0"/>
                  </a:lnTo>
                  <a:lnTo>
                    <a:pt x="454593" y="2667"/>
                  </a:lnTo>
                  <a:lnTo>
                    <a:pt x="454593" y="5313"/>
                  </a:lnTo>
                  <a:lnTo>
                    <a:pt x="451926" y="7959"/>
                  </a:lnTo>
                  <a:lnTo>
                    <a:pt x="454593" y="10088"/>
                  </a:lnTo>
                  <a:lnTo>
                    <a:pt x="454593" y="12734"/>
                  </a:lnTo>
                  <a:lnTo>
                    <a:pt x="457261" y="15401"/>
                  </a:lnTo>
                  <a:lnTo>
                    <a:pt x="511630" y="15401"/>
                  </a:lnTo>
                  <a:lnTo>
                    <a:pt x="516944" y="10088"/>
                  </a:lnTo>
                  <a:lnTo>
                    <a:pt x="516944" y="5313"/>
                  </a:lnTo>
                  <a:lnTo>
                    <a:pt x="511630" y="0"/>
                  </a:lnTo>
                  <a:close/>
                </a:path>
                <a:path w="2667000" h="15875">
                  <a:moveTo>
                    <a:pt x="625144" y="0"/>
                  </a:moveTo>
                  <a:lnTo>
                    <a:pt x="570775" y="0"/>
                  </a:lnTo>
                  <a:lnTo>
                    <a:pt x="568645" y="2667"/>
                  </a:lnTo>
                  <a:lnTo>
                    <a:pt x="565977" y="5313"/>
                  </a:lnTo>
                  <a:lnTo>
                    <a:pt x="565977" y="10088"/>
                  </a:lnTo>
                  <a:lnTo>
                    <a:pt x="568645" y="12734"/>
                  </a:lnTo>
                  <a:lnTo>
                    <a:pt x="570775" y="15401"/>
                  </a:lnTo>
                  <a:lnTo>
                    <a:pt x="625144" y="15401"/>
                  </a:lnTo>
                  <a:lnTo>
                    <a:pt x="630480" y="10088"/>
                  </a:lnTo>
                  <a:lnTo>
                    <a:pt x="630480" y="5313"/>
                  </a:lnTo>
                  <a:lnTo>
                    <a:pt x="625144" y="0"/>
                  </a:lnTo>
                  <a:close/>
                </a:path>
                <a:path w="2667000" h="15875">
                  <a:moveTo>
                    <a:pt x="739196" y="0"/>
                  </a:moveTo>
                  <a:lnTo>
                    <a:pt x="684827" y="0"/>
                  </a:lnTo>
                  <a:lnTo>
                    <a:pt x="679491" y="5313"/>
                  </a:lnTo>
                  <a:lnTo>
                    <a:pt x="679491" y="10088"/>
                  </a:lnTo>
                  <a:lnTo>
                    <a:pt x="684827" y="15401"/>
                  </a:lnTo>
                  <a:lnTo>
                    <a:pt x="739196" y="15401"/>
                  </a:lnTo>
                  <a:lnTo>
                    <a:pt x="741864" y="12734"/>
                  </a:lnTo>
                  <a:lnTo>
                    <a:pt x="743994" y="10088"/>
                  </a:lnTo>
                  <a:lnTo>
                    <a:pt x="743994" y="5313"/>
                  </a:lnTo>
                  <a:lnTo>
                    <a:pt x="741864" y="2667"/>
                  </a:lnTo>
                  <a:lnTo>
                    <a:pt x="739196" y="0"/>
                  </a:lnTo>
                  <a:close/>
                </a:path>
                <a:path w="2667000" h="15875">
                  <a:moveTo>
                    <a:pt x="852710" y="0"/>
                  </a:moveTo>
                  <a:lnTo>
                    <a:pt x="798341" y="0"/>
                  </a:lnTo>
                  <a:lnTo>
                    <a:pt x="793005" y="5313"/>
                  </a:lnTo>
                  <a:lnTo>
                    <a:pt x="793005" y="10088"/>
                  </a:lnTo>
                  <a:lnTo>
                    <a:pt x="798341" y="15401"/>
                  </a:lnTo>
                  <a:lnTo>
                    <a:pt x="852710" y="15401"/>
                  </a:lnTo>
                  <a:lnTo>
                    <a:pt x="855378" y="12734"/>
                  </a:lnTo>
                  <a:lnTo>
                    <a:pt x="855378" y="10088"/>
                  </a:lnTo>
                  <a:lnTo>
                    <a:pt x="858024" y="7959"/>
                  </a:lnTo>
                  <a:lnTo>
                    <a:pt x="855378" y="5313"/>
                  </a:lnTo>
                  <a:lnTo>
                    <a:pt x="855378" y="2667"/>
                  </a:lnTo>
                  <a:lnTo>
                    <a:pt x="852710" y="0"/>
                  </a:lnTo>
                  <a:close/>
                </a:path>
                <a:path w="2667000" h="15875">
                  <a:moveTo>
                    <a:pt x="964094" y="0"/>
                  </a:moveTo>
                  <a:lnTo>
                    <a:pt x="909725" y="0"/>
                  </a:lnTo>
                  <a:lnTo>
                    <a:pt x="907057" y="2667"/>
                  </a:lnTo>
                  <a:lnTo>
                    <a:pt x="907057" y="5313"/>
                  </a:lnTo>
                  <a:lnTo>
                    <a:pt x="904389" y="7959"/>
                  </a:lnTo>
                  <a:lnTo>
                    <a:pt x="907057" y="10088"/>
                  </a:lnTo>
                  <a:lnTo>
                    <a:pt x="907057" y="12734"/>
                  </a:lnTo>
                  <a:lnTo>
                    <a:pt x="909725" y="15401"/>
                  </a:lnTo>
                  <a:lnTo>
                    <a:pt x="964094" y="15401"/>
                  </a:lnTo>
                  <a:lnTo>
                    <a:pt x="966224" y="12734"/>
                  </a:lnTo>
                  <a:lnTo>
                    <a:pt x="968892" y="10088"/>
                  </a:lnTo>
                  <a:lnTo>
                    <a:pt x="968892" y="5313"/>
                  </a:lnTo>
                  <a:lnTo>
                    <a:pt x="966224" y="2667"/>
                  </a:lnTo>
                  <a:lnTo>
                    <a:pt x="964094" y="0"/>
                  </a:lnTo>
                  <a:close/>
                </a:path>
                <a:path w="2667000" h="15875">
                  <a:moveTo>
                    <a:pt x="1077608" y="0"/>
                  </a:moveTo>
                  <a:lnTo>
                    <a:pt x="1023239" y="0"/>
                  </a:lnTo>
                  <a:lnTo>
                    <a:pt x="1017925" y="5313"/>
                  </a:lnTo>
                  <a:lnTo>
                    <a:pt x="1017925" y="10088"/>
                  </a:lnTo>
                  <a:lnTo>
                    <a:pt x="1023239" y="15401"/>
                  </a:lnTo>
                  <a:lnTo>
                    <a:pt x="1077608" y="15401"/>
                  </a:lnTo>
                  <a:lnTo>
                    <a:pt x="1082944" y="10088"/>
                  </a:lnTo>
                  <a:lnTo>
                    <a:pt x="1082944" y="5313"/>
                  </a:lnTo>
                  <a:lnTo>
                    <a:pt x="1077608" y="0"/>
                  </a:lnTo>
                  <a:close/>
                </a:path>
                <a:path w="2667000" h="15875">
                  <a:moveTo>
                    <a:pt x="1191122" y="0"/>
                  </a:moveTo>
                  <a:lnTo>
                    <a:pt x="1136753" y="0"/>
                  </a:lnTo>
                  <a:lnTo>
                    <a:pt x="1134623" y="2667"/>
                  </a:lnTo>
                  <a:lnTo>
                    <a:pt x="1131955" y="5313"/>
                  </a:lnTo>
                  <a:lnTo>
                    <a:pt x="1131955" y="10088"/>
                  </a:lnTo>
                  <a:lnTo>
                    <a:pt x="1134623" y="12734"/>
                  </a:lnTo>
                  <a:lnTo>
                    <a:pt x="1136753" y="15401"/>
                  </a:lnTo>
                  <a:lnTo>
                    <a:pt x="1191122" y="15401"/>
                  </a:lnTo>
                  <a:lnTo>
                    <a:pt x="1196458" y="10088"/>
                  </a:lnTo>
                  <a:lnTo>
                    <a:pt x="1196458" y="5313"/>
                  </a:lnTo>
                  <a:lnTo>
                    <a:pt x="1191122" y="0"/>
                  </a:lnTo>
                  <a:close/>
                </a:path>
                <a:path w="2667000" h="15875">
                  <a:moveTo>
                    <a:pt x="1305174" y="0"/>
                  </a:moveTo>
                  <a:lnTo>
                    <a:pt x="1250805" y="0"/>
                  </a:lnTo>
                  <a:lnTo>
                    <a:pt x="1245469" y="5313"/>
                  </a:lnTo>
                  <a:lnTo>
                    <a:pt x="1245469" y="10088"/>
                  </a:lnTo>
                  <a:lnTo>
                    <a:pt x="1250805" y="15401"/>
                  </a:lnTo>
                  <a:lnTo>
                    <a:pt x="1305174" y="15401"/>
                  </a:lnTo>
                  <a:lnTo>
                    <a:pt x="1307304" y="12734"/>
                  </a:lnTo>
                  <a:lnTo>
                    <a:pt x="1307304" y="10088"/>
                  </a:lnTo>
                  <a:lnTo>
                    <a:pt x="1309972" y="7959"/>
                  </a:lnTo>
                  <a:lnTo>
                    <a:pt x="1307304" y="5313"/>
                  </a:lnTo>
                  <a:lnTo>
                    <a:pt x="1307304" y="2667"/>
                  </a:lnTo>
                  <a:lnTo>
                    <a:pt x="1305174" y="0"/>
                  </a:lnTo>
                  <a:close/>
                </a:path>
                <a:path w="2667000" h="15875">
                  <a:moveTo>
                    <a:pt x="1416020" y="0"/>
                  </a:moveTo>
                  <a:lnTo>
                    <a:pt x="1361651" y="0"/>
                  </a:lnTo>
                  <a:lnTo>
                    <a:pt x="1359005" y="2667"/>
                  </a:lnTo>
                  <a:lnTo>
                    <a:pt x="1359005" y="5313"/>
                  </a:lnTo>
                  <a:lnTo>
                    <a:pt x="1356853" y="7959"/>
                  </a:lnTo>
                  <a:lnTo>
                    <a:pt x="1359005" y="10088"/>
                  </a:lnTo>
                  <a:lnTo>
                    <a:pt x="1359005" y="12734"/>
                  </a:lnTo>
                  <a:lnTo>
                    <a:pt x="1361651" y="15401"/>
                  </a:lnTo>
                  <a:lnTo>
                    <a:pt x="1416020" y="15401"/>
                  </a:lnTo>
                  <a:lnTo>
                    <a:pt x="1421356" y="10088"/>
                  </a:lnTo>
                  <a:lnTo>
                    <a:pt x="1421356" y="5313"/>
                  </a:lnTo>
                  <a:lnTo>
                    <a:pt x="1416020" y="0"/>
                  </a:lnTo>
                  <a:close/>
                </a:path>
                <a:path w="2667000" h="15875">
                  <a:moveTo>
                    <a:pt x="1529534" y="0"/>
                  </a:moveTo>
                  <a:lnTo>
                    <a:pt x="1475703" y="0"/>
                  </a:lnTo>
                  <a:lnTo>
                    <a:pt x="1470389" y="5313"/>
                  </a:lnTo>
                  <a:lnTo>
                    <a:pt x="1470389" y="10088"/>
                  </a:lnTo>
                  <a:lnTo>
                    <a:pt x="1475703" y="15401"/>
                  </a:lnTo>
                  <a:lnTo>
                    <a:pt x="1529534" y="15401"/>
                  </a:lnTo>
                  <a:lnTo>
                    <a:pt x="1534870" y="10088"/>
                  </a:lnTo>
                  <a:lnTo>
                    <a:pt x="1534870" y="5313"/>
                  </a:lnTo>
                  <a:lnTo>
                    <a:pt x="1529534" y="0"/>
                  </a:lnTo>
                  <a:close/>
                </a:path>
                <a:path w="2667000" h="15875">
                  <a:moveTo>
                    <a:pt x="1643672" y="0"/>
                  </a:moveTo>
                  <a:lnTo>
                    <a:pt x="1589217" y="0"/>
                  </a:lnTo>
                  <a:lnTo>
                    <a:pt x="1586571" y="2667"/>
                  </a:lnTo>
                  <a:lnTo>
                    <a:pt x="1583903" y="5313"/>
                  </a:lnTo>
                  <a:lnTo>
                    <a:pt x="1583903" y="10088"/>
                  </a:lnTo>
                  <a:lnTo>
                    <a:pt x="1586571" y="12734"/>
                  </a:lnTo>
                  <a:lnTo>
                    <a:pt x="1589217" y="15401"/>
                  </a:lnTo>
                  <a:lnTo>
                    <a:pt x="1643672" y="15401"/>
                  </a:lnTo>
                  <a:lnTo>
                    <a:pt x="1646254" y="12734"/>
                  </a:lnTo>
                  <a:lnTo>
                    <a:pt x="1648405" y="10088"/>
                  </a:lnTo>
                  <a:lnTo>
                    <a:pt x="1648405" y="5313"/>
                  </a:lnTo>
                  <a:lnTo>
                    <a:pt x="1646254" y="2667"/>
                  </a:lnTo>
                  <a:lnTo>
                    <a:pt x="1643672" y="0"/>
                  </a:lnTo>
                  <a:close/>
                </a:path>
                <a:path w="2667000" h="15875">
                  <a:moveTo>
                    <a:pt x="1757057" y="0"/>
                  </a:moveTo>
                  <a:lnTo>
                    <a:pt x="1702839" y="0"/>
                  </a:lnTo>
                  <a:lnTo>
                    <a:pt x="1700042" y="2667"/>
                  </a:lnTo>
                  <a:lnTo>
                    <a:pt x="1697890" y="5313"/>
                  </a:lnTo>
                  <a:lnTo>
                    <a:pt x="1697890" y="10088"/>
                  </a:lnTo>
                  <a:lnTo>
                    <a:pt x="1700042" y="12734"/>
                  </a:lnTo>
                  <a:lnTo>
                    <a:pt x="1702839" y="15401"/>
                  </a:lnTo>
                  <a:lnTo>
                    <a:pt x="1757057" y="15401"/>
                  </a:lnTo>
                  <a:lnTo>
                    <a:pt x="1759854" y="12734"/>
                  </a:lnTo>
                  <a:lnTo>
                    <a:pt x="1759854" y="10088"/>
                  </a:lnTo>
                  <a:lnTo>
                    <a:pt x="1762436" y="7959"/>
                  </a:lnTo>
                  <a:lnTo>
                    <a:pt x="1759854" y="5313"/>
                  </a:lnTo>
                  <a:lnTo>
                    <a:pt x="1759854" y="2667"/>
                  </a:lnTo>
                  <a:lnTo>
                    <a:pt x="1757057" y="0"/>
                  </a:lnTo>
                  <a:close/>
                </a:path>
                <a:path w="2667000" h="15875">
                  <a:moveTo>
                    <a:pt x="1868506" y="0"/>
                  </a:moveTo>
                  <a:lnTo>
                    <a:pt x="1814072" y="0"/>
                  </a:lnTo>
                  <a:lnTo>
                    <a:pt x="1811490" y="2667"/>
                  </a:lnTo>
                  <a:lnTo>
                    <a:pt x="1811490" y="5313"/>
                  </a:lnTo>
                  <a:lnTo>
                    <a:pt x="1808693" y="7959"/>
                  </a:lnTo>
                  <a:lnTo>
                    <a:pt x="1811490" y="10088"/>
                  </a:lnTo>
                  <a:lnTo>
                    <a:pt x="1811490" y="12734"/>
                  </a:lnTo>
                  <a:lnTo>
                    <a:pt x="1814072" y="15401"/>
                  </a:lnTo>
                  <a:lnTo>
                    <a:pt x="1868506" y="15401"/>
                  </a:lnTo>
                  <a:lnTo>
                    <a:pt x="1870657" y="12734"/>
                  </a:lnTo>
                  <a:lnTo>
                    <a:pt x="1873239" y="10088"/>
                  </a:lnTo>
                  <a:lnTo>
                    <a:pt x="1873239" y="5313"/>
                  </a:lnTo>
                  <a:lnTo>
                    <a:pt x="1870657" y="2667"/>
                  </a:lnTo>
                  <a:lnTo>
                    <a:pt x="1868506" y="0"/>
                  </a:lnTo>
                  <a:close/>
                </a:path>
                <a:path w="2667000" h="15875">
                  <a:moveTo>
                    <a:pt x="1982106" y="0"/>
                  </a:moveTo>
                  <a:lnTo>
                    <a:pt x="1927672" y="0"/>
                  </a:lnTo>
                  <a:lnTo>
                    <a:pt x="1924875" y="2667"/>
                  </a:lnTo>
                  <a:lnTo>
                    <a:pt x="1922294" y="5313"/>
                  </a:lnTo>
                  <a:lnTo>
                    <a:pt x="1922294" y="10088"/>
                  </a:lnTo>
                  <a:lnTo>
                    <a:pt x="1924875" y="12734"/>
                  </a:lnTo>
                  <a:lnTo>
                    <a:pt x="1927672" y="15401"/>
                  </a:lnTo>
                  <a:lnTo>
                    <a:pt x="1982106" y="15401"/>
                  </a:lnTo>
                  <a:lnTo>
                    <a:pt x="1987269" y="10088"/>
                  </a:lnTo>
                  <a:lnTo>
                    <a:pt x="1987269" y="5313"/>
                  </a:lnTo>
                  <a:lnTo>
                    <a:pt x="1982106" y="0"/>
                  </a:lnTo>
                  <a:close/>
                </a:path>
                <a:path w="2667000" h="15875">
                  <a:moveTo>
                    <a:pt x="2095491" y="0"/>
                  </a:moveTo>
                  <a:lnTo>
                    <a:pt x="2041057" y="0"/>
                  </a:lnTo>
                  <a:lnTo>
                    <a:pt x="2039121" y="2667"/>
                  </a:lnTo>
                  <a:lnTo>
                    <a:pt x="2036324" y="5313"/>
                  </a:lnTo>
                  <a:lnTo>
                    <a:pt x="2036324" y="10088"/>
                  </a:lnTo>
                  <a:lnTo>
                    <a:pt x="2039121" y="12734"/>
                  </a:lnTo>
                  <a:lnTo>
                    <a:pt x="2041057" y="15401"/>
                  </a:lnTo>
                  <a:lnTo>
                    <a:pt x="2095491" y="15401"/>
                  </a:lnTo>
                  <a:lnTo>
                    <a:pt x="2098288" y="12734"/>
                  </a:lnTo>
                  <a:lnTo>
                    <a:pt x="2100869" y="10088"/>
                  </a:lnTo>
                  <a:lnTo>
                    <a:pt x="2100869" y="5313"/>
                  </a:lnTo>
                  <a:lnTo>
                    <a:pt x="2098288" y="2667"/>
                  </a:lnTo>
                  <a:lnTo>
                    <a:pt x="2095491" y="0"/>
                  </a:lnTo>
                  <a:close/>
                </a:path>
                <a:path w="2667000" h="15875">
                  <a:moveTo>
                    <a:pt x="2209521" y="0"/>
                  </a:moveTo>
                  <a:lnTo>
                    <a:pt x="2155303" y="0"/>
                  </a:lnTo>
                  <a:lnTo>
                    <a:pt x="2152506" y="2667"/>
                  </a:lnTo>
                  <a:lnTo>
                    <a:pt x="2149924" y="5313"/>
                  </a:lnTo>
                  <a:lnTo>
                    <a:pt x="2149924" y="10088"/>
                  </a:lnTo>
                  <a:lnTo>
                    <a:pt x="2152506" y="12734"/>
                  </a:lnTo>
                  <a:lnTo>
                    <a:pt x="2155303" y="15401"/>
                  </a:lnTo>
                  <a:lnTo>
                    <a:pt x="2209521" y="15401"/>
                  </a:lnTo>
                  <a:lnTo>
                    <a:pt x="2212318" y="12734"/>
                  </a:lnTo>
                  <a:lnTo>
                    <a:pt x="2212318" y="10088"/>
                  </a:lnTo>
                  <a:lnTo>
                    <a:pt x="2214254" y="7959"/>
                  </a:lnTo>
                  <a:lnTo>
                    <a:pt x="2212318" y="5313"/>
                  </a:lnTo>
                  <a:lnTo>
                    <a:pt x="2212318" y="2667"/>
                  </a:lnTo>
                  <a:lnTo>
                    <a:pt x="2209521" y="0"/>
                  </a:lnTo>
                  <a:close/>
                </a:path>
                <a:path w="2667000" h="15875">
                  <a:moveTo>
                    <a:pt x="2320324" y="0"/>
                  </a:moveTo>
                  <a:lnTo>
                    <a:pt x="2266106" y="0"/>
                  </a:lnTo>
                  <a:lnTo>
                    <a:pt x="2263309" y="2667"/>
                  </a:lnTo>
                  <a:lnTo>
                    <a:pt x="2263309" y="5313"/>
                  </a:lnTo>
                  <a:lnTo>
                    <a:pt x="2261157" y="7959"/>
                  </a:lnTo>
                  <a:lnTo>
                    <a:pt x="2263309" y="10088"/>
                  </a:lnTo>
                  <a:lnTo>
                    <a:pt x="2263309" y="12734"/>
                  </a:lnTo>
                  <a:lnTo>
                    <a:pt x="2266106" y="15401"/>
                  </a:lnTo>
                  <a:lnTo>
                    <a:pt x="2320324" y="15401"/>
                  </a:lnTo>
                  <a:lnTo>
                    <a:pt x="2323121" y="12734"/>
                  </a:lnTo>
                  <a:lnTo>
                    <a:pt x="2325703" y="10088"/>
                  </a:lnTo>
                  <a:lnTo>
                    <a:pt x="2325703" y="5313"/>
                  </a:lnTo>
                  <a:lnTo>
                    <a:pt x="2323121" y="2667"/>
                  </a:lnTo>
                  <a:lnTo>
                    <a:pt x="2320324" y="0"/>
                  </a:lnTo>
                  <a:close/>
                </a:path>
                <a:path w="2667000" h="15875">
                  <a:moveTo>
                    <a:pt x="2434570" y="0"/>
                  </a:moveTo>
                  <a:lnTo>
                    <a:pt x="2380136" y="0"/>
                  </a:lnTo>
                  <a:lnTo>
                    <a:pt x="2377339" y="2667"/>
                  </a:lnTo>
                  <a:lnTo>
                    <a:pt x="2374757" y="5313"/>
                  </a:lnTo>
                  <a:lnTo>
                    <a:pt x="2374757" y="10088"/>
                  </a:lnTo>
                  <a:lnTo>
                    <a:pt x="2377339" y="12734"/>
                  </a:lnTo>
                  <a:lnTo>
                    <a:pt x="2380136" y="15401"/>
                  </a:lnTo>
                  <a:lnTo>
                    <a:pt x="2434570" y="15401"/>
                  </a:lnTo>
                  <a:lnTo>
                    <a:pt x="2436506" y="12734"/>
                  </a:lnTo>
                  <a:lnTo>
                    <a:pt x="2439303" y="10088"/>
                  </a:lnTo>
                  <a:lnTo>
                    <a:pt x="2439303" y="5313"/>
                  </a:lnTo>
                  <a:lnTo>
                    <a:pt x="2436506" y="2667"/>
                  </a:lnTo>
                  <a:lnTo>
                    <a:pt x="2434570" y="0"/>
                  </a:lnTo>
                  <a:close/>
                </a:path>
                <a:path w="2667000" h="15875">
                  <a:moveTo>
                    <a:pt x="2547955" y="0"/>
                  </a:moveTo>
                  <a:lnTo>
                    <a:pt x="2493521" y="0"/>
                  </a:lnTo>
                  <a:lnTo>
                    <a:pt x="2488358" y="5313"/>
                  </a:lnTo>
                  <a:lnTo>
                    <a:pt x="2488358" y="10088"/>
                  </a:lnTo>
                  <a:lnTo>
                    <a:pt x="2493521" y="15401"/>
                  </a:lnTo>
                  <a:lnTo>
                    <a:pt x="2547955" y="15401"/>
                  </a:lnTo>
                  <a:lnTo>
                    <a:pt x="2550752" y="12734"/>
                  </a:lnTo>
                  <a:lnTo>
                    <a:pt x="2553333" y="10088"/>
                  </a:lnTo>
                  <a:lnTo>
                    <a:pt x="2553333" y="5313"/>
                  </a:lnTo>
                  <a:lnTo>
                    <a:pt x="2550752" y="2667"/>
                  </a:lnTo>
                  <a:lnTo>
                    <a:pt x="2547955" y="0"/>
                  </a:lnTo>
                  <a:close/>
                </a:path>
                <a:path w="2667000" h="15875">
                  <a:moveTo>
                    <a:pt x="2661555" y="0"/>
                  </a:moveTo>
                  <a:lnTo>
                    <a:pt x="2607121" y="0"/>
                  </a:lnTo>
                  <a:lnTo>
                    <a:pt x="2604970" y="2667"/>
                  </a:lnTo>
                  <a:lnTo>
                    <a:pt x="2602388" y="5313"/>
                  </a:lnTo>
                  <a:lnTo>
                    <a:pt x="2602388" y="10088"/>
                  </a:lnTo>
                  <a:lnTo>
                    <a:pt x="2604970" y="12734"/>
                  </a:lnTo>
                  <a:lnTo>
                    <a:pt x="2607121" y="15401"/>
                  </a:lnTo>
                  <a:lnTo>
                    <a:pt x="2661555" y="15401"/>
                  </a:lnTo>
                  <a:lnTo>
                    <a:pt x="2664136" y="12734"/>
                  </a:lnTo>
                  <a:lnTo>
                    <a:pt x="2664136" y="10088"/>
                  </a:lnTo>
                  <a:lnTo>
                    <a:pt x="2666933" y="7959"/>
                  </a:lnTo>
                  <a:lnTo>
                    <a:pt x="2664136" y="5313"/>
                  </a:lnTo>
                  <a:lnTo>
                    <a:pt x="2664136" y="2667"/>
                  </a:lnTo>
                  <a:lnTo>
                    <a:pt x="2661555" y="0"/>
                  </a:lnTo>
                  <a:close/>
                </a:path>
              </a:pathLst>
            </a:custGeom>
            <a:solidFill>
              <a:srgbClr val="000000"/>
            </a:solidFill>
          </p:spPr>
          <p:txBody>
            <a:bodyPr wrap="square" lIns="0" tIns="0" rIns="0" bIns="0" rtlCol="0"/>
            <a:lstStyle/>
            <a:p/>
          </p:txBody>
        </p:sp>
        <p:pic>
          <p:nvPicPr>
            <p:cNvPr id="28" name="object 28" descr=""/>
            <p:cNvPicPr/>
            <p:nvPr/>
          </p:nvPicPr>
          <p:blipFill>
            <a:blip r:embed="rId5" cstate="print"/>
            <a:stretch>
              <a:fillRect/>
            </a:stretch>
          </p:blipFill>
          <p:spPr>
            <a:xfrm>
              <a:off x="1458017" y="3607291"/>
              <a:ext cx="3117030" cy="1522396"/>
            </a:xfrm>
            <a:prstGeom prst="rect">
              <a:avLst/>
            </a:prstGeom>
          </p:spPr>
        </p:pic>
      </p:grpSp>
      <p:sp>
        <p:nvSpPr>
          <p:cNvPr id="29" name="object 29"/>
          <p:cNvSpPr txBox="1">
            <a:spLocks noGrp="1"/>
          </p:cNvSpPr>
          <p:nvPr>
            <p:ph type="title"/>
          </p:nvPr>
        </p:nvSpPr>
        <p:spPr>
          <a:prstGeom prst="rect"/>
        </p:spPr>
        <p:txBody>
          <a:bodyPr wrap="square" lIns="0" tIns="0" rIns="0" bIns="0" rtlCol="0" vert="horz">
            <a:spAutoFit/>
          </a:bodyPr>
          <a:lstStyle/>
          <a:p>
            <a:pPr marL="255270">
              <a:lnSpc>
                <a:spcPts val="3020"/>
              </a:lnSpc>
            </a:pPr>
            <a:r>
              <a:rPr dirty="0" u="none" sz="2600">
                <a:solidFill>
                  <a:srgbClr val="0000CC"/>
                </a:solidFill>
              </a:rPr>
              <a:t>7.3.5</a:t>
            </a:r>
            <a:r>
              <a:rPr dirty="0" u="none" sz="2600" spc="-70">
                <a:solidFill>
                  <a:srgbClr val="0000CC"/>
                </a:solidFill>
              </a:rPr>
              <a:t> </a:t>
            </a:r>
            <a:r>
              <a:rPr dirty="0" u="none" sz="2400" spc="-120">
                <a:solidFill>
                  <a:srgbClr val="0000CC"/>
                </a:solidFill>
              </a:rPr>
              <a:t>伪相联 </a:t>
            </a:r>
            <a:r>
              <a:rPr dirty="0" u="none" sz="2400">
                <a:solidFill>
                  <a:srgbClr val="0000CC"/>
                </a:solidFill>
                <a:latin typeface="Tahoma"/>
                <a:cs typeface="Tahoma"/>
              </a:rPr>
              <a:t>Cache</a:t>
            </a:r>
            <a:r>
              <a:rPr dirty="0" u="none" sz="2400" spc="-10">
                <a:solidFill>
                  <a:srgbClr val="0000CC"/>
                </a:solidFill>
                <a:latin typeface="Tahoma"/>
                <a:cs typeface="Tahoma"/>
              </a:rPr>
              <a:t> </a:t>
            </a:r>
            <a:r>
              <a:rPr dirty="0" u="none" sz="2400" spc="-10">
                <a:solidFill>
                  <a:srgbClr val="40458B"/>
                </a:solidFill>
                <a:latin typeface="Tahoma"/>
                <a:cs typeface="Tahoma"/>
              </a:rPr>
              <a:t>(</a:t>
            </a:r>
            <a:r>
              <a:rPr dirty="0" u="none" sz="2400" spc="-120">
                <a:solidFill>
                  <a:srgbClr val="0000CC"/>
                </a:solidFill>
              </a:rPr>
              <a:t>列相联 </a:t>
            </a:r>
            <a:r>
              <a:rPr dirty="0" u="none" sz="2400">
                <a:solidFill>
                  <a:srgbClr val="0000CC"/>
                </a:solidFill>
                <a:latin typeface="Tahoma"/>
                <a:cs typeface="Tahoma"/>
              </a:rPr>
              <a:t>Cache</a:t>
            </a:r>
            <a:r>
              <a:rPr dirty="0" u="none" sz="2400" spc="5">
                <a:solidFill>
                  <a:srgbClr val="0000CC"/>
                </a:solidFill>
                <a:latin typeface="Tahoma"/>
                <a:cs typeface="Tahoma"/>
              </a:rPr>
              <a:t> </a:t>
            </a:r>
            <a:r>
              <a:rPr dirty="0" u="none" sz="2400" spc="-50">
                <a:solidFill>
                  <a:srgbClr val="40458B"/>
                </a:solidFill>
                <a:latin typeface="Tahoma"/>
                <a:cs typeface="Tahoma"/>
              </a:rPr>
              <a:t>)</a:t>
            </a:r>
            <a:endParaRPr sz="2400">
              <a:latin typeface="Tahoma"/>
              <a:cs typeface="Tahoma"/>
            </a:endParaRPr>
          </a:p>
        </p:txBody>
      </p:sp>
      <p:grpSp>
        <p:nvGrpSpPr>
          <p:cNvPr id="30" name="object 30" descr=""/>
          <p:cNvGrpSpPr/>
          <p:nvPr/>
        </p:nvGrpSpPr>
        <p:grpSpPr>
          <a:xfrm>
            <a:off x="7967598" y="2906539"/>
            <a:ext cx="1441450" cy="1716405"/>
            <a:chOff x="7967598" y="2906539"/>
            <a:chExt cx="1441450" cy="1716405"/>
          </a:xfrm>
        </p:grpSpPr>
        <p:pic>
          <p:nvPicPr>
            <p:cNvPr id="31" name="object 31" descr=""/>
            <p:cNvPicPr/>
            <p:nvPr/>
          </p:nvPicPr>
          <p:blipFill>
            <a:blip r:embed="rId6" cstate="print"/>
            <a:stretch>
              <a:fillRect/>
            </a:stretch>
          </p:blipFill>
          <p:spPr>
            <a:xfrm>
              <a:off x="7967598" y="2906539"/>
              <a:ext cx="1441196" cy="1716260"/>
            </a:xfrm>
            <a:prstGeom prst="rect">
              <a:avLst/>
            </a:prstGeom>
          </p:spPr>
        </p:pic>
        <p:sp>
          <p:nvSpPr>
            <p:cNvPr id="32" name="object 32" descr=""/>
            <p:cNvSpPr/>
            <p:nvPr/>
          </p:nvSpPr>
          <p:spPr>
            <a:xfrm>
              <a:off x="7991474" y="3262249"/>
              <a:ext cx="1368425" cy="311150"/>
            </a:xfrm>
            <a:custGeom>
              <a:avLst/>
              <a:gdLst/>
              <a:ahLst/>
              <a:cxnLst/>
              <a:rect l="l" t="t" r="r" b="b"/>
              <a:pathLst>
                <a:path w="1368425" h="311150">
                  <a:moveTo>
                    <a:pt x="1368425" y="0"/>
                  </a:moveTo>
                  <a:lnTo>
                    <a:pt x="0" y="0"/>
                  </a:lnTo>
                  <a:lnTo>
                    <a:pt x="0" y="311150"/>
                  </a:lnTo>
                  <a:lnTo>
                    <a:pt x="1368425" y="311150"/>
                  </a:lnTo>
                  <a:lnTo>
                    <a:pt x="1368425" y="0"/>
                  </a:lnTo>
                  <a:close/>
                </a:path>
              </a:pathLst>
            </a:custGeom>
            <a:solidFill>
              <a:srgbClr val="647AD3"/>
            </a:solidFill>
          </p:spPr>
          <p:txBody>
            <a:bodyPr wrap="square" lIns="0" tIns="0" rIns="0" bIns="0" rtlCol="0"/>
            <a:lstStyle/>
            <a:p/>
          </p:txBody>
        </p:sp>
        <p:sp>
          <p:nvSpPr>
            <p:cNvPr id="33" name="object 33" descr=""/>
            <p:cNvSpPr/>
            <p:nvPr/>
          </p:nvSpPr>
          <p:spPr>
            <a:xfrm>
              <a:off x="7991474" y="3262249"/>
              <a:ext cx="1368425" cy="311150"/>
            </a:xfrm>
            <a:custGeom>
              <a:avLst/>
              <a:gdLst/>
              <a:ahLst/>
              <a:cxnLst/>
              <a:rect l="l" t="t" r="r" b="b"/>
              <a:pathLst>
                <a:path w="1368425" h="311150">
                  <a:moveTo>
                    <a:pt x="0" y="311150"/>
                  </a:moveTo>
                  <a:lnTo>
                    <a:pt x="1368425" y="311150"/>
                  </a:lnTo>
                  <a:lnTo>
                    <a:pt x="1368425" y="0"/>
                  </a:lnTo>
                  <a:lnTo>
                    <a:pt x="0" y="0"/>
                  </a:lnTo>
                  <a:lnTo>
                    <a:pt x="0" y="311150"/>
                  </a:lnTo>
                  <a:close/>
                </a:path>
              </a:pathLst>
            </a:custGeom>
            <a:ln w="19050">
              <a:solidFill>
                <a:srgbClr val="FF0000"/>
              </a:solidFill>
            </a:ln>
          </p:spPr>
          <p:txBody>
            <a:bodyPr wrap="square" lIns="0" tIns="0" rIns="0" bIns="0" rtlCol="0"/>
            <a:lstStyle/>
            <a:p/>
          </p:txBody>
        </p:sp>
      </p:grpSp>
      <p:grpSp>
        <p:nvGrpSpPr>
          <p:cNvPr id="34" name="object 34" descr=""/>
          <p:cNvGrpSpPr/>
          <p:nvPr/>
        </p:nvGrpSpPr>
        <p:grpSpPr>
          <a:xfrm>
            <a:off x="9542780" y="2898538"/>
            <a:ext cx="1441450" cy="1716405"/>
            <a:chOff x="9542780" y="2898538"/>
            <a:chExt cx="1441450" cy="1716405"/>
          </a:xfrm>
        </p:grpSpPr>
        <p:pic>
          <p:nvPicPr>
            <p:cNvPr id="35" name="object 35" descr=""/>
            <p:cNvPicPr/>
            <p:nvPr/>
          </p:nvPicPr>
          <p:blipFill>
            <a:blip r:embed="rId6" cstate="print"/>
            <a:stretch>
              <a:fillRect/>
            </a:stretch>
          </p:blipFill>
          <p:spPr>
            <a:xfrm>
              <a:off x="9542780" y="2898538"/>
              <a:ext cx="1441196" cy="1716260"/>
            </a:xfrm>
            <a:prstGeom prst="rect">
              <a:avLst/>
            </a:prstGeom>
          </p:spPr>
        </p:pic>
        <p:sp>
          <p:nvSpPr>
            <p:cNvPr id="36" name="object 36" descr=""/>
            <p:cNvSpPr/>
            <p:nvPr/>
          </p:nvSpPr>
          <p:spPr>
            <a:xfrm>
              <a:off x="9585452" y="3234880"/>
              <a:ext cx="1368425" cy="311150"/>
            </a:xfrm>
            <a:custGeom>
              <a:avLst/>
              <a:gdLst/>
              <a:ahLst/>
              <a:cxnLst/>
              <a:rect l="l" t="t" r="r" b="b"/>
              <a:pathLst>
                <a:path w="1368425" h="311150">
                  <a:moveTo>
                    <a:pt x="1368298" y="0"/>
                  </a:moveTo>
                  <a:lnTo>
                    <a:pt x="0" y="0"/>
                  </a:lnTo>
                  <a:lnTo>
                    <a:pt x="0" y="310705"/>
                  </a:lnTo>
                  <a:lnTo>
                    <a:pt x="1368298" y="310705"/>
                  </a:lnTo>
                  <a:lnTo>
                    <a:pt x="1368298" y="0"/>
                  </a:lnTo>
                  <a:close/>
                </a:path>
              </a:pathLst>
            </a:custGeom>
            <a:solidFill>
              <a:srgbClr val="00AFEF"/>
            </a:solidFill>
          </p:spPr>
          <p:txBody>
            <a:bodyPr wrap="square" lIns="0" tIns="0" rIns="0" bIns="0" rtlCol="0"/>
            <a:lstStyle/>
            <a:p/>
          </p:txBody>
        </p:sp>
        <p:sp>
          <p:nvSpPr>
            <p:cNvPr id="37" name="object 37" descr=""/>
            <p:cNvSpPr/>
            <p:nvPr/>
          </p:nvSpPr>
          <p:spPr>
            <a:xfrm>
              <a:off x="9585452" y="3234880"/>
              <a:ext cx="1368425" cy="311150"/>
            </a:xfrm>
            <a:custGeom>
              <a:avLst/>
              <a:gdLst/>
              <a:ahLst/>
              <a:cxnLst/>
              <a:rect l="l" t="t" r="r" b="b"/>
              <a:pathLst>
                <a:path w="1368425" h="311150">
                  <a:moveTo>
                    <a:pt x="0" y="310705"/>
                  </a:moveTo>
                  <a:lnTo>
                    <a:pt x="1368298" y="310705"/>
                  </a:lnTo>
                  <a:lnTo>
                    <a:pt x="1368298" y="0"/>
                  </a:lnTo>
                  <a:lnTo>
                    <a:pt x="0" y="0"/>
                  </a:lnTo>
                  <a:lnTo>
                    <a:pt x="0" y="310705"/>
                  </a:lnTo>
                  <a:close/>
                </a:path>
              </a:pathLst>
            </a:custGeom>
            <a:ln w="19050">
              <a:solidFill>
                <a:srgbClr val="FF0000"/>
              </a:solidFill>
            </a:ln>
          </p:spPr>
          <p:txBody>
            <a:bodyPr wrap="square" lIns="0" tIns="0" rIns="0" bIns="0" rtlCol="0"/>
            <a:lstStyle/>
            <a:p/>
          </p:txBody>
        </p:sp>
      </p:grpSp>
      <p:sp>
        <p:nvSpPr>
          <p:cNvPr id="38" name="object 38" descr=""/>
          <p:cNvSpPr txBox="1"/>
          <p:nvPr/>
        </p:nvSpPr>
        <p:spPr>
          <a:xfrm>
            <a:off x="8499729" y="4777181"/>
            <a:ext cx="1551305" cy="391795"/>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两路组相联</a:t>
            </a:r>
            <a:endParaRPr sz="2400">
              <a:latin typeface="黑体"/>
              <a:cs typeface="黑体"/>
            </a:endParaRPr>
          </a:p>
        </p:txBody>
      </p:sp>
      <p:sp>
        <p:nvSpPr>
          <p:cNvPr id="39" name="object 39" descr=""/>
          <p:cNvSpPr txBox="1"/>
          <p:nvPr/>
        </p:nvSpPr>
        <p:spPr>
          <a:xfrm>
            <a:off x="2151540" y="4829632"/>
            <a:ext cx="1227455" cy="391795"/>
          </a:xfrm>
          <a:prstGeom prst="rect">
            <a:avLst/>
          </a:prstGeom>
        </p:spPr>
        <p:txBody>
          <a:bodyPr wrap="square" lIns="0" tIns="12700" rIns="0" bIns="0" rtlCol="0" vert="horz">
            <a:spAutoFit/>
          </a:bodyPr>
          <a:lstStyle/>
          <a:p>
            <a:pPr algn="ctr" marR="187325">
              <a:lnSpc>
                <a:spcPct val="100000"/>
              </a:lnSpc>
              <a:spcBef>
                <a:spcPts val="100"/>
              </a:spcBef>
            </a:pPr>
            <a:r>
              <a:rPr dirty="0" sz="2400" spc="-50">
                <a:solidFill>
                  <a:srgbClr val="FF0000"/>
                </a:solidFill>
                <a:latin typeface="Tahoma"/>
                <a:cs typeface="Tahoma"/>
              </a:rPr>
              <a:t>a</a:t>
            </a:r>
            <a:endParaRPr sz="2400">
              <a:latin typeface="Tahoma"/>
              <a:cs typeface="Tahoma"/>
            </a:endParaRPr>
          </a:p>
        </p:txBody>
      </p:sp>
      <p:sp>
        <p:nvSpPr>
          <p:cNvPr id="40" name="object 40" descr=""/>
          <p:cNvSpPr txBox="1"/>
          <p:nvPr/>
        </p:nvSpPr>
        <p:spPr>
          <a:xfrm>
            <a:off x="2151540" y="3472129"/>
            <a:ext cx="1227455" cy="391795"/>
          </a:xfrm>
          <a:prstGeom prst="rect">
            <a:avLst/>
          </a:prstGeom>
        </p:spPr>
        <p:txBody>
          <a:bodyPr wrap="square" lIns="0" tIns="12700" rIns="0" bIns="0" rtlCol="0" vert="horz">
            <a:spAutoFit/>
          </a:bodyPr>
          <a:lstStyle/>
          <a:p>
            <a:pPr algn="ctr" marR="144145">
              <a:lnSpc>
                <a:spcPct val="100000"/>
              </a:lnSpc>
              <a:spcBef>
                <a:spcPts val="100"/>
              </a:spcBef>
            </a:pPr>
            <a:r>
              <a:rPr dirty="0" sz="2400" spc="-50">
                <a:solidFill>
                  <a:srgbClr val="FF0000"/>
                </a:solidFill>
                <a:latin typeface="Tahoma"/>
                <a:cs typeface="Tahoma"/>
              </a:rPr>
              <a:t>b</a:t>
            </a:r>
            <a:endParaRPr sz="2400">
              <a:latin typeface="Tahoma"/>
              <a:cs typeface="Tahoma"/>
            </a:endParaRPr>
          </a:p>
        </p:txBody>
      </p:sp>
      <p:sp>
        <p:nvSpPr>
          <p:cNvPr id="41" name="object 41" descr=""/>
          <p:cNvSpPr/>
          <p:nvPr/>
        </p:nvSpPr>
        <p:spPr>
          <a:xfrm>
            <a:off x="3935476" y="5387975"/>
            <a:ext cx="1081405" cy="708025"/>
          </a:xfrm>
          <a:custGeom>
            <a:avLst/>
            <a:gdLst/>
            <a:ahLst/>
            <a:cxnLst/>
            <a:rect l="l" t="t" r="r" b="b"/>
            <a:pathLst>
              <a:path w="1081404" h="708025">
                <a:moveTo>
                  <a:pt x="1081087" y="0"/>
                </a:moveTo>
                <a:lnTo>
                  <a:pt x="0" y="0"/>
                </a:lnTo>
                <a:lnTo>
                  <a:pt x="0" y="708025"/>
                </a:lnTo>
                <a:lnTo>
                  <a:pt x="1081087" y="708025"/>
                </a:lnTo>
                <a:lnTo>
                  <a:pt x="1081087" y="0"/>
                </a:lnTo>
                <a:close/>
              </a:path>
            </a:pathLst>
          </a:custGeom>
          <a:solidFill>
            <a:srgbClr val="B7C1EB"/>
          </a:solidFill>
        </p:spPr>
        <p:txBody>
          <a:bodyPr wrap="square" lIns="0" tIns="0" rIns="0" bIns="0" rtlCol="0"/>
          <a:lstStyle/>
          <a:p/>
        </p:txBody>
      </p:sp>
      <p:sp>
        <p:nvSpPr>
          <p:cNvPr id="42" name="object 42" descr=""/>
          <p:cNvSpPr txBox="1"/>
          <p:nvPr/>
        </p:nvSpPr>
        <p:spPr>
          <a:xfrm>
            <a:off x="4014596" y="5429503"/>
            <a:ext cx="789305" cy="628650"/>
          </a:xfrm>
          <a:prstGeom prst="rect">
            <a:avLst/>
          </a:prstGeom>
        </p:spPr>
        <p:txBody>
          <a:bodyPr wrap="square" lIns="0" tIns="13335" rIns="0" bIns="0" rtlCol="0" vert="horz">
            <a:spAutoFit/>
          </a:bodyPr>
          <a:lstStyle/>
          <a:p>
            <a:pPr marL="12700">
              <a:lnSpc>
                <a:spcPts val="2370"/>
              </a:lnSpc>
              <a:spcBef>
                <a:spcPts val="105"/>
              </a:spcBef>
            </a:pPr>
            <a:r>
              <a:rPr dirty="0" sz="2000" spc="-25">
                <a:solidFill>
                  <a:srgbClr val="FF0000"/>
                </a:solidFill>
                <a:latin typeface="黑体"/>
                <a:cs typeface="黑体"/>
              </a:rPr>
              <a:t>下一级</a:t>
            </a:r>
            <a:endParaRPr sz="2000">
              <a:latin typeface="黑体"/>
              <a:cs typeface="黑体"/>
            </a:endParaRPr>
          </a:p>
          <a:p>
            <a:pPr marL="12700">
              <a:lnSpc>
                <a:spcPts val="2370"/>
              </a:lnSpc>
            </a:pPr>
            <a:r>
              <a:rPr dirty="0" sz="2000" spc="-20">
                <a:solidFill>
                  <a:srgbClr val="FF0000"/>
                </a:solidFill>
                <a:latin typeface="黑体"/>
                <a:cs typeface="黑体"/>
              </a:rPr>
              <a:t>存储器</a:t>
            </a:r>
            <a:endParaRPr sz="2000">
              <a:latin typeface="黑体"/>
              <a:cs typeface="黑体"/>
            </a:endParaRPr>
          </a:p>
        </p:txBody>
      </p:sp>
      <p:sp>
        <p:nvSpPr>
          <p:cNvPr id="43" name="object 43" descr=""/>
          <p:cNvSpPr txBox="1"/>
          <p:nvPr/>
        </p:nvSpPr>
        <p:spPr>
          <a:xfrm>
            <a:off x="1245819" y="5134432"/>
            <a:ext cx="939800" cy="391795"/>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黑体"/>
                <a:cs typeface="黑体"/>
              </a:rPr>
              <a:t>伪命中</a:t>
            </a:r>
            <a:endParaRPr sz="2400">
              <a:latin typeface="黑体"/>
              <a:cs typeface="黑体"/>
            </a:endParaRPr>
          </a:p>
        </p:txBody>
      </p:sp>
      <p:sp>
        <p:nvSpPr>
          <p:cNvPr id="44" name="object 44" descr=""/>
          <p:cNvSpPr txBox="1"/>
          <p:nvPr/>
        </p:nvSpPr>
        <p:spPr>
          <a:xfrm>
            <a:off x="6918452" y="3243834"/>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spc="-20">
                <a:solidFill>
                  <a:srgbClr val="FF0000"/>
                </a:solidFill>
                <a:latin typeface="黑体"/>
                <a:cs typeface="黑体"/>
              </a:rPr>
              <a:t>伪相联</a:t>
            </a:r>
            <a:endParaRPr sz="2400">
              <a:latin typeface="黑体"/>
              <a:cs typeface="黑体"/>
            </a:endParaRPr>
          </a:p>
        </p:txBody>
      </p:sp>
      <p:sp>
        <p:nvSpPr>
          <p:cNvPr id="45" name="object 45" descr=""/>
          <p:cNvSpPr txBox="1"/>
          <p:nvPr/>
        </p:nvSpPr>
        <p:spPr>
          <a:xfrm>
            <a:off x="5095747" y="5457240"/>
            <a:ext cx="6927215" cy="635635"/>
          </a:xfrm>
          <a:prstGeom prst="rect">
            <a:avLst/>
          </a:prstGeom>
        </p:spPr>
        <p:txBody>
          <a:bodyPr wrap="square" lIns="0" tIns="12700" rIns="0" bIns="0" rtlCol="0" vert="horz">
            <a:spAutoFit/>
          </a:bodyPr>
          <a:lstStyle/>
          <a:p>
            <a:pPr marL="355600" indent="-342900">
              <a:lnSpc>
                <a:spcPct val="100000"/>
              </a:lnSpc>
              <a:spcBef>
                <a:spcPts val="100"/>
              </a:spcBef>
              <a:buClr>
                <a:srgbClr val="4F55AC"/>
              </a:buClr>
              <a:buFont typeface="Wingdings"/>
              <a:buChar char=""/>
              <a:tabLst>
                <a:tab pos="355600" algn="l"/>
              </a:tabLst>
            </a:pPr>
            <a:r>
              <a:rPr dirty="0" sz="2000" spc="-20">
                <a:solidFill>
                  <a:srgbClr val="FF09FF"/>
                </a:solidFill>
                <a:latin typeface="黑体"/>
                <a:cs typeface="黑体"/>
              </a:rPr>
              <a:t>若未命中，从下一级存储器中访问，数据对调，如左图</a:t>
            </a:r>
            <a:endParaRPr sz="2000">
              <a:latin typeface="黑体"/>
              <a:cs typeface="黑体"/>
            </a:endParaRPr>
          </a:p>
          <a:p>
            <a:pPr marL="355600" indent="-342900">
              <a:lnSpc>
                <a:spcPct val="100000"/>
              </a:lnSpc>
              <a:buClr>
                <a:srgbClr val="4F55AC"/>
              </a:buClr>
              <a:buFont typeface="Wingdings"/>
              <a:buChar char=""/>
              <a:tabLst>
                <a:tab pos="355600" algn="l"/>
              </a:tabLst>
            </a:pPr>
            <a:r>
              <a:rPr dirty="0" sz="2000" spc="-15">
                <a:solidFill>
                  <a:srgbClr val="FF09FF"/>
                </a:solidFill>
                <a:latin typeface="黑体"/>
                <a:cs typeface="黑体"/>
              </a:rPr>
              <a:t>从下一级存储器调度并访问后，仍然进行数据对调</a:t>
            </a:r>
            <a:r>
              <a:rPr dirty="0" sz="2000" spc="-10">
                <a:solidFill>
                  <a:srgbClr val="FF09FF"/>
                </a:solidFill>
                <a:latin typeface="黑体"/>
                <a:cs typeface="黑体"/>
              </a:rPr>
              <a:t>（</a:t>
            </a:r>
            <a:r>
              <a:rPr dirty="0" sz="2000" spc="-10">
                <a:solidFill>
                  <a:srgbClr val="FF09FF"/>
                </a:solidFill>
                <a:latin typeface="Tahoma"/>
                <a:cs typeface="Tahoma"/>
              </a:rPr>
              <a:t>a</a:t>
            </a:r>
            <a:r>
              <a:rPr dirty="0" sz="2000" spc="-5">
                <a:solidFill>
                  <a:srgbClr val="FF09FF"/>
                </a:solidFill>
                <a:latin typeface="Tahoma"/>
                <a:cs typeface="Tahoma"/>
              </a:rPr>
              <a:t>--</a:t>
            </a:r>
            <a:r>
              <a:rPr dirty="0" sz="2000" spc="-25">
                <a:solidFill>
                  <a:srgbClr val="FF09FF"/>
                </a:solidFill>
                <a:latin typeface="Tahoma"/>
                <a:cs typeface="Tahoma"/>
              </a:rPr>
              <a:t>b</a:t>
            </a:r>
            <a:r>
              <a:rPr dirty="0" sz="2000" spc="-25">
                <a:solidFill>
                  <a:srgbClr val="FF09FF"/>
                </a:solidFill>
                <a:latin typeface="黑体"/>
                <a:cs typeface="黑体"/>
              </a:rPr>
              <a:t>）</a:t>
            </a:r>
            <a:endParaRPr sz="2000">
              <a:latin typeface="黑体"/>
              <a:cs typeface="黑体"/>
            </a:endParaRPr>
          </a:p>
        </p:txBody>
      </p:sp>
      <p:grpSp>
        <p:nvGrpSpPr>
          <p:cNvPr id="46" name="object 46" descr=""/>
          <p:cNvGrpSpPr/>
          <p:nvPr/>
        </p:nvGrpSpPr>
        <p:grpSpPr>
          <a:xfrm>
            <a:off x="3281171" y="4995671"/>
            <a:ext cx="692150" cy="635635"/>
            <a:chOff x="3281171" y="4995671"/>
            <a:chExt cx="692150" cy="635635"/>
          </a:xfrm>
        </p:grpSpPr>
        <p:pic>
          <p:nvPicPr>
            <p:cNvPr id="47" name="object 47" descr=""/>
            <p:cNvPicPr/>
            <p:nvPr/>
          </p:nvPicPr>
          <p:blipFill>
            <a:blip r:embed="rId7" cstate="print"/>
            <a:stretch>
              <a:fillRect/>
            </a:stretch>
          </p:blipFill>
          <p:spPr>
            <a:xfrm>
              <a:off x="3281171" y="4995671"/>
              <a:ext cx="691883" cy="635507"/>
            </a:xfrm>
            <a:prstGeom prst="rect">
              <a:avLst/>
            </a:prstGeom>
          </p:spPr>
        </p:pic>
        <p:sp>
          <p:nvSpPr>
            <p:cNvPr id="48" name="object 48" descr=""/>
            <p:cNvSpPr/>
            <p:nvPr/>
          </p:nvSpPr>
          <p:spPr>
            <a:xfrm>
              <a:off x="3400424" y="5056123"/>
              <a:ext cx="535305" cy="518159"/>
            </a:xfrm>
            <a:custGeom>
              <a:avLst/>
              <a:gdLst/>
              <a:ahLst/>
              <a:cxnLst/>
              <a:rect l="l" t="t" r="r" b="b"/>
              <a:pathLst>
                <a:path w="535304" h="518160">
                  <a:moveTo>
                    <a:pt x="254762" y="38100"/>
                  </a:moveTo>
                  <a:lnTo>
                    <a:pt x="254762" y="511937"/>
                  </a:lnTo>
                  <a:lnTo>
                    <a:pt x="260476" y="517651"/>
                  </a:lnTo>
                  <a:lnTo>
                    <a:pt x="535051" y="517651"/>
                  </a:lnTo>
                  <a:lnTo>
                    <a:pt x="535051" y="504951"/>
                  </a:lnTo>
                  <a:lnTo>
                    <a:pt x="280162" y="504951"/>
                  </a:lnTo>
                  <a:lnTo>
                    <a:pt x="267462" y="492251"/>
                  </a:lnTo>
                  <a:lnTo>
                    <a:pt x="280162" y="492251"/>
                  </a:lnTo>
                  <a:lnTo>
                    <a:pt x="280162" y="50800"/>
                  </a:lnTo>
                  <a:lnTo>
                    <a:pt x="267462" y="50800"/>
                  </a:lnTo>
                  <a:lnTo>
                    <a:pt x="254762" y="38100"/>
                  </a:lnTo>
                  <a:close/>
                </a:path>
                <a:path w="535304" h="518160">
                  <a:moveTo>
                    <a:pt x="280162" y="492251"/>
                  </a:moveTo>
                  <a:lnTo>
                    <a:pt x="267462" y="492251"/>
                  </a:lnTo>
                  <a:lnTo>
                    <a:pt x="280162" y="504951"/>
                  </a:lnTo>
                  <a:lnTo>
                    <a:pt x="280162" y="492251"/>
                  </a:lnTo>
                  <a:close/>
                </a:path>
                <a:path w="535304" h="518160">
                  <a:moveTo>
                    <a:pt x="535051" y="492251"/>
                  </a:moveTo>
                  <a:lnTo>
                    <a:pt x="280162" y="492251"/>
                  </a:lnTo>
                  <a:lnTo>
                    <a:pt x="280162" y="504951"/>
                  </a:lnTo>
                  <a:lnTo>
                    <a:pt x="535051" y="504951"/>
                  </a:lnTo>
                  <a:lnTo>
                    <a:pt x="535051" y="492251"/>
                  </a:lnTo>
                  <a:close/>
                </a:path>
                <a:path w="535304" h="518160">
                  <a:moveTo>
                    <a:pt x="76200" y="0"/>
                  </a:moveTo>
                  <a:lnTo>
                    <a:pt x="0" y="38100"/>
                  </a:lnTo>
                  <a:lnTo>
                    <a:pt x="76200" y="76200"/>
                  </a:lnTo>
                  <a:lnTo>
                    <a:pt x="76200" y="50800"/>
                  </a:lnTo>
                  <a:lnTo>
                    <a:pt x="63500" y="50800"/>
                  </a:lnTo>
                  <a:lnTo>
                    <a:pt x="63500" y="25400"/>
                  </a:lnTo>
                  <a:lnTo>
                    <a:pt x="76200" y="25400"/>
                  </a:lnTo>
                  <a:lnTo>
                    <a:pt x="76200" y="0"/>
                  </a:lnTo>
                  <a:close/>
                </a:path>
                <a:path w="535304" h="518160">
                  <a:moveTo>
                    <a:pt x="76200" y="25400"/>
                  </a:moveTo>
                  <a:lnTo>
                    <a:pt x="63500" y="25400"/>
                  </a:lnTo>
                  <a:lnTo>
                    <a:pt x="63500" y="50800"/>
                  </a:lnTo>
                  <a:lnTo>
                    <a:pt x="76200" y="50800"/>
                  </a:lnTo>
                  <a:lnTo>
                    <a:pt x="76200" y="25400"/>
                  </a:lnTo>
                  <a:close/>
                </a:path>
                <a:path w="535304" h="518160">
                  <a:moveTo>
                    <a:pt x="274447" y="25400"/>
                  </a:moveTo>
                  <a:lnTo>
                    <a:pt x="76200" y="25400"/>
                  </a:lnTo>
                  <a:lnTo>
                    <a:pt x="76200" y="50800"/>
                  </a:lnTo>
                  <a:lnTo>
                    <a:pt x="254762" y="50800"/>
                  </a:lnTo>
                  <a:lnTo>
                    <a:pt x="254762" y="38100"/>
                  </a:lnTo>
                  <a:lnTo>
                    <a:pt x="280162" y="38100"/>
                  </a:lnTo>
                  <a:lnTo>
                    <a:pt x="280162" y="31114"/>
                  </a:lnTo>
                  <a:lnTo>
                    <a:pt x="274447" y="25400"/>
                  </a:lnTo>
                  <a:close/>
                </a:path>
                <a:path w="535304" h="518160">
                  <a:moveTo>
                    <a:pt x="280162" y="38100"/>
                  </a:moveTo>
                  <a:lnTo>
                    <a:pt x="254762" y="38100"/>
                  </a:lnTo>
                  <a:lnTo>
                    <a:pt x="267462" y="50800"/>
                  </a:lnTo>
                  <a:lnTo>
                    <a:pt x="280162" y="50800"/>
                  </a:lnTo>
                  <a:lnTo>
                    <a:pt x="280162" y="38100"/>
                  </a:lnTo>
                  <a:close/>
                </a:path>
              </a:pathLst>
            </a:custGeom>
            <a:solidFill>
              <a:srgbClr val="40458B"/>
            </a:solidFill>
          </p:spPr>
          <p:txBody>
            <a:bodyPr wrap="square" lIns="0" tIns="0" rIns="0" bIns="0" rtlCol="0"/>
            <a:lstStyle/>
            <a:p/>
          </p:txBody>
        </p:sp>
      </p:grpSp>
      <p:sp>
        <p:nvSpPr>
          <p:cNvPr id="49" name="object 49" descr=""/>
          <p:cNvSpPr txBox="1"/>
          <p:nvPr/>
        </p:nvSpPr>
        <p:spPr>
          <a:xfrm>
            <a:off x="932009" y="3116707"/>
            <a:ext cx="1109345" cy="600075"/>
          </a:xfrm>
          <a:prstGeom prst="rect">
            <a:avLst/>
          </a:prstGeom>
        </p:spPr>
        <p:txBody>
          <a:bodyPr wrap="square" lIns="0" tIns="12700" rIns="0" bIns="0" rtlCol="0" vert="horz">
            <a:spAutoFit/>
          </a:bodyPr>
          <a:lstStyle/>
          <a:p>
            <a:pPr marL="486409">
              <a:lnSpc>
                <a:spcPts val="2800"/>
              </a:lnSpc>
              <a:spcBef>
                <a:spcPts val="100"/>
              </a:spcBef>
            </a:pPr>
            <a:r>
              <a:rPr dirty="0" sz="2400" spc="-25">
                <a:solidFill>
                  <a:srgbClr val="FF0000"/>
                </a:solidFill>
                <a:latin typeface="黑体"/>
                <a:cs typeface="黑体"/>
              </a:rPr>
              <a:t>命中</a:t>
            </a:r>
            <a:endParaRPr sz="2400">
              <a:latin typeface="黑体"/>
              <a:cs typeface="黑体"/>
            </a:endParaRPr>
          </a:p>
          <a:p>
            <a:pPr marL="12700">
              <a:lnSpc>
                <a:spcPts val="1720"/>
              </a:lnSpc>
            </a:pPr>
            <a:r>
              <a:rPr dirty="0" sz="1500" spc="-25">
                <a:solidFill>
                  <a:srgbClr val="0000FF"/>
                </a:solidFill>
                <a:latin typeface="宋体"/>
                <a:cs typeface="宋体"/>
              </a:rPr>
              <a:t>索引</a:t>
            </a:r>
            <a:endParaRPr sz="1500">
              <a:latin typeface="宋体"/>
              <a:cs typeface="宋体"/>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558190" y="5043678"/>
            <a:ext cx="2674620" cy="156210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5.</a:t>
            </a:r>
            <a:r>
              <a:rPr dirty="0" sz="2400">
                <a:solidFill>
                  <a:srgbClr val="40458B"/>
                </a:solidFill>
                <a:latin typeface="Tahoma"/>
                <a:cs typeface="Tahoma"/>
              </a:rPr>
              <a:t>	</a:t>
            </a:r>
            <a:r>
              <a:rPr dirty="0" sz="2400" spc="-20">
                <a:solidFill>
                  <a:srgbClr val="D50092"/>
                </a:solidFill>
                <a:latin typeface="黑体"/>
                <a:cs typeface="黑体"/>
              </a:rPr>
              <a:t>缺点：</a:t>
            </a:r>
            <a:endParaRPr sz="2400">
              <a:latin typeface="黑体"/>
              <a:cs typeface="黑体"/>
            </a:endParaRPr>
          </a:p>
          <a:p>
            <a:pPr marL="832485">
              <a:lnSpc>
                <a:spcPct val="100000"/>
              </a:lnSpc>
              <a:spcBef>
                <a:spcPts val="1730"/>
              </a:spcBef>
            </a:pPr>
            <a:r>
              <a:rPr dirty="0" sz="2400" spc="-10">
                <a:solidFill>
                  <a:srgbClr val="40458B"/>
                </a:solidFill>
                <a:latin typeface="黑体"/>
                <a:cs typeface="黑体"/>
              </a:rPr>
              <a:t>多种命中时间</a:t>
            </a:r>
            <a:endParaRPr sz="2400">
              <a:latin typeface="黑体"/>
              <a:cs typeface="黑体"/>
            </a:endParaRPr>
          </a:p>
          <a:p>
            <a:pPr marL="641985">
              <a:lnSpc>
                <a:spcPct val="100000"/>
              </a:lnSpc>
              <a:spcBef>
                <a:spcPts val="1725"/>
              </a:spcBef>
            </a:pPr>
            <a:r>
              <a:rPr dirty="0" sz="2400">
                <a:solidFill>
                  <a:srgbClr val="40458B"/>
                </a:solidFill>
                <a:latin typeface="黑体"/>
                <a:cs typeface="黑体"/>
              </a:rPr>
              <a:t>（快慢</a:t>
            </a:r>
            <a:r>
              <a:rPr dirty="0" sz="2400" spc="-50">
                <a:solidFill>
                  <a:srgbClr val="40458B"/>
                </a:solidFill>
                <a:latin typeface="黑体"/>
                <a:cs typeface="黑体"/>
              </a:rPr>
              <a:t>）</a:t>
            </a:r>
            <a:endParaRPr sz="2400">
              <a:latin typeface="黑体"/>
              <a:cs typeface="黑体"/>
            </a:endParaRPr>
          </a:p>
        </p:txBody>
      </p:sp>
      <p:sp>
        <p:nvSpPr>
          <p:cNvPr id="10" name="object 10" descr=""/>
          <p:cNvSpPr txBox="1"/>
          <p:nvPr/>
        </p:nvSpPr>
        <p:spPr>
          <a:xfrm>
            <a:off x="594766" y="86944"/>
            <a:ext cx="11231245" cy="2799715"/>
          </a:xfrm>
          <a:prstGeom prst="rect">
            <a:avLst/>
          </a:prstGeom>
        </p:spPr>
        <p:txBody>
          <a:bodyPr wrap="square" lIns="0" tIns="0" rIns="0" bIns="0" rtlCol="0" vert="horz">
            <a:spAutoFit/>
          </a:bodyPr>
          <a:lstStyle/>
          <a:p>
            <a:pPr marL="1203325">
              <a:lnSpc>
                <a:spcPts val="3020"/>
              </a:lnSpc>
            </a:pPr>
            <a:r>
              <a:rPr dirty="0" sz="2600">
                <a:solidFill>
                  <a:srgbClr val="0000CC"/>
                </a:solidFill>
                <a:latin typeface="黑体"/>
                <a:cs typeface="黑体"/>
              </a:rPr>
              <a:t>7.3.5</a:t>
            </a:r>
            <a:r>
              <a:rPr dirty="0" sz="2600" spc="-70">
                <a:solidFill>
                  <a:srgbClr val="0000CC"/>
                </a:solidFill>
                <a:latin typeface="黑体"/>
                <a:cs typeface="黑体"/>
              </a:rPr>
              <a:t> </a:t>
            </a:r>
            <a:r>
              <a:rPr dirty="0" sz="2400" spc="-120">
                <a:solidFill>
                  <a:srgbClr val="0000CC"/>
                </a:solidFill>
                <a:latin typeface="黑体"/>
                <a:cs typeface="黑体"/>
              </a:rPr>
              <a:t>伪相联 </a:t>
            </a:r>
            <a:r>
              <a:rPr dirty="0" sz="2400">
                <a:solidFill>
                  <a:srgbClr val="0000CC"/>
                </a:solidFill>
                <a:latin typeface="Tahoma"/>
                <a:cs typeface="Tahoma"/>
              </a:rPr>
              <a:t>Cache</a:t>
            </a:r>
            <a:r>
              <a:rPr dirty="0" sz="2400" spc="-10">
                <a:solidFill>
                  <a:srgbClr val="0000CC"/>
                </a:solidFill>
                <a:latin typeface="Tahoma"/>
                <a:cs typeface="Tahoma"/>
              </a:rPr>
              <a:t> </a:t>
            </a:r>
            <a:r>
              <a:rPr dirty="0" sz="2400" spc="-10">
                <a:solidFill>
                  <a:srgbClr val="40458B"/>
                </a:solidFill>
                <a:latin typeface="Tahoma"/>
                <a:cs typeface="Tahoma"/>
              </a:rPr>
              <a:t>(</a:t>
            </a:r>
            <a:r>
              <a:rPr dirty="0" sz="2400" spc="-120">
                <a:solidFill>
                  <a:srgbClr val="0000CC"/>
                </a:solidFill>
                <a:latin typeface="黑体"/>
                <a:cs typeface="黑体"/>
              </a:rPr>
              <a:t>列相联 </a:t>
            </a:r>
            <a:r>
              <a:rPr dirty="0" sz="2400">
                <a:solidFill>
                  <a:srgbClr val="0000CC"/>
                </a:solidFill>
                <a:latin typeface="Tahoma"/>
                <a:cs typeface="Tahoma"/>
              </a:rPr>
              <a:t>Cache</a:t>
            </a:r>
            <a:r>
              <a:rPr dirty="0" sz="2400" spc="5">
                <a:solidFill>
                  <a:srgbClr val="0000CC"/>
                </a:solidFill>
                <a:latin typeface="Tahoma"/>
                <a:cs typeface="Tahoma"/>
              </a:rPr>
              <a:t> </a:t>
            </a:r>
            <a:r>
              <a:rPr dirty="0" sz="2400" spc="-50">
                <a:solidFill>
                  <a:srgbClr val="40458B"/>
                </a:solidFill>
                <a:latin typeface="Tahoma"/>
                <a:cs typeface="Tahoma"/>
              </a:rPr>
              <a:t>)</a:t>
            </a:r>
            <a:endParaRPr sz="2400">
              <a:latin typeface="Tahoma"/>
              <a:cs typeface="Tahoma"/>
            </a:endParaRPr>
          </a:p>
          <a:p>
            <a:pPr>
              <a:lnSpc>
                <a:spcPct val="100000"/>
              </a:lnSpc>
              <a:spcBef>
                <a:spcPts val="175"/>
              </a:spcBef>
            </a:pPr>
            <a:endParaRPr sz="2400">
              <a:latin typeface="Tahoma"/>
              <a:cs typeface="Tahoma"/>
            </a:endParaRPr>
          </a:p>
          <a:p>
            <a:pPr marL="12700">
              <a:lnSpc>
                <a:spcPct val="100000"/>
              </a:lnSpc>
              <a:tabLst>
                <a:tab pos="469265" algn="l"/>
              </a:tabLst>
            </a:pPr>
            <a:r>
              <a:rPr dirty="0" sz="2400" spc="-25">
                <a:solidFill>
                  <a:srgbClr val="40458B"/>
                </a:solidFill>
                <a:latin typeface="Tahoma"/>
                <a:cs typeface="Tahoma"/>
              </a:rPr>
              <a:t>4.</a:t>
            </a:r>
            <a:r>
              <a:rPr dirty="0" sz="2400">
                <a:solidFill>
                  <a:srgbClr val="40458B"/>
                </a:solidFill>
                <a:latin typeface="Tahoma"/>
                <a:cs typeface="Tahoma"/>
              </a:rPr>
              <a:t>	</a:t>
            </a:r>
            <a:r>
              <a:rPr dirty="0" sz="2400" spc="-10">
                <a:solidFill>
                  <a:srgbClr val="C00000"/>
                </a:solidFill>
                <a:latin typeface="黑体"/>
                <a:cs typeface="黑体"/>
              </a:rPr>
              <a:t>快速命中与慢速命中</a:t>
            </a:r>
            <a:endParaRPr sz="2400">
              <a:latin typeface="黑体"/>
              <a:cs typeface="黑体"/>
            </a:endParaRPr>
          </a:p>
          <a:p>
            <a:pPr marL="393065" marR="5038090">
              <a:lnSpc>
                <a:spcPct val="150000"/>
              </a:lnSpc>
              <a:spcBef>
                <a:spcPts val="5"/>
              </a:spcBef>
            </a:pPr>
            <a:r>
              <a:rPr dirty="0" sz="2400" spc="-5">
                <a:solidFill>
                  <a:srgbClr val="C00000"/>
                </a:solidFill>
                <a:latin typeface="黑体"/>
                <a:cs typeface="黑体"/>
              </a:rPr>
              <a:t>快速命中：主候选区命中，等同于直接映像慢速命中：次候选区命中，伪命中</a:t>
            </a:r>
            <a:endParaRPr sz="2400">
              <a:latin typeface="黑体"/>
              <a:cs typeface="黑体"/>
            </a:endParaRPr>
          </a:p>
          <a:p>
            <a:pPr marL="735965">
              <a:lnSpc>
                <a:spcPct val="100000"/>
              </a:lnSpc>
              <a:spcBef>
                <a:spcPts val="1440"/>
              </a:spcBef>
            </a:pPr>
            <a:r>
              <a:rPr dirty="0" sz="2400" spc="-10">
                <a:solidFill>
                  <a:srgbClr val="40458B"/>
                </a:solidFill>
                <a:latin typeface="黑体"/>
                <a:cs typeface="黑体"/>
              </a:rPr>
              <a:t>要保证绝大多数命中都是快速命中（联系为什么进行数据对调，对比图</a:t>
            </a:r>
            <a:r>
              <a:rPr dirty="0" sz="2400" spc="-20">
                <a:solidFill>
                  <a:srgbClr val="40458B"/>
                </a:solidFill>
                <a:latin typeface="Tahoma"/>
                <a:cs typeface="Tahoma"/>
              </a:rPr>
              <a:t>4.8</a:t>
            </a:r>
            <a:r>
              <a:rPr dirty="0" sz="2400" spc="-20">
                <a:solidFill>
                  <a:srgbClr val="40458B"/>
                </a:solidFill>
                <a:latin typeface="黑体"/>
                <a:cs typeface="黑体"/>
              </a:rPr>
              <a:t>）</a:t>
            </a:r>
            <a:r>
              <a:rPr dirty="0" sz="2400" spc="-50">
                <a:solidFill>
                  <a:srgbClr val="40458B"/>
                </a:solidFill>
                <a:latin typeface="黑体"/>
                <a:cs typeface="黑体"/>
              </a:rPr>
              <a:t>。</a:t>
            </a:r>
            <a:endParaRPr sz="2400">
              <a:latin typeface="黑体"/>
              <a:cs typeface="黑体"/>
            </a:endParaRPr>
          </a:p>
        </p:txBody>
      </p:sp>
      <p:pic>
        <p:nvPicPr>
          <p:cNvPr id="11" name="object 11" descr=""/>
          <p:cNvPicPr/>
          <p:nvPr/>
        </p:nvPicPr>
        <p:blipFill>
          <a:blip r:embed="rId3" cstate="print"/>
          <a:stretch>
            <a:fillRect/>
          </a:stretch>
        </p:blipFill>
        <p:spPr>
          <a:xfrm>
            <a:off x="3923974" y="3144837"/>
            <a:ext cx="6240232" cy="24384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84/170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845616" y="749369"/>
            <a:ext cx="7933055" cy="5047615"/>
          </a:xfrm>
          <a:prstGeom prst="rect">
            <a:avLst/>
          </a:prstGeom>
        </p:spPr>
        <p:txBody>
          <a:bodyPr wrap="square" lIns="0" tIns="204470" rIns="0" bIns="0" rtlCol="0" vert="horz">
            <a:spAutoFit/>
          </a:bodyPr>
          <a:lstStyle/>
          <a:p>
            <a:pPr marL="156845">
              <a:lnSpc>
                <a:spcPct val="100000"/>
              </a:lnSpc>
              <a:spcBef>
                <a:spcPts val="1610"/>
              </a:spcBef>
            </a:pPr>
            <a:r>
              <a:rPr dirty="0" sz="2600" spc="-15">
                <a:solidFill>
                  <a:srgbClr val="0000CC"/>
                </a:solidFill>
                <a:latin typeface="黑体"/>
                <a:cs typeface="黑体"/>
              </a:rPr>
              <a:t>优化策略五：硬件预期</a:t>
            </a:r>
            <a:endParaRPr sz="2600">
              <a:latin typeface="黑体"/>
              <a:cs typeface="黑体"/>
            </a:endParaRPr>
          </a:p>
          <a:p>
            <a:pPr marL="469265" indent="-456565">
              <a:lnSpc>
                <a:spcPct val="100000"/>
              </a:lnSpc>
              <a:spcBef>
                <a:spcPts val="1395"/>
              </a:spcBef>
              <a:buFont typeface="Tahoma"/>
              <a:buAutoNum type="arabicPeriod"/>
              <a:tabLst>
                <a:tab pos="469265" algn="l"/>
              </a:tabLst>
            </a:pPr>
            <a:r>
              <a:rPr dirty="0" sz="2400" spc="-5">
                <a:solidFill>
                  <a:srgbClr val="40458B"/>
                </a:solidFill>
                <a:latin typeface="黑体"/>
                <a:cs typeface="黑体"/>
              </a:rPr>
              <a:t>指令和数据都可以预取</a:t>
            </a:r>
            <a:endParaRPr sz="2400">
              <a:latin typeface="黑体"/>
              <a:cs typeface="黑体"/>
            </a:endParaRPr>
          </a:p>
          <a:p>
            <a:pPr marL="469265" indent="-456565">
              <a:lnSpc>
                <a:spcPct val="100000"/>
              </a:lnSpc>
              <a:spcBef>
                <a:spcPts val="865"/>
              </a:spcBef>
              <a:buAutoNum type="arabicPeriod"/>
              <a:tabLst>
                <a:tab pos="469265" algn="l"/>
              </a:tabLst>
            </a:pPr>
            <a:r>
              <a:rPr dirty="0" sz="2400">
                <a:solidFill>
                  <a:srgbClr val="40458B"/>
                </a:solidFill>
                <a:latin typeface="黑体"/>
                <a:cs typeface="黑体"/>
              </a:rPr>
              <a:t>预取内容既可放入Cache，</a:t>
            </a:r>
            <a:r>
              <a:rPr dirty="0" sz="2400" spc="-5">
                <a:solidFill>
                  <a:srgbClr val="40458B"/>
                </a:solidFill>
                <a:latin typeface="黑体"/>
                <a:cs typeface="黑体"/>
              </a:rPr>
              <a:t>也可放在外缓冲器中。</a:t>
            </a:r>
            <a:endParaRPr sz="2400">
              <a:latin typeface="黑体"/>
              <a:cs typeface="黑体"/>
            </a:endParaRPr>
          </a:p>
          <a:p>
            <a:pPr marL="1270000">
              <a:lnSpc>
                <a:spcPct val="100000"/>
              </a:lnSpc>
              <a:spcBef>
                <a:spcPts val="775"/>
              </a:spcBef>
            </a:pPr>
            <a:r>
              <a:rPr dirty="0" sz="2000" spc="-15" b="1">
                <a:solidFill>
                  <a:srgbClr val="00AFEF"/>
                </a:solidFill>
                <a:latin typeface="宋体"/>
                <a:cs typeface="宋体"/>
              </a:rPr>
              <a:t>例如：指令流缓冲器</a:t>
            </a:r>
            <a:endParaRPr sz="2000">
              <a:latin typeface="宋体"/>
              <a:cs typeface="宋体"/>
            </a:endParaRPr>
          </a:p>
          <a:p>
            <a:pPr marL="469265" indent="-456565">
              <a:lnSpc>
                <a:spcPct val="100000"/>
              </a:lnSpc>
              <a:spcBef>
                <a:spcPts val="810"/>
              </a:spcBef>
              <a:buAutoNum type="arabicPeriod" startAt="3"/>
              <a:tabLst>
                <a:tab pos="469265" algn="l"/>
              </a:tabLst>
            </a:pPr>
            <a:r>
              <a:rPr dirty="0" sz="2400">
                <a:solidFill>
                  <a:srgbClr val="40458B"/>
                </a:solidFill>
                <a:latin typeface="黑体"/>
                <a:cs typeface="黑体"/>
              </a:rPr>
              <a:t>指令预取通常由Cache</a:t>
            </a:r>
            <a:r>
              <a:rPr dirty="0" sz="2400" spc="-10">
                <a:solidFill>
                  <a:srgbClr val="40458B"/>
                </a:solidFill>
                <a:latin typeface="黑体"/>
                <a:cs typeface="黑体"/>
              </a:rPr>
              <a:t>之外的硬件完成</a:t>
            </a:r>
            <a:endParaRPr sz="2400">
              <a:latin typeface="黑体"/>
              <a:cs typeface="黑体"/>
            </a:endParaRPr>
          </a:p>
          <a:p>
            <a:pPr marL="469265" indent="-456565">
              <a:lnSpc>
                <a:spcPct val="100000"/>
              </a:lnSpc>
              <a:spcBef>
                <a:spcPts val="865"/>
              </a:spcBef>
              <a:buFont typeface="Tahoma"/>
              <a:buAutoNum type="arabicPeriod" startAt="3"/>
              <a:tabLst>
                <a:tab pos="469265" algn="l"/>
              </a:tabLst>
            </a:pPr>
            <a:r>
              <a:rPr dirty="0" sz="2400" spc="-15">
                <a:solidFill>
                  <a:srgbClr val="40458B"/>
                </a:solidFill>
                <a:latin typeface="黑体"/>
                <a:cs typeface="黑体"/>
              </a:rPr>
              <a:t>预取效果</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0">
                <a:solidFill>
                  <a:srgbClr val="40458B"/>
                </a:solidFill>
                <a:latin typeface="黑体"/>
                <a:cs typeface="黑体"/>
              </a:rPr>
              <a:t>Joppi的研究结果</a:t>
            </a:r>
            <a:endParaRPr sz="2400">
              <a:latin typeface="黑体"/>
              <a:cs typeface="黑体"/>
            </a:endParaRPr>
          </a:p>
          <a:p>
            <a:pPr lvl="2" marL="1727200" indent="-457200">
              <a:lnSpc>
                <a:spcPct val="100000"/>
              </a:lnSpc>
              <a:spcBef>
                <a:spcPts val="770"/>
              </a:spcBef>
              <a:buClr>
                <a:srgbClr val="4668F5"/>
              </a:buClr>
              <a:buSzPct val="60000"/>
              <a:buFont typeface="Wingdings"/>
              <a:buChar char=""/>
              <a:tabLst>
                <a:tab pos="1727200" algn="l"/>
              </a:tabLst>
            </a:pPr>
            <a:r>
              <a:rPr dirty="0" sz="2000" spc="-10" b="1">
                <a:solidFill>
                  <a:srgbClr val="D50092"/>
                </a:solidFill>
                <a:latin typeface="宋体"/>
                <a:cs typeface="宋体"/>
              </a:rPr>
              <a:t>指令预取 </a:t>
            </a:r>
            <a:r>
              <a:rPr dirty="0" sz="2000" spc="-10" b="1">
                <a:solidFill>
                  <a:srgbClr val="00AFEF"/>
                </a:solidFill>
                <a:latin typeface="宋体"/>
                <a:cs typeface="宋体"/>
              </a:rPr>
              <a:t>(4KB</a:t>
            </a:r>
            <a:r>
              <a:rPr dirty="0" sz="2000" spc="-15" b="1">
                <a:solidFill>
                  <a:srgbClr val="00AFEF"/>
                </a:solidFill>
                <a:latin typeface="宋体"/>
                <a:cs typeface="宋体"/>
              </a:rPr>
              <a:t>，直接映象</a:t>
            </a:r>
            <a:r>
              <a:rPr dirty="0" sz="2000" spc="-10" b="1">
                <a:solidFill>
                  <a:srgbClr val="00AFEF"/>
                </a:solidFill>
                <a:latin typeface="宋体"/>
                <a:cs typeface="宋体"/>
              </a:rPr>
              <a:t>Cache</a:t>
            </a:r>
            <a:r>
              <a:rPr dirty="0" sz="2000" spc="-15" b="1">
                <a:solidFill>
                  <a:srgbClr val="00AFEF"/>
                </a:solidFill>
                <a:latin typeface="宋体"/>
                <a:cs typeface="宋体"/>
              </a:rPr>
              <a:t>，块大小</a:t>
            </a:r>
            <a:r>
              <a:rPr dirty="0" sz="2000" spc="-10" b="1">
                <a:solidFill>
                  <a:srgbClr val="00AFEF"/>
                </a:solidFill>
                <a:latin typeface="宋体"/>
                <a:cs typeface="宋体"/>
              </a:rPr>
              <a:t>＝16字节</a:t>
            </a:r>
            <a:r>
              <a:rPr dirty="0" sz="2000" spc="-50" b="1">
                <a:solidFill>
                  <a:srgbClr val="00AFEF"/>
                </a:solidFill>
                <a:latin typeface="Tahoma"/>
                <a:cs typeface="Tahoma"/>
              </a:rPr>
              <a:t>)</a:t>
            </a:r>
            <a:endParaRPr sz="2000">
              <a:latin typeface="Tahoma"/>
              <a:cs typeface="Tahoma"/>
            </a:endParaRPr>
          </a:p>
          <a:p>
            <a:pPr lvl="3" marL="2287905" indent="-381000">
              <a:lnSpc>
                <a:spcPct val="100000"/>
              </a:lnSpc>
              <a:spcBef>
                <a:spcPts val="720"/>
              </a:spcBef>
              <a:buClr>
                <a:srgbClr val="006600"/>
              </a:buClr>
              <a:buSzPct val="65000"/>
              <a:buFont typeface="Wingdings"/>
              <a:buChar char=""/>
              <a:tabLst>
                <a:tab pos="2287905" algn="l"/>
              </a:tabLst>
            </a:pPr>
            <a:r>
              <a:rPr dirty="0" sz="2000" b="1">
                <a:solidFill>
                  <a:srgbClr val="9933FF"/>
                </a:solidFill>
                <a:latin typeface="宋体"/>
                <a:cs typeface="宋体"/>
              </a:rPr>
              <a:t>1</a:t>
            </a:r>
            <a:r>
              <a:rPr dirty="0" sz="2000" spc="-15" b="1">
                <a:solidFill>
                  <a:srgbClr val="40458B"/>
                </a:solidFill>
                <a:latin typeface="宋体"/>
                <a:cs typeface="宋体"/>
              </a:rPr>
              <a:t>个块的指令流缓冲器： 捕获</a:t>
            </a:r>
            <a:r>
              <a:rPr dirty="0" sz="2000" spc="-10" b="1">
                <a:solidFill>
                  <a:srgbClr val="9933FF"/>
                </a:solidFill>
                <a:latin typeface="宋体"/>
                <a:cs typeface="宋体"/>
              </a:rPr>
              <a:t>15％～25％</a:t>
            </a:r>
            <a:r>
              <a:rPr dirty="0" sz="2000" spc="-30" b="1">
                <a:solidFill>
                  <a:srgbClr val="40458B"/>
                </a:solidFill>
                <a:latin typeface="宋体"/>
                <a:cs typeface="宋体"/>
              </a:rPr>
              <a:t>的不命中</a:t>
            </a:r>
            <a:endParaRPr sz="2000">
              <a:latin typeface="宋体"/>
              <a:cs typeface="宋体"/>
            </a:endParaRPr>
          </a:p>
          <a:p>
            <a:pPr lvl="3" marL="2287905" indent="-381000">
              <a:lnSpc>
                <a:spcPct val="100000"/>
              </a:lnSpc>
              <a:spcBef>
                <a:spcPts val="725"/>
              </a:spcBef>
              <a:buClr>
                <a:srgbClr val="006600"/>
              </a:buClr>
              <a:buSzPct val="65000"/>
              <a:buFont typeface="Wingdings"/>
              <a:buChar char=""/>
              <a:tabLst>
                <a:tab pos="2287905" algn="l"/>
              </a:tabLst>
            </a:pPr>
            <a:r>
              <a:rPr dirty="0" sz="2000" spc="-10" b="1">
                <a:solidFill>
                  <a:srgbClr val="9933FF"/>
                </a:solidFill>
                <a:latin typeface="宋体"/>
                <a:cs typeface="宋体"/>
              </a:rPr>
              <a:t>4</a:t>
            </a:r>
            <a:r>
              <a:rPr dirty="0" sz="2000" spc="-15" b="1">
                <a:solidFill>
                  <a:srgbClr val="40458B"/>
                </a:solidFill>
                <a:latin typeface="宋体"/>
                <a:cs typeface="宋体"/>
              </a:rPr>
              <a:t>个块的指令流缓冲器： 捕获</a:t>
            </a:r>
            <a:r>
              <a:rPr dirty="0" sz="2000" spc="-25" b="1">
                <a:solidFill>
                  <a:srgbClr val="9933FF"/>
                </a:solidFill>
                <a:latin typeface="宋体"/>
                <a:cs typeface="宋体"/>
              </a:rPr>
              <a:t>50％</a:t>
            </a:r>
            <a:endParaRPr sz="2000">
              <a:latin typeface="宋体"/>
              <a:cs typeface="宋体"/>
            </a:endParaRPr>
          </a:p>
          <a:p>
            <a:pPr lvl="3" marL="2287905" indent="-381000">
              <a:lnSpc>
                <a:spcPct val="100000"/>
              </a:lnSpc>
              <a:spcBef>
                <a:spcPts val="720"/>
              </a:spcBef>
              <a:buClr>
                <a:srgbClr val="006600"/>
              </a:buClr>
              <a:buSzPct val="65000"/>
              <a:buFont typeface="Wingdings"/>
              <a:buChar char=""/>
              <a:tabLst>
                <a:tab pos="2287905" algn="l"/>
              </a:tabLst>
            </a:pPr>
            <a:r>
              <a:rPr dirty="0" sz="2000" spc="-10" b="1">
                <a:solidFill>
                  <a:srgbClr val="9933FF"/>
                </a:solidFill>
                <a:latin typeface="宋体"/>
                <a:cs typeface="宋体"/>
              </a:rPr>
              <a:t>16</a:t>
            </a:r>
            <a:r>
              <a:rPr dirty="0" sz="2000" spc="-20" b="1">
                <a:solidFill>
                  <a:srgbClr val="40458B"/>
                </a:solidFill>
                <a:latin typeface="宋体"/>
                <a:cs typeface="宋体"/>
              </a:rPr>
              <a:t>个块的指令流缓冲器：捕获</a:t>
            </a:r>
            <a:r>
              <a:rPr dirty="0" sz="2000" spc="-25" b="1">
                <a:solidFill>
                  <a:srgbClr val="9933FF"/>
                </a:solidFill>
                <a:latin typeface="宋体"/>
                <a:cs typeface="宋体"/>
              </a:rPr>
              <a:t>72％</a:t>
            </a:r>
            <a:endParaRPr sz="2000">
              <a:latin typeface="宋体"/>
              <a:cs typeface="宋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0648315" algn="l"/>
              </a:tabLst>
            </a:pPr>
            <a:r>
              <a:rPr dirty="0" sz="3200" spc="285">
                <a:solidFill>
                  <a:srgbClr val="0000CC"/>
                </a:solidFill>
              </a:rPr>
              <a:t> </a:t>
            </a:r>
            <a:r>
              <a:rPr dirty="0" sz="3200">
                <a:solidFill>
                  <a:srgbClr val="0000CC"/>
                </a:solidFill>
              </a:rPr>
              <a:t>7.3.6</a:t>
            </a:r>
            <a:r>
              <a:rPr dirty="0" sz="3200" spc="-25">
                <a:solidFill>
                  <a:srgbClr val="0000CC"/>
                </a:solidFill>
              </a:rPr>
              <a:t> </a:t>
            </a:r>
            <a:r>
              <a:rPr dirty="0" sz="3200">
                <a:solidFill>
                  <a:srgbClr val="0000CC"/>
                </a:solidFill>
              </a:rPr>
              <a:t>硬件预</a:t>
            </a:r>
            <a:r>
              <a:rPr dirty="0" sz="3200" spc="-50">
                <a:solidFill>
                  <a:srgbClr val="0000CC"/>
                </a:solidFill>
              </a:rPr>
              <a:t>取</a:t>
            </a:r>
            <a:r>
              <a:rPr dirty="0" sz="3200">
                <a:solidFill>
                  <a:srgbClr val="0000CC"/>
                </a:solidFill>
              </a:rPr>
              <a:t>	</a:t>
            </a:r>
            <a:endParaRPr sz="32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85/170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1259205" y="1151382"/>
            <a:ext cx="9931400" cy="4441825"/>
          </a:xfrm>
          <a:prstGeom prst="rect">
            <a:avLst/>
          </a:prstGeom>
        </p:spPr>
        <p:txBody>
          <a:bodyPr wrap="square" lIns="0" tIns="13335" rIns="0" bIns="0" rtlCol="0" vert="horz">
            <a:spAutoFit/>
          </a:bodyPr>
          <a:lstStyle/>
          <a:p>
            <a:pPr marL="1097280" indent="-457200">
              <a:lnSpc>
                <a:spcPct val="100000"/>
              </a:lnSpc>
              <a:spcBef>
                <a:spcPts val="105"/>
              </a:spcBef>
              <a:buClr>
                <a:srgbClr val="4668F5"/>
              </a:buClr>
              <a:buSzPct val="60000"/>
              <a:buFont typeface="Wingdings"/>
              <a:buChar char=""/>
              <a:tabLst>
                <a:tab pos="1097280" algn="l"/>
              </a:tabLst>
            </a:pPr>
            <a:r>
              <a:rPr dirty="0" sz="2000" spc="-10" b="1">
                <a:solidFill>
                  <a:srgbClr val="00AFEF"/>
                </a:solidFill>
                <a:latin typeface="宋体"/>
                <a:cs typeface="宋体"/>
              </a:rPr>
              <a:t>数据预取 (4KB,</a:t>
            </a:r>
            <a:r>
              <a:rPr dirty="0" sz="2000" spc="-15" b="1">
                <a:solidFill>
                  <a:srgbClr val="00AFEF"/>
                </a:solidFill>
                <a:latin typeface="宋体"/>
                <a:cs typeface="宋体"/>
              </a:rPr>
              <a:t>直接映象</a:t>
            </a:r>
            <a:r>
              <a:rPr dirty="0" sz="2000" spc="-10" b="1">
                <a:solidFill>
                  <a:srgbClr val="00AFEF"/>
                </a:solidFill>
                <a:latin typeface="宋体"/>
                <a:cs typeface="宋体"/>
              </a:rPr>
              <a:t>Cache)</a:t>
            </a:r>
            <a:endParaRPr sz="2000">
              <a:latin typeface="宋体"/>
              <a:cs typeface="宋体"/>
            </a:endParaRPr>
          </a:p>
          <a:p>
            <a:pPr lvl="1" marL="1657985" indent="-380365">
              <a:lnSpc>
                <a:spcPct val="100000"/>
              </a:lnSpc>
              <a:spcBef>
                <a:spcPts val="1440"/>
              </a:spcBef>
              <a:buClr>
                <a:srgbClr val="006600"/>
              </a:buClr>
              <a:buSzPct val="65000"/>
              <a:buFont typeface="Wingdings"/>
              <a:buChar char=""/>
              <a:tabLst>
                <a:tab pos="1657985" algn="l"/>
              </a:tabLst>
            </a:pPr>
            <a:r>
              <a:rPr dirty="0" sz="2000" b="1">
                <a:solidFill>
                  <a:srgbClr val="9933FF"/>
                </a:solidFill>
                <a:latin typeface="宋体"/>
                <a:cs typeface="宋体"/>
              </a:rPr>
              <a:t>1</a:t>
            </a:r>
            <a:r>
              <a:rPr dirty="0" sz="2000" spc="-15" b="1">
                <a:solidFill>
                  <a:srgbClr val="40458B"/>
                </a:solidFill>
                <a:latin typeface="宋体"/>
                <a:cs typeface="宋体"/>
              </a:rPr>
              <a:t>个数据流缓冲器：捕获</a:t>
            </a:r>
            <a:r>
              <a:rPr dirty="0" sz="2000" spc="-10" b="1">
                <a:solidFill>
                  <a:srgbClr val="9933FF"/>
                </a:solidFill>
                <a:latin typeface="宋体"/>
                <a:cs typeface="宋体"/>
              </a:rPr>
              <a:t>25％</a:t>
            </a:r>
            <a:r>
              <a:rPr dirty="0" sz="2000" spc="-25" b="1">
                <a:solidFill>
                  <a:srgbClr val="40458B"/>
                </a:solidFill>
                <a:latin typeface="宋体"/>
                <a:cs typeface="宋体"/>
              </a:rPr>
              <a:t>的不命中</a:t>
            </a:r>
            <a:endParaRPr sz="2000">
              <a:latin typeface="宋体"/>
              <a:cs typeface="宋体"/>
            </a:endParaRPr>
          </a:p>
          <a:p>
            <a:pPr lvl="1" marL="1657985" indent="-380365">
              <a:lnSpc>
                <a:spcPct val="100000"/>
              </a:lnSpc>
              <a:spcBef>
                <a:spcPts val="1440"/>
              </a:spcBef>
              <a:buClr>
                <a:srgbClr val="006600"/>
              </a:buClr>
              <a:buSzPct val="65000"/>
              <a:buFont typeface="Wingdings"/>
              <a:buChar char=""/>
              <a:tabLst>
                <a:tab pos="1657985" algn="l"/>
              </a:tabLst>
            </a:pPr>
            <a:r>
              <a:rPr dirty="0" sz="2000" spc="-15" b="1">
                <a:solidFill>
                  <a:srgbClr val="40458B"/>
                </a:solidFill>
                <a:latin typeface="宋体"/>
                <a:cs typeface="宋体"/>
              </a:rPr>
              <a:t>还可以采用多个数据流缓冲器</a:t>
            </a:r>
            <a:endParaRPr sz="2000">
              <a:latin typeface="宋体"/>
              <a:cs typeface="宋体"/>
            </a:endParaRPr>
          </a:p>
          <a:p>
            <a:pPr marL="469265" indent="-456565">
              <a:lnSpc>
                <a:spcPct val="100000"/>
              </a:lnSpc>
              <a:spcBef>
                <a:spcPts val="1639"/>
              </a:spcBef>
              <a:buSzPct val="89583"/>
              <a:buFont typeface="Wingdings"/>
              <a:buChar char=""/>
              <a:tabLst>
                <a:tab pos="469265" algn="l"/>
              </a:tabLst>
            </a:pPr>
            <a:r>
              <a:rPr dirty="0" sz="2400" spc="-10">
                <a:solidFill>
                  <a:srgbClr val="40458B"/>
                </a:solidFill>
                <a:latin typeface="黑体"/>
                <a:cs typeface="黑体"/>
              </a:rPr>
              <a:t>Palacharla和Kessler</a:t>
            </a:r>
            <a:r>
              <a:rPr dirty="0" sz="2400" spc="-20">
                <a:solidFill>
                  <a:srgbClr val="40458B"/>
                </a:solidFill>
                <a:latin typeface="黑体"/>
                <a:cs typeface="黑体"/>
              </a:rPr>
              <a:t>的研究结果</a:t>
            </a:r>
            <a:endParaRPr sz="2400">
              <a:latin typeface="黑体"/>
              <a:cs typeface="黑体"/>
            </a:endParaRPr>
          </a:p>
          <a:p>
            <a:pPr lvl="1" marL="1097280" indent="-457200">
              <a:lnSpc>
                <a:spcPct val="100000"/>
              </a:lnSpc>
              <a:spcBef>
                <a:spcPts val="1530"/>
              </a:spcBef>
              <a:buClr>
                <a:srgbClr val="4668F5"/>
              </a:buClr>
              <a:buSzPct val="60000"/>
              <a:buFont typeface="Wingdings"/>
              <a:buChar char=""/>
              <a:tabLst>
                <a:tab pos="1097280" algn="l"/>
              </a:tabLst>
            </a:pPr>
            <a:r>
              <a:rPr dirty="0" sz="2000" spc="-25" b="1">
                <a:solidFill>
                  <a:srgbClr val="00AFEF"/>
                </a:solidFill>
                <a:latin typeface="宋体"/>
                <a:cs typeface="宋体"/>
              </a:rPr>
              <a:t>流缓冲器：既能预取指令又能预取数据</a:t>
            </a:r>
            <a:endParaRPr sz="2000">
              <a:latin typeface="宋体"/>
              <a:cs typeface="宋体"/>
            </a:endParaRPr>
          </a:p>
          <a:p>
            <a:pPr lvl="1" marL="1097280" indent="-457200">
              <a:lnSpc>
                <a:spcPct val="100000"/>
              </a:lnSpc>
              <a:spcBef>
                <a:spcPts val="1440"/>
              </a:spcBef>
              <a:buClr>
                <a:srgbClr val="4668F5"/>
              </a:buClr>
              <a:buSzPct val="60000"/>
              <a:buFont typeface="Wingdings"/>
              <a:buChar char=""/>
              <a:tabLst>
                <a:tab pos="1097280" algn="l"/>
              </a:tabLst>
            </a:pPr>
            <a:r>
              <a:rPr dirty="0" sz="2000" spc="-10" b="1">
                <a:solidFill>
                  <a:srgbClr val="00AFEF"/>
                </a:solidFill>
                <a:latin typeface="宋体"/>
                <a:cs typeface="宋体"/>
              </a:rPr>
              <a:t>对于两个</a:t>
            </a:r>
            <a:r>
              <a:rPr dirty="0" sz="2000" spc="-10" b="1">
                <a:solidFill>
                  <a:srgbClr val="9933FF"/>
                </a:solidFill>
                <a:latin typeface="宋体"/>
                <a:cs typeface="宋体"/>
              </a:rPr>
              <a:t>64KB</a:t>
            </a:r>
            <a:r>
              <a:rPr dirty="0" sz="2000" spc="-15" b="1">
                <a:solidFill>
                  <a:srgbClr val="00AFEF"/>
                </a:solidFill>
                <a:latin typeface="宋体"/>
                <a:cs typeface="宋体"/>
              </a:rPr>
              <a:t>四路组相联</a:t>
            </a:r>
            <a:r>
              <a:rPr dirty="0" sz="2000" spc="-10" b="1">
                <a:solidFill>
                  <a:srgbClr val="00AFEF"/>
                </a:solidFill>
                <a:latin typeface="宋体"/>
                <a:cs typeface="宋体"/>
              </a:rPr>
              <a:t>Cache</a:t>
            </a:r>
            <a:r>
              <a:rPr dirty="0" sz="2000" spc="-30" b="1">
                <a:solidFill>
                  <a:srgbClr val="00AFEF"/>
                </a:solidFill>
                <a:latin typeface="宋体"/>
                <a:cs typeface="宋体"/>
              </a:rPr>
              <a:t>来说：</a:t>
            </a:r>
            <a:endParaRPr sz="2000">
              <a:latin typeface="宋体"/>
              <a:cs typeface="宋体"/>
            </a:endParaRPr>
          </a:p>
          <a:p>
            <a:pPr lvl="2" marL="1657985" indent="-380365">
              <a:lnSpc>
                <a:spcPct val="100000"/>
              </a:lnSpc>
              <a:spcBef>
                <a:spcPts val="1440"/>
              </a:spcBef>
              <a:buClr>
                <a:srgbClr val="006600"/>
              </a:buClr>
              <a:buSzPct val="65000"/>
              <a:buFont typeface="Wingdings"/>
              <a:buChar char=""/>
              <a:tabLst>
                <a:tab pos="1657985" algn="l"/>
              </a:tabLst>
            </a:pPr>
            <a:r>
              <a:rPr dirty="0" sz="2000" b="1">
                <a:solidFill>
                  <a:srgbClr val="9933FF"/>
                </a:solidFill>
                <a:latin typeface="宋体"/>
                <a:cs typeface="宋体"/>
              </a:rPr>
              <a:t>8</a:t>
            </a:r>
            <a:r>
              <a:rPr dirty="0" sz="2000" spc="-15" b="1">
                <a:solidFill>
                  <a:srgbClr val="40458B"/>
                </a:solidFill>
                <a:latin typeface="宋体"/>
                <a:cs typeface="宋体"/>
              </a:rPr>
              <a:t>个流缓冲器能捕获</a:t>
            </a:r>
            <a:r>
              <a:rPr dirty="0" sz="2000" spc="-10" b="1">
                <a:solidFill>
                  <a:srgbClr val="9933FF"/>
                </a:solidFill>
                <a:latin typeface="宋体"/>
                <a:cs typeface="宋体"/>
              </a:rPr>
              <a:t>50％～70％</a:t>
            </a:r>
            <a:r>
              <a:rPr dirty="0" sz="2000" spc="-30" b="1">
                <a:solidFill>
                  <a:srgbClr val="40458B"/>
                </a:solidFill>
                <a:latin typeface="宋体"/>
                <a:cs typeface="宋体"/>
              </a:rPr>
              <a:t>的不命中</a:t>
            </a:r>
            <a:endParaRPr sz="2000">
              <a:latin typeface="宋体"/>
              <a:cs typeface="宋体"/>
            </a:endParaRPr>
          </a:p>
          <a:p>
            <a:pPr marL="469900" marR="5080" indent="-457200">
              <a:lnSpc>
                <a:spcPct val="140000"/>
              </a:lnSpc>
              <a:spcBef>
                <a:spcPts val="490"/>
              </a:spcBef>
              <a:buSzPct val="89583"/>
              <a:buFont typeface="Wingdings"/>
              <a:buChar char=""/>
              <a:tabLst>
                <a:tab pos="469900" algn="l"/>
              </a:tabLst>
            </a:pPr>
            <a:r>
              <a:rPr dirty="0" sz="2400" spc="-5">
                <a:solidFill>
                  <a:srgbClr val="40458B"/>
                </a:solidFill>
                <a:latin typeface="黑体"/>
                <a:cs typeface="黑体"/>
              </a:rPr>
              <a:t>预取应利用存储器的空闲带宽，不能影响对正常不命中的处理，否则可</a:t>
            </a:r>
            <a:r>
              <a:rPr dirty="0" sz="2400" spc="-20">
                <a:solidFill>
                  <a:srgbClr val="40458B"/>
                </a:solidFill>
                <a:latin typeface="黑体"/>
                <a:cs typeface="黑体"/>
              </a:rPr>
              <a:t>能会降低性能。</a:t>
            </a:r>
            <a:endParaRPr sz="2400">
              <a:latin typeface="黑体"/>
              <a:cs typeface="黑体"/>
            </a:endParaRPr>
          </a:p>
        </p:txBody>
      </p:sp>
      <p:sp>
        <p:nvSpPr>
          <p:cNvPr id="9" name="object 9"/>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tabLst>
                <a:tab pos="10648315" algn="l"/>
              </a:tabLst>
            </a:pPr>
            <a:r>
              <a:rPr dirty="0" sz="3200" spc="285">
                <a:solidFill>
                  <a:srgbClr val="0000CC"/>
                </a:solidFill>
              </a:rPr>
              <a:t> </a:t>
            </a:r>
            <a:r>
              <a:rPr dirty="0" sz="3200">
                <a:solidFill>
                  <a:srgbClr val="0000CC"/>
                </a:solidFill>
              </a:rPr>
              <a:t>7.3.6</a:t>
            </a:r>
            <a:r>
              <a:rPr dirty="0" sz="3200" spc="-25">
                <a:solidFill>
                  <a:srgbClr val="0000CC"/>
                </a:solidFill>
              </a:rPr>
              <a:t> </a:t>
            </a:r>
            <a:r>
              <a:rPr dirty="0" sz="3200">
                <a:solidFill>
                  <a:srgbClr val="0000CC"/>
                </a:solidFill>
              </a:rPr>
              <a:t>硬件预</a:t>
            </a:r>
            <a:r>
              <a:rPr dirty="0" sz="3200" spc="-50">
                <a:solidFill>
                  <a:srgbClr val="0000CC"/>
                </a:solidFill>
              </a:rPr>
              <a:t>取</a:t>
            </a:r>
            <a:r>
              <a:rPr dirty="0" sz="3200">
                <a:solidFill>
                  <a:srgbClr val="0000CC"/>
                </a:solidFill>
              </a:rPr>
              <a:t>	</a:t>
            </a:r>
            <a:endParaRPr sz="32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8739" y="611885"/>
            <a:ext cx="11780520" cy="5366385"/>
          </a:xfrm>
          <a:prstGeom prst="rect">
            <a:avLst/>
          </a:prstGeom>
        </p:spPr>
        <p:txBody>
          <a:bodyPr wrap="square" lIns="0" tIns="123825" rIns="0" bIns="0" rtlCol="0" vert="horz">
            <a:spAutoFit/>
          </a:bodyPr>
          <a:lstStyle/>
          <a:p>
            <a:pPr marL="852169">
              <a:lnSpc>
                <a:spcPct val="100000"/>
              </a:lnSpc>
              <a:spcBef>
                <a:spcPts val="975"/>
              </a:spcBef>
            </a:pPr>
            <a:r>
              <a:rPr dirty="0" sz="2400" spc="-5">
                <a:solidFill>
                  <a:srgbClr val="0000CC"/>
                </a:solidFill>
                <a:latin typeface="黑体"/>
                <a:cs typeface="黑体"/>
              </a:rPr>
              <a:t>优化策略六：</a:t>
            </a:r>
            <a:r>
              <a:rPr dirty="0" u="sng" sz="2400">
                <a:solidFill>
                  <a:srgbClr val="4668F5"/>
                </a:solidFill>
                <a:uFill>
                  <a:solidFill>
                    <a:srgbClr val="4668F5"/>
                  </a:solidFill>
                </a:uFill>
                <a:latin typeface="黑体"/>
                <a:cs typeface="黑体"/>
                <a:hlinkClick r:id="rId3"/>
              </a:rPr>
              <a:t>编译器</a:t>
            </a:r>
            <a:r>
              <a:rPr dirty="0" u="none" sz="2400" spc="-10">
                <a:solidFill>
                  <a:srgbClr val="0000CC"/>
                </a:solidFill>
                <a:latin typeface="黑体"/>
                <a:cs typeface="黑体"/>
              </a:rPr>
              <a:t>控制的预取</a:t>
            </a:r>
            <a:endParaRPr sz="2400">
              <a:latin typeface="黑体"/>
              <a:cs typeface="黑体"/>
            </a:endParaRPr>
          </a:p>
          <a:p>
            <a:pPr marL="1213485">
              <a:lnSpc>
                <a:spcPct val="100000"/>
              </a:lnSpc>
              <a:spcBef>
                <a:spcPts val="880"/>
              </a:spcBef>
            </a:pPr>
            <a:r>
              <a:rPr dirty="0" sz="2400" spc="-5">
                <a:solidFill>
                  <a:srgbClr val="40458B"/>
                </a:solidFill>
                <a:latin typeface="黑体"/>
                <a:cs typeface="黑体"/>
              </a:rPr>
              <a:t>在编译时加入预取指令，在数据被用到之前发出预取请求。</a:t>
            </a:r>
            <a:endParaRPr sz="2400">
              <a:latin typeface="黑体"/>
              <a:cs typeface="黑体"/>
            </a:endParaRPr>
          </a:p>
          <a:p>
            <a:pPr marL="469265" indent="-456565">
              <a:lnSpc>
                <a:spcPct val="100000"/>
              </a:lnSpc>
              <a:spcBef>
                <a:spcPts val="1155"/>
              </a:spcBef>
              <a:buClr>
                <a:srgbClr val="40458B"/>
              </a:buClr>
              <a:buFont typeface="Tahoma"/>
              <a:buAutoNum type="arabicPeriod"/>
              <a:tabLst>
                <a:tab pos="469265" algn="l"/>
              </a:tabLst>
            </a:pPr>
            <a:r>
              <a:rPr dirty="0" sz="2400" spc="-5">
                <a:solidFill>
                  <a:srgbClr val="E14B04"/>
                </a:solidFill>
                <a:latin typeface="黑体"/>
                <a:cs typeface="黑体"/>
              </a:rPr>
              <a:t>按照预取数据所放的位置，可把预取分为两种类型：</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spc="-5">
                <a:solidFill>
                  <a:srgbClr val="FF0000"/>
                </a:solidFill>
                <a:latin typeface="黑体"/>
                <a:cs typeface="黑体"/>
              </a:rPr>
              <a:t>寄存器预取：</a:t>
            </a:r>
            <a:r>
              <a:rPr dirty="0" sz="2400" spc="-5">
                <a:solidFill>
                  <a:srgbClr val="40458B"/>
                </a:solidFill>
                <a:latin typeface="黑体"/>
                <a:cs typeface="黑体"/>
              </a:rPr>
              <a:t>把数据取到寄存器中。</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spc="-10">
                <a:solidFill>
                  <a:srgbClr val="FF0000"/>
                </a:solidFill>
                <a:latin typeface="黑体"/>
                <a:cs typeface="黑体"/>
              </a:rPr>
              <a:t>Cache预取：</a:t>
            </a:r>
            <a:r>
              <a:rPr dirty="0" sz="2400" spc="-10">
                <a:solidFill>
                  <a:srgbClr val="40458B"/>
                </a:solidFill>
                <a:latin typeface="黑体"/>
                <a:cs typeface="黑体"/>
              </a:rPr>
              <a:t>只将数据取到Cache</a:t>
            </a:r>
            <a:r>
              <a:rPr dirty="0" sz="2400" spc="-30">
                <a:solidFill>
                  <a:srgbClr val="40458B"/>
                </a:solidFill>
                <a:latin typeface="黑体"/>
                <a:cs typeface="黑体"/>
              </a:rPr>
              <a:t>中。</a:t>
            </a:r>
            <a:endParaRPr sz="2400">
              <a:latin typeface="黑体"/>
              <a:cs typeface="黑体"/>
            </a:endParaRPr>
          </a:p>
          <a:p>
            <a:pPr marL="469265" indent="-456565">
              <a:lnSpc>
                <a:spcPct val="100000"/>
              </a:lnSpc>
              <a:spcBef>
                <a:spcPts val="1155"/>
              </a:spcBef>
              <a:buClr>
                <a:srgbClr val="40458B"/>
              </a:buClr>
              <a:buFont typeface="Tahoma"/>
              <a:buAutoNum type="arabicPeriod"/>
              <a:tabLst>
                <a:tab pos="469265" algn="l"/>
              </a:tabLst>
            </a:pPr>
            <a:r>
              <a:rPr dirty="0" sz="2400" spc="-5">
                <a:solidFill>
                  <a:srgbClr val="E14B04"/>
                </a:solidFill>
                <a:latin typeface="黑体"/>
                <a:cs typeface="黑体"/>
              </a:rPr>
              <a:t>按照预取的处理方式不同，可把预取分为：</a:t>
            </a:r>
            <a:endParaRPr sz="2400">
              <a:latin typeface="黑体"/>
              <a:cs typeface="黑体"/>
            </a:endParaRPr>
          </a:p>
          <a:p>
            <a:pPr lvl="1" marL="1099185" marR="5080" indent="-457834">
              <a:lnSpc>
                <a:spcPct val="120000"/>
              </a:lnSpc>
              <a:spcBef>
                <a:spcPts val="575"/>
              </a:spcBef>
              <a:buClr>
                <a:srgbClr val="40458B"/>
              </a:buClr>
              <a:buSzPct val="89583"/>
              <a:buFont typeface="Wingdings"/>
              <a:buChar char=""/>
              <a:tabLst>
                <a:tab pos="1099185" algn="l"/>
              </a:tabLst>
            </a:pPr>
            <a:r>
              <a:rPr dirty="0" sz="2400" spc="-5">
                <a:solidFill>
                  <a:srgbClr val="FF0000"/>
                </a:solidFill>
                <a:latin typeface="黑体"/>
                <a:cs typeface="黑体"/>
              </a:rPr>
              <a:t>故障性预取：</a:t>
            </a:r>
            <a:r>
              <a:rPr dirty="0" sz="2400">
                <a:solidFill>
                  <a:srgbClr val="40458B"/>
                </a:solidFill>
                <a:latin typeface="黑体"/>
                <a:cs typeface="黑体"/>
              </a:rPr>
              <a:t>在预取时，若出现虚地址故障或违反保护权限，就会发生异常（</a:t>
            </a:r>
            <a:r>
              <a:rPr dirty="0" sz="2400" spc="-50">
                <a:solidFill>
                  <a:srgbClr val="40458B"/>
                </a:solidFill>
                <a:latin typeface="黑体"/>
                <a:cs typeface="黑体"/>
              </a:rPr>
              <a:t>中</a:t>
            </a:r>
            <a:r>
              <a:rPr dirty="0" sz="2400" spc="-10">
                <a:solidFill>
                  <a:srgbClr val="40458B"/>
                </a:solidFill>
                <a:latin typeface="黑体"/>
                <a:cs typeface="黑体"/>
              </a:rPr>
              <a:t>断</a:t>
            </a:r>
            <a:r>
              <a:rPr dirty="0" sz="2400" spc="-50">
                <a:solidFill>
                  <a:srgbClr val="40458B"/>
                </a:solidFill>
                <a:latin typeface="黑体"/>
                <a:cs typeface="黑体"/>
              </a:rPr>
              <a:t>）</a:t>
            </a:r>
            <a:endParaRPr sz="2400">
              <a:latin typeface="黑体"/>
              <a:cs typeface="黑体"/>
            </a:endParaRPr>
          </a:p>
          <a:p>
            <a:pPr lvl="1" marL="1099185" marR="5080" indent="-457834">
              <a:lnSpc>
                <a:spcPct val="120000"/>
              </a:lnSpc>
              <a:spcBef>
                <a:spcPts val="580"/>
              </a:spcBef>
              <a:buClr>
                <a:srgbClr val="40458B"/>
              </a:buClr>
              <a:buSzPct val="89583"/>
              <a:buFont typeface="Wingdings"/>
              <a:buChar char=""/>
              <a:tabLst>
                <a:tab pos="1099185" algn="l"/>
              </a:tabLst>
            </a:pPr>
            <a:r>
              <a:rPr dirty="0" sz="2400" spc="-5">
                <a:solidFill>
                  <a:srgbClr val="FF0000"/>
                </a:solidFill>
                <a:latin typeface="黑体"/>
                <a:cs typeface="黑体"/>
              </a:rPr>
              <a:t>非故障性预取：</a:t>
            </a:r>
            <a:r>
              <a:rPr dirty="0" sz="2400" spc="-5">
                <a:solidFill>
                  <a:srgbClr val="40458B"/>
                </a:solidFill>
                <a:latin typeface="黑体"/>
                <a:cs typeface="黑体"/>
              </a:rPr>
              <a:t>在遇到这种情况时则不会发生异常，因为这时它会放弃预取，转</a:t>
            </a:r>
            <a:r>
              <a:rPr dirty="0" sz="2400" spc="-10">
                <a:solidFill>
                  <a:srgbClr val="40458B"/>
                </a:solidFill>
                <a:latin typeface="黑体"/>
                <a:cs typeface="黑体"/>
              </a:rPr>
              <a:t>变为空操作。</a:t>
            </a:r>
            <a:endParaRPr sz="2400">
              <a:latin typeface="黑体"/>
              <a:cs typeface="黑体"/>
            </a:endParaRPr>
          </a:p>
          <a:p>
            <a:pPr marL="641985">
              <a:lnSpc>
                <a:spcPct val="100000"/>
              </a:lnSpc>
              <a:spcBef>
                <a:spcPts val="1019"/>
              </a:spcBef>
            </a:pPr>
            <a:r>
              <a:rPr dirty="0" sz="2000" spc="-15" b="1">
                <a:solidFill>
                  <a:srgbClr val="40458B"/>
                </a:solidFill>
                <a:latin typeface="宋体"/>
                <a:cs typeface="宋体"/>
              </a:rPr>
              <a:t>本节假定</a:t>
            </a:r>
            <a:r>
              <a:rPr dirty="0" sz="2000" b="1">
                <a:solidFill>
                  <a:srgbClr val="40458B"/>
                </a:solidFill>
                <a:latin typeface="宋体"/>
                <a:cs typeface="宋体"/>
              </a:rPr>
              <a:t>Cache</a:t>
            </a:r>
            <a:r>
              <a:rPr dirty="0" sz="2000" spc="-20" b="1">
                <a:solidFill>
                  <a:srgbClr val="40458B"/>
                </a:solidFill>
                <a:latin typeface="宋体"/>
                <a:cs typeface="宋体"/>
              </a:rPr>
              <a:t>预取都是非故障性的，</a:t>
            </a:r>
            <a:r>
              <a:rPr dirty="0" sz="2000" spc="-25" b="1">
                <a:solidFill>
                  <a:srgbClr val="FF0000"/>
                </a:solidFill>
                <a:latin typeface="宋体"/>
                <a:cs typeface="宋体"/>
              </a:rPr>
              <a:t>也叫做非绑定预取。</a:t>
            </a:r>
            <a:endParaRPr sz="2000">
              <a:latin typeface="宋体"/>
              <a:cs typeface="宋体"/>
            </a:endParaRPr>
          </a:p>
        </p:txBody>
      </p:sp>
      <p:sp>
        <p:nvSpPr>
          <p:cNvPr id="10" name="object 10"/>
          <p:cNvSpPr txBox="1">
            <a:spLocks noGrp="1"/>
          </p:cNvSpPr>
          <p:nvPr>
            <p:ph type="title"/>
          </p:nvPr>
        </p:nvSpPr>
        <p:spPr>
          <a:xfrm>
            <a:off x="1853945" y="73278"/>
            <a:ext cx="3454400" cy="391160"/>
          </a:xfrm>
          <a:prstGeom prst="rect"/>
        </p:spPr>
        <p:txBody>
          <a:bodyPr wrap="square" lIns="0" tIns="0" rIns="0" bIns="0" rtlCol="0" vert="horz">
            <a:spAutoFit/>
          </a:bodyPr>
          <a:lstStyle/>
          <a:p>
            <a:pPr marL="12700">
              <a:lnSpc>
                <a:spcPts val="3020"/>
              </a:lnSpc>
            </a:pPr>
            <a:r>
              <a:rPr dirty="0" u="none" sz="2600">
                <a:solidFill>
                  <a:srgbClr val="0000CC"/>
                </a:solidFill>
              </a:rPr>
              <a:t>7.3.7</a:t>
            </a:r>
            <a:r>
              <a:rPr dirty="0" u="none" sz="2600" spc="-15">
                <a:solidFill>
                  <a:srgbClr val="0000CC"/>
                </a:solidFill>
              </a:rPr>
              <a:t> </a:t>
            </a:r>
            <a:r>
              <a:rPr dirty="0" u="none" sz="2400" spc="-10">
                <a:solidFill>
                  <a:srgbClr val="0000CC"/>
                </a:solidFill>
              </a:rPr>
              <a:t>编译器控制的预取</a:t>
            </a:r>
            <a:endParaRPr sz="24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107950"/>
            <a:ext cx="3455035" cy="391160"/>
          </a:xfrm>
          <a:prstGeom prst="rect"/>
        </p:spPr>
        <p:txBody>
          <a:bodyPr wrap="square" lIns="0" tIns="0" rIns="0" bIns="0" rtlCol="0" vert="horz">
            <a:spAutoFit/>
          </a:bodyPr>
          <a:lstStyle/>
          <a:p>
            <a:pPr marL="12700">
              <a:lnSpc>
                <a:spcPts val="3020"/>
              </a:lnSpc>
            </a:pPr>
            <a:r>
              <a:rPr dirty="0" u="none" sz="2600">
                <a:solidFill>
                  <a:srgbClr val="0000CC"/>
                </a:solidFill>
              </a:rPr>
              <a:t>7.3.7</a:t>
            </a:r>
            <a:r>
              <a:rPr dirty="0" u="none" sz="2600" spc="-15">
                <a:solidFill>
                  <a:srgbClr val="0000CC"/>
                </a:solidFill>
              </a:rPr>
              <a:t> </a:t>
            </a:r>
            <a:r>
              <a:rPr dirty="0" u="none" sz="2400" spc="-10">
                <a:solidFill>
                  <a:srgbClr val="0000CC"/>
                </a:solidFill>
              </a:rPr>
              <a:t>编译器控制的预取</a:t>
            </a:r>
            <a:endParaRPr sz="2400"/>
          </a:p>
        </p:txBody>
      </p:sp>
      <p:sp>
        <p:nvSpPr>
          <p:cNvPr id="10" name="object 10" descr=""/>
          <p:cNvSpPr txBox="1"/>
          <p:nvPr/>
        </p:nvSpPr>
        <p:spPr>
          <a:xfrm>
            <a:off x="415239" y="421005"/>
            <a:ext cx="11861800" cy="6233160"/>
          </a:xfrm>
          <a:prstGeom prst="rect">
            <a:avLst/>
          </a:prstGeom>
        </p:spPr>
        <p:txBody>
          <a:bodyPr wrap="square" lIns="0" tIns="12700" rIns="0" bIns="0" rtlCol="0" vert="horz">
            <a:spAutoFit/>
          </a:bodyPr>
          <a:lstStyle/>
          <a:p>
            <a:pPr marL="555625" marR="5506085" indent="-457834">
              <a:lnSpc>
                <a:spcPct val="140000"/>
              </a:lnSpc>
              <a:spcBef>
                <a:spcPts val="100"/>
              </a:spcBef>
              <a:buClr>
                <a:srgbClr val="40458B"/>
              </a:buClr>
              <a:buFont typeface="Tahoma"/>
              <a:buAutoNum type="arabicPeriod" startAt="2"/>
              <a:tabLst>
                <a:tab pos="1108710" algn="l"/>
              </a:tabLst>
            </a:pPr>
            <a:r>
              <a:rPr dirty="0" sz="2400" spc="-5">
                <a:solidFill>
                  <a:srgbClr val="E14B04"/>
                </a:solidFill>
                <a:latin typeface="黑体"/>
                <a:cs typeface="黑体"/>
              </a:rPr>
              <a:t>在预取数据的同时，处理器应能继续执行。</a:t>
            </a:r>
            <a:r>
              <a:rPr dirty="0" sz="2400" spc="-5">
                <a:solidFill>
                  <a:srgbClr val="E14B04"/>
                </a:solidFill>
                <a:latin typeface="黑体"/>
                <a:cs typeface="黑体"/>
              </a:rPr>
              <a:t>	</a:t>
            </a:r>
            <a:r>
              <a:rPr dirty="0" sz="2400" spc="-5">
                <a:solidFill>
                  <a:srgbClr val="40458B"/>
                </a:solidFill>
                <a:latin typeface="黑体"/>
                <a:cs typeface="黑体"/>
              </a:rPr>
              <a:t>只有这样，预取才有意义。</a:t>
            </a:r>
            <a:endParaRPr sz="2400">
              <a:latin typeface="黑体"/>
              <a:cs typeface="黑体"/>
            </a:endParaRPr>
          </a:p>
          <a:p>
            <a:pPr marL="1612900">
              <a:lnSpc>
                <a:spcPct val="100000"/>
              </a:lnSpc>
              <a:spcBef>
                <a:spcPts val="1019"/>
              </a:spcBef>
            </a:pPr>
            <a:r>
              <a:rPr dirty="0" sz="2000" spc="-15" b="1">
                <a:solidFill>
                  <a:srgbClr val="00AFEF"/>
                </a:solidFill>
                <a:latin typeface="宋体"/>
                <a:cs typeface="宋体"/>
              </a:rPr>
              <a:t>非阻塞</a:t>
            </a:r>
            <a:r>
              <a:rPr dirty="0" sz="2000" b="1">
                <a:solidFill>
                  <a:srgbClr val="00AFEF"/>
                </a:solidFill>
                <a:latin typeface="宋体"/>
                <a:cs typeface="宋体"/>
              </a:rPr>
              <a:t>Cache</a:t>
            </a:r>
            <a:r>
              <a:rPr dirty="0" sz="2000" spc="-25" b="1">
                <a:solidFill>
                  <a:srgbClr val="00AFEF"/>
                </a:solidFill>
                <a:latin typeface="宋体"/>
                <a:cs typeface="宋体"/>
              </a:rPr>
              <a:t> (非锁定</a:t>
            </a:r>
            <a:r>
              <a:rPr dirty="0" sz="2000" b="1">
                <a:solidFill>
                  <a:srgbClr val="00AFEF"/>
                </a:solidFill>
                <a:latin typeface="宋体"/>
                <a:cs typeface="宋体"/>
              </a:rPr>
              <a:t>Cache)</a:t>
            </a:r>
            <a:r>
              <a:rPr dirty="0" sz="2000" spc="-45" b="1">
                <a:solidFill>
                  <a:srgbClr val="00AFEF"/>
                </a:solidFill>
                <a:latin typeface="宋体"/>
                <a:cs typeface="宋体"/>
              </a:rPr>
              <a:t> </a:t>
            </a:r>
            <a:r>
              <a:rPr dirty="0" sz="2000" spc="-20" b="1">
                <a:solidFill>
                  <a:srgbClr val="FF0000"/>
                </a:solidFill>
                <a:latin typeface="宋体"/>
                <a:cs typeface="宋体"/>
              </a:rPr>
              <a:t>---多端口</a:t>
            </a:r>
            <a:r>
              <a:rPr dirty="0" sz="2000" spc="-10" b="1">
                <a:solidFill>
                  <a:srgbClr val="FF0000"/>
                </a:solidFill>
                <a:latin typeface="宋体"/>
                <a:cs typeface="宋体"/>
              </a:rPr>
              <a:t>（</a:t>
            </a:r>
            <a:r>
              <a:rPr dirty="0" sz="2000" spc="-15" b="1">
                <a:solidFill>
                  <a:srgbClr val="FF0000"/>
                </a:solidFill>
                <a:latin typeface="宋体"/>
                <a:cs typeface="宋体"/>
              </a:rPr>
              <a:t>一边接受</a:t>
            </a:r>
            <a:r>
              <a:rPr dirty="0" sz="2000" spc="-10" b="1">
                <a:solidFill>
                  <a:srgbClr val="FF0000"/>
                </a:solidFill>
                <a:latin typeface="宋体"/>
                <a:cs typeface="宋体"/>
              </a:rPr>
              <a:t>CPU</a:t>
            </a:r>
            <a:r>
              <a:rPr dirty="0" sz="2000" spc="-20" b="1">
                <a:solidFill>
                  <a:srgbClr val="FF0000"/>
                </a:solidFill>
                <a:latin typeface="宋体"/>
                <a:cs typeface="宋体"/>
              </a:rPr>
              <a:t>执行所需的数据一边支持预期数据</a:t>
            </a:r>
            <a:r>
              <a:rPr dirty="0" sz="2000" spc="-50" b="1">
                <a:solidFill>
                  <a:srgbClr val="FF0000"/>
                </a:solidFill>
                <a:latin typeface="宋体"/>
                <a:cs typeface="宋体"/>
              </a:rPr>
              <a:t>）</a:t>
            </a:r>
            <a:endParaRPr sz="2000">
              <a:latin typeface="宋体"/>
              <a:cs typeface="宋体"/>
            </a:endParaRPr>
          </a:p>
          <a:p>
            <a:pPr marL="555625" indent="-457200">
              <a:lnSpc>
                <a:spcPct val="100000"/>
              </a:lnSpc>
              <a:spcBef>
                <a:spcPts val="1095"/>
              </a:spcBef>
              <a:buClr>
                <a:srgbClr val="40458B"/>
              </a:buClr>
              <a:buFont typeface="Tahoma"/>
              <a:buAutoNum type="arabicPeriod" startAt="3"/>
              <a:tabLst>
                <a:tab pos="555625" algn="l"/>
              </a:tabLst>
            </a:pPr>
            <a:r>
              <a:rPr dirty="0" sz="2400">
                <a:solidFill>
                  <a:srgbClr val="E14B04"/>
                </a:solidFill>
                <a:latin typeface="黑体"/>
                <a:cs typeface="黑体"/>
              </a:rPr>
              <a:t>编译器控制预取的</a:t>
            </a:r>
            <a:r>
              <a:rPr dirty="0" sz="2400" spc="-25">
                <a:solidFill>
                  <a:srgbClr val="D50092"/>
                </a:solidFill>
                <a:latin typeface="黑体"/>
                <a:cs typeface="黑体"/>
              </a:rPr>
              <a:t>目的</a:t>
            </a:r>
            <a:endParaRPr sz="2400">
              <a:latin typeface="黑体"/>
              <a:cs typeface="黑体"/>
            </a:endParaRPr>
          </a:p>
          <a:p>
            <a:pPr marL="1579880">
              <a:lnSpc>
                <a:spcPct val="100000"/>
              </a:lnSpc>
              <a:spcBef>
                <a:spcPts val="1019"/>
              </a:spcBef>
            </a:pPr>
            <a:r>
              <a:rPr dirty="0" sz="2000" spc="-20" b="1">
                <a:solidFill>
                  <a:srgbClr val="00AFEF"/>
                </a:solidFill>
                <a:latin typeface="宋体"/>
                <a:cs typeface="宋体"/>
              </a:rPr>
              <a:t>使执行指令和读取数据能重叠执行。</a:t>
            </a:r>
            <a:endParaRPr sz="2000">
              <a:latin typeface="宋体"/>
              <a:cs typeface="宋体"/>
            </a:endParaRPr>
          </a:p>
          <a:p>
            <a:pPr marL="555625" indent="-457200">
              <a:lnSpc>
                <a:spcPct val="100000"/>
              </a:lnSpc>
              <a:spcBef>
                <a:spcPts val="1090"/>
              </a:spcBef>
              <a:buClr>
                <a:srgbClr val="40458B"/>
              </a:buClr>
              <a:buFont typeface="Tahoma"/>
              <a:buAutoNum type="arabicPeriod" startAt="4"/>
              <a:tabLst>
                <a:tab pos="555625" algn="l"/>
              </a:tabLst>
            </a:pPr>
            <a:r>
              <a:rPr dirty="0" sz="2400" spc="-25" b="1">
                <a:solidFill>
                  <a:srgbClr val="E14B04"/>
                </a:solidFill>
                <a:latin typeface="黑体"/>
                <a:cs typeface="黑体"/>
              </a:rPr>
              <a:t>循环是预取优化的主要对象</a:t>
            </a:r>
            <a:r>
              <a:rPr dirty="0" sz="2400" spc="-10">
                <a:solidFill>
                  <a:srgbClr val="00AFEF"/>
                </a:solidFill>
                <a:latin typeface="黑体"/>
                <a:cs typeface="黑体"/>
              </a:rPr>
              <a:t>（例如上一个循环预取下一个循环中的数据）：</a:t>
            </a:r>
            <a:r>
              <a:rPr dirty="0" sz="2400" spc="-25">
                <a:solidFill>
                  <a:srgbClr val="00AFEF"/>
                </a:solidFill>
                <a:latin typeface="黑体"/>
                <a:cs typeface="黑体"/>
              </a:rPr>
              <a:t>预取的</a:t>
            </a:r>
            <a:endParaRPr sz="2400">
              <a:latin typeface="黑体"/>
              <a:cs typeface="黑体"/>
            </a:endParaRPr>
          </a:p>
          <a:p>
            <a:pPr marL="555625">
              <a:lnSpc>
                <a:spcPct val="100000"/>
              </a:lnSpc>
              <a:spcBef>
                <a:spcPts val="580"/>
              </a:spcBef>
            </a:pPr>
            <a:r>
              <a:rPr dirty="0" sz="2400">
                <a:solidFill>
                  <a:srgbClr val="00AFEF"/>
                </a:solidFill>
                <a:latin typeface="黑体"/>
                <a:cs typeface="黑体"/>
              </a:rPr>
              <a:t>时间多少合适，例如</a:t>
            </a:r>
            <a:r>
              <a:rPr dirty="0" sz="2400" spc="-10">
                <a:solidFill>
                  <a:srgbClr val="00AFEF"/>
                </a:solidFill>
                <a:latin typeface="Tahoma"/>
                <a:cs typeface="Tahoma"/>
              </a:rPr>
              <a:t>CPU</a:t>
            </a:r>
            <a:r>
              <a:rPr dirty="0" sz="2400" spc="-5">
                <a:solidFill>
                  <a:srgbClr val="00AFEF"/>
                </a:solidFill>
                <a:latin typeface="黑体"/>
                <a:cs typeface="黑体"/>
              </a:rPr>
              <a:t>需要时恰好已取到，这与不命中有关</a:t>
            </a:r>
            <a:endParaRPr sz="2400">
              <a:latin typeface="黑体"/>
              <a:cs typeface="黑体"/>
            </a:endParaRPr>
          </a:p>
          <a:p>
            <a:pPr lvl="1" marL="1099185" indent="-457200">
              <a:lnSpc>
                <a:spcPct val="100000"/>
              </a:lnSpc>
              <a:spcBef>
                <a:spcPts val="95"/>
              </a:spcBef>
              <a:buSzPct val="89583"/>
              <a:buFont typeface="Wingdings"/>
              <a:buChar char=""/>
              <a:tabLst>
                <a:tab pos="1099185" algn="l"/>
              </a:tabLst>
            </a:pPr>
            <a:r>
              <a:rPr dirty="0" sz="2400">
                <a:solidFill>
                  <a:srgbClr val="40458B"/>
                </a:solidFill>
                <a:latin typeface="黑体"/>
                <a:cs typeface="黑体"/>
              </a:rPr>
              <a:t>不命中开销小时：</a:t>
            </a:r>
            <a:r>
              <a:rPr dirty="0" sz="2400">
                <a:solidFill>
                  <a:srgbClr val="D50092"/>
                </a:solidFill>
                <a:latin typeface="黑体"/>
                <a:cs typeface="黑体"/>
              </a:rPr>
              <a:t>循环体展开1～2</a:t>
            </a:r>
            <a:r>
              <a:rPr dirty="0" sz="2400" spc="-50">
                <a:solidFill>
                  <a:srgbClr val="D50092"/>
                </a:solidFill>
                <a:latin typeface="黑体"/>
                <a:cs typeface="黑体"/>
              </a:rPr>
              <a:t>次</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不命中开销大时：</a:t>
            </a:r>
            <a:r>
              <a:rPr dirty="0" sz="2400" spc="-10">
                <a:solidFill>
                  <a:srgbClr val="D50092"/>
                </a:solidFill>
                <a:latin typeface="黑体"/>
                <a:cs typeface="黑体"/>
              </a:rPr>
              <a:t>循环体展开许多次</a:t>
            </a:r>
            <a:endParaRPr sz="2400">
              <a:latin typeface="黑体"/>
              <a:cs typeface="黑体"/>
            </a:endParaRPr>
          </a:p>
          <a:p>
            <a:pPr marL="469900" indent="-457200">
              <a:lnSpc>
                <a:spcPct val="100000"/>
              </a:lnSpc>
              <a:spcBef>
                <a:spcPts val="1155"/>
              </a:spcBef>
              <a:buClr>
                <a:srgbClr val="40458B"/>
              </a:buClr>
              <a:buFont typeface="Tahoma"/>
              <a:buAutoNum type="arabicPeriod" startAt="5"/>
              <a:tabLst>
                <a:tab pos="469900" algn="l"/>
              </a:tabLst>
            </a:pPr>
            <a:r>
              <a:rPr dirty="0" sz="2400" spc="-5">
                <a:solidFill>
                  <a:srgbClr val="E14B04"/>
                </a:solidFill>
                <a:latin typeface="黑体"/>
                <a:cs typeface="黑体"/>
              </a:rPr>
              <a:t>每次预取需要花费一条指令的开销</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5">
                <a:solidFill>
                  <a:srgbClr val="40458B"/>
                </a:solidFill>
                <a:latin typeface="黑体"/>
                <a:cs typeface="黑体"/>
              </a:rPr>
              <a:t>保证这种开销不超过预取所带来的收益</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0">
                <a:solidFill>
                  <a:srgbClr val="40458B"/>
                </a:solidFill>
                <a:latin typeface="黑体"/>
                <a:cs typeface="黑体"/>
              </a:rPr>
              <a:t>编译器可以通过把</a:t>
            </a:r>
            <a:r>
              <a:rPr dirty="0" sz="2400" spc="-10">
                <a:solidFill>
                  <a:srgbClr val="D50092"/>
                </a:solidFill>
                <a:latin typeface="黑体"/>
                <a:cs typeface="黑体"/>
              </a:rPr>
              <a:t>重点</a:t>
            </a:r>
            <a:r>
              <a:rPr dirty="0" sz="2400" spc="-15">
                <a:solidFill>
                  <a:srgbClr val="40458B"/>
                </a:solidFill>
                <a:latin typeface="黑体"/>
                <a:cs typeface="黑体"/>
              </a:rPr>
              <a:t>放在那些可能会导致不命中的访问上，使程序避免不必</a:t>
            </a:r>
            <a:endParaRPr sz="2400">
              <a:latin typeface="黑体"/>
              <a:cs typeface="黑体"/>
            </a:endParaRPr>
          </a:p>
          <a:p>
            <a:pPr marL="1099185">
              <a:lnSpc>
                <a:spcPct val="100000"/>
              </a:lnSpc>
              <a:spcBef>
                <a:spcPts val="580"/>
              </a:spcBef>
            </a:pPr>
            <a:r>
              <a:rPr dirty="0" sz="2400" spc="-5">
                <a:solidFill>
                  <a:srgbClr val="40458B"/>
                </a:solidFill>
                <a:latin typeface="黑体"/>
                <a:cs typeface="黑体"/>
              </a:rPr>
              <a:t>要的预取，从而较大程度地减少平均访存时间。</a:t>
            </a:r>
            <a:endParaRPr sz="2400">
              <a:latin typeface="黑体"/>
              <a:cs typeface="黑体"/>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34492" y="569214"/>
            <a:ext cx="11626850" cy="4522470"/>
          </a:xfrm>
          <a:prstGeom prst="rect">
            <a:avLst/>
          </a:prstGeom>
        </p:spPr>
        <p:txBody>
          <a:bodyPr wrap="square" lIns="0" tIns="123825" rIns="0" bIns="0" rtlCol="0" vert="horz">
            <a:spAutoFit/>
          </a:bodyPr>
          <a:lstStyle/>
          <a:p>
            <a:pPr marL="480695">
              <a:lnSpc>
                <a:spcPct val="100000"/>
              </a:lnSpc>
              <a:spcBef>
                <a:spcPts val="975"/>
              </a:spcBef>
            </a:pPr>
            <a:r>
              <a:rPr dirty="0" sz="2400">
                <a:solidFill>
                  <a:srgbClr val="0000CC"/>
                </a:solidFill>
                <a:latin typeface="黑体"/>
                <a:cs typeface="黑体"/>
              </a:rPr>
              <a:t>优化策略七：</a:t>
            </a:r>
            <a:r>
              <a:rPr dirty="0" u="sng" sz="2400">
                <a:solidFill>
                  <a:srgbClr val="4668F5"/>
                </a:solidFill>
                <a:uFill>
                  <a:solidFill>
                    <a:srgbClr val="4668F5"/>
                  </a:solidFill>
                </a:uFill>
                <a:latin typeface="黑体"/>
                <a:cs typeface="黑体"/>
                <a:hlinkClick r:id="rId3"/>
              </a:rPr>
              <a:t>编译器</a:t>
            </a:r>
            <a:r>
              <a:rPr dirty="0" u="none" sz="2400" spc="-25">
                <a:solidFill>
                  <a:srgbClr val="0000CC"/>
                </a:solidFill>
                <a:latin typeface="黑体"/>
                <a:cs typeface="黑体"/>
              </a:rPr>
              <a:t>优化</a:t>
            </a:r>
            <a:endParaRPr sz="2400">
              <a:latin typeface="黑体"/>
              <a:cs typeface="黑体"/>
            </a:endParaRPr>
          </a:p>
          <a:p>
            <a:pPr marL="12700">
              <a:lnSpc>
                <a:spcPct val="100000"/>
              </a:lnSpc>
              <a:spcBef>
                <a:spcPts val="880"/>
              </a:spcBef>
            </a:pPr>
            <a:r>
              <a:rPr dirty="0" sz="2400" spc="-5">
                <a:solidFill>
                  <a:srgbClr val="E14B04"/>
                </a:solidFill>
                <a:latin typeface="黑体"/>
                <a:cs typeface="黑体"/>
              </a:rPr>
              <a:t>基本思想：</a:t>
            </a:r>
            <a:r>
              <a:rPr dirty="0" sz="2400" spc="-5">
                <a:solidFill>
                  <a:srgbClr val="40458B"/>
                </a:solidFill>
                <a:latin typeface="黑体"/>
                <a:cs typeface="黑体"/>
              </a:rPr>
              <a:t>通过对软件进行优化来降低不命中率。</a:t>
            </a:r>
            <a:endParaRPr sz="2400">
              <a:latin typeface="黑体"/>
              <a:cs typeface="黑体"/>
            </a:endParaRPr>
          </a:p>
          <a:p>
            <a:pPr marL="1249680">
              <a:lnSpc>
                <a:spcPct val="100000"/>
              </a:lnSpc>
              <a:spcBef>
                <a:spcPts val="1550"/>
              </a:spcBef>
            </a:pPr>
            <a:r>
              <a:rPr dirty="0" sz="2000" spc="-10" b="1">
                <a:solidFill>
                  <a:srgbClr val="40458B"/>
                </a:solidFill>
                <a:latin typeface="宋体"/>
                <a:cs typeface="宋体"/>
              </a:rPr>
              <a:t>（</a:t>
            </a:r>
            <a:r>
              <a:rPr dirty="0" sz="2000" spc="-10" b="1">
                <a:solidFill>
                  <a:srgbClr val="D50092"/>
                </a:solidFill>
                <a:latin typeface="宋体"/>
                <a:cs typeface="宋体"/>
              </a:rPr>
              <a:t>特色：</a:t>
            </a:r>
            <a:r>
              <a:rPr dirty="0" sz="2000" spc="-15" b="1">
                <a:solidFill>
                  <a:srgbClr val="40458B"/>
                </a:solidFill>
                <a:latin typeface="宋体"/>
                <a:cs typeface="宋体"/>
              </a:rPr>
              <a:t>无需对硬件做任何改动</a:t>
            </a:r>
            <a:r>
              <a:rPr dirty="0" sz="2000" spc="-10" b="1">
                <a:solidFill>
                  <a:srgbClr val="40458B"/>
                </a:solidFill>
                <a:latin typeface="宋体"/>
                <a:cs typeface="宋体"/>
              </a:rPr>
              <a:t>），</a:t>
            </a:r>
            <a:r>
              <a:rPr dirty="0" sz="2000" spc="-25" b="1">
                <a:solidFill>
                  <a:srgbClr val="40458B"/>
                </a:solidFill>
                <a:latin typeface="宋体"/>
                <a:cs typeface="宋体"/>
              </a:rPr>
              <a:t>既可以对程序排序也可以对数据重新排序。</a:t>
            </a:r>
            <a:endParaRPr sz="2000">
              <a:latin typeface="宋体"/>
              <a:cs typeface="宋体"/>
            </a:endParaRPr>
          </a:p>
          <a:p>
            <a:pPr marL="12700">
              <a:lnSpc>
                <a:spcPct val="100000"/>
              </a:lnSpc>
              <a:spcBef>
                <a:spcPts val="1235"/>
              </a:spcBef>
              <a:tabLst>
                <a:tab pos="469265"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15">
                <a:solidFill>
                  <a:srgbClr val="E14B04"/>
                </a:solidFill>
                <a:latin typeface="黑体"/>
                <a:cs typeface="黑体"/>
              </a:rPr>
              <a:t>程序代码和数据重组</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可以重新组织程序而不影响程序的正确性</a:t>
            </a:r>
            <a:endParaRPr sz="2400">
              <a:latin typeface="黑体"/>
              <a:cs typeface="黑体"/>
            </a:endParaRPr>
          </a:p>
          <a:p>
            <a:pPr lvl="1" marL="1726564" indent="-457200">
              <a:lnSpc>
                <a:spcPct val="100000"/>
              </a:lnSpc>
              <a:spcBef>
                <a:spcPts val="1019"/>
              </a:spcBef>
              <a:buClr>
                <a:srgbClr val="4668F5"/>
              </a:buClr>
              <a:buSzPct val="60000"/>
              <a:buFont typeface="Wingdings"/>
              <a:buChar char=""/>
              <a:tabLst>
                <a:tab pos="1726564" algn="l"/>
              </a:tabLst>
            </a:pPr>
            <a:r>
              <a:rPr dirty="0" sz="2000" spc="-25" b="1">
                <a:solidFill>
                  <a:srgbClr val="00AFEF"/>
                </a:solidFill>
                <a:latin typeface="宋体"/>
                <a:cs typeface="宋体"/>
              </a:rPr>
              <a:t>把一个程序中的过程重新排序，就可能会减少冲突不命中，从而降低指令不命中率。</a:t>
            </a:r>
            <a:endParaRPr sz="2000">
              <a:latin typeface="宋体"/>
              <a:cs typeface="宋体"/>
            </a:endParaRPr>
          </a:p>
          <a:p>
            <a:pPr lvl="2" marL="2287905" indent="-381000">
              <a:lnSpc>
                <a:spcPct val="100000"/>
              </a:lnSpc>
              <a:spcBef>
                <a:spcPts val="960"/>
              </a:spcBef>
              <a:buClr>
                <a:srgbClr val="006600"/>
              </a:buClr>
              <a:buSzPct val="65000"/>
              <a:buFont typeface="Wingdings"/>
              <a:buChar char=""/>
              <a:tabLst>
                <a:tab pos="2287905" algn="l"/>
              </a:tabLst>
            </a:pPr>
            <a:r>
              <a:rPr dirty="0" sz="2000" b="1">
                <a:solidFill>
                  <a:srgbClr val="40458B"/>
                </a:solidFill>
                <a:latin typeface="Times New Roman"/>
                <a:cs typeface="Times New Roman"/>
              </a:rPr>
              <a:t>McFarling</a:t>
            </a:r>
            <a:r>
              <a:rPr dirty="0" sz="2000" spc="-20" b="1">
                <a:solidFill>
                  <a:srgbClr val="40458B"/>
                </a:solidFill>
                <a:latin typeface="宋体"/>
                <a:cs typeface="宋体"/>
              </a:rPr>
              <a:t>研究了如何使用配置文件</a:t>
            </a:r>
            <a:r>
              <a:rPr dirty="0" sz="2000" spc="-10" b="1">
                <a:solidFill>
                  <a:srgbClr val="40458B"/>
                </a:solidFill>
                <a:latin typeface="宋体"/>
                <a:cs typeface="宋体"/>
              </a:rPr>
              <a:t>（</a:t>
            </a:r>
            <a:r>
              <a:rPr dirty="0" sz="2000" spc="-10" b="1">
                <a:solidFill>
                  <a:srgbClr val="40458B"/>
                </a:solidFill>
                <a:latin typeface="Times New Roman"/>
                <a:cs typeface="Times New Roman"/>
              </a:rPr>
              <a:t>profile</a:t>
            </a:r>
            <a:r>
              <a:rPr dirty="0" sz="2000" spc="-10" b="1">
                <a:solidFill>
                  <a:srgbClr val="40458B"/>
                </a:solidFill>
                <a:latin typeface="宋体"/>
                <a:cs typeface="宋体"/>
              </a:rPr>
              <a:t>）</a:t>
            </a:r>
            <a:r>
              <a:rPr dirty="0" sz="2000" spc="-25" b="1">
                <a:solidFill>
                  <a:srgbClr val="40458B"/>
                </a:solidFill>
                <a:latin typeface="宋体"/>
                <a:cs typeface="宋体"/>
              </a:rPr>
              <a:t>来进行这种优化。</a:t>
            </a:r>
            <a:endParaRPr sz="2000">
              <a:latin typeface="宋体"/>
              <a:cs typeface="宋体"/>
            </a:endParaRPr>
          </a:p>
          <a:p>
            <a:pPr lvl="1" marL="1726564" marR="5080" indent="-457200">
              <a:lnSpc>
                <a:spcPct val="119300"/>
              </a:lnSpc>
              <a:spcBef>
                <a:spcPts val="500"/>
              </a:spcBef>
              <a:buClr>
                <a:srgbClr val="4668F5"/>
              </a:buClr>
              <a:buSzPct val="60000"/>
              <a:buFont typeface="Wingdings"/>
              <a:buChar char=""/>
              <a:tabLst>
                <a:tab pos="1726564" algn="l"/>
              </a:tabLst>
            </a:pPr>
            <a:r>
              <a:rPr dirty="0" sz="2000" spc="-15" b="1">
                <a:solidFill>
                  <a:srgbClr val="00AFEF"/>
                </a:solidFill>
                <a:latin typeface="宋体"/>
                <a:cs typeface="宋体"/>
              </a:rPr>
              <a:t>把基本块对齐，使得程序的入口点与</a:t>
            </a:r>
            <a:r>
              <a:rPr dirty="0" sz="2000" spc="-10" b="1">
                <a:solidFill>
                  <a:srgbClr val="00AFEF"/>
                </a:solidFill>
                <a:latin typeface="Times New Roman"/>
                <a:cs typeface="Times New Roman"/>
              </a:rPr>
              <a:t>Cache</a:t>
            </a:r>
            <a:r>
              <a:rPr dirty="0" sz="2000" spc="-10" b="1">
                <a:solidFill>
                  <a:srgbClr val="00AFEF"/>
                </a:solidFill>
                <a:latin typeface="宋体"/>
                <a:cs typeface="宋体"/>
              </a:rPr>
              <a:t>块的</a:t>
            </a:r>
            <a:r>
              <a:rPr dirty="0" sz="1800" spc="-15" b="1">
                <a:solidFill>
                  <a:srgbClr val="00AFEF"/>
                </a:solidFill>
                <a:latin typeface="宋体"/>
                <a:cs typeface="宋体"/>
              </a:rPr>
              <a:t>起始位置对齐，就可以减少顺序代码执行时所</a:t>
            </a:r>
            <a:r>
              <a:rPr dirty="0" sz="1800" spc="-10" b="1">
                <a:solidFill>
                  <a:srgbClr val="00AFEF"/>
                </a:solidFill>
                <a:latin typeface="宋体"/>
                <a:cs typeface="宋体"/>
              </a:rPr>
              <a:t>发生的</a:t>
            </a:r>
            <a:r>
              <a:rPr dirty="0" sz="1800" spc="-10" b="1">
                <a:solidFill>
                  <a:srgbClr val="00AFEF"/>
                </a:solidFill>
                <a:latin typeface="Times New Roman"/>
                <a:cs typeface="Times New Roman"/>
              </a:rPr>
              <a:t>Cache</a:t>
            </a:r>
            <a:r>
              <a:rPr dirty="0" sz="1800" spc="-60" b="1">
                <a:solidFill>
                  <a:srgbClr val="00AFEF"/>
                </a:solidFill>
                <a:latin typeface="宋体"/>
                <a:cs typeface="宋体"/>
              </a:rPr>
              <a:t>不命中的可能性。 </a:t>
            </a:r>
            <a:r>
              <a:rPr dirty="0" sz="1800" spc="-10" b="1">
                <a:solidFill>
                  <a:srgbClr val="E14B04"/>
                </a:solidFill>
                <a:latin typeface="宋体"/>
                <a:cs typeface="宋体"/>
              </a:rPr>
              <a:t>（提高大</a:t>
            </a:r>
            <a:r>
              <a:rPr dirty="0" sz="1800" spc="-10" b="1">
                <a:solidFill>
                  <a:srgbClr val="E14B04"/>
                </a:solidFill>
                <a:latin typeface="Times New Roman"/>
                <a:cs typeface="Times New Roman"/>
              </a:rPr>
              <a:t>Cache</a:t>
            </a:r>
            <a:r>
              <a:rPr dirty="0" sz="1800" spc="-10" b="1">
                <a:solidFill>
                  <a:srgbClr val="E14B04"/>
                </a:solidFill>
                <a:latin typeface="宋体"/>
                <a:cs typeface="宋体"/>
              </a:rPr>
              <a:t>块的效率</a:t>
            </a:r>
            <a:r>
              <a:rPr dirty="0" sz="1800" spc="-50" b="1">
                <a:solidFill>
                  <a:srgbClr val="E14B04"/>
                </a:solidFill>
                <a:latin typeface="宋体"/>
                <a:cs typeface="宋体"/>
              </a:rPr>
              <a:t>）</a:t>
            </a:r>
            <a:endParaRPr sz="1800">
              <a:latin typeface="宋体"/>
              <a:cs typeface="宋体"/>
            </a:endParaRPr>
          </a:p>
          <a:p>
            <a:pPr lvl="1" marL="1726564" indent="-457200">
              <a:lnSpc>
                <a:spcPct val="100000"/>
              </a:lnSpc>
              <a:spcBef>
                <a:spcPts val="865"/>
              </a:spcBef>
              <a:buClr>
                <a:srgbClr val="4668F5"/>
              </a:buClr>
              <a:buSzPct val="58333"/>
              <a:buFont typeface="Wingdings"/>
              <a:buChar char=""/>
              <a:tabLst>
                <a:tab pos="1726564" algn="l"/>
              </a:tabLst>
            </a:pPr>
            <a:r>
              <a:rPr dirty="0" sz="1800" spc="-10" b="1">
                <a:solidFill>
                  <a:srgbClr val="E14B04"/>
                </a:solidFill>
                <a:latin typeface="宋体"/>
                <a:cs typeface="宋体"/>
              </a:rPr>
              <a:t>例如多条指令使用同一个数据，将处于不同位置的指令尽量重排在一起（若无数据无冲突</a:t>
            </a:r>
            <a:r>
              <a:rPr dirty="0" sz="1800" spc="-50" b="1">
                <a:solidFill>
                  <a:srgbClr val="E14B04"/>
                </a:solidFill>
                <a:latin typeface="宋体"/>
                <a:cs typeface="宋体"/>
              </a:rPr>
              <a:t>）</a:t>
            </a:r>
            <a:endParaRPr sz="1800">
              <a:latin typeface="宋体"/>
              <a:cs typeface="宋体"/>
            </a:endParaRPr>
          </a:p>
        </p:txBody>
      </p:sp>
      <p:sp>
        <p:nvSpPr>
          <p:cNvPr id="10" name="object 10"/>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89/170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34492" y="569214"/>
            <a:ext cx="10984865" cy="5136515"/>
          </a:xfrm>
          <a:prstGeom prst="rect">
            <a:avLst/>
          </a:prstGeom>
        </p:spPr>
        <p:txBody>
          <a:bodyPr wrap="square" lIns="0" tIns="123825" rIns="0" bIns="0" rtlCol="0" vert="horz">
            <a:spAutoFit/>
          </a:bodyPr>
          <a:lstStyle/>
          <a:p>
            <a:pPr marL="480695">
              <a:lnSpc>
                <a:spcPct val="100000"/>
              </a:lnSpc>
              <a:spcBef>
                <a:spcPts val="975"/>
              </a:spcBef>
            </a:pPr>
            <a:r>
              <a:rPr dirty="0" sz="2400">
                <a:solidFill>
                  <a:srgbClr val="0000CC"/>
                </a:solidFill>
                <a:latin typeface="黑体"/>
                <a:cs typeface="黑体"/>
              </a:rPr>
              <a:t>优化策略七：</a:t>
            </a:r>
            <a:r>
              <a:rPr dirty="0" u="sng" sz="2400">
                <a:solidFill>
                  <a:srgbClr val="4668F5"/>
                </a:solidFill>
                <a:uFill>
                  <a:solidFill>
                    <a:srgbClr val="4668F5"/>
                  </a:solidFill>
                </a:uFill>
                <a:latin typeface="黑体"/>
                <a:cs typeface="黑体"/>
                <a:hlinkClick r:id="rId3"/>
              </a:rPr>
              <a:t>编译器</a:t>
            </a:r>
            <a:r>
              <a:rPr dirty="0" u="none" sz="2400" spc="-25">
                <a:solidFill>
                  <a:srgbClr val="0000CC"/>
                </a:solidFill>
                <a:latin typeface="黑体"/>
                <a:cs typeface="黑体"/>
              </a:rPr>
              <a:t>优化</a:t>
            </a:r>
            <a:endParaRPr sz="2400">
              <a:latin typeface="黑体"/>
              <a:cs typeface="黑体"/>
            </a:endParaRPr>
          </a:p>
          <a:p>
            <a:pPr marL="12700">
              <a:lnSpc>
                <a:spcPct val="100000"/>
              </a:lnSpc>
              <a:spcBef>
                <a:spcPts val="880"/>
              </a:spcBef>
            </a:pPr>
            <a:r>
              <a:rPr dirty="0" sz="2400" spc="-5">
                <a:solidFill>
                  <a:srgbClr val="E14B04"/>
                </a:solidFill>
                <a:latin typeface="黑体"/>
                <a:cs typeface="黑体"/>
              </a:rPr>
              <a:t>基本思想：</a:t>
            </a:r>
            <a:r>
              <a:rPr dirty="0" sz="2400" spc="-5">
                <a:solidFill>
                  <a:srgbClr val="40458B"/>
                </a:solidFill>
                <a:latin typeface="黑体"/>
                <a:cs typeface="黑体"/>
              </a:rPr>
              <a:t>通过对软件进行优化来降低不命中率。</a:t>
            </a:r>
            <a:endParaRPr sz="2400">
              <a:latin typeface="黑体"/>
              <a:cs typeface="黑体"/>
            </a:endParaRPr>
          </a:p>
          <a:p>
            <a:pPr marL="1249680">
              <a:lnSpc>
                <a:spcPct val="100000"/>
              </a:lnSpc>
              <a:spcBef>
                <a:spcPts val="1550"/>
              </a:spcBef>
            </a:pPr>
            <a:r>
              <a:rPr dirty="0" sz="2000" spc="-10" b="1">
                <a:solidFill>
                  <a:srgbClr val="40458B"/>
                </a:solidFill>
                <a:latin typeface="宋体"/>
                <a:cs typeface="宋体"/>
              </a:rPr>
              <a:t>（</a:t>
            </a:r>
            <a:r>
              <a:rPr dirty="0" sz="2000" spc="-10" b="1">
                <a:solidFill>
                  <a:srgbClr val="D50092"/>
                </a:solidFill>
                <a:latin typeface="宋体"/>
                <a:cs typeface="宋体"/>
              </a:rPr>
              <a:t>特色：</a:t>
            </a:r>
            <a:r>
              <a:rPr dirty="0" sz="2000" spc="-15" b="1">
                <a:solidFill>
                  <a:srgbClr val="40458B"/>
                </a:solidFill>
                <a:latin typeface="宋体"/>
                <a:cs typeface="宋体"/>
              </a:rPr>
              <a:t>无需对硬件做任何改动</a:t>
            </a:r>
            <a:r>
              <a:rPr dirty="0" sz="2000" spc="-50" b="1">
                <a:solidFill>
                  <a:srgbClr val="40458B"/>
                </a:solidFill>
                <a:latin typeface="宋体"/>
                <a:cs typeface="宋体"/>
              </a:rPr>
              <a:t>）</a:t>
            </a:r>
            <a:endParaRPr sz="2000">
              <a:latin typeface="宋体"/>
              <a:cs typeface="宋体"/>
            </a:endParaRPr>
          </a:p>
          <a:p>
            <a:pPr marL="12700">
              <a:lnSpc>
                <a:spcPct val="100000"/>
              </a:lnSpc>
              <a:spcBef>
                <a:spcPts val="1235"/>
              </a:spcBef>
              <a:tabLst>
                <a:tab pos="469265" algn="l"/>
              </a:tabLst>
            </a:pPr>
            <a:r>
              <a:rPr dirty="0" sz="2400" spc="-25">
                <a:solidFill>
                  <a:srgbClr val="40458B"/>
                </a:solidFill>
                <a:latin typeface="Tahoma"/>
                <a:cs typeface="Tahoma"/>
              </a:rPr>
              <a:t>1.</a:t>
            </a:r>
            <a:r>
              <a:rPr dirty="0" sz="2400">
                <a:solidFill>
                  <a:srgbClr val="40458B"/>
                </a:solidFill>
                <a:latin typeface="Tahoma"/>
                <a:cs typeface="Tahoma"/>
              </a:rPr>
              <a:t>	</a:t>
            </a:r>
            <a:r>
              <a:rPr dirty="0" sz="2400" spc="-15">
                <a:solidFill>
                  <a:srgbClr val="E14B04"/>
                </a:solidFill>
                <a:latin typeface="黑体"/>
                <a:cs typeface="黑体"/>
              </a:rPr>
              <a:t>程序代码和数据重组</a:t>
            </a:r>
            <a:endParaRPr sz="2400">
              <a:latin typeface="黑体"/>
              <a:cs typeface="黑体"/>
            </a:endParaRPr>
          </a:p>
          <a:p>
            <a:pPr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可以重新组织程序而不影响程序的正确性</a:t>
            </a:r>
            <a:endParaRPr sz="2400">
              <a:latin typeface="黑体"/>
              <a:cs typeface="黑体"/>
            </a:endParaRPr>
          </a:p>
          <a:p>
            <a:pPr marL="911860" marR="5080" indent="-270510">
              <a:lnSpc>
                <a:spcPct val="120000"/>
              </a:lnSpc>
              <a:spcBef>
                <a:spcPts val="2960"/>
              </a:spcBef>
              <a:buSzPct val="89583"/>
              <a:buFont typeface="Wingdings"/>
              <a:buChar char=""/>
              <a:tabLst>
                <a:tab pos="913130" algn="l"/>
              </a:tabLst>
            </a:pPr>
            <a:r>
              <a:rPr dirty="0" sz="2400" spc="-5">
                <a:solidFill>
                  <a:srgbClr val="40458B"/>
                </a:solidFill>
                <a:latin typeface="黑体"/>
                <a:cs typeface="黑体"/>
              </a:rPr>
              <a:t>如果编译器知道一个分支指令很可能会成功转移，那么它就可以通过以下两	步来改善空间局部性：</a:t>
            </a:r>
            <a:endParaRPr sz="2400">
              <a:latin typeface="黑体"/>
              <a:cs typeface="黑体"/>
            </a:endParaRPr>
          </a:p>
          <a:p>
            <a:pPr lvl="1" marL="1726564" indent="-457200">
              <a:lnSpc>
                <a:spcPct val="100000"/>
              </a:lnSpc>
              <a:spcBef>
                <a:spcPts val="1025"/>
              </a:spcBef>
              <a:buClr>
                <a:srgbClr val="4668F5"/>
              </a:buClr>
              <a:buSzPct val="60000"/>
              <a:buFont typeface="Wingdings"/>
              <a:buChar char=""/>
              <a:tabLst>
                <a:tab pos="1726564" algn="l"/>
              </a:tabLst>
            </a:pPr>
            <a:r>
              <a:rPr dirty="0" sz="2000" spc="-30" b="1">
                <a:solidFill>
                  <a:srgbClr val="00AFEF"/>
                </a:solidFill>
                <a:latin typeface="宋体"/>
                <a:cs typeface="宋体"/>
              </a:rPr>
              <a:t>将转移目标处的基本块和紧跟着该分支指令后的基本块进行对调；</a:t>
            </a:r>
            <a:endParaRPr sz="2000">
              <a:latin typeface="宋体"/>
              <a:cs typeface="宋体"/>
            </a:endParaRPr>
          </a:p>
          <a:p>
            <a:pPr lvl="1" marL="1726564" indent="-457200">
              <a:lnSpc>
                <a:spcPct val="100000"/>
              </a:lnSpc>
              <a:spcBef>
                <a:spcPts val="960"/>
              </a:spcBef>
              <a:buClr>
                <a:srgbClr val="4668F5"/>
              </a:buClr>
              <a:buSzPct val="60000"/>
              <a:buFont typeface="Wingdings"/>
              <a:buChar char=""/>
              <a:tabLst>
                <a:tab pos="1726564" algn="l"/>
              </a:tabLst>
            </a:pPr>
            <a:r>
              <a:rPr dirty="0" sz="2000" spc="-25" b="1">
                <a:solidFill>
                  <a:srgbClr val="00AFEF"/>
                </a:solidFill>
                <a:latin typeface="宋体"/>
                <a:cs typeface="宋体"/>
              </a:rPr>
              <a:t>把该分支指令换为操作语义相反的分支指令。</a:t>
            </a:r>
            <a:endParaRPr sz="2000">
              <a:latin typeface="宋体"/>
              <a:cs typeface="宋体"/>
            </a:endParaRPr>
          </a:p>
          <a:p>
            <a:pPr marL="912494" indent="-270510">
              <a:lnSpc>
                <a:spcPct val="100000"/>
              </a:lnSpc>
              <a:spcBef>
                <a:spcPts val="1090"/>
              </a:spcBef>
              <a:buSzPct val="89583"/>
              <a:buFont typeface="Wingdings"/>
              <a:buChar char=""/>
              <a:tabLst>
                <a:tab pos="912494" algn="l"/>
              </a:tabLst>
            </a:pPr>
            <a:r>
              <a:rPr dirty="0" sz="2400" spc="-5">
                <a:solidFill>
                  <a:srgbClr val="40458B"/>
                </a:solidFill>
                <a:latin typeface="黑体"/>
                <a:cs typeface="黑体"/>
              </a:rPr>
              <a:t>数据对存储位置的限制更少，更便于调整顺序。</a:t>
            </a:r>
            <a:endParaRPr sz="2400">
              <a:latin typeface="黑体"/>
              <a:cs typeface="黑体"/>
            </a:endParaRPr>
          </a:p>
        </p:txBody>
      </p:sp>
      <p:sp>
        <p:nvSpPr>
          <p:cNvPr id="10" name="object 10"/>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08151" y="811120"/>
            <a:ext cx="11386185" cy="4639310"/>
          </a:xfrm>
          <a:prstGeom prst="rect">
            <a:avLst/>
          </a:prstGeom>
        </p:spPr>
        <p:txBody>
          <a:bodyPr wrap="square" lIns="0" tIns="167005" rIns="0" bIns="0" rtlCol="0" vert="horz">
            <a:spAutoFit/>
          </a:bodyPr>
          <a:lstStyle/>
          <a:p>
            <a:pPr marL="469900" indent="-457200">
              <a:lnSpc>
                <a:spcPct val="100000"/>
              </a:lnSpc>
              <a:spcBef>
                <a:spcPts val="1315"/>
              </a:spcBef>
              <a:buSzPct val="89583"/>
              <a:buFont typeface="Wingdings"/>
              <a:buChar char=""/>
              <a:tabLst>
                <a:tab pos="469900" algn="l"/>
              </a:tabLst>
            </a:pPr>
            <a:r>
              <a:rPr dirty="0" sz="2400" spc="-10">
                <a:solidFill>
                  <a:srgbClr val="40458B"/>
                </a:solidFill>
                <a:latin typeface="黑体"/>
                <a:cs typeface="黑体"/>
              </a:rPr>
              <a:t>编译优化技术包括</a:t>
            </a:r>
            <a:endParaRPr sz="2400">
              <a:latin typeface="黑体"/>
              <a:cs typeface="黑体"/>
            </a:endParaRPr>
          </a:p>
          <a:p>
            <a:pPr lvl="1" marL="1097915" indent="-457200">
              <a:lnSpc>
                <a:spcPct val="100000"/>
              </a:lnSpc>
              <a:spcBef>
                <a:spcPts val="1025"/>
              </a:spcBef>
              <a:buClr>
                <a:srgbClr val="4668F5"/>
              </a:buClr>
              <a:buSzPct val="60000"/>
              <a:buFont typeface="Wingdings"/>
              <a:buChar char=""/>
              <a:tabLst>
                <a:tab pos="1097915" algn="l"/>
              </a:tabLst>
            </a:pPr>
            <a:r>
              <a:rPr dirty="0" sz="2000" spc="-25" b="1">
                <a:solidFill>
                  <a:srgbClr val="00AFEF"/>
                </a:solidFill>
                <a:latin typeface="宋体"/>
                <a:cs typeface="宋体"/>
              </a:rPr>
              <a:t>数组合并</a:t>
            </a:r>
            <a:endParaRPr sz="2000">
              <a:latin typeface="宋体"/>
              <a:cs typeface="宋体"/>
            </a:endParaRPr>
          </a:p>
          <a:p>
            <a:pPr lvl="2" marL="1658620" indent="-381000">
              <a:lnSpc>
                <a:spcPct val="100000"/>
              </a:lnSpc>
              <a:spcBef>
                <a:spcPts val="960"/>
              </a:spcBef>
              <a:buClr>
                <a:srgbClr val="006600"/>
              </a:buClr>
              <a:buSzPct val="65000"/>
              <a:buFont typeface="Wingdings"/>
              <a:buChar char=""/>
              <a:tabLst>
                <a:tab pos="1658620" algn="l"/>
              </a:tabLst>
            </a:pPr>
            <a:r>
              <a:rPr dirty="0" sz="2000" spc="-25" b="1">
                <a:solidFill>
                  <a:srgbClr val="40458B"/>
                </a:solidFill>
                <a:latin typeface="宋体"/>
                <a:cs typeface="宋体"/>
              </a:rPr>
              <a:t>将本来相互独立的多个数组合并成为一个复合数组，以提高访问它们的局部性。</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20" b="1">
                <a:solidFill>
                  <a:srgbClr val="00AFEF"/>
                </a:solidFill>
                <a:latin typeface="宋体"/>
                <a:cs typeface="宋体"/>
              </a:rPr>
              <a:t>内外循环交换</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25" b="1">
                <a:solidFill>
                  <a:srgbClr val="00AFEF"/>
                </a:solidFill>
                <a:latin typeface="宋体"/>
                <a:cs typeface="宋体"/>
              </a:rPr>
              <a:t>循环融合</a:t>
            </a:r>
            <a:endParaRPr sz="2000">
              <a:latin typeface="宋体"/>
              <a:cs typeface="宋体"/>
            </a:endParaRPr>
          </a:p>
          <a:p>
            <a:pPr lvl="2" marL="1658620" marR="15875" indent="-381000">
              <a:lnSpc>
                <a:spcPct val="120000"/>
              </a:lnSpc>
              <a:spcBef>
                <a:spcPts val="484"/>
              </a:spcBef>
              <a:buClr>
                <a:srgbClr val="006600"/>
              </a:buClr>
              <a:buSzPct val="65000"/>
              <a:buFont typeface="Wingdings"/>
              <a:buChar char=""/>
              <a:tabLst>
                <a:tab pos="1658620" algn="l"/>
              </a:tabLst>
            </a:pPr>
            <a:r>
              <a:rPr dirty="0" sz="2000" spc="-25" b="1">
                <a:solidFill>
                  <a:srgbClr val="40458B"/>
                </a:solidFill>
                <a:latin typeface="宋体"/>
                <a:cs typeface="宋体"/>
              </a:rPr>
              <a:t>若不同的循环空间存储位置不同，但用到同样的数据，会造成上次循环使用后被替换出</a:t>
            </a:r>
            <a:r>
              <a:rPr dirty="0" sz="2000" spc="-15" b="1">
                <a:solidFill>
                  <a:srgbClr val="40458B"/>
                </a:solidFill>
                <a:latin typeface="宋体"/>
                <a:cs typeface="宋体"/>
              </a:rPr>
              <a:t>而下一个循环再使用则不命中</a:t>
            </a:r>
            <a:endParaRPr sz="2000">
              <a:latin typeface="宋体"/>
              <a:cs typeface="宋体"/>
            </a:endParaRPr>
          </a:p>
          <a:p>
            <a:pPr lvl="2" marL="1658620" marR="5080" indent="-381000">
              <a:lnSpc>
                <a:spcPct val="120000"/>
              </a:lnSpc>
              <a:spcBef>
                <a:spcPts val="480"/>
              </a:spcBef>
              <a:buClr>
                <a:srgbClr val="006600"/>
              </a:buClr>
              <a:buSzPct val="65000"/>
              <a:buFont typeface="Wingdings"/>
              <a:buChar char=""/>
              <a:tabLst>
                <a:tab pos="1658620" algn="l"/>
              </a:tabLst>
            </a:pPr>
            <a:r>
              <a:rPr dirty="0" sz="2000" spc="-15" b="1">
                <a:solidFill>
                  <a:srgbClr val="FF09FF"/>
                </a:solidFill>
                <a:latin typeface="宋体"/>
                <a:cs typeface="宋体"/>
              </a:rPr>
              <a:t>解决方法：</a:t>
            </a:r>
            <a:r>
              <a:rPr dirty="0" sz="2000" spc="-20" b="1">
                <a:solidFill>
                  <a:srgbClr val="40458B"/>
                </a:solidFill>
                <a:latin typeface="宋体"/>
                <a:cs typeface="宋体"/>
              </a:rPr>
              <a:t>将若干个独立的循环</a:t>
            </a:r>
            <a:r>
              <a:rPr dirty="0" sz="2000" spc="-20" b="1">
                <a:solidFill>
                  <a:srgbClr val="FF09FF"/>
                </a:solidFill>
                <a:latin typeface="宋体"/>
                <a:cs typeface="宋体"/>
              </a:rPr>
              <a:t>融合</a:t>
            </a:r>
            <a:r>
              <a:rPr dirty="0" sz="2000" spc="-25" b="1">
                <a:solidFill>
                  <a:srgbClr val="40458B"/>
                </a:solidFill>
                <a:latin typeface="宋体"/>
                <a:cs typeface="宋体"/>
              </a:rPr>
              <a:t>为单个的循环。这些循环访问同样的数组，对相同</a:t>
            </a:r>
            <a:r>
              <a:rPr dirty="0" sz="2000" spc="-20" b="1">
                <a:solidFill>
                  <a:srgbClr val="40458B"/>
                </a:solidFill>
                <a:latin typeface="宋体"/>
                <a:cs typeface="宋体"/>
              </a:rPr>
              <a:t>的数据作不同的运算。这样能使得读入</a:t>
            </a:r>
            <a:r>
              <a:rPr dirty="0" sz="2000" spc="-10" b="1">
                <a:solidFill>
                  <a:srgbClr val="40458B"/>
                </a:solidFill>
                <a:latin typeface="Times New Roman"/>
                <a:cs typeface="Times New Roman"/>
              </a:rPr>
              <a:t>Cache</a:t>
            </a:r>
            <a:r>
              <a:rPr dirty="0" sz="2000" spc="-25" b="1">
                <a:solidFill>
                  <a:srgbClr val="40458B"/>
                </a:solidFill>
                <a:latin typeface="宋体"/>
                <a:cs typeface="宋体"/>
              </a:rPr>
              <a:t>的数据在被替换出去之前，能得到反复的</a:t>
            </a:r>
            <a:r>
              <a:rPr dirty="0" sz="2000" spc="-155" b="1">
                <a:solidFill>
                  <a:srgbClr val="40458B"/>
                </a:solidFill>
                <a:latin typeface="宋体"/>
                <a:cs typeface="宋体"/>
              </a:rPr>
              <a:t>使用 。</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30" b="1">
                <a:solidFill>
                  <a:srgbClr val="00AFEF"/>
                </a:solidFill>
                <a:latin typeface="宋体"/>
                <a:cs typeface="宋体"/>
              </a:rPr>
              <a:t>分块</a:t>
            </a:r>
            <a:endParaRPr sz="2000">
              <a:latin typeface="宋体"/>
              <a:cs typeface="宋体"/>
            </a:endParaRPr>
          </a:p>
        </p:txBody>
      </p:sp>
      <p:sp>
        <p:nvSpPr>
          <p:cNvPr id="10" name="object 10"/>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08151" y="965708"/>
            <a:ext cx="2921635" cy="391160"/>
          </a:xfrm>
          <a:prstGeom prst="rect">
            <a:avLst/>
          </a:prstGeom>
        </p:spPr>
        <p:txBody>
          <a:bodyPr wrap="square" lIns="0" tIns="12700" rIns="0" bIns="0" rtlCol="0" vert="horz">
            <a:spAutoFit/>
          </a:bodyPr>
          <a:lstStyle/>
          <a:p>
            <a:pPr marL="469900" indent="-457200">
              <a:lnSpc>
                <a:spcPct val="100000"/>
              </a:lnSpc>
              <a:spcBef>
                <a:spcPts val="100"/>
              </a:spcBef>
              <a:buSzPct val="89583"/>
              <a:buFont typeface="Wingdings"/>
              <a:buChar char=""/>
              <a:tabLst>
                <a:tab pos="469900" algn="l"/>
              </a:tabLst>
            </a:pPr>
            <a:r>
              <a:rPr dirty="0" sz="2400" spc="-10">
                <a:solidFill>
                  <a:srgbClr val="40458B"/>
                </a:solidFill>
                <a:latin typeface="黑体"/>
                <a:cs typeface="黑体"/>
              </a:rPr>
              <a:t>编译优化技术包括</a:t>
            </a:r>
            <a:endParaRPr sz="2400">
              <a:latin typeface="黑体"/>
              <a:cs typeface="黑体"/>
            </a:endParaRPr>
          </a:p>
        </p:txBody>
      </p:sp>
      <p:sp>
        <p:nvSpPr>
          <p:cNvPr id="10" name="object 10"/>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
        <p:nvSpPr>
          <p:cNvPr id="11" name="object 11" descr=""/>
          <p:cNvSpPr txBox="1"/>
          <p:nvPr/>
        </p:nvSpPr>
        <p:spPr>
          <a:xfrm>
            <a:off x="1637792" y="2892044"/>
            <a:ext cx="1798955" cy="1121410"/>
          </a:xfrm>
          <a:prstGeom prst="rect">
            <a:avLst/>
          </a:prstGeom>
        </p:spPr>
        <p:txBody>
          <a:bodyPr wrap="square" lIns="0" tIns="13335" rIns="0" bIns="0" rtlCol="0" vert="horz">
            <a:spAutoFit/>
          </a:bodyPr>
          <a:lstStyle/>
          <a:p>
            <a:pPr marL="12700" marR="5080">
              <a:lnSpc>
                <a:spcPct val="99800"/>
              </a:lnSpc>
              <a:spcBef>
                <a:spcPts val="105"/>
              </a:spcBef>
              <a:tabLst>
                <a:tab pos="542925" algn="l"/>
                <a:tab pos="1111250" algn="l"/>
              </a:tabLst>
            </a:pPr>
            <a:r>
              <a:rPr dirty="0" sz="2400" spc="-10">
                <a:solidFill>
                  <a:srgbClr val="00AFEF"/>
                </a:solidFill>
                <a:latin typeface="Tahoma"/>
                <a:cs typeface="Tahoma"/>
              </a:rPr>
              <a:t>/*</a:t>
            </a:r>
            <a:r>
              <a:rPr dirty="0" sz="2400">
                <a:solidFill>
                  <a:srgbClr val="00AFEF"/>
                </a:solidFill>
                <a:latin typeface="黑体"/>
                <a:cs typeface="黑体"/>
              </a:rPr>
              <a:t>修改</a:t>
            </a:r>
            <a:r>
              <a:rPr dirty="0" sz="2400" spc="-10">
                <a:solidFill>
                  <a:srgbClr val="00AFEF"/>
                </a:solidFill>
                <a:latin typeface="黑体"/>
                <a:cs typeface="黑体"/>
              </a:rPr>
              <a:t>前</a:t>
            </a:r>
            <a:r>
              <a:rPr dirty="0" sz="2400" spc="-25">
                <a:solidFill>
                  <a:srgbClr val="00AFEF"/>
                </a:solidFill>
                <a:latin typeface="Tahoma"/>
                <a:cs typeface="Tahoma"/>
              </a:rPr>
              <a:t>*/ </a:t>
            </a:r>
            <a:r>
              <a:rPr dirty="0" sz="2400" spc="-25">
                <a:solidFill>
                  <a:srgbClr val="40458B"/>
                </a:solidFill>
                <a:latin typeface="Tahoma"/>
                <a:cs typeface="Tahoma"/>
              </a:rPr>
              <a:t>int</a:t>
            </a:r>
            <a:r>
              <a:rPr dirty="0" sz="2400">
                <a:solidFill>
                  <a:srgbClr val="40458B"/>
                </a:solidFill>
                <a:latin typeface="Tahoma"/>
                <a:cs typeface="Tahoma"/>
              </a:rPr>
              <a:t>	</a:t>
            </a:r>
            <a:r>
              <a:rPr dirty="0" sz="2400" spc="-25">
                <a:solidFill>
                  <a:srgbClr val="40458B"/>
                </a:solidFill>
                <a:latin typeface="Tahoma"/>
                <a:cs typeface="Tahoma"/>
              </a:rPr>
              <a:t>val</a:t>
            </a:r>
            <a:r>
              <a:rPr dirty="0" sz="2400">
                <a:solidFill>
                  <a:srgbClr val="40458B"/>
                </a:solidFill>
                <a:latin typeface="Tahoma"/>
                <a:cs typeface="Tahoma"/>
              </a:rPr>
              <a:t>	</a:t>
            </a:r>
            <a:r>
              <a:rPr dirty="0" sz="2400" spc="-10">
                <a:solidFill>
                  <a:srgbClr val="40458B"/>
                </a:solidFill>
                <a:latin typeface="Tahoma"/>
                <a:cs typeface="Tahoma"/>
              </a:rPr>
              <a:t>[20]; </a:t>
            </a:r>
            <a:r>
              <a:rPr dirty="0" sz="2400" spc="-25">
                <a:solidFill>
                  <a:srgbClr val="40458B"/>
                </a:solidFill>
                <a:latin typeface="Tahoma"/>
                <a:cs typeface="Tahoma"/>
              </a:rPr>
              <a:t>int</a:t>
            </a:r>
            <a:r>
              <a:rPr dirty="0" sz="2400">
                <a:solidFill>
                  <a:srgbClr val="40458B"/>
                </a:solidFill>
                <a:latin typeface="Tahoma"/>
                <a:cs typeface="Tahoma"/>
              </a:rPr>
              <a:t>	</a:t>
            </a:r>
            <a:r>
              <a:rPr dirty="0" sz="2400" spc="-10">
                <a:solidFill>
                  <a:srgbClr val="40458B"/>
                </a:solidFill>
                <a:latin typeface="Tahoma"/>
                <a:cs typeface="Tahoma"/>
              </a:rPr>
              <a:t>val2[20];</a:t>
            </a:r>
            <a:endParaRPr sz="2400">
              <a:latin typeface="Tahoma"/>
              <a:cs typeface="Tahoma"/>
            </a:endParaRPr>
          </a:p>
        </p:txBody>
      </p:sp>
      <p:sp>
        <p:nvSpPr>
          <p:cNvPr id="12" name="object 12" descr=""/>
          <p:cNvSpPr txBox="1"/>
          <p:nvPr/>
        </p:nvSpPr>
        <p:spPr>
          <a:xfrm>
            <a:off x="1336294" y="1339053"/>
            <a:ext cx="9994265" cy="1578610"/>
          </a:xfrm>
          <a:prstGeom prst="rect">
            <a:avLst/>
          </a:prstGeom>
        </p:spPr>
        <p:txBody>
          <a:bodyPr wrap="square" lIns="0" tIns="135255" rIns="0" bIns="0" rtlCol="0" vert="horz">
            <a:spAutoFit/>
          </a:bodyPr>
          <a:lstStyle/>
          <a:p>
            <a:pPr marL="469265" indent="-456565">
              <a:lnSpc>
                <a:spcPct val="100000"/>
              </a:lnSpc>
              <a:spcBef>
                <a:spcPts val="1065"/>
              </a:spcBef>
              <a:buClr>
                <a:srgbClr val="4668F5"/>
              </a:buClr>
              <a:buSzPct val="60000"/>
              <a:buFont typeface="Wingdings"/>
              <a:buChar char=""/>
              <a:tabLst>
                <a:tab pos="469265" algn="l"/>
              </a:tabLst>
            </a:pPr>
            <a:r>
              <a:rPr dirty="0" sz="2000" spc="-25" b="1">
                <a:solidFill>
                  <a:srgbClr val="00AFEF"/>
                </a:solidFill>
                <a:latin typeface="宋体"/>
                <a:cs typeface="宋体"/>
              </a:rPr>
              <a:t>数组合并</a:t>
            </a:r>
            <a:endParaRPr sz="2000">
              <a:latin typeface="宋体"/>
              <a:cs typeface="宋体"/>
            </a:endParaRPr>
          </a:p>
          <a:p>
            <a:pPr lvl="1" marL="1030605" indent="-381000">
              <a:lnSpc>
                <a:spcPct val="100000"/>
              </a:lnSpc>
              <a:spcBef>
                <a:spcPts val="960"/>
              </a:spcBef>
              <a:buClr>
                <a:srgbClr val="006600"/>
              </a:buClr>
              <a:buSzPct val="65000"/>
              <a:buFont typeface="Wingdings"/>
              <a:buChar char=""/>
              <a:tabLst>
                <a:tab pos="1030605" algn="l"/>
              </a:tabLst>
            </a:pPr>
            <a:r>
              <a:rPr dirty="0" sz="2000" spc="-25" b="1">
                <a:solidFill>
                  <a:srgbClr val="40458B"/>
                </a:solidFill>
                <a:latin typeface="宋体"/>
                <a:cs typeface="宋体"/>
              </a:rPr>
              <a:t>将本来相互独立的多个数组合并成为一个复合数组，以提高访问它们的局部性。</a:t>
            </a:r>
            <a:endParaRPr sz="2000">
              <a:latin typeface="宋体"/>
              <a:cs typeface="宋体"/>
            </a:endParaRPr>
          </a:p>
          <a:p>
            <a:pPr algn="ctr" marL="1198880">
              <a:lnSpc>
                <a:spcPts val="2290"/>
              </a:lnSpc>
              <a:spcBef>
                <a:spcPts val="919"/>
              </a:spcBef>
            </a:pPr>
            <a:r>
              <a:rPr dirty="0" sz="2400" spc="-20">
                <a:solidFill>
                  <a:srgbClr val="40458B"/>
                </a:solidFill>
                <a:latin typeface="黑体"/>
                <a:cs typeface="黑体"/>
              </a:rPr>
              <a:t>举例：</a:t>
            </a:r>
            <a:endParaRPr sz="2400">
              <a:latin typeface="黑体"/>
              <a:cs typeface="黑体"/>
            </a:endParaRPr>
          </a:p>
          <a:p>
            <a:pPr algn="ctr" marR="8442960">
              <a:lnSpc>
                <a:spcPts val="2290"/>
              </a:lnSpc>
            </a:pPr>
            <a:r>
              <a:rPr dirty="0" sz="2400" spc="-20">
                <a:solidFill>
                  <a:srgbClr val="40458B"/>
                </a:solidFill>
                <a:latin typeface="黑体"/>
                <a:cs typeface="黑体"/>
              </a:rPr>
              <a:t>举例：</a:t>
            </a:r>
            <a:endParaRPr sz="2400">
              <a:latin typeface="黑体"/>
              <a:cs typeface="黑体"/>
            </a:endParaRPr>
          </a:p>
        </p:txBody>
      </p:sp>
      <p:sp>
        <p:nvSpPr>
          <p:cNvPr id="13" name="object 13" descr=""/>
          <p:cNvSpPr txBox="1"/>
          <p:nvPr/>
        </p:nvSpPr>
        <p:spPr>
          <a:xfrm>
            <a:off x="6462776" y="2675890"/>
            <a:ext cx="1927225" cy="1853564"/>
          </a:xfrm>
          <a:prstGeom prst="rect">
            <a:avLst/>
          </a:prstGeom>
        </p:spPr>
        <p:txBody>
          <a:bodyPr wrap="square" lIns="0" tIns="26034" rIns="0" bIns="0" rtlCol="0" vert="horz">
            <a:spAutoFit/>
          </a:bodyPr>
          <a:lstStyle/>
          <a:p>
            <a:pPr marL="12700" marR="5080">
              <a:lnSpc>
                <a:spcPts val="2870"/>
              </a:lnSpc>
              <a:spcBef>
                <a:spcPts val="204"/>
              </a:spcBef>
            </a:pPr>
            <a:r>
              <a:rPr dirty="0" sz="2400" spc="-10">
                <a:solidFill>
                  <a:srgbClr val="00AFEF"/>
                </a:solidFill>
                <a:latin typeface="Tahoma"/>
                <a:cs typeface="Tahoma"/>
              </a:rPr>
              <a:t>/*</a:t>
            </a:r>
            <a:r>
              <a:rPr dirty="0" sz="2400" spc="-5">
                <a:solidFill>
                  <a:srgbClr val="00AFEF"/>
                </a:solidFill>
                <a:latin typeface="黑体"/>
                <a:cs typeface="黑体"/>
              </a:rPr>
              <a:t>修改后</a:t>
            </a:r>
            <a:r>
              <a:rPr dirty="0" sz="2400" spc="-25">
                <a:solidFill>
                  <a:srgbClr val="00AFEF"/>
                </a:solidFill>
                <a:latin typeface="Tahoma"/>
                <a:cs typeface="Tahoma"/>
              </a:rPr>
              <a:t>*/ </a:t>
            </a:r>
            <a:r>
              <a:rPr dirty="0" sz="2400">
                <a:solidFill>
                  <a:srgbClr val="00AFEF"/>
                </a:solidFill>
                <a:latin typeface="Tahoma"/>
                <a:cs typeface="Tahoma"/>
              </a:rPr>
              <a:t>Struct</a:t>
            </a:r>
            <a:r>
              <a:rPr dirty="0" sz="2400" spc="-40">
                <a:solidFill>
                  <a:srgbClr val="00AFEF"/>
                </a:solidFill>
                <a:latin typeface="Tahoma"/>
                <a:cs typeface="Tahoma"/>
              </a:rPr>
              <a:t> </a:t>
            </a:r>
            <a:r>
              <a:rPr dirty="0" sz="2400" spc="-10">
                <a:solidFill>
                  <a:srgbClr val="00AFEF"/>
                </a:solidFill>
                <a:latin typeface="Tahoma"/>
                <a:cs typeface="Tahoma"/>
              </a:rPr>
              <a:t>meerge</a:t>
            </a:r>
            <a:endParaRPr sz="2400">
              <a:latin typeface="Tahoma"/>
              <a:cs typeface="Tahoma"/>
            </a:endParaRPr>
          </a:p>
          <a:p>
            <a:pPr marL="12700">
              <a:lnSpc>
                <a:spcPts val="2785"/>
              </a:lnSpc>
            </a:pPr>
            <a:r>
              <a:rPr dirty="0" sz="2400" spc="-50">
                <a:solidFill>
                  <a:srgbClr val="00AFEF"/>
                </a:solidFill>
                <a:latin typeface="Tahoma"/>
                <a:cs typeface="Tahoma"/>
              </a:rPr>
              <a:t>{</a:t>
            </a:r>
            <a:endParaRPr sz="2400">
              <a:latin typeface="Tahoma"/>
              <a:cs typeface="Tahoma"/>
            </a:endParaRPr>
          </a:p>
          <a:p>
            <a:pPr marL="12700" marR="699770">
              <a:lnSpc>
                <a:spcPct val="100000"/>
              </a:lnSpc>
              <a:tabLst>
                <a:tab pos="542925" algn="l"/>
                <a:tab pos="1111250" algn="l"/>
              </a:tabLst>
            </a:pPr>
            <a:r>
              <a:rPr dirty="0" sz="2400" spc="-25">
                <a:solidFill>
                  <a:srgbClr val="40458B"/>
                </a:solidFill>
                <a:latin typeface="Tahoma"/>
                <a:cs typeface="Tahoma"/>
              </a:rPr>
              <a:t>int</a:t>
            </a:r>
            <a:r>
              <a:rPr dirty="0" sz="2400">
                <a:solidFill>
                  <a:srgbClr val="40458B"/>
                </a:solidFill>
                <a:latin typeface="Tahoma"/>
                <a:cs typeface="Tahoma"/>
              </a:rPr>
              <a:t>	</a:t>
            </a:r>
            <a:r>
              <a:rPr dirty="0" sz="2400" spc="-25">
                <a:solidFill>
                  <a:srgbClr val="40458B"/>
                </a:solidFill>
                <a:latin typeface="Tahoma"/>
                <a:cs typeface="Tahoma"/>
              </a:rPr>
              <a:t>val</a:t>
            </a:r>
            <a:r>
              <a:rPr dirty="0" sz="2400">
                <a:solidFill>
                  <a:srgbClr val="40458B"/>
                </a:solidFill>
                <a:latin typeface="Tahoma"/>
                <a:cs typeface="Tahoma"/>
              </a:rPr>
              <a:t>	</a:t>
            </a:r>
            <a:r>
              <a:rPr dirty="0" sz="2400" spc="-50">
                <a:solidFill>
                  <a:srgbClr val="40458B"/>
                </a:solidFill>
                <a:latin typeface="Tahoma"/>
                <a:cs typeface="Tahoma"/>
              </a:rPr>
              <a:t>; </a:t>
            </a:r>
            <a:r>
              <a:rPr dirty="0" sz="2400" spc="-25">
                <a:solidFill>
                  <a:srgbClr val="40458B"/>
                </a:solidFill>
                <a:latin typeface="Tahoma"/>
                <a:cs typeface="Tahoma"/>
              </a:rPr>
              <a:t>int</a:t>
            </a:r>
            <a:r>
              <a:rPr dirty="0" sz="2400">
                <a:solidFill>
                  <a:srgbClr val="40458B"/>
                </a:solidFill>
                <a:latin typeface="Tahoma"/>
                <a:cs typeface="Tahoma"/>
              </a:rPr>
              <a:t>	</a:t>
            </a:r>
            <a:r>
              <a:rPr dirty="0" sz="2400" spc="-10">
                <a:solidFill>
                  <a:srgbClr val="40458B"/>
                </a:solidFill>
                <a:latin typeface="Tahoma"/>
                <a:cs typeface="Tahoma"/>
              </a:rPr>
              <a:t>val2;</a:t>
            </a:r>
            <a:endParaRPr sz="2400">
              <a:latin typeface="Tahoma"/>
              <a:cs typeface="Tahoma"/>
            </a:endParaRPr>
          </a:p>
        </p:txBody>
      </p:sp>
      <p:sp>
        <p:nvSpPr>
          <p:cNvPr id="14" name="object 14" descr=""/>
          <p:cNvSpPr txBox="1"/>
          <p:nvPr/>
        </p:nvSpPr>
        <p:spPr>
          <a:xfrm>
            <a:off x="6462776" y="4869560"/>
            <a:ext cx="3970020" cy="756920"/>
          </a:xfrm>
          <a:prstGeom prst="rect">
            <a:avLst/>
          </a:prstGeom>
        </p:spPr>
        <p:txBody>
          <a:bodyPr wrap="square" lIns="0" tIns="12700" rIns="0" bIns="0" rtlCol="0" vert="horz">
            <a:spAutoFit/>
          </a:bodyPr>
          <a:lstStyle/>
          <a:p>
            <a:pPr marL="12700">
              <a:lnSpc>
                <a:spcPct val="100000"/>
              </a:lnSpc>
              <a:spcBef>
                <a:spcPts val="100"/>
              </a:spcBef>
            </a:pPr>
            <a:r>
              <a:rPr dirty="0" sz="2400" spc="-50">
                <a:solidFill>
                  <a:srgbClr val="00AFEF"/>
                </a:solidFill>
                <a:latin typeface="Tahoma"/>
                <a:cs typeface="Tahoma"/>
              </a:rPr>
              <a:t>}</a:t>
            </a:r>
            <a:endParaRPr sz="2400">
              <a:latin typeface="Tahoma"/>
              <a:cs typeface="Tahoma"/>
            </a:endParaRPr>
          </a:p>
          <a:p>
            <a:pPr marL="12700">
              <a:lnSpc>
                <a:spcPct val="100000"/>
              </a:lnSpc>
              <a:tabLst>
                <a:tab pos="2100580" algn="l"/>
              </a:tabLst>
            </a:pPr>
            <a:r>
              <a:rPr dirty="0" sz="2400">
                <a:solidFill>
                  <a:srgbClr val="00AFEF"/>
                </a:solidFill>
                <a:latin typeface="Tahoma"/>
                <a:cs typeface="Tahoma"/>
              </a:rPr>
              <a:t>Struct</a:t>
            </a:r>
            <a:r>
              <a:rPr dirty="0" sz="2400" spc="-25">
                <a:solidFill>
                  <a:srgbClr val="00AFEF"/>
                </a:solidFill>
                <a:latin typeface="Tahoma"/>
                <a:cs typeface="Tahoma"/>
              </a:rPr>
              <a:t> </a:t>
            </a:r>
            <a:r>
              <a:rPr dirty="0" sz="2400" spc="-10">
                <a:solidFill>
                  <a:srgbClr val="00AFEF"/>
                </a:solidFill>
                <a:latin typeface="Tahoma"/>
                <a:cs typeface="Tahoma"/>
              </a:rPr>
              <a:t>merage</a:t>
            </a:r>
            <a:r>
              <a:rPr dirty="0" sz="2400">
                <a:solidFill>
                  <a:srgbClr val="00AFEF"/>
                </a:solidFill>
                <a:latin typeface="Tahoma"/>
                <a:cs typeface="Tahoma"/>
              </a:rPr>
              <a:t>	</a:t>
            </a:r>
            <a:r>
              <a:rPr dirty="0" sz="2400" spc="-20">
                <a:solidFill>
                  <a:srgbClr val="00AFEF"/>
                </a:solidFill>
                <a:latin typeface="Tahoma"/>
                <a:cs typeface="Tahoma"/>
              </a:rPr>
              <a:t>merage-</a:t>
            </a:r>
            <a:r>
              <a:rPr dirty="0" sz="2400" spc="-10">
                <a:solidFill>
                  <a:srgbClr val="00AFEF"/>
                </a:solidFill>
                <a:latin typeface="Tahoma"/>
                <a:cs typeface="Tahoma"/>
              </a:rPr>
              <a:t>1[20]</a:t>
            </a:r>
            <a:endParaRPr sz="2400">
              <a:latin typeface="Tahoma"/>
              <a:cs typeface="Tahom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8186" y="469773"/>
            <a:ext cx="12007215" cy="3683635"/>
          </a:xfrm>
          <a:prstGeom prst="rect">
            <a:avLst/>
          </a:prstGeom>
        </p:spPr>
        <p:txBody>
          <a:bodyPr wrap="square" lIns="0" tIns="122555" rIns="0" bIns="0" rtlCol="0" vert="horz">
            <a:spAutoFit/>
          </a:bodyPr>
          <a:lstStyle/>
          <a:p>
            <a:pPr marL="12700">
              <a:lnSpc>
                <a:spcPct val="100000"/>
              </a:lnSpc>
              <a:spcBef>
                <a:spcPts val="965"/>
              </a:spcBef>
              <a:tabLst>
                <a:tab pos="469900"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10">
                <a:solidFill>
                  <a:srgbClr val="E14B04"/>
                </a:solidFill>
                <a:latin typeface="黑体"/>
                <a:cs typeface="黑体"/>
              </a:rPr>
              <a:t>内外循环交换</a:t>
            </a:r>
            <a:endParaRPr sz="2400">
              <a:latin typeface="黑体"/>
              <a:cs typeface="黑体"/>
            </a:endParaRPr>
          </a:p>
          <a:p>
            <a:pPr marL="12700" marR="5080" indent="93980">
              <a:lnSpc>
                <a:spcPct val="110100"/>
              </a:lnSpc>
              <a:spcBef>
                <a:spcPts val="570"/>
              </a:spcBef>
            </a:pPr>
            <a:r>
              <a:rPr dirty="0" sz="2400">
                <a:solidFill>
                  <a:srgbClr val="E14B04"/>
                </a:solidFill>
                <a:latin typeface="黑体"/>
                <a:cs typeface="黑体"/>
              </a:rPr>
              <a:t>例如对于二维数组在内存存储时要么按行存储要么按列存储（在存储空间是连续的），</a:t>
            </a:r>
            <a:r>
              <a:rPr dirty="0" sz="2400" spc="-50">
                <a:solidFill>
                  <a:srgbClr val="E14B04"/>
                </a:solidFill>
                <a:latin typeface="黑体"/>
                <a:cs typeface="黑体"/>
              </a:rPr>
              <a:t>然</a:t>
            </a:r>
            <a:r>
              <a:rPr dirty="0" sz="2400" spc="-10">
                <a:solidFill>
                  <a:srgbClr val="E14B04"/>
                </a:solidFill>
                <a:latin typeface="黑体"/>
                <a:cs typeface="黑体"/>
              </a:rPr>
              <a:t>后按既定的方式去访问即可，否则不命中率增加（</a:t>
            </a:r>
            <a:r>
              <a:rPr dirty="0" sz="2400" spc="-15">
                <a:solidFill>
                  <a:srgbClr val="E14B04"/>
                </a:solidFill>
                <a:latin typeface="黑体"/>
                <a:cs typeface="黑体"/>
              </a:rPr>
              <a:t>例如按行存储后结果按列去访问，造成</a:t>
            </a:r>
            <a:r>
              <a:rPr dirty="0" sz="2400">
                <a:solidFill>
                  <a:srgbClr val="E14B04"/>
                </a:solidFill>
                <a:latin typeface="黑体"/>
                <a:cs typeface="黑体"/>
              </a:rPr>
              <a:t>空间上的不连续则访问不命中率增加</a:t>
            </a:r>
            <a:r>
              <a:rPr dirty="0" sz="2400" spc="-50">
                <a:solidFill>
                  <a:srgbClr val="E14B04"/>
                </a:solidFill>
                <a:latin typeface="黑体"/>
                <a:cs typeface="黑体"/>
              </a:rPr>
              <a:t>）</a:t>
            </a:r>
            <a:endParaRPr sz="2400">
              <a:latin typeface="黑体"/>
              <a:cs typeface="黑体"/>
            </a:endParaRPr>
          </a:p>
          <a:p>
            <a:pPr marL="488315">
              <a:lnSpc>
                <a:spcPct val="100000"/>
              </a:lnSpc>
              <a:spcBef>
                <a:spcPts val="865"/>
              </a:spcBef>
            </a:pPr>
            <a:r>
              <a:rPr dirty="0" sz="2400" spc="-20">
                <a:solidFill>
                  <a:srgbClr val="D50092"/>
                </a:solidFill>
                <a:latin typeface="黑体"/>
                <a:cs typeface="黑体"/>
              </a:rPr>
              <a:t>举例：</a:t>
            </a:r>
            <a:endParaRPr sz="2400">
              <a:latin typeface="黑体"/>
              <a:cs typeface="黑体"/>
            </a:endParaRPr>
          </a:p>
          <a:p>
            <a:pPr marL="1346200">
              <a:lnSpc>
                <a:spcPct val="100000"/>
              </a:lnSpc>
              <a:spcBef>
                <a:spcPts val="865"/>
              </a:spcBef>
            </a:pPr>
            <a:r>
              <a:rPr dirty="0" sz="2400">
                <a:solidFill>
                  <a:srgbClr val="40458B"/>
                </a:solidFill>
                <a:latin typeface="Tahoma"/>
                <a:cs typeface="Tahoma"/>
              </a:rPr>
              <a:t>/* </a:t>
            </a:r>
            <a:r>
              <a:rPr dirty="0" sz="2400" spc="-125">
                <a:solidFill>
                  <a:srgbClr val="40458B"/>
                </a:solidFill>
                <a:latin typeface="黑体"/>
                <a:cs typeface="黑体"/>
              </a:rPr>
              <a:t>修改前 </a:t>
            </a:r>
            <a:r>
              <a:rPr dirty="0" sz="2400" spc="-25">
                <a:solidFill>
                  <a:srgbClr val="40458B"/>
                </a:solidFill>
                <a:latin typeface="Tahoma"/>
                <a:cs typeface="Tahoma"/>
              </a:rPr>
              <a:t>*/</a:t>
            </a:r>
            <a:endParaRPr sz="2400">
              <a:latin typeface="Tahoma"/>
              <a:cs typeface="Tahoma"/>
            </a:endParaRPr>
          </a:p>
          <a:p>
            <a:pPr marL="1823085">
              <a:lnSpc>
                <a:spcPct val="100000"/>
              </a:lnSpc>
              <a:spcBef>
                <a:spcPts val="865"/>
              </a:spcBef>
              <a:tabLst>
                <a:tab pos="3749675" algn="l"/>
                <a:tab pos="5143500" algn="l"/>
              </a:tabLst>
            </a:pPr>
            <a:r>
              <a:rPr dirty="0" sz="2400">
                <a:latin typeface="Tahoma"/>
                <a:cs typeface="Tahoma"/>
              </a:rPr>
              <a:t>for</a:t>
            </a:r>
            <a:r>
              <a:rPr dirty="0" sz="2400" spc="-35">
                <a:latin typeface="Tahoma"/>
                <a:cs typeface="Tahoma"/>
              </a:rPr>
              <a:t> </a:t>
            </a:r>
            <a:r>
              <a:rPr dirty="0" sz="2400">
                <a:latin typeface="黑体"/>
                <a:cs typeface="黑体"/>
              </a:rPr>
              <a:t>（</a:t>
            </a:r>
            <a:r>
              <a:rPr dirty="0" sz="2400" spc="-459">
                <a:latin typeface="黑体"/>
                <a:cs typeface="黑体"/>
              </a:rPr>
              <a:t> </a:t>
            </a:r>
            <a:r>
              <a:rPr dirty="0" sz="2400">
                <a:solidFill>
                  <a:srgbClr val="FF09FF"/>
                </a:solidFill>
                <a:latin typeface="Tahoma"/>
                <a:cs typeface="Tahoma"/>
              </a:rPr>
              <a:t>j</a:t>
            </a:r>
            <a:r>
              <a:rPr dirty="0" sz="2400" spc="-5">
                <a:solidFill>
                  <a:srgbClr val="FF09FF"/>
                </a:solidFill>
                <a:latin typeface="Tahoma"/>
                <a:cs typeface="Tahoma"/>
              </a:rPr>
              <a:t> </a:t>
            </a:r>
            <a:r>
              <a:rPr dirty="0" sz="2400">
                <a:latin typeface="Tahoma"/>
                <a:cs typeface="Tahoma"/>
              </a:rPr>
              <a:t>= 0</a:t>
            </a:r>
            <a:r>
              <a:rPr dirty="0" sz="2400" spc="-5">
                <a:latin typeface="Tahoma"/>
                <a:cs typeface="Tahoma"/>
              </a:rPr>
              <a:t> </a:t>
            </a:r>
            <a:r>
              <a:rPr dirty="0" sz="2400" spc="-50">
                <a:latin typeface="Tahoma"/>
                <a:cs typeface="Tahoma"/>
              </a:rPr>
              <a:t>;</a:t>
            </a:r>
            <a:r>
              <a:rPr dirty="0" sz="2400">
                <a:latin typeface="Tahoma"/>
                <a:cs typeface="Tahoma"/>
              </a:rPr>
              <a:t>	j</a:t>
            </a:r>
            <a:r>
              <a:rPr dirty="0" sz="2400" spc="-25">
                <a:latin typeface="Tahoma"/>
                <a:cs typeface="Tahoma"/>
              </a:rPr>
              <a:t> </a:t>
            </a:r>
            <a:r>
              <a:rPr dirty="0" sz="2400">
                <a:latin typeface="Tahoma"/>
                <a:cs typeface="Tahoma"/>
              </a:rPr>
              <a:t>&lt;</a:t>
            </a:r>
            <a:r>
              <a:rPr dirty="0" sz="2400" spc="-15">
                <a:latin typeface="Tahoma"/>
                <a:cs typeface="Tahoma"/>
              </a:rPr>
              <a:t> </a:t>
            </a:r>
            <a:r>
              <a:rPr dirty="0" sz="2400">
                <a:latin typeface="Tahoma"/>
                <a:cs typeface="Tahoma"/>
              </a:rPr>
              <a:t>100</a:t>
            </a:r>
            <a:r>
              <a:rPr dirty="0" sz="2400" spc="-10">
                <a:latin typeface="Tahoma"/>
                <a:cs typeface="Tahoma"/>
              </a:rPr>
              <a:t> </a:t>
            </a:r>
            <a:r>
              <a:rPr dirty="0" sz="2400" spc="-50">
                <a:latin typeface="Tahoma"/>
                <a:cs typeface="Tahoma"/>
              </a:rPr>
              <a:t>;</a:t>
            </a:r>
            <a:r>
              <a:rPr dirty="0" sz="2400">
                <a:latin typeface="Tahoma"/>
                <a:cs typeface="Tahoma"/>
              </a:rPr>
              <a:t>	j</a:t>
            </a:r>
            <a:r>
              <a:rPr dirty="0" sz="2400" spc="-20">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j+1</a:t>
            </a:r>
            <a:r>
              <a:rPr dirty="0" sz="2400" spc="-40">
                <a:latin typeface="Tahoma"/>
                <a:cs typeface="Tahoma"/>
              </a:rPr>
              <a:t> </a:t>
            </a:r>
            <a:r>
              <a:rPr dirty="0" sz="2400" spc="-50">
                <a:latin typeface="黑体"/>
                <a:cs typeface="黑体"/>
              </a:rPr>
              <a:t>）</a:t>
            </a:r>
            <a:endParaRPr sz="2400">
              <a:latin typeface="黑体"/>
              <a:cs typeface="黑体"/>
            </a:endParaRPr>
          </a:p>
          <a:p>
            <a:pPr marL="2204085">
              <a:lnSpc>
                <a:spcPct val="100000"/>
              </a:lnSpc>
              <a:spcBef>
                <a:spcPts val="865"/>
              </a:spcBef>
              <a:tabLst>
                <a:tab pos="4114165" algn="l"/>
                <a:tab pos="5655945" algn="l"/>
              </a:tabLst>
            </a:pPr>
            <a:r>
              <a:rPr dirty="0" sz="2400">
                <a:latin typeface="Tahoma"/>
                <a:cs typeface="Tahoma"/>
              </a:rPr>
              <a:t>for</a:t>
            </a:r>
            <a:r>
              <a:rPr dirty="0" sz="2400" spc="-35">
                <a:latin typeface="Tahoma"/>
                <a:cs typeface="Tahoma"/>
              </a:rPr>
              <a:t> </a:t>
            </a:r>
            <a:r>
              <a:rPr dirty="0" sz="2400">
                <a:latin typeface="黑体"/>
                <a:cs typeface="黑体"/>
              </a:rPr>
              <a:t>（</a:t>
            </a:r>
            <a:r>
              <a:rPr dirty="0" sz="2400" spc="-455">
                <a:latin typeface="黑体"/>
                <a:cs typeface="黑体"/>
              </a:rPr>
              <a:t> </a:t>
            </a:r>
            <a:r>
              <a:rPr dirty="0" sz="2400">
                <a:solidFill>
                  <a:srgbClr val="FF0000"/>
                </a:solidFill>
                <a:latin typeface="Tahoma"/>
                <a:cs typeface="Tahoma"/>
              </a:rPr>
              <a:t>i </a:t>
            </a:r>
            <a:r>
              <a:rPr dirty="0" sz="2400">
                <a:latin typeface="Tahoma"/>
                <a:cs typeface="Tahoma"/>
              </a:rPr>
              <a:t>=</a:t>
            </a:r>
            <a:r>
              <a:rPr dirty="0" sz="2400" spc="-5">
                <a:latin typeface="Tahoma"/>
                <a:cs typeface="Tahoma"/>
              </a:rPr>
              <a:t> </a:t>
            </a:r>
            <a:r>
              <a:rPr dirty="0" sz="2400">
                <a:latin typeface="Tahoma"/>
                <a:cs typeface="Tahoma"/>
              </a:rPr>
              <a:t>0</a:t>
            </a:r>
            <a:r>
              <a:rPr dirty="0" sz="2400" spc="-10">
                <a:latin typeface="Tahoma"/>
                <a:cs typeface="Tahoma"/>
              </a:rPr>
              <a:t> </a:t>
            </a:r>
            <a:r>
              <a:rPr dirty="0" sz="2400" spc="-50">
                <a:latin typeface="Tahoma"/>
                <a:cs typeface="Tahoma"/>
              </a:rPr>
              <a:t>;</a:t>
            </a:r>
            <a:r>
              <a:rPr dirty="0" sz="2400">
                <a:latin typeface="Tahoma"/>
                <a:cs typeface="Tahoma"/>
              </a:rPr>
              <a:t>	i</a:t>
            </a:r>
            <a:r>
              <a:rPr dirty="0" sz="2400" spc="-30">
                <a:latin typeface="Tahoma"/>
                <a:cs typeface="Tahoma"/>
              </a:rPr>
              <a:t> </a:t>
            </a:r>
            <a:r>
              <a:rPr dirty="0" sz="2400">
                <a:latin typeface="Tahoma"/>
                <a:cs typeface="Tahoma"/>
              </a:rPr>
              <a:t>&lt;</a:t>
            </a:r>
            <a:r>
              <a:rPr dirty="0" sz="2400" spc="-35">
                <a:latin typeface="Tahoma"/>
                <a:cs typeface="Tahoma"/>
              </a:rPr>
              <a:t> </a:t>
            </a:r>
            <a:r>
              <a:rPr dirty="0" sz="2400">
                <a:latin typeface="Tahoma"/>
                <a:cs typeface="Tahoma"/>
              </a:rPr>
              <a:t>5000</a:t>
            </a:r>
            <a:r>
              <a:rPr dirty="0" sz="2400" spc="-20">
                <a:latin typeface="Tahoma"/>
                <a:cs typeface="Tahoma"/>
              </a:rPr>
              <a:t> </a:t>
            </a:r>
            <a:r>
              <a:rPr dirty="0" sz="2400" spc="-50">
                <a:latin typeface="Tahoma"/>
                <a:cs typeface="Tahoma"/>
              </a:rPr>
              <a:t>;</a:t>
            </a:r>
            <a:r>
              <a:rPr dirty="0" sz="2400">
                <a:latin typeface="Tahoma"/>
                <a:cs typeface="Tahoma"/>
              </a:rPr>
              <a:t>	i</a:t>
            </a:r>
            <a:r>
              <a:rPr dirty="0" sz="2400" spc="-20">
                <a:latin typeface="Tahoma"/>
                <a:cs typeface="Tahoma"/>
              </a:rPr>
              <a:t> </a:t>
            </a:r>
            <a:r>
              <a:rPr dirty="0" sz="2400">
                <a:latin typeface="Tahoma"/>
                <a:cs typeface="Tahoma"/>
              </a:rPr>
              <a:t>=</a:t>
            </a:r>
            <a:r>
              <a:rPr dirty="0" sz="2400" spc="-20">
                <a:latin typeface="Tahoma"/>
                <a:cs typeface="Tahoma"/>
              </a:rPr>
              <a:t> </a:t>
            </a:r>
            <a:r>
              <a:rPr dirty="0" sz="2400">
                <a:latin typeface="Tahoma"/>
                <a:cs typeface="Tahoma"/>
              </a:rPr>
              <a:t>i+1</a:t>
            </a:r>
            <a:r>
              <a:rPr dirty="0" sz="2400" spc="-15">
                <a:latin typeface="Tahoma"/>
                <a:cs typeface="Tahoma"/>
              </a:rPr>
              <a:t> </a:t>
            </a:r>
            <a:r>
              <a:rPr dirty="0" sz="2400" spc="-50">
                <a:latin typeface="黑体"/>
                <a:cs typeface="黑体"/>
              </a:rPr>
              <a:t>）</a:t>
            </a:r>
            <a:endParaRPr sz="2400">
              <a:latin typeface="黑体"/>
              <a:cs typeface="黑体"/>
            </a:endParaRPr>
          </a:p>
        </p:txBody>
      </p:sp>
      <p:sp>
        <p:nvSpPr>
          <p:cNvPr id="10" name="object 10" descr=""/>
          <p:cNvSpPr txBox="1"/>
          <p:nvPr/>
        </p:nvSpPr>
        <p:spPr>
          <a:xfrm>
            <a:off x="6304696" y="4288282"/>
            <a:ext cx="5808980" cy="330835"/>
          </a:xfrm>
          <a:prstGeom prst="rect">
            <a:avLst/>
          </a:prstGeom>
        </p:spPr>
        <p:txBody>
          <a:bodyPr wrap="square" lIns="0" tIns="12700" rIns="0" bIns="0" rtlCol="0" vert="horz">
            <a:spAutoFit/>
          </a:bodyPr>
          <a:lstStyle/>
          <a:p>
            <a:pPr marL="12700">
              <a:lnSpc>
                <a:spcPct val="100000"/>
              </a:lnSpc>
              <a:spcBef>
                <a:spcPts val="100"/>
              </a:spcBef>
            </a:pPr>
            <a:r>
              <a:rPr dirty="0" sz="2000" spc="-10">
                <a:solidFill>
                  <a:srgbClr val="FF09FF"/>
                </a:solidFill>
                <a:latin typeface="Tahoma"/>
                <a:cs typeface="Tahoma"/>
              </a:rPr>
              <a:t>//</a:t>
            </a:r>
            <a:r>
              <a:rPr dirty="0" sz="2000" spc="-20">
                <a:solidFill>
                  <a:srgbClr val="FF09FF"/>
                </a:solidFill>
                <a:latin typeface="黑体"/>
                <a:cs typeface="黑体"/>
              </a:rPr>
              <a:t>行距优先存储，如果是按列访问则需调换行列顺序</a:t>
            </a:r>
            <a:endParaRPr sz="2000">
              <a:latin typeface="黑体"/>
              <a:cs typeface="黑体"/>
            </a:endParaRPr>
          </a:p>
        </p:txBody>
      </p:sp>
      <p:sp>
        <p:nvSpPr>
          <p:cNvPr id="11" name="object 11" descr=""/>
          <p:cNvSpPr txBox="1"/>
          <p:nvPr/>
        </p:nvSpPr>
        <p:spPr>
          <a:xfrm>
            <a:off x="1125118" y="4128261"/>
            <a:ext cx="5765800" cy="2403475"/>
          </a:xfrm>
          <a:prstGeom prst="rect">
            <a:avLst/>
          </a:prstGeom>
        </p:spPr>
        <p:txBody>
          <a:bodyPr wrap="square" lIns="0" tIns="122555" rIns="0" bIns="0" rtlCol="0" vert="horz">
            <a:spAutoFit/>
          </a:bodyPr>
          <a:lstStyle/>
          <a:p>
            <a:pPr algn="ctr" marL="630555">
              <a:lnSpc>
                <a:spcPct val="100000"/>
              </a:lnSpc>
              <a:spcBef>
                <a:spcPts val="965"/>
              </a:spcBef>
            </a:pPr>
            <a:r>
              <a:rPr dirty="0" sz="2400">
                <a:latin typeface="Tahoma"/>
                <a:cs typeface="Tahoma"/>
              </a:rPr>
              <a:t>x</a:t>
            </a:r>
            <a:r>
              <a:rPr dirty="0" sz="2400" spc="-10">
                <a:latin typeface="Tahoma"/>
                <a:cs typeface="Tahoma"/>
              </a:rPr>
              <a:t> </a:t>
            </a:r>
            <a:r>
              <a:rPr dirty="0" sz="2400">
                <a:latin typeface="Tahoma"/>
                <a:cs typeface="Tahoma"/>
              </a:rPr>
              <a:t>[</a:t>
            </a:r>
            <a:r>
              <a:rPr dirty="0" sz="2400" spc="-5">
                <a:latin typeface="Tahoma"/>
                <a:cs typeface="Tahoma"/>
              </a:rPr>
              <a:t> </a:t>
            </a:r>
            <a:r>
              <a:rPr dirty="0" sz="2400">
                <a:solidFill>
                  <a:srgbClr val="FF0000"/>
                </a:solidFill>
                <a:latin typeface="Tahoma"/>
                <a:cs typeface="Tahoma"/>
              </a:rPr>
              <a:t>i</a:t>
            </a:r>
            <a:r>
              <a:rPr dirty="0" sz="2400" spc="-10">
                <a:solidFill>
                  <a:srgbClr val="FF0000"/>
                </a:solidFill>
                <a:latin typeface="Tahoma"/>
                <a:cs typeface="Tahoma"/>
              </a:rPr>
              <a:t> </a:t>
            </a:r>
            <a:r>
              <a:rPr dirty="0" sz="2400">
                <a:latin typeface="Tahoma"/>
                <a:cs typeface="Tahoma"/>
              </a:rPr>
              <a:t>][ </a:t>
            </a:r>
            <a:r>
              <a:rPr dirty="0" sz="2400">
                <a:solidFill>
                  <a:srgbClr val="FF09FF"/>
                </a:solidFill>
                <a:latin typeface="Tahoma"/>
                <a:cs typeface="Tahoma"/>
              </a:rPr>
              <a:t>j</a:t>
            </a:r>
            <a:r>
              <a:rPr dirty="0" sz="2400" spc="-25">
                <a:solidFill>
                  <a:srgbClr val="FF09FF"/>
                </a:solidFill>
                <a:latin typeface="Tahoma"/>
                <a:cs typeface="Tahoma"/>
              </a:rPr>
              <a:t> </a:t>
            </a:r>
            <a:r>
              <a:rPr dirty="0" sz="2400">
                <a:latin typeface="Tahoma"/>
                <a:cs typeface="Tahoma"/>
              </a:rPr>
              <a:t>] =</a:t>
            </a:r>
            <a:r>
              <a:rPr dirty="0" sz="2400" spc="-10">
                <a:latin typeface="Tahoma"/>
                <a:cs typeface="Tahoma"/>
              </a:rPr>
              <a:t> </a:t>
            </a:r>
            <a:r>
              <a:rPr dirty="0" sz="2400">
                <a:latin typeface="Tahoma"/>
                <a:cs typeface="Tahoma"/>
              </a:rPr>
              <a:t>2</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x</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i</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j</a:t>
            </a:r>
            <a:r>
              <a:rPr dirty="0" sz="2400" spc="5">
                <a:latin typeface="Tahoma"/>
                <a:cs typeface="Tahoma"/>
              </a:rPr>
              <a:t> </a:t>
            </a:r>
            <a:r>
              <a:rPr dirty="0" sz="2000" spc="-25">
                <a:solidFill>
                  <a:srgbClr val="FF09FF"/>
                </a:solidFill>
                <a:latin typeface="Tahoma"/>
                <a:cs typeface="Tahoma"/>
              </a:rPr>
              <a:t>];</a:t>
            </a:r>
            <a:endParaRPr sz="2000">
              <a:latin typeface="Tahoma"/>
              <a:cs typeface="Tahoma"/>
            </a:endParaRPr>
          </a:p>
          <a:p>
            <a:pPr algn="ctr" marR="4062729">
              <a:lnSpc>
                <a:spcPct val="100000"/>
              </a:lnSpc>
              <a:spcBef>
                <a:spcPts val="860"/>
              </a:spcBef>
            </a:pPr>
            <a:r>
              <a:rPr dirty="0" sz="2400">
                <a:solidFill>
                  <a:srgbClr val="40458B"/>
                </a:solidFill>
                <a:latin typeface="Tahoma"/>
                <a:cs typeface="Tahoma"/>
              </a:rPr>
              <a:t>/*</a:t>
            </a:r>
            <a:r>
              <a:rPr dirty="0" sz="2400" spc="-5">
                <a:solidFill>
                  <a:srgbClr val="40458B"/>
                </a:solidFill>
                <a:latin typeface="Tahoma"/>
                <a:cs typeface="Tahoma"/>
              </a:rPr>
              <a:t> </a:t>
            </a:r>
            <a:r>
              <a:rPr dirty="0" sz="2400" spc="-114">
                <a:solidFill>
                  <a:srgbClr val="40458B"/>
                </a:solidFill>
                <a:latin typeface="黑体"/>
                <a:cs typeface="黑体"/>
              </a:rPr>
              <a:t>修改后 </a:t>
            </a:r>
            <a:r>
              <a:rPr dirty="0" sz="2400" spc="-25">
                <a:solidFill>
                  <a:srgbClr val="40458B"/>
                </a:solidFill>
                <a:latin typeface="Tahoma"/>
                <a:cs typeface="Tahoma"/>
              </a:rPr>
              <a:t>*/</a:t>
            </a:r>
            <a:endParaRPr sz="2400">
              <a:latin typeface="Tahoma"/>
              <a:cs typeface="Tahoma"/>
            </a:endParaRPr>
          </a:p>
          <a:p>
            <a:pPr algn="ctr" marL="387985">
              <a:lnSpc>
                <a:spcPct val="100000"/>
              </a:lnSpc>
              <a:spcBef>
                <a:spcPts val="865"/>
              </a:spcBef>
              <a:tabLst>
                <a:tab pos="2298700" algn="l"/>
                <a:tab pos="3844925" algn="l"/>
              </a:tabLst>
            </a:pPr>
            <a:r>
              <a:rPr dirty="0" sz="2400">
                <a:latin typeface="Tahoma"/>
                <a:cs typeface="Tahoma"/>
              </a:rPr>
              <a:t>for</a:t>
            </a:r>
            <a:r>
              <a:rPr dirty="0" sz="2400" spc="-35">
                <a:latin typeface="Tahoma"/>
                <a:cs typeface="Tahoma"/>
              </a:rPr>
              <a:t> </a:t>
            </a:r>
            <a:r>
              <a:rPr dirty="0" sz="2400">
                <a:latin typeface="黑体"/>
                <a:cs typeface="黑体"/>
              </a:rPr>
              <a:t>（</a:t>
            </a:r>
            <a:r>
              <a:rPr dirty="0" sz="2400" spc="-459">
                <a:latin typeface="黑体"/>
                <a:cs typeface="黑体"/>
              </a:rPr>
              <a:t> </a:t>
            </a:r>
            <a:r>
              <a:rPr dirty="0" sz="2400">
                <a:solidFill>
                  <a:srgbClr val="FF0000"/>
                </a:solidFill>
                <a:latin typeface="Tahoma"/>
                <a:cs typeface="Tahoma"/>
              </a:rPr>
              <a:t>i </a:t>
            </a:r>
            <a:r>
              <a:rPr dirty="0" sz="2400">
                <a:latin typeface="Tahoma"/>
                <a:cs typeface="Tahoma"/>
              </a:rPr>
              <a:t>= 0</a:t>
            </a:r>
            <a:r>
              <a:rPr dirty="0" sz="2400" spc="-10">
                <a:latin typeface="Tahoma"/>
                <a:cs typeface="Tahoma"/>
              </a:rPr>
              <a:t> </a:t>
            </a:r>
            <a:r>
              <a:rPr dirty="0" sz="2400" spc="-60">
                <a:latin typeface="Tahoma"/>
                <a:cs typeface="Tahoma"/>
              </a:rPr>
              <a:t>;</a:t>
            </a:r>
            <a:r>
              <a:rPr dirty="0" sz="2400">
                <a:latin typeface="Tahoma"/>
                <a:cs typeface="Tahoma"/>
              </a:rPr>
              <a:t>	i</a:t>
            </a:r>
            <a:r>
              <a:rPr dirty="0" sz="2400" spc="-25">
                <a:latin typeface="Tahoma"/>
                <a:cs typeface="Tahoma"/>
              </a:rPr>
              <a:t> </a:t>
            </a:r>
            <a:r>
              <a:rPr dirty="0" sz="2400">
                <a:latin typeface="Tahoma"/>
                <a:cs typeface="Tahoma"/>
              </a:rPr>
              <a:t>&lt;</a:t>
            </a:r>
            <a:r>
              <a:rPr dirty="0" sz="2400" spc="-25">
                <a:latin typeface="Tahoma"/>
                <a:cs typeface="Tahoma"/>
              </a:rPr>
              <a:t> </a:t>
            </a:r>
            <a:r>
              <a:rPr dirty="0" sz="2400">
                <a:latin typeface="Tahoma"/>
                <a:cs typeface="Tahoma"/>
              </a:rPr>
              <a:t>5000</a:t>
            </a:r>
            <a:r>
              <a:rPr dirty="0" sz="2400" spc="-15">
                <a:latin typeface="Tahoma"/>
                <a:cs typeface="Tahoma"/>
              </a:rPr>
              <a:t> </a:t>
            </a:r>
            <a:r>
              <a:rPr dirty="0" sz="2400" spc="-50">
                <a:latin typeface="Tahoma"/>
                <a:cs typeface="Tahoma"/>
              </a:rPr>
              <a:t>;</a:t>
            </a:r>
            <a:r>
              <a:rPr dirty="0" sz="2400">
                <a:latin typeface="Tahoma"/>
                <a:cs typeface="Tahoma"/>
              </a:rPr>
              <a:t>	i</a:t>
            </a:r>
            <a:r>
              <a:rPr dirty="0" sz="2400" spc="-25">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i+1</a:t>
            </a:r>
            <a:r>
              <a:rPr dirty="0" sz="2400" spc="-55">
                <a:latin typeface="Tahoma"/>
                <a:cs typeface="Tahoma"/>
              </a:rPr>
              <a:t> </a:t>
            </a:r>
            <a:r>
              <a:rPr dirty="0" sz="2400" spc="-50">
                <a:latin typeface="黑体"/>
                <a:cs typeface="黑体"/>
              </a:rPr>
              <a:t>）</a:t>
            </a:r>
            <a:endParaRPr sz="2400">
              <a:latin typeface="黑体"/>
              <a:cs typeface="黑体"/>
            </a:endParaRPr>
          </a:p>
          <a:p>
            <a:pPr algn="ctr" marL="1048385">
              <a:lnSpc>
                <a:spcPct val="100000"/>
              </a:lnSpc>
              <a:spcBef>
                <a:spcPts val="865"/>
              </a:spcBef>
              <a:tabLst>
                <a:tab pos="2973705" algn="l"/>
                <a:tab pos="4365625" algn="l"/>
              </a:tabLst>
            </a:pPr>
            <a:r>
              <a:rPr dirty="0" sz="2400">
                <a:latin typeface="Tahoma"/>
                <a:cs typeface="Tahoma"/>
              </a:rPr>
              <a:t>for</a:t>
            </a:r>
            <a:r>
              <a:rPr dirty="0" sz="2400" spc="-35">
                <a:latin typeface="Tahoma"/>
                <a:cs typeface="Tahoma"/>
              </a:rPr>
              <a:t> </a:t>
            </a:r>
            <a:r>
              <a:rPr dirty="0" sz="2400">
                <a:latin typeface="黑体"/>
                <a:cs typeface="黑体"/>
              </a:rPr>
              <a:t>（</a:t>
            </a:r>
            <a:r>
              <a:rPr dirty="0" sz="2400" spc="-455">
                <a:latin typeface="黑体"/>
                <a:cs typeface="黑体"/>
              </a:rPr>
              <a:t> </a:t>
            </a:r>
            <a:r>
              <a:rPr dirty="0" sz="2400">
                <a:solidFill>
                  <a:srgbClr val="FF09FF"/>
                </a:solidFill>
                <a:latin typeface="Tahoma"/>
                <a:cs typeface="Tahoma"/>
              </a:rPr>
              <a:t>j</a:t>
            </a:r>
            <a:r>
              <a:rPr dirty="0" sz="2400" spc="-5">
                <a:solidFill>
                  <a:srgbClr val="FF09FF"/>
                </a:solidFill>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0</a:t>
            </a:r>
            <a:r>
              <a:rPr dirty="0" sz="2400" spc="-5">
                <a:latin typeface="Tahoma"/>
                <a:cs typeface="Tahoma"/>
              </a:rPr>
              <a:t> </a:t>
            </a:r>
            <a:r>
              <a:rPr dirty="0" sz="2400" spc="-50">
                <a:latin typeface="Tahoma"/>
                <a:cs typeface="Tahoma"/>
              </a:rPr>
              <a:t>;</a:t>
            </a:r>
            <a:r>
              <a:rPr dirty="0" sz="2400">
                <a:latin typeface="Tahoma"/>
                <a:cs typeface="Tahoma"/>
              </a:rPr>
              <a:t>	j</a:t>
            </a:r>
            <a:r>
              <a:rPr dirty="0" sz="2400" spc="-40">
                <a:latin typeface="Tahoma"/>
                <a:cs typeface="Tahoma"/>
              </a:rPr>
              <a:t> </a:t>
            </a:r>
            <a:r>
              <a:rPr dirty="0" sz="2400">
                <a:latin typeface="Tahoma"/>
                <a:cs typeface="Tahoma"/>
              </a:rPr>
              <a:t>&lt;</a:t>
            </a:r>
            <a:r>
              <a:rPr dirty="0" sz="2400" spc="-15">
                <a:latin typeface="Tahoma"/>
                <a:cs typeface="Tahoma"/>
              </a:rPr>
              <a:t> </a:t>
            </a:r>
            <a:r>
              <a:rPr dirty="0" sz="2400">
                <a:latin typeface="Tahoma"/>
                <a:cs typeface="Tahoma"/>
              </a:rPr>
              <a:t>100</a:t>
            </a:r>
            <a:r>
              <a:rPr dirty="0" sz="2400" spc="-15">
                <a:latin typeface="Tahoma"/>
                <a:cs typeface="Tahoma"/>
              </a:rPr>
              <a:t> </a:t>
            </a:r>
            <a:r>
              <a:rPr dirty="0" sz="2400" spc="-50">
                <a:latin typeface="Tahoma"/>
                <a:cs typeface="Tahoma"/>
              </a:rPr>
              <a:t>;</a:t>
            </a:r>
            <a:r>
              <a:rPr dirty="0" sz="2400">
                <a:latin typeface="Tahoma"/>
                <a:cs typeface="Tahoma"/>
              </a:rPr>
              <a:t>	j</a:t>
            </a:r>
            <a:r>
              <a:rPr dirty="0" sz="2400" spc="-35">
                <a:latin typeface="Tahoma"/>
                <a:cs typeface="Tahoma"/>
              </a:rPr>
              <a:t> </a:t>
            </a:r>
            <a:r>
              <a:rPr dirty="0" sz="2400">
                <a:latin typeface="Tahoma"/>
                <a:cs typeface="Tahoma"/>
              </a:rPr>
              <a:t>=</a:t>
            </a:r>
            <a:r>
              <a:rPr dirty="0" sz="2400" spc="-15">
                <a:latin typeface="Tahoma"/>
                <a:cs typeface="Tahoma"/>
              </a:rPr>
              <a:t> </a:t>
            </a:r>
            <a:r>
              <a:rPr dirty="0" sz="2400">
                <a:latin typeface="Tahoma"/>
                <a:cs typeface="Tahoma"/>
              </a:rPr>
              <a:t>j+1 </a:t>
            </a:r>
            <a:r>
              <a:rPr dirty="0" sz="2400" spc="-50">
                <a:latin typeface="黑体"/>
                <a:cs typeface="黑体"/>
              </a:rPr>
              <a:t>）</a:t>
            </a:r>
            <a:endParaRPr sz="2400">
              <a:latin typeface="黑体"/>
              <a:cs typeface="黑体"/>
            </a:endParaRPr>
          </a:p>
          <a:p>
            <a:pPr algn="ctr" marL="667385">
              <a:lnSpc>
                <a:spcPct val="100000"/>
              </a:lnSpc>
              <a:spcBef>
                <a:spcPts val="865"/>
              </a:spcBef>
            </a:pPr>
            <a:r>
              <a:rPr dirty="0" sz="2400">
                <a:latin typeface="Tahoma"/>
                <a:cs typeface="Tahoma"/>
              </a:rPr>
              <a:t>x</a:t>
            </a:r>
            <a:r>
              <a:rPr dirty="0" sz="2400" spc="-10">
                <a:latin typeface="Tahoma"/>
                <a:cs typeface="Tahoma"/>
              </a:rPr>
              <a:t> </a:t>
            </a:r>
            <a:r>
              <a:rPr dirty="0" sz="2400">
                <a:latin typeface="Tahoma"/>
                <a:cs typeface="Tahoma"/>
              </a:rPr>
              <a:t>[</a:t>
            </a:r>
            <a:r>
              <a:rPr dirty="0" sz="2400" spc="-5">
                <a:latin typeface="Tahoma"/>
                <a:cs typeface="Tahoma"/>
              </a:rPr>
              <a:t> </a:t>
            </a:r>
            <a:r>
              <a:rPr dirty="0" sz="2400">
                <a:solidFill>
                  <a:srgbClr val="FF0000"/>
                </a:solidFill>
                <a:latin typeface="Tahoma"/>
                <a:cs typeface="Tahoma"/>
              </a:rPr>
              <a:t>i</a:t>
            </a:r>
            <a:r>
              <a:rPr dirty="0" sz="2400" spc="-10">
                <a:solidFill>
                  <a:srgbClr val="FF0000"/>
                </a:solidFill>
                <a:latin typeface="Tahoma"/>
                <a:cs typeface="Tahoma"/>
              </a:rPr>
              <a:t> </a:t>
            </a:r>
            <a:r>
              <a:rPr dirty="0" sz="2400">
                <a:latin typeface="Tahoma"/>
                <a:cs typeface="Tahoma"/>
              </a:rPr>
              <a:t>][ </a:t>
            </a:r>
            <a:r>
              <a:rPr dirty="0" sz="2400">
                <a:solidFill>
                  <a:srgbClr val="FF09FF"/>
                </a:solidFill>
                <a:latin typeface="Tahoma"/>
                <a:cs typeface="Tahoma"/>
              </a:rPr>
              <a:t>j</a:t>
            </a:r>
            <a:r>
              <a:rPr dirty="0" sz="2400" spc="-25">
                <a:solidFill>
                  <a:srgbClr val="FF09FF"/>
                </a:solidFill>
                <a:latin typeface="Tahoma"/>
                <a:cs typeface="Tahoma"/>
              </a:rPr>
              <a:t> </a:t>
            </a:r>
            <a:r>
              <a:rPr dirty="0" sz="2400">
                <a:latin typeface="Tahoma"/>
                <a:cs typeface="Tahoma"/>
              </a:rPr>
              <a:t>] =</a:t>
            </a:r>
            <a:r>
              <a:rPr dirty="0" sz="2400" spc="-10">
                <a:latin typeface="Tahoma"/>
                <a:cs typeface="Tahoma"/>
              </a:rPr>
              <a:t> </a:t>
            </a:r>
            <a:r>
              <a:rPr dirty="0" sz="2400">
                <a:latin typeface="Tahoma"/>
                <a:cs typeface="Tahoma"/>
              </a:rPr>
              <a:t>2</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x</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i</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j</a:t>
            </a:r>
            <a:r>
              <a:rPr dirty="0" sz="2400" spc="-5">
                <a:latin typeface="Tahoma"/>
                <a:cs typeface="Tahoma"/>
              </a:rPr>
              <a:t> </a:t>
            </a:r>
            <a:r>
              <a:rPr dirty="0" sz="2400" spc="-25">
                <a:latin typeface="Tahoma"/>
                <a:cs typeface="Tahoma"/>
              </a:rPr>
              <a:t>];</a:t>
            </a:r>
            <a:endParaRPr sz="2400">
              <a:latin typeface="Tahoma"/>
              <a:cs typeface="Tahoma"/>
            </a:endParaRPr>
          </a:p>
        </p:txBody>
      </p:sp>
      <p:sp>
        <p:nvSpPr>
          <p:cNvPr id="12" name="object 12" descr=""/>
          <p:cNvSpPr txBox="1"/>
          <p:nvPr/>
        </p:nvSpPr>
        <p:spPr>
          <a:xfrm>
            <a:off x="6866635" y="6140297"/>
            <a:ext cx="421957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FF09FF"/>
                </a:solidFill>
                <a:latin typeface="Tahoma"/>
                <a:cs typeface="Tahoma"/>
              </a:rPr>
              <a:t>//</a:t>
            </a:r>
            <a:r>
              <a:rPr dirty="0" sz="2400" spc="-5">
                <a:solidFill>
                  <a:srgbClr val="FF09FF"/>
                </a:solidFill>
                <a:latin typeface="黑体"/>
                <a:cs typeface="黑体"/>
              </a:rPr>
              <a:t>优先访问列顺序，失效率降低</a:t>
            </a:r>
            <a:endParaRPr sz="2400">
              <a:latin typeface="黑体"/>
              <a:cs typeface="黑体"/>
            </a:endParaRPr>
          </a:p>
        </p:txBody>
      </p:sp>
      <p:sp>
        <p:nvSpPr>
          <p:cNvPr id="13" name="object 13"/>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pic>
        <p:nvPicPr>
          <p:cNvPr id="10" name="object 10" descr=""/>
          <p:cNvPicPr/>
          <p:nvPr/>
        </p:nvPicPr>
        <p:blipFill>
          <a:blip r:embed="rId3" cstate="print"/>
          <a:stretch>
            <a:fillRect/>
          </a:stretch>
        </p:blipFill>
        <p:spPr>
          <a:xfrm>
            <a:off x="0" y="836675"/>
            <a:ext cx="8688323" cy="5383149"/>
          </a:xfrm>
          <a:prstGeom prst="rect">
            <a:avLst/>
          </a:prstGeom>
        </p:spPr>
      </p:pic>
      <p:sp>
        <p:nvSpPr>
          <p:cNvPr id="11" name="object 11" descr=""/>
          <p:cNvSpPr txBox="1"/>
          <p:nvPr/>
        </p:nvSpPr>
        <p:spPr>
          <a:xfrm>
            <a:off x="7831328" y="685927"/>
            <a:ext cx="4121150" cy="3244850"/>
          </a:xfrm>
          <a:prstGeom prst="rect">
            <a:avLst/>
          </a:prstGeom>
        </p:spPr>
        <p:txBody>
          <a:bodyPr wrap="square" lIns="0" tIns="48895" rIns="0" bIns="0" rtlCol="0" vert="horz">
            <a:spAutoFit/>
          </a:bodyPr>
          <a:lstStyle/>
          <a:p>
            <a:pPr marL="12700">
              <a:lnSpc>
                <a:spcPct val="100000"/>
              </a:lnSpc>
              <a:spcBef>
                <a:spcPts val="385"/>
              </a:spcBef>
            </a:pPr>
            <a:r>
              <a:rPr dirty="0" sz="2400" spc="-15">
                <a:solidFill>
                  <a:srgbClr val="40458B"/>
                </a:solidFill>
                <a:latin typeface="黑体"/>
                <a:cs typeface="黑体"/>
              </a:rPr>
              <a:t>循环融合</a:t>
            </a:r>
            <a:endParaRPr sz="2400">
              <a:latin typeface="黑体"/>
              <a:cs typeface="黑体"/>
            </a:endParaRPr>
          </a:p>
          <a:p>
            <a:pPr marL="355600" marR="5080" indent="-343535">
              <a:lnSpc>
                <a:spcPct val="110000"/>
              </a:lnSpc>
              <a:buFont typeface="Wingdings"/>
              <a:buChar char=""/>
              <a:tabLst>
                <a:tab pos="355600" algn="l"/>
                <a:tab pos="450215" algn="l"/>
              </a:tabLst>
            </a:pPr>
            <a:r>
              <a:rPr dirty="0" sz="2400">
                <a:solidFill>
                  <a:srgbClr val="006FC0"/>
                </a:solidFill>
                <a:latin typeface="Times New Roman"/>
                <a:cs typeface="Times New Roman"/>
              </a:rPr>
              <a:t>	</a:t>
            </a:r>
            <a:r>
              <a:rPr dirty="0" sz="2400" spc="-5">
                <a:solidFill>
                  <a:srgbClr val="40458B"/>
                </a:solidFill>
                <a:latin typeface="黑体"/>
                <a:cs typeface="黑体"/>
              </a:rPr>
              <a:t>若两段融合同用一组数据，在使用过程中第一个循环使用后，该数据被置换出去</a:t>
            </a:r>
            <a:endParaRPr sz="2400">
              <a:latin typeface="黑体"/>
              <a:cs typeface="黑体"/>
            </a:endParaRPr>
          </a:p>
          <a:p>
            <a:pPr marL="355600" marR="99060" indent="-343535">
              <a:lnSpc>
                <a:spcPct val="110000"/>
              </a:lnSpc>
              <a:buClr>
                <a:srgbClr val="006FC0"/>
              </a:buClr>
              <a:buFont typeface="Wingdings"/>
              <a:buChar char=""/>
              <a:tabLst>
                <a:tab pos="355600" algn="l"/>
              </a:tabLst>
            </a:pPr>
            <a:r>
              <a:rPr dirty="0" sz="2400" spc="-5">
                <a:solidFill>
                  <a:srgbClr val="40458B"/>
                </a:solidFill>
                <a:latin typeface="黑体"/>
                <a:cs typeface="黑体"/>
              </a:rPr>
              <a:t>当第二个循环使用时，未命</a:t>
            </a:r>
            <a:r>
              <a:rPr dirty="0" sz="2400" spc="-10">
                <a:solidFill>
                  <a:srgbClr val="40458B"/>
                </a:solidFill>
                <a:latin typeface="黑体"/>
                <a:cs typeface="黑体"/>
              </a:rPr>
              <a:t>中，需要再调进来</a:t>
            </a:r>
            <a:endParaRPr sz="2400">
              <a:latin typeface="黑体"/>
              <a:cs typeface="黑体"/>
            </a:endParaRPr>
          </a:p>
          <a:p>
            <a:pPr marL="354965" indent="-342265">
              <a:lnSpc>
                <a:spcPct val="100000"/>
              </a:lnSpc>
              <a:spcBef>
                <a:spcPts val="290"/>
              </a:spcBef>
              <a:buClr>
                <a:srgbClr val="006FC0"/>
              </a:buClr>
              <a:buFont typeface="Wingdings"/>
              <a:buChar char=""/>
              <a:tabLst>
                <a:tab pos="354965" algn="l"/>
              </a:tabLst>
            </a:pPr>
            <a:r>
              <a:rPr dirty="0" sz="2400" spc="-10">
                <a:solidFill>
                  <a:srgbClr val="FF0000"/>
                </a:solidFill>
                <a:latin typeface="黑体"/>
                <a:cs typeface="黑体"/>
              </a:rPr>
              <a:t>解决方法</a:t>
            </a:r>
            <a:r>
              <a:rPr dirty="0" sz="2400" spc="-20">
                <a:solidFill>
                  <a:srgbClr val="40458B"/>
                </a:solidFill>
                <a:latin typeface="黑体"/>
                <a:cs typeface="黑体"/>
              </a:rPr>
              <a:t>：将两个循环合并</a:t>
            </a:r>
            <a:endParaRPr sz="2400">
              <a:latin typeface="黑体"/>
              <a:cs typeface="黑体"/>
            </a:endParaRPr>
          </a:p>
          <a:p>
            <a:pPr marL="355600">
              <a:lnSpc>
                <a:spcPct val="100000"/>
              </a:lnSpc>
              <a:spcBef>
                <a:spcPts val="290"/>
              </a:spcBef>
            </a:pPr>
            <a:r>
              <a:rPr dirty="0" sz="2400" spc="-5">
                <a:solidFill>
                  <a:srgbClr val="40458B"/>
                </a:solidFill>
                <a:latin typeface="黑体"/>
                <a:cs typeface="黑体"/>
              </a:rPr>
              <a:t>一个循环，降低不命中率</a:t>
            </a:r>
            <a:endParaRPr sz="2400">
              <a:latin typeface="黑体"/>
              <a:cs typeface="黑体"/>
            </a:endParaRPr>
          </a:p>
        </p:txBody>
      </p:sp>
      <p:sp>
        <p:nvSpPr>
          <p:cNvPr id="12" name="object 12" descr=""/>
          <p:cNvSpPr/>
          <p:nvPr/>
        </p:nvSpPr>
        <p:spPr>
          <a:xfrm>
            <a:off x="2424176" y="2349500"/>
            <a:ext cx="5183505" cy="3527425"/>
          </a:xfrm>
          <a:custGeom>
            <a:avLst/>
            <a:gdLst/>
            <a:ahLst/>
            <a:cxnLst/>
            <a:rect l="l" t="t" r="r" b="b"/>
            <a:pathLst>
              <a:path w="5183505" h="3527425">
                <a:moveTo>
                  <a:pt x="0" y="1611249"/>
                </a:moveTo>
                <a:lnTo>
                  <a:pt x="5111750" y="1611249"/>
                </a:lnTo>
                <a:lnTo>
                  <a:pt x="5111750" y="1179449"/>
                </a:lnTo>
                <a:lnTo>
                  <a:pt x="0" y="1179449"/>
                </a:lnTo>
                <a:lnTo>
                  <a:pt x="0" y="1611249"/>
                </a:lnTo>
                <a:close/>
              </a:path>
              <a:path w="5183505" h="3527425">
                <a:moveTo>
                  <a:pt x="0" y="431800"/>
                </a:moveTo>
                <a:lnTo>
                  <a:pt x="5111750" y="431800"/>
                </a:lnTo>
                <a:lnTo>
                  <a:pt x="5111750" y="0"/>
                </a:lnTo>
                <a:lnTo>
                  <a:pt x="0" y="0"/>
                </a:lnTo>
                <a:lnTo>
                  <a:pt x="0" y="431800"/>
                </a:lnTo>
                <a:close/>
              </a:path>
              <a:path w="5183505" h="3527425">
                <a:moveTo>
                  <a:pt x="71374" y="3527425"/>
                </a:moveTo>
                <a:lnTo>
                  <a:pt x="5183124" y="3527425"/>
                </a:lnTo>
                <a:lnTo>
                  <a:pt x="5183124" y="2735262"/>
                </a:lnTo>
                <a:lnTo>
                  <a:pt x="71374" y="2735262"/>
                </a:lnTo>
                <a:lnTo>
                  <a:pt x="71374" y="3527425"/>
                </a:lnTo>
                <a:close/>
              </a:path>
            </a:pathLst>
          </a:custGeom>
          <a:ln w="12700">
            <a:solidFill>
              <a:srgbClr val="FF0000"/>
            </a:solidFill>
          </a:ln>
        </p:spPr>
        <p:txBody>
          <a:bodyPr wrap="square" lIns="0" tIns="0" rIns="0" bIns="0" rtlCol="0"/>
          <a:lstStyle/>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6039" y="721858"/>
            <a:ext cx="12076430" cy="5948680"/>
          </a:xfrm>
          <a:prstGeom prst="rect">
            <a:avLst/>
          </a:prstGeom>
        </p:spPr>
        <p:txBody>
          <a:bodyPr wrap="square" lIns="0" tIns="159385" rIns="0" bIns="0" rtlCol="0" vert="horz">
            <a:spAutoFit/>
          </a:bodyPr>
          <a:lstStyle/>
          <a:p>
            <a:pPr marL="25400">
              <a:lnSpc>
                <a:spcPct val="100000"/>
              </a:lnSpc>
              <a:spcBef>
                <a:spcPts val="1255"/>
              </a:spcBef>
            </a:pPr>
            <a:r>
              <a:rPr dirty="0" sz="2400" spc="-25">
                <a:solidFill>
                  <a:srgbClr val="E14B04"/>
                </a:solidFill>
                <a:latin typeface="Tahoma"/>
                <a:cs typeface="Tahoma"/>
              </a:rPr>
              <a:t>4</a:t>
            </a:r>
            <a:r>
              <a:rPr dirty="0" sz="2400" spc="-25">
                <a:solidFill>
                  <a:srgbClr val="E14B04"/>
                </a:solidFill>
                <a:latin typeface="黑体"/>
                <a:cs typeface="黑体"/>
              </a:rPr>
              <a:t>、分块</a:t>
            </a:r>
            <a:endParaRPr sz="2400">
              <a:latin typeface="黑体"/>
              <a:cs typeface="黑体"/>
            </a:endParaRPr>
          </a:p>
          <a:p>
            <a:pPr marL="1111885" marR="17780" indent="-457834">
              <a:lnSpc>
                <a:spcPct val="120000"/>
              </a:lnSpc>
              <a:spcBef>
                <a:spcPts val="580"/>
              </a:spcBef>
            </a:pPr>
            <a:r>
              <a:rPr dirty="0" sz="2400">
                <a:solidFill>
                  <a:srgbClr val="40458B"/>
                </a:solidFill>
                <a:latin typeface="黑体"/>
                <a:cs typeface="黑体"/>
              </a:rPr>
              <a:t>把对数组的整行或整列访问改为按块进行。</a:t>
            </a:r>
            <a:r>
              <a:rPr dirty="0" sz="2400" spc="-10">
                <a:solidFill>
                  <a:srgbClr val="40458B"/>
                </a:solidFill>
                <a:latin typeface="Tahoma"/>
                <a:cs typeface="Tahoma"/>
              </a:rPr>
              <a:t>(</a:t>
            </a:r>
            <a:r>
              <a:rPr dirty="0" sz="2400" spc="-5">
                <a:solidFill>
                  <a:srgbClr val="40458B"/>
                </a:solidFill>
                <a:latin typeface="黑体"/>
                <a:cs typeface="黑体"/>
              </a:rPr>
              <a:t>当矩阵或数据特别大时，存放在某一个块</a:t>
            </a:r>
            <a:r>
              <a:rPr dirty="0" sz="2400">
                <a:solidFill>
                  <a:srgbClr val="40458B"/>
                </a:solidFill>
                <a:latin typeface="黑体"/>
                <a:cs typeface="黑体"/>
              </a:rPr>
              <a:t>比较困难，运算时将其分成小块进行，这样按行或者按列访问皆可</a:t>
            </a:r>
            <a:r>
              <a:rPr dirty="0" sz="2400" spc="-50">
                <a:solidFill>
                  <a:srgbClr val="40458B"/>
                </a:solidFill>
                <a:latin typeface="黑体"/>
                <a:cs typeface="黑体"/>
              </a:rPr>
              <a:t>）</a:t>
            </a:r>
            <a:endParaRPr sz="2400">
              <a:latin typeface="黑体"/>
              <a:cs typeface="黑体"/>
            </a:endParaRPr>
          </a:p>
          <a:p>
            <a:pPr marL="749300">
              <a:lnSpc>
                <a:spcPct val="100000"/>
              </a:lnSpc>
              <a:spcBef>
                <a:spcPts val="1150"/>
              </a:spcBef>
              <a:tabLst>
                <a:tab pos="1223010" algn="l"/>
              </a:tabLst>
            </a:pPr>
            <a:r>
              <a:rPr dirty="0" sz="2400" spc="-25">
                <a:solidFill>
                  <a:srgbClr val="40458B"/>
                </a:solidFill>
                <a:latin typeface="Tahoma"/>
                <a:cs typeface="Tahoma"/>
              </a:rPr>
              <a:t>/*</a:t>
            </a:r>
            <a:r>
              <a:rPr dirty="0" sz="2400">
                <a:solidFill>
                  <a:srgbClr val="40458B"/>
                </a:solidFill>
                <a:latin typeface="Tahoma"/>
                <a:cs typeface="Tahoma"/>
              </a:rPr>
              <a:t>	</a:t>
            </a:r>
            <a:r>
              <a:rPr dirty="0" sz="2400" spc="65">
                <a:solidFill>
                  <a:srgbClr val="40458B"/>
                </a:solidFill>
                <a:latin typeface="黑体"/>
                <a:cs typeface="黑体"/>
              </a:rPr>
              <a:t>修改前 </a:t>
            </a:r>
            <a:r>
              <a:rPr dirty="0" sz="2400" spc="-35">
                <a:solidFill>
                  <a:srgbClr val="40458B"/>
                </a:solidFill>
                <a:latin typeface="Tahoma"/>
                <a:cs typeface="Tahoma"/>
              </a:rPr>
              <a:t>*/</a:t>
            </a:r>
            <a:endParaRPr sz="2400">
              <a:latin typeface="Tahoma"/>
              <a:cs typeface="Tahoma"/>
            </a:endParaRPr>
          </a:p>
          <a:p>
            <a:pPr marL="1607185">
              <a:lnSpc>
                <a:spcPct val="100000"/>
              </a:lnSpc>
              <a:spcBef>
                <a:spcPts val="390"/>
              </a:spcBef>
              <a:tabLst>
                <a:tab pos="3422015" algn="l"/>
                <a:tab pos="4215765" algn="l"/>
              </a:tabLst>
            </a:pPr>
            <a:r>
              <a:rPr dirty="0" sz="2400">
                <a:latin typeface="Tahoma"/>
                <a:cs typeface="Tahoma"/>
              </a:rPr>
              <a:t>for</a:t>
            </a:r>
            <a:r>
              <a:rPr dirty="0" sz="2400" spc="-30">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i</a:t>
            </a:r>
            <a:r>
              <a:rPr dirty="0" sz="2400" spc="-5">
                <a:latin typeface="Tahoma"/>
                <a:cs typeface="Tahoma"/>
              </a:rPr>
              <a:t> </a:t>
            </a:r>
            <a:r>
              <a:rPr dirty="0" sz="2400">
                <a:latin typeface="Tahoma"/>
                <a:cs typeface="Tahoma"/>
              </a:rPr>
              <a:t>=</a:t>
            </a:r>
            <a:r>
              <a:rPr dirty="0" sz="2400" spc="-10">
                <a:latin typeface="Tahoma"/>
                <a:cs typeface="Tahoma"/>
              </a:rPr>
              <a:t> </a:t>
            </a:r>
            <a:r>
              <a:rPr dirty="0" sz="2400" spc="-25">
                <a:latin typeface="Tahoma"/>
                <a:cs typeface="Tahoma"/>
              </a:rPr>
              <a:t>0;</a:t>
            </a:r>
            <a:r>
              <a:rPr dirty="0" sz="2400">
                <a:latin typeface="Tahoma"/>
                <a:cs typeface="Tahoma"/>
              </a:rPr>
              <a:t>	</a:t>
            </a:r>
            <a:r>
              <a:rPr dirty="0" sz="2400" spc="-20">
                <a:latin typeface="Tahoma"/>
                <a:cs typeface="Tahoma"/>
              </a:rPr>
              <a:t>i&lt;N;</a:t>
            </a:r>
            <a:r>
              <a:rPr dirty="0" sz="2400">
                <a:latin typeface="Tahoma"/>
                <a:cs typeface="Tahoma"/>
              </a:rPr>
              <a:t>	i</a:t>
            </a:r>
            <a:r>
              <a:rPr dirty="0" sz="2400" spc="-15">
                <a:latin typeface="Tahoma"/>
                <a:cs typeface="Tahoma"/>
              </a:rPr>
              <a:t> </a:t>
            </a:r>
            <a:r>
              <a:rPr dirty="0" sz="2400">
                <a:latin typeface="Tahoma"/>
                <a:cs typeface="Tahoma"/>
              </a:rPr>
              <a:t>=</a:t>
            </a:r>
            <a:r>
              <a:rPr dirty="0" sz="2400" spc="-30">
                <a:latin typeface="Tahoma"/>
                <a:cs typeface="Tahoma"/>
              </a:rPr>
              <a:t> </a:t>
            </a:r>
            <a:r>
              <a:rPr dirty="0" sz="2400">
                <a:latin typeface="Tahoma"/>
                <a:cs typeface="Tahoma"/>
              </a:rPr>
              <a:t>i+1</a:t>
            </a:r>
            <a:r>
              <a:rPr dirty="0" sz="2400" spc="-5">
                <a:latin typeface="Tahoma"/>
                <a:cs typeface="Tahoma"/>
              </a:rPr>
              <a:t> </a:t>
            </a:r>
            <a:r>
              <a:rPr dirty="0" sz="2400" spc="-50">
                <a:latin typeface="黑体"/>
                <a:cs typeface="黑体"/>
              </a:rPr>
              <a:t>）</a:t>
            </a:r>
            <a:endParaRPr sz="2400">
              <a:latin typeface="黑体"/>
              <a:cs typeface="黑体"/>
            </a:endParaRPr>
          </a:p>
          <a:p>
            <a:pPr marL="2082800" marR="6014720" indent="-475615">
              <a:lnSpc>
                <a:spcPts val="2870"/>
              </a:lnSpc>
              <a:spcBef>
                <a:spcPts val="100"/>
              </a:spcBef>
              <a:tabLst>
                <a:tab pos="3438525" algn="l"/>
                <a:tab pos="4437380" algn="l"/>
              </a:tabLst>
            </a:pPr>
            <a:r>
              <a:rPr dirty="0" sz="2400">
                <a:latin typeface="Tahoma"/>
                <a:cs typeface="Tahoma"/>
              </a:rPr>
              <a:t>for</a:t>
            </a:r>
            <a:r>
              <a:rPr dirty="0" sz="2400" spc="-30">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j =</a:t>
            </a:r>
            <a:r>
              <a:rPr dirty="0" sz="2400" spc="-5">
                <a:latin typeface="Tahoma"/>
                <a:cs typeface="Tahoma"/>
              </a:rPr>
              <a:t> </a:t>
            </a:r>
            <a:r>
              <a:rPr dirty="0" sz="2400" spc="-25">
                <a:latin typeface="Tahoma"/>
                <a:cs typeface="Tahoma"/>
              </a:rPr>
              <a:t>0;</a:t>
            </a:r>
            <a:r>
              <a:rPr dirty="0" sz="2400">
                <a:latin typeface="Tahoma"/>
                <a:cs typeface="Tahoma"/>
              </a:rPr>
              <a:t>	j</a:t>
            </a:r>
            <a:r>
              <a:rPr dirty="0" sz="2400" spc="-20">
                <a:latin typeface="Tahoma"/>
                <a:cs typeface="Tahoma"/>
              </a:rPr>
              <a:t> </a:t>
            </a:r>
            <a:r>
              <a:rPr dirty="0" sz="2400">
                <a:latin typeface="Tahoma"/>
                <a:cs typeface="Tahoma"/>
              </a:rPr>
              <a:t>&lt;</a:t>
            </a:r>
            <a:r>
              <a:rPr dirty="0" sz="2400" spc="-5">
                <a:latin typeface="Tahoma"/>
                <a:cs typeface="Tahoma"/>
              </a:rPr>
              <a:t> </a:t>
            </a:r>
            <a:r>
              <a:rPr dirty="0" sz="2400" spc="-25">
                <a:latin typeface="Tahoma"/>
                <a:cs typeface="Tahoma"/>
              </a:rPr>
              <a:t>N;</a:t>
            </a:r>
            <a:r>
              <a:rPr dirty="0" sz="2400">
                <a:latin typeface="Tahoma"/>
                <a:cs typeface="Tahoma"/>
              </a:rPr>
              <a:t>	j</a:t>
            </a:r>
            <a:r>
              <a:rPr dirty="0" sz="2400" spc="-30">
                <a:latin typeface="Tahoma"/>
                <a:cs typeface="Tahoma"/>
              </a:rPr>
              <a:t> </a:t>
            </a:r>
            <a:r>
              <a:rPr dirty="0" sz="2400">
                <a:latin typeface="Tahoma"/>
                <a:cs typeface="Tahoma"/>
              </a:rPr>
              <a:t>=</a:t>
            </a:r>
            <a:r>
              <a:rPr dirty="0" sz="2400" spc="-15">
                <a:latin typeface="Tahoma"/>
                <a:cs typeface="Tahoma"/>
              </a:rPr>
              <a:t> </a:t>
            </a:r>
            <a:r>
              <a:rPr dirty="0" sz="2400">
                <a:latin typeface="Tahoma"/>
                <a:cs typeface="Tahoma"/>
              </a:rPr>
              <a:t>j+1</a:t>
            </a:r>
            <a:r>
              <a:rPr dirty="0" sz="2400" spc="-5">
                <a:latin typeface="Tahoma"/>
                <a:cs typeface="Tahoma"/>
              </a:rPr>
              <a:t> </a:t>
            </a:r>
            <a:r>
              <a:rPr dirty="0" sz="2400">
                <a:latin typeface="黑体"/>
                <a:cs typeface="黑体"/>
              </a:rPr>
              <a:t>）</a:t>
            </a:r>
            <a:r>
              <a:rPr dirty="0" sz="2400" spc="-445">
                <a:latin typeface="黑体"/>
                <a:cs typeface="黑体"/>
              </a:rPr>
              <a:t> </a:t>
            </a:r>
            <a:r>
              <a:rPr dirty="0" sz="2400" spc="-50">
                <a:latin typeface="Tahoma"/>
                <a:cs typeface="Tahoma"/>
              </a:rPr>
              <a:t>{ </a:t>
            </a:r>
            <a:r>
              <a:rPr dirty="0" sz="2400">
                <a:latin typeface="Tahoma"/>
                <a:cs typeface="Tahoma"/>
              </a:rPr>
              <a:t>r</a:t>
            </a:r>
            <a:r>
              <a:rPr dirty="0" sz="2400" spc="-10">
                <a:latin typeface="Tahoma"/>
                <a:cs typeface="Tahoma"/>
              </a:rPr>
              <a:t> </a:t>
            </a:r>
            <a:r>
              <a:rPr dirty="0" sz="2400">
                <a:latin typeface="Tahoma"/>
                <a:cs typeface="Tahoma"/>
              </a:rPr>
              <a:t>=</a:t>
            </a:r>
            <a:r>
              <a:rPr dirty="0" sz="2400" spc="-10">
                <a:latin typeface="Tahoma"/>
                <a:cs typeface="Tahoma"/>
              </a:rPr>
              <a:t> </a:t>
            </a:r>
            <a:r>
              <a:rPr dirty="0" sz="2400" spc="-25">
                <a:latin typeface="Tahoma"/>
                <a:cs typeface="Tahoma"/>
              </a:rPr>
              <a:t>0;</a:t>
            </a:r>
            <a:endParaRPr sz="2400">
              <a:latin typeface="Tahoma"/>
              <a:cs typeface="Tahoma"/>
            </a:endParaRPr>
          </a:p>
          <a:p>
            <a:pPr marL="2082800" marR="5843905" indent="-475615">
              <a:lnSpc>
                <a:spcPts val="2870"/>
              </a:lnSpc>
              <a:spcBef>
                <a:spcPts val="25"/>
              </a:spcBef>
              <a:tabLst>
                <a:tab pos="3504565" algn="l"/>
                <a:tab pos="4571365" algn="l"/>
              </a:tabLst>
            </a:pPr>
            <a:r>
              <a:rPr dirty="0" sz="2400">
                <a:latin typeface="Tahoma"/>
                <a:cs typeface="Tahoma"/>
              </a:rPr>
              <a:t>for</a:t>
            </a:r>
            <a:r>
              <a:rPr dirty="0" sz="2400" spc="-35">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k</a:t>
            </a:r>
            <a:r>
              <a:rPr dirty="0" sz="2400" spc="-5">
                <a:latin typeface="Tahoma"/>
                <a:cs typeface="Tahoma"/>
              </a:rPr>
              <a:t> </a:t>
            </a:r>
            <a:r>
              <a:rPr dirty="0" sz="2400">
                <a:latin typeface="Tahoma"/>
                <a:cs typeface="Tahoma"/>
              </a:rPr>
              <a:t>= </a:t>
            </a:r>
            <a:r>
              <a:rPr dirty="0" sz="2400" spc="-25">
                <a:latin typeface="Tahoma"/>
                <a:cs typeface="Tahoma"/>
              </a:rPr>
              <a:t>0;</a:t>
            </a:r>
            <a:r>
              <a:rPr dirty="0" sz="2400">
                <a:latin typeface="Tahoma"/>
                <a:cs typeface="Tahoma"/>
              </a:rPr>
              <a:t>	k</a:t>
            </a:r>
            <a:r>
              <a:rPr dirty="0" sz="2400" spc="-15">
                <a:latin typeface="Tahoma"/>
                <a:cs typeface="Tahoma"/>
              </a:rPr>
              <a:t> </a:t>
            </a:r>
            <a:r>
              <a:rPr dirty="0" sz="2400">
                <a:latin typeface="Tahoma"/>
                <a:cs typeface="Tahoma"/>
              </a:rPr>
              <a:t>&lt;</a:t>
            </a:r>
            <a:r>
              <a:rPr dirty="0" sz="2400" spc="-15">
                <a:latin typeface="Tahoma"/>
                <a:cs typeface="Tahoma"/>
              </a:rPr>
              <a:t> </a:t>
            </a:r>
            <a:r>
              <a:rPr dirty="0" sz="2400" spc="-25">
                <a:latin typeface="Tahoma"/>
                <a:cs typeface="Tahoma"/>
              </a:rPr>
              <a:t>N;</a:t>
            </a:r>
            <a:r>
              <a:rPr dirty="0" sz="2400">
                <a:latin typeface="Tahoma"/>
                <a:cs typeface="Tahoma"/>
              </a:rPr>
              <a:t>	k</a:t>
            </a:r>
            <a:r>
              <a:rPr dirty="0" sz="2400" spc="-15">
                <a:latin typeface="Tahoma"/>
                <a:cs typeface="Tahoma"/>
              </a:rPr>
              <a:t> </a:t>
            </a:r>
            <a:r>
              <a:rPr dirty="0" sz="2400">
                <a:latin typeface="Tahoma"/>
                <a:cs typeface="Tahoma"/>
              </a:rPr>
              <a:t>=</a:t>
            </a:r>
            <a:r>
              <a:rPr dirty="0" sz="2400" spc="-10">
                <a:latin typeface="Tahoma"/>
                <a:cs typeface="Tahoma"/>
              </a:rPr>
              <a:t> k+1</a:t>
            </a:r>
            <a:r>
              <a:rPr dirty="0" sz="2400" spc="-10">
                <a:latin typeface="黑体"/>
                <a:cs typeface="黑体"/>
              </a:rPr>
              <a:t>）</a:t>
            </a:r>
            <a:r>
              <a:rPr dirty="0" sz="2400" spc="-459">
                <a:latin typeface="黑体"/>
                <a:cs typeface="黑体"/>
              </a:rPr>
              <a:t> </a:t>
            </a:r>
            <a:r>
              <a:rPr dirty="0" sz="2400" spc="-50">
                <a:latin typeface="Tahoma"/>
                <a:cs typeface="Tahoma"/>
              </a:rPr>
              <a:t>{ </a:t>
            </a:r>
            <a:r>
              <a:rPr dirty="0" sz="2400">
                <a:latin typeface="Tahoma"/>
                <a:cs typeface="Tahoma"/>
              </a:rPr>
              <a:t>r</a:t>
            </a:r>
            <a:r>
              <a:rPr dirty="0" sz="2400" spc="-15">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r</a:t>
            </a:r>
            <a:r>
              <a:rPr dirty="0" sz="2400" spc="-25">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y[</a:t>
            </a:r>
            <a:r>
              <a:rPr dirty="0" sz="2400" spc="-5">
                <a:latin typeface="Tahoma"/>
                <a:cs typeface="Tahoma"/>
              </a:rPr>
              <a:t> </a:t>
            </a:r>
            <a:r>
              <a:rPr dirty="0" sz="2400">
                <a:latin typeface="Tahoma"/>
                <a:cs typeface="Tahoma"/>
              </a:rPr>
              <a:t>i</a:t>
            </a:r>
            <a:r>
              <a:rPr dirty="0" sz="2400" spc="-15">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k</a:t>
            </a:r>
            <a:r>
              <a:rPr dirty="0" sz="2400" spc="-10">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a:t>
            </a:r>
            <a:r>
              <a:rPr dirty="0" sz="2400" spc="-20">
                <a:latin typeface="Tahoma"/>
                <a:cs typeface="Tahoma"/>
              </a:rPr>
              <a:t> </a:t>
            </a:r>
            <a:r>
              <a:rPr dirty="0" sz="2400">
                <a:latin typeface="Tahoma"/>
                <a:cs typeface="Tahoma"/>
              </a:rPr>
              <a:t>z[ k</a:t>
            </a:r>
            <a:r>
              <a:rPr dirty="0" sz="2400" spc="-15">
                <a:latin typeface="Tahoma"/>
                <a:cs typeface="Tahoma"/>
              </a:rPr>
              <a:t> </a:t>
            </a:r>
            <a:r>
              <a:rPr dirty="0" sz="2400">
                <a:latin typeface="Tahoma"/>
                <a:cs typeface="Tahoma"/>
              </a:rPr>
              <a:t>][ j</a:t>
            </a:r>
            <a:r>
              <a:rPr dirty="0" sz="2400" spc="-10">
                <a:latin typeface="Tahoma"/>
                <a:cs typeface="Tahoma"/>
              </a:rPr>
              <a:t> </a:t>
            </a:r>
            <a:r>
              <a:rPr dirty="0" sz="2400" spc="-25">
                <a:latin typeface="Tahoma"/>
                <a:cs typeface="Tahoma"/>
              </a:rPr>
              <a:t>];</a:t>
            </a:r>
            <a:endParaRPr sz="2400">
              <a:latin typeface="Tahoma"/>
              <a:cs typeface="Tahoma"/>
            </a:endParaRPr>
          </a:p>
          <a:p>
            <a:pPr marL="1111885" marR="94615" indent="2305685">
              <a:lnSpc>
                <a:spcPct val="80000"/>
              </a:lnSpc>
              <a:spcBef>
                <a:spcPts val="490"/>
              </a:spcBef>
            </a:pPr>
            <a:r>
              <a:rPr dirty="0" sz="2400" spc="-10">
                <a:solidFill>
                  <a:srgbClr val="FF09FF"/>
                </a:solidFill>
                <a:latin typeface="Tahoma"/>
                <a:cs typeface="Tahoma"/>
              </a:rPr>
              <a:t>//</a:t>
            </a:r>
            <a:r>
              <a:rPr dirty="0" sz="2400">
                <a:solidFill>
                  <a:srgbClr val="FF09FF"/>
                </a:solidFill>
                <a:latin typeface="黑体"/>
                <a:cs typeface="黑体"/>
              </a:rPr>
              <a:t>既要按行</a:t>
            </a:r>
            <a:r>
              <a:rPr dirty="0" sz="2400" spc="-10">
                <a:solidFill>
                  <a:srgbClr val="FF09FF"/>
                </a:solidFill>
                <a:latin typeface="黑体"/>
                <a:cs typeface="黑体"/>
              </a:rPr>
              <a:t>（</a:t>
            </a:r>
            <a:r>
              <a:rPr dirty="0" sz="2400" spc="-10">
                <a:solidFill>
                  <a:srgbClr val="FF09FF"/>
                </a:solidFill>
                <a:latin typeface="Tahoma"/>
                <a:cs typeface="Tahoma"/>
              </a:rPr>
              <a:t>y[i][k]</a:t>
            </a:r>
            <a:r>
              <a:rPr dirty="0" sz="2400" spc="-10">
                <a:solidFill>
                  <a:srgbClr val="FF09FF"/>
                </a:solidFill>
                <a:latin typeface="黑体"/>
                <a:cs typeface="黑体"/>
              </a:rPr>
              <a:t>）</a:t>
            </a:r>
            <a:r>
              <a:rPr dirty="0" sz="2400" spc="-5">
                <a:solidFill>
                  <a:srgbClr val="FF09FF"/>
                </a:solidFill>
                <a:latin typeface="黑体"/>
                <a:cs typeface="黑体"/>
              </a:rPr>
              <a:t>又要按列</a:t>
            </a:r>
            <a:r>
              <a:rPr dirty="0" sz="2400" spc="-10">
                <a:solidFill>
                  <a:srgbClr val="FF09FF"/>
                </a:solidFill>
                <a:latin typeface="Tahoma"/>
                <a:cs typeface="Tahoma"/>
              </a:rPr>
              <a:t>(z[k][j])</a:t>
            </a:r>
            <a:r>
              <a:rPr dirty="0" sz="2400" spc="-5">
                <a:solidFill>
                  <a:srgbClr val="FF09FF"/>
                </a:solidFill>
                <a:latin typeface="黑体"/>
                <a:cs typeface="黑体"/>
              </a:rPr>
              <a:t>访问，前面的方法都不适</a:t>
            </a:r>
            <a:r>
              <a:rPr dirty="0" sz="2400" spc="-20">
                <a:solidFill>
                  <a:srgbClr val="FF09FF"/>
                </a:solidFill>
                <a:latin typeface="黑体"/>
                <a:cs typeface="黑体"/>
              </a:rPr>
              <a:t>合，不命中率增加</a:t>
            </a:r>
            <a:endParaRPr sz="2400">
              <a:latin typeface="黑体"/>
              <a:cs typeface="黑体"/>
            </a:endParaRPr>
          </a:p>
          <a:p>
            <a:pPr marL="2559685">
              <a:lnSpc>
                <a:spcPts val="2870"/>
              </a:lnSpc>
            </a:pPr>
            <a:r>
              <a:rPr dirty="0" sz="2400" spc="-50">
                <a:latin typeface="Tahoma"/>
                <a:cs typeface="Tahoma"/>
              </a:rPr>
              <a:t>}</a:t>
            </a:r>
            <a:endParaRPr sz="2400">
              <a:latin typeface="Tahoma"/>
              <a:cs typeface="Tahoma"/>
            </a:endParaRPr>
          </a:p>
          <a:p>
            <a:pPr marL="2082800">
              <a:lnSpc>
                <a:spcPct val="100000"/>
              </a:lnSpc>
            </a:pPr>
            <a:r>
              <a:rPr dirty="0" sz="2400">
                <a:latin typeface="Tahoma"/>
                <a:cs typeface="Tahoma"/>
              </a:rPr>
              <a:t>x[</a:t>
            </a:r>
            <a:r>
              <a:rPr dirty="0" sz="2400" spc="-10">
                <a:latin typeface="Tahoma"/>
                <a:cs typeface="Tahoma"/>
              </a:rPr>
              <a:t> </a:t>
            </a:r>
            <a:r>
              <a:rPr dirty="0" sz="2400">
                <a:latin typeface="Tahoma"/>
                <a:cs typeface="Tahoma"/>
              </a:rPr>
              <a:t>i</a:t>
            </a:r>
            <a:r>
              <a:rPr dirty="0" sz="2400" spc="-10">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j</a:t>
            </a:r>
            <a:r>
              <a:rPr dirty="0" sz="2400" spc="-10">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a:t>
            </a:r>
            <a:r>
              <a:rPr dirty="0" sz="2400" spc="-10">
                <a:latin typeface="Tahoma"/>
                <a:cs typeface="Tahoma"/>
              </a:rPr>
              <a:t> </a:t>
            </a:r>
            <a:r>
              <a:rPr dirty="0" sz="2400" spc="-25">
                <a:latin typeface="Tahoma"/>
                <a:cs typeface="Tahoma"/>
              </a:rPr>
              <a:t>r;</a:t>
            </a:r>
            <a:endParaRPr sz="2400">
              <a:latin typeface="Tahoma"/>
              <a:cs typeface="Tahoma"/>
            </a:endParaRPr>
          </a:p>
          <a:p>
            <a:pPr marL="2465070">
              <a:lnSpc>
                <a:spcPct val="100000"/>
              </a:lnSpc>
            </a:pPr>
            <a:r>
              <a:rPr dirty="0" sz="2400" spc="-50">
                <a:latin typeface="Tahoma"/>
                <a:cs typeface="Tahoma"/>
              </a:rPr>
              <a:t>}</a:t>
            </a:r>
            <a:endParaRPr sz="2400">
              <a:latin typeface="Tahoma"/>
              <a:cs typeface="Tahoma"/>
            </a:endParaRPr>
          </a:p>
          <a:p>
            <a:pPr marL="654685">
              <a:lnSpc>
                <a:spcPct val="100000"/>
              </a:lnSpc>
              <a:spcBef>
                <a:spcPts val="75"/>
              </a:spcBef>
            </a:pPr>
            <a:r>
              <a:rPr dirty="0" sz="2000" spc="-15" b="1">
                <a:solidFill>
                  <a:srgbClr val="E14B04"/>
                </a:solidFill>
                <a:latin typeface="宋体"/>
                <a:cs typeface="宋体"/>
              </a:rPr>
              <a:t>（不命中次数：</a:t>
            </a:r>
            <a:r>
              <a:rPr dirty="0" sz="2000" spc="-10" b="1">
                <a:solidFill>
                  <a:srgbClr val="E14B04"/>
                </a:solidFill>
                <a:latin typeface="宋体"/>
                <a:cs typeface="宋体"/>
              </a:rPr>
              <a:t>2N</a:t>
            </a:r>
            <a:r>
              <a:rPr dirty="0" baseline="25641" sz="1950" spc="-15" b="1">
                <a:solidFill>
                  <a:srgbClr val="E14B04"/>
                </a:solidFill>
                <a:latin typeface="宋体"/>
                <a:cs typeface="宋体"/>
              </a:rPr>
              <a:t>3</a:t>
            </a:r>
            <a:r>
              <a:rPr dirty="0" sz="2000" spc="-10" b="1">
                <a:solidFill>
                  <a:srgbClr val="E14B04"/>
                </a:solidFill>
                <a:latin typeface="宋体"/>
                <a:cs typeface="宋体"/>
              </a:rPr>
              <a:t>＋N</a:t>
            </a:r>
            <a:r>
              <a:rPr dirty="0" baseline="25641" sz="1950" spc="-15" b="1">
                <a:solidFill>
                  <a:srgbClr val="E14B04"/>
                </a:solidFill>
                <a:latin typeface="宋体"/>
                <a:cs typeface="宋体"/>
              </a:rPr>
              <a:t>2</a:t>
            </a:r>
            <a:r>
              <a:rPr dirty="0" sz="2000" spc="-10" b="1">
                <a:solidFill>
                  <a:srgbClr val="E14B04"/>
                </a:solidFill>
                <a:latin typeface="宋体"/>
                <a:cs typeface="宋体"/>
              </a:rPr>
              <a:t>）</a:t>
            </a:r>
            <a:endParaRPr sz="2000">
              <a:latin typeface="宋体"/>
              <a:cs typeface="宋体"/>
            </a:endParaRPr>
          </a:p>
        </p:txBody>
      </p:sp>
      <p:sp>
        <p:nvSpPr>
          <p:cNvPr id="10" name="object 10"/>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p:cNvPicPr/>
          <p:nvPr/>
        </p:nvPicPr>
        <p:blipFill>
          <a:blip r:embed="rId3" cstate="print"/>
          <a:stretch>
            <a:fillRect/>
          </a:stretch>
        </p:blipFill>
        <p:spPr>
          <a:xfrm>
            <a:off x="2424176" y="1268475"/>
            <a:ext cx="7488174" cy="4817999"/>
          </a:xfrm>
          <a:prstGeom prst="rect">
            <a:avLst/>
          </a:prstGeom>
        </p:spPr>
      </p:pic>
      <p:sp>
        <p:nvSpPr>
          <p:cNvPr id="10" name="object 10" descr=""/>
          <p:cNvSpPr txBox="1"/>
          <p:nvPr/>
        </p:nvSpPr>
        <p:spPr>
          <a:xfrm>
            <a:off x="413715" y="84201"/>
            <a:ext cx="3909060" cy="1980564"/>
          </a:xfrm>
          <a:prstGeom prst="rect">
            <a:avLst/>
          </a:prstGeom>
        </p:spPr>
        <p:txBody>
          <a:bodyPr wrap="square" lIns="0" tIns="0" rIns="0" bIns="0" rtlCol="0" vert="horz">
            <a:spAutoFit/>
          </a:bodyPr>
          <a:lstStyle/>
          <a:p>
            <a:pPr marL="1381125">
              <a:lnSpc>
                <a:spcPts val="3020"/>
              </a:lnSpc>
            </a:pPr>
            <a:r>
              <a:rPr dirty="0" sz="2600">
                <a:solidFill>
                  <a:srgbClr val="0000CC"/>
                </a:solidFill>
                <a:latin typeface="黑体"/>
                <a:cs typeface="黑体"/>
              </a:rPr>
              <a:t>7.3.8</a:t>
            </a:r>
            <a:r>
              <a:rPr dirty="0" sz="2600" spc="-15">
                <a:solidFill>
                  <a:srgbClr val="0000CC"/>
                </a:solidFill>
                <a:latin typeface="黑体"/>
                <a:cs typeface="黑体"/>
              </a:rPr>
              <a:t> </a:t>
            </a:r>
            <a:r>
              <a:rPr dirty="0" sz="2400" spc="-10">
                <a:solidFill>
                  <a:srgbClr val="0000CC"/>
                </a:solidFill>
                <a:latin typeface="黑体"/>
                <a:cs typeface="黑体"/>
              </a:rPr>
              <a:t>编译器优化</a:t>
            </a:r>
            <a:endParaRPr sz="2400">
              <a:latin typeface="黑体"/>
              <a:cs typeface="黑体"/>
            </a:endParaRPr>
          </a:p>
          <a:p>
            <a:pPr marL="12700" marR="2059305">
              <a:lnSpc>
                <a:spcPct val="200100"/>
              </a:lnSpc>
              <a:spcBef>
                <a:spcPts val="944"/>
              </a:spcBef>
            </a:pPr>
            <a:r>
              <a:rPr dirty="0" sz="2400" spc="-10">
                <a:solidFill>
                  <a:srgbClr val="40458B"/>
                </a:solidFill>
                <a:latin typeface="黑体"/>
                <a:cs typeface="黑体"/>
              </a:rPr>
              <a:t>分块修改过程分块前的情况</a:t>
            </a:r>
            <a:endParaRPr sz="2400">
              <a:latin typeface="黑体"/>
              <a:cs typeface="黑体"/>
            </a:endParaRPr>
          </a:p>
        </p:txBody>
      </p:sp>
      <p:sp>
        <p:nvSpPr>
          <p:cNvPr id="11" name="object 11" descr=""/>
          <p:cNvSpPr txBox="1"/>
          <p:nvPr/>
        </p:nvSpPr>
        <p:spPr>
          <a:xfrm>
            <a:off x="188163" y="3087700"/>
            <a:ext cx="5312410" cy="3334385"/>
          </a:xfrm>
          <a:prstGeom prst="rect">
            <a:avLst/>
          </a:prstGeom>
        </p:spPr>
        <p:txBody>
          <a:bodyPr wrap="square" lIns="0" tIns="12700" rIns="0" bIns="0" rtlCol="0" vert="horz">
            <a:spAutoFit/>
          </a:bodyPr>
          <a:lstStyle/>
          <a:p>
            <a:pPr marL="12700" marR="2951480">
              <a:lnSpc>
                <a:spcPct val="100000"/>
              </a:lnSpc>
              <a:spcBef>
                <a:spcPts val="100"/>
              </a:spcBef>
            </a:pPr>
            <a:r>
              <a:rPr dirty="0" sz="2400" spc="-10">
                <a:solidFill>
                  <a:srgbClr val="40458B"/>
                </a:solidFill>
                <a:latin typeface="Tahoma"/>
                <a:cs typeface="Tahoma"/>
              </a:rPr>
              <a:t>X</a:t>
            </a:r>
            <a:r>
              <a:rPr dirty="0" sz="2400" spc="-10">
                <a:solidFill>
                  <a:srgbClr val="40458B"/>
                </a:solidFill>
                <a:latin typeface="黑体"/>
                <a:cs typeface="黑体"/>
              </a:rPr>
              <a:t>中第</a:t>
            </a:r>
            <a:r>
              <a:rPr dirty="0" sz="2400" spc="-20">
                <a:solidFill>
                  <a:srgbClr val="40458B"/>
                </a:solidFill>
                <a:latin typeface="Tahoma"/>
                <a:cs typeface="Tahoma"/>
              </a:rPr>
              <a:t>i=1</a:t>
            </a:r>
            <a:r>
              <a:rPr dirty="0" sz="2400" spc="-25">
                <a:solidFill>
                  <a:srgbClr val="40458B"/>
                </a:solidFill>
                <a:latin typeface="黑体"/>
                <a:cs typeface="黑体"/>
              </a:rPr>
              <a:t>行的每</a:t>
            </a:r>
            <a:r>
              <a:rPr dirty="0" sz="2400" spc="-5">
                <a:solidFill>
                  <a:srgbClr val="40458B"/>
                </a:solidFill>
                <a:latin typeface="黑体"/>
                <a:cs typeface="黑体"/>
              </a:rPr>
              <a:t>一个元素：</a:t>
            </a:r>
            <a:r>
              <a:rPr dirty="0" sz="2400" spc="-20">
                <a:solidFill>
                  <a:srgbClr val="40458B"/>
                </a:solidFill>
                <a:latin typeface="Tahoma"/>
                <a:cs typeface="Tahoma"/>
              </a:rPr>
              <a:t>y</a:t>
            </a:r>
            <a:r>
              <a:rPr dirty="0" sz="2400" spc="-25">
                <a:solidFill>
                  <a:srgbClr val="40458B"/>
                </a:solidFill>
                <a:latin typeface="黑体"/>
                <a:cs typeface="黑体"/>
              </a:rPr>
              <a:t>中的</a:t>
            </a:r>
            <a:r>
              <a:rPr dirty="0" sz="2400">
                <a:solidFill>
                  <a:srgbClr val="40458B"/>
                </a:solidFill>
                <a:latin typeface="黑体"/>
                <a:cs typeface="黑体"/>
              </a:rPr>
              <a:t>第</a:t>
            </a:r>
            <a:r>
              <a:rPr dirty="0" sz="2400" spc="-10">
                <a:solidFill>
                  <a:srgbClr val="40458B"/>
                </a:solidFill>
                <a:latin typeface="Tahoma"/>
                <a:cs typeface="Tahoma"/>
              </a:rPr>
              <a:t>i</a:t>
            </a:r>
            <a:r>
              <a:rPr dirty="0" sz="2400">
                <a:solidFill>
                  <a:srgbClr val="40458B"/>
                </a:solidFill>
                <a:latin typeface="黑体"/>
                <a:cs typeface="黑体"/>
              </a:rPr>
              <a:t>行分别乘以</a:t>
            </a:r>
            <a:r>
              <a:rPr dirty="0" sz="2400">
                <a:solidFill>
                  <a:srgbClr val="40458B"/>
                </a:solidFill>
                <a:latin typeface="Tahoma"/>
                <a:cs typeface="Tahoma"/>
              </a:rPr>
              <a:t>z</a:t>
            </a:r>
            <a:r>
              <a:rPr dirty="0" sz="2400" spc="-50">
                <a:solidFill>
                  <a:srgbClr val="40458B"/>
                </a:solidFill>
                <a:latin typeface="黑体"/>
                <a:cs typeface="黑体"/>
              </a:rPr>
              <a:t>中</a:t>
            </a:r>
            <a:r>
              <a:rPr dirty="0" sz="2400" spc="-15">
                <a:solidFill>
                  <a:srgbClr val="40458B"/>
                </a:solidFill>
                <a:latin typeface="黑体"/>
                <a:cs typeface="黑体"/>
              </a:rPr>
              <a:t>的每一列</a:t>
            </a:r>
            <a:endParaRPr sz="2400">
              <a:latin typeface="黑体"/>
              <a:cs typeface="黑体"/>
            </a:endParaRPr>
          </a:p>
          <a:p>
            <a:pPr marL="117475" marR="2830195">
              <a:lnSpc>
                <a:spcPct val="100000"/>
              </a:lnSpc>
              <a:spcBef>
                <a:spcPts val="3010"/>
              </a:spcBef>
            </a:pPr>
            <a:r>
              <a:rPr dirty="0" sz="2400" spc="-20">
                <a:solidFill>
                  <a:srgbClr val="40458B"/>
                </a:solidFill>
                <a:latin typeface="Tahoma"/>
                <a:cs typeface="Tahoma"/>
              </a:rPr>
              <a:t>y</a:t>
            </a:r>
            <a:r>
              <a:rPr dirty="0" sz="2400">
                <a:solidFill>
                  <a:srgbClr val="40458B"/>
                </a:solidFill>
                <a:latin typeface="黑体"/>
                <a:cs typeface="黑体"/>
              </a:rPr>
              <a:t>中：按行</a:t>
            </a:r>
            <a:r>
              <a:rPr dirty="0" sz="2400" spc="-10">
                <a:solidFill>
                  <a:srgbClr val="40458B"/>
                </a:solidFill>
                <a:latin typeface="Tahoma"/>
                <a:cs typeface="Tahoma"/>
              </a:rPr>
              <a:t>i</a:t>
            </a:r>
            <a:r>
              <a:rPr dirty="0" sz="2400" spc="-20">
                <a:solidFill>
                  <a:srgbClr val="40458B"/>
                </a:solidFill>
                <a:latin typeface="黑体"/>
                <a:cs typeface="黑体"/>
              </a:rPr>
              <a:t>行访问</a:t>
            </a:r>
            <a:r>
              <a:rPr dirty="0" sz="2400" spc="-50">
                <a:solidFill>
                  <a:srgbClr val="40458B"/>
                </a:solidFill>
                <a:latin typeface="黑体"/>
                <a:cs typeface="黑体"/>
              </a:rPr>
              <a:t> </a:t>
            </a:r>
            <a:r>
              <a:rPr dirty="0" sz="2400">
                <a:solidFill>
                  <a:srgbClr val="40458B"/>
                </a:solidFill>
                <a:latin typeface="Tahoma"/>
                <a:cs typeface="Tahoma"/>
              </a:rPr>
              <a:t>z</a:t>
            </a:r>
            <a:r>
              <a:rPr dirty="0" sz="2400" spc="-10">
                <a:solidFill>
                  <a:srgbClr val="40458B"/>
                </a:solidFill>
                <a:latin typeface="黑体"/>
                <a:cs typeface="黑体"/>
              </a:rPr>
              <a:t>中：按列访问</a:t>
            </a:r>
            <a:endParaRPr sz="2400">
              <a:latin typeface="黑体"/>
              <a:cs typeface="黑体"/>
            </a:endParaRPr>
          </a:p>
          <a:p>
            <a:pPr marL="117475">
              <a:lnSpc>
                <a:spcPct val="100000"/>
              </a:lnSpc>
              <a:spcBef>
                <a:spcPts val="2885"/>
              </a:spcBef>
            </a:pPr>
            <a:r>
              <a:rPr dirty="0" sz="2400" spc="-5">
                <a:solidFill>
                  <a:srgbClr val="FF0000"/>
                </a:solidFill>
                <a:latin typeface="黑体"/>
                <a:cs typeface="黑体"/>
              </a:rPr>
              <a:t>行列都要访问，前面其他方法皆不合适</a:t>
            </a:r>
            <a:endParaRPr sz="2400">
              <a:latin typeface="黑体"/>
              <a:cs typeface="黑体"/>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792095" y="1179321"/>
            <a:ext cx="7387590" cy="4340860"/>
          </a:xfrm>
          <a:prstGeom prst="rect">
            <a:avLst/>
          </a:prstGeom>
        </p:spPr>
        <p:txBody>
          <a:bodyPr wrap="square" lIns="0" tIns="12700" rIns="0" bIns="0" rtlCol="0" vert="horz">
            <a:spAutoFit/>
          </a:bodyPr>
          <a:lstStyle/>
          <a:p>
            <a:pPr marL="12700">
              <a:lnSpc>
                <a:spcPct val="100000"/>
              </a:lnSpc>
              <a:spcBef>
                <a:spcPts val="100"/>
              </a:spcBef>
              <a:tabLst>
                <a:tab pos="484505" algn="l"/>
              </a:tabLst>
            </a:pPr>
            <a:r>
              <a:rPr dirty="0" sz="2400" spc="-25">
                <a:solidFill>
                  <a:srgbClr val="40458B"/>
                </a:solidFill>
                <a:latin typeface="Tahoma"/>
                <a:cs typeface="Tahoma"/>
              </a:rPr>
              <a:t>/*</a:t>
            </a:r>
            <a:r>
              <a:rPr dirty="0" sz="2400">
                <a:solidFill>
                  <a:srgbClr val="40458B"/>
                </a:solidFill>
                <a:latin typeface="Tahoma"/>
                <a:cs typeface="Tahoma"/>
              </a:rPr>
              <a:t>	</a:t>
            </a:r>
            <a:r>
              <a:rPr dirty="0" sz="2400" spc="70">
                <a:solidFill>
                  <a:srgbClr val="40458B"/>
                </a:solidFill>
                <a:latin typeface="黑体"/>
                <a:cs typeface="黑体"/>
              </a:rPr>
              <a:t>修改后 </a:t>
            </a:r>
            <a:r>
              <a:rPr dirty="0" sz="2400" spc="-25">
                <a:solidFill>
                  <a:srgbClr val="40458B"/>
                </a:solidFill>
                <a:latin typeface="Tahoma"/>
                <a:cs typeface="Tahoma"/>
              </a:rPr>
              <a:t>*/</a:t>
            </a:r>
            <a:endParaRPr sz="2400">
              <a:latin typeface="Tahoma"/>
              <a:cs typeface="Tahoma"/>
            </a:endParaRPr>
          </a:p>
          <a:p>
            <a:pPr marL="203200">
              <a:lnSpc>
                <a:spcPct val="100000"/>
              </a:lnSpc>
              <a:tabLst>
                <a:tab pos="2119630" algn="l"/>
                <a:tab pos="3206115" algn="l"/>
              </a:tabLst>
            </a:pPr>
            <a:r>
              <a:rPr dirty="0" sz="2400">
                <a:latin typeface="Tahoma"/>
                <a:cs typeface="Tahoma"/>
              </a:rPr>
              <a:t>for</a:t>
            </a:r>
            <a:r>
              <a:rPr dirty="0" sz="2400" spc="-30">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jj</a:t>
            </a:r>
            <a:r>
              <a:rPr dirty="0" sz="2400" spc="-15">
                <a:latin typeface="Tahoma"/>
                <a:cs typeface="Tahoma"/>
              </a:rPr>
              <a:t> </a:t>
            </a:r>
            <a:r>
              <a:rPr dirty="0" sz="2400">
                <a:latin typeface="Tahoma"/>
                <a:cs typeface="Tahoma"/>
              </a:rPr>
              <a:t>=</a:t>
            </a:r>
            <a:r>
              <a:rPr dirty="0" sz="2400" spc="-5">
                <a:latin typeface="Tahoma"/>
                <a:cs typeface="Tahoma"/>
              </a:rPr>
              <a:t> </a:t>
            </a:r>
            <a:r>
              <a:rPr dirty="0" sz="2400" spc="-25">
                <a:latin typeface="Tahoma"/>
                <a:cs typeface="Tahoma"/>
              </a:rPr>
              <a:t>0;</a:t>
            </a:r>
            <a:r>
              <a:rPr dirty="0" sz="2400">
                <a:latin typeface="Tahoma"/>
                <a:cs typeface="Tahoma"/>
              </a:rPr>
              <a:t>	jj</a:t>
            </a:r>
            <a:r>
              <a:rPr dirty="0" sz="2400" spc="-20">
                <a:latin typeface="Tahoma"/>
                <a:cs typeface="Tahoma"/>
              </a:rPr>
              <a:t> </a:t>
            </a:r>
            <a:r>
              <a:rPr dirty="0" sz="2400">
                <a:latin typeface="Tahoma"/>
                <a:cs typeface="Tahoma"/>
              </a:rPr>
              <a:t>&lt;</a:t>
            </a:r>
            <a:r>
              <a:rPr dirty="0" sz="2400" spc="-15">
                <a:latin typeface="Tahoma"/>
                <a:cs typeface="Tahoma"/>
              </a:rPr>
              <a:t> </a:t>
            </a:r>
            <a:r>
              <a:rPr dirty="0" sz="2400" spc="-25">
                <a:latin typeface="Tahoma"/>
                <a:cs typeface="Tahoma"/>
              </a:rPr>
              <a:t>N;</a:t>
            </a:r>
            <a:r>
              <a:rPr dirty="0" sz="2400">
                <a:latin typeface="Tahoma"/>
                <a:cs typeface="Tahoma"/>
              </a:rPr>
              <a:t>	jj</a:t>
            </a:r>
            <a:r>
              <a:rPr dirty="0" sz="2400" spc="-20">
                <a:latin typeface="Tahoma"/>
                <a:cs typeface="Tahoma"/>
              </a:rPr>
              <a:t> </a:t>
            </a:r>
            <a:r>
              <a:rPr dirty="0" sz="2400">
                <a:latin typeface="Tahoma"/>
                <a:cs typeface="Tahoma"/>
              </a:rPr>
              <a:t>=</a:t>
            </a:r>
            <a:r>
              <a:rPr dirty="0" sz="2400" spc="-15">
                <a:latin typeface="Tahoma"/>
                <a:cs typeface="Tahoma"/>
              </a:rPr>
              <a:t> </a:t>
            </a:r>
            <a:r>
              <a:rPr dirty="0" sz="2400">
                <a:latin typeface="Tahoma"/>
                <a:cs typeface="Tahoma"/>
              </a:rPr>
              <a:t>jj+B</a:t>
            </a:r>
            <a:r>
              <a:rPr dirty="0" sz="2400" spc="-15">
                <a:latin typeface="Tahoma"/>
                <a:cs typeface="Tahoma"/>
              </a:rPr>
              <a:t> </a:t>
            </a:r>
            <a:r>
              <a:rPr dirty="0" sz="2400" spc="-50">
                <a:latin typeface="黑体"/>
                <a:cs typeface="黑体"/>
              </a:rPr>
              <a:t>）</a:t>
            </a:r>
            <a:endParaRPr sz="2400">
              <a:latin typeface="黑体"/>
              <a:cs typeface="黑体"/>
            </a:endParaRPr>
          </a:p>
          <a:p>
            <a:pPr marL="203200">
              <a:lnSpc>
                <a:spcPct val="100000"/>
              </a:lnSpc>
              <a:tabLst>
                <a:tab pos="2252980" algn="l"/>
                <a:tab pos="3471545" algn="l"/>
              </a:tabLst>
            </a:pPr>
            <a:r>
              <a:rPr dirty="0" sz="2400">
                <a:latin typeface="Tahoma"/>
                <a:cs typeface="Tahoma"/>
              </a:rPr>
              <a:t>for</a:t>
            </a:r>
            <a:r>
              <a:rPr dirty="0" sz="2400" spc="-45">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kk</a:t>
            </a:r>
            <a:r>
              <a:rPr dirty="0" sz="2400" spc="-5">
                <a:latin typeface="Tahoma"/>
                <a:cs typeface="Tahoma"/>
              </a:rPr>
              <a:t> </a:t>
            </a:r>
            <a:r>
              <a:rPr dirty="0" sz="2400">
                <a:latin typeface="Tahoma"/>
                <a:cs typeface="Tahoma"/>
              </a:rPr>
              <a:t>=</a:t>
            </a:r>
            <a:r>
              <a:rPr dirty="0" sz="2400" spc="-10">
                <a:latin typeface="Tahoma"/>
                <a:cs typeface="Tahoma"/>
              </a:rPr>
              <a:t> </a:t>
            </a:r>
            <a:r>
              <a:rPr dirty="0" sz="2400" spc="-25">
                <a:latin typeface="Tahoma"/>
                <a:cs typeface="Tahoma"/>
              </a:rPr>
              <a:t>0;</a:t>
            </a:r>
            <a:r>
              <a:rPr dirty="0" sz="2400">
                <a:latin typeface="Tahoma"/>
                <a:cs typeface="Tahoma"/>
              </a:rPr>
              <a:t>	kk</a:t>
            </a:r>
            <a:r>
              <a:rPr dirty="0" sz="2400" spc="-20">
                <a:latin typeface="Tahoma"/>
                <a:cs typeface="Tahoma"/>
              </a:rPr>
              <a:t> </a:t>
            </a:r>
            <a:r>
              <a:rPr dirty="0" sz="2400">
                <a:latin typeface="Tahoma"/>
                <a:cs typeface="Tahoma"/>
              </a:rPr>
              <a:t>&lt;</a:t>
            </a:r>
            <a:r>
              <a:rPr dirty="0" sz="2400" spc="-25">
                <a:latin typeface="Tahoma"/>
                <a:cs typeface="Tahoma"/>
              </a:rPr>
              <a:t> N;</a:t>
            </a:r>
            <a:r>
              <a:rPr dirty="0" sz="2400">
                <a:latin typeface="Tahoma"/>
                <a:cs typeface="Tahoma"/>
              </a:rPr>
              <a:t>	kk</a:t>
            </a:r>
            <a:r>
              <a:rPr dirty="0" sz="2400" spc="-35">
                <a:latin typeface="Tahoma"/>
                <a:cs typeface="Tahoma"/>
              </a:rPr>
              <a:t> </a:t>
            </a:r>
            <a:r>
              <a:rPr dirty="0" sz="2400">
                <a:latin typeface="Tahoma"/>
                <a:cs typeface="Tahoma"/>
              </a:rPr>
              <a:t>=</a:t>
            </a:r>
            <a:r>
              <a:rPr dirty="0" sz="2400" spc="-25">
                <a:latin typeface="Tahoma"/>
                <a:cs typeface="Tahoma"/>
              </a:rPr>
              <a:t> </a:t>
            </a:r>
            <a:r>
              <a:rPr dirty="0" sz="2400">
                <a:latin typeface="Tahoma"/>
                <a:cs typeface="Tahoma"/>
              </a:rPr>
              <a:t>kk+B</a:t>
            </a:r>
            <a:r>
              <a:rPr dirty="0" sz="2400" spc="-25">
                <a:latin typeface="Tahoma"/>
                <a:cs typeface="Tahoma"/>
              </a:rPr>
              <a:t> </a:t>
            </a:r>
            <a:r>
              <a:rPr dirty="0" sz="2400" spc="-50">
                <a:latin typeface="黑体"/>
                <a:cs typeface="黑体"/>
              </a:rPr>
              <a:t>）</a:t>
            </a:r>
            <a:endParaRPr sz="2400">
              <a:latin typeface="黑体"/>
              <a:cs typeface="黑体"/>
            </a:endParaRPr>
          </a:p>
          <a:p>
            <a:pPr marL="203200">
              <a:lnSpc>
                <a:spcPct val="100000"/>
              </a:lnSpc>
              <a:tabLst>
                <a:tab pos="2018030" algn="l"/>
              </a:tabLst>
            </a:pPr>
            <a:r>
              <a:rPr dirty="0" sz="2400">
                <a:latin typeface="Tahoma"/>
                <a:cs typeface="Tahoma"/>
              </a:rPr>
              <a:t>for</a:t>
            </a:r>
            <a:r>
              <a:rPr dirty="0" sz="2400" spc="-30">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i</a:t>
            </a:r>
            <a:r>
              <a:rPr dirty="0" sz="2400" spc="-5">
                <a:latin typeface="Tahoma"/>
                <a:cs typeface="Tahoma"/>
              </a:rPr>
              <a:t> </a:t>
            </a:r>
            <a:r>
              <a:rPr dirty="0" sz="2400">
                <a:latin typeface="Tahoma"/>
                <a:cs typeface="Tahoma"/>
              </a:rPr>
              <a:t>=</a:t>
            </a:r>
            <a:r>
              <a:rPr dirty="0" sz="2400" spc="-10">
                <a:latin typeface="Tahoma"/>
                <a:cs typeface="Tahoma"/>
              </a:rPr>
              <a:t> </a:t>
            </a:r>
            <a:r>
              <a:rPr dirty="0" sz="2400" spc="-25">
                <a:latin typeface="Tahoma"/>
                <a:cs typeface="Tahoma"/>
              </a:rPr>
              <a:t>0;</a:t>
            </a:r>
            <a:r>
              <a:rPr dirty="0" sz="2400">
                <a:latin typeface="Tahoma"/>
                <a:cs typeface="Tahoma"/>
              </a:rPr>
              <a:t>	i</a:t>
            </a:r>
            <a:r>
              <a:rPr dirty="0" sz="2400" spc="-20">
                <a:latin typeface="Tahoma"/>
                <a:cs typeface="Tahoma"/>
              </a:rPr>
              <a:t> </a:t>
            </a:r>
            <a:r>
              <a:rPr dirty="0" sz="2400">
                <a:latin typeface="Tahoma"/>
                <a:cs typeface="Tahoma"/>
              </a:rPr>
              <a:t>&lt;</a:t>
            </a:r>
            <a:r>
              <a:rPr dirty="0" sz="2400" spc="-20">
                <a:latin typeface="Tahoma"/>
                <a:cs typeface="Tahoma"/>
              </a:rPr>
              <a:t> </a:t>
            </a:r>
            <a:r>
              <a:rPr dirty="0" sz="2400">
                <a:latin typeface="Tahoma"/>
                <a:cs typeface="Tahoma"/>
              </a:rPr>
              <a:t>N;</a:t>
            </a:r>
            <a:r>
              <a:rPr dirty="0" sz="2400" spc="-15">
                <a:latin typeface="Tahoma"/>
                <a:cs typeface="Tahoma"/>
              </a:rPr>
              <a:t> </a:t>
            </a:r>
            <a:r>
              <a:rPr dirty="0" sz="2400">
                <a:latin typeface="Tahoma"/>
                <a:cs typeface="Tahoma"/>
              </a:rPr>
              <a:t>i</a:t>
            </a:r>
            <a:r>
              <a:rPr dirty="0" sz="2400" spc="-15">
                <a:latin typeface="Tahoma"/>
                <a:cs typeface="Tahoma"/>
              </a:rPr>
              <a:t> </a:t>
            </a:r>
            <a:r>
              <a:rPr dirty="0" sz="2400">
                <a:latin typeface="Tahoma"/>
                <a:cs typeface="Tahoma"/>
              </a:rPr>
              <a:t>=i+1</a:t>
            </a:r>
            <a:r>
              <a:rPr dirty="0" sz="2400" spc="-10">
                <a:latin typeface="Tahoma"/>
                <a:cs typeface="Tahoma"/>
              </a:rPr>
              <a:t> </a:t>
            </a:r>
            <a:r>
              <a:rPr dirty="0" sz="2400" spc="-50">
                <a:latin typeface="黑体"/>
                <a:cs typeface="黑体"/>
              </a:rPr>
              <a:t>）</a:t>
            </a:r>
            <a:endParaRPr sz="2400">
              <a:latin typeface="黑体"/>
              <a:cs typeface="黑体"/>
            </a:endParaRPr>
          </a:p>
          <a:p>
            <a:pPr marL="584200" marR="582295" indent="-381000">
              <a:lnSpc>
                <a:spcPct val="100000"/>
              </a:lnSpc>
              <a:tabLst>
                <a:tab pos="2037714" algn="l"/>
                <a:tab pos="5182235" algn="l"/>
              </a:tabLst>
            </a:pPr>
            <a:r>
              <a:rPr dirty="0" sz="2400">
                <a:latin typeface="Tahoma"/>
                <a:cs typeface="Tahoma"/>
              </a:rPr>
              <a:t>for</a:t>
            </a:r>
            <a:r>
              <a:rPr dirty="0" sz="2400" spc="-30">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j</a:t>
            </a:r>
            <a:r>
              <a:rPr dirty="0" sz="2400" spc="-15">
                <a:latin typeface="Tahoma"/>
                <a:cs typeface="Tahoma"/>
              </a:rPr>
              <a:t> </a:t>
            </a:r>
            <a:r>
              <a:rPr dirty="0" sz="2400">
                <a:latin typeface="Tahoma"/>
                <a:cs typeface="Tahoma"/>
              </a:rPr>
              <a:t>= </a:t>
            </a:r>
            <a:r>
              <a:rPr dirty="0" sz="2400" spc="-25">
                <a:latin typeface="Tahoma"/>
                <a:cs typeface="Tahoma"/>
              </a:rPr>
              <a:t>jj;</a:t>
            </a:r>
            <a:r>
              <a:rPr dirty="0" sz="2400">
                <a:latin typeface="Tahoma"/>
                <a:cs typeface="Tahoma"/>
              </a:rPr>
              <a:t>	j &lt; </a:t>
            </a:r>
            <a:r>
              <a:rPr dirty="0" sz="2400" spc="-10">
                <a:latin typeface="Tahoma"/>
                <a:cs typeface="Tahoma"/>
              </a:rPr>
              <a:t>min</a:t>
            </a:r>
            <a:r>
              <a:rPr dirty="0" sz="2400" spc="-10">
                <a:latin typeface="黑体"/>
                <a:cs typeface="黑体"/>
              </a:rPr>
              <a:t>（</a:t>
            </a:r>
            <a:r>
              <a:rPr dirty="0" sz="2400" spc="-10">
                <a:latin typeface="Tahoma"/>
                <a:cs typeface="Tahoma"/>
              </a:rPr>
              <a:t>jj+B-</a:t>
            </a:r>
            <a:r>
              <a:rPr dirty="0" sz="2400">
                <a:latin typeface="Tahoma"/>
                <a:cs typeface="Tahoma"/>
              </a:rPr>
              <a:t>1,</a:t>
            </a:r>
            <a:r>
              <a:rPr dirty="0" sz="2400" spc="5">
                <a:latin typeface="Tahoma"/>
                <a:cs typeface="Tahoma"/>
              </a:rPr>
              <a:t> </a:t>
            </a:r>
            <a:r>
              <a:rPr dirty="0" sz="2400" spc="-25">
                <a:latin typeface="Tahoma"/>
                <a:cs typeface="Tahoma"/>
              </a:rPr>
              <a:t>N</a:t>
            </a:r>
            <a:r>
              <a:rPr dirty="0" sz="2400" spc="-25">
                <a:latin typeface="黑体"/>
                <a:cs typeface="黑体"/>
              </a:rPr>
              <a:t>）</a:t>
            </a:r>
            <a:r>
              <a:rPr dirty="0" sz="2400" spc="-25">
                <a:latin typeface="Tahoma"/>
                <a:cs typeface="Tahoma"/>
              </a:rPr>
              <a:t>;</a:t>
            </a:r>
            <a:r>
              <a:rPr dirty="0" sz="2400">
                <a:latin typeface="Tahoma"/>
                <a:cs typeface="Tahoma"/>
              </a:rPr>
              <a:t>	j</a:t>
            </a:r>
            <a:r>
              <a:rPr dirty="0" sz="2400" spc="-45">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j+1</a:t>
            </a:r>
            <a:r>
              <a:rPr dirty="0" sz="2400" spc="-5">
                <a:latin typeface="Tahoma"/>
                <a:cs typeface="Tahoma"/>
              </a:rPr>
              <a:t> </a:t>
            </a:r>
            <a:r>
              <a:rPr dirty="0" sz="2400">
                <a:latin typeface="黑体"/>
                <a:cs typeface="黑体"/>
              </a:rPr>
              <a:t>）</a:t>
            </a:r>
            <a:r>
              <a:rPr dirty="0" sz="2400" spc="-459">
                <a:latin typeface="黑体"/>
                <a:cs typeface="黑体"/>
              </a:rPr>
              <a:t> </a:t>
            </a:r>
            <a:r>
              <a:rPr dirty="0" sz="2400" spc="-50">
                <a:latin typeface="Tahoma"/>
                <a:cs typeface="Tahoma"/>
              </a:rPr>
              <a:t>{ </a:t>
            </a:r>
            <a:r>
              <a:rPr dirty="0" sz="2400">
                <a:latin typeface="Tahoma"/>
                <a:cs typeface="Tahoma"/>
              </a:rPr>
              <a:t>r</a:t>
            </a:r>
            <a:r>
              <a:rPr dirty="0" sz="2400" spc="-20">
                <a:latin typeface="Tahoma"/>
                <a:cs typeface="Tahoma"/>
              </a:rPr>
              <a:t> </a:t>
            </a:r>
            <a:r>
              <a:rPr dirty="0" sz="2400">
                <a:latin typeface="Tahoma"/>
                <a:cs typeface="Tahoma"/>
              </a:rPr>
              <a:t>=</a:t>
            </a:r>
            <a:r>
              <a:rPr dirty="0" sz="2400" spc="-5">
                <a:latin typeface="Tahoma"/>
                <a:cs typeface="Tahoma"/>
              </a:rPr>
              <a:t> </a:t>
            </a:r>
            <a:r>
              <a:rPr dirty="0" sz="2400" spc="-25">
                <a:latin typeface="Tahoma"/>
                <a:cs typeface="Tahoma"/>
              </a:rPr>
              <a:t>0;</a:t>
            </a:r>
            <a:endParaRPr sz="2400">
              <a:latin typeface="Tahoma"/>
              <a:cs typeface="Tahoma"/>
            </a:endParaRPr>
          </a:p>
          <a:p>
            <a:pPr marL="584200">
              <a:lnSpc>
                <a:spcPts val="2585"/>
              </a:lnSpc>
              <a:spcBef>
                <a:spcPts val="5"/>
              </a:spcBef>
              <a:tabLst>
                <a:tab pos="2619375" algn="l"/>
                <a:tab pos="5963920" algn="l"/>
              </a:tabLst>
            </a:pPr>
            <a:r>
              <a:rPr dirty="0" sz="2400">
                <a:latin typeface="Tahoma"/>
                <a:cs typeface="Tahoma"/>
              </a:rPr>
              <a:t>for</a:t>
            </a:r>
            <a:r>
              <a:rPr dirty="0" sz="2400" spc="-35">
                <a:latin typeface="Tahoma"/>
                <a:cs typeface="Tahoma"/>
              </a:rPr>
              <a:t> </a:t>
            </a:r>
            <a:r>
              <a:rPr dirty="0" sz="2400">
                <a:latin typeface="黑体"/>
                <a:cs typeface="黑体"/>
              </a:rPr>
              <a:t>（</a:t>
            </a:r>
            <a:r>
              <a:rPr dirty="0" sz="2400" spc="-445">
                <a:latin typeface="黑体"/>
                <a:cs typeface="黑体"/>
              </a:rPr>
              <a:t> </a:t>
            </a:r>
            <a:r>
              <a:rPr dirty="0" sz="2400">
                <a:latin typeface="Tahoma"/>
                <a:cs typeface="Tahoma"/>
              </a:rPr>
              <a:t>k</a:t>
            </a:r>
            <a:r>
              <a:rPr dirty="0" sz="2400" spc="-5">
                <a:latin typeface="Tahoma"/>
                <a:cs typeface="Tahoma"/>
              </a:rPr>
              <a:t> </a:t>
            </a:r>
            <a:r>
              <a:rPr dirty="0" sz="2400">
                <a:latin typeface="Tahoma"/>
                <a:cs typeface="Tahoma"/>
              </a:rPr>
              <a:t>= </a:t>
            </a:r>
            <a:r>
              <a:rPr dirty="0" sz="2400" spc="-25">
                <a:latin typeface="Tahoma"/>
                <a:cs typeface="Tahoma"/>
              </a:rPr>
              <a:t>kk;</a:t>
            </a:r>
            <a:r>
              <a:rPr dirty="0" sz="2400">
                <a:latin typeface="Tahoma"/>
                <a:cs typeface="Tahoma"/>
              </a:rPr>
              <a:t>	k</a:t>
            </a:r>
            <a:r>
              <a:rPr dirty="0" sz="2400" spc="-5">
                <a:latin typeface="Tahoma"/>
                <a:cs typeface="Tahoma"/>
              </a:rPr>
              <a:t> </a:t>
            </a:r>
            <a:r>
              <a:rPr dirty="0" sz="2400">
                <a:latin typeface="Tahoma"/>
                <a:cs typeface="Tahoma"/>
              </a:rPr>
              <a:t>&lt;</a:t>
            </a:r>
            <a:r>
              <a:rPr dirty="0" sz="2400" spc="-5">
                <a:latin typeface="Tahoma"/>
                <a:cs typeface="Tahoma"/>
              </a:rPr>
              <a:t> </a:t>
            </a:r>
            <a:r>
              <a:rPr dirty="0" sz="2400" spc="-10">
                <a:latin typeface="Tahoma"/>
                <a:cs typeface="Tahoma"/>
              </a:rPr>
              <a:t>min</a:t>
            </a:r>
            <a:r>
              <a:rPr dirty="0" sz="2400" spc="-10">
                <a:latin typeface="黑体"/>
                <a:cs typeface="黑体"/>
              </a:rPr>
              <a:t>（</a:t>
            </a:r>
            <a:r>
              <a:rPr dirty="0" sz="2400" spc="-10">
                <a:latin typeface="Tahoma"/>
                <a:cs typeface="Tahoma"/>
              </a:rPr>
              <a:t>kk+B-</a:t>
            </a:r>
            <a:r>
              <a:rPr dirty="0" sz="2400">
                <a:latin typeface="Tahoma"/>
                <a:cs typeface="Tahoma"/>
              </a:rPr>
              <a:t>1,</a:t>
            </a:r>
            <a:r>
              <a:rPr dirty="0" sz="2400" spc="-15">
                <a:latin typeface="Tahoma"/>
                <a:cs typeface="Tahoma"/>
              </a:rPr>
              <a:t> </a:t>
            </a:r>
            <a:r>
              <a:rPr dirty="0" sz="2400" spc="-25">
                <a:latin typeface="Tahoma"/>
                <a:cs typeface="Tahoma"/>
              </a:rPr>
              <a:t>N</a:t>
            </a:r>
            <a:r>
              <a:rPr dirty="0" sz="2400" spc="-25">
                <a:latin typeface="黑体"/>
                <a:cs typeface="黑体"/>
              </a:rPr>
              <a:t>）</a:t>
            </a:r>
            <a:r>
              <a:rPr dirty="0" sz="2400" spc="-25">
                <a:latin typeface="Tahoma"/>
                <a:cs typeface="Tahoma"/>
              </a:rPr>
              <a:t>;</a:t>
            </a:r>
            <a:r>
              <a:rPr dirty="0" sz="2400">
                <a:latin typeface="Tahoma"/>
                <a:cs typeface="Tahoma"/>
              </a:rPr>
              <a:t>	k</a:t>
            </a:r>
            <a:r>
              <a:rPr dirty="0" sz="2400" spc="-10">
                <a:latin typeface="Tahoma"/>
                <a:cs typeface="Tahoma"/>
              </a:rPr>
              <a:t> </a:t>
            </a:r>
            <a:r>
              <a:rPr dirty="0" sz="2400">
                <a:latin typeface="Tahoma"/>
                <a:cs typeface="Tahoma"/>
              </a:rPr>
              <a:t>=</a:t>
            </a:r>
            <a:r>
              <a:rPr dirty="0" sz="2400" spc="-10">
                <a:latin typeface="Tahoma"/>
                <a:cs typeface="Tahoma"/>
              </a:rPr>
              <a:t> </a:t>
            </a:r>
            <a:r>
              <a:rPr dirty="0" sz="2400" spc="-20">
                <a:latin typeface="Tahoma"/>
                <a:cs typeface="Tahoma"/>
              </a:rPr>
              <a:t>k+1</a:t>
            </a:r>
            <a:r>
              <a:rPr dirty="0" sz="2400" spc="-20">
                <a:latin typeface="黑体"/>
                <a:cs typeface="黑体"/>
              </a:rPr>
              <a:t>）</a:t>
            </a:r>
            <a:endParaRPr sz="2400">
              <a:latin typeface="黑体"/>
              <a:cs typeface="黑体"/>
            </a:endParaRPr>
          </a:p>
          <a:p>
            <a:pPr marL="469900">
              <a:lnSpc>
                <a:spcPts val="2585"/>
              </a:lnSpc>
            </a:pPr>
            <a:r>
              <a:rPr dirty="0" sz="2400" spc="-50">
                <a:latin typeface="Tahoma"/>
                <a:cs typeface="Tahoma"/>
              </a:rPr>
              <a:t>{</a:t>
            </a:r>
            <a:endParaRPr sz="2400">
              <a:latin typeface="Tahoma"/>
              <a:cs typeface="Tahoma"/>
            </a:endParaRPr>
          </a:p>
          <a:p>
            <a:pPr marL="774700">
              <a:lnSpc>
                <a:spcPct val="100000"/>
              </a:lnSpc>
            </a:pPr>
            <a:r>
              <a:rPr dirty="0" sz="2400">
                <a:latin typeface="Tahoma"/>
                <a:cs typeface="Tahoma"/>
              </a:rPr>
              <a:t>r</a:t>
            </a:r>
            <a:r>
              <a:rPr dirty="0" sz="2400" spc="-25">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r</a:t>
            </a:r>
            <a:r>
              <a:rPr dirty="0" sz="2400" spc="-15">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y[</a:t>
            </a:r>
            <a:r>
              <a:rPr dirty="0" sz="2400" spc="-10">
                <a:latin typeface="Tahoma"/>
                <a:cs typeface="Tahoma"/>
              </a:rPr>
              <a:t> </a:t>
            </a:r>
            <a:r>
              <a:rPr dirty="0" sz="2400">
                <a:latin typeface="Tahoma"/>
                <a:cs typeface="Tahoma"/>
              </a:rPr>
              <a:t>i</a:t>
            </a:r>
            <a:r>
              <a:rPr dirty="0" sz="2400" spc="-15">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k</a:t>
            </a:r>
            <a:r>
              <a:rPr dirty="0" sz="2400" spc="-5">
                <a:latin typeface="Tahoma"/>
                <a:cs typeface="Tahoma"/>
              </a:rPr>
              <a:t> </a:t>
            </a:r>
            <a:r>
              <a:rPr dirty="0" sz="2400">
                <a:latin typeface="Tahoma"/>
                <a:cs typeface="Tahoma"/>
              </a:rPr>
              <a:t>]</a:t>
            </a:r>
            <a:r>
              <a:rPr dirty="0" sz="2400" spc="-15">
                <a:latin typeface="Tahoma"/>
                <a:cs typeface="Tahoma"/>
              </a:rPr>
              <a:t> </a:t>
            </a:r>
            <a:r>
              <a:rPr dirty="0" sz="2400">
                <a:latin typeface="Tahoma"/>
                <a:cs typeface="Tahoma"/>
              </a:rPr>
              <a:t>*</a:t>
            </a:r>
            <a:r>
              <a:rPr dirty="0" sz="2400" spc="-15">
                <a:latin typeface="Tahoma"/>
                <a:cs typeface="Tahoma"/>
              </a:rPr>
              <a:t> </a:t>
            </a:r>
            <a:r>
              <a:rPr dirty="0" sz="2400">
                <a:latin typeface="Tahoma"/>
                <a:cs typeface="Tahoma"/>
              </a:rPr>
              <a:t>z[</a:t>
            </a:r>
            <a:r>
              <a:rPr dirty="0" sz="2400" spc="-10">
                <a:latin typeface="Tahoma"/>
                <a:cs typeface="Tahoma"/>
              </a:rPr>
              <a:t> </a:t>
            </a:r>
            <a:r>
              <a:rPr dirty="0" sz="2400">
                <a:latin typeface="Tahoma"/>
                <a:cs typeface="Tahoma"/>
              </a:rPr>
              <a:t>k</a:t>
            </a:r>
            <a:r>
              <a:rPr dirty="0" sz="2400" spc="-10">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j</a:t>
            </a:r>
            <a:r>
              <a:rPr dirty="0" sz="2400" spc="-10">
                <a:latin typeface="Tahoma"/>
                <a:cs typeface="Tahoma"/>
              </a:rPr>
              <a:t> </a:t>
            </a:r>
            <a:r>
              <a:rPr dirty="0" sz="2400" spc="-25">
                <a:latin typeface="Tahoma"/>
                <a:cs typeface="Tahoma"/>
              </a:rPr>
              <a:t>];</a:t>
            </a:r>
            <a:endParaRPr sz="2400">
              <a:latin typeface="Tahoma"/>
              <a:cs typeface="Tahoma"/>
            </a:endParaRPr>
          </a:p>
          <a:p>
            <a:pPr marL="584200">
              <a:lnSpc>
                <a:spcPct val="100000"/>
              </a:lnSpc>
            </a:pPr>
            <a:r>
              <a:rPr dirty="0" sz="2400" spc="-50">
                <a:latin typeface="Tahoma"/>
                <a:cs typeface="Tahoma"/>
              </a:rPr>
              <a:t>}</a:t>
            </a:r>
            <a:endParaRPr sz="2400">
              <a:latin typeface="Tahoma"/>
              <a:cs typeface="Tahoma"/>
            </a:endParaRPr>
          </a:p>
          <a:p>
            <a:pPr marL="678180">
              <a:lnSpc>
                <a:spcPct val="100000"/>
              </a:lnSpc>
            </a:pPr>
            <a:r>
              <a:rPr dirty="0" sz="2400">
                <a:latin typeface="Tahoma"/>
                <a:cs typeface="Tahoma"/>
              </a:rPr>
              <a:t>x[</a:t>
            </a:r>
            <a:r>
              <a:rPr dirty="0" sz="2400" spc="-5">
                <a:latin typeface="Tahoma"/>
                <a:cs typeface="Tahoma"/>
              </a:rPr>
              <a:t> </a:t>
            </a:r>
            <a:r>
              <a:rPr dirty="0" sz="2400">
                <a:latin typeface="Tahoma"/>
                <a:cs typeface="Tahoma"/>
              </a:rPr>
              <a:t>i</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j</a:t>
            </a:r>
            <a:r>
              <a:rPr dirty="0" sz="2400" spc="-10">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a:t>
            </a:r>
            <a:r>
              <a:rPr dirty="0" sz="2400" spc="-5">
                <a:latin typeface="Tahoma"/>
                <a:cs typeface="Tahoma"/>
              </a:rPr>
              <a:t> </a:t>
            </a:r>
            <a:r>
              <a:rPr dirty="0" sz="2400">
                <a:latin typeface="Tahoma"/>
                <a:cs typeface="Tahoma"/>
              </a:rPr>
              <a:t>x[</a:t>
            </a:r>
            <a:r>
              <a:rPr dirty="0" sz="2400" spc="-5">
                <a:latin typeface="Tahoma"/>
                <a:cs typeface="Tahoma"/>
              </a:rPr>
              <a:t> </a:t>
            </a:r>
            <a:r>
              <a:rPr dirty="0" sz="2400">
                <a:latin typeface="Tahoma"/>
                <a:cs typeface="Tahoma"/>
              </a:rPr>
              <a:t>i</a:t>
            </a:r>
            <a:r>
              <a:rPr dirty="0" sz="2400" spc="-10">
                <a:latin typeface="Tahoma"/>
                <a:cs typeface="Tahoma"/>
              </a:rPr>
              <a:t> </a:t>
            </a:r>
            <a:r>
              <a:rPr dirty="0" sz="2400">
                <a:latin typeface="Tahoma"/>
                <a:cs typeface="Tahoma"/>
              </a:rPr>
              <a:t>][</a:t>
            </a:r>
            <a:r>
              <a:rPr dirty="0" sz="2400" spc="-10">
                <a:latin typeface="Tahoma"/>
                <a:cs typeface="Tahoma"/>
              </a:rPr>
              <a:t> </a:t>
            </a:r>
            <a:r>
              <a:rPr dirty="0" sz="2400">
                <a:latin typeface="Tahoma"/>
                <a:cs typeface="Tahoma"/>
              </a:rPr>
              <a:t>j</a:t>
            </a:r>
            <a:r>
              <a:rPr dirty="0" sz="2400" spc="-15">
                <a:latin typeface="Tahoma"/>
                <a:cs typeface="Tahoma"/>
              </a:rPr>
              <a:t> </a:t>
            </a:r>
            <a:r>
              <a:rPr dirty="0" sz="2400">
                <a:latin typeface="Tahoma"/>
                <a:cs typeface="Tahoma"/>
              </a:rPr>
              <a:t>] +</a:t>
            </a:r>
            <a:r>
              <a:rPr dirty="0" sz="2400" spc="-5">
                <a:latin typeface="Tahoma"/>
                <a:cs typeface="Tahoma"/>
              </a:rPr>
              <a:t> </a:t>
            </a:r>
            <a:r>
              <a:rPr dirty="0" sz="2400" spc="-35">
                <a:latin typeface="Tahoma"/>
                <a:cs typeface="Tahoma"/>
              </a:rPr>
              <a:t>r;</a:t>
            </a:r>
            <a:endParaRPr sz="2400">
              <a:latin typeface="Tahoma"/>
              <a:cs typeface="Tahoma"/>
            </a:endParaRPr>
          </a:p>
          <a:p>
            <a:pPr marL="393700">
              <a:lnSpc>
                <a:spcPct val="100000"/>
              </a:lnSpc>
            </a:pPr>
            <a:r>
              <a:rPr dirty="0" sz="2400" spc="-50">
                <a:latin typeface="Tahoma"/>
                <a:cs typeface="Tahoma"/>
              </a:rPr>
              <a:t>}</a:t>
            </a:r>
            <a:endParaRPr sz="2400">
              <a:latin typeface="Tahoma"/>
              <a:cs typeface="Tahoma"/>
            </a:endParaRPr>
          </a:p>
        </p:txBody>
      </p:sp>
      <p:sp>
        <p:nvSpPr>
          <p:cNvPr id="10" name="object 10" descr=""/>
          <p:cNvSpPr txBox="1"/>
          <p:nvPr/>
        </p:nvSpPr>
        <p:spPr>
          <a:xfrm>
            <a:off x="2766695" y="5505094"/>
            <a:ext cx="3195955" cy="331470"/>
          </a:xfrm>
          <a:prstGeom prst="rect">
            <a:avLst/>
          </a:prstGeom>
        </p:spPr>
        <p:txBody>
          <a:bodyPr wrap="square" lIns="0" tIns="13335" rIns="0" bIns="0" rtlCol="0" vert="horz">
            <a:spAutoFit/>
          </a:bodyPr>
          <a:lstStyle/>
          <a:p>
            <a:pPr marL="38100">
              <a:lnSpc>
                <a:spcPct val="100000"/>
              </a:lnSpc>
              <a:spcBef>
                <a:spcPts val="105"/>
              </a:spcBef>
            </a:pPr>
            <a:r>
              <a:rPr dirty="0" sz="2000" spc="-15" b="1">
                <a:solidFill>
                  <a:srgbClr val="E14B04"/>
                </a:solidFill>
                <a:latin typeface="宋体"/>
                <a:cs typeface="宋体"/>
              </a:rPr>
              <a:t>(不命中次数：</a:t>
            </a:r>
            <a:r>
              <a:rPr dirty="0" sz="2000" b="1">
                <a:solidFill>
                  <a:srgbClr val="E14B04"/>
                </a:solidFill>
                <a:latin typeface="宋体"/>
                <a:cs typeface="宋体"/>
              </a:rPr>
              <a:t>2N</a:t>
            </a:r>
            <a:r>
              <a:rPr dirty="0" baseline="25641" sz="1950" b="1">
                <a:solidFill>
                  <a:srgbClr val="E14B04"/>
                </a:solidFill>
                <a:latin typeface="宋体"/>
                <a:cs typeface="宋体"/>
              </a:rPr>
              <a:t>3</a:t>
            </a:r>
            <a:r>
              <a:rPr dirty="0" baseline="25641" sz="1950" spc="480" b="1">
                <a:solidFill>
                  <a:srgbClr val="E14B04"/>
                </a:solidFill>
                <a:latin typeface="宋体"/>
                <a:cs typeface="宋体"/>
              </a:rPr>
              <a:t> </a:t>
            </a:r>
            <a:r>
              <a:rPr dirty="0" sz="2000" b="1">
                <a:solidFill>
                  <a:srgbClr val="E14B04"/>
                </a:solidFill>
                <a:latin typeface="宋体"/>
                <a:cs typeface="宋体"/>
              </a:rPr>
              <a:t>/B</a:t>
            </a:r>
            <a:r>
              <a:rPr dirty="0" sz="2000" spc="-10" b="1">
                <a:solidFill>
                  <a:srgbClr val="E14B04"/>
                </a:solidFill>
                <a:latin typeface="宋体"/>
                <a:cs typeface="宋体"/>
              </a:rPr>
              <a:t> ＋</a:t>
            </a:r>
            <a:r>
              <a:rPr dirty="0" sz="2000" spc="-20" b="1">
                <a:solidFill>
                  <a:srgbClr val="E14B04"/>
                </a:solidFill>
                <a:latin typeface="宋体"/>
                <a:cs typeface="宋体"/>
              </a:rPr>
              <a:t>N</a:t>
            </a:r>
            <a:r>
              <a:rPr dirty="0" baseline="25641" sz="1950" spc="-30" b="1">
                <a:solidFill>
                  <a:srgbClr val="E14B04"/>
                </a:solidFill>
                <a:latin typeface="宋体"/>
                <a:cs typeface="宋体"/>
              </a:rPr>
              <a:t>2</a:t>
            </a:r>
            <a:r>
              <a:rPr dirty="0" sz="2000" spc="-20" b="1">
                <a:solidFill>
                  <a:srgbClr val="E14B04"/>
                </a:solidFill>
                <a:latin typeface="宋体"/>
                <a:cs typeface="宋体"/>
              </a:rPr>
              <a:t>)</a:t>
            </a:r>
            <a:endParaRPr sz="2000">
              <a:latin typeface="宋体"/>
              <a:cs typeface="宋体"/>
            </a:endParaRPr>
          </a:p>
        </p:txBody>
      </p:sp>
      <p:sp>
        <p:nvSpPr>
          <p:cNvPr id="11" name="object 11"/>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
        <p:nvSpPr>
          <p:cNvPr id="12" name="object 12" descr=""/>
          <p:cNvSpPr txBox="1"/>
          <p:nvPr/>
        </p:nvSpPr>
        <p:spPr>
          <a:xfrm>
            <a:off x="413715" y="941323"/>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40458B"/>
                </a:solidFill>
                <a:latin typeface="黑体"/>
                <a:cs typeface="黑体"/>
              </a:rPr>
              <a:t>分块修改后</a:t>
            </a:r>
            <a:endParaRPr sz="2400">
              <a:latin typeface="黑体"/>
              <a:cs typeface="黑体"/>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9" name="object 9"/>
          <p:cNvPicPr/>
          <p:nvPr/>
        </p:nvPicPr>
        <p:blipFill>
          <a:blip r:embed="rId3" cstate="print"/>
          <a:stretch>
            <a:fillRect/>
          </a:stretch>
        </p:blipFill>
        <p:spPr>
          <a:xfrm>
            <a:off x="14288" y="836675"/>
            <a:ext cx="7272272" cy="4678299"/>
          </a:xfrm>
          <a:prstGeom prst="rect">
            <a:avLst/>
          </a:prstGeom>
        </p:spPr>
      </p:pic>
      <p:sp>
        <p:nvSpPr>
          <p:cNvPr id="10" name="object 10"/>
          <p:cNvSpPr txBox="1">
            <a:spLocks noGrp="1"/>
          </p:cNvSpPr>
          <p:nvPr>
            <p:ph type="title"/>
          </p:nvPr>
        </p:nvSpPr>
        <p:spPr>
          <a:xfrm>
            <a:off x="1782317" y="84201"/>
            <a:ext cx="2540635" cy="391160"/>
          </a:xfrm>
          <a:prstGeom prst="rect"/>
        </p:spPr>
        <p:txBody>
          <a:bodyPr wrap="square" lIns="0" tIns="0" rIns="0" bIns="0" rtlCol="0" vert="horz">
            <a:spAutoFit/>
          </a:bodyPr>
          <a:lstStyle/>
          <a:p>
            <a:pPr marL="12700">
              <a:lnSpc>
                <a:spcPts val="3020"/>
              </a:lnSpc>
            </a:pPr>
            <a:r>
              <a:rPr dirty="0" u="none" sz="2600">
                <a:solidFill>
                  <a:srgbClr val="0000CC"/>
                </a:solidFill>
              </a:rPr>
              <a:t>7.3.8</a:t>
            </a:r>
            <a:r>
              <a:rPr dirty="0" u="none" sz="2600" spc="-15">
                <a:solidFill>
                  <a:srgbClr val="0000CC"/>
                </a:solidFill>
              </a:rPr>
              <a:t> </a:t>
            </a:r>
            <a:r>
              <a:rPr dirty="0" u="none" sz="2400" spc="-10">
                <a:solidFill>
                  <a:srgbClr val="0000CC"/>
                </a:solidFill>
              </a:rPr>
              <a:t>编译器优化</a:t>
            </a:r>
            <a:endParaRPr sz="2400"/>
          </a:p>
        </p:txBody>
      </p:sp>
      <p:sp>
        <p:nvSpPr>
          <p:cNvPr id="11" name="object 11" descr=""/>
          <p:cNvSpPr txBox="1"/>
          <p:nvPr/>
        </p:nvSpPr>
        <p:spPr>
          <a:xfrm>
            <a:off x="8047481" y="1127252"/>
            <a:ext cx="4159250" cy="2952115"/>
          </a:xfrm>
          <a:prstGeom prst="rect">
            <a:avLst/>
          </a:prstGeom>
        </p:spPr>
        <p:txBody>
          <a:bodyPr wrap="square" lIns="0" tIns="12700" rIns="0" bIns="0" rtlCol="0" vert="horz">
            <a:spAutoFit/>
          </a:bodyPr>
          <a:lstStyle/>
          <a:p>
            <a:pPr marL="12700" marR="5080">
              <a:lnSpc>
                <a:spcPct val="100000"/>
              </a:lnSpc>
              <a:spcBef>
                <a:spcPts val="100"/>
              </a:spcBef>
            </a:pPr>
            <a:r>
              <a:rPr dirty="0" sz="2400">
                <a:solidFill>
                  <a:srgbClr val="FF0000"/>
                </a:solidFill>
                <a:latin typeface="黑体"/>
                <a:cs typeface="黑体"/>
              </a:rPr>
              <a:t>分块后：引进新的变量</a:t>
            </a:r>
            <a:r>
              <a:rPr dirty="0" sz="2400" spc="-10">
                <a:solidFill>
                  <a:srgbClr val="FF0000"/>
                </a:solidFill>
                <a:latin typeface="Tahoma"/>
                <a:cs typeface="Tahoma"/>
              </a:rPr>
              <a:t>jj</a:t>
            </a:r>
            <a:r>
              <a:rPr dirty="0" sz="2400" spc="-10">
                <a:solidFill>
                  <a:srgbClr val="FF0000"/>
                </a:solidFill>
                <a:latin typeface="黑体"/>
                <a:cs typeface="黑体"/>
              </a:rPr>
              <a:t>，</a:t>
            </a:r>
            <a:r>
              <a:rPr dirty="0" sz="2400" spc="-10">
                <a:solidFill>
                  <a:srgbClr val="FF0000"/>
                </a:solidFill>
                <a:latin typeface="Tahoma"/>
                <a:cs typeface="Tahoma"/>
              </a:rPr>
              <a:t>kk</a:t>
            </a:r>
            <a:r>
              <a:rPr dirty="0" sz="2400" spc="-10">
                <a:solidFill>
                  <a:srgbClr val="FF0000"/>
                </a:solidFill>
                <a:latin typeface="黑体"/>
                <a:cs typeface="黑体"/>
              </a:rPr>
              <a:t>， </a:t>
            </a:r>
            <a:r>
              <a:rPr dirty="0" sz="2400" spc="-10">
                <a:solidFill>
                  <a:srgbClr val="40458B"/>
                </a:solidFill>
                <a:latin typeface="Tahoma"/>
                <a:cs typeface="Tahoma"/>
              </a:rPr>
              <a:t>X</a:t>
            </a:r>
            <a:r>
              <a:rPr dirty="0" sz="2400">
                <a:solidFill>
                  <a:srgbClr val="40458B"/>
                </a:solidFill>
                <a:latin typeface="黑体"/>
                <a:cs typeface="黑体"/>
              </a:rPr>
              <a:t>中第</a:t>
            </a:r>
            <a:r>
              <a:rPr dirty="0" sz="2400" spc="-20">
                <a:solidFill>
                  <a:srgbClr val="40458B"/>
                </a:solidFill>
                <a:latin typeface="Tahoma"/>
                <a:cs typeface="Tahoma"/>
              </a:rPr>
              <a:t>i=1</a:t>
            </a:r>
            <a:r>
              <a:rPr dirty="0" sz="2400" spc="-10">
                <a:solidFill>
                  <a:srgbClr val="40458B"/>
                </a:solidFill>
                <a:latin typeface="黑体"/>
                <a:cs typeface="黑体"/>
              </a:rPr>
              <a:t>行的每一个元素：例</a:t>
            </a:r>
            <a:r>
              <a:rPr dirty="0" sz="2400">
                <a:solidFill>
                  <a:srgbClr val="40458B"/>
                </a:solidFill>
                <a:latin typeface="黑体"/>
                <a:cs typeface="黑体"/>
              </a:rPr>
              <a:t>如第一个元素（黄色</a:t>
            </a:r>
            <a:r>
              <a:rPr dirty="0" sz="2400" spc="-10">
                <a:solidFill>
                  <a:srgbClr val="40458B"/>
                </a:solidFill>
                <a:latin typeface="黑体"/>
                <a:cs typeface="黑体"/>
              </a:rPr>
              <a:t>），</a:t>
            </a:r>
            <a:r>
              <a:rPr dirty="0" sz="2400" spc="-10">
                <a:solidFill>
                  <a:srgbClr val="40458B"/>
                </a:solidFill>
                <a:latin typeface="Tahoma"/>
                <a:cs typeface="Tahoma"/>
              </a:rPr>
              <a:t>y</a:t>
            </a:r>
            <a:r>
              <a:rPr dirty="0" sz="2400" spc="-25">
                <a:solidFill>
                  <a:srgbClr val="40458B"/>
                </a:solidFill>
                <a:latin typeface="黑体"/>
                <a:cs typeface="黑体"/>
              </a:rPr>
              <a:t>中的</a:t>
            </a:r>
            <a:r>
              <a:rPr dirty="0" sz="2400" spc="-10">
                <a:solidFill>
                  <a:srgbClr val="40458B"/>
                </a:solidFill>
                <a:latin typeface="黑体"/>
                <a:cs typeface="黑体"/>
              </a:rPr>
              <a:t>第</a:t>
            </a:r>
            <a:r>
              <a:rPr dirty="0" sz="2400" spc="-10">
                <a:solidFill>
                  <a:srgbClr val="40458B"/>
                </a:solidFill>
                <a:latin typeface="Tahoma"/>
                <a:cs typeface="Tahoma"/>
              </a:rPr>
              <a:t>i</a:t>
            </a:r>
            <a:r>
              <a:rPr dirty="0" sz="2400" spc="-10">
                <a:solidFill>
                  <a:srgbClr val="40458B"/>
                </a:solidFill>
                <a:latin typeface="黑体"/>
                <a:cs typeface="黑体"/>
              </a:rPr>
              <a:t>行三个数据（黄色）</a:t>
            </a:r>
            <a:r>
              <a:rPr dirty="0" sz="2400" spc="-25">
                <a:solidFill>
                  <a:srgbClr val="40458B"/>
                </a:solidFill>
                <a:latin typeface="黑体"/>
                <a:cs typeface="黑体"/>
              </a:rPr>
              <a:t>分别乘</a:t>
            </a:r>
            <a:r>
              <a:rPr dirty="0" sz="2400">
                <a:solidFill>
                  <a:srgbClr val="40458B"/>
                </a:solidFill>
                <a:latin typeface="黑体"/>
                <a:cs typeface="黑体"/>
              </a:rPr>
              <a:t>以</a:t>
            </a:r>
            <a:r>
              <a:rPr dirty="0" sz="2400">
                <a:solidFill>
                  <a:srgbClr val="40458B"/>
                </a:solidFill>
                <a:latin typeface="Tahoma"/>
                <a:cs typeface="Tahoma"/>
              </a:rPr>
              <a:t>z</a:t>
            </a:r>
            <a:r>
              <a:rPr dirty="0" sz="2400">
                <a:solidFill>
                  <a:srgbClr val="40458B"/>
                </a:solidFill>
                <a:latin typeface="黑体"/>
                <a:cs typeface="黑体"/>
              </a:rPr>
              <a:t>中的第一列的三个（紫色</a:t>
            </a:r>
            <a:r>
              <a:rPr dirty="0" sz="2400" spc="-50">
                <a:solidFill>
                  <a:srgbClr val="40458B"/>
                </a:solidFill>
                <a:latin typeface="黑体"/>
                <a:cs typeface="黑体"/>
              </a:rPr>
              <a:t>）</a:t>
            </a:r>
            <a:r>
              <a:rPr dirty="0" sz="2400" spc="-20">
                <a:solidFill>
                  <a:srgbClr val="40458B"/>
                </a:solidFill>
                <a:latin typeface="黑体"/>
                <a:cs typeface="黑体"/>
              </a:rPr>
              <a:t>每一列</a:t>
            </a:r>
            <a:endParaRPr sz="2400">
              <a:latin typeface="黑体"/>
              <a:cs typeface="黑体"/>
            </a:endParaRPr>
          </a:p>
          <a:p>
            <a:pPr marL="12700">
              <a:lnSpc>
                <a:spcPct val="100000"/>
              </a:lnSpc>
              <a:spcBef>
                <a:spcPts val="2885"/>
              </a:spcBef>
            </a:pPr>
            <a:r>
              <a:rPr dirty="0" sz="2400" spc="-10">
                <a:solidFill>
                  <a:srgbClr val="40458B"/>
                </a:solidFill>
                <a:latin typeface="黑体"/>
                <a:cs typeface="黑体"/>
              </a:rPr>
              <a:t>把大块变成小块</a:t>
            </a:r>
            <a:endParaRPr sz="2400">
              <a:latin typeface="黑体"/>
              <a:cs typeface="黑体"/>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98/170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xfrm>
            <a:off x="1543050" y="146050"/>
            <a:ext cx="10661650" cy="422275"/>
          </a:xfrm>
          <a:prstGeom prst="rect"/>
        </p:spPr>
        <p:txBody>
          <a:bodyPr wrap="square" lIns="0" tIns="12700" rIns="0" bIns="0" rtlCol="0" vert="horz">
            <a:spAutoFit/>
          </a:bodyPr>
          <a:lstStyle/>
          <a:p>
            <a:pPr marL="12700">
              <a:lnSpc>
                <a:spcPct val="100000"/>
              </a:lnSpc>
              <a:spcBef>
                <a:spcPts val="100"/>
              </a:spcBef>
              <a:tabLst>
                <a:tab pos="10648315" algn="l"/>
              </a:tabLst>
            </a:pPr>
            <a:r>
              <a:rPr dirty="0" sz="2600" spc="585">
                <a:solidFill>
                  <a:srgbClr val="0000CC"/>
                </a:solidFill>
              </a:rPr>
              <a:t> </a:t>
            </a:r>
            <a:r>
              <a:rPr dirty="0" sz="2600">
                <a:solidFill>
                  <a:srgbClr val="0000CC"/>
                </a:solidFill>
              </a:rPr>
              <a:t>7.3.9</a:t>
            </a:r>
            <a:r>
              <a:rPr dirty="0" sz="2600" spc="-25">
                <a:solidFill>
                  <a:srgbClr val="0000CC"/>
                </a:solidFill>
              </a:rPr>
              <a:t> </a:t>
            </a:r>
            <a:r>
              <a:rPr dirty="0" sz="2400">
                <a:solidFill>
                  <a:srgbClr val="0000CC"/>
                </a:solidFill>
                <a:latin typeface="Times New Roman"/>
                <a:cs typeface="Times New Roman"/>
              </a:rPr>
              <a:t>“</a:t>
            </a:r>
            <a:r>
              <a:rPr dirty="0" sz="2400">
                <a:solidFill>
                  <a:srgbClr val="0000CC"/>
                </a:solidFill>
              </a:rPr>
              <a:t>牺牲”</a:t>
            </a:r>
            <a:r>
              <a:rPr dirty="0" sz="2400" spc="-455">
                <a:solidFill>
                  <a:srgbClr val="0000CC"/>
                </a:solidFill>
              </a:rPr>
              <a:t> </a:t>
            </a:r>
            <a:r>
              <a:rPr dirty="0" sz="2400" spc="-10">
                <a:solidFill>
                  <a:srgbClr val="0000CC"/>
                </a:solidFill>
                <a:latin typeface="Tahoma"/>
                <a:cs typeface="Tahoma"/>
              </a:rPr>
              <a:t>Cache</a:t>
            </a:r>
            <a:r>
              <a:rPr dirty="0" sz="2400">
                <a:solidFill>
                  <a:srgbClr val="0000CC"/>
                </a:solidFill>
                <a:latin typeface="Tahoma"/>
                <a:cs typeface="Tahoma"/>
              </a:rPr>
              <a:t>	</a:t>
            </a:r>
            <a:endParaRPr sz="2400">
              <a:latin typeface="Tahoma"/>
              <a:cs typeface="Tahoma"/>
            </a:endParaRPr>
          </a:p>
        </p:txBody>
      </p:sp>
      <p:sp>
        <p:nvSpPr>
          <p:cNvPr id="9" name="object 9" descr=""/>
          <p:cNvSpPr txBox="1"/>
          <p:nvPr/>
        </p:nvSpPr>
        <p:spPr>
          <a:xfrm>
            <a:off x="486867" y="538379"/>
            <a:ext cx="11172190" cy="3392170"/>
          </a:xfrm>
          <a:prstGeom prst="rect">
            <a:avLst/>
          </a:prstGeom>
        </p:spPr>
        <p:txBody>
          <a:bodyPr wrap="square" lIns="0" tIns="122555" rIns="0" bIns="0" rtlCol="0" vert="horz">
            <a:spAutoFit/>
          </a:bodyPr>
          <a:lstStyle/>
          <a:p>
            <a:pPr marL="299720">
              <a:lnSpc>
                <a:spcPct val="100000"/>
              </a:lnSpc>
              <a:spcBef>
                <a:spcPts val="965"/>
              </a:spcBef>
            </a:pPr>
            <a:r>
              <a:rPr dirty="0" sz="2400" spc="-10">
                <a:solidFill>
                  <a:srgbClr val="0000CC"/>
                </a:solidFill>
                <a:latin typeface="黑体"/>
                <a:cs typeface="黑体"/>
              </a:rPr>
              <a:t>优化策略八：“牺牲”Cache</a:t>
            </a:r>
            <a:endParaRPr sz="2400">
              <a:latin typeface="黑体"/>
              <a:cs typeface="黑体"/>
            </a:endParaRPr>
          </a:p>
          <a:p>
            <a:pPr marL="469265" indent="-456565">
              <a:lnSpc>
                <a:spcPct val="100000"/>
              </a:lnSpc>
              <a:spcBef>
                <a:spcPts val="870"/>
              </a:spcBef>
              <a:buClr>
                <a:srgbClr val="40458B"/>
              </a:buClr>
              <a:buFont typeface="Tahoma"/>
              <a:buAutoNum type="arabicPeriod"/>
              <a:tabLst>
                <a:tab pos="469265" algn="l"/>
              </a:tabLst>
            </a:pPr>
            <a:r>
              <a:rPr dirty="0" sz="2400" spc="-5">
                <a:solidFill>
                  <a:srgbClr val="E14B04"/>
                </a:solidFill>
                <a:latin typeface="黑体"/>
                <a:cs typeface="黑体"/>
              </a:rPr>
              <a:t>一种能减少冲突不命中次数而又不影响时钟频率的方法。</a:t>
            </a:r>
            <a:endParaRPr sz="2400">
              <a:latin typeface="黑体"/>
              <a:cs typeface="黑体"/>
            </a:endParaRPr>
          </a:p>
          <a:p>
            <a:pPr marL="469265" indent="-456565">
              <a:lnSpc>
                <a:spcPct val="100000"/>
              </a:lnSpc>
              <a:spcBef>
                <a:spcPts val="1150"/>
              </a:spcBef>
              <a:buClr>
                <a:srgbClr val="40458B"/>
              </a:buClr>
              <a:buFont typeface="Tahoma"/>
              <a:buAutoNum type="arabicPeriod"/>
              <a:tabLst>
                <a:tab pos="469265" algn="l"/>
              </a:tabLst>
            </a:pPr>
            <a:r>
              <a:rPr dirty="0" sz="2400" spc="-20">
                <a:solidFill>
                  <a:srgbClr val="E14B04"/>
                </a:solidFill>
                <a:latin typeface="黑体"/>
                <a:cs typeface="黑体"/>
              </a:rPr>
              <a:t>基本思想</a:t>
            </a:r>
            <a:endParaRPr sz="2400">
              <a:latin typeface="黑体"/>
              <a:cs typeface="黑体"/>
            </a:endParaRPr>
          </a:p>
          <a:p>
            <a:pPr lvl="1" marL="1099185" marR="5080" indent="-457834">
              <a:lnSpc>
                <a:spcPct val="120000"/>
              </a:lnSpc>
              <a:spcBef>
                <a:spcPts val="580"/>
              </a:spcBef>
              <a:buSzPct val="89583"/>
              <a:buFont typeface="Wingdings"/>
              <a:buChar char=""/>
              <a:tabLst>
                <a:tab pos="1099185" algn="l"/>
              </a:tabLst>
            </a:pPr>
            <a:r>
              <a:rPr dirty="0" sz="2400">
                <a:solidFill>
                  <a:srgbClr val="40458B"/>
                </a:solidFill>
                <a:latin typeface="黑体"/>
                <a:cs typeface="黑体"/>
              </a:rPr>
              <a:t>在Cache和它从下一级存储器调数据的通路之间设置一个全相联的小</a:t>
            </a:r>
            <a:r>
              <a:rPr dirty="0" sz="2400" spc="-10">
                <a:solidFill>
                  <a:srgbClr val="40458B"/>
                </a:solidFill>
                <a:latin typeface="黑体"/>
                <a:cs typeface="黑体"/>
              </a:rPr>
              <a:t>Cache，</a:t>
            </a:r>
            <a:r>
              <a:rPr dirty="0" sz="2400">
                <a:solidFill>
                  <a:srgbClr val="40458B"/>
                </a:solidFill>
                <a:latin typeface="黑体"/>
                <a:cs typeface="黑体"/>
              </a:rPr>
              <a:t>称为</a:t>
            </a:r>
            <a:r>
              <a:rPr dirty="0" sz="2400">
                <a:solidFill>
                  <a:srgbClr val="FF0000"/>
                </a:solidFill>
                <a:latin typeface="黑体"/>
                <a:cs typeface="黑体"/>
              </a:rPr>
              <a:t>“牺牲”</a:t>
            </a:r>
            <a:r>
              <a:rPr dirty="0" sz="2400">
                <a:solidFill>
                  <a:srgbClr val="FF0000"/>
                </a:solidFill>
                <a:latin typeface="Times New Roman"/>
                <a:cs typeface="Times New Roman"/>
              </a:rPr>
              <a:t>Cache</a:t>
            </a:r>
            <a:r>
              <a:rPr dirty="0" sz="2400">
                <a:solidFill>
                  <a:srgbClr val="40458B"/>
                </a:solidFill>
                <a:latin typeface="黑体"/>
                <a:cs typeface="黑体"/>
              </a:rPr>
              <a:t>（</a:t>
            </a:r>
            <a:r>
              <a:rPr dirty="0" sz="2400">
                <a:solidFill>
                  <a:srgbClr val="40458B"/>
                </a:solidFill>
                <a:latin typeface="Times New Roman"/>
                <a:cs typeface="Times New Roman"/>
              </a:rPr>
              <a:t>Victim</a:t>
            </a:r>
            <a:r>
              <a:rPr dirty="0" sz="2400" spc="-40">
                <a:solidFill>
                  <a:srgbClr val="40458B"/>
                </a:solidFill>
                <a:latin typeface="Times New Roman"/>
                <a:cs typeface="Times New Roman"/>
              </a:rPr>
              <a:t> </a:t>
            </a:r>
            <a:r>
              <a:rPr dirty="0" sz="2400">
                <a:solidFill>
                  <a:srgbClr val="40458B"/>
                </a:solidFill>
                <a:latin typeface="Times New Roman"/>
                <a:cs typeface="Times New Roman"/>
              </a:rPr>
              <a:t>Cache</a:t>
            </a:r>
            <a:r>
              <a:rPr dirty="0" sz="2400">
                <a:solidFill>
                  <a:srgbClr val="40458B"/>
                </a:solidFill>
                <a:latin typeface="黑体"/>
                <a:cs typeface="黑体"/>
              </a:rPr>
              <a:t>）。用于存放被替换出去的块</a:t>
            </a:r>
            <a:r>
              <a:rPr dirty="0" sz="2400" spc="-10">
                <a:solidFill>
                  <a:srgbClr val="40458B"/>
                </a:solidFill>
                <a:latin typeface="Times New Roman"/>
                <a:cs typeface="Times New Roman"/>
              </a:rPr>
              <a:t>(</a:t>
            </a:r>
            <a:r>
              <a:rPr dirty="0" sz="2400">
                <a:solidFill>
                  <a:srgbClr val="40458B"/>
                </a:solidFill>
                <a:latin typeface="黑体"/>
                <a:cs typeface="黑体"/>
              </a:rPr>
              <a:t>称为</a:t>
            </a:r>
            <a:r>
              <a:rPr dirty="0" sz="2400" spc="-25">
                <a:solidFill>
                  <a:srgbClr val="D50092"/>
                </a:solidFill>
                <a:latin typeface="黑体"/>
                <a:cs typeface="黑体"/>
              </a:rPr>
              <a:t>牺牲</a:t>
            </a:r>
            <a:r>
              <a:rPr dirty="0" sz="2400">
                <a:solidFill>
                  <a:srgbClr val="D50092"/>
                </a:solidFill>
                <a:latin typeface="黑体"/>
                <a:cs typeface="黑体"/>
              </a:rPr>
              <a:t>者</a:t>
            </a:r>
            <a:r>
              <a:rPr dirty="0" sz="2400" spc="-10">
                <a:solidFill>
                  <a:srgbClr val="40458B"/>
                </a:solidFill>
                <a:latin typeface="Times New Roman"/>
                <a:cs typeface="Times New Roman"/>
              </a:rPr>
              <a:t>)</a:t>
            </a:r>
            <a:r>
              <a:rPr dirty="0" sz="2400" spc="-15">
                <a:solidFill>
                  <a:srgbClr val="40458B"/>
                </a:solidFill>
                <a:latin typeface="黑体"/>
                <a:cs typeface="黑体"/>
              </a:rPr>
              <a:t>，以备重用。</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spc="-15">
                <a:solidFill>
                  <a:srgbClr val="8185C5"/>
                </a:solidFill>
                <a:latin typeface="黑体"/>
                <a:cs typeface="黑体"/>
              </a:rPr>
              <a:t>工作过程</a:t>
            </a:r>
            <a:endParaRPr sz="2400">
              <a:latin typeface="黑体"/>
              <a:cs typeface="黑体"/>
            </a:endParaRPr>
          </a:p>
        </p:txBody>
      </p:sp>
      <p:sp>
        <p:nvSpPr>
          <p:cNvPr id="10" name="object 10" descr=""/>
          <p:cNvSpPr txBox="1"/>
          <p:nvPr/>
        </p:nvSpPr>
        <p:spPr>
          <a:xfrm>
            <a:off x="558190" y="3772133"/>
            <a:ext cx="11324590" cy="2614295"/>
          </a:xfrm>
          <a:prstGeom prst="rect">
            <a:avLst/>
          </a:prstGeom>
        </p:spPr>
        <p:txBody>
          <a:bodyPr wrap="square" lIns="0" tIns="194945" rIns="0" bIns="0" rtlCol="0" vert="horz">
            <a:spAutoFit/>
          </a:bodyPr>
          <a:lstStyle/>
          <a:p>
            <a:pPr marL="469265" indent="-456565">
              <a:lnSpc>
                <a:spcPct val="100000"/>
              </a:lnSpc>
              <a:spcBef>
                <a:spcPts val="1535"/>
              </a:spcBef>
              <a:buClr>
                <a:srgbClr val="40458B"/>
              </a:buClr>
              <a:buFont typeface="Tahoma"/>
              <a:buAutoNum type="arabicPeriod" startAt="3"/>
              <a:tabLst>
                <a:tab pos="469265" algn="l"/>
              </a:tabLst>
            </a:pPr>
            <a:r>
              <a:rPr dirty="0" sz="2400" spc="-25">
                <a:solidFill>
                  <a:srgbClr val="E14B04"/>
                </a:solidFill>
                <a:latin typeface="黑体"/>
                <a:cs typeface="黑体"/>
              </a:rPr>
              <a:t>作用</a:t>
            </a:r>
            <a:endParaRPr sz="2400">
              <a:latin typeface="黑体"/>
              <a:cs typeface="黑体"/>
            </a:endParaRPr>
          </a:p>
          <a:p>
            <a:pPr lvl="1" marL="1099185" indent="-457200">
              <a:lnSpc>
                <a:spcPct val="100000"/>
              </a:lnSpc>
              <a:spcBef>
                <a:spcPts val="1440"/>
              </a:spcBef>
              <a:buSzPct val="89583"/>
              <a:buFont typeface="Wingdings"/>
              <a:buChar char=""/>
              <a:tabLst>
                <a:tab pos="1099185" algn="l"/>
              </a:tabLst>
            </a:pPr>
            <a:r>
              <a:rPr dirty="0" sz="2400" spc="-10">
                <a:solidFill>
                  <a:srgbClr val="40458B"/>
                </a:solidFill>
                <a:latin typeface="黑体"/>
                <a:cs typeface="黑体"/>
              </a:rPr>
              <a:t>对于减小冲突不命中很有效，特别是对于小容量的直接映象数据Cache，</a:t>
            </a:r>
            <a:r>
              <a:rPr dirty="0" sz="2400" spc="-30">
                <a:solidFill>
                  <a:srgbClr val="40458B"/>
                </a:solidFill>
                <a:latin typeface="黑体"/>
                <a:cs typeface="黑体"/>
              </a:rPr>
              <a:t>作用</a:t>
            </a:r>
            <a:endParaRPr sz="2400">
              <a:latin typeface="黑体"/>
              <a:cs typeface="黑体"/>
            </a:endParaRPr>
          </a:p>
          <a:p>
            <a:pPr marL="1099185">
              <a:lnSpc>
                <a:spcPct val="100000"/>
              </a:lnSpc>
              <a:spcBef>
                <a:spcPts val="865"/>
              </a:spcBef>
            </a:pPr>
            <a:r>
              <a:rPr dirty="0" sz="2400" spc="-10">
                <a:solidFill>
                  <a:srgbClr val="40458B"/>
                </a:solidFill>
                <a:latin typeface="黑体"/>
                <a:cs typeface="黑体"/>
              </a:rPr>
              <a:t>尤其明显。</a:t>
            </a:r>
            <a:endParaRPr sz="2400">
              <a:latin typeface="黑体"/>
              <a:cs typeface="黑体"/>
            </a:endParaRPr>
          </a:p>
          <a:p>
            <a:pPr lvl="1" marL="1099185" indent="-457200">
              <a:lnSpc>
                <a:spcPct val="100000"/>
              </a:lnSpc>
              <a:spcBef>
                <a:spcPts val="1440"/>
              </a:spcBef>
              <a:buSzPct val="89583"/>
              <a:buFont typeface="Wingdings"/>
              <a:buChar char=""/>
              <a:tabLst>
                <a:tab pos="1099185" algn="l"/>
                <a:tab pos="4147185" algn="l"/>
              </a:tabLst>
            </a:pPr>
            <a:r>
              <a:rPr dirty="0" sz="2400">
                <a:solidFill>
                  <a:srgbClr val="40458B"/>
                </a:solidFill>
                <a:latin typeface="黑体"/>
                <a:cs typeface="黑体"/>
              </a:rPr>
              <a:t>例如：数为</a:t>
            </a:r>
            <a:r>
              <a:rPr dirty="0" sz="2400">
                <a:solidFill>
                  <a:srgbClr val="9933FF"/>
                </a:solidFill>
                <a:latin typeface="宋体"/>
                <a:cs typeface="宋体"/>
              </a:rPr>
              <a:t>4</a:t>
            </a:r>
            <a:r>
              <a:rPr dirty="0" sz="2400">
                <a:solidFill>
                  <a:srgbClr val="40458B"/>
                </a:solidFill>
                <a:latin typeface="黑体"/>
                <a:cs typeface="黑体"/>
              </a:rPr>
              <a:t>的</a:t>
            </a:r>
            <a:r>
              <a:rPr dirty="0" sz="2400" spc="-10">
                <a:solidFill>
                  <a:srgbClr val="40458B"/>
                </a:solidFill>
                <a:latin typeface="宋体"/>
                <a:cs typeface="宋体"/>
              </a:rPr>
              <a:t>Victim</a:t>
            </a:r>
            <a:r>
              <a:rPr dirty="0" sz="2400">
                <a:solidFill>
                  <a:srgbClr val="40458B"/>
                </a:solidFill>
                <a:latin typeface="宋体"/>
                <a:cs typeface="宋体"/>
              </a:rPr>
              <a:t>	</a:t>
            </a:r>
            <a:r>
              <a:rPr dirty="0" sz="2400" spc="-10">
                <a:solidFill>
                  <a:srgbClr val="40458B"/>
                </a:solidFill>
                <a:latin typeface="宋体"/>
                <a:cs typeface="宋体"/>
              </a:rPr>
              <a:t>Cache:</a:t>
            </a:r>
            <a:endParaRPr sz="2400">
              <a:latin typeface="宋体"/>
              <a:cs typeface="宋体"/>
            </a:endParaRPr>
          </a:p>
          <a:p>
            <a:pPr marL="1784985">
              <a:lnSpc>
                <a:spcPct val="100000"/>
              </a:lnSpc>
              <a:spcBef>
                <a:spcPts val="1275"/>
              </a:spcBef>
            </a:pPr>
            <a:r>
              <a:rPr dirty="0" sz="2000" spc="-15" b="1">
                <a:solidFill>
                  <a:srgbClr val="00AFEF"/>
                </a:solidFill>
                <a:latin typeface="宋体"/>
                <a:cs typeface="宋体"/>
              </a:rPr>
              <a:t>能使</a:t>
            </a:r>
            <a:r>
              <a:rPr dirty="0" sz="2000" b="1">
                <a:solidFill>
                  <a:srgbClr val="9933FF"/>
                </a:solidFill>
                <a:latin typeface="宋体"/>
                <a:cs typeface="宋体"/>
              </a:rPr>
              <a:t>4KB</a:t>
            </a:r>
            <a:r>
              <a:rPr dirty="0" sz="2000" spc="-5" b="1">
                <a:solidFill>
                  <a:srgbClr val="9933FF"/>
                </a:solidFill>
                <a:latin typeface="宋体"/>
                <a:cs typeface="宋体"/>
              </a:rPr>
              <a:t> </a:t>
            </a:r>
            <a:r>
              <a:rPr dirty="0" sz="2000" b="1">
                <a:solidFill>
                  <a:srgbClr val="00AFEF"/>
                </a:solidFill>
                <a:latin typeface="宋体"/>
                <a:cs typeface="宋体"/>
              </a:rPr>
              <a:t>Cache</a:t>
            </a:r>
            <a:r>
              <a:rPr dirty="0" sz="2000" spc="-20" b="1">
                <a:solidFill>
                  <a:srgbClr val="00AFEF"/>
                </a:solidFill>
                <a:latin typeface="宋体"/>
                <a:cs typeface="宋体"/>
              </a:rPr>
              <a:t>的冲突不命中减少</a:t>
            </a:r>
            <a:r>
              <a:rPr dirty="0" sz="2000" spc="-10" b="1">
                <a:solidFill>
                  <a:srgbClr val="9933FF"/>
                </a:solidFill>
                <a:latin typeface="宋体"/>
                <a:cs typeface="宋体"/>
              </a:rPr>
              <a:t>20%～90%</a:t>
            </a:r>
            <a:endParaRPr sz="2000">
              <a:latin typeface="宋体"/>
              <a:cs typeface="宋体"/>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667875" cy="209550"/>
          </a:xfrm>
          <a:prstGeom prst="rect">
            <a:avLst/>
          </a:prstGeom>
        </p:spPr>
        <p:txBody>
          <a:bodyPr wrap="square" lIns="0" tIns="0" rIns="0" bIns="0" rtlCol="0" vert="horz">
            <a:spAutoFit/>
          </a:bodyPr>
          <a:lstStyle/>
          <a:p>
            <a:pPr>
              <a:lnSpc>
                <a:spcPts val="1650"/>
              </a:lnSpc>
              <a:tabLst>
                <a:tab pos="9044940"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99/170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975766" y="942594"/>
            <a:ext cx="8614410" cy="4849495"/>
          </a:xfrm>
          <a:prstGeom prst="rect">
            <a:avLst/>
          </a:prstGeom>
        </p:spPr>
        <p:txBody>
          <a:bodyPr wrap="square" lIns="0" tIns="13335" rIns="0" bIns="0" rtlCol="0" vert="horz">
            <a:spAutoFit/>
          </a:bodyPr>
          <a:lstStyle/>
          <a:p>
            <a:pPr marL="469265" marR="5080" indent="-457200">
              <a:lnSpc>
                <a:spcPct val="100000"/>
              </a:lnSpc>
              <a:spcBef>
                <a:spcPts val="105"/>
              </a:spcBef>
            </a:pPr>
            <a:r>
              <a:rPr dirty="0" sz="2600" spc="-10">
                <a:solidFill>
                  <a:srgbClr val="0000CC"/>
                </a:solidFill>
                <a:latin typeface="黑体"/>
                <a:cs typeface="黑体"/>
              </a:rPr>
              <a:t>7.3节 如何提高命中率</a:t>
            </a:r>
            <a:r>
              <a:rPr dirty="0" sz="2600">
                <a:solidFill>
                  <a:srgbClr val="0000CC"/>
                </a:solidFill>
                <a:latin typeface="黑体"/>
                <a:cs typeface="黑体"/>
              </a:rPr>
              <a:t>（</a:t>
            </a:r>
            <a:r>
              <a:rPr dirty="0" sz="2600" spc="-15">
                <a:solidFill>
                  <a:srgbClr val="0000CC"/>
                </a:solidFill>
                <a:latin typeface="黑体"/>
                <a:cs typeface="黑体"/>
              </a:rPr>
              <a:t>降低不命中率</a:t>
            </a:r>
            <a:r>
              <a:rPr dirty="0" sz="2600">
                <a:solidFill>
                  <a:srgbClr val="0000CC"/>
                </a:solidFill>
                <a:latin typeface="黑体"/>
                <a:cs typeface="黑体"/>
              </a:rPr>
              <a:t>），</a:t>
            </a:r>
            <a:r>
              <a:rPr dirty="0" sz="2600" spc="-20">
                <a:solidFill>
                  <a:srgbClr val="0000CC"/>
                </a:solidFill>
                <a:latin typeface="黑体"/>
                <a:cs typeface="黑体"/>
              </a:rPr>
              <a:t>那么不命中呢？则要到下一级存储器寻找。</a:t>
            </a:r>
            <a:endParaRPr sz="2600">
              <a:latin typeface="黑体"/>
              <a:cs typeface="黑体"/>
            </a:endParaRPr>
          </a:p>
          <a:p>
            <a:pPr marL="26670">
              <a:lnSpc>
                <a:spcPct val="100000"/>
              </a:lnSpc>
              <a:spcBef>
                <a:spcPts val="1760"/>
              </a:spcBef>
            </a:pPr>
            <a:r>
              <a:rPr dirty="0" sz="2600" spc="-15">
                <a:solidFill>
                  <a:srgbClr val="0000CC"/>
                </a:solidFill>
                <a:latin typeface="黑体"/>
                <a:cs typeface="黑体"/>
              </a:rPr>
              <a:t>减少不命中率的开销时间可以提高</a:t>
            </a:r>
            <a:r>
              <a:rPr dirty="0" sz="2600" spc="-10">
                <a:solidFill>
                  <a:srgbClr val="0000CC"/>
                </a:solidFill>
                <a:latin typeface="黑体"/>
                <a:cs typeface="黑体"/>
              </a:rPr>
              <a:t>Cache</a:t>
            </a:r>
            <a:r>
              <a:rPr dirty="0" sz="2600" spc="-15">
                <a:solidFill>
                  <a:srgbClr val="0000CC"/>
                </a:solidFill>
                <a:latin typeface="黑体"/>
                <a:cs typeface="黑体"/>
              </a:rPr>
              <a:t>性能一种方法</a:t>
            </a:r>
            <a:endParaRPr sz="2600">
              <a:latin typeface="黑体"/>
              <a:cs typeface="黑体"/>
            </a:endParaRPr>
          </a:p>
          <a:p>
            <a:pPr>
              <a:lnSpc>
                <a:spcPct val="100000"/>
              </a:lnSpc>
              <a:spcBef>
                <a:spcPts val="430"/>
              </a:spcBef>
            </a:pPr>
            <a:endParaRPr sz="2600">
              <a:latin typeface="黑体"/>
              <a:cs typeface="黑体"/>
            </a:endParaRPr>
          </a:p>
          <a:p>
            <a:pPr marL="531495">
              <a:lnSpc>
                <a:spcPct val="100000"/>
              </a:lnSpc>
              <a:tabLst>
                <a:tab pos="988694" algn="l"/>
              </a:tabLst>
            </a:pPr>
            <a:r>
              <a:rPr dirty="0" sz="2400" spc="-25">
                <a:solidFill>
                  <a:srgbClr val="40458B"/>
                </a:solidFill>
                <a:latin typeface="Calibri"/>
                <a:cs typeface="Calibri"/>
              </a:rPr>
              <a:t>1.</a:t>
            </a:r>
            <a:r>
              <a:rPr dirty="0" sz="2400">
                <a:solidFill>
                  <a:srgbClr val="40458B"/>
                </a:solidFill>
                <a:latin typeface="Calibri"/>
                <a:cs typeface="Calibri"/>
              </a:rPr>
              <a:t>	</a:t>
            </a:r>
            <a:r>
              <a:rPr dirty="0" sz="2400" spc="-10">
                <a:solidFill>
                  <a:srgbClr val="FF0000"/>
                </a:solidFill>
                <a:latin typeface="黑体"/>
                <a:cs typeface="黑体"/>
              </a:rPr>
              <a:t>减少</a:t>
            </a:r>
            <a:r>
              <a:rPr dirty="0" sz="2400" spc="-10">
                <a:solidFill>
                  <a:srgbClr val="FF0000"/>
                </a:solidFill>
                <a:latin typeface="Calibri"/>
                <a:cs typeface="Calibri"/>
              </a:rPr>
              <a:t>Cache</a:t>
            </a:r>
            <a:r>
              <a:rPr dirty="0" sz="2400" spc="-15">
                <a:solidFill>
                  <a:srgbClr val="FF0000"/>
                </a:solidFill>
                <a:latin typeface="黑体"/>
                <a:cs typeface="黑体"/>
              </a:rPr>
              <a:t>不命中率的开销有哪些方法？</a:t>
            </a:r>
            <a:endParaRPr sz="2400">
              <a:latin typeface="黑体"/>
              <a:cs typeface="黑体"/>
            </a:endParaRPr>
          </a:p>
          <a:p>
            <a:pPr marL="978535" indent="-447040">
              <a:lnSpc>
                <a:spcPct val="100000"/>
              </a:lnSpc>
              <a:spcBef>
                <a:spcPts val="1150"/>
              </a:spcBef>
              <a:buClr>
                <a:srgbClr val="40458B"/>
              </a:buClr>
              <a:buFont typeface="Calibri"/>
              <a:buAutoNum type="arabicParenBoth"/>
              <a:tabLst>
                <a:tab pos="978535" algn="l"/>
              </a:tabLst>
            </a:pPr>
            <a:r>
              <a:rPr dirty="0" sz="2400">
                <a:solidFill>
                  <a:srgbClr val="1F1F1F"/>
                </a:solidFill>
                <a:latin typeface="黑体"/>
                <a:cs typeface="黑体"/>
              </a:rPr>
              <a:t>采用二级</a:t>
            </a:r>
            <a:r>
              <a:rPr dirty="0" sz="2400" spc="-10">
                <a:solidFill>
                  <a:srgbClr val="1F1F1F"/>
                </a:solidFill>
                <a:latin typeface="Calibri"/>
                <a:cs typeface="Calibri"/>
              </a:rPr>
              <a:t>Cache</a:t>
            </a:r>
            <a:r>
              <a:rPr dirty="0" sz="2400">
                <a:solidFill>
                  <a:srgbClr val="1F1F1F"/>
                </a:solidFill>
                <a:latin typeface="黑体"/>
                <a:cs typeface="黑体"/>
              </a:rPr>
              <a:t>。（</a:t>
            </a:r>
            <a:r>
              <a:rPr dirty="0" sz="2400" spc="-5">
                <a:solidFill>
                  <a:srgbClr val="1F1F1F"/>
                </a:solidFill>
                <a:latin typeface="黑体"/>
                <a:cs typeface="黑体"/>
              </a:rPr>
              <a:t>增加一级</a:t>
            </a:r>
            <a:r>
              <a:rPr dirty="0" sz="2400" spc="-10">
                <a:solidFill>
                  <a:srgbClr val="1F1F1F"/>
                </a:solidFill>
                <a:latin typeface="Calibri"/>
                <a:cs typeface="Calibri"/>
              </a:rPr>
              <a:t>Cache</a:t>
            </a:r>
            <a:r>
              <a:rPr dirty="0" sz="2400" spc="-5">
                <a:solidFill>
                  <a:srgbClr val="1F1F1F"/>
                </a:solidFill>
                <a:latin typeface="黑体"/>
                <a:cs typeface="黑体"/>
              </a:rPr>
              <a:t>，常用的方法</a:t>
            </a:r>
            <a:r>
              <a:rPr dirty="0" sz="2400" spc="-50">
                <a:solidFill>
                  <a:srgbClr val="1F1F1F"/>
                </a:solidFill>
                <a:latin typeface="黑体"/>
                <a:cs typeface="黑体"/>
              </a:rPr>
              <a:t>）</a:t>
            </a:r>
            <a:endParaRPr sz="2400">
              <a:latin typeface="黑体"/>
              <a:cs typeface="黑体"/>
            </a:endParaRPr>
          </a:p>
          <a:p>
            <a:pPr marL="978535" indent="-447040">
              <a:lnSpc>
                <a:spcPct val="100000"/>
              </a:lnSpc>
              <a:spcBef>
                <a:spcPts val="1155"/>
              </a:spcBef>
              <a:buClr>
                <a:srgbClr val="40458B"/>
              </a:buClr>
              <a:buFont typeface="Calibri"/>
              <a:buAutoNum type="arabicParenBoth"/>
              <a:tabLst>
                <a:tab pos="978535" algn="l"/>
              </a:tabLst>
            </a:pPr>
            <a:r>
              <a:rPr dirty="0" sz="2400" spc="-5">
                <a:solidFill>
                  <a:srgbClr val="1F1F1F"/>
                </a:solidFill>
                <a:latin typeface="黑体"/>
                <a:cs typeface="黑体"/>
              </a:rPr>
              <a:t>让读不命中优先于写。</a:t>
            </a:r>
            <a:endParaRPr sz="2400">
              <a:latin typeface="黑体"/>
              <a:cs typeface="黑体"/>
            </a:endParaRPr>
          </a:p>
          <a:p>
            <a:pPr marL="1003300" indent="-403225">
              <a:lnSpc>
                <a:spcPct val="100000"/>
              </a:lnSpc>
              <a:spcBef>
                <a:spcPts val="1155"/>
              </a:spcBef>
              <a:buFont typeface="Calibri"/>
              <a:buAutoNum type="arabicParenBoth"/>
              <a:tabLst>
                <a:tab pos="1003300" algn="l"/>
              </a:tabLst>
            </a:pPr>
            <a:r>
              <a:rPr dirty="0" sz="2400" spc="-10">
                <a:solidFill>
                  <a:srgbClr val="1F1F1F"/>
                </a:solidFill>
                <a:latin typeface="黑体"/>
                <a:cs typeface="黑体"/>
              </a:rPr>
              <a:t>写缓冲合并。</a:t>
            </a:r>
            <a:endParaRPr sz="2400">
              <a:latin typeface="黑体"/>
              <a:cs typeface="黑体"/>
            </a:endParaRPr>
          </a:p>
          <a:p>
            <a:pPr marL="1003300" indent="-403225">
              <a:lnSpc>
                <a:spcPct val="100000"/>
              </a:lnSpc>
              <a:spcBef>
                <a:spcPts val="1150"/>
              </a:spcBef>
              <a:buFont typeface="Calibri"/>
              <a:buAutoNum type="arabicParenBoth"/>
              <a:tabLst>
                <a:tab pos="1003300" algn="l"/>
              </a:tabLst>
            </a:pPr>
            <a:r>
              <a:rPr dirty="0" sz="2400" spc="-10">
                <a:solidFill>
                  <a:srgbClr val="1F1F1F"/>
                </a:solidFill>
                <a:latin typeface="黑体"/>
                <a:cs typeface="黑体"/>
              </a:rPr>
              <a:t>请求字处理技术。</a:t>
            </a:r>
            <a:endParaRPr sz="2400">
              <a:latin typeface="黑体"/>
              <a:cs typeface="黑体"/>
            </a:endParaRPr>
          </a:p>
          <a:p>
            <a:pPr marL="1003300" indent="-403225">
              <a:lnSpc>
                <a:spcPct val="100000"/>
              </a:lnSpc>
              <a:spcBef>
                <a:spcPts val="1155"/>
              </a:spcBef>
              <a:buFont typeface="Calibri"/>
              <a:buAutoNum type="arabicParenBoth"/>
              <a:tabLst>
                <a:tab pos="1003300" algn="l"/>
              </a:tabLst>
            </a:pPr>
            <a:r>
              <a:rPr dirty="0" sz="2400" spc="-10">
                <a:solidFill>
                  <a:srgbClr val="1F1F1F"/>
                </a:solidFill>
                <a:latin typeface="黑体"/>
                <a:cs typeface="黑体"/>
              </a:rPr>
              <a:t>非阻塞</a:t>
            </a:r>
            <a:r>
              <a:rPr dirty="0" sz="2400" spc="-10">
                <a:solidFill>
                  <a:srgbClr val="1F1F1F"/>
                </a:solidFill>
                <a:latin typeface="Calibri"/>
                <a:cs typeface="Calibri"/>
              </a:rPr>
              <a:t>Cache</a:t>
            </a:r>
            <a:r>
              <a:rPr dirty="0" sz="2400" spc="-10">
                <a:solidFill>
                  <a:srgbClr val="1F1F1F"/>
                </a:solidFill>
                <a:latin typeface="黑体"/>
                <a:cs typeface="黑体"/>
              </a:rPr>
              <a:t>或非锁定</a:t>
            </a:r>
            <a:r>
              <a:rPr dirty="0" sz="2400" spc="-10">
                <a:solidFill>
                  <a:srgbClr val="1F1F1F"/>
                </a:solidFill>
                <a:latin typeface="Calibri"/>
                <a:cs typeface="Calibri"/>
              </a:rPr>
              <a:t>Cache</a:t>
            </a:r>
            <a:r>
              <a:rPr dirty="0" sz="2400" spc="-25">
                <a:solidFill>
                  <a:srgbClr val="1F1F1F"/>
                </a:solidFill>
                <a:latin typeface="黑体"/>
                <a:cs typeface="黑体"/>
              </a:rPr>
              <a:t>技术。</a:t>
            </a:r>
            <a:endParaRPr sz="2400">
              <a:latin typeface="黑体"/>
              <a:cs typeface="黑体"/>
            </a:endParaRPr>
          </a:p>
        </p:txBody>
      </p:sp>
      <p:sp>
        <p:nvSpPr>
          <p:cNvPr id="10" name="object 10"/>
          <p:cNvSpPr txBox="1">
            <a:spLocks noGrp="1"/>
          </p:cNvSpPr>
          <p:nvPr>
            <p:ph type="title"/>
          </p:nvPr>
        </p:nvSpPr>
        <p:spPr>
          <a:xfrm>
            <a:off x="2202307" y="54991"/>
            <a:ext cx="4114165" cy="452120"/>
          </a:xfrm>
          <a:prstGeom prst="rect"/>
        </p:spPr>
        <p:txBody>
          <a:bodyPr wrap="square" lIns="0" tIns="12065" rIns="0" bIns="0" rtlCol="0" vert="horz">
            <a:spAutoFit/>
          </a:bodyPr>
          <a:lstStyle/>
          <a:p>
            <a:pPr marL="12700">
              <a:lnSpc>
                <a:spcPct val="100000"/>
              </a:lnSpc>
              <a:spcBef>
                <a:spcPts val="95"/>
              </a:spcBef>
            </a:pPr>
            <a:r>
              <a:rPr dirty="0" u="none">
                <a:solidFill>
                  <a:srgbClr val="000000"/>
                </a:solidFill>
              </a:rPr>
              <a:t>7.4</a:t>
            </a:r>
            <a:r>
              <a:rPr dirty="0" u="none" spc="-10">
                <a:solidFill>
                  <a:srgbClr val="000000"/>
                </a:solidFill>
              </a:rPr>
              <a:t> 减少</a:t>
            </a:r>
            <a:r>
              <a:rPr dirty="0" u="none" spc="-20">
                <a:solidFill>
                  <a:srgbClr val="000000"/>
                </a:solidFill>
              </a:rPr>
              <a:t>Cache</a:t>
            </a:r>
            <a:r>
              <a:rPr dirty="0" u="none" spc="-40">
                <a:solidFill>
                  <a:srgbClr val="000000"/>
                </a:solidFill>
              </a:rPr>
              <a:t>不命中开销</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247645" y="2499657"/>
            <a:ext cx="3178175" cy="878840"/>
          </a:xfrm>
          <a:prstGeom prst="rect">
            <a:avLst/>
          </a:prstGeom>
        </p:spPr>
        <p:txBody>
          <a:bodyPr wrap="square" lIns="0" tIns="133985" rIns="0" bIns="0" rtlCol="0" vert="horz">
            <a:spAutoFit/>
          </a:bodyPr>
          <a:lstStyle/>
          <a:p>
            <a:pPr marL="469265" indent="-456565">
              <a:lnSpc>
                <a:spcPct val="100000"/>
              </a:lnSpc>
              <a:spcBef>
                <a:spcPts val="1055"/>
              </a:spcBef>
              <a:buClr>
                <a:srgbClr val="4668F5"/>
              </a:buClr>
              <a:buSzPct val="60000"/>
              <a:buFont typeface="Wingdings"/>
              <a:buChar char=""/>
              <a:tabLst>
                <a:tab pos="469265" algn="l"/>
              </a:tabLst>
            </a:pPr>
            <a:r>
              <a:rPr dirty="0" sz="2000" spc="-10" b="1">
                <a:solidFill>
                  <a:srgbClr val="00AFEF"/>
                </a:solidFill>
                <a:latin typeface="宋体"/>
                <a:cs typeface="宋体"/>
              </a:rPr>
              <a:t>第一级Cache(L1</a:t>
            </a:r>
            <a:r>
              <a:rPr dirty="0" sz="2000" spc="-30" b="1">
                <a:solidFill>
                  <a:srgbClr val="00AFEF"/>
                </a:solidFill>
                <a:latin typeface="宋体"/>
                <a:cs typeface="宋体"/>
              </a:rPr>
              <a:t>)小而快</a:t>
            </a:r>
            <a:endParaRPr sz="2000">
              <a:latin typeface="宋体"/>
              <a:cs typeface="宋体"/>
            </a:endParaRPr>
          </a:p>
          <a:p>
            <a:pPr marL="469265" indent="-456565">
              <a:lnSpc>
                <a:spcPct val="100000"/>
              </a:lnSpc>
              <a:spcBef>
                <a:spcPts val="960"/>
              </a:spcBef>
              <a:buClr>
                <a:srgbClr val="4668F5"/>
              </a:buClr>
              <a:buSzPct val="60000"/>
              <a:buFont typeface="Wingdings"/>
              <a:buChar char=""/>
              <a:tabLst>
                <a:tab pos="469265" algn="l"/>
              </a:tabLst>
            </a:pPr>
            <a:r>
              <a:rPr dirty="0" sz="2000" spc="-15" b="1">
                <a:solidFill>
                  <a:srgbClr val="00AFEF"/>
                </a:solidFill>
                <a:latin typeface="宋体"/>
                <a:cs typeface="宋体"/>
              </a:rPr>
              <a:t>第二级</a:t>
            </a:r>
            <a:r>
              <a:rPr dirty="0" sz="2000" b="1">
                <a:solidFill>
                  <a:srgbClr val="00AFEF"/>
                </a:solidFill>
                <a:latin typeface="宋体"/>
                <a:cs typeface="宋体"/>
              </a:rPr>
              <a:t>Cache(L2</a:t>
            </a:r>
            <a:r>
              <a:rPr dirty="0" sz="2000" spc="-20" b="1">
                <a:solidFill>
                  <a:srgbClr val="00AFEF"/>
                </a:solidFill>
                <a:latin typeface="宋体"/>
                <a:cs typeface="宋体"/>
              </a:rPr>
              <a:t>)容量大</a:t>
            </a:r>
            <a:endParaRPr sz="2000">
              <a:latin typeface="宋体"/>
              <a:cs typeface="宋体"/>
            </a:endParaRPr>
          </a:p>
        </p:txBody>
      </p:sp>
      <p:sp>
        <p:nvSpPr>
          <p:cNvPr id="10" name="object 10" descr=""/>
          <p:cNvSpPr txBox="1"/>
          <p:nvPr/>
        </p:nvSpPr>
        <p:spPr>
          <a:xfrm>
            <a:off x="5620639" y="2499657"/>
            <a:ext cx="5650865" cy="878840"/>
          </a:xfrm>
          <a:prstGeom prst="rect">
            <a:avLst/>
          </a:prstGeom>
        </p:spPr>
        <p:txBody>
          <a:bodyPr wrap="square" lIns="0" tIns="133985" rIns="0" bIns="0" rtlCol="0" vert="horz">
            <a:spAutoFit/>
          </a:bodyPr>
          <a:lstStyle/>
          <a:p>
            <a:pPr marL="45720">
              <a:lnSpc>
                <a:spcPct val="100000"/>
              </a:lnSpc>
              <a:spcBef>
                <a:spcPts val="1055"/>
              </a:spcBef>
            </a:pPr>
            <a:r>
              <a:rPr dirty="0" sz="2000" spc="-10" b="1">
                <a:solidFill>
                  <a:srgbClr val="00AFEF"/>
                </a:solidFill>
                <a:latin typeface="宋体"/>
                <a:cs typeface="宋体"/>
              </a:rPr>
              <a:t>（速度与CPU</a:t>
            </a:r>
            <a:r>
              <a:rPr dirty="0" sz="2000" spc="-20" b="1">
                <a:solidFill>
                  <a:srgbClr val="00AFEF"/>
                </a:solidFill>
                <a:latin typeface="宋体"/>
                <a:cs typeface="宋体"/>
              </a:rPr>
              <a:t>时钟周期相匹配</a:t>
            </a:r>
            <a:r>
              <a:rPr dirty="0" sz="2000" spc="-50" b="1">
                <a:solidFill>
                  <a:srgbClr val="00AFEF"/>
                </a:solidFill>
                <a:latin typeface="宋体"/>
                <a:cs typeface="宋体"/>
              </a:rPr>
              <a:t>）</a:t>
            </a:r>
            <a:endParaRPr sz="2000">
              <a:latin typeface="宋体"/>
              <a:cs typeface="宋体"/>
            </a:endParaRPr>
          </a:p>
          <a:p>
            <a:pPr marL="12700">
              <a:lnSpc>
                <a:spcPct val="100000"/>
              </a:lnSpc>
              <a:spcBef>
                <a:spcPts val="960"/>
              </a:spcBef>
            </a:pPr>
            <a:r>
              <a:rPr dirty="0" sz="2000" spc="-15" b="1">
                <a:solidFill>
                  <a:srgbClr val="00AFEF"/>
                </a:solidFill>
                <a:latin typeface="宋体"/>
                <a:cs typeface="宋体"/>
              </a:rPr>
              <a:t>（</a:t>
            </a:r>
            <a:r>
              <a:rPr dirty="0" sz="2000" spc="-25" b="1">
                <a:solidFill>
                  <a:srgbClr val="00AFEF"/>
                </a:solidFill>
                <a:latin typeface="宋体"/>
                <a:cs typeface="宋体"/>
              </a:rPr>
              <a:t>尽量捕获更多的访存情况，从而降低不命中率</a:t>
            </a:r>
            <a:r>
              <a:rPr dirty="0" sz="2000" spc="-50" b="1">
                <a:solidFill>
                  <a:srgbClr val="00AFEF"/>
                </a:solidFill>
                <a:latin typeface="宋体"/>
                <a:cs typeface="宋体"/>
              </a:rPr>
              <a:t>）</a:t>
            </a:r>
            <a:endParaRPr sz="2000">
              <a:latin typeface="宋体"/>
              <a:cs typeface="宋体"/>
            </a:endParaRPr>
          </a:p>
        </p:txBody>
      </p:sp>
      <p:sp>
        <p:nvSpPr>
          <p:cNvPr id="11" name="object 11" descr=""/>
          <p:cNvSpPr txBox="1"/>
          <p:nvPr/>
        </p:nvSpPr>
        <p:spPr>
          <a:xfrm>
            <a:off x="990091" y="615629"/>
            <a:ext cx="9025255" cy="1901189"/>
          </a:xfrm>
          <a:prstGeom prst="rect">
            <a:avLst/>
          </a:prstGeom>
        </p:spPr>
        <p:txBody>
          <a:bodyPr wrap="square" lIns="0" tIns="59055" rIns="0" bIns="0" rtlCol="0" vert="horz">
            <a:spAutoFit/>
          </a:bodyPr>
          <a:lstStyle/>
          <a:p>
            <a:pPr marL="949325">
              <a:lnSpc>
                <a:spcPct val="100000"/>
              </a:lnSpc>
              <a:spcBef>
                <a:spcPts val="465"/>
              </a:spcBef>
            </a:pPr>
            <a:r>
              <a:rPr dirty="0" sz="2600">
                <a:solidFill>
                  <a:srgbClr val="0000CC"/>
                </a:solidFill>
                <a:latin typeface="黑体"/>
                <a:cs typeface="黑体"/>
              </a:rPr>
              <a:t>7.4.1</a:t>
            </a:r>
            <a:r>
              <a:rPr dirty="0" sz="2600" spc="-5">
                <a:solidFill>
                  <a:srgbClr val="0000CC"/>
                </a:solidFill>
                <a:latin typeface="黑体"/>
                <a:cs typeface="黑体"/>
              </a:rPr>
              <a:t> 采用两级</a:t>
            </a:r>
            <a:r>
              <a:rPr dirty="0" sz="2600" spc="-20">
                <a:solidFill>
                  <a:srgbClr val="0000CC"/>
                </a:solidFill>
                <a:latin typeface="黑体"/>
                <a:cs typeface="黑体"/>
              </a:rPr>
              <a:t>Cache</a:t>
            </a:r>
            <a:endParaRPr sz="2600">
              <a:latin typeface="黑体"/>
              <a:cs typeface="黑体"/>
            </a:endParaRPr>
          </a:p>
          <a:p>
            <a:pPr marL="12700">
              <a:lnSpc>
                <a:spcPct val="100000"/>
              </a:lnSpc>
              <a:spcBef>
                <a:spcPts val="334"/>
              </a:spcBef>
              <a:tabLst>
                <a:tab pos="469265" algn="l"/>
              </a:tabLst>
            </a:pPr>
            <a:r>
              <a:rPr dirty="0" sz="2400" spc="-25">
                <a:solidFill>
                  <a:srgbClr val="40458B"/>
                </a:solidFill>
                <a:latin typeface="黑体"/>
                <a:cs typeface="黑体"/>
              </a:rPr>
              <a:t>1.</a:t>
            </a:r>
            <a:r>
              <a:rPr dirty="0" sz="2400">
                <a:solidFill>
                  <a:srgbClr val="40458B"/>
                </a:solidFill>
                <a:latin typeface="黑体"/>
                <a:cs typeface="黑体"/>
              </a:rPr>
              <a:t>	</a:t>
            </a:r>
            <a:r>
              <a:rPr dirty="0" sz="2400">
                <a:solidFill>
                  <a:srgbClr val="E14B04"/>
                </a:solidFill>
                <a:latin typeface="黑体"/>
                <a:cs typeface="黑体"/>
              </a:rPr>
              <a:t>应把</a:t>
            </a:r>
            <a:r>
              <a:rPr dirty="0" sz="2400" spc="-10">
                <a:solidFill>
                  <a:srgbClr val="E14B04"/>
                </a:solidFill>
                <a:latin typeface="黑体"/>
                <a:cs typeface="黑体"/>
              </a:rPr>
              <a:t>Cache</a:t>
            </a:r>
            <a:r>
              <a:rPr dirty="0" sz="2400" spc="-5">
                <a:solidFill>
                  <a:srgbClr val="E14B04"/>
                </a:solidFill>
                <a:latin typeface="黑体"/>
                <a:cs typeface="黑体"/>
              </a:rPr>
              <a:t>做得更快？还是更大？</a:t>
            </a:r>
            <a:endParaRPr sz="2400">
              <a:latin typeface="黑体"/>
              <a:cs typeface="黑体"/>
            </a:endParaRPr>
          </a:p>
          <a:p>
            <a:pPr marL="317500">
              <a:lnSpc>
                <a:spcPct val="100000"/>
              </a:lnSpc>
              <a:spcBef>
                <a:spcPts val="1150"/>
              </a:spcBef>
            </a:pPr>
            <a:r>
              <a:rPr dirty="0" sz="2400" spc="-10">
                <a:solidFill>
                  <a:srgbClr val="E14B04"/>
                </a:solidFill>
                <a:latin typeface="黑体"/>
                <a:cs typeface="黑体"/>
              </a:rPr>
              <a:t>Cache</a:t>
            </a:r>
            <a:r>
              <a:rPr dirty="0" sz="2400" spc="-5">
                <a:solidFill>
                  <a:srgbClr val="E14B04"/>
                </a:solidFill>
                <a:latin typeface="黑体"/>
                <a:cs typeface="黑体"/>
              </a:rPr>
              <a:t>容量提高时，则在其中检索的范围增大了，则速度也变慢了</a:t>
            </a:r>
            <a:endParaRPr sz="2400">
              <a:latin typeface="黑体"/>
              <a:cs typeface="黑体"/>
            </a:endParaRPr>
          </a:p>
          <a:p>
            <a:pPr marL="641985">
              <a:lnSpc>
                <a:spcPct val="100000"/>
              </a:lnSpc>
              <a:spcBef>
                <a:spcPts val="1155"/>
              </a:spcBef>
            </a:pPr>
            <a:r>
              <a:rPr dirty="0" sz="2400">
                <a:solidFill>
                  <a:srgbClr val="D50092"/>
                </a:solidFill>
                <a:latin typeface="黑体"/>
                <a:cs typeface="黑体"/>
              </a:rPr>
              <a:t>答案：</a:t>
            </a:r>
            <a:r>
              <a:rPr dirty="0" sz="2400">
                <a:solidFill>
                  <a:srgbClr val="40458B"/>
                </a:solidFill>
                <a:latin typeface="黑体"/>
                <a:cs typeface="黑体"/>
              </a:rPr>
              <a:t>二者兼顾，再增加一级</a:t>
            </a:r>
            <a:r>
              <a:rPr dirty="0" sz="2400" spc="-10">
                <a:solidFill>
                  <a:srgbClr val="40458B"/>
                </a:solidFill>
                <a:latin typeface="黑体"/>
                <a:cs typeface="黑体"/>
              </a:rPr>
              <a:t>Cache</a:t>
            </a:r>
            <a:endParaRPr sz="2400">
              <a:latin typeface="黑体"/>
              <a:cs typeface="黑体"/>
            </a:endParaRPr>
          </a:p>
        </p:txBody>
      </p:sp>
      <p:sp>
        <p:nvSpPr>
          <p:cNvPr id="12" name="object 12" descr=""/>
          <p:cNvSpPr txBox="1"/>
          <p:nvPr/>
        </p:nvSpPr>
        <p:spPr>
          <a:xfrm>
            <a:off x="951991" y="3335838"/>
            <a:ext cx="7285355" cy="2611755"/>
          </a:xfrm>
          <a:prstGeom prst="rect">
            <a:avLst/>
          </a:prstGeom>
        </p:spPr>
        <p:txBody>
          <a:bodyPr wrap="square" lIns="0" tIns="167640" rIns="0" bIns="0" rtlCol="0" vert="horz">
            <a:spAutoFit/>
          </a:bodyPr>
          <a:lstStyle/>
          <a:p>
            <a:pPr marL="50800">
              <a:lnSpc>
                <a:spcPct val="100000"/>
              </a:lnSpc>
              <a:spcBef>
                <a:spcPts val="1320"/>
              </a:spcBef>
              <a:tabLst>
                <a:tab pos="507365" algn="l"/>
              </a:tabLst>
            </a:pPr>
            <a:r>
              <a:rPr dirty="0" sz="2400" spc="-25">
                <a:solidFill>
                  <a:srgbClr val="40458B"/>
                </a:solidFill>
                <a:latin typeface="黑体"/>
                <a:cs typeface="黑体"/>
              </a:rPr>
              <a:t>1.</a:t>
            </a:r>
            <a:r>
              <a:rPr dirty="0" sz="2400">
                <a:solidFill>
                  <a:srgbClr val="40458B"/>
                </a:solidFill>
                <a:latin typeface="黑体"/>
                <a:cs typeface="黑体"/>
              </a:rPr>
              <a:t>	</a:t>
            </a:r>
            <a:r>
              <a:rPr dirty="0" sz="2400" spc="-15">
                <a:solidFill>
                  <a:srgbClr val="E14B04"/>
                </a:solidFill>
                <a:latin typeface="黑体"/>
                <a:cs typeface="黑体"/>
              </a:rPr>
              <a:t>性能分析</a:t>
            </a:r>
            <a:endParaRPr sz="2400">
              <a:latin typeface="黑体"/>
              <a:cs typeface="黑体"/>
            </a:endParaRPr>
          </a:p>
          <a:p>
            <a:pPr marL="693420">
              <a:lnSpc>
                <a:spcPct val="100000"/>
              </a:lnSpc>
              <a:spcBef>
                <a:spcPts val="1025"/>
              </a:spcBef>
            </a:pPr>
            <a:r>
              <a:rPr dirty="0" sz="2000" spc="-10" b="1">
                <a:solidFill>
                  <a:srgbClr val="40458B"/>
                </a:solidFill>
                <a:latin typeface="宋体"/>
                <a:cs typeface="宋体"/>
              </a:rPr>
              <a:t>平均访存时间 </a:t>
            </a:r>
            <a:r>
              <a:rPr dirty="0" sz="2000" b="1">
                <a:solidFill>
                  <a:srgbClr val="40458B"/>
                </a:solidFill>
                <a:latin typeface="宋体"/>
                <a:cs typeface="宋体"/>
              </a:rPr>
              <a:t>＝</a:t>
            </a:r>
            <a:r>
              <a:rPr dirty="0" sz="2000" spc="-10" b="1">
                <a:solidFill>
                  <a:srgbClr val="40458B"/>
                </a:solidFill>
                <a:latin typeface="宋体"/>
                <a:cs typeface="宋体"/>
              </a:rPr>
              <a:t> 命中时间</a:t>
            </a:r>
            <a:r>
              <a:rPr dirty="0" baseline="-21367" sz="1950" b="1">
                <a:solidFill>
                  <a:srgbClr val="40458B"/>
                </a:solidFill>
                <a:latin typeface="宋体"/>
                <a:cs typeface="宋体"/>
              </a:rPr>
              <a:t>L1</a:t>
            </a:r>
            <a:r>
              <a:rPr dirty="0" sz="2000" spc="-15" b="1">
                <a:solidFill>
                  <a:srgbClr val="40458B"/>
                </a:solidFill>
                <a:latin typeface="宋体"/>
                <a:cs typeface="宋体"/>
              </a:rPr>
              <a:t>＋不命中率</a:t>
            </a:r>
            <a:r>
              <a:rPr dirty="0" baseline="-21367" sz="1950" b="1">
                <a:solidFill>
                  <a:srgbClr val="40458B"/>
                </a:solidFill>
                <a:latin typeface="宋体"/>
                <a:cs typeface="宋体"/>
              </a:rPr>
              <a:t>L1</a:t>
            </a:r>
            <a:r>
              <a:rPr dirty="0" sz="2000" spc="-15" b="1">
                <a:solidFill>
                  <a:srgbClr val="40458B"/>
                </a:solidFill>
                <a:latin typeface="宋体"/>
                <a:cs typeface="宋体"/>
              </a:rPr>
              <a:t>×不命中开销</a:t>
            </a:r>
            <a:r>
              <a:rPr dirty="0" baseline="-21367" sz="1950" spc="-37" b="1">
                <a:solidFill>
                  <a:srgbClr val="40458B"/>
                </a:solidFill>
                <a:latin typeface="宋体"/>
                <a:cs typeface="宋体"/>
              </a:rPr>
              <a:t>L1</a:t>
            </a:r>
            <a:endParaRPr baseline="-21367" sz="1950">
              <a:latin typeface="宋体"/>
              <a:cs typeface="宋体"/>
            </a:endParaRPr>
          </a:p>
          <a:p>
            <a:pPr marL="680085">
              <a:lnSpc>
                <a:spcPct val="100000"/>
              </a:lnSpc>
              <a:spcBef>
                <a:spcPts val="960"/>
              </a:spcBef>
            </a:pPr>
            <a:r>
              <a:rPr dirty="0" sz="2000" spc="-15" b="1">
                <a:solidFill>
                  <a:srgbClr val="40458B"/>
                </a:solidFill>
                <a:latin typeface="宋体"/>
                <a:cs typeface="宋体"/>
              </a:rPr>
              <a:t>不命中开销</a:t>
            </a:r>
            <a:r>
              <a:rPr dirty="0" baseline="-21367" sz="1950" b="1">
                <a:solidFill>
                  <a:srgbClr val="40458B"/>
                </a:solidFill>
                <a:latin typeface="宋体"/>
                <a:cs typeface="宋体"/>
              </a:rPr>
              <a:t>L1</a:t>
            </a:r>
            <a:r>
              <a:rPr dirty="0" baseline="-21367" sz="1950" spc="547" b="1">
                <a:solidFill>
                  <a:srgbClr val="40458B"/>
                </a:solidFill>
                <a:latin typeface="宋体"/>
                <a:cs typeface="宋体"/>
              </a:rPr>
              <a:t> </a:t>
            </a:r>
            <a:r>
              <a:rPr dirty="0" sz="2000" b="1">
                <a:solidFill>
                  <a:srgbClr val="40458B"/>
                </a:solidFill>
                <a:latin typeface="宋体"/>
                <a:cs typeface="宋体"/>
              </a:rPr>
              <a:t>＝</a:t>
            </a:r>
            <a:r>
              <a:rPr dirty="0" sz="2000" spc="-5" b="1">
                <a:solidFill>
                  <a:srgbClr val="40458B"/>
                </a:solidFill>
                <a:latin typeface="宋体"/>
                <a:cs typeface="宋体"/>
              </a:rPr>
              <a:t> 命中时间</a:t>
            </a:r>
            <a:r>
              <a:rPr dirty="0" baseline="-21367" sz="1950" b="1">
                <a:solidFill>
                  <a:srgbClr val="40458B"/>
                </a:solidFill>
                <a:latin typeface="宋体"/>
                <a:cs typeface="宋体"/>
              </a:rPr>
              <a:t>L2</a:t>
            </a:r>
            <a:r>
              <a:rPr dirty="0" sz="2000" spc="-20" b="1">
                <a:solidFill>
                  <a:srgbClr val="40458B"/>
                </a:solidFill>
                <a:latin typeface="宋体"/>
                <a:cs typeface="宋体"/>
              </a:rPr>
              <a:t>＋不命中率</a:t>
            </a:r>
            <a:r>
              <a:rPr dirty="0" baseline="-21367" sz="1950" b="1">
                <a:solidFill>
                  <a:srgbClr val="40458B"/>
                </a:solidFill>
                <a:latin typeface="宋体"/>
                <a:cs typeface="宋体"/>
              </a:rPr>
              <a:t>L2</a:t>
            </a:r>
            <a:r>
              <a:rPr dirty="0" sz="2000" spc="-20" b="1">
                <a:solidFill>
                  <a:srgbClr val="40458B"/>
                </a:solidFill>
                <a:latin typeface="宋体"/>
                <a:cs typeface="宋体"/>
              </a:rPr>
              <a:t>×不命中开销</a:t>
            </a:r>
            <a:r>
              <a:rPr dirty="0" baseline="-21367" sz="1950" spc="-37" b="1">
                <a:solidFill>
                  <a:srgbClr val="40458B"/>
                </a:solidFill>
                <a:latin typeface="宋体"/>
                <a:cs typeface="宋体"/>
              </a:rPr>
              <a:t>L2</a:t>
            </a:r>
            <a:endParaRPr baseline="-21367" sz="1950">
              <a:latin typeface="宋体"/>
              <a:cs typeface="宋体"/>
            </a:endParaRPr>
          </a:p>
          <a:p>
            <a:pPr>
              <a:lnSpc>
                <a:spcPct val="100000"/>
              </a:lnSpc>
              <a:spcBef>
                <a:spcPts val="1115"/>
              </a:spcBef>
            </a:pPr>
            <a:endParaRPr sz="2000">
              <a:latin typeface="宋体"/>
              <a:cs typeface="宋体"/>
            </a:endParaRPr>
          </a:p>
          <a:p>
            <a:pPr marL="828040">
              <a:lnSpc>
                <a:spcPct val="100000"/>
              </a:lnSpc>
            </a:pPr>
            <a:r>
              <a:rPr dirty="0" sz="2000" spc="-10" b="1">
                <a:solidFill>
                  <a:srgbClr val="40458B"/>
                </a:solidFill>
                <a:latin typeface="宋体"/>
                <a:cs typeface="宋体"/>
              </a:rPr>
              <a:t>平均访存时间 </a:t>
            </a:r>
            <a:r>
              <a:rPr dirty="0" sz="2000" b="1">
                <a:solidFill>
                  <a:srgbClr val="40458B"/>
                </a:solidFill>
                <a:latin typeface="宋体"/>
                <a:cs typeface="宋体"/>
              </a:rPr>
              <a:t>＝</a:t>
            </a:r>
            <a:r>
              <a:rPr dirty="0" sz="2000" spc="-10" b="1">
                <a:solidFill>
                  <a:srgbClr val="40458B"/>
                </a:solidFill>
                <a:latin typeface="宋体"/>
                <a:cs typeface="宋体"/>
              </a:rPr>
              <a:t> 命中时间</a:t>
            </a:r>
            <a:r>
              <a:rPr dirty="0" baseline="-21367" sz="1950" b="1">
                <a:solidFill>
                  <a:srgbClr val="40458B"/>
                </a:solidFill>
                <a:latin typeface="宋体"/>
                <a:cs typeface="宋体"/>
              </a:rPr>
              <a:t>L1</a:t>
            </a:r>
            <a:r>
              <a:rPr dirty="0" sz="2000" spc="-10" b="1">
                <a:solidFill>
                  <a:srgbClr val="40458B"/>
                </a:solidFill>
                <a:latin typeface="宋体"/>
                <a:cs typeface="宋体"/>
              </a:rPr>
              <a:t>＋不命中率</a:t>
            </a:r>
            <a:r>
              <a:rPr dirty="0" baseline="-21367" sz="1950" spc="-37" b="1">
                <a:solidFill>
                  <a:srgbClr val="40458B"/>
                </a:solidFill>
                <a:latin typeface="宋体"/>
                <a:cs typeface="宋体"/>
              </a:rPr>
              <a:t>L1</a:t>
            </a:r>
            <a:r>
              <a:rPr dirty="0" sz="2000" spc="-25" b="1">
                <a:solidFill>
                  <a:srgbClr val="40458B"/>
                </a:solidFill>
                <a:latin typeface="宋体"/>
                <a:cs typeface="宋体"/>
              </a:rPr>
              <a:t>×</a:t>
            </a:r>
            <a:endParaRPr sz="2000">
              <a:latin typeface="宋体"/>
              <a:cs typeface="宋体"/>
            </a:endParaRPr>
          </a:p>
          <a:p>
            <a:pPr marL="2371725">
              <a:lnSpc>
                <a:spcPct val="100000"/>
              </a:lnSpc>
              <a:spcBef>
                <a:spcPts val="960"/>
              </a:spcBef>
            </a:pPr>
            <a:r>
              <a:rPr dirty="0" sz="2000" spc="-15" b="1">
                <a:solidFill>
                  <a:srgbClr val="40458B"/>
                </a:solidFill>
                <a:latin typeface="宋体"/>
                <a:cs typeface="宋体"/>
              </a:rPr>
              <a:t>（命中时间</a:t>
            </a:r>
            <a:r>
              <a:rPr dirty="0" baseline="-21367" sz="1950" b="1">
                <a:solidFill>
                  <a:srgbClr val="40458B"/>
                </a:solidFill>
                <a:latin typeface="宋体"/>
                <a:cs typeface="宋体"/>
              </a:rPr>
              <a:t>L2</a:t>
            </a:r>
            <a:r>
              <a:rPr dirty="0" sz="2000" spc="-20" b="1">
                <a:solidFill>
                  <a:srgbClr val="40458B"/>
                </a:solidFill>
                <a:latin typeface="宋体"/>
                <a:cs typeface="宋体"/>
              </a:rPr>
              <a:t>＋不命中率</a:t>
            </a:r>
            <a:r>
              <a:rPr dirty="0" baseline="-21367" sz="1950" b="1">
                <a:solidFill>
                  <a:srgbClr val="40458B"/>
                </a:solidFill>
                <a:latin typeface="宋体"/>
                <a:cs typeface="宋体"/>
              </a:rPr>
              <a:t>L2</a:t>
            </a:r>
            <a:r>
              <a:rPr dirty="0" sz="2000" spc="-20" b="1">
                <a:solidFill>
                  <a:srgbClr val="40458B"/>
                </a:solidFill>
                <a:latin typeface="宋体"/>
                <a:cs typeface="宋体"/>
              </a:rPr>
              <a:t>×不命中开销</a:t>
            </a:r>
            <a:r>
              <a:rPr dirty="0" baseline="-21367" sz="1950" spc="-37" b="1">
                <a:solidFill>
                  <a:srgbClr val="40458B"/>
                </a:solidFill>
                <a:latin typeface="宋体"/>
                <a:cs typeface="宋体"/>
              </a:rPr>
              <a:t>L2</a:t>
            </a:r>
            <a:r>
              <a:rPr dirty="0" sz="2000" spc="-25" b="1">
                <a:solidFill>
                  <a:srgbClr val="40458B"/>
                </a:solidFill>
                <a:latin typeface="宋体"/>
                <a:cs typeface="宋体"/>
              </a:rPr>
              <a:t>）</a:t>
            </a:r>
            <a:endParaRPr sz="2000">
              <a:latin typeface="宋体"/>
              <a:cs typeface="宋体"/>
            </a:endParaRPr>
          </a:p>
        </p:txBody>
      </p:sp>
      <p:sp>
        <p:nvSpPr>
          <p:cNvPr id="13" name="object 13"/>
          <p:cNvSpPr txBox="1">
            <a:spLocks noGrp="1"/>
          </p:cNvSpPr>
          <p:nvPr>
            <p:ph type="title"/>
          </p:nvPr>
        </p:nvSpPr>
        <p:spPr>
          <a:xfrm>
            <a:off x="1914905" y="80263"/>
            <a:ext cx="4114165" cy="452120"/>
          </a:xfrm>
          <a:prstGeom prst="rect"/>
        </p:spPr>
        <p:txBody>
          <a:bodyPr wrap="square" lIns="0" tIns="12065" rIns="0" bIns="0" rtlCol="0" vert="horz">
            <a:spAutoFit/>
          </a:bodyPr>
          <a:lstStyle/>
          <a:p>
            <a:pPr marL="12700">
              <a:lnSpc>
                <a:spcPct val="100000"/>
              </a:lnSpc>
              <a:spcBef>
                <a:spcPts val="95"/>
              </a:spcBef>
            </a:pPr>
            <a:r>
              <a:rPr dirty="0" u="none">
                <a:solidFill>
                  <a:srgbClr val="000000"/>
                </a:solidFill>
              </a:rPr>
              <a:t>7.4</a:t>
            </a:r>
            <a:r>
              <a:rPr dirty="0" u="none" spc="-10">
                <a:solidFill>
                  <a:srgbClr val="000000"/>
                </a:solidFill>
              </a:rPr>
              <a:t> 减少</a:t>
            </a:r>
            <a:r>
              <a:rPr dirty="0" u="none" spc="-20">
                <a:solidFill>
                  <a:srgbClr val="000000"/>
                </a:solidFill>
              </a:rPr>
              <a:t>Cache</a:t>
            </a:r>
            <a:r>
              <a:rPr dirty="0" u="none" spc="-40">
                <a:solidFill>
                  <a:srgbClr val="000000"/>
                </a:solidFill>
              </a:rPr>
              <a:t>不命中开销</a:t>
            </a:r>
          </a:p>
        </p:txBody>
      </p:sp>
      <p:grpSp>
        <p:nvGrpSpPr>
          <p:cNvPr id="14" name="object 14" descr=""/>
          <p:cNvGrpSpPr/>
          <p:nvPr/>
        </p:nvGrpSpPr>
        <p:grpSpPr>
          <a:xfrm>
            <a:off x="4795837" y="4776787"/>
            <a:ext cx="298450" cy="370205"/>
            <a:chOff x="4795837" y="4776787"/>
            <a:chExt cx="298450" cy="370205"/>
          </a:xfrm>
        </p:grpSpPr>
        <p:sp>
          <p:nvSpPr>
            <p:cNvPr id="15" name="object 15" descr=""/>
            <p:cNvSpPr/>
            <p:nvPr/>
          </p:nvSpPr>
          <p:spPr>
            <a:xfrm>
              <a:off x="4800600" y="4781550"/>
              <a:ext cx="288925" cy="360680"/>
            </a:xfrm>
            <a:custGeom>
              <a:avLst/>
              <a:gdLst/>
              <a:ahLst/>
              <a:cxnLst/>
              <a:rect l="l" t="t" r="r" b="b"/>
              <a:pathLst>
                <a:path w="288925" h="360679">
                  <a:moveTo>
                    <a:pt x="216662" y="0"/>
                  </a:moveTo>
                  <a:lnTo>
                    <a:pt x="72262" y="0"/>
                  </a:lnTo>
                  <a:lnTo>
                    <a:pt x="72262" y="216281"/>
                  </a:lnTo>
                  <a:lnTo>
                    <a:pt x="0" y="216281"/>
                  </a:lnTo>
                  <a:lnTo>
                    <a:pt x="144399" y="360299"/>
                  </a:lnTo>
                  <a:lnTo>
                    <a:pt x="288925" y="216281"/>
                  </a:lnTo>
                  <a:lnTo>
                    <a:pt x="216662" y="216281"/>
                  </a:lnTo>
                  <a:lnTo>
                    <a:pt x="216662" y="0"/>
                  </a:lnTo>
                  <a:close/>
                </a:path>
              </a:pathLst>
            </a:custGeom>
            <a:solidFill>
              <a:srgbClr val="EBD782"/>
            </a:solidFill>
          </p:spPr>
          <p:txBody>
            <a:bodyPr wrap="square" lIns="0" tIns="0" rIns="0" bIns="0" rtlCol="0"/>
            <a:lstStyle/>
            <a:p/>
          </p:txBody>
        </p:sp>
        <p:sp>
          <p:nvSpPr>
            <p:cNvPr id="16" name="object 16" descr=""/>
            <p:cNvSpPr/>
            <p:nvPr/>
          </p:nvSpPr>
          <p:spPr>
            <a:xfrm>
              <a:off x="4800600" y="4781550"/>
              <a:ext cx="288925" cy="360680"/>
            </a:xfrm>
            <a:custGeom>
              <a:avLst/>
              <a:gdLst/>
              <a:ahLst/>
              <a:cxnLst/>
              <a:rect l="l" t="t" r="r" b="b"/>
              <a:pathLst>
                <a:path w="288925" h="360679">
                  <a:moveTo>
                    <a:pt x="0" y="216281"/>
                  </a:moveTo>
                  <a:lnTo>
                    <a:pt x="72262" y="216281"/>
                  </a:lnTo>
                  <a:lnTo>
                    <a:pt x="72262" y="0"/>
                  </a:lnTo>
                  <a:lnTo>
                    <a:pt x="216662" y="0"/>
                  </a:lnTo>
                  <a:lnTo>
                    <a:pt x="216662" y="216281"/>
                  </a:lnTo>
                  <a:lnTo>
                    <a:pt x="288925" y="216281"/>
                  </a:lnTo>
                  <a:lnTo>
                    <a:pt x="144399" y="360299"/>
                  </a:lnTo>
                  <a:lnTo>
                    <a:pt x="0" y="216281"/>
                  </a:lnTo>
                  <a:close/>
                </a:path>
              </a:pathLst>
            </a:custGeom>
            <a:ln w="9525">
              <a:solidFill>
                <a:srgbClr val="40458B"/>
              </a:solidFill>
            </a:ln>
          </p:spPr>
          <p:txBody>
            <a:bodyPr wrap="square" lIns="0" tIns="0" rIns="0" bIns="0" rtlCol="0"/>
            <a:lstStyle/>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29818" y="1064768"/>
            <a:ext cx="10104755" cy="2680335"/>
          </a:xfrm>
          <a:prstGeom prst="rect">
            <a:avLst/>
          </a:prstGeom>
        </p:spPr>
        <p:txBody>
          <a:bodyPr wrap="square" lIns="0" tIns="13335" rIns="0" bIns="0" rtlCol="0" vert="horz">
            <a:spAutoFit/>
          </a:bodyPr>
          <a:lstStyle/>
          <a:p>
            <a:pPr marL="301625">
              <a:lnSpc>
                <a:spcPct val="100000"/>
              </a:lnSpc>
              <a:spcBef>
                <a:spcPts val="105"/>
              </a:spcBef>
            </a:pPr>
            <a:r>
              <a:rPr dirty="0" sz="2600" spc="-20">
                <a:solidFill>
                  <a:srgbClr val="0000CC"/>
                </a:solidFill>
                <a:latin typeface="黑体"/>
                <a:cs typeface="黑体"/>
              </a:rPr>
              <a:t>引入两个概念：局部与全局不命中率</a:t>
            </a:r>
            <a:endParaRPr sz="2600">
              <a:latin typeface="黑体"/>
              <a:cs typeface="黑体"/>
            </a:endParaRPr>
          </a:p>
          <a:p>
            <a:pPr>
              <a:lnSpc>
                <a:spcPct val="100000"/>
              </a:lnSpc>
              <a:spcBef>
                <a:spcPts val="90"/>
              </a:spcBef>
            </a:pPr>
            <a:endParaRPr sz="2600">
              <a:latin typeface="黑体"/>
              <a:cs typeface="黑体"/>
            </a:endParaRPr>
          </a:p>
          <a:p>
            <a:pPr marL="469265" indent="-456565">
              <a:lnSpc>
                <a:spcPct val="100000"/>
              </a:lnSpc>
              <a:buClr>
                <a:srgbClr val="40458B"/>
              </a:buClr>
              <a:buAutoNum type="arabicPeriod" startAt="3"/>
              <a:tabLst>
                <a:tab pos="469265" algn="l"/>
              </a:tabLst>
            </a:pPr>
            <a:r>
              <a:rPr dirty="0" sz="2400" spc="-5">
                <a:solidFill>
                  <a:srgbClr val="E14B04"/>
                </a:solidFill>
                <a:latin typeface="黑体"/>
                <a:cs typeface="黑体"/>
              </a:rPr>
              <a:t>局部不命中率与全局不命中率</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FF0000"/>
                </a:solidFill>
                <a:latin typeface="黑体"/>
                <a:cs typeface="黑体"/>
              </a:rPr>
              <a:t>局部不命中率</a:t>
            </a:r>
            <a:r>
              <a:rPr dirty="0" sz="2400">
                <a:solidFill>
                  <a:srgbClr val="40458B"/>
                </a:solidFill>
                <a:latin typeface="黑体"/>
                <a:cs typeface="黑体"/>
              </a:rPr>
              <a:t>＝该级Cache</a:t>
            </a:r>
            <a:r>
              <a:rPr dirty="0" sz="2400" spc="-5">
                <a:solidFill>
                  <a:srgbClr val="40458B"/>
                </a:solidFill>
                <a:latin typeface="黑体"/>
                <a:cs typeface="黑体"/>
              </a:rPr>
              <a:t>的不命中次数/到达该级</a:t>
            </a:r>
            <a:r>
              <a:rPr dirty="0" sz="2400">
                <a:solidFill>
                  <a:srgbClr val="40458B"/>
                </a:solidFill>
                <a:latin typeface="黑体"/>
                <a:cs typeface="黑体"/>
              </a:rPr>
              <a:t>Cache</a:t>
            </a:r>
            <a:r>
              <a:rPr dirty="0" sz="2400" spc="-10">
                <a:solidFill>
                  <a:srgbClr val="40458B"/>
                </a:solidFill>
                <a:latin typeface="黑体"/>
                <a:cs typeface="黑体"/>
              </a:rPr>
              <a:t>的访问次数</a:t>
            </a:r>
            <a:endParaRPr sz="2400">
              <a:latin typeface="黑体"/>
              <a:cs typeface="黑体"/>
            </a:endParaRPr>
          </a:p>
          <a:p>
            <a:pPr marL="1546860">
              <a:lnSpc>
                <a:spcPct val="100000"/>
              </a:lnSpc>
              <a:spcBef>
                <a:spcPts val="1019"/>
              </a:spcBef>
            </a:pPr>
            <a:r>
              <a:rPr dirty="0" sz="2000" spc="-20" b="1">
                <a:latin typeface="宋体"/>
                <a:cs typeface="宋体"/>
              </a:rPr>
              <a:t>例如：上述式子中的不命中率</a:t>
            </a:r>
            <a:r>
              <a:rPr dirty="0" sz="2000" spc="-25" b="1">
                <a:solidFill>
                  <a:srgbClr val="9933FF"/>
                </a:solidFill>
                <a:latin typeface="宋体"/>
                <a:cs typeface="宋体"/>
              </a:rPr>
              <a:t>L2</a:t>
            </a:r>
            <a:endParaRPr sz="2000">
              <a:latin typeface="宋体"/>
              <a:cs typeface="宋体"/>
            </a:endParaRPr>
          </a:p>
          <a:p>
            <a:pPr lvl="1" marL="1099185" indent="-457200">
              <a:lnSpc>
                <a:spcPct val="100000"/>
              </a:lnSpc>
              <a:spcBef>
                <a:spcPts val="1090"/>
              </a:spcBef>
              <a:buClr>
                <a:srgbClr val="40458B"/>
              </a:buClr>
              <a:buSzPct val="89583"/>
              <a:buFont typeface="Wingdings"/>
              <a:buChar char=""/>
              <a:tabLst>
                <a:tab pos="1099185" algn="l"/>
              </a:tabLst>
            </a:pPr>
            <a:r>
              <a:rPr dirty="0" sz="2400">
                <a:solidFill>
                  <a:srgbClr val="FF0000"/>
                </a:solidFill>
                <a:latin typeface="黑体"/>
                <a:cs typeface="黑体"/>
              </a:rPr>
              <a:t>全局不命中率</a:t>
            </a:r>
            <a:r>
              <a:rPr dirty="0" sz="2400">
                <a:solidFill>
                  <a:srgbClr val="40458B"/>
                </a:solidFill>
                <a:latin typeface="黑体"/>
                <a:cs typeface="黑体"/>
              </a:rPr>
              <a:t>＝该级Cache</a:t>
            </a:r>
            <a:r>
              <a:rPr dirty="0" sz="2400" spc="-5">
                <a:solidFill>
                  <a:srgbClr val="40458B"/>
                </a:solidFill>
                <a:latin typeface="黑体"/>
                <a:cs typeface="黑体"/>
              </a:rPr>
              <a:t>的不命中次数</a:t>
            </a:r>
            <a:r>
              <a:rPr dirty="0" sz="2400">
                <a:solidFill>
                  <a:srgbClr val="40458B"/>
                </a:solidFill>
                <a:latin typeface="黑体"/>
                <a:cs typeface="黑体"/>
              </a:rPr>
              <a:t>/CPU</a:t>
            </a:r>
            <a:r>
              <a:rPr dirty="0" sz="2400" spc="-10">
                <a:solidFill>
                  <a:srgbClr val="40458B"/>
                </a:solidFill>
                <a:latin typeface="黑体"/>
                <a:cs typeface="黑体"/>
              </a:rPr>
              <a:t>发出的访存的总次数</a:t>
            </a:r>
            <a:endParaRPr sz="2400">
              <a:latin typeface="黑体"/>
              <a:cs typeface="黑体"/>
            </a:endParaRPr>
          </a:p>
        </p:txBody>
      </p:sp>
      <p:sp>
        <p:nvSpPr>
          <p:cNvPr id="10" name="object 10"/>
          <p:cNvSpPr txBox="1">
            <a:spLocks noGrp="1"/>
          </p:cNvSpPr>
          <p:nvPr>
            <p:ph type="title"/>
          </p:nvPr>
        </p:nvSpPr>
        <p:spPr>
          <a:prstGeom prst="rect"/>
        </p:spPr>
        <p:txBody>
          <a:bodyPr wrap="square" lIns="0" tIns="12700" rIns="0" bIns="0" rtlCol="0" vert="horz">
            <a:spAutoFit/>
          </a:bodyPr>
          <a:lstStyle/>
          <a:p>
            <a:pPr marL="180340">
              <a:lnSpc>
                <a:spcPct val="100000"/>
              </a:lnSpc>
              <a:spcBef>
                <a:spcPts val="100"/>
              </a:spcBef>
            </a:pPr>
            <a:r>
              <a:rPr dirty="0" u="none" sz="2600">
                <a:solidFill>
                  <a:srgbClr val="0000CC"/>
                </a:solidFill>
              </a:rPr>
              <a:t>7.4.1</a:t>
            </a:r>
            <a:r>
              <a:rPr dirty="0" u="none" sz="2600" spc="-5">
                <a:solidFill>
                  <a:srgbClr val="0000CC"/>
                </a:solidFill>
              </a:rPr>
              <a:t> 采用两级</a:t>
            </a:r>
            <a:r>
              <a:rPr dirty="0" u="none" sz="2600" spc="-20">
                <a:solidFill>
                  <a:srgbClr val="0000CC"/>
                </a:solidFill>
              </a:rPr>
              <a:t>Cache</a:t>
            </a:r>
            <a:endParaRPr sz="26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515616" y="214376"/>
            <a:ext cx="2948940" cy="330835"/>
          </a:xfrm>
          <a:prstGeom prst="rect">
            <a:avLst/>
          </a:prstGeom>
        </p:spPr>
        <p:txBody>
          <a:bodyPr wrap="square" lIns="0" tIns="12700" rIns="0" bIns="0" rtlCol="0" vert="horz">
            <a:spAutoFit/>
          </a:bodyPr>
          <a:lstStyle/>
          <a:p>
            <a:pPr marL="12700">
              <a:lnSpc>
                <a:spcPct val="100000"/>
              </a:lnSpc>
              <a:spcBef>
                <a:spcPts val="100"/>
              </a:spcBef>
            </a:pPr>
            <a:r>
              <a:rPr dirty="0" sz="2000">
                <a:solidFill>
                  <a:srgbClr val="4F55AC"/>
                </a:solidFill>
                <a:latin typeface="黑体"/>
                <a:cs typeface="黑体"/>
              </a:rPr>
              <a:t>7.4</a:t>
            </a:r>
            <a:r>
              <a:rPr dirty="0" sz="2000" spc="5">
                <a:solidFill>
                  <a:srgbClr val="4F55AC"/>
                </a:solidFill>
                <a:latin typeface="黑体"/>
                <a:cs typeface="黑体"/>
              </a:rPr>
              <a:t> 减少</a:t>
            </a:r>
            <a:r>
              <a:rPr dirty="0" sz="2000" spc="-10">
                <a:solidFill>
                  <a:srgbClr val="4F55AC"/>
                </a:solidFill>
                <a:latin typeface="黑体"/>
                <a:cs typeface="黑体"/>
              </a:rPr>
              <a:t>Cache不命中开销</a:t>
            </a:r>
            <a:endParaRPr sz="2000">
              <a:latin typeface="黑体"/>
              <a:cs typeface="黑体"/>
            </a:endParaRPr>
          </a:p>
        </p:txBody>
      </p:sp>
      <p:sp>
        <p:nvSpPr>
          <p:cNvPr id="10" name="object 10" descr=""/>
          <p:cNvSpPr txBox="1"/>
          <p:nvPr/>
        </p:nvSpPr>
        <p:spPr>
          <a:xfrm>
            <a:off x="532790" y="1837220"/>
            <a:ext cx="11214100" cy="2889885"/>
          </a:xfrm>
          <a:prstGeom prst="rect">
            <a:avLst/>
          </a:prstGeom>
        </p:spPr>
        <p:txBody>
          <a:bodyPr wrap="square" lIns="0" tIns="222250" rIns="0" bIns="0" rtlCol="0" vert="horz">
            <a:spAutoFit/>
          </a:bodyPr>
          <a:lstStyle/>
          <a:p>
            <a:pPr marL="1124585" indent="-457200">
              <a:lnSpc>
                <a:spcPct val="100000"/>
              </a:lnSpc>
              <a:spcBef>
                <a:spcPts val="1750"/>
              </a:spcBef>
              <a:buClr>
                <a:srgbClr val="40458B"/>
              </a:buClr>
              <a:buSzPct val="89583"/>
              <a:buFont typeface="Wingdings"/>
              <a:buChar char=""/>
              <a:tabLst>
                <a:tab pos="1124585" algn="l"/>
              </a:tabLst>
            </a:pPr>
            <a:r>
              <a:rPr dirty="0" sz="2400">
                <a:solidFill>
                  <a:srgbClr val="FF09FF"/>
                </a:solidFill>
                <a:latin typeface="黑体"/>
                <a:cs typeface="黑体"/>
              </a:rPr>
              <a:t>全局不命中率</a:t>
            </a:r>
            <a:r>
              <a:rPr dirty="0" baseline="-20833" sz="2400" spc="-15">
                <a:solidFill>
                  <a:srgbClr val="FF09FF"/>
                </a:solidFill>
                <a:latin typeface="黑体"/>
                <a:cs typeface="黑体"/>
              </a:rPr>
              <a:t>L2</a:t>
            </a:r>
            <a:r>
              <a:rPr dirty="0" sz="2400" spc="-10">
                <a:solidFill>
                  <a:srgbClr val="E14B04"/>
                </a:solidFill>
                <a:latin typeface="黑体"/>
                <a:cs typeface="黑体"/>
              </a:rPr>
              <a:t>＝</a:t>
            </a:r>
            <a:r>
              <a:rPr dirty="0" sz="2400" spc="-5">
                <a:solidFill>
                  <a:srgbClr val="E14B04"/>
                </a:solidFill>
                <a:latin typeface="黑体"/>
                <a:cs typeface="黑体"/>
              </a:rPr>
              <a:t>不命中率</a:t>
            </a:r>
            <a:r>
              <a:rPr dirty="0" baseline="-20833" sz="2400" spc="-15">
                <a:solidFill>
                  <a:srgbClr val="E14B04"/>
                </a:solidFill>
                <a:latin typeface="黑体"/>
                <a:cs typeface="黑体"/>
              </a:rPr>
              <a:t>L1</a:t>
            </a:r>
            <a:r>
              <a:rPr dirty="0" sz="2400" spc="-10">
                <a:solidFill>
                  <a:srgbClr val="E14B04"/>
                </a:solidFill>
                <a:latin typeface="黑体"/>
                <a:cs typeface="黑体"/>
              </a:rPr>
              <a:t>×不命中率</a:t>
            </a:r>
            <a:r>
              <a:rPr dirty="0" baseline="-20833" sz="2400" spc="-37">
                <a:solidFill>
                  <a:srgbClr val="E14B04"/>
                </a:solidFill>
                <a:latin typeface="黑体"/>
                <a:cs typeface="黑体"/>
              </a:rPr>
              <a:t>L2</a:t>
            </a:r>
            <a:endParaRPr baseline="-20833" sz="2400">
              <a:latin typeface="黑体"/>
              <a:cs typeface="黑体"/>
            </a:endParaRPr>
          </a:p>
          <a:p>
            <a:pPr marL="1124585" marR="43180" indent="572770">
              <a:lnSpc>
                <a:spcPct val="140100"/>
              </a:lnSpc>
              <a:spcBef>
                <a:spcPts val="425"/>
              </a:spcBef>
            </a:pPr>
            <a:r>
              <a:rPr dirty="0" sz="2000" spc="-10" b="1">
                <a:solidFill>
                  <a:srgbClr val="40458B"/>
                </a:solidFill>
                <a:latin typeface="宋体"/>
                <a:cs typeface="宋体"/>
              </a:rPr>
              <a:t>评价第二级Cache</a:t>
            </a:r>
            <a:r>
              <a:rPr dirty="0" sz="2000" spc="-15" b="1">
                <a:solidFill>
                  <a:srgbClr val="40458B"/>
                </a:solidFill>
                <a:latin typeface="宋体"/>
                <a:cs typeface="宋体"/>
              </a:rPr>
              <a:t>时，应使用</a:t>
            </a:r>
            <a:r>
              <a:rPr dirty="0" sz="2000" spc="-15" b="1">
                <a:solidFill>
                  <a:srgbClr val="D50092"/>
                </a:solidFill>
                <a:latin typeface="宋体"/>
                <a:cs typeface="宋体"/>
              </a:rPr>
              <a:t>全局不命中率</a:t>
            </a:r>
            <a:r>
              <a:rPr dirty="0" sz="2000" spc="-20" b="1">
                <a:solidFill>
                  <a:srgbClr val="40458B"/>
                </a:solidFill>
                <a:latin typeface="宋体"/>
                <a:cs typeface="宋体"/>
              </a:rPr>
              <a:t>这个指标。它指出了在CPU发出的访存中，</a:t>
            </a:r>
            <a:r>
              <a:rPr dirty="0" sz="2000" spc="-10" b="1">
                <a:solidFill>
                  <a:srgbClr val="40458B"/>
                </a:solidFill>
                <a:latin typeface="宋体"/>
                <a:cs typeface="宋体"/>
              </a:rPr>
              <a:t>究竟有多大比例是穿过各级</a:t>
            </a:r>
            <a:r>
              <a:rPr dirty="0" sz="2000" spc="-20" b="1">
                <a:solidFill>
                  <a:srgbClr val="40458B"/>
                </a:solidFill>
                <a:latin typeface="宋体"/>
                <a:cs typeface="宋体"/>
              </a:rPr>
              <a:t>Cache</a:t>
            </a:r>
            <a:r>
              <a:rPr dirty="0" sz="2000" spc="-25" b="1">
                <a:solidFill>
                  <a:srgbClr val="40458B"/>
                </a:solidFill>
                <a:latin typeface="宋体"/>
                <a:cs typeface="宋体"/>
              </a:rPr>
              <a:t>，最终到达存储器的。</a:t>
            </a:r>
            <a:endParaRPr sz="2000">
              <a:latin typeface="宋体"/>
              <a:cs typeface="宋体"/>
            </a:endParaRPr>
          </a:p>
          <a:p>
            <a:pPr marL="38100">
              <a:lnSpc>
                <a:spcPct val="100000"/>
              </a:lnSpc>
              <a:spcBef>
                <a:spcPts val="1205"/>
              </a:spcBef>
              <a:tabLst>
                <a:tab pos="494665" algn="l"/>
              </a:tabLst>
            </a:pPr>
            <a:r>
              <a:rPr dirty="0" sz="2400" spc="-25">
                <a:solidFill>
                  <a:srgbClr val="40458B"/>
                </a:solidFill>
                <a:latin typeface="Times New Roman"/>
                <a:cs typeface="Times New Roman"/>
              </a:rPr>
              <a:t>4.</a:t>
            </a:r>
            <a:r>
              <a:rPr dirty="0" sz="2400">
                <a:solidFill>
                  <a:srgbClr val="40458B"/>
                </a:solidFill>
                <a:latin typeface="Times New Roman"/>
                <a:cs typeface="Times New Roman"/>
              </a:rPr>
              <a:t>	</a:t>
            </a:r>
            <a:r>
              <a:rPr dirty="0" sz="2400">
                <a:solidFill>
                  <a:srgbClr val="E14B04"/>
                </a:solidFill>
                <a:latin typeface="黑体"/>
                <a:cs typeface="黑体"/>
              </a:rPr>
              <a:t>采用两级</a:t>
            </a:r>
            <a:r>
              <a:rPr dirty="0" sz="2400">
                <a:solidFill>
                  <a:srgbClr val="E14B04"/>
                </a:solidFill>
                <a:latin typeface="Times New Roman"/>
                <a:cs typeface="Times New Roman"/>
              </a:rPr>
              <a:t>Cache</a:t>
            </a:r>
            <a:r>
              <a:rPr dirty="0" sz="2400" spc="-5">
                <a:solidFill>
                  <a:srgbClr val="E14B04"/>
                </a:solidFill>
                <a:latin typeface="黑体"/>
                <a:cs typeface="黑体"/>
              </a:rPr>
              <a:t>时，每条指令的平均访存停顿时间：</a:t>
            </a:r>
            <a:endParaRPr sz="2400">
              <a:latin typeface="黑体"/>
              <a:cs typeface="黑体"/>
            </a:endParaRPr>
          </a:p>
          <a:p>
            <a:pPr marL="1493520" marR="2009139" indent="-826769">
              <a:lnSpc>
                <a:spcPct val="140100"/>
              </a:lnSpc>
              <a:spcBef>
                <a:spcPts val="60"/>
              </a:spcBef>
            </a:pPr>
            <a:r>
              <a:rPr dirty="0" sz="2000" spc="-15" b="1">
                <a:solidFill>
                  <a:srgbClr val="40458B"/>
                </a:solidFill>
                <a:latin typeface="宋体"/>
                <a:cs typeface="宋体"/>
              </a:rPr>
              <a:t>每条指令的平均访存停顿时间</a:t>
            </a:r>
            <a:r>
              <a:rPr dirty="0" sz="2000" spc="-15" b="1">
                <a:solidFill>
                  <a:srgbClr val="40458B"/>
                </a:solidFill>
                <a:latin typeface="Times New Roman"/>
                <a:cs typeface="Times New Roman"/>
              </a:rPr>
              <a:t>= </a:t>
            </a:r>
            <a:r>
              <a:rPr dirty="0" sz="2000" spc="-15" b="1">
                <a:solidFill>
                  <a:srgbClr val="40458B"/>
                </a:solidFill>
                <a:latin typeface="宋体"/>
                <a:cs typeface="宋体"/>
              </a:rPr>
              <a:t>每条指令的平均不命中次数</a:t>
            </a:r>
            <a:r>
              <a:rPr dirty="0" baseline="-21367" sz="1950" b="1">
                <a:solidFill>
                  <a:srgbClr val="40458B"/>
                </a:solidFill>
                <a:latin typeface="Times New Roman"/>
                <a:cs typeface="Times New Roman"/>
              </a:rPr>
              <a:t>L1</a:t>
            </a:r>
            <a:r>
              <a:rPr dirty="0" sz="2000" spc="-10" b="1">
                <a:solidFill>
                  <a:srgbClr val="40458B"/>
                </a:solidFill>
                <a:latin typeface="宋体"/>
                <a:cs typeface="宋体"/>
              </a:rPr>
              <a:t>×命中时间</a:t>
            </a:r>
            <a:r>
              <a:rPr dirty="0" baseline="-21367" sz="1950" spc="-37" b="1">
                <a:solidFill>
                  <a:srgbClr val="40458B"/>
                </a:solidFill>
                <a:latin typeface="Times New Roman"/>
                <a:cs typeface="Times New Roman"/>
              </a:rPr>
              <a:t>L2</a:t>
            </a:r>
            <a:r>
              <a:rPr dirty="0" sz="2000" spc="-25" b="1">
                <a:solidFill>
                  <a:srgbClr val="40458B"/>
                </a:solidFill>
                <a:latin typeface="宋体"/>
                <a:cs typeface="宋体"/>
              </a:rPr>
              <a:t>＋</a:t>
            </a:r>
            <a:r>
              <a:rPr dirty="0" sz="2000" spc="-15" b="1">
                <a:solidFill>
                  <a:srgbClr val="40458B"/>
                </a:solidFill>
                <a:latin typeface="宋体"/>
                <a:cs typeface="宋体"/>
              </a:rPr>
              <a:t>每条指令的平均不命中次数</a:t>
            </a:r>
            <a:r>
              <a:rPr dirty="0" baseline="-21367" sz="1950" b="1">
                <a:solidFill>
                  <a:srgbClr val="40458B"/>
                </a:solidFill>
                <a:latin typeface="Times New Roman"/>
                <a:cs typeface="Times New Roman"/>
              </a:rPr>
              <a:t>L2</a:t>
            </a:r>
            <a:r>
              <a:rPr dirty="0" sz="2000" spc="-10" b="1">
                <a:solidFill>
                  <a:srgbClr val="40458B"/>
                </a:solidFill>
                <a:latin typeface="宋体"/>
                <a:cs typeface="宋体"/>
              </a:rPr>
              <a:t>×不命中开销</a:t>
            </a:r>
            <a:r>
              <a:rPr dirty="0" baseline="-21367" sz="1950" spc="-37" b="1">
                <a:solidFill>
                  <a:srgbClr val="40458B"/>
                </a:solidFill>
                <a:latin typeface="Times New Roman"/>
                <a:cs typeface="Times New Roman"/>
              </a:rPr>
              <a:t>L2</a:t>
            </a:r>
            <a:endParaRPr baseline="-21367" sz="1950">
              <a:latin typeface="Times New Roman"/>
              <a:cs typeface="Times New Roman"/>
            </a:endParaRPr>
          </a:p>
        </p:txBody>
      </p:sp>
      <p:sp>
        <p:nvSpPr>
          <p:cNvPr id="11" name="object 11"/>
          <p:cNvSpPr txBox="1">
            <a:spLocks noGrp="1"/>
          </p:cNvSpPr>
          <p:nvPr>
            <p:ph type="title"/>
          </p:nvPr>
        </p:nvSpPr>
        <p:spPr>
          <a:xfrm>
            <a:off x="1226616" y="694271"/>
            <a:ext cx="8713470" cy="1089025"/>
          </a:xfrm>
          <a:prstGeom prst="rect"/>
        </p:spPr>
        <p:txBody>
          <a:bodyPr wrap="square" lIns="0" tIns="12065" rIns="0" bIns="0" rtlCol="0" vert="horz">
            <a:spAutoFit/>
          </a:bodyPr>
          <a:lstStyle/>
          <a:p>
            <a:pPr marL="12700" marR="5080">
              <a:lnSpc>
                <a:spcPct val="145400"/>
              </a:lnSpc>
              <a:spcBef>
                <a:spcPts val="95"/>
              </a:spcBef>
            </a:pPr>
            <a:r>
              <a:rPr dirty="0" u="none" sz="2400">
                <a:solidFill>
                  <a:srgbClr val="FF0000"/>
                </a:solidFill>
              </a:rPr>
              <a:t>全局不命中率</a:t>
            </a:r>
            <a:r>
              <a:rPr dirty="0" u="none" sz="2400">
                <a:solidFill>
                  <a:srgbClr val="40458B"/>
                </a:solidFill>
              </a:rPr>
              <a:t>＝该级Cache的不命中次数/CPU</a:t>
            </a:r>
            <a:r>
              <a:rPr dirty="0" u="none" sz="2400" spc="-10">
                <a:solidFill>
                  <a:srgbClr val="40458B"/>
                </a:solidFill>
              </a:rPr>
              <a:t>发出的访存的总次数</a:t>
            </a:r>
            <a:r>
              <a:rPr dirty="0" u="none" sz="2400" spc="-10">
                <a:solidFill>
                  <a:srgbClr val="FF09FF"/>
                </a:solidFill>
              </a:rPr>
              <a:t>第二级Cache的全局不命中率</a:t>
            </a:r>
            <a:r>
              <a:rPr dirty="0" u="none" sz="2400" spc="-30">
                <a:solidFill>
                  <a:srgbClr val="40458B"/>
                </a:solidFill>
              </a:rPr>
              <a:t>为：</a:t>
            </a:r>
            <a:endParaRPr sz="24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sp>
        <p:nvSpPr>
          <p:cNvPr id="10" name="object 10" descr=""/>
          <p:cNvSpPr txBox="1"/>
          <p:nvPr/>
        </p:nvSpPr>
        <p:spPr>
          <a:xfrm>
            <a:off x="78739" y="1130173"/>
            <a:ext cx="12086590" cy="4326890"/>
          </a:xfrm>
          <a:prstGeom prst="rect">
            <a:avLst/>
          </a:prstGeom>
        </p:spPr>
        <p:txBody>
          <a:bodyPr wrap="square" lIns="0" tIns="159385" rIns="0" bIns="0" rtlCol="0" vert="horz">
            <a:spAutoFit/>
          </a:bodyPr>
          <a:lstStyle/>
          <a:p>
            <a:pPr marL="461645" indent="-448945">
              <a:lnSpc>
                <a:spcPct val="100000"/>
              </a:lnSpc>
              <a:spcBef>
                <a:spcPts val="1255"/>
              </a:spcBef>
              <a:buClr>
                <a:srgbClr val="40458B"/>
              </a:buClr>
              <a:buFont typeface="Times New Roman"/>
              <a:buAutoNum type="arabicPeriod" startAt="5"/>
              <a:tabLst>
                <a:tab pos="461645" algn="l"/>
              </a:tabLst>
            </a:pPr>
            <a:r>
              <a:rPr dirty="0" sz="2400">
                <a:solidFill>
                  <a:srgbClr val="E14B04"/>
                </a:solidFill>
                <a:latin typeface="黑体"/>
                <a:cs typeface="黑体"/>
              </a:rPr>
              <a:t>对于第二级</a:t>
            </a:r>
            <a:r>
              <a:rPr dirty="0" sz="2400">
                <a:solidFill>
                  <a:srgbClr val="E14B04"/>
                </a:solidFill>
                <a:latin typeface="Times New Roman"/>
                <a:cs typeface="Times New Roman"/>
              </a:rPr>
              <a:t>Cache</a:t>
            </a:r>
            <a:r>
              <a:rPr dirty="0" sz="2400" spc="-10">
                <a:solidFill>
                  <a:srgbClr val="E14B04"/>
                </a:solidFill>
                <a:latin typeface="黑体"/>
                <a:cs typeface="黑体"/>
              </a:rPr>
              <a:t>，我们有以下结论：</a:t>
            </a:r>
            <a:endParaRPr sz="2400">
              <a:latin typeface="黑体"/>
              <a:cs typeface="黑体"/>
            </a:endParaRPr>
          </a:p>
          <a:p>
            <a:pPr lvl="1" marL="1099185" marR="309880" indent="-457834">
              <a:lnSpc>
                <a:spcPct val="120000"/>
              </a:lnSpc>
              <a:spcBef>
                <a:spcPts val="580"/>
              </a:spcBef>
              <a:buSzPct val="89583"/>
              <a:buFont typeface="Wingdings"/>
              <a:buChar char=""/>
              <a:tabLst>
                <a:tab pos="1099185" algn="l"/>
              </a:tabLst>
            </a:pPr>
            <a:r>
              <a:rPr dirty="0" sz="2400" spc="-5">
                <a:solidFill>
                  <a:srgbClr val="40458B"/>
                </a:solidFill>
                <a:latin typeface="黑体"/>
                <a:cs typeface="黑体"/>
              </a:rPr>
              <a:t>在第二级</a:t>
            </a:r>
            <a:r>
              <a:rPr dirty="0" sz="2400">
                <a:solidFill>
                  <a:srgbClr val="40458B"/>
                </a:solidFill>
                <a:latin typeface="黑体"/>
                <a:cs typeface="黑体"/>
              </a:rPr>
              <a:t>Cache</a:t>
            </a:r>
            <a:r>
              <a:rPr dirty="0" sz="2400" spc="-25">
                <a:solidFill>
                  <a:srgbClr val="40458B"/>
                </a:solidFill>
                <a:latin typeface="黑体"/>
                <a:cs typeface="黑体"/>
              </a:rPr>
              <a:t>比第一级 </a:t>
            </a:r>
            <a:r>
              <a:rPr dirty="0" sz="2400">
                <a:solidFill>
                  <a:srgbClr val="40458B"/>
                </a:solidFill>
                <a:latin typeface="黑体"/>
                <a:cs typeface="黑体"/>
              </a:rPr>
              <a:t>Cache</a:t>
            </a:r>
            <a:r>
              <a:rPr dirty="0" sz="2400">
                <a:solidFill>
                  <a:srgbClr val="FF09FF"/>
                </a:solidFill>
                <a:latin typeface="黑体"/>
                <a:cs typeface="黑体"/>
              </a:rPr>
              <a:t>大得多</a:t>
            </a:r>
            <a:r>
              <a:rPr dirty="0" sz="2400">
                <a:solidFill>
                  <a:srgbClr val="40458B"/>
                </a:solidFill>
                <a:latin typeface="黑体"/>
                <a:cs typeface="黑体"/>
              </a:rPr>
              <a:t>的情况下，两级Cache</a:t>
            </a:r>
            <a:r>
              <a:rPr dirty="0" sz="2400" spc="-10">
                <a:solidFill>
                  <a:srgbClr val="40458B"/>
                </a:solidFill>
                <a:latin typeface="黑体"/>
                <a:cs typeface="黑体"/>
              </a:rPr>
              <a:t>的全局不命中率和容</a:t>
            </a:r>
            <a:r>
              <a:rPr dirty="0" sz="2400" spc="-5">
                <a:solidFill>
                  <a:srgbClr val="40458B"/>
                </a:solidFill>
                <a:latin typeface="黑体"/>
                <a:cs typeface="黑体"/>
              </a:rPr>
              <a:t>量与第二级</a:t>
            </a:r>
            <a:r>
              <a:rPr dirty="0" sz="2400">
                <a:solidFill>
                  <a:srgbClr val="40458B"/>
                </a:solidFill>
                <a:latin typeface="黑体"/>
                <a:cs typeface="黑体"/>
              </a:rPr>
              <a:t>Cache</a:t>
            </a:r>
            <a:r>
              <a:rPr dirty="0" sz="2400" spc="-5">
                <a:solidFill>
                  <a:srgbClr val="40458B"/>
                </a:solidFill>
                <a:latin typeface="黑体"/>
                <a:cs typeface="黑体"/>
              </a:rPr>
              <a:t>相同的单级</a:t>
            </a:r>
            <a:r>
              <a:rPr dirty="0" sz="2400">
                <a:solidFill>
                  <a:srgbClr val="40458B"/>
                </a:solidFill>
                <a:latin typeface="黑体"/>
                <a:cs typeface="黑体"/>
              </a:rPr>
              <a:t>Cache</a:t>
            </a:r>
            <a:r>
              <a:rPr dirty="0" sz="2400" spc="-5">
                <a:solidFill>
                  <a:srgbClr val="40458B"/>
                </a:solidFill>
                <a:latin typeface="黑体"/>
                <a:cs typeface="黑体"/>
              </a:rPr>
              <a:t>的不命中率非常接近。</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0">
                <a:solidFill>
                  <a:srgbClr val="40458B"/>
                </a:solidFill>
                <a:latin typeface="黑体"/>
                <a:cs typeface="黑体"/>
              </a:rPr>
              <a:t>局部不命中率不是衡量第二级Cache</a:t>
            </a:r>
            <a:r>
              <a:rPr dirty="0" sz="2400" spc="-5">
                <a:solidFill>
                  <a:srgbClr val="40458B"/>
                </a:solidFill>
                <a:latin typeface="黑体"/>
                <a:cs typeface="黑体"/>
              </a:rPr>
              <a:t>的一个好指标，因此，在评价第二级</a:t>
            </a:r>
            <a:r>
              <a:rPr dirty="0" sz="2400" spc="-10">
                <a:solidFill>
                  <a:srgbClr val="40458B"/>
                </a:solidFill>
                <a:latin typeface="黑体"/>
                <a:cs typeface="黑体"/>
              </a:rPr>
              <a:t>Cache</a:t>
            </a:r>
            <a:r>
              <a:rPr dirty="0" sz="2400" spc="-30">
                <a:solidFill>
                  <a:srgbClr val="40458B"/>
                </a:solidFill>
                <a:latin typeface="黑体"/>
                <a:cs typeface="黑体"/>
              </a:rPr>
              <a:t>时，</a:t>
            </a:r>
            <a:endParaRPr sz="2400">
              <a:latin typeface="黑体"/>
              <a:cs typeface="黑体"/>
            </a:endParaRPr>
          </a:p>
          <a:p>
            <a:pPr marL="1099185">
              <a:lnSpc>
                <a:spcPct val="100000"/>
              </a:lnSpc>
              <a:spcBef>
                <a:spcPts val="580"/>
              </a:spcBef>
            </a:pPr>
            <a:r>
              <a:rPr dirty="0" sz="2400" spc="-5">
                <a:solidFill>
                  <a:srgbClr val="40458B"/>
                </a:solidFill>
                <a:latin typeface="黑体"/>
                <a:cs typeface="黑体"/>
              </a:rPr>
              <a:t>应用全局不命中率这个指标。</a:t>
            </a:r>
            <a:endParaRPr sz="2400">
              <a:latin typeface="黑体"/>
              <a:cs typeface="黑体"/>
            </a:endParaRPr>
          </a:p>
          <a:p>
            <a:pPr marL="461645" indent="-448945">
              <a:lnSpc>
                <a:spcPct val="100000"/>
              </a:lnSpc>
              <a:spcBef>
                <a:spcPts val="1150"/>
              </a:spcBef>
              <a:buClr>
                <a:srgbClr val="40458B"/>
              </a:buClr>
              <a:buFont typeface="Times New Roman"/>
              <a:buAutoNum type="arabicPeriod" startAt="6"/>
              <a:tabLst>
                <a:tab pos="461645" algn="l"/>
              </a:tabLst>
            </a:pPr>
            <a:r>
              <a:rPr dirty="0" sz="2400">
                <a:solidFill>
                  <a:srgbClr val="E14B04"/>
                </a:solidFill>
                <a:latin typeface="黑体"/>
                <a:cs typeface="黑体"/>
              </a:rPr>
              <a:t>第二级</a:t>
            </a:r>
            <a:r>
              <a:rPr dirty="0" sz="2400">
                <a:solidFill>
                  <a:srgbClr val="E14B04"/>
                </a:solidFill>
                <a:latin typeface="Times New Roman"/>
                <a:cs typeface="Times New Roman"/>
              </a:rPr>
              <a:t>Cache</a:t>
            </a:r>
            <a:r>
              <a:rPr dirty="0" sz="2400">
                <a:solidFill>
                  <a:srgbClr val="E14B04"/>
                </a:solidFill>
                <a:latin typeface="黑体"/>
                <a:cs typeface="黑体"/>
              </a:rPr>
              <a:t>不会影响</a:t>
            </a:r>
            <a:r>
              <a:rPr dirty="0" sz="2400" spc="-30">
                <a:solidFill>
                  <a:srgbClr val="E14B04"/>
                </a:solidFill>
                <a:latin typeface="Times New Roman"/>
                <a:cs typeface="Times New Roman"/>
              </a:rPr>
              <a:t>CPU</a:t>
            </a:r>
            <a:r>
              <a:rPr dirty="0" sz="2400" spc="-5">
                <a:solidFill>
                  <a:srgbClr val="E14B04"/>
                </a:solidFill>
                <a:latin typeface="黑体"/>
                <a:cs typeface="黑体"/>
              </a:rPr>
              <a:t>的时钟频率，因此其设计有更大的考虑空间。</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20">
                <a:solidFill>
                  <a:srgbClr val="40458B"/>
                </a:solidFill>
                <a:latin typeface="黑体"/>
                <a:cs typeface="黑体"/>
              </a:rPr>
              <a:t>两个问题：</a:t>
            </a:r>
            <a:endParaRPr sz="2400">
              <a:latin typeface="黑体"/>
              <a:cs typeface="黑体"/>
            </a:endParaRPr>
          </a:p>
          <a:p>
            <a:pPr lvl="2" marL="1911350" indent="-457200">
              <a:lnSpc>
                <a:spcPct val="100000"/>
              </a:lnSpc>
              <a:spcBef>
                <a:spcPts val="1030"/>
              </a:spcBef>
              <a:buClr>
                <a:srgbClr val="4668F5"/>
              </a:buClr>
              <a:buSzPct val="60000"/>
              <a:buFont typeface="Wingdings"/>
              <a:buChar char=""/>
              <a:tabLst>
                <a:tab pos="1911350" algn="l"/>
              </a:tabLst>
            </a:pPr>
            <a:r>
              <a:rPr dirty="0" sz="2000" spc="-10" b="1">
                <a:solidFill>
                  <a:srgbClr val="00AFEF"/>
                </a:solidFill>
                <a:latin typeface="宋体"/>
                <a:cs typeface="宋体"/>
              </a:rPr>
              <a:t>它能否降低</a:t>
            </a:r>
            <a:r>
              <a:rPr dirty="0" sz="2000" spc="-10" b="1">
                <a:solidFill>
                  <a:srgbClr val="00AFEF"/>
                </a:solidFill>
                <a:latin typeface="黑体"/>
                <a:cs typeface="黑体"/>
              </a:rPr>
              <a:t>CPI</a:t>
            </a:r>
            <a:r>
              <a:rPr dirty="0" sz="2000" spc="-25" b="1">
                <a:solidFill>
                  <a:srgbClr val="00AFEF"/>
                </a:solidFill>
                <a:latin typeface="宋体"/>
                <a:cs typeface="宋体"/>
              </a:rPr>
              <a:t>中的平均访存时间部分？</a:t>
            </a:r>
            <a:endParaRPr sz="2000">
              <a:latin typeface="宋体"/>
              <a:cs typeface="宋体"/>
            </a:endParaRPr>
          </a:p>
          <a:p>
            <a:pPr lvl="2" marL="1911350" indent="-457200">
              <a:lnSpc>
                <a:spcPct val="100000"/>
              </a:lnSpc>
              <a:spcBef>
                <a:spcPts val="960"/>
              </a:spcBef>
              <a:buClr>
                <a:srgbClr val="4668F5"/>
              </a:buClr>
              <a:buSzPct val="60000"/>
              <a:buFont typeface="Wingdings"/>
              <a:buChar char=""/>
              <a:tabLst>
                <a:tab pos="1911350" algn="l"/>
              </a:tabLst>
            </a:pPr>
            <a:r>
              <a:rPr dirty="0" sz="2000" spc="-20" b="1">
                <a:solidFill>
                  <a:srgbClr val="00AFEF"/>
                </a:solidFill>
                <a:latin typeface="宋体"/>
                <a:cs typeface="宋体"/>
              </a:rPr>
              <a:t>它的成本是多少？</a:t>
            </a:r>
            <a:endParaRPr sz="2000">
              <a:latin typeface="宋体"/>
              <a:cs typeface="宋体"/>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sp>
        <p:nvSpPr>
          <p:cNvPr id="10" name="object 10" descr=""/>
          <p:cNvSpPr txBox="1"/>
          <p:nvPr/>
        </p:nvSpPr>
        <p:spPr>
          <a:xfrm>
            <a:off x="413715" y="675630"/>
            <a:ext cx="11548110" cy="3217545"/>
          </a:xfrm>
          <a:prstGeom prst="rect">
            <a:avLst/>
          </a:prstGeom>
        </p:spPr>
        <p:txBody>
          <a:bodyPr wrap="square" lIns="0" tIns="159385" rIns="0" bIns="0" rtlCol="0" vert="horz">
            <a:spAutoFit/>
          </a:bodyPr>
          <a:lstStyle/>
          <a:p>
            <a:pPr marL="461645" indent="-448945">
              <a:lnSpc>
                <a:spcPct val="100000"/>
              </a:lnSpc>
              <a:spcBef>
                <a:spcPts val="1255"/>
              </a:spcBef>
              <a:buClr>
                <a:srgbClr val="40458B"/>
              </a:buClr>
              <a:buFont typeface="Times New Roman"/>
              <a:buAutoNum type="arabicPeriod" startAt="7"/>
              <a:tabLst>
                <a:tab pos="461645" algn="l"/>
              </a:tabLst>
            </a:pPr>
            <a:r>
              <a:rPr dirty="0" sz="2400" spc="-10">
                <a:solidFill>
                  <a:srgbClr val="E14B04"/>
                </a:solidFill>
                <a:latin typeface="黑体"/>
                <a:cs typeface="黑体"/>
              </a:rPr>
              <a:t>第二级</a:t>
            </a:r>
            <a:r>
              <a:rPr dirty="0" sz="2400" spc="-10">
                <a:solidFill>
                  <a:srgbClr val="E14B04"/>
                </a:solidFill>
                <a:latin typeface="Times New Roman"/>
                <a:cs typeface="Times New Roman"/>
              </a:rPr>
              <a:t>Cache</a:t>
            </a:r>
            <a:r>
              <a:rPr dirty="0" sz="2400" spc="-25">
                <a:solidFill>
                  <a:srgbClr val="E14B04"/>
                </a:solidFill>
                <a:latin typeface="黑体"/>
                <a:cs typeface="黑体"/>
              </a:rPr>
              <a:t>的参数</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25">
                <a:solidFill>
                  <a:srgbClr val="40458B"/>
                </a:solidFill>
                <a:latin typeface="黑体"/>
                <a:cs typeface="黑体"/>
              </a:rPr>
              <a:t>容量</a:t>
            </a:r>
            <a:endParaRPr sz="2400">
              <a:latin typeface="黑体"/>
              <a:cs typeface="黑体"/>
            </a:endParaRPr>
          </a:p>
          <a:p>
            <a:pPr marL="1270000">
              <a:lnSpc>
                <a:spcPct val="100000"/>
              </a:lnSpc>
              <a:spcBef>
                <a:spcPts val="1025"/>
              </a:spcBef>
            </a:pPr>
            <a:r>
              <a:rPr dirty="0" sz="2000" spc="-10" b="1">
                <a:solidFill>
                  <a:srgbClr val="00AFEF"/>
                </a:solidFill>
                <a:latin typeface="宋体"/>
                <a:cs typeface="宋体"/>
              </a:rPr>
              <a:t>第二级Cache</a:t>
            </a:r>
            <a:r>
              <a:rPr dirty="0" sz="2000" spc="-25" b="1">
                <a:solidFill>
                  <a:srgbClr val="00AFEF"/>
                </a:solidFill>
                <a:latin typeface="宋体"/>
                <a:cs typeface="宋体"/>
              </a:rPr>
              <a:t>的容量一般比第一级的大许多。</a:t>
            </a:r>
            <a:endParaRPr sz="2000">
              <a:latin typeface="宋体"/>
              <a:cs typeface="宋体"/>
            </a:endParaRPr>
          </a:p>
          <a:p>
            <a:pPr marL="1906905">
              <a:lnSpc>
                <a:spcPct val="100000"/>
              </a:lnSpc>
              <a:spcBef>
                <a:spcPts val="960"/>
              </a:spcBef>
            </a:pPr>
            <a:r>
              <a:rPr dirty="0" sz="2000" spc="-15" b="1">
                <a:solidFill>
                  <a:srgbClr val="40458B"/>
                </a:solidFill>
                <a:latin typeface="宋体"/>
                <a:cs typeface="宋体"/>
              </a:rPr>
              <a:t>大容量意味着第二级</a:t>
            </a:r>
            <a:r>
              <a:rPr dirty="0" sz="2000" spc="-10" b="1">
                <a:solidFill>
                  <a:srgbClr val="40458B"/>
                </a:solidFill>
                <a:latin typeface="Times New Roman"/>
                <a:cs typeface="Times New Roman"/>
              </a:rPr>
              <a:t>Cache</a:t>
            </a:r>
            <a:r>
              <a:rPr dirty="0" sz="2000" spc="-25" b="1">
                <a:solidFill>
                  <a:srgbClr val="40458B"/>
                </a:solidFill>
                <a:latin typeface="宋体"/>
                <a:cs typeface="宋体"/>
              </a:rPr>
              <a:t>可能实际上没有容量不命中，只剩下一些强制性不命中和冲</a:t>
            </a:r>
            <a:endParaRPr sz="2000">
              <a:latin typeface="宋体"/>
              <a:cs typeface="宋体"/>
            </a:endParaRPr>
          </a:p>
          <a:p>
            <a:pPr marL="2287905">
              <a:lnSpc>
                <a:spcPct val="100000"/>
              </a:lnSpc>
              <a:spcBef>
                <a:spcPts val="484"/>
              </a:spcBef>
            </a:pPr>
            <a:r>
              <a:rPr dirty="0" sz="2000" spc="-20" b="1">
                <a:solidFill>
                  <a:srgbClr val="40458B"/>
                </a:solidFill>
                <a:latin typeface="宋体"/>
                <a:cs typeface="宋体"/>
              </a:rPr>
              <a:t>突不命中。</a:t>
            </a:r>
            <a:endParaRPr sz="2000">
              <a:latin typeface="宋体"/>
              <a:cs typeface="宋体"/>
            </a:endParaRPr>
          </a:p>
          <a:p>
            <a:pPr lvl="1" marL="1099185" indent="-457200">
              <a:lnSpc>
                <a:spcPct val="100000"/>
              </a:lnSpc>
              <a:spcBef>
                <a:spcPts val="1085"/>
              </a:spcBef>
              <a:buSzPct val="89583"/>
              <a:buFont typeface="Wingdings"/>
              <a:buChar char=""/>
              <a:tabLst>
                <a:tab pos="1099185" algn="l"/>
              </a:tabLst>
            </a:pPr>
            <a:r>
              <a:rPr dirty="0" sz="2400" spc="-20">
                <a:solidFill>
                  <a:srgbClr val="40458B"/>
                </a:solidFill>
                <a:latin typeface="黑体"/>
                <a:cs typeface="黑体"/>
              </a:rPr>
              <a:t>相联度</a:t>
            </a:r>
            <a:endParaRPr sz="2400">
              <a:latin typeface="黑体"/>
              <a:cs typeface="黑体"/>
            </a:endParaRPr>
          </a:p>
          <a:p>
            <a:pPr marL="1270000">
              <a:lnSpc>
                <a:spcPct val="100000"/>
              </a:lnSpc>
              <a:spcBef>
                <a:spcPts val="1025"/>
              </a:spcBef>
            </a:pPr>
            <a:r>
              <a:rPr dirty="0" sz="2000" spc="-10" b="1">
                <a:solidFill>
                  <a:srgbClr val="00AFEF"/>
                </a:solidFill>
                <a:latin typeface="宋体"/>
                <a:cs typeface="宋体"/>
              </a:rPr>
              <a:t>第二级</a:t>
            </a:r>
            <a:r>
              <a:rPr dirty="0" sz="2000" spc="-10" b="1">
                <a:solidFill>
                  <a:srgbClr val="00AFEF"/>
                </a:solidFill>
                <a:latin typeface="黑体"/>
                <a:cs typeface="黑体"/>
              </a:rPr>
              <a:t>Cache</a:t>
            </a:r>
            <a:r>
              <a:rPr dirty="0" sz="2000" spc="-25" b="1">
                <a:solidFill>
                  <a:srgbClr val="00AFEF"/>
                </a:solidFill>
                <a:latin typeface="宋体"/>
                <a:cs typeface="宋体"/>
              </a:rPr>
              <a:t>可采用较高的相联度或伪相联方法。</a:t>
            </a:r>
            <a:endParaRPr sz="2000">
              <a:latin typeface="宋体"/>
              <a:cs typeface="宋体"/>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107/170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sp>
        <p:nvSpPr>
          <p:cNvPr id="10" name="object 10" descr=""/>
          <p:cNvSpPr txBox="1"/>
          <p:nvPr/>
        </p:nvSpPr>
        <p:spPr>
          <a:xfrm>
            <a:off x="708151" y="1253800"/>
            <a:ext cx="11211560" cy="3481704"/>
          </a:xfrm>
          <a:prstGeom prst="rect">
            <a:avLst/>
          </a:prstGeom>
        </p:spPr>
        <p:txBody>
          <a:bodyPr wrap="square" lIns="0" tIns="167640" rIns="0" bIns="0" rtlCol="0" vert="horz">
            <a:spAutoFit/>
          </a:bodyPr>
          <a:lstStyle/>
          <a:p>
            <a:pPr marL="469900" indent="-457200">
              <a:lnSpc>
                <a:spcPct val="100000"/>
              </a:lnSpc>
              <a:spcBef>
                <a:spcPts val="1320"/>
              </a:spcBef>
              <a:buSzPct val="89583"/>
              <a:buFont typeface="Wingdings"/>
              <a:buChar char=""/>
              <a:tabLst>
                <a:tab pos="469900" algn="l"/>
              </a:tabLst>
            </a:pPr>
            <a:r>
              <a:rPr dirty="0" sz="2400" spc="-20">
                <a:solidFill>
                  <a:srgbClr val="40458B"/>
                </a:solidFill>
                <a:latin typeface="黑体"/>
                <a:cs typeface="黑体"/>
              </a:rPr>
              <a:t>块大小</a:t>
            </a:r>
            <a:endParaRPr sz="2400">
              <a:latin typeface="黑体"/>
              <a:cs typeface="黑体"/>
            </a:endParaRPr>
          </a:p>
          <a:p>
            <a:pPr lvl="1" marL="1097915" marR="6904355" indent="-457834">
              <a:lnSpc>
                <a:spcPct val="140000"/>
              </a:lnSpc>
              <a:spcBef>
                <a:spcPts val="65"/>
              </a:spcBef>
              <a:buClr>
                <a:srgbClr val="4668F5"/>
              </a:buClr>
              <a:buSzPct val="60000"/>
              <a:buFont typeface="Wingdings"/>
              <a:buChar char=""/>
              <a:tabLst>
                <a:tab pos="1663064" algn="l"/>
              </a:tabLst>
            </a:pPr>
            <a:r>
              <a:rPr dirty="0" sz="2000" spc="-10" b="1">
                <a:solidFill>
                  <a:srgbClr val="00AFEF"/>
                </a:solidFill>
                <a:latin typeface="宋体"/>
                <a:cs typeface="宋体"/>
              </a:rPr>
              <a:t>第二级Cache</a:t>
            </a:r>
            <a:r>
              <a:rPr dirty="0" sz="2000" spc="-25" b="1">
                <a:solidFill>
                  <a:srgbClr val="00AFEF"/>
                </a:solidFill>
                <a:latin typeface="宋体"/>
                <a:cs typeface="宋体"/>
              </a:rPr>
              <a:t>可采用较大的块</a:t>
            </a:r>
            <a:r>
              <a:rPr dirty="0" sz="2000" spc="-25" b="1">
                <a:solidFill>
                  <a:srgbClr val="00AFEF"/>
                </a:solidFill>
                <a:latin typeface="宋体"/>
                <a:cs typeface="宋体"/>
              </a:rPr>
              <a:t>	</a:t>
            </a:r>
            <a:r>
              <a:rPr dirty="0" sz="2000" spc="15" b="1">
                <a:solidFill>
                  <a:srgbClr val="40458B"/>
                </a:solidFill>
                <a:latin typeface="宋体"/>
                <a:cs typeface="宋体"/>
              </a:rPr>
              <a:t>如 </a:t>
            </a:r>
            <a:r>
              <a:rPr dirty="0" sz="2000" spc="-10" b="1">
                <a:solidFill>
                  <a:srgbClr val="40458B"/>
                </a:solidFill>
                <a:latin typeface="宋体"/>
                <a:cs typeface="宋体"/>
              </a:rPr>
              <a:t>64、128、</a:t>
            </a:r>
            <a:r>
              <a:rPr dirty="0" sz="2000" spc="-20" b="1">
                <a:solidFill>
                  <a:srgbClr val="40458B"/>
                </a:solidFill>
                <a:latin typeface="宋体"/>
                <a:cs typeface="宋体"/>
              </a:rPr>
              <a:t>256</a:t>
            </a:r>
            <a:r>
              <a:rPr dirty="0" sz="2000" spc="-35" b="1">
                <a:solidFill>
                  <a:srgbClr val="40458B"/>
                </a:solidFill>
                <a:latin typeface="宋体"/>
                <a:cs typeface="宋体"/>
              </a:rPr>
              <a:t>字节</a:t>
            </a:r>
            <a:endParaRPr sz="2000">
              <a:latin typeface="宋体"/>
              <a:cs typeface="宋体"/>
            </a:endParaRPr>
          </a:p>
          <a:p>
            <a:pPr lvl="1" marL="1097915" marR="5080" indent="-457200">
              <a:lnSpc>
                <a:spcPct val="120000"/>
              </a:lnSpc>
              <a:spcBef>
                <a:spcPts val="480"/>
              </a:spcBef>
              <a:buClr>
                <a:srgbClr val="4668F5"/>
              </a:buClr>
              <a:buSzPct val="60000"/>
              <a:buFont typeface="Wingdings"/>
              <a:buChar char=""/>
              <a:tabLst>
                <a:tab pos="1097915" algn="l"/>
              </a:tabLst>
            </a:pPr>
            <a:r>
              <a:rPr dirty="0" sz="2000" spc="-20" b="1">
                <a:solidFill>
                  <a:srgbClr val="00AFEF"/>
                </a:solidFill>
                <a:latin typeface="宋体"/>
                <a:cs typeface="宋体"/>
              </a:rPr>
              <a:t>为减少平均访存时间，可以让容量较小的第一级</a:t>
            </a:r>
            <a:r>
              <a:rPr dirty="0" sz="2000" spc="-10" b="1">
                <a:solidFill>
                  <a:srgbClr val="00AFEF"/>
                </a:solidFill>
                <a:latin typeface="宋体"/>
                <a:cs typeface="宋体"/>
              </a:rPr>
              <a:t>Cache</a:t>
            </a:r>
            <a:r>
              <a:rPr dirty="0" sz="2000" spc="-25" b="1">
                <a:solidFill>
                  <a:srgbClr val="00AFEF"/>
                </a:solidFill>
                <a:latin typeface="宋体"/>
                <a:cs typeface="宋体"/>
              </a:rPr>
              <a:t>采用较小的块，而让容量较大的第二</a:t>
            </a:r>
            <a:r>
              <a:rPr dirty="0" sz="2000" spc="-10" b="1">
                <a:solidFill>
                  <a:srgbClr val="00AFEF"/>
                </a:solidFill>
                <a:latin typeface="宋体"/>
                <a:cs typeface="宋体"/>
              </a:rPr>
              <a:t>级Cache</a:t>
            </a:r>
            <a:r>
              <a:rPr dirty="0" sz="2000" spc="-25" b="1">
                <a:solidFill>
                  <a:srgbClr val="00AFEF"/>
                </a:solidFill>
                <a:latin typeface="宋体"/>
                <a:cs typeface="宋体"/>
              </a:rPr>
              <a:t>采用较大的块。</a:t>
            </a:r>
            <a:endParaRPr sz="2000">
              <a:latin typeface="宋体"/>
              <a:cs typeface="宋体"/>
            </a:endParaRPr>
          </a:p>
          <a:p>
            <a:pPr lvl="1" marL="1097915" indent="-457200">
              <a:lnSpc>
                <a:spcPct val="100000"/>
              </a:lnSpc>
              <a:spcBef>
                <a:spcPts val="960"/>
              </a:spcBef>
              <a:buClr>
                <a:srgbClr val="4668F5"/>
              </a:buClr>
              <a:buSzPct val="60000"/>
              <a:buFont typeface="Wingdings"/>
              <a:buChar char=""/>
              <a:tabLst>
                <a:tab pos="1097915" algn="l"/>
              </a:tabLst>
            </a:pPr>
            <a:r>
              <a:rPr dirty="0" sz="2000" spc="-20" b="1">
                <a:solidFill>
                  <a:srgbClr val="FF0000"/>
                </a:solidFill>
                <a:latin typeface="宋体"/>
                <a:cs typeface="宋体"/>
              </a:rPr>
              <a:t>多级包容性</a:t>
            </a:r>
            <a:endParaRPr sz="2000">
              <a:latin typeface="宋体"/>
              <a:cs typeface="宋体"/>
            </a:endParaRPr>
          </a:p>
          <a:p>
            <a:pPr marL="1277620">
              <a:lnSpc>
                <a:spcPct val="100000"/>
              </a:lnSpc>
              <a:spcBef>
                <a:spcPts val="960"/>
              </a:spcBef>
            </a:pPr>
            <a:r>
              <a:rPr dirty="0" sz="2000" spc="-15" b="1">
                <a:solidFill>
                  <a:srgbClr val="40458B"/>
                </a:solidFill>
                <a:latin typeface="宋体"/>
                <a:cs typeface="宋体"/>
              </a:rPr>
              <a:t>需要考虑的</a:t>
            </a:r>
            <a:r>
              <a:rPr dirty="0" sz="2000" spc="-15" b="1">
                <a:solidFill>
                  <a:srgbClr val="D50092"/>
                </a:solidFill>
                <a:latin typeface="宋体"/>
                <a:cs typeface="宋体"/>
              </a:rPr>
              <a:t>另一个问题</a:t>
            </a:r>
            <a:r>
              <a:rPr dirty="0" sz="2000" spc="-50" b="1">
                <a:solidFill>
                  <a:srgbClr val="40458B"/>
                </a:solidFill>
                <a:latin typeface="宋体"/>
                <a:cs typeface="宋体"/>
              </a:rPr>
              <a:t>：</a:t>
            </a:r>
            <a:endParaRPr sz="2000">
              <a:latin typeface="宋体"/>
              <a:cs typeface="宋体"/>
            </a:endParaRPr>
          </a:p>
          <a:p>
            <a:pPr marL="1792605">
              <a:lnSpc>
                <a:spcPct val="100000"/>
              </a:lnSpc>
              <a:spcBef>
                <a:spcPts val="965"/>
              </a:spcBef>
            </a:pPr>
            <a:r>
              <a:rPr dirty="0" sz="2000" spc="-10" b="1">
                <a:solidFill>
                  <a:srgbClr val="40458B"/>
                </a:solidFill>
                <a:latin typeface="宋体"/>
                <a:cs typeface="宋体"/>
              </a:rPr>
              <a:t>第一级Cache</a:t>
            </a:r>
            <a:r>
              <a:rPr dirty="0" sz="2000" spc="-20" b="1">
                <a:solidFill>
                  <a:srgbClr val="40458B"/>
                </a:solidFill>
                <a:latin typeface="宋体"/>
                <a:cs typeface="宋体"/>
              </a:rPr>
              <a:t>中的数据是否总是同时存在于第二级</a:t>
            </a:r>
            <a:r>
              <a:rPr dirty="0" sz="2000" spc="-10" b="1">
                <a:solidFill>
                  <a:srgbClr val="40458B"/>
                </a:solidFill>
                <a:latin typeface="宋体"/>
                <a:cs typeface="宋体"/>
              </a:rPr>
              <a:t>Cache</a:t>
            </a:r>
            <a:r>
              <a:rPr dirty="0" sz="2000" spc="-40" b="1">
                <a:solidFill>
                  <a:srgbClr val="40458B"/>
                </a:solidFill>
                <a:latin typeface="宋体"/>
                <a:cs typeface="宋体"/>
              </a:rPr>
              <a:t>中。</a:t>
            </a:r>
            <a:endParaRPr sz="2000">
              <a:latin typeface="宋体"/>
              <a:cs typeface="宋体"/>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413715" y="923670"/>
            <a:ext cx="11644630" cy="2184400"/>
          </a:xfrm>
          <a:prstGeom prst="rect">
            <a:avLst/>
          </a:prstGeom>
        </p:spPr>
        <p:txBody>
          <a:bodyPr wrap="square" lIns="0" tIns="13335" rIns="0" bIns="0" rtlCol="0" vert="horz">
            <a:spAutoFit/>
          </a:bodyPr>
          <a:lstStyle/>
          <a:p>
            <a:pPr marL="1525270">
              <a:lnSpc>
                <a:spcPct val="100000"/>
              </a:lnSpc>
              <a:spcBef>
                <a:spcPts val="105"/>
              </a:spcBef>
            </a:pPr>
            <a:r>
              <a:rPr dirty="0" sz="2600">
                <a:solidFill>
                  <a:srgbClr val="0000CC"/>
                </a:solidFill>
                <a:latin typeface="黑体"/>
                <a:cs typeface="黑体"/>
              </a:rPr>
              <a:t>7.4.2</a:t>
            </a:r>
            <a:r>
              <a:rPr dirty="0" sz="2600" spc="-15">
                <a:solidFill>
                  <a:srgbClr val="0000CC"/>
                </a:solidFill>
                <a:latin typeface="黑体"/>
                <a:cs typeface="黑体"/>
              </a:rPr>
              <a:t> 让读不命中优先于写</a:t>
            </a:r>
            <a:endParaRPr sz="2600">
              <a:latin typeface="黑体"/>
              <a:cs typeface="黑体"/>
            </a:endParaRPr>
          </a:p>
          <a:p>
            <a:pPr>
              <a:lnSpc>
                <a:spcPct val="100000"/>
              </a:lnSpc>
              <a:spcBef>
                <a:spcPts val="975"/>
              </a:spcBef>
            </a:pPr>
            <a:endParaRPr sz="2600">
              <a:latin typeface="黑体"/>
              <a:cs typeface="黑体"/>
            </a:endParaRPr>
          </a:p>
          <a:p>
            <a:pPr marL="355600" marR="5080" indent="-342900">
              <a:lnSpc>
                <a:spcPct val="100000"/>
              </a:lnSpc>
              <a:buClr>
                <a:srgbClr val="006FC0"/>
              </a:buClr>
              <a:buFont typeface="Wingdings"/>
              <a:buChar char=""/>
              <a:tabLst>
                <a:tab pos="355600" algn="l"/>
              </a:tabLst>
            </a:pPr>
            <a:r>
              <a:rPr dirty="0" sz="2400">
                <a:solidFill>
                  <a:srgbClr val="FF09FF"/>
                </a:solidFill>
                <a:latin typeface="黑体"/>
                <a:cs typeface="黑体"/>
              </a:rPr>
              <a:t>不命中开销</a:t>
            </a:r>
            <a:r>
              <a:rPr dirty="0" sz="2400">
                <a:solidFill>
                  <a:srgbClr val="2C44A3"/>
                </a:solidFill>
                <a:latin typeface="黑体"/>
                <a:cs typeface="黑体"/>
              </a:rPr>
              <a:t>：例如从下一级存储器将数据传送到</a:t>
            </a:r>
            <a:r>
              <a:rPr dirty="0" sz="2400" spc="-25">
                <a:solidFill>
                  <a:srgbClr val="2C44A3"/>
                </a:solidFill>
                <a:latin typeface="Arial"/>
                <a:cs typeface="Arial"/>
              </a:rPr>
              <a:t>Cache</a:t>
            </a:r>
            <a:r>
              <a:rPr dirty="0" sz="2400">
                <a:solidFill>
                  <a:srgbClr val="2C44A3"/>
                </a:solidFill>
                <a:latin typeface="黑体"/>
                <a:cs typeface="黑体"/>
              </a:rPr>
              <a:t>的时间，在</a:t>
            </a:r>
            <a:r>
              <a:rPr dirty="0" sz="2400" spc="-30">
                <a:solidFill>
                  <a:srgbClr val="2C44A3"/>
                </a:solidFill>
                <a:latin typeface="Arial"/>
                <a:cs typeface="Arial"/>
              </a:rPr>
              <a:t>CPU</a:t>
            </a:r>
            <a:r>
              <a:rPr dirty="0" sz="2400" spc="-10">
                <a:solidFill>
                  <a:srgbClr val="2C44A3"/>
                </a:solidFill>
                <a:latin typeface="黑体"/>
                <a:cs typeface="黑体"/>
              </a:rPr>
              <a:t>看来，这个时间就是它的等待时间</a:t>
            </a:r>
            <a:endParaRPr sz="2400">
              <a:latin typeface="黑体"/>
              <a:cs typeface="黑体"/>
            </a:endParaRPr>
          </a:p>
          <a:p>
            <a:pPr marL="445134" indent="-432434">
              <a:lnSpc>
                <a:spcPct val="100000"/>
              </a:lnSpc>
              <a:spcBef>
                <a:spcPts val="875"/>
              </a:spcBef>
              <a:buClr>
                <a:srgbClr val="006FC0"/>
              </a:buClr>
              <a:buFont typeface="Wingdings"/>
              <a:buChar char=""/>
              <a:tabLst>
                <a:tab pos="445134" algn="l"/>
              </a:tabLst>
            </a:pPr>
            <a:r>
              <a:rPr dirty="0" sz="2400">
                <a:solidFill>
                  <a:srgbClr val="FF09FF"/>
                </a:solidFill>
                <a:latin typeface="微软雅黑"/>
                <a:cs typeface="微软雅黑"/>
              </a:rPr>
              <a:t>CPU</a:t>
            </a:r>
            <a:r>
              <a:rPr dirty="0" sz="2400" spc="10">
                <a:solidFill>
                  <a:srgbClr val="FF09FF"/>
                </a:solidFill>
                <a:latin typeface="微软雅黑"/>
                <a:cs typeface="微软雅黑"/>
              </a:rPr>
              <a:t> 关注</a:t>
            </a:r>
            <a:r>
              <a:rPr dirty="0" sz="2400" spc="-10">
                <a:solidFill>
                  <a:srgbClr val="2C44A3"/>
                </a:solidFill>
                <a:latin typeface="微软雅黑"/>
                <a:cs typeface="微软雅黑"/>
              </a:rPr>
              <a:t>是等待时间而不是不命中开销时间</a:t>
            </a:r>
            <a:r>
              <a:rPr dirty="0" sz="2400" spc="-50">
                <a:solidFill>
                  <a:srgbClr val="333333"/>
                </a:solidFill>
                <a:latin typeface="微软雅黑"/>
                <a:cs typeface="微软雅黑"/>
              </a:rPr>
              <a:t>。</a:t>
            </a:r>
            <a:endParaRPr sz="2400">
              <a:latin typeface="微软雅黑"/>
              <a:cs typeface="微软雅黑"/>
            </a:endParaRPr>
          </a:p>
        </p:txBody>
      </p:sp>
      <p:sp>
        <p:nvSpPr>
          <p:cNvPr id="10" name="object 10"/>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607302" y="123189"/>
            <a:ext cx="399097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7.4.2</a:t>
            </a:r>
            <a:r>
              <a:rPr dirty="0" sz="2600" spc="-15">
                <a:solidFill>
                  <a:srgbClr val="0000CC"/>
                </a:solidFill>
                <a:latin typeface="黑体"/>
                <a:cs typeface="黑体"/>
              </a:rPr>
              <a:t> 让读不命中优先于写</a:t>
            </a:r>
            <a:endParaRPr sz="2600">
              <a:latin typeface="黑体"/>
              <a:cs typeface="黑体"/>
            </a:endParaRPr>
          </a:p>
        </p:txBody>
      </p:sp>
      <p:sp>
        <p:nvSpPr>
          <p:cNvPr id="10" name="object 10"/>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sp>
        <p:nvSpPr>
          <p:cNvPr id="11" name="object 11" descr=""/>
          <p:cNvSpPr txBox="1"/>
          <p:nvPr/>
        </p:nvSpPr>
        <p:spPr>
          <a:xfrm>
            <a:off x="285089" y="706628"/>
            <a:ext cx="11698605" cy="5349875"/>
          </a:xfrm>
          <a:prstGeom prst="rect">
            <a:avLst/>
          </a:prstGeom>
        </p:spPr>
        <p:txBody>
          <a:bodyPr wrap="square" lIns="0" tIns="12700" rIns="0" bIns="0" rtlCol="0" vert="horz">
            <a:spAutoFit/>
          </a:bodyPr>
          <a:lstStyle/>
          <a:p>
            <a:pPr marL="12700" marR="26034">
              <a:lnSpc>
                <a:spcPct val="100000"/>
              </a:lnSpc>
              <a:spcBef>
                <a:spcPts val="100"/>
              </a:spcBef>
            </a:pPr>
            <a:r>
              <a:rPr dirty="0" sz="2400" spc="-45">
                <a:solidFill>
                  <a:srgbClr val="404040"/>
                </a:solidFill>
                <a:latin typeface="黑体"/>
                <a:cs typeface="黑体"/>
              </a:rPr>
              <a:t>对于写直达，由于主存和 </a:t>
            </a:r>
            <a:r>
              <a:rPr dirty="0" sz="2400">
                <a:solidFill>
                  <a:srgbClr val="404040"/>
                </a:solidFill>
                <a:latin typeface="Arial"/>
                <a:cs typeface="Arial"/>
              </a:rPr>
              <a:t>cache</a:t>
            </a:r>
            <a:r>
              <a:rPr dirty="0" sz="2400" spc="-135">
                <a:solidFill>
                  <a:srgbClr val="404040"/>
                </a:solidFill>
                <a:latin typeface="Arial"/>
                <a:cs typeface="Arial"/>
              </a:rPr>
              <a:t> </a:t>
            </a:r>
            <a:r>
              <a:rPr dirty="0" sz="2400" spc="-5">
                <a:solidFill>
                  <a:srgbClr val="404040"/>
                </a:solidFill>
                <a:latin typeface="黑体"/>
                <a:cs typeface="黑体"/>
              </a:rPr>
              <a:t>本身性能差异，那么每次在写入主存的时候都将花费大</a:t>
            </a:r>
            <a:r>
              <a:rPr dirty="0" sz="2400" spc="-10">
                <a:solidFill>
                  <a:srgbClr val="404040"/>
                </a:solidFill>
                <a:latin typeface="黑体"/>
                <a:cs typeface="黑体"/>
              </a:rPr>
              <a:t>量的时间。</a:t>
            </a:r>
            <a:endParaRPr sz="2400">
              <a:latin typeface="黑体"/>
              <a:cs typeface="黑体"/>
            </a:endParaRPr>
          </a:p>
          <a:p>
            <a:pPr marL="354965" indent="-342265">
              <a:lnSpc>
                <a:spcPct val="100000"/>
              </a:lnSpc>
              <a:buClr>
                <a:srgbClr val="006FC0"/>
              </a:buClr>
              <a:buFont typeface="Wingdings"/>
              <a:buChar char=""/>
              <a:tabLst>
                <a:tab pos="354965" algn="l"/>
              </a:tabLst>
            </a:pPr>
            <a:r>
              <a:rPr dirty="0" sz="2400" spc="-10">
                <a:solidFill>
                  <a:srgbClr val="FF09FF"/>
                </a:solidFill>
                <a:latin typeface="黑体"/>
                <a:cs typeface="黑体"/>
              </a:rPr>
              <a:t>解决办法：一般在</a:t>
            </a:r>
            <a:r>
              <a:rPr dirty="0" sz="2400" spc="-30">
                <a:solidFill>
                  <a:srgbClr val="FF09FF"/>
                </a:solidFill>
                <a:latin typeface="Arial"/>
                <a:cs typeface="Arial"/>
              </a:rPr>
              <a:t>Cache</a:t>
            </a:r>
            <a:r>
              <a:rPr dirty="0" sz="2400" spc="-30">
                <a:solidFill>
                  <a:srgbClr val="FF09FF"/>
                </a:solidFill>
                <a:latin typeface="黑体"/>
                <a:cs typeface="黑体"/>
              </a:rPr>
              <a:t>（</a:t>
            </a:r>
            <a:r>
              <a:rPr dirty="0" sz="2400" spc="-30">
                <a:solidFill>
                  <a:srgbClr val="FF09FF"/>
                </a:solidFill>
                <a:latin typeface="Arial"/>
                <a:cs typeface="Arial"/>
              </a:rPr>
              <a:t>CPU</a:t>
            </a:r>
            <a:r>
              <a:rPr dirty="0" sz="2400" spc="-10">
                <a:solidFill>
                  <a:srgbClr val="FF09FF"/>
                </a:solidFill>
                <a:latin typeface="黑体"/>
                <a:cs typeface="黑体"/>
              </a:rPr>
              <a:t>内部的</a:t>
            </a:r>
            <a:r>
              <a:rPr dirty="0" sz="2400" spc="-25">
                <a:solidFill>
                  <a:srgbClr val="FF09FF"/>
                </a:solidFill>
                <a:latin typeface="Arial"/>
                <a:cs typeface="Arial"/>
              </a:rPr>
              <a:t>L1</a:t>
            </a:r>
            <a:r>
              <a:rPr dirty="0" sz="2400" spc="-10">
                <a:solidFill>
                  <a:srgbClr val="FF09FF"/>
                </a:solidFill>
                <a:latin typeface="黑体"/>
                <a:cs typeface="黑体"/>
              </a:rPr>
              <a:t>或</a:t>
            </a:r>
            <a:r>
              <a:rPr dirty="0" sz="2400" spc="-20">
                <a:solidFill>
                  <a:srgbClr val="FF09FF"/>
                </a:solidFill>
                <a:latin typeface="Arial"/>
                <a:cs typeface="Arial"/>
              </a:rPr>
              <a:t>L2</a:t>
            </a:r>
            <a:r>
              <a:rPr dirty="0" sz="2400" spc="-20">
                <a:solidFill>
                  <a:srgbClr val="FF09FF"/>
                </a:solidFill>
                <a:latin typeface="黑体"/>
                <a:cs typeface="黑体"/>
              </a:rPr>
              <a:t>）</a:t>
            </a:r>
            <a:r>
              <a:rPr dirty="0" sz="2400" spc="-10">
                <a:solidFill>
                  <a:srgbClr val="FF09FF"/>
                </a:solidFill>
                <a:latin typeface="黑体"/>
                <a:cs typeface="黑体"/>
              </a:rPr>
              <a:t>后面设置一个写缓冲器</a:t>
            </a:r>
            <a:r>
              <a:rPr dirty="0" sz="2400">
                <a:solidFill>
                  <a:srgbClr val="404040"/>
                </a:solidFill>
                <a:latin typeface="黑体"/>
                <a:cs typeface="黑体"/>
              </a:rPr>
              <a:t>（</a:t>
            </a:r>
            <a:r>
              <a:rPr dirty="0" sz="2400">
                <a:solidFill>
                  <a:srgbClr val="404040"/>
                </a:solidFill>
                <a:latin typeface="Arial"/>
                <a:cs typeface="Arial"/>
              </a:rPr>
              <a:t>write</a:t>
            </a:r>
            <a:r>
              <a:rPr dirty="0" sz="2400" spc="229">
                <a:solidFill>
                  <a:srgbClr val="404040"/>
                </a:solidFill>
                <a:latin typeface="Arial"/>
                <a:cs typeface="Arial"/>
              </a:rPr>
              <a:t> </a:t>
            </a:r>
            <a:r>
              <a:rPr dirty="0" sz="2400" spc="-10">
                <a:solidFill>
                  <a:srgbClr val="404040"/>
                </a:solidFill>
                <a:latin typeface="Arial"/>
                <a:cs typeface="Arial"/>
              </a:rPr>
              <a:t>buffer</a:t>
            </a:r>
            <a:endParaRPr sz="2400">
              <a:latin typeface="Arial"/>
              <a:cs typeface="Arial"/>
            </a:endParaRPr>
          </a:p>
          <a:p>
            <a:pPr marL="355600" marR="89535">
              <a:lnSpc>
                <a:spcPct val="100000"/>
              </a:lnSpc>
            </a:pPr>
            <a:r>
              <a:rPr dirty="0" sz="2400">
                <a:solidFill>
                  <a:srgbClr val="404040"/>
                </a:solidFill>
                <a:latin typeface="黑体"/>
                <a:cs typeface="黑体"/>
              </a:rPr>
              <a:t>），</a:t>
            </a:r>
            <a:r>
              <a:rPr dirty="0" sz="2400" spc="-180">
                <a:solidFill>
                  <a:srgbClr val="404040"/>
                </a:solidFill>
                <a:latin typeface="黑体"/>
                <a:cs typeface="黑体"/>
              </a:rPr>
              <a:t>这样 </a:t>
            </a:r>
            <a:r>
              <a:rPr dirty="0" sz="2400">
                <a:solidFill>
                  <a:srgbClr val="404040"/>
                </a:solidFill>
                <a:latin typeface="Arial"/>
                <a:cs typeface="Arial"/>
              </a:rPr>
              <a:t>CPU</a:t>
            </a:r>
            <a:r>
              <a:rPr dirty="0" sz="2400" spc="-100">
                <a:solidFill>
                  <a:srgbClr val="404040"/>
                </a:solidFill>
                <a:latin typeface="Arial"/>
                <a:cs typeface="Arial"/>
              </a:rPr>
              <a:t> </a:t>
            </a:r>
            <a:r>
              <a:rPr dirty="0" sz="2400" spc="-75">
                <a:solidFill>
                  <a:srgbClr val="404040"/>
                </a:solidFill>
                <a:latin typeface="黑体"/>
                <a:cs typeface="黑体"/>
              </a:rPr>
              <a:t>在将数据写入 </a:t>
            </a:r>
            <a:r>
              <a:rPr dirty="0" sz="2400">
                <a:solidFill>
                  <a:srgbClr val="404040"/>
                </a:solidFill>
                <a:latin typeface="Arial"/>
                <a:cs typeface="Arial"/>
              </a:rPr>
              <a:t>cache</a:t>
            </a:r>
            <a:r>
              <a:rPr dirty="0" sz="2400" spc="-45">
                <a:solidFill>
                  <a:srgbClr val="404040"/>
                </a:solidFill>
                <a:latin typeface="Arial"/>
                <a:cs typeface="Arial"/>
              </a:rPr>
              <a:t> </a:t>
            </a:r>
            <a:r>
              <a:rPr dirty="0" sz="2400" spc="-5">
                <a:solidFill>
                  <a:srgbClr val="404040"/>
                </a:solidFill>
                <a:latin typeface="黑体"/>
                <a:cs typeface="黑体"/>
              </a:rPr>
              <a:t>和缓冲器之后可以继续执行，等到缓冲写入到主</a:t>
            </a:r>
            <a:r>
              <a:rPr dirty="0" sz="2400" spc="-10">
                <a:solidFill>
                  <a:srgbClr val="404040"/>
                </a:solidFill>
                <a:latin typeface="黑体"/>
                <a:cs typeface="黑体"/>
              </a:rPr>
              <a:t>存中再释放。</a:t>
            </a:r>
            <a:endParaRPr sz="2400">
              <a:latin typeface="黑体"/>
              <a:cs typeface="黑体"/>
            </a:endParaRPr>
          </a:p>
          <a:p>
            <a:pPr marL="354965" indent="-342265">
              <a:lnSpc>
                <a:spcPct val="100000"/>
              </a:lnSpc>
              <a:spcBef>
                <a:spcPts val="875"/>
              </a:spcBef>
              <a:buClr>
                <a:srgbClr val="006FC0"/>
              </a:buClr>
              <a:buFont typeface="Wingdings"/>
              <a:buChar char=""/>
              <a:tabLst>
                <a:tab pos="354965" algn="l"/>
              </a:tabLst>
            </a:pPr>
            <a:r>
              <a:rPr dirty="0" sz="2400">
                <a:solidFill>
                  <a:srgbClr val="FF09FF"/>
                </a:solidFill>
                <a:latin typeface="微软雅黑"/>
                <a:cs typeface="微软雅黑"/>
              </a:rPr>
              <a:t>写缓冲器：</a:t>
            </a:r>
            <a:r>
              <a:rPr dirty="0" sz="2400">
                <a:solidFill>
                  <a:srgbClr val="333333"/>
                </a:solidFill>
                <a:latin typeface="微软雅黑"/>
                <a:cs typeface="微软雅黑"/>
              </a:rPr>
              <a:t>一个非常小的高速存储缓冲器，</a:t>
            </a:r>
            <a:r>
              <a:rPr dirty="0" sz="2400">
                <a:solidFill>
                  <a:srgbClr val="FF09FF"/>
                </a:solidFill>
                <a:latin typeface="微软雅黑"/>
                <a:cs typeface="微软雅黑"/>
              </a:rPr>
              <a:t>用来临时存放</a:t>
            </a:r>
            <a:r>
              <a:rPr dirty="0" sz="2400" spc="-5">
                <a:solidFill>
                  <a:srgbClr val="333333"/>
                </a:solidFill>
                <a:latin typeface="微软雅黑"/>
                <a:cs typeface="微软雅黑"/>
              </a:rPr>
              <a:t>处理器将要写入到主存中的</a:t>
            </a:r>
            <a:endParaRPr sz="2400">
              <a:latin typeface="微软雅黑"/>
              <a:cs typeface="微软雅黑"/>
            </a:endParaRPr>
          </a:p>
          <a:p>
            <a:pPr marL="355600">
              <a:lnSpc>
                <a:spcPct val="100000"/>
              </a:lnSpc>
              <a:spcBef>
                <a:spcPts val="1445"/>
              </a:spcBef>
            </a:pPr>
            <a:r>
              <a:rPr dirty="0" sz="2400" spc="-25">
                <a:solidFill>
                  <a:srgbClr val="333333"/>
                </a:solidFill>
                <a:latin typeface="微软雅黑"/>
                <a:cs typeface="微软雅黑"/>
              </a:rPr>
              <a:t>数据</a:t>
            </a:r>
            <a:endParaRPr sz="2400">
              <a:latin typeface="微软雅黑"/>
              <a:cs typeface="微软雅黑"/>
            </a:endParaRPr>
          </a:p>
          <a:p>
            <a:pPr lvl="1" marL="1270000" indent="-342900">
              <a:lnSpc>
                <a:spcPct val="100000"/>
              </a:lnSpc>
              <a:spcBef>
                <a:spcPts val="1300"/>
              </a:spcBef>
              <a:buFont typeface="Wingdings"/>
              <a:buChar char=""/>
              <a:tabLst>
                <a:tab pos="1270000" algn="l"/>
              </a:tabLst>
            </a:pPr>
            <a:r>
              <a:rPr dirty="0" sz="2000" spc="-20">
                <a:solidFill>
                  <a:srgbClr val="006FC0"/>
                </a:solidFill>
                <a:latin typeface="微软雅黑"/>
                <a:cs typeface="微软雅黑"/>
              </a:rPr>
              <a:t>在没有写缓冲器的系统中，处理器直接写数据到主存中。</a:t>
            </a:r>
            <a:endParaRPr sz="2000">
              <a:latin typeface="微软雅黑"/>
              <a:cs typeface="微软雅黑"/>
            </a:endParaRPr>
          </a:p>
          <a:p>
            <a:pPr lvl="1" marL="1270000" marR="60325" indent="-342900">
              <a:lnSpc>
                <a:spcPts val="3600"/>
              </a:lnSpc>
              <a:spcBef>
                <a:spcPts val="320"/>
              </a:spcBef>
              <a:buFont typeface="Wingdings"/>
              <a:buChar char=""/>
              <a:tabLst>
                <a:tab pos="1270000" algn="l"/>
              </a:tabLst>
            </a:pPr>
            <a:r>
              <a:rPr dirty="0" sz="2000" spc="-5">
                <a:solidFill>
                  <a:srgbClr val="006FC0"/>
                </a:solidFill>
                <a:latin typeface="微软雅黑"/>
                <a:cs typeface="微软雅黑"/>
              </a:rPr>
              <a:t>在带有写缓冲器的系统中，写</a:t>
            </a:r>
            <a:r>
              <a:rPr dirty="0" sz="2000" spc="-20">
                <a:solidFill>
                  <a:srgbClr val="006FC0"/>
                </a:solidFill>
                <a:latin typeface="微软雅黑"/>
                <a:cs typeface="微软雅黑"/>
              </a:rPr>
              <a:t>cache</a:t>
            </a:r>
            <a:r>
              <a:rPr dirty="0" sz="2000" spc="-15">
                <a:solidFill>
                  <a:srgbClr val="006FC0"/>
                </a:solidFill>
                <a:latin typeface="微软雅黑"/>
                <a:cs typeface="微软雅黑"/>
              </a:rPr>
              <a:t>的同时写缓冲器，暂不写主存，等</a:t>
            </a:r>
            <a:r>
              <a:rPr dirty="0" sz="2000" spc="-10">
                <a:solidFill>
                  <a:srgbClr val="006FC0"/>
                </a:solidFill>
                <a:latin typeface="微软雅黑"/>
                <a:cs typeface="微软雅黑"/>
              </a:rPr>
              <a:t>CPU</a:t>
            </a:r>
            <a:r>
              <a:rPr dirty="0" sz="2000" spc="-15">
                <a:solidFill>
                  <a:srgbClr val="006FC0"/>
                </a:solidFill>
                <a:latin typeface="微软雅黑"/>
                <a:cs typeface="微软雅黑"/>
              </a:rPr>
              <a:t>写完了，然后写缓</a:t>
            </a:r>
            <a:r>
              <a:rPr dirty="0" sz="2000" spc="-10">
                <a:solidFill>
                  <a:srgbClr val="006FC0"/>
                </a:solidFill>
                <a:latin typeface="微软雅黑"/>
                <a:cs typeface="微软雅黑"/>
              </a:rPr>
              <a:t>冲器再以低速写入主存中。</a:t>
            </a:r>
            <a:endParaRPr sz="2000">
              <a:latin typeface="微软雅黑"/>
              <a:cs typeface="微软雅黑"/>
            </a:endParaRPr>
          </a:p>
          <a:p>
            <a:pPr marL="354965" indent="-342265">
              <a:lnSpc>
                <a:spcPct val="100000"/>
              </a:lnSpc>
              <a:spcBef>
                <a:spcPts val="1019"/>
              </a:spcBef>
              <a:buClr>
                <a:srgbClr val="006FC0"/>
              </a:buClr>
              <a:buFont typeface="Wingdings"/>
              <a:buChar char=""/>
              <a:tabLst>
                <a:tab pos="354965" algn="l"/>
              </a:tabLst>
            </a:pPr>
            <a:r>
              <a:rPr dirty="0" sz="2400">
                <a:solidFill>
                  <a:srgbClr val="FF09FF"/>
                </a:solidFill>
                <a:latin typeface="黑体"/>
                <a:cs typeface="黑体"/>
              </a:rPr>
              <a:t>使用</a:t>
            </a:r>
            <a:r>
              <a:rPr dirty="0" sz="2400">
                <a:solidFill>
                  <a:srgbClr val="FF09FF"/>
                </a:solidFill>
                <a:latin typeface="Tahoma"/>
                <a:cs typeface="Tahoma"/>
              </a:rPr>
              <a:t>writer</a:t>
            </a:r>
            <a:r>
              <a:rPr dirty="0" sz="2400" spc="35">
                <a:solidFill>
                  <a:srgbClr val="FF09FF"/>
                </a:solidFill>
                <a:latin typeface="Tahoma"/>
                <a:cs typeface="Tahoma"/>
              </a:rPr>
              <a:t> </a:t>
            </a:r>
            <a:r>
              <a:rPr dirty="0" sz="2400" spc="-10">
                <a:solidFill>
                  <a:srgbClr val="FF09FF"/>
                </a:solidFill>
                <a:latin typeface="Tahoma"/>
                <a:cs typeface="Tahoma"/>
              </a:rPr>
              <a:t>buffer</a:t>
            </a:r>
            <a:r>
              <a:rPr dirty="0" sz="2400">
                <a:solidFill>
                  <a:srgbClr val="FF09FF"/>
                </a:solidFill>
                <a:latin typeface="黑体"/>
                <a:cs typeface="黑体"/>
              </a:rPr>
              <a:t>的目的是</a:t>
            </a:r>
            <a:r>
              <a:rPr dirty="0" sz="2400">
                <a:solidFill>
                  <a:srgbClr val="40458B"/>
                </a:solidFill>
                <a:latin typeface="黑体"/>
                <a:cs typeface="黑体"/>
              </a:rPr>
              <a:t>，将处理器和</a:t>
            </a:r>
            <a:r>
              <a:rPr dirty="0" sz="2400" spc="-25">
                <a:solidFill>
                  <a:srgbClr val="40458B"/>
                </a:solidFill>
                <a:latin typeface="Tahoma"/>
                <a:cs typeface="Tahoma"/>
              </a:rPr>
              <a:t>cache</a:t>
            </a:r>
            <a:r>
              <a:rPr dirty="0" sz="2400" spc="-5">
                <a:solidFill>
                  <a:srgbClr val="40458B"/>
                </a:solidFill>
                <a:latin typeface="黑体"/>
                <a:cs typeface="黑体"/>
              </a:rPr>
              <a:t>从较慢的对主存的写操作中脱离出来，</a:t>
            </a:r>
            <a:endParaRPr sz="2400">
              <a:latin typeface="黑体"/>
              <a:cs typeface="黑体"/>
            </a:endParaRPr>
          </a:p>
          <a:p>
            <a:pPr marL="355600">
              <a:lnSpc>
                <a:spcPct val="100000"/>
              </a:lnSpc>
              <a:spcBef>
                <a:spcPts val="1440"/>
              </a:spcBef>
            </a:pPr>
            <a:r>
              <a:rPr dirty="0" sz="2400" spc="-5">
                <a:solidFill>
                  <a:srgbClr val="40458B"/>
                </a:solidFill>
                <a:latin typeface="黑体"/>
                <a:cs typeface="黑体"/>
              </a:rPr>
              <a:t>提高</a:t>
            </a:r>
            <a:r>
              <a:rPr dirty="0" sz="2400" spc="-10">
                <a:solidFill>
                  <a:srgbClr val="40458B"/>
                </a:solidFill>
                <a:latin typeface="Tahoma"/>
                <a:cs typeface="Tahoma"/>
              </a:rPr>
              <a:t>CPU</a:t>
            </a:r>
            <a:r>
              <a:rPr dirty="0" sz="2400" spc="-20">
                <a:solidFill>
                  <a:srgbClr val="40458B"/>
                </a:solidFill>
                <a:latin typeface="黑体"/>
                <a:cs typeface="黑体"/>
              </a:rPr>
              <a:t>的写效率。</a:t>
            </a:r>
            <a:endParaRPr sz="2400">
              <a:latin typeface="黑体"/>
              <a:cs typeface="黑体"/>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607302" y="123189"/>
            <a:ext cx="3990975"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7.4.2</a:t>
            </a:r>
            <a:r>
              <a:rPr dirty="0" sz="2600" spc="-15">
                <a:solidFill>
                  <a:srgbClr val="0000CC"/>
                </a:solidFill>
                <a:latin typeface="黑体"/>
                <a:cs typeface="黑体"/>
              </a:rPr>
              <a:t> 让读不命中优先于写</a:t>
            </a:r>
            <a:endParaRPr sz="2600">
              <a:latin typeface="黑体"/>
              <a:cs typeface="黑体"/>
            </a:endParaRPr>
          </a:p>
        </p:txBody>
      </p:sp>
      <p:sp>
        <p:nvSpPr>
          <p:cNvPr id="10" name="object 10"/>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pic>
        <p:nvPicPr>
          <p:cNvPr id="11" name="object 11" descr=""/>
          <p:cNvPicPr/>
          <p:nvPr/>
        </p:nvPicPr>
        <p:blipFill>
          <a:blip r:embed="rId3" cstate="print"/>
          <a:stretch>
            <a:fillRect/>
          </a:stretch>
        </p:blipFill>
        <p:spPr>
          <a:xfrm>
            <a:off x="1127125" y="4221162"/>
            <a:ext cx="4972907" cy="1075455"/>
          </a:xfrm>
          <a:prstGeom prst="rect">
            <a:avLst/>
          </a:prstGeom>
        </p:spPr>
      </p:pic>
      <p:sp>
        <p:nvSpPr>
          <p:cNvPr id="12" name="object 12" descr=""/>
          <p:cNvSpPr txBox="1"/>
          <p:nvPr/>
        </p:nvSpPr>
        <p:spPr>
          <a:xfrm>
            <a:off x="197916" y="683768"/>
            <a:ext cx="12117705" cy="4898390"/>
          </a:xfrm>
          <a:prstGeom prst="rect">
            <a:avLst/>
          </a:prstGeom>
        </p:spPr>
        <p:txBody>
          <a:bodyPr wrap="square" lIns="0" tIns="13335" rIns="0" bIns="0" rtlCol="0" vert="horz">
            <a:spAutoFit/>
          </a:bodyPr>
          <a:lstStyle/>
          <a:p>
            <a:pPr marL="561340" indent="-457200">
              <a:lnSpc>
                <a:spcPct val="100000"/>
              </a:lnSpc>
              <a:spcBef>
                <a:spcPts val="105"/>
              </a:spcBef>
              <a:buClr>
                <a:srgbClr val="647AD3"/>
              </a:buClr>
              <a:buSzPct val="90384"/>
              <a:buFont typeface="Wingdings"/>
              <a:buChar char=""/>
              <a:tabLst>
                <a:tab pos="561340" algn="l"/>
              </a:tabLst>
            </a:pPr>
            <a:r>
              <a:rPr dirty="0" sz="2600" spc="-10">
                <a:solidFill>
                  <a:srgbClr val="0000CC"/>
                </a:solidFill>
                <a:latin typeface="黑体"/>
                <a:cs typeface="黑体"/>
              </a:rPr>
              <a:t>上述操作目的是为了提高CPU</a:t>
            </a:r>
            <a:r>
              <a:rPr dirty="0" sz="2600" spc="-5">
                <a:solidFill>
                  <a:srgbClr val="0000CC"/>
                </a:solidFill>
                <a:latin typeface="黑体"/>
                <a:cs typeface="黑体"/>
              </a:rPr>
              <a:t>的写效率，</a:t>
            </a:r>
            <a:r>
              <a:rPr dirty="0" sz="2600" spc="-20">
                <a:solidFill>
                  <a:srgbClr val="FF09FF"/>
                </a:solidFill>
                <a:latin typeface="黑体"/>
                <a:cs typeface="黑体"/>
              </a:rPr>
              <a:t>但：加了写缓冲器出现了新的问题</a:t>
            </a:r>
            <a:endParaRPr sz="2600">
              <a:latin typeface="黑体"/>
              <a:cs typeface="黑体"/>
            </a:endParaRPr>
          </a:p>
          <a:p>
            <a:pPr marL="12700">
              <a:lnSpc>
                <a:spcPct val="100000"/>
              </a:lnSpc>
              <a:spcBef>
                <a:spcPts val="2920"/>
              </a:spcBef>
            </a:pPr>
            <a:r>
              <a:rPr dirty="0" sz="2400">
                <a:solidFill>
                  <a:srgbClr val="40458B"/>
                </a:solidFill>
                <a:latin typeface="黑体"/>
                <a:cs typeface="黑体"/>
              </a:rPr>
              <a:t>1</a:t>
            </a:r>
            <a:r>
              <a:rPr dirty="0" sz="2400" spc="50">
                <a:solidFill>
                  <a:srgbClr val="40458B"/>
                </a:solidFill>
                <a:latin typeface="黑体"/>
                <a:cs typeface="黑体"/>
              </a:rPr>
              <a:t>. </a:t>
            </a:r>
            <a:r>
              <a:rPr dirty="0" sz="2400" spc="-10">
                <a:solidFill>
                  <a:srgbClr val="E14B04"/>
                </a:solidFill>
                <a:latin typeface="黑体"/>
                <a:cs typeface="黑体"/>
              </a:rPr>
              <a:t>Cache</a:t>
            </a:r>
            <a:r>
              <a:rPr dirty="0" sz="2400" spc="-15">
                <a:solidFill>
                  <a:srgbClr val="E14B04"/>
                </a:solidFill>
                <a:latin typeface="黑体"/>
                <a:cs typeface="黑体"/>
              </a:rPr>
              <a:t>中的写缓冲器导致对存储器访问的复杂化</a:t>
            </a:r>
            <a:endParaRPr sz="2400">
              <a:latin typeface="黑体"/>
              <a:cs typeface="黑体"/>
            </a:endParaRPr>
          </a:p>
          <a:p>
            <a:pPr algn="r" marR="819150">
              <a:lnSpc>
                <a:spcPct val="100000"/>
              </a:lnSpc>
              <a:spcBef>
                <a:spcPts val="1370"/>
              </a:spcBef>
            </a:pPr>
            <a:r>
              <a:rPr dirty="0" sz="2400" spc="-5">
                <a:solidFill>
                  <a:srgbClr val="40458B"/>
                </a:solidFill>
                <a:latin typeface="黑体"/>
                <a:cs typeface="黑体"/>
              </a:rPr>
              <a:t>在读不命中时，所读单元的最新值有可能还在写缓冲器中，尚未写入主存。</a:t>
            </a:r>
            <a:endParaRPr sz="2400">
              <a:latin typeface="黑体"/>
              <a:cs typeface="黑体"/>
            </a:endParaRPr>
          </a:p>
          <a:p>
            <a:pPr algn="r" marR="781050">
              <a:lnSpc>
                <a:spcPct val="100000"/>
              </a:lnSpc>
              <a:spcBef>
                <a:spcPts val="865"/>
              </a:spcBef>
            </a:pPr>
            <a:r>
              <a:rPr dirty="0" sz="2400">
                <a:solidFill>
                  <a:srgbClr val="40458B"/>
                </a:solidFill>
                <a:latin typeface="黑体"/>
                <a:cs typeface="黑体"/>
              </a:rPr>
              <a:t>（</a:t>
            </a:r>
            <a:r>
              <a:rPr dirty="0" sz="2400" spc="-5">
                <a:solidFill>
                  <a:srgbClr val="40458B"/>
                </a:solidFill>
                <a:latin typeface="黑体"/>
                <a:cs typeface="黑体"/>
              </a:rPr>
              <a:t>写缓冲器中的数据在没有被写入主存之前，是不能被读取的。同样，被替换的</a:t>
            </a:r>
            <a:endParaRPr sz="2400">
              <a:latin typeface="黑体"/>
              <a:cs typeface="黑体"/>
            </a:endParaRPr>
          </a:p>
          <a:p>
            <a:pPr marL="660400">
              <a:lnSpc>
                <a:spcPct val="100000"/>
              </a:lnSpc>
              <a:spcBef>
                <a:spcPts val="860"/>
              </a:spcBef>
            </a:pPr>
            <a:r>
              <a:rPr dirty="0" sz="2400" spc="-20">
                <a:solidFill>
                  <a:srgbClr val="40458B"/>
                </a:solidFill>
                <a:latin typeface="Tahoma"/>
                <a:cs typeface="Tahoma"/>
              </a:rPr>
              <a:t>cache</a:t>
            </a:r>
            <a:r>
              <a:rPr dirty="0" sz="2400" spc="-10">
                <a:solidFill>
                  <a:srgbClr val="40458B"/>
                </a:solidFill>
                <a:latin typeface="黑体"/>
                <a:cs typeface="黑体"/>
              </a:rPr>
              <a:t>行在写缓冲器中时也不能进行读操作。</a:t>
            </a:r>
            <a:r>
              <a:rPr dirty="0" sz="2400" spc="-50">
                <a:solidFill>
                  <a:srgbClr val="40458B"/>
                </a:solidFill>
                <a:latin typeface="黑体"/>
                <a:cs typeface="黑体"/>
              </a:rPr>
              <a:t>）</a:t>
            </a:r>
            <a:endParaRPr sz="2400">
              <a:latin typeface="黑体"/>
              <a:cs typeface="黑体"/>
            </a:endParaRPr>
          </a:p>
          <a:p>
            <a:pPr>
              <a:lnSpc>
                <a:spcPct val="100000"/>
              </a:lnSpc>
              <a:spcBef>
                <a:spcPts val="2580"/>
              </a:spcBef>
            </a:pPr>
            <a:endParaRPr sz="2400">
              <a:latin typeface="黑体"/>
              <a:cs typeface="黑体"/>
            </a:endParaRPr>
          </a:p>
          <a:p>
            <a:pPr marL="7574280" marR="5080">
              <a:lnSpc>
                <a:spcPct val="100000"/>
              </a:lnSpc>
            </a:pPr>
            <a:r>
              <a:rPr dirty="0" sz="2000" spc="-10">
                <a:solidFill>
                  <a:srgbClr val="40458B"/>
                </a:solidFill>
                <a:latin typeface="Tahoma"/>
                <a:cs typeface="Tahoma"/>
              </a:rPr>
              <a:t>Sw</a:t>
            </a:r>
            <a:r>
              <a:rPr dirty="0" sz="2000" spc="-20">
                <a:solidFill>
                  <a:srgbClr val="40458B"/>
                </a:solidFill>
                <a:latin typeface="黑体"/>
                <a:cs typeface="黑体"/>
              </a:rPr>
              <a:t>指令完成后，将数据写入写缓冲器。</a:t>
            </a:r>
            <a:r>
              <a:rPr dirty="0" sz="2000">
                <a:solidFill>
                  <a:srgbClr val="40458B"/>
                </a:solidFill>
                <a:latin typeface="黑体"/>
                <a:cs typeface="黑体"/>
              </a:rPr>
              <a:t>第一条</a:t>
            </a:r>
            <a:r>
              <a:rPr dirty="0" sz="2000" spc="-60">
                <a:solidFill>
                  <a:srgbClr val="40458B"/>
                </a:solidFill>
                <a:latin typeface="Tahoma"/>
                <a:cs typeface="Tahoma"/>
              </a:rPr>
              <a:t>LW</a:t>
            </a:r>
            <a:r>
              <a:rPr dirty="0" sz="2000" spc="-10">
                <a:solidFill>
                  <a:srgbClr val="40458B"/>
                </a:solidFill>
                <a:latin typeface="黑体"/>
                <a:cs typeface="黑体"/>
              </a:rPr>
              <a:t>指令要用的数据将</a:t>
            </a:r>
            <a:r>
              <a:rPr dirty="0" sz="2000" spc="-10">
                <a:solidFill>
                  <a:srgbClr val="40458B"/>
                </a:solidFill>
                <a:latin typeface="Tahoma"/>
                <a:cs typeface="Tahoma"/>
              </a:rPr>
              <a:t>SW</a:t>
            </a:r>
            <a:r>
              <a:rPr dirty="0" sz="2000" spc="-20">
                <a:solidFill>
                  <a:srgbClr val="40458B"/>
                </a:solidFill>
                <a:latin typeface="黑体"/>
                <a:cs typeface="黑体"/>
              </a:rPr>
              <a:t>指令对应</a:t>
            </a:r>
            <a:r>
              <a:rPr dirty="0" sz="2000">
                <a:solidFill>
                  <a:srgbClr val="40458B"/>
                </a:solidFill>
                <a:latin typeface="黑体"/>
                <a:cs typeface="黑体"/>
              </a:rPr>
              <a:t>的</a:t>
            </a:r>
            <a:r>
              <a:rPr dirty="0" sz="2000" spc="-10">
                <a:solidFill>
                  <a:srgbClr val="40458B"/>
                </a:solidFill>
                <a:latin typeface="Tahoma"/>
                <a:cs typeface="Tahoma"/>
              </a:rPr>
              <a:t>Cache</a:t>
            </a:r>
            <a:r>
              <a:rPr dirty="0" sz="2000" spc="-10">
                <a:solidFill>
                  <a:srgbClr val="40458B"/>
                </a:solidFill>
                <a:latin typeface="黑体"/>
                <a:cs typeface="黑体"/>
              </a:rPr>
              <a:t>行被替换。</a:t>
            </a:r>
            <a:endParaRPr sz="2000">
              <a:latin typeface="黑体"/>
              <a:cs typeface="黑体"/>
            </a:endParaRPr>
          </a:p>
          <a:p>
            <a:pPr marL="7574280">
              <a:lnSpc>
                <a:spcPct val="100000"/>
              </a:lnSpc>
            </a:pPr>
            <a:r>
              <a:rPr dirty="0" sz="2000" spc="-5">
                <a:solidFill>
                  <a:srgbClr val="40458B"/>
                </a:solidFill>
                <a:latin typeface="黑体"/>
                <a:cs typeface="黑体"/>
              </a:rPr>
              <a:t>第二条</a:t>
            </a:r>
            <a:r>
              <a:rPr dirty="0" sz="2000" spc="-55">
                <a:solidFill>
                  <a:srgbClr val="40458B"/>
                </a:solidFill>
                <a:latin typeface="Tahoma"/>
                <a:cs typeface="Tahoma"/>
              </a:rPr>
              <a:t>LW</a:t>
            </a:r>
            <a:r>
              <a:rPr dirty="0" sz="2000" spc="-10">
                <a:solidFill>
                  <a:srgbClr val="40458B"/>
                </a:solidFill>
                <a:latin typeface="黑体"/>
                <a:cs typeface="黑体"/>
              </a:rPr>
              <a:t>指令也要读</a:t>
            </a:r>
            <a:r>
              <a:rPr dirty="0" sz="2000" spc="-10">
                <a:solidFill>
                  <a:srgbClr val="40458B"/>
                </a:solidFill>
                <a:latin typeface="Tahoma"/>
                <a:cs typeface="Tahoma"/>
              </a:rPr>
              <a:t>512</a:t>
            </a:r>
            <a:r>
              <a:rPr dirty="0" sz="2000" spc="-10">
                <a:solidFill>
                  <a:srgbClr val="40458B"/>
                </a:solidFill>
                <a:latin typeface="黑体"/>
                <a:cs typeface="黑体"/>
              </a:rPr>
              <a:t>（</a:t>
            </a:r>
            <a:r>
              <a:rPr dirty="0" sz="2000" spc="-10">
                <a:solidFill>
                  <a:srgbClr val="40458B"/>
                </a:solidFill>
                <a:latin typeface="Tahoma"/>
                <a:cs typeface="Tahoma"/>
              </a:rPr>
              <a:t>R0</a:t>
            </a:r>
            <a:r>
              <a:rPr dirty="0" sz="2000" spc="-10">
                <a:solidFill>
                  <a:srgbClr val="40458B"/>
                </a:solidFill>
                <a:latin typeface="黑体"/>
                <a:cs typeface="黑体"/>
              </a:rPr>
              <a:t>）</a:t>
            </a:r>
            <a:r>
              <a:rPr dirty="0" sz="2000" spc="-10">
                <a:solidFill>
                  <a:srgbClr val="40458B"/>
                </a:solidFill>
                <a:latin typeface="Tahoma"/>
                <a:cs typeface="Tahoma"/>
              </a:rPr>
              <a:t>,</a:t>
            </a:r>
            <a:r>
              <a:rPr dirty="0" sz="2000" spc="-25">
                <a:solidFill>
                  <a:srgbClr val="40458B"/>
                </a:solidFill>
                <a:latin typeface="黑体"/>
                <a:cs typeface="黑体"/>
              </a:rPr>
              <a:t>结果读</a:t>
            </a:r>
            <a:endParaRPr sz="2000">
              <a:latin typeface="黑体"/>
              <a:cs typeface="黑体"/>
            </a:endParaRPr>
          </a:p>
          <a:p>
            <a:pPr marL="7574280">
              <a:lnSpc>
                <a:spcPct val="100000"/>
              </a:lnSpc>
              <a:spcBef>
                <a:spcPts val="5"/>
              </a:spcBef>
            </a:pPr>
            <a:r>
              <a:rPr dirty="0" sz="2000" spc="-15">
                <a:solidFill>
                  <a:srgbClr val="40458B"/>
                </a:solidFill>
                <a:latin typeface="黑体"/>
                <a:cs typeface="黑体"/>
              </a:rPr>
              <a:t>到的是错误的数据</a:t>
            </a:r>
            <a:endParaRPr sz="2000">
              <a:latin typeface="黑体"/>
              <a:cs typeface="黑体"/>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31923" y="97028"/>
            <a:ext cx="4114165" cy="452120"/>
          </a:xfrm>
          <a:prstGeom prst="rect"/>
        </p:spPr>
        <p:txBody>
          <a:bodyPr wrap="square" lIns="0" tIns="12065" rIns="0" bIns="0" rtlCol="0" vert="horz">
            <a:spAutoFit/>
          </a:bodyPr>
          <a:lstStyle/>
          <a:p>
            <a:pPr marL="12700">
              <a:lnSpc>
                <a:spcPct val="100000"/>
              </a:lnSpc>
              <a:spcBef>
                <a:spcPts val="95"/>
              </a:spcBef>
            </a:pPr>
            <a:r>
              <a:rPr dirty="0" u="none"/>
              <a:t>7.4</a:t>
            </a:r>
            <a:r>
              <a:rPr dirty="0" u="none" spc="-10"/>
              <a:t> 减少</a:t>
            </a:r>
            <a:r>
              <a:rPr dirty="0" u="none" spc="-20"/>
              <a:t>Cache</a:t>
            </a:r>
            <a:r>
              <a:rPr dirty="0" u="none" spc="-40"/>
              <a:t>不命中开销</a:t>
            </a:r>
          </a:p>
        </p:txBody>
      </p:sp>
      <p:pic>
        <p:nvPicPr>
          <p:cNvPr id="10" name="object 10" descr=""/>
          <p:cNvPicPr/>
          <p:nvPr/>
        </p:nvPicPr>
        <p:blipFill>
          <a:blip r:embed="rId3" cstate="print"/>
          <a:stretch>
            <a:fillRect/>
          </a:stretch>
        </p:blipFill>
        <p:spPr>
          <a:xfrm>
            <a:off x="1352143" y="4862957"/>
            <a:ext cx="238125" cy="250825"/>
          </a:xfrm>
          <a:prstGeom prst="rect">
            <a:avLst/>
          </a:prstGeom>
        </p:spPr>
      </p:pic>
      <p:sp>
        <p:nvSpPr>
          <p:cNvPr id="11" name="object 11" descr=""/>
          <p:cNvSpPr txBox="1"/>
          <p:nvPr/>
        </p:nvSpPr>
        <p:spPr>
          <a:xfrm>
            <a:off x="78739" y="678637"/>
            <a:ext cx="11637645" cy="4490085"/>
          </a:xfrm>
          <a:prstGeom prst="rect">
            <a:avLst/>
          </a:prstGeom>
        </p:spPr>
        <p:txBody>
          <a:bodyPr wrap="square" lIns="0" tIns="13335" rIns="0" bIns="0" rtlCol="0" vert="horz">
            <a:spAutoFit/>
          </a:bodyPr>
          <a:lstStyle/>
          <a:p>
            <a:pPr marL="1715770">
              <a:lnSpc>
                <a:spcPct val="100000"/>
              </a:lnSpc>
              <a:spcBef>
                <a:spcPts val="105"/>
              </a:spcBef>
            </a:pPr>
            <a:r>
              <a:rPr dirty="0" sz="2600">
                <a:solidFill>
                  <a:srgbClr val="0000CC"/>
                </a:solidFill>
                <a:latin typeface="黑体"/>
                <a:cs typeface="黑体"/>
              </a:rPr>
              <a:t>7.4.2</a:t>
            </a:r>
            <a:r>
              <a:rPr dirty="0" sz="2600" spc="-25">
                <a:solidFill>
                  <a:srgbClr val="0000CC"/>
                </a:solidFill>
                <a:latin typeface="黑体"/>
                <a:cs typeface="黑体"/>
              </a:rPr>
              <a:t> 让读不命中优先于写</a:t>
            </a:r>
            <a:endParaRPr sz="2600">
              <a:latin typeface="黑体"/>
              <a:cs typeface="黑体"/>
            </a:endParaRPr>
          </a:p>
          <a:p>
            <a:pPr marL="469265" indent="-456565">
              <a:lnSpc>
                <a:spcPct val="100000"/>
              </a:lnSpc>
              <a:spcBef>
                <a:spcPts val="3110"/>
              </a:spcBef>
              <a:buClr>
                <a:srgbClr val="40458B"/>
              </a:buClr>
              <a:buAutoNum type="arabicPeriod"/>
              <a:tabLst>
                <a:tab pos="469265" algn="l"/>
              </a:tabLst>
            </a:pPr>
            <a:r>
              <a:rPr dirty="0" sz="2400">
                <a:solidFill>
                  <a:srgbClr val="E14B04"/>
                </a:solidFill>
                <a:latin typeface="黑体"/>
                <a:cs typeface="黑体"/>
              </a:rPr>
              <a:t>Cache</a:t>
            </a:r>
            <a:r>
              <a:rPr dirty="0" sz="2400" spc="-5">
                <a:solidFill>
                  <a:srgbClr val="E14B04"/>
                </a:solidFill>
                <a:latin typeface="黑体"/>
                <a:cs typeface="黑体"/>
              </a:rPr>
              <a:t>中的写缓冲器导致对存储器访问的复杂化</a:t>
            </a:r>
            <a:endParaRPr sz="2400">
              <a:latin typeface="黑体"/>
              <a:cs typeface="黑体"/>
            </a:endParaRPr>
          </a:p>
          <a:p>
            <a:pPr marL="1233170">
              <a:lnSpc>
                <a:spcPct val="100000"/>
              </a:lnSpc>
              <a:spcBef>
                <a:spcPts val="1370"/>
              </a:spcBef>
            </a:pPr>
            <a:r>
              <a:rPr dirty="0" sz="2400" spc="-10">
                <a:solidFill>
                  <a:srgbClr val="40458B"/>
                </a:solidFill>
                <a:latin typeface="黑体"/>
                <a:cs typeface="黑体"/>
              </a:rPr>
              <a:t>在读不命中时，所读单元的最新值有可能还在写缓冲器中，尚未写入主存。</a:t>
            </a:r>
            <a:endParaRPr sz="2400">
              <a:latin typeface="黑体"/>
              <a:cs typeface="黑体"/>
            </a:endParaRPr>
          </a:p>
          <a:p>
            <a:pPr>
              <a:lnSpc>
                <a:spcPct val="100000"/>
              </a:lnSpc>
              <a:spcBef>
                <a:spcPts val="325"/>
              </a:spcBef>
            </a:pPr>
            <a:endParaRPr sz="2400">
              <a:latin typeface="黑体"/>
              <a:cs typeface="黑体"/>
            </a:endParaRPr>
          </a:p>
          <a:p>
            <a:pPr marL="631825" indent="-457834">
              <a:lnSpc>
                <a:spcPct val="100000"/>
              </a:lnSpc>
              <a:spcBef>
                <a:spcPts val="5"/>
              </a:spcBef>
              <a:buClr>
                <a:srgbClr val="40458B"/>
              </a:buClr>
              <a:buFont typeface="Tahoma"/>
              <a:buAutoNum type="arabicPeriod" startAt="2"/>
              <a:tabLst>
                <a:tab pos="631825" algn="l"/>
              </a:tabLst>
            </a:pPr>
            <a:r>
              <a:rPr dirty="0" sz="2400">
                <a:solidFill>
                  <a:srgbClr val="E14B04"/>
                </a:solidFill>
                <a:latin typeface="黑体"/>
                <a:cs typeface="黑体"/>
              </a:rPr>
              <a:t>解决问题的方法</a:t>
            </a:r>
            <a:r>
              <a:rPr dirty="0" sz="2400" spc="-10">
                <a:solidFill>
                  <a:srgbClr val="E14B04"/>
                </a:solidFill>
                <a:latin typeface="Tahoma"/>
                <a:cs typeface="Tahoma"/>
              </a:rPr>
              <a:t>(</a:t>
            </a:r>
            <a:r>
              <a:rPr dirty="0" sz="2400" spc="-5">
                <a:solidFill>
                  <a:srgbClr val="E14B04"/>
                </a:solidFill>
                <a:latin typeface="黑体"/>
                <a:cs typeface="黑体"/>
              </a:rPr>
              <a:t>读不命中的处理</a:t>
            </a:r>
            <a:r>
              <a:rPr dirty="0" sz="2400" spc="-50">
                <a:solidFill>
                  <a:srgbClr val="E14B04"/>
                </a:solidFill>
                <a:latin typeface="Tahoma"/>
                <a:cs typeface="Tahoma"/>
              </a:rPr>
              <a:t>)</a:t>
            </a:r>
            <a:endParaRPr sz="2400">
              <a:latin typeface="Tahoma"/>
              <a:cs typeface="Tahoma"/>
            </a:endParaRPr>
          </a:p>
          <a:p>
            <a:pPr lvl="1" marL="1261110" indent="-457200">
              <a:lnSpc>
                <a:spcPct val="100000"/>
              </a:lnSpc>
              <a:spcBef>
                <a:spcPts val="1150"/>
              </a:spcBef>
              <a:buSzPct val="89583"/>
              <a:buFont typeface="Wingdings"/>
              <a:buChar char=""/>
              <a:tabLst>
                <a:tab pos="1261110" algn="l"/>
              </a:tabLst>
            </a:pPr>
            <a:r>
              <a:rPr dirty="0" sz="2400" spc="-10">
                <a:solidFill>
                  <a:srgbClr val="40458B"/>
                </a:solidFill>
                <a:latin typeface="黑体"/>
                <a:cs typeface="黑体"/>
              </a:rPr>
              <a:t>推迟对读不命中的处理，直至写缓冲区清空（只要写完主存就清空）</a:t>
            </a:r>
            <a:r>
              <a:rPr dirty="0" sz="2400" spc="-50">
                <a:solidFill>
                  <a:srgbClr val="40458B"/>
                </a:solidFill>
                <a:latin typeface="黑体"/>
                <a:cs typeface="黑体"/>
              </a:rPr>
              <a:t>。</a:t>
            </a:r>
            <a:endParaRPr sz="2400">
              <a:latin typeface="黑体"/>
              <a:cs typeface="黑体"/>
            </a:endParaRPr>
          </a:p>
          <a:p>
            <a:pPr marL="1431925">
              <a:lnSpc>
                <a:spcPct val="100000"/>
              </a:lnSpc>
              <a:spcBef>
                <a:spcPts val="1025"/>
              </a:spcBef>
            </a:pPr>
            <a:r>
              <a:rPr dirty="0" sz="2000" spc="-10" b="1">
                <a:latin typeface="宋体"/>
                <a:cs typeface="宋体"/>
              </a:rPr>
              <a:t>（</a:t>
            </a:r>
            <a:r>
              <a:rPr dirty="0" sz="2000" spc="-10" b="1">
                <a:solidFill>
                  <a:srgbClr val="D50092"/>
                </a:solidFill>
                <a:latin typeface="宋体"/>
                <a:cs typeface="宋体"/>
              </a:rPr>
              <a:t>缺点：</a:t>
            </a:r>
            <a:r>
              <a:rPr dirty="0" sz="2000" spc="-15" b="1">
                <a:latin typeface="宋体"/>
                <a:cs typeface="宋体"/>
              </a:rPr>
              <a:t>读不命中的开销增加</a:t>
            </a:r>
            <a:r>
              <a:rPr dirty="0" sz="2000" spc="-10" b="1">
                <a:latin typeface="宋体"/>
                <a:cs typeface="宋体"/>
              </a:rPr>
              <a:t>）</a:t>
            </a:r>
            <a:r>
              <a:rPr dirty="0" sz="2000" spc="-15" b="1">
                <a:latin typeface="宋体"/>
                <a:cs typeface="宋体"/>
              </a:rPr>
              <a:t>浪费了</a:t>
            </a:r>
            <a:r>
              <a:rPr dirty="0" sz="2000" spc="-10" b="1">
                <a:latin typeface="宋体"/>
                <a:cs typeface="宋体"/>
              </a:rPr>
              <a:t>CPUD</a:t>
            </a:r>
            <a:r>
              <a:rPr dirty="0" sz="2000" spc="-30" b="1">
                <a:latin typeface="宋体"/>
                <a:cs typeface="宋体"/>
              </a:rPr>
              <a:t>等待的时间</a:t>
            </a:r>
            <a:endParaRPr sz="2000">
              <a:latin typeface="宋体"/>
              <a:cs typeface="宋体"/>
            </a:endParaRPr>
          </a:p>
          <a:p>
            <a:pPr lvl="1" marL="1261110" indent="-457200">
              <a:lnSpc>
                <a:spcPct val="100000"/>
              </a:lnSpc>
              <a:spcBef>
                <a:spcPts val="1090"/>
              </a:spcBef>
              <a:buSzPct val="89583"/>
              <a:buFont typeface="Wingdings"/>
              <a:buChar char=""/>
              <a:tabLst>
                <a:tab pos="1261110" algn="l"/>
              </a:tabLst>
            </a:pPr>
            <a:r>
              <a:rPr dirty="0" sz="2400">
                <a:solidFill>
                  <a:srgbClr val="40458B"/>
                </a:solidFill>
                <a:latin typeface="黑体"/>
                <a:cs typeface="黑体"/>
              </a:rPr>
              <a:t>检查写缓冲器中的内容（在缓冲区清空前检查其内容，让读不命中优先于写</a:t>
            </a:r>
            <a:r>
              <a:rPr dirty="0" sz="2400" spc="-50">
                <a:solidFill>
                  <a:srgbClr val="40458B"/>
                </a:solidFill>
                <a:latin typeface="黑体"/>
                <a:cs typeface="黑体"/>
              </a:rPr>
              <a:t>）</a:t>
            </a:r>
            <a:endParaRPr sz="2400">
              <a:latin typeface="黑体"/>
              <a:cs typeface="黑体"/>
            </a:endParaRPr>
          </a:p>
          <a:p>
            <a:pPr marL="630555" indent="-456565">
              <a:lnSpc>
                <a:spcPct val="100000"/>
              </a:lnSpc>
              <a:spcBef>
                <a:spcPts val="1150"/>
              </a:spcBef>
              <a:buClr>
                <a:srgbClr val="40458B"/>
              </a:buClr>
              <a:buAutoNum type="arabicPeriod" startAt="2"/>
              <a:tabLst>
                <a:tab pos="630555" algn="l"/>
                <a:tab pos="1546225" algn="l"/>
              </a:tabLst>
            </a:pPr>
            <a:r>
              <a:rPr dirty="0" sz="2400" spc="-10">
                <a:solidFill>
                  <a:srgbClr val="E14B04"/>
                </a:solidFill>
                <a:latin typeface="黑体"/>
                <a:cs typeface="黑体"/>
              </a:rPr>
              <a:t>在</a:t>
            </a:r>
            <a:r>
              <a:rPr dirty="0" sz="2400" spc="-50">
                <a:solidFill>
                  <a:srgbClr val="E14B04"/>
                </a:solidFill>
                <a:latin typeface="黑体"/>
                <a:cs typeface="黑体"/>
              </a:rPr>
              <a:t>写</a:t>
            </a:r>
            <a:r>
              <a:rPr dirty="0" sz="2400">
                <a:solidFill>
                  <a:srgbClr val="E14B04"/>
                </a:solidFill>
                <a:latin typeface="黑体"/>
                <a:cs typeface="黑体"/>
              </a:rPr>
              <a:t>	</a:t>
            </a:r>
            <a:r>
              <a:rPr dirty="0" sz="2400" spc="-10">
                <a:solidFill>
                  <a:srgbClr val="E14B04"/>
                </a:solidFill>
                <a:latin typeface="黑体"/>
                <a:cs typeface="黑体"/>
              </a:rPr>
              <a:t>法Cache中，也可采用写缓冲器</a:t>
            </a:r>
            <a:r>
              <a:rPr dirty="0" sz="2400" spc="-50">
                <a:solidFill>
                  <a:srgbClr val="E14B04"/>
                </a:solidFill>
                <a:latin typeface="黑体"/>
                <a:cs typeface="黑体"/>
              </a:rPr>
              <a:t>。</a:t>
            </a:r>
            <a:endParaRPr sz="2400">
              <a:latin typeface="黑体"/>
              <a:cs typeface="黑体"/>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681098" y="97028"/>
            <a:ext cx="411416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4F55AC"/>
                </a:solidFill>
                <a:latin typeface="黑体"/>
                <a:cs typeface="黑体"/>
              </a:rPr>
              <a:t>7.4</a:t>
            </a:r>
            <a:r>
              <a:rPr dirty="0" sz="2800" spc="-10">
                <a:solidFill>
                  <a:srgbClr val="4F55AC"/>
                </a:solidFill>
                <a:latin typeface="黑体"/>
                <a:cs typeface="黑体"/>
              </a:rPr>
              <a:t> 减少</a:t>
            </a:r>
            <a:r>
              <a:rPr dirty="0" sz="2800" spc="-20">
                <a:solidFill>
                  <a:srgbClr val="4F55AC"/>
                </a:solidFill>
                <a:latin typeface="黑体"/>
                <a:cs typeface="黑体"/>
              </a:rPr>
              <a:t>Cache</a:t>
            </a:r>
            <a:r>
              <a:rPr dirty="0" sz="2800" spc="-40">
                <a:solidFill>
                  <a:srgbClr val="4F55AC"/>
                </a:solidFill>
                <a:latin typeface="黑体"/>
                <a:cs typeface="黑体"/>
              </a:rPr>
              <a:t>不命中开销</a:t>
            </a:r>
            <a:endParaRPr sz="2800">
              <a:latin typeface="黑体"/>
              <a:cs typeface="黑体"/>
            </a:endParaRPr>
          </a:p>
        </p:txBody>
      </p:sp>
      <p:sp>
        <p:nvSpPr>
          <p:cNvPr id="10" name="object 10"/>
          <p:cNvSpPr txBox="1">
            <a:spLocks noGrp="1"/>
          </p:cNvSpPr>
          <p:nvPr>
            <p:ph type="title"/>
          </p:nvPr>
        </p:nvSpPr>
        <p:spPr>
          <a:xfrm>
            <a:off x="7221728" y="41859"/>
            <a:ext cx="2670175" cy="422909"/>
          </a:xfrm>
          <a:prstGeom prst="rect"/>
        </p:spPr>
        <p:txBody>
          <a:bodyPr wrap="square" lIns="0" tIns="13335" rIns="0" bIns="0" rtlCol="0" vert="horz">
            <a:spAutoFit/>
          </a:bodyPr>
          <a:lstStyle/>
          <a:p>
            <a:pPr marL="12700">
              <a:lnSpc>
                <a:spcPct val="100000"/>
              </a:lnSpc>
              <a:spcBef>
                <a:spcPts val="105"/>
              </a:spcBef>
            </a:pPr>
            <a:r>
              <a:rPr dirty="0" u="none" sz="2600">
                <a:solidFill>
                  <a:srgbClr val="0000CC"/>
                </a:solidFill>
              </a:rPr>
              <a:t>7.4.3</a:t>
            </a:r>
            <a:r>
              <a:rPr dirty="0" u="none" sz="2600" spc="-20">
                <a:solidFill>
                  <a:srgbClr val="0000CC"/>
                </a:solidFill>
              </a:rPr>
              <a:t> 写缓冲合并</a:t>
            </a:r>
            <a:endParaRPr sz="2600"/>
          </a:p>
        </p:txBody>
      </p:sp>
      <p:sp>
        <p:nvSpPr>
          <p:cNvPr id="11" name="object 11" descr=""/>
          <p:cNvSpPr txBox="1"/>
          <p:nvPr/>
        </p:nvSpPr>
        <p:spPr>
          <a:xfrm>
            <a:off x="397865" y="742632"/>
            <a:ext cx="11780520" cy="5648325"/>
          </a:xfrm>
          <a:prstGeom prst="rect">
            <a:avLst/>
          </a:prstGeom>
        </p:spPr>
        <p:txBody>
          <a:bodyPr wrap="square" lIns="0" tIns="86360" rIns="0" bIns="0" rtlCol="0" vert="horz">
            <a:spAutoFit/>
          </a:bodyPr>
          <a:lstStyle/>
          <a:p>
            <a:pPr marL="468630" indent="-455930">
              <a:lnSpc>
                <a:spcPct val="100000"/>
              </a:lnSpc>
              <a:spcBef>
                <a:spcPts val="680"/>
              </a:spcBef>
              <a:buClr>
                <a:srgbClr val="40458B"/>
              </a:buClr>
              <a:buAutoNum type="arabicPeriod"/>
              <a:tabLst>
                <a:tab pos="468630" algn="l"/>
              </a:tabLst>
            </a:pPr>
            <a:r>
              <a:rPr dirty="0" sz="2400" spc="-10">
                <a:solidFill>
                  <a:srgbClr val="E14B04"/>
                </a:solidFill>
                <a:latin typeface="黑体"/>
                <a:cs typeface="黑体"/>
              </a:rPr>
              <a:t>提高写缓冲器的效率，尽可能减少CPU等待时间</a:t>
            </a:r>
            <a:r>
              <a:rPr dirty="0" sz="2400" spc="-10">
                <a:solidFill>
                  <a:srgbClr val="FF09FF"/>
                </a:solidFill>
                <a:latin typeface="黑体"/>
                <a:cs typeface="黑体"/>
              </a:rPr>
              <a:t>（</a:t>
            </a:r>
            <a:r>
              <a:rPr dirty="0" sz="2400" spc="-15">
                <a:solidFill>
                  <a:srgbClr val="FF09FF"/>
                </a:solidFill>
                <a:latin typeface="黑体"/>
                <a:cs typeface="黑体"/>
              </a:rPr>
              <a:t>针对缓冲区大：浪费；过小，空间</a:t>
            </a:r>
            <a:endParaRPr sz="2400">
              <a:latin typeface="黑体"/>
              <a:cs typeface="黑体"/>
            </a:endParaRPr>
          </a:p>
          <a:p>
            <a:pPr marL="469900">
              <a:lnSpc>
                <a:spcPct val="100000"/>
              </a:lnSpc>
              <a:spcBef>
                <a:spcPts val="575"/>
              </a:spcBef>
            </a:pPr>
            <a:r>
              <a:rPr dirty="0" sz="2400">
                <a:solidFill>
                  <a:srgbClr val="FF09FF"/>
                </a:solidFill>
                <a:latin typeface="黑体"/>
                <a:cs typeface="黑体"/>
              </a:rPr>
              <a:t>总占满；若CPU写缓冲器，大多在等待，如何优化</a:t>
            </a:r>
            <a:r>
              <a:rPr dirty="0" sz="2400" spc="-50">
                <a:solidFill>
                  <a:srgbClr val="FF09FF"/>
                </a:solidFill>
                <a:latin typeface="黑体"/>
                <a:cs typeface="黑体"/>
              </a:rPr>
              <a:t>）</a:t>
            </a:r>
            <a:endParaRPr sz="2400">
              <a:latin typeface="黑体"/>
              <a:cs typeface="黑体"/>
            </a:endParaRPr>
          </a:p>
          <a:p>
            <a:pPr marL="469265" marR="4424680" indent="-457200">
              <a:lnSpc>
                <a:spcPts val="4040"/>
              </a:lnSpc>
              <a:spcBef>
                <a:spcPts val="320"/>
              </a:spcBef>
              <a:buClr>
                <a:srgbClr val="40458B"/>
              </a:buClr>
              <a:buAutoNum type="arabicPeriod" startAt="2"/>
              <a:tabLst>
                <a:tab pos="641985" algn="l"/>
              </a:tabLst>
            </a:pPr>
            <a:r>
              <a:rPr dirty="0" sz="2400">
                <a:solidFill>
                  <a:srgbClr val="E14B04"/>
                </a:solidFill>
                <a:latin typeface="黑体"/>
                <a:cs typeface="黑体"/>
              </a:rPr>
              <a:t>写直达Cache（针对），</a:t>
            </a:r>
            <a:r>
              <a:rPr dirty="0" sz="2400" spc="-5">
                <a:solidFill>
                  <a:srgbClr val="E14B04"/>
                </a:solidFill>
                <a:latin typeface="黑体"/>
                <a:cs typeface="黑体"/>
              </a:rPr>
              <a:t>如何提高写缓冲器的效率</a:t>
            </a:r>
            <a:r>
              <a:rPr dirty="0" sz="2400" spc="-50">
                <a:solidFill>
                  <a:srgbClr val="E14B04"/>
                </a:solidFill>
                <a:latin typeface="黑体"/>
                <a:cs typeface="黑体"/>
              </a:rPr>
              <a:t> </a:t>
            </a:r>
            <a:r>
              <a:rPr dirty="0" sz="2400" spc="-50">
                <a:solidFill>
                  <a:srgbClr val="E14B04"/>
                </a:solidFill>
                <a:latin typeface="黑体"/>
                <a:cs typeface="黑体"/>
              </a:rPr>
              <a:t>	</a:t>
            </a:r>
            <a:r>
              <a:rPr dirty="0" sz="2400" spc="-5">
                <a:solidFill>
                  <a:srgbClr val="40458B"/>
                </a:solidFill>
                <a:latin typeface="黑体"/>
                <a:cs typeface="黑体"/>
              </a:rPr>
              <a:t>依靠写缓冲来减少对下一级存储器写操作的时间。</a:t>
            </a:r>
            <a:endParaRPr sz="2400">
              <a:latin typeface="黑体"/>
              <a:cs typeface="黑体"/>
            </a:endParaRPr>
          </a:p>
          <a:p>
            <a:pPr lvl="1" marL="1099185" indent="-457200">
              <a:lnSpc>
                <a:spcPct val="100000"/>
              </a:lnSpc>
              <a:spcBef>
                <a:spcPts val="819"/>
              </a:spcBef>
              <a:buClr>
                <a:srgbClr val="40458B"/>
              </a:buClr>
              <a:buSzPct val="89583"/>
              <a:buFont typeface="Wingdings"/>
              <a:buChar char=""/>
              <a:tabLst>
                <a:tab pos="1099185" algn="l"/>
              </a:tabLst>
            </a:pPr>
            <a:r>
              <a:rPr dirty="0" sz="2400">
                <a:solidFill>
                  <a:srgbClr val="FF09FF"/>
                </a:solidFill>
                <a:latin typeface="黑体"/>
                <a:cs typeface="黑体"/>
              </a:rPr>
              <a:t>如果</a:t>
            </a:r>
            <a:r>
              <a:rPr dirty="0" sz="2400" spc="-5">
                <a:solidFill>
                  <a:srgbClr val="40458B"/>
                </a:solidFill>
                <a:latin typeface="黑体"/>
                <a:cs typeface="黑体"/>
              </a:rPr>
              <a:t>写缓冲器为空，就把数据和相应地址写入该缓冲器。</a:t>
            </a:r>
            <a:endParaRPr sz="2400">
              <a:latin typeface="黑体"/>
              <a:cs typeface="黑体"/>
            </a:endParaRPr>
          </a:p>
          <a:p>
            <a:pPr marL="1727200" marR="22225" indent="-71755">
              <a:lnSpc>
                <a:spcPct val="120100"/>
              </a:lnSpc>
              <a:spcBef>
                <a:spcPts val="545"/>
              </a:spcBef>
            </a:pPr>
            <a:r>
              <a:rPr dirty="0" sz="2000" spc="-10" b="1">
                <a:latin typeface="宋体"/>
                <a:cs typeface="宋体"/>
              </a:rPr>
              <a:t>从CPU</a:t>
            </a:r>
            <a:r>
              <a:rPr dirty="0" sz="2000" spc="-25" b="1">
                <a:latin typeface="宋体"/>
                <a:cs typeface="宋体"/>
              </a:rPr>
              <a:t>的角度来看，该写操作就算是完成了。它可以继续其他的指令，写缓冲器则负责将数</a:t>
            </a:r>
            <a:r>
              <a:rPr dirty="0" sz="2000" spc="-20" b="1">
                <a:latin typeface="宋体"/>
                <a:cs typeface="宋体"/>
              </a:rPr>
              <a:t>据写入存储器</a:t>
            </a:r>
            <a:endParaRPr sz="2000">
              <a:latin typeface="宋体"/>
              <a:cs typeface="宋体"/>
            </a:endParaRPr>
          </a:p>
          <a:p>
            <a:pPr algn="just" lvl="1" marL="1099185" marR="5080" indent="-457834">
              <a:lnSpc>
                <a:spcPct val="120100"/>
              </a:lnSpc>
              <a:spcBef>
                <a:spcPts val="505"/>
              </a:spcBef>
              <a:buClr>
                <a:srgbClr val="40458B"/>
              </a:buClr>
              <a:buSzPct val="89583"/>
              <a:buFont typeface="Wingdings"/>
              <a:buChar char=""/>
              <a:tabLst>
                <a:tab pos="1099185" algn="l"/>
              </a:tabLst>
            </a:pPr>
            <a:r>
              <a:rPr dirty="0" sz="2400">
                <a:solidFill>
                  <a:srgbClr val="FF09FF"/>
                </a:solidFill>
                <a:latin typeface="黑体"/>
                <a:cs typeface="黑体"/>
              </a:rPr>
              <a:t>如果</a:t>
            </a:r>
            <a:r>
              <a:rPr dirty="0" sz="2400" spc="-5">
                <a:solidFill>
                  <a:srgbClr val="40458B"/>
                </a:solidFill>
                <a:latin typeface="黑体"/>
                <a:cs typeface="黑体"/>
              </a:rPr>
              <a:t>写缓冲器中已经有了待写入的数据，就要把这次的写入地址与写缓冲器中已有的所有地址进行比较，看是否有匹配的项。如果有地址匹配而对应的位置又是</a:t>
            </a:r>
            <a:r>
              <a:rPr dirty="0" sz="2400">
                <a:solidFill>
                  <a:srgbClr val="40458B"/>
                </a:solidFill>
                <a:latin typeface="黑体"/>
                <a:cs typeface="黑体"/>
              </a:rPr>
              <a:t>空闲的，就把这次要写入的数据与该项合并。这就叫</a:t>
            </a:r>
            <a:r>
              <a:rPr dirty="0" sz="2400">
                <a:solidFill>
                  <a:srgbClr val="FF09FF"/>
                </a:solidFill>
                <a:latin typeface="黑体"/>
                <a:cs typeface="黑体"/>
              </a:rPr>
              <a:t>写缓冲合并</a:t>
            </a:r>
            <a:r>
              <a:rPr dirty="0" sz="2400" spc="-50">
                <a:solidFill>
                  <a:srgbClr val="40458B"/>
                </a:solidFill>
                <a:latin typeface="黑体"/>
                <a:cs typeface="黑体"/>
              </a:rPr>
              <a:t>。</a:t>
            </a:r>
            <a:endParaRPr sz="2400">
              <a:latin typeface="黑体"/>
              <a:cs typeface="黑体"/>
            </a:endParaRPr>
          </a:p>
          <a:p>
            <a:pPr algn="just" lvl="1" marL="1099185" indent="-457200">
              <a:lnSpc>
                <a:spcPct val="100000"/>
              </a:lnSpc>
              <a:spcBef>
                <a:spcPts val="1155"/>
              </a:spcBef>
              <a:buClr>
                <a:srgbClr val="40458B"/>
              </a:buClr>
              <a:buSzPct val="89583"/>
              <a:buFont typeface="Wingdings"/>
              <a:buChar char=""/>
              <a:tabLst>
                <a:tab pos="1099185" algn="l"/>
              </a:tabLst>
            </a:pPr>
            <a:r>
              <a:rPr dirty="0" sz="2400">
                <a:solidFill>
                  <a:srgbClr val="FF09FF"/>
                </a:solidFill>
                <a:latin typeface="黑体"/>
                <a:cs typeface="黑体"/>
              </a:rPr>
              <a:t>如果</a:t>
            </a:r>
            <a:r>
              <a:rPr dirty="0" sz="2400" spc="-5">
                <a:solidFill>
                  <a:srgbClr val="40458B"/>
                </a:solidFill>
                <a:latin typeface="黑体"/>
                <a:cs typeface="黑体"/>
              </a:rPr>
              <a:t>写缓冲器满且又没有能进行写合并的项，就必须等待。</a:t>
            </a:r>
            <a:endParaRPr sz="2400">
              <a:latin typeface="黑体"/>
              <a:cs typeface="黑体"/>
            </a:endParaRPr>
          </a:p>
          <a:p>
            <a:pPr marL="641985">
              <a:lnSpc>
                <a:spcPct val="100000"/>
              </a:lnSpc>
              <a:spcBef>
                <a:spcPts val="1150"/>
              </a:spcBef>
            </a:pPr>
            <a:r>
              <a:rPr dirty="0" sz="2400" spc="-15">
                <a:solidFill>
                  <a:srgbClr val="FF09FF"/>
                </a:solidFill>
                <a:latin typeface="黑体"/>
                <a:cs typeface="黑体"/>
              </a:rPr>
              <a:t>提高了写缓冲器的空间利用率，而且还能减少因写缓冲器满而要进行的等待时间。</a:t>
            </a:r>
            <a:endParaRPr sz="2400">
              <a:latin typeface="黑体"/>
              <a:cs typeface="黑体"/>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78939" y="36068"/>
            <a:ext cx="4700270" cy="513715"/>
          </a:xfrm>
          <a:prstGeom prst="rect"/>
        </p:spPr>
        <p:txBody>
          <a:bodyPr wrap="square" lIns="0" tIns="12700" rIns="0" bIns="0" rtlCol="0" vert="horz">
            <a:spAutoFit/>
          </a:bodyPr>
          <a:lstStyle/>
          <a:p>
            <a:pPr marL="12700">
              <a:lnSpc>
                <a:spcPct val="100000"/>
              </a:lnSpc>
              <a:spcBef>
                <a:spcPts val="100"/>
              </a:spcBef>
            </a:pPr>
            <a:r>
              <a:rPr dirty="0" u="none" sz="3200"/>
              <a:t>7.4</a:t>
            </a:r>
            <a:r>
              <a:rPr dirty="0" u="none" sz="3200" spc="5"/>
              <a:t> 减少</a:t>
            </a:r>
            <a:r>
              <a:rPr dirty="0" u="none" sz="3200" spc="-10"/>
              <a:t>Cache</a:t>
            </a:r>
            <a:r>
              <a:rPr dirty="0" u="none" sz="3200" spc="-15"/>
              <a:t>不命中开销</a:t>
            </a:r>
            <a:endParaRPr sz="3200"/>
          </a:p>
        </p:txBody>
      </p:sp>
      <p:sp>
        <p:nvSpPr>
          <p:cNvPr id="10" name="object 10" descr=""/>
          <p:cNvSpPr/>
          <p:nvPr/>
        </p:nvSpPr>
        <p:spPr>
          <a:xfrm>
            <a:off x="4943475" y="1362075"/>
            <a:ext cx="6626225" cy="4899025"/>
          </a:xfrm>
          <a:custGeom>
            <a:avLst/>
            <a:gdLst/>
            <a:ahLst/>
            <a:cxnLst/>
            <a:rect l="l" t="t" r="r" b="b"/>
            <a:pathLst>
              <a:path w="6626225" h="4899025">
                <a:moveTo>
                  <a:pt x="6626225" y="0"/>
                </a:moveTo>
                <a:lnTo>
                  <a:pt x="0" y="0"/>
                </a:lnTo>
                <a:lnTo>
                  <a:pt x="0" y="4899025"/>
                </a:lnTo>
                <a:lnTo>
                  <a:pt x="6626225" y="4899025"/>
                </a:lnTo>
                <a:lnTo>
                  <a:pt x="6626225" y="0"/>
                </a:lnTo>
                <a:close/>
              </a:path>
            </a:pathLst>
          </a:custGeom>
          <a:solidFill>
            <a:srgbClr val="EAEAEA"/>
          </a:solidFill>
        </p:spPr>
        <p:txBody>
          <a:bodyPr wrap="square" lIns="0" tIns="0" rIns="0" bIns="0" rtlCol="0"/>
          <a:lstStyle/>
          <a:p/>
        </p:txBody>
      </p:sp>
      <p:sp>
        <p:nvSpPr>
          <p:cNvPr id="11" name="object 11" descr=""/>
          <p:cNvSpPr txBox="1"/>
          <p:nvPr/>
        </p:nvSpPr>
        <p:spPr>
          <a:xfrm>
            <a:off x="5045492" y="1332710"/>
            <a:ext cx="628650" cy="266065"/>
          </a:xfrm>
          <a:prstGeom prst="rect">
            <a:avLst/>
          </a:prstGeom>
        </p:spPr>
        <p:txBody>
          <a:bodyPr wrap="square" lIns="0" tIns="15875" rIns="0" bIns="0" rtlCol="0" vert="horz">
            <a:spAutoFit/>
          </a:bodyPr>
          <a:lstStyle/>
          <a:p>
            <a:pPr marL="12700">
              <a:lnSpc>
                <a:spcPct val="100000"/>
              </a:lnSpc>
              <a:spcBef>
                <a:spcPts val="125"/>
              </a:spcBef>
            </a:pPr>
            <a:r>
              <a:rPr dirty="0" sz="1550" spc="-20">
                <a:solidFill>
                  <a:srgbClr val="000080"/>
                </a:solidFill>
                <a:latin typeface="宋体"/>
                <a:cs typeface="宋体"/>
              </a:rPr>
              <a:t>写地址</a:t>
            </a:r>
            <a:endParaRPr sz="1550">
              <a:latin typeface="宋体"/>
              <a:cs typeface="宋体"/>
            </a:endParaRPr>
          </a:p>
        </p:txBody>
      </p:sp>
      <p:sp>
        <p:nvSpPr>
          <p:cNvPr id="12" name="object 12" descr=""/>
          <p:cNvSpPr txBox="1"/>
          <p:nvPr/>
        </p:nvSpPr>
        <p:spPr>
          <a:xfrm>
            <a:off x="5847408" y="1359442"/>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sp>
        <p:nvSpPr>
          <p:cNvPr id="13" name="object 13" descr=""/>
          <p:cNvSpPr txBox="1"/>
          <p:nvPr/>
        </p:nvSpPr>
        <p:spPr>
          <a:xfrm>
            <a:off x="7249283" y="1351267"/>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sp>
        <p:nvSpPr>
          <p:cNvPr id="14" name="object 14" descr=""/>
          <p:cNvSpPr txBox="1"/>
          <p:nvPr/>
        </p:nvSpPr>
        <p:spPr>
          <a:xfrm>
            <a:off x="8669239" y="1345965"/>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sp>
        <p:nvSpPr>
          <p:cNvPr id="15" name="object 15" descr=""/>
          <p:cNvSpPr txBox="1"/>
          <p:nvPr/>
        </p:nvSpPr>
        <p:spPr>
          <a:xfrm>
            <a:off x="10118888" y="1348616"/>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graphicFrame>
        <p:nvGraphicFramePr>
          <p:cNvPr id="16" name="object 16" descr=""/>
          <p:cNvGraphicFramePr>
            <a:graphicFrameLocks noGrp="1"/>
          </p:cNvGraphicFramePr>
          <p:nvPr/>
        </p:nvGraphicFramePr>
        <p:xfrm>
          <a:off x="5073837" y="1628386"/>
          <a:ext cx="652145" cy="1647189"/>
        </p:xfrm>
        <a:graphic>
          <a:graphicData uri="http://schemas.openxmlformats.org/drawingml/2006/table">
            <a:tbl>
              <a:tblPr firstRow="1" bandRow="1">
                <a:tableStyleId>{2D5ABB26-0587-4C30-8999-92F81FD0307C}</a:tableStyleId>
              </a:tblPr>
              <a:tblGrid>
                <a:gridCol w="560070"/>
              </a:tblGrid>
              <a:tr h="411480">
                <a:tc>
                  <a:txBody>
                    <a:bodyPr/>
                    <a:lstStyle/>
                    <a:p>
                      <a:pPr algn="ctr" marR="13335">
                        <a:lnSpc>
                          <a:spcPct val="100000"/>
                        </a:lnSpc>
                        <a:spcBef>
                          <a:spcPts val="810"/>
                        </a:spcBef>
                      </a:pPr>
                      <a:r>
                        <a:rPr dirty="0" sz="1550" spc="-25" b="1">
                          <a:solidFill>
                            <a:srgbClr val="993300"/>
                          </a:solidFill>
                          <a:latin typeface="Times New Roman"/>
                          <a:cs typeface="Times New Roman"/>
                        </a:rPr>
                        <a:t>100</a:t>
                      </a:r>
                      <a:endParaRPr sz="1550">
                        <a:latin typeface="Times New Roman"/>
                        <a:cs typeface="Times New Roman"/>
                      </a:endParaRPr>
                    </a:p>
                  </a:txBody>
                  <a:tcPr marL="0" marR="0" marB="0" marT="1028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412115">
                <a:tc>
                  <a:txBody>
                    <a:bodyPr/>
                    <a:lstStyle/>
                    <a:p>
                      <a:pPr algn="ctr" marR="17780">
                        <a:lnSpc>
                          <a:spcPct val="100000"/>
                        </a:lnSpc>
                        <a:spcBef>
                          <a:spcPts val="900"/>
                        </a:spcBef>
                      </a:pPr>
                      <a:r>
                        <a:rPr dirty="0" sz="1550" spc="-25" b="1">
                          <a:solidFill>
                            <a:srgbClr val="993300"/>
                          </a:solidFill>
                          <a:latin typeface="Times New Roman"/>
                          <a:cs typeface="Times New Roman"/>
                        </a:rPr>
                        <a:t>108</a:t>
                      </a:r>
                      <a:endParaRPr sz="1550">
                        <a:latin typeface="Times New Roman"/>
                        <a:cs typeface="Times New Roman"/>
                      </a:endParaRPr>
                    </a:p>
                  </a:txBody>
                  <a:tcPr marL="0" marR="0" marB="0" marT="11430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411480">
                <a:tc>
                  <a:txBody>
                    <a:bodyPr/>
                    <a:lstStyle/>
                    <a:p>
                      <a:pPr algn="ctr" marR="32384">
                        <a:lnSpc>
                          <a:spcPct val="100000"/>
                        </a:lnSpc>
                        <a:spcBef>
                          <a:spcPts val="775"/>
                        </a:spcBef>
                      </a:pPr>
                      <a:r>
                        <a:rPr dirty="0" sz="1550" spc="-25" b="1">
                          <a:solidFill>
                            <a:srgbClr val="993300"/>
                          </a:solidFill>
                          <a:latin typeface="Times New Roman"/>
                          <a:cs typeface="Times New Roman"/>
                        </a:rPr>
                        <a:t>116</a:t>
                      </a:r>
                      <a:endParaRPr sz="1550">
                        <a:latin typeface="Times New Roman"/>
                        <a:cs typeface="Times New Roman"/>
                      </a:endParaRPr>
                    </a:p>
                  </a:txBody>
                  <a:tcPr marL="0" marR="0" marB="0" marT="9842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412115">
                <a:tc>
                  <a:txBody>
                    <a:bodyPr/>
                    <a:lstStyle/>
                    <a:p>
                      <a:pPr algn="ctr" marR="17780">
                        <a:lnSpc>
                          <a:spcPct val="100000"/>
                        </a:lnSpc>
                        <a:spcBef>
                          <a:spcPts val="840"/>
                        </a:spcBef>
                      </a:pPr>
                      <a:r>
                        <a:rPr dirty="0" sz="1550" spc="-25" b="1">
                          <a:solidFill>
                            <a:srgbClr val="993300"/>
                          </a:solidFill>
                          <a:latin typeface="Times New Roman"/>
                          <a:cs typeface="Times New Roman"/>
                        </a:rPr>
                        <a:t>124</a:t>
                      </a:r>
                      <a:endParaRPr sz="1550">
                        <a:latin typeface="Times New Roman"/>
                        <a:cs typeface="Times New Roman"/>
                      </a:endParaRPr>
                    </a:p>
                  </a:txBody>
                  <a:tcPr marL="0" marR="0" marB="0" marT="1066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graphicFrame>
        <p:nvGraphicFramePr>
          <p:cNvPr id="17" name="object 17" descr=""/>
          <p:cNvGraphicFramePr>
            <a:graphicFrameLocks noGrp="1"/>
          </p:cNvGraphicFramePr>
          <p:nvPr/>
        </p:nvGraphicFramePr>
        <p:xfrm>
          <a:off x="5774792" y="1628406"/>
          <a:ext cx="5781675" cy="1647189"/>
        </p:xfrm>
        <a:graphic>
          <a:graphicData uri="http://schemas.openxmlformats.org/drawingml/2006/table">
            <a:tbl>
              <a:tblPr firstRow="1" bandRow="1">
                <a:tableStyleId>{2D5ABB26-0587-4C30-8999-92F81FD0307C}</a:tableStyleId>
              </a:tblPr>
              <a:tblGrid>
                <a:gridCol w="325755"/>
                <a:gridCol w="1073784"/>
                <a:gridCol w="325119"/>
                <a:gridCol w="1073784"/>
                <a:gridCol w="373380"/>
                <a:gridCol w="1070609"/>
                <a:gridCol w="373379"/>
                <a:gridCol w="1073785"/>
              </a:tblGrid>
              <a:tr h="411480">
                <a:tc>
                  <a:txBody>
                    <a:bodyPr/>
                    <a:lstStyle/>
                    <a:p>
                      <a:pPr algn="ctr" marL="15240">
                        <a:lnSpc>
                          <a:spcPct val="100000"/>
                        </a:lnSpc>
                        <a:spcBef>
                          <a:spcPts val="900"/>
                        </a:spcBef>
                      </a:pPr>
                      <a:r>
                        <a:rPr dirty="0" sz="1550" spc="-50" b="1">
                          <a:solidFill>
                            <a:srgbClr val="0000FF"/>
                          </a:solidFill>
                          <a:latin typeface="Times New Roman"/>
                          <a:cs typeface="Times New Roman"/>
                        </a:rPr>
                        <a:t>1</a:t>
                      </a:r>
                      <a:endParaRPr sz="1550">
                        <a:latin typeface="Times New Roman"/>
                        <a:cs typeface="Times New Roman"/>
                      </a:endParaRPr>
                    </a:p>
                  </a:txBody>
                  <a:tcPr marL="0" marR="0" marB="0" marT="11430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85090">
                        <a:lnSpc>
                          <a:spcPct val="100000"/>
                        </a:lnSpc>
                        <a:spcBef>
                          <a:spcPts val="710"/>
                        </a:spcBef>
                      </a:pPr>
                      <a:r>
                        <a:rPr dirty="0" sz="1550" spc="-10">
                          <a:latin typeface="Times New Roman"/>
                          <a:cs typeface="Times New Roman"/>
                        </a:rPr>
                        <a:t>Mem[100]</a:t>
                      </a:r>
                      <a:endParaRPr sz="1550">
                        <a:latin typeface="Times New Roman"/>
                        <a:cs typeface="Times New Roman"/>
                      </a:endParaRPr>
                    </a:p>
                  </a:txBody>
                  <a:tcPr marL="0" marR="0" marB="0" marT="901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8E3"/>
                    </a:solidFill>
                  </a:tcPr>
                </a:tc>
                <a:tc>
                  <a:txBody>
                    <a:bodyPr/>
                    <a:lstStyle/>
                    <a:p>
                      <a:pPr algn="ctr">
                        <a:lnSpc>
                          <a:spcPct val="100000"/>
                        </a:lnSpc>
                        <a:spcBef>
                          <a:spcPts val="855"/>
                        </a:spcBef>
                      </a:pPr>
                      <a:r>
                        <a:rPr dirty="0" sz="1550" spc="-50">
                          <a:latin typeface="Times New Roman"/>
                          <a:cs typeface="Times New Roman"/>
                        </a:rPr>
                        <a:t>0</a:t>
                      </a:r>
                      <a:endParaRPr sz="1550">
                        <a:latin typeface="Times New Roman"/>
                        <a:cs typeface="Times New Roman"/>
                      </a:endParaRPr>
                    </a:p>
                  </a:txBody>
                  <a:tcPr marL="0" marR="0" marB="0" marT="1085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34925">
                        <a:lnSpc>
                          <a:spcPct val="100000"/>
                        </a:lnSpc>
                        <a:spcBef>
                          <a:spcPts val="855"/>
                        </a:spcBef>
                      </a:pPr>
                      <a:r>
                        <a:rPr dirty="0" sz="1550" spc="-50">
                          <a:latin typeface="Times New Roman"/>
                          <a:cs typeface="Times New Roman"/>
                        </a:rPr>
                        <a:t>0</a:t>
                      </a:r>
                      <a:endParaRPr sz="1550">
                        <a:latin typeface="Times New Roman"/>
                        <a:cs typeface="Times New Roman"/>
                      </a:endParaRPr>
                    </a:p>
                  </a:txBody>
                  <a:tcPr marL="0" marR="0" marB="0" marT="1085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102235">
                        <a:lnSpc>
                          <a:spcPct val="100000"/>
                        </a:lnSpc>
                        <a:spcBef>
                          <a:spcPts val="960"/>
                        </a:spcBef>
                      </a:pPr>
                      <a:r>
                        <a:rPr dirty="0" sz="1550" spc="-50">
                          <a:latin typeface="Times New Roman"/>
                          <a:cs typeface="Times New Roman"/>
                        </a:rPr>
                        <a:t>0</a:t>
                      </a:r>
                      <a:endParaRPr sz="1550">
                        <a:latin typeface="Times New Roman"/>
                        <a:cs typeface="Times New Roman"/>
                      </a:endParaRPr>
                    </a:p>
                  </a:txBody>
                  <a:tcPr marL="0" marR="0" marB="0" marT="12192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412115">
                <a:tc>
                  <a:txBody>
                    <a:bodyPr/>
                    <a:lstStyle/>
                    <a:p>
                      <a:pPr algn="ctr" marL="24765">
                        <a:lnSpc>
                          <a:spcPct val="100000"/>
                        </a:lnSpc>
                        <a:spcBef>
                          <a:spcPts val="1030"/>
                        </a:spcBef>
                      </a:pPr>
                      <a:r>
                        <a:rPr dirty="0" sz="1550" spc="-50" b="1">
                          <a:solidFill>
                            <a:srgbClr val="0000FF"/>
                          </a:solidFill>
                          <a:latin typeface="Times New Roman"/>
                          <a:cs typeface="Times New Roman"/>
                        </a:rPr>
                        <a:t>1</a:t>
                      </a:r>
                      <a:endParaRPr sz="1550">
                        <a:latin typeface="Times New Roman"/>
                        <a:cs typeface="Times New Roman"/>
                      </a:endParaRPr>
                    </a:p>
                  </a:txBody>
                  <a:tcPr marL="0" marR="0" marB="0" marT="1308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76835">
                        <a:lnSpc>
                          <a:spcPct val="100000"/>
                        </a:lnSpc>
                        <a:spcBef>
                          <a:spcPts val="840"/>
                        </a:spcBef>
                      </a:pPr>
                      <a:r>
                        <a:rPr dirty="0" sz="1550" spc="-10">
                          <a:latin typeface="Times New Roman"/>
                          <a:cs typeface="Times New Roman"/>
                        </a:rPr>
                        <a:t>Mem[108]</a:t>
                      </a:r>
                      <a:endParaRPr sz="1550">
                        <a:latin typeface="Times New Roman"/>
                        <a:cs typeface="Times New Roman"/>
                      </a:endParaRPr>
                    </a:p>
                  </a:txBody>
                  <a:tcPr marL="0" marR="0" marB="0" marT="1066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8E3"/>
                    </a:solidFill>
                  </a:tcPr>
                </a:tc>
                <a:tc>
                  <a:txBody>
                    <a:bodyPr/>
                    <a:lstStyle/>
                    <a:p>
                      <a:pPr algn="ctr" marL="4445">
                        <a:lnSpc>
                          <a:spcPct val="100000"/>
                        </a:lnSpc>
                        <a:spcBef>
                          <a:spcPts val="985"/>
                        </a:spcBef>
                      </a:pPr>
                      <a:r>
                        <a:rPr dirty="0" sz="1550" spc="-50">
                          <a:latin typeface="Times New Roman"/>
                          <a:cs typeface="Times New Roman"/>
                        </a:rPr>
                        <a:t>0</a:t>
                      </a:r>
                      <a:endParaRPr sz="1550">
                        <a:latin typeface="Times New Roman"/>
                        <a:cs typeface="Times New Roman"/>
                      </a:endParaRPr>
                    </a:p>
                  </a:txBody>
                  <a:tcPr marL="0" marR="0" marB="0" marT="1250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46355">
                        <a:lnSpc>
                          <a:spcPct val="100000"/>
                        </a:lnSpc>
                        <a:spcBef>
                          <a:spcPts val="985"/>
                        </a:spcBef>
                      </a:pPr>
                      <a:r>
                        <a:rPr dirty="0" sz="1550" spc="-50">
                          <a:latin typeface="Times New Roman"/>
                          <a:cs typeface="Times New Roman"/>
                        </a:rPr>
                        <a:t>0</a:t>
                      </a:r>
                      <a:endParaRPr sz="1550">
                        <a:latin typeface="Times New Roman"/>
                        <a:cs typeface="Times New Roman"/>
                      </a:endParaRPr>
                    </a:p>
                  </a:txBody>
                  <a:tcPr marL="0" marR="0" marB="0" marT="1250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99695">
                        <a:lnSpc>
                          <a:spcPct val="100000"/>
                        </a:lnSpc>
                        <a:spcBef>
                          <a:spcPts val="1110"/>
                        </a:spcBef>
                      </a:pPr>
                      <a:r>
                        <a:rPr dirty="0" sz="1550" spc="-50">
                          <a:latin typeface="Times New Roman"/>
                          <a:cs typeface="Times New Roman"/>
                        </a:rPr>
                        <a:t>0</a:t>
                      </a:r>
                      <a:endParaRPr sz="1550">
                        <a:latin typeface="Times New Roman"/>
                        <a:cs typeface="Times New Roman"/>
                      </a:endParaRPr>
                    </a:p>
                  </a:txBody>
                  <a:tcPr marL="0" marR="0" marB="0" marT="14097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411480">
                <a:tc>
                  <a:txBody>
                    <a:bodyPr/>
                    <a:lstStyle/>
                    <a:p>
                      <a:pPr algn="ctr" marL="20320">
                        <a:lnSpc>
                          <a:spcPct val="100000"/>
                        </a:lnSpc>
                        <a:spcBef>
                          <a:spcPts val="965"/>
                        </a:spcBef>
                      </a:pPr>
                      <a:r>
                        <a:rPr dirty="0" sz="1550" spc="-50" b="1">
                          <a:solidFill>
                            <a:srgbClr val="0000FF"/>
                          </a:solidFill>
                          <a:latin typeface="Times New Roman"/>
                          <a:cs typeface="Times New Roman"/>
                        </a:rPr>
                        <a:t>1</a:t>
                      </a:r>
                      <a:endParaRPr sz="1550">
                        <a:latin typeface="Times New Roman"/>
                        <a:cs typeface="Times New Roman"/>
                      </a:endParaRPr>
                    </a:p>
                  </a:txBody>
                  <a:tcPr marL="0" marR="0" marB="0" marT="12255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85090">
                        <a:lnSpc>
                          <a:spcPct val="100000"/>
                        </a:lnSpc>
                        <a:spcBef>
                          <a:spcPts val="755"/>
                        </a:spcBef>
                      </a:pPr>
                      <a:r>
                        <a:rPr dirty="0" sz="1550" spc="-10">
                          <a:latin typeface="Times New Roman"/>
                          <a:cs typeface="Times New Roman"/>
                        </a:rPr>
                        <a:t>Mem[116]</a:t>
                      </a:r>
                      <a:endParaRPr sz="1550">
                        <a:latin typeface="Times New Roman"/>
                        <a:cs typeface="Times New Roman"/>
                      </a:endParaRPr>
                    </a:p>
                  </a:txBody>
                  <a:tcPr marL="0" marR="0" marB="0" marT="958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8E3"/>
                    </a:solidFill>
                  </a:tcPr>
                </a:tc>
                <a:tc>
                  <a:txBody>
                    <a:bodyPr/>
                    <a:lstStyle/>
                    <a:p>
                      <a:pPr algn="ctr">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41275">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73025">
                        <a:lnSpc>
                          <a:spcPct val="100000"/>
                        </a:lnSpc>
                        <a:spcBef>
                          <a:spcPts val="40"/>
                        </a:spcBef>
                      </a:pPr>
                      <a:r>
                        <a:rPr dirty="0" baseline="-35842" sz="2325" spc="-989">
                          <a:latin typeface="Times New Roman"/>
                          <a:cs typeface="Times New Roman"/>
                        </a:rPr>
                        <a:t>0</a:t>
                      </a:r>
                      <a:r>
                        <a:rPr dirty="0" sz="100" spc="-10">
                          <a:latin typeface="宋体"/>
                          <a:cs typeface="宋体"/>
                        </a:rPr>
                        <a:t>（</a:t>
                      </a:r>
                      <a:r>
                        <a:rPr dirty="0" sz="100" spc="-15">
                          <a:latin typeface="Times New Roman"/>
                          <a:cs typeface="Times New Roman"/>
                        </a:rPr>
                        <a:t>a</a:t>
                      </a:r>
                      <a:r>
                        <a:rPr dirty="0" sz="100" spc="-5">
                          <a:latin typeface="宋体"/>
                          <a:cs typeface="宋体"/>
                        </a:rPr>
                        <a:t>）</a:t>
                      </a:r>
                      <a:r>
                        <a:rPr dirty="0" sz="100" spc="-10">
                          <a:latin typeface="宋体"/>
                          <a:cs typeface="宋体"/>
                        </a:rPr>
                        <a:t> 不采用写合并</a:t>
                      </a:r>
                      <a:endParaRPr sz="100">
                        <a:latin typeface="宋体"/>
                        <a:cs typeface="宋体"/>
                      </a:endParaRPr>
                    </a:p>
                  </a:txBody>
                  <a:tcPr marL="0" marR="0" marB="0" marT="50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412115">
                <a:tc>
                  <a:txBody>
                    <a:bodyPr/>
                    <a:lstStyle/>
                    <a:p>
                      <a:pPr algn="ctr" marL="20320">
                        <a:lnSpc>
                          <a:spcPct val="100000"/>
                        </a:lnSpc>
                        <a:spcBef>
                          <a:spcPts val="840"/>
                        </a:spcBef>
                      </a:pPr>
                      <a:r>
                        <a:rPr dirty="0" sz="1550" spc="-50" b="1">
                          <a:solidFill>
                            <a:srgbClr val="0000FF"/>
                          </a:solidFill>
                          <a:latin typeface="Times New Roman"/>
                          <a:cs typeface="Times New Roman"/>
                        </a:rPr>
                        <a:t>1</a:t>
                      </a:r>
                      <a:endParaRPr sz="1550">
                        <a:latin typeface="Times New Roman"/>
                        <a:cs typeface="Times New Roman"/>
                      </a:endParaRPr>
                    </a:p>
                  </a:txBody>
                  <a:tcPr marL="0" marR="0" marB="0" marT="10668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74295">
                        <a:lnSpc>
                          <a:spcPct val="100000"/>
                        </a:lnSpc>
                        <a:spcBef>
                          <a:spcPts val="630"/>
                        </a:spcBef>
                      </a:pPr>
                      <a:r>
                        <a:rPr dirty="0" sz="1550" spc="-10">
                          <a:latin typeface="Times New Roman"/>
                          <a:cs typeface="Times New Roman"/>
                        </a:rPr>
                        <a:t>Mem[124]</a:t>
                      </a:r>
                      <a:endParaRPr sz="1550">
                        <a:latin typeface="Times New Roman"/>
                        <a:cs typeface="Times New Roman"/>
                      </a:endParaRPr>
                    </a:p>
                  </a:txBody>
                  <a:tcPr marL="0" marR="0" marB="0" marT="8001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8E3"/>
                    </a:solidFill>
                  </a:tcPr>
                </a:tc>
                <a:tc>
                  <a:txBody>
                    <a:bodyPr/>
                    <a:lstStyle/>
                    <a:p>
                      <a:pPr algn="ctr">
                        <a:lnSpc>
                          <a:spcPct val="100000"/>
                        </a:lnSpc>
                        <a:spcBef>
                          <a:spcPts val="795"/>
                        </a:spcBef>
                      </a:pPr>
                      <a:r>
                        <a:rPr dirty="0" sz="1550" spc="-50">
                          <a:latin typeface="Times New Roman"/>
                          <a:cs typeface="Times New Roman"/>
                        </a:rPr>
                        <a:t>0</a:t>
                      </a:r>
                      <a:endParaRPr sz="1550">
                        <a:latin typeface="Times New Roman"/>
                        <a:cs typeface="Times New Roman"/>
                      </a:endParaRPr>
                    </a:p>
                  </a:txBody>
                  <a:tcPr marL="0" marR="0" marB="0" marT="1009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41275">
                        <a:lnSpc>
                          <a:spcPct val="100000"/>
                        </a:lnSpc>
                        <a:spcBef>
                          <a:spcPts val="795"/>
                        </a:spcBef>
                      </a:pPr>
                      <a:r>
                        <a:rPr dirty="0" sz="1550" spc="-50">
                          <a:latin typeface="Times New Roman"/>
                          <a:cs typeface="Times New Roman"/>
                        </a:rPr>
                        <a:t>0</a:t>
                      </a:r>
                      <a:endParaRPr sz="1550">
                        <a:latin typeface="Times New Roman"/>
                        <a:cs typeface="Times New Roman"/>
                      </a:endParaRPr>
                    </a:p>
                  </a:txBody>
                  <a:tcPr marL="0" marR="0" marB="0" marT="1009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102235">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bl>
          </a:graphicData>
        </a:graphic>
      </p:graphicFrame>
      <p:sp>
        <p:nvSpPr>
          <p:cNvPr id="18" name="object 18" descr=""/>
          <p:cNvSpPr txBox="1"/>
          <p:nvPr/>
        </p:nvSpPr>
        <p:spPr>
          <a:xfrm>
            <a:off x="7249283" y="3881488"/>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sp>
        <p:nvSpPr>
          <p:cNvPr id="19" name="object 19" descr=""/>
          <p:cNvSpPr txBox="1"/>
          <p:nvPr/>
        </p:nvSpPr>
        <p:spPr>
          <a:xfrm>
            <a:off x="8669239" y="3876031"/>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sp>
        <p:nvSpPr>
          <p:cNvPr id="20" name="object 20" descr=""/>
          <p:cNvSpPr txBox="1"/>
          <p:nvPr/>
        </p:nvSpPr>
        <p:spPr>
          <a:xfrm>
            <a:off x="10118888" y="3878770"/>
            <a:ext cx="170815" cy="266065"/>
          </a:xfrm>
          <a:prstGeom prst="rect">
            <a:avLst/>
          </a:prstGeom>
        </p:spPr>
        <p:txBody>
          <a:bodyPr wrap="square" lIns="0" tIns="15875" rIns="0" bIns="0" rtlCol="0" vert="horz">
            <a:spAutoFit/>
          </a:bodyPr>
          <a:lstStyle/>
          <a:p>
            <a:pPr marL="12700">
              <a:lnSpc>
                <a:spcPct val="100000"/>
              </a:lnSpc>
              <a:spcBef>
                <a:spcPts val="125"/>
              </a:spcBef>
            </a:pPr>
            <a:r>
              <a:rPr dirty="0" sz="1550" spc="-50">
                <a:latin typeface="Times New Roman"/>
                <a:cs typeface="Times New Roman"/>
              </a:rPr>
              <a:t>V</a:t>
            </a:r>
            <a:endParaRPr sz="1550">
              <a:latin typeface="Times New Roman"/>
              <a:cs typeface="Times New Roman"/>
            </a:endParaRPr>
          </a:p>
        </p:txBody>
      </p:sp>
      <p:graphicFrame>
        <p:nvGraphicFramePr>
          <p:cNvPr id="21" name="object 21" descr=""/>
          <p:cNvGraphicFramePr>
            <a:graphicFrameLocks noGrp="1"/>
          </p:cNvGraphicFramePr>
          <p:nvPr/>
        </p:nvGraphicFramePr>
        <p:xfrm>
          <a:off x="5073837" y="4158474"/>
          <a:ext cx="652145" cy="1647189"/>
        </p:xfrm>
        <a:graphic>
          <a:graphicData uri="http://schemas.openxmlformats.org/drawingml/2006/table">
            <a:tbl>
              <a:tblPr firstRow="1" bandRow="1">
                <a:tableStyleId>{2D5ABB26-0587-4C30-8999-92F81FD0307C}</a:tableStyleId>
              </a:tblPr>
              <a:tblGrid>
                <a:gridCol w="560070"/>
              </a:tblGrid>
              <a:tr h="411480">
                <a:tc>
                  <a:txBody>
                    <a:bodyPr/>
                    <a:lstStyle/>
                    <a:p>
                      <a:pPr marL="116839">
                        <a:lnSpc>
                          <a:spcPct val="100000"/>
                        </a:lnSpc>
                        <a:spcBef>
                          <a:spcPts val="815"/>
                        </a:spcBef>
                      </a:pPr>
                      <a:r>
                        <a:rPr dirty="0" sz="1550" spc="-25" b="1">
                          <a:solidFill>
                            <a:srgbClr val="993300"/>
                          </a:solidFill>
                          <a:latin typeface="Times New Roman"/>
                          <a:cs typeface="Times New Roman"/>
                        </a:rPr>
                        <a:t>100</a:t>
                      </a:r>
                      <a:endParaRPr sz="1550">
                        <a:latin typeface="Times New Roman"/>
                        <a:cs typeface="Times New Roman"/>
                      </a:endParaRPr>
                    </a:p>
                  </a:txBody>
                  <a:tcPr marL="0" marR="0" marB="0" marT="1035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412115">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411480">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412115">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graphicFrame>
        <p:nvGraphicFramePr>
          <p:cNvPr id="22" name="object 22" descr=""/>
          <p:cNvGraphicFramePr>
            <a:graphicFrameLocks noGrp="1"/>
          </p:cNvGraphicFramePr>
          <p:nvPr/>
        </p:nvGraphicFramePr>
        <p:xfrm>
          <a:off x="5774787" y="4158495"/>
          <a:ext cx="5781675" cy="1640839"/>
        </p:xfrm>
        <a:graphic>
          <a:graphicData uri="http://schemas.openxmlformats.org/drawingml/2006/table">
            <a:tbl>
              <a:tblPr firstRow="1" bandRow="1">
                <a:tableStyleId>{2D5ABB26-0587-4C30-8999-92F81FD0307C}</a:tableStyleId>
              </a:tblPr>
              <a:tblGrid>
                <a:gridCol w="325755"/>
                <a:gridCol w="1073784"/>
                <a:gridCol w="325119"/>
                <a:gridCol w="1073784"/>
                <a:gridCol w="373380"/>
                <a:gridCol w="1070609"/>
                <a:gridCol w="373379"/>
                <a:gridCol w="1073785"/>
              </a:tblGrid>
              <a:tr h="401320">
                <a:tc>
                  <a:txBody>
                    <a:bodyPr/>
                    <a:lstStyle/>
                    <a:p>
                      <a:pPr algn="ctr" marL="15240">
                        <a:lnSpc>
                          <a:spcPct val="100000"/>
                        </a:lnSpc>
                        <a:spcBef>
                          <a:spcPts val="805"/>
                        </a:spcBef>
                      </a:pPr>
                      <a:r>
                        <a:rPr dirty="0" sz="1550" spc="-50">
                          <a:solidFill>
                            <a:srgbClr val="0000FF"/>
                          </a:solidFill>
                          <a:latin typeface="Times New Roman"/>
                          <a:cs typeface="Times New Roman"/>
                        </a:rPr>
                        <a:t>1</a:t>
                      </a:r>
                      <a:endParaRPr sz="1550">
                        <a:latin typeface="Times New Roman"/>
                        <a:cs typeface="Times New Roman"/>
                      </a:endParaRPr>
                    </a:p>
                  </a:txBody>
                  <a:tcPr marL="0" marR="0" marB="0" marT="102235">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marL="125095">
                        <a:lnSpc>
                          <a:spcPct val="100000"/>
                        </a:lnSpc>
                        <a:spcBef>
                          <a:spcPts val="660"/>
                        </a:spcBef>
                      </a:pPr>
                      <a:r>
                        <a:rPr dirty="0" sz="1550" spc="-10">
                          <a:latin typeface="Times New Roman"/>
                          <a:cs typeface="Times New Roman"/>
                        </a:rPr>
                        <a:t>Mem[100]</a:t>
                      </a:r>
                      <a:endParaRPr sz="1550">
                        <a:latin typeface="Times New Roman"/>
                        <a:cs typeface="Times New Roman"/>
                      </a:endParaRPr>
                    </a:p>
                  </a:txBody>
                  <a:tcPr marL="0" marR="0" marB="0" marT="83820">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algn="ctr">
                        <a:lnSpc>
                          <a:spcPct val="100000"/>
                        </a:lnSpc>
                        <a:spcBef>
                          <a:spcPts val="805"/>
                        </a:spcBef>
                      </a:pPr>
                      <a:r>
                        <a:rPr dirty="0" sz="1550" spc="-50">
                          <a:solidFill>
                            <a:srgbClr val="0000FF"/>
                          </a:solidFill>
                          <a:latin typeface="Times New Roman"/>
                          <a:cs typeface="Times New Roman"/>
                        </a:rPr>
                        <a:t>1</a:t>
                      </a:r>
                      <a:endParaRPr sz="1550">
                        <a:latin typeface="Times New Roman"/>
                        <a:cs typeface="Times New Roman"/>
                      </a:endParaRPr>
                    </a:p>
                  </a:txBody>
                  <a:tcPr marL="0" marR="0" marB="0" marT="102235">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marL="122555">
                        <a:lnSpc>
                          <a:spcPct val="100000"/>
                        </a:lnSpc>
                        <a:spcBef>
                          <a:spcPts val="660"/>
                        </a:spcBef>
                      </a:pPr>
                      <a:r>
                        <a:rPr dirty="0" sz="1550" spc="-10">
                          <a:latin typeface="Times New Roman"/>
                          <a:cs typeface="Times New Roman"/>
                        </a:rPr>
                        <a:t>Mem[108]</a:t>
                      </a:r>
                      <a:endParaRPr sz="1550">
                        <a:latin typeface="Times New Roman"/>
                        <a:cs typeface="Times New Roman"/>
                      </a:endParaRPr>
                    </a:p>
                  </a:txBody>
                  <a:tcPr marL="0" marR="0" marB="0" marT="83820">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algn="ctr" marL="34925">
                        <a:lnSpc>
                          <a:spcPct val="100000"/>
                        </a:lnSpc>
                        <a:spcBef>
                          <a:spcPts val="805"/>
                        </a:spcBef>
                      </a:pPr>
                      <a:r>
                        <a:rPr dirty="0" sz="1550" spc="-50">
                          <a:solidFill>
                            <a:srgbClr val="0000FF"/>
                          </a:solidFill>
                          <a:latin typeface="Times New Roman"/>
                          <a:cs typeface="Times New Roman"/>
                        </a:rPr>
                        <a:t>1</a:t>
                      </a:r>
                      <a:endParaRPr sz="1550">
                        <a:latin typeface="Times New Roman"/>
                        <a:cs typeface="Times New Roman"/>
                      </a:endParaRPr>
                    </a:p>
                  </a:txBody>
                  <a:tcPr marL="0" marR="0" marB="0" marT="102235">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marL="132715">
                        <a:lnSpc>
                          <a:spcPct val="100000"/>
                        </a:lnSpc>
                        <a:spcBef>
                          <a:spcPts val="700"/>
                        </a:spcBef>
                      </a:pPr>
                      <a:r>
                        <a:rPr dirty="0" sz="1550" spc="-10">
                          <a:latin typeface="Times New Roman"/>
                          <a:cs typeface="Times New Roman"/>
                        </a:rPr>
                        <a:t>Mem[116]</a:t>
                      </a:r>
                      <a:endParaRPr sz="1550">
                        <a:latin typeface="Times New Roman"/>
                        <a:cs typeface="Times New Roman"/>
                      </a:endParaRPr>
                    </a:p>
                  </a:txBody>
                  <a:tcPr marL="0" marR="0" marB="0" marT="88900">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algn="r" marR="102235">
                        <a:lnSpc>
                          <a:spcPct val="100000"/>
                        </a:lnSpc>
                        <a:spcBef>
                          <a:spcPts val="910"/>
                        </a:spcBef>
                      </a:pPr>
                      <a:r>
                        <a:rPr dirty="0" sz="1550" spc="-50">
                          <a:solidFill>
                            <a:srgbClr val="0000FF"/>
                          </a:solidFill>
                          <a:latin typeface="Times New Roman"/>
                          <a:cs typeface="Times New Roman"/>
                        </a:rPr>
                        <a:t>1</a:t>
                      </a:r>
                      <a:endParaRPr sz="1550">
                        <a:latin typeface="Times New Roman"/>
                        <a:cs typeface="Times New Roman"/>
                      </a:endParaRPr>
                    </a:p>
                  </a:txBody>
                  <a:tcPr marL="0" marR="0" marB="0" marT="115570">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c>
                  <a:txBody>
                    <a:bodyPr/>
                    <a:lstStyle/>
                    <a:p>
                      <a:pPr marL="125095">
                        <a:lnSpc>
                          <a:spcPct val="100000"/>
                        </a:lnSpc>
                        <a:spcBef>
                          <a:spcPts val="700"/>
                        </a:spcBef>
                      </a:pPr>
                      <a:r>
                        <a:rPr dirty="0" sz="1550" spc="-10">
                          <a:latin typeface="Times New Roman"/>
                          <a:cs typeface="Times New Roman"/>
                        </a:rPr>
                        <a:t>Mem[124]</a:t>
                      </a:r>
                      <a:endParaRPr sz="1550">
                        <a:latin typeface="Times New Roman"/>
                        <a:cs typeface="Times New Roman"/>
                      </a:endParaRPr>
                    </a:p>
                  </a:txBody>
                  <a:tcPr marL="0" marR="0" marB="0" marT="88900">
                    <a:lnL w="19050">
                      <a:solidFill>
                        <a:srgbClr val="000000"/>
                      </a:solidFill>
                      <a:prstDash val="solid"/>
                    </a:lnL>
                    <a:lnR w="19050">
                      <a:solidFill>
                        <a:srgbClr val="000000"/>
                      </a:solidFill>
                      <a:prstDash val="solid"/>
                    </a:lnR>
                    <a:lnT w="38100">
                      <a:solidFill>
                        <a:srgbClr val="000000"/>
                      </a:solidFill>
                      <a:prstDash val="solid"/>
                    </a:lnT>
                    <a:lnB w="28575">
                      <a:solidFill>
                        <a:srgbClr val="000000"/>
                      </a:solidFill>
                      <a:prstDash val="solid"/>
                    </a:lnB>
                    <a:solidFill>
                      <a:srgbClr val="FFC8E3"/>
                    </a:solidFill>
                  </a:tcPr>
                </a:tc>
              </a:tr>
              <a:tr h="415925">
                <a:tc>
                  <a:txBody>
                    <a:bodyPr/>
                    <a:lstStyle/>
                    <a:p>
                      <a:pPr algn="ctr" marL="24765">
                        <a:lnSpc>
                          <a:spcPct val="100000"/>
                        </a:lnSpc>
                        <a:spcBef>
                          <a:spcPts val="1015"/>
                        </a:spcBef>
                      </a:pPr>
                      <a:r>
                        <a:rPr dirty="0" sz="1550" spc="-50">
                          <a:latin typeface="Times New Roman"/>
                          <a:cs typeface="Times New Roman"/>
                        </a:rPr>
                        <a:t>0</a:t>
                      </a:r>
                      <a:endParaRPr sz="1550">
                        <a:latin typeface="Times New Roman"/>
                        <a:cs typeface="Times New Roman"/>
                      </a:endParaRPr>
                    </a:p>
                  </a:txBody>
                  <a:tcPr marL="0" marR="0" marB="0" marT="128905">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gn="ctr" marL="4445">
                        <a:lnSpc>
                          <a:spcPct val="100000"/>
                        </a:lnSpc>
                        <a:spcBef>
                          <a:spcPts val="1015"/>
                        </a:spcBef>
                      </a:pPr>
                      <a:r>
                        <a:rPr dirty="0" sz="1550" spc="-50">
                          <a:latin typeface="Times New Roman"/>
                          <a:cs typeface="Times New Roman"/>
                        </a:rPr>
                        <a:t>0</a:t>
                      </a:r>
                      <a:endParaRPr sz="1550">
                        <a:latin typeface="Times New Roman"/>
                        <a:cs typeface="Times New Roman"/>
                      </a:endParaRPr>
                    </a:p>
                  </a:txBody>
                  <a:tcPr marL="0" marR="0" marB="0" marT="128905">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gn="ctr" marL="46355">
                        <a:lnSpc>
                          <a:spcPct val="100000"/>
                        </a:lnSpc>
                        <a:spcBef>
                          <a:spcPts val="1015"/>
                        </a:spcBef>
                      </a:pPr>
                      <a:r>
                        <a:rPr dirty="0" sz="1550" spc="-50">
                          <a:latin typeface="Times New Roman"/>
                          <a:cs typeface="Times New Roman"/>
                        </a:rPr>
                        <a:t>0</a:t>
                      </a:r>
                      <a:endParaRPr sz="1550">
                        <a:latin typeface="Times New Roman"/>
                        <a:cs typeface="Times New Roman"/>
                      </a:endParaRPr>
                    </a:p>
                  </a:txBody>
                  <a:tcPr marL="0" marR="0" marB="0" marT="128905">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gn="r" marR="99695">
                        <a:lnSpc>
                          <a:spcPct val="100000"/>
                        </a:lnSpc>
                        <a:spcBef>
                          <a:spcPts val="1140"/>
                        </a:spcBef>
                      </a:pPr>
                      <a:r>
                        <a:rPr dirty="0" sz="1550" spc="-50">
                          <a:latin typeface="Times New Roman"/>
                          <a:cs typeface="Times New Roman"/>
                        </a:rPr>
                        <a:t>0</a:t>
                      </a:r>
                      <a:endParaRPr sz="1550">
                        <a:latin typeface="Times New Roman"/>
                        <a:cs typeface="Times New Roman"/>
                      </a:endParaRPr>
                    </a:p>
                  </a:txBody>
                  <a:tcPr marL="0" marR="0" marB="0" marT="14478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solidFill>
                      <a:srgbClr val="FFFF99"/>
                    </a:solidFill>
                  </a:tcPr>
                </a:tc>
              </a:tr>
              <a:tr h="411480">
                <a:tc>
                  <a:txBody>
                    <a:bodyPr/>
                    <a:lstStyle/>
                    <a:p>
                      <a:pPr algn="ctr" marL="20320">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41275">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102235">
                        <a:lnSpc>
                          <a:spcPct val="100000"/>
                        </a:lnSpc>
                        <a:spcBef>
                          <a:spcPts val="1045"/>
                        </a:spcBef>
                      </a:pPr>
                      <a:r>
                        <a:rPr dirty="0" sz="1550" spc="-50">
                          <a:latin typeface="Times New Roman"/>
                          <a:cs typeface="Times New Roman"/>
                        </a:rPr>
                        <a:t>0</a:t>
                      </a:r>
                      <a:endParaRPr sz="1550">
                        <a:latin typeface="Times New Roman"/>
                        <a:cs typeface="Times New Roman"/>
                      </a:endParaRPr>
                    </a:p>
                  </a:txBody>
                  <a:tcPr marL="0" marR="0" marB="0" marT="13271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r h="412115">
                <a:tc>
                  <a:txBody>
                    <a:bodyPr/>
                    <a:lstStyle/>
                    <a:p>
                      <a:pPr algn="ctr" marL="20320">
                        <a:lnSpc>
                          <a:spcPct val="100000"/>
                        </a:lnSpc>
                        <a:spcBef>
                          <a:spcPts val="795"/>
                        </a:spcBef>
                      </a:pPr>
                      <a:r>
                        <a:rPr dirty="0" sz="1550" spc="-50">
                          <a:latin typeface="Times New Roman"/>
                          <a:cs typeface="Times New Roman"/>
                        </a:rPr>
                        <a:t>0</a:t>
                      </a:r>
                      <a:endParaRPr sz="1550">
                        <a:latin typeface="Times New Roman"/>
                        <a:cs typeface="Times New Roman"/>
                      </a:endParaRPr>
                    </a:p>
                  </a:txBody>
                  <a:tcPr marL="0" marR="0" marB="0" marT="1009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a:lnSpc>
                          <a:spcPct val="100000"/>
                        </a:lnSpc>
                        <a:spcBef>
                          <a:spcPts val="795"/>
                        </a:spcBef>
                      </a:pPr>
                      <a:r>
                        <a:rPr dirty="0" sz="1550" spc="-50">
                          <a:latin typeface="Times New Roman"/>
                          <a:cs typeface="Times New Roman"/>
                        </a:rPr>
                        <a:t>0</a:t>
                      </a:r>
                      <a:endParaRPr sz="1550">
                        <a:latin typeface="Times New Roman"/>
                        <a:cs typeface="Times New Roman"/>
                      </a:endParaRPr>
                    </a:p>
                  </a:txBody>
                  <a:tcPr marL="0" marR="0" marB="0" marT="1009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ctr" marL="41275">
                        <a:lnSpc>
                          <a:spcPct val="100000"/>
                        </a:lnSpc>
                        <a:spcBef>
                          <a:spcPts val="795"/>
                        </a:spcBef>
                      </a:pPr>
                      <a:r>
                        <a:rPr dirty="0" sz="1550" spc="-50">
                          <a:latin typeface="Times New Roman"/>
                          <a:cs typeface="Times New Roman"/>
                        </a:rPr>
                        <a:t>0</a:t>
                      </a:r>
                      <a:endParaRPr sz="1550">
                        <a:latin typeface="Times New Roman"/>
                        <a:cs typeface="Times New Roman"/>
                      </a:endParaRPr>
                    </a:p>
                  </a:txBody>
                  <a:tcPr marL="0" marR="0" marB="0" marT="10096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gn="r" marR="102235">
                        <a:lnSpc>
                          <a:spcPct val="100000"/>
                        </a:lnSpc>
                        <a:spcBef>
                          <a:spcPts val="919"/>
                        </a:spcBef>
                      </a:pPr>
                      <a:r>
                        <a:rPr dirty="0" sz="1550" spc="-50">
                          <a:latin typeface="Times New Roman"/>
                          <a:cs typeface="Times New Roman"/>
                        </a:rPr>
                        <a:t>0</a:t>
                      </a:r>
                      <a:endParaRPr sz="1550">
                        <a:latin typeface="Times New Roman"/>
                        <a:cs typeface="Times New Roman"/>
                      </a:endParaRPr>
                    </a:p>
                  </a:txBody>
                  <a:tcPr marL="0" marR="0" marB="0" marT="11683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c>
                  <a:txBody>
                    <a:bodyPr/>
                    <a:lstStyle/>
                    <a:p>
                      <a:pPr>
                        <a:lnSpc>
                          <a:spcPct val="100000"/>
                        </a:lnSpc>
                      </a:pPr>
                      <a:endParaRPr sz="20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99"/>
                    </a:solidFill>
                  </a:tcPr>
                </a:tc>
              </a:tr>
            </a:tbl>
          </a:graphicData>
        </a:graphic>
      </p:graphicFrame>
      <p:sp>
        <p:nvSpPr>
          <p:cNvPr id="23" name="object 23" descr=""/>
          <p:cNvSpPr txBox="1"/>
          <p:nvPr/>
        </p:nvSpPr>
        <p:spPr>
          <a:xfrm>
            <a:off x="5045492" y="3889132"/>
            <a:ext cx="972819" cy="266065"/>
          </a:xfrm>
          <a:prstGeom prst="rect">
            <a:avLst/>
          </a:prstGeom>
        </p:spPr>
        <p:txBody>
          <a:bodyPr wrap="square" lIns="0" tIns="15875" rIns="0" bIns="0" rtlCol="0" vert="horz">
            <a:spAutoFit/>
          </a:bodyPr>
          <a:lstStyle/>
          <a:p>
            <a:pPr marL="12700">
              <a:lnSpc>
                <a:spcPct val="100000"/>
              </a:lnSpc>
              <a:spcBef>
                <a:spcPts val="125"/>
              </a:spcBef>
              <a:tabLst>
                <a:tab pos="814069" algn="l"/>
              </a:tabLst>
            </a:pPr>
            <a:r>
              <a:rPr dirty="0" sz="1550">
                <a:solidFill>
                  <a:srgbClr val="000080"/>
                </a:solidFill>
                <a:latin typeface="宋体"/>
                <a:cs typeface="宋体"/>
              </a:rPr>
              <a:t>写地</a:t>
            </a:r>
            <a:r>
              <a:rPr dirty="0" sz="1550" spc="-50">
                <a:solidFill>
                  <a:srgbClr val="000080"/>
                </a:solidFill>
                <a:latin typeface="宋体"/>
                <a:cs typeface="宋体"/>
              </a:rPr>
              <a:t>址</a:t>
            </a:r>
            <a:r>
              <a:rPr dirty="0" sz="1550">
                <a:solidFill>
                  <a:srgbClr val="000080"/>
                </a:solidFill>
                <a:latin typeface="宋体"/>
                <a:cs typeface="宋体"/>
              </a:rPr>
              <a:t>	</a:t>
            </a:r>
            <a:r>
              <a:rPr dirty="0" sz="1550" spc="-50">
                <a:latin typeface="Times New Roman"/>
                <a:cs typeface="Times New Roman"/>
              </a:rPr>
              <a:t>V</a:t>
            </a:r>
            <a:endParaRPr sz="1550">
              <a:latin typeface="Times New Roman"/>
              <a:cs typeface="Times New Roman"/>
            </a:endParaRPr>
          </a:p>
        </p:txBody>
      </p:sp>
      <p:sp>
        <p:nvSpPr>
          <p:cNvPr id="24" name="object 24" descr=""/>
          <p:cNvSpPr txBox="1"/>
          <p:nvPr/>
        </p:nvSpPr>
        <p:spPr>
          <a:xfrm>
            <a:off x="7470430" y="3391942"/>
            <a:ext cx="1731645" cy="266065"/>
          </a:xfrm>
          <a:prstGeom prst="rect">
            <a:avLst/>
          </a:prstGeom>
        </p:spPr>
        <p:txBody>
          <a:bodyPr wrap="square" lIns="0" tIns="15875" rIns="0" bIns="0" rtlCol="0" vert="horz">
            <a:spAutoFit/>
          </a:bodyPr>
          <a:lstStyle/>
          <a:p>
            <a:pPr marL="12700">
              <a:lnSpc>
                <a:spcPct val="100000"/>
              </a:lnSpc>
              <a:spcBef>
                <a:spcPts val="125"/>
              </a:spcBef>
            </a:pPr>
            <a:r>
              <a:rPr dirty="0" sz="1550">
                <a:latin typeface="宋体"/>
                <a:cs typeface="宋体"/>
              </a:rPr>
              <a:t>（</a:t>
            </a:r>
            <a:r>
              <a:rPr dirty="0" sz="1550" b="1">
                <a:latin typeface="Times New Roman"/>
                <a:cs typeface="Times New Roman"/>
              </a:rPr>
              <a:t>a</a:t>
            </a:r>
            <a:r>
              <a:rPr dirty="0" sz="1550">
                <a:latin typeface="宋体"/>
                <a:cs typeface="宋体"/>
              </a:rPr>
              <a:t>）</a:t>
            </a:r>
            <a:r>
              <a:rPr dirty="0" sz="1550" spc="-10">
                <a:latin typeface="宋体"/>
                <a:cs typeface="宋体"/>
              </a:rPr>
              <a:t>不采用写合并</a:t>
            </a:r>
            <a:endParaRPr sz="1550">
              <a:latin typeface="宋体"/>
              <a:cs typeface="宋体"/>
            </a:endParaRPr>
          </a:p>
        </p:txBody>
      </p:sp>
      <p:sp>
        <p:nvSpPr>
          <p:cNvPr id="25" name="object 25" descr=""/>
          <p:cNvSpPr txBox="1"/>
          <p:nvPr/>
        </p:nvSpPr>
        <p:spPr>
          <a:xfrm>
            <a:off x="7470430" y="5948365"/>
            <a:ext cx="1742439" cy="266065"/>
          </a:xfrm>
          <a:prstGeom prst="rect">
            <a:avLst/>
          </a:prstGeom>
        </p:spPr>
        <p:txBody>
          <a:bodyPr wrap="square" lIns="0" tIns="15875" rIns="0" bIns="0" rtlCol="0" vert="horz">
            <a:spAutoFit/>
          </a:bodyPr>
          <a:lstStyle/>
          <a:p>
            <a:pPr marL="12700">
              <a:lnSpc>
                <a:spcPct val="100000"/>
              </a:lnSpc>
              <a:spcBef>
                <a:spcPts val="125"/>
              </a:spcBef>
            </a:pPr>
            <a:r>
              <a:rPr dirty="0" sz="1550">
                <a:latin typeface="宋体"/>
                <a:cs typeface="宋体"/>
              </a:rPr>
              <a:t>（</a:t>
            </a:r>
            <a:r>
              <a:rPr dirty="0" sz="1550" b="1">
                <a:latin typeface="Times New Roman"/>
                <a:cs typeface="Times New Roman"/>
              </a:rPr>
              <a:t>b</a:t>
            </a:r>
            <a:r>
              <a:rPr dirty="0" sz="1550">
                <a:latin typeface="宋体"/>
                <a:cs typeface="宋体"/>
              </a:rPr>
              <a:t>）</a:t>
            </a:r>
            <a:r>
              <a:rPr dirty="0" sz="1550" spc="-10">
                <a:latin typeface="宋体"/>
                <a:cs typeface="宋体"/>
              </a:rPr>
              <a:t>采用了写合并</a:t>
            </a:r>
            <a:endParaRPr sz="1550">
              <a:latin typeface="宋体"/>
              <a:cs typeface="宋体"/>
            </a:endParaRPr>
          </a:p>
        </p:txBody>
      </p:sp>
      <p:sp>
        <p:nvSpPr>
          <p:cNvPr id="26" name="object 26" descr=""/>
          <p:cNvSpPr txBox="1"/>
          <p:nvPr/>
        </p:nvSpPr>
        <p:spPr>
          <a:xfrm>
            <a:off x="900480" y="603250"/>
            <a:ext cx="109982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09FF"/>
                </a:solidFill>
                <a:latin typeface="黑体"/>
                <a:cs typeface="黑体"/>
              </a:rPr>
              <a:t>提高了写缓冲器的空间利用率，而且还能减少因写缓冲器满而要进行的等待时间。</a:t>
            </a:r>
            <a:endParaRPr sz="2400">
              <a:latin typeface="黑体"/>
              <a:cs typeface="黑体"/>
            </a:endParaRPr>
          </a:p>
        </p:txBody>
      </p:sp>
      <p:sp>
        <p:nvSpPr>
          <p:cNvPr id="27" name="object 27" descr=""/>
          <p:cNvSpPr txBox="1"/>
          <p:nvPr/>
        </p:nvSpPr>
        <p:spPr>
          <a:xfrm>
            <a:off x="708151" y="1925828"/>
            <a:ext cx="4126865" cy="1489075"/>
          </a:xfrm>
          <a:prstGeom prst="rect">
            <a:avLst/>
          </a:prstGeom>
        </p:spPr>
        <p:txBody>
          <a:bodyPr wrap="square" lIns="0" tIns="12700" rIns="0" bIns="0" rtlCol="0" vert="horz">
            <a:spAutoFit/>
          </a:bodyPr>
          <a:lstStyle/>
          <a:p>
            <a:pPr marL="12700" marR="172085">
              <a:lnSpc>
                <a:spcPct val="100000"/>
              </a:lnSpc>
              <a:spcBef>
                <a:spcPts val="100"/>
              </a:spcBef>
            </a:pPr>
            <a:r>
              <a:rPr dirty="0" sz="2400">
                <a:solidFill>
                  <a:srgbClr val="FF09FF"/>
                </a:solidFill>
                <a:latin typeface="黑体"/>
                <a:cs typeface="黑体"/>
              </a:rPr>
              <a:t>每行</a:t>
            </a:r>
            <a:r>
              <a:rPr dirty="0" sz="2400" spc="-25">
                <a:solidFill>
                  <a:srgbClr val="FF09FF"/>
                </a:solidFill>
                <a:latin typeface="Tahoma"/>
                <a:cs typeface="Tahoma"/>
              </a:rPr>
              <a:t>4</a:t>
            </a:r>
            <a:r>
              <a:rPr dirty="0" sz="2400" spc="-95">
                <a:solidFill>
                  <a:srgbClr val="FF09FF"/>
                </a:solidFill>
                <a:latin typeface="黑体"/>
                <a:cs typeface="黑体"/>
              </a:rPr>
              <a:t>个项 存放</a:t>
            </a:r>
            <a:r>
              <a:rPr dirty="0" sz="2400" spc="-25">
                <a:solidFill>
                  <a:srgbClr val="FF09FF"/>
                </a:solidFill>
                <a:latin typeface="Tahoma"/>
                <a:cs typeface="Tahoma"/>
              </a:rPr>
              <a:t>4</a:t>
            </a:r>
            <a:r>
              <a:rPr dirty="0" sz="2400" spc="-5">
                <a:solidFill>
                  <a:srgbClr val="FF09FF"/>
                </a:solidFill>
                <a:latin typeface="黑体"/>
                <a:cs typeface="黑体"/>
              </a:rPr>
              <a:t>个字，</a:t>
            </a:r>
            <a:r>
              <a:rPr dirty="0" sz="2400" spc="-10">
                <a:solidFill>
                  <a:srgbClr val="FF09FF"/>
                </a:solidFill>
                <a:latin typeface="Tahoma"/>
                <a:cs typeface="Tahoma"/>
              </a:rPr>
              <a:t>v</a:t>
            </a:r>
            <a:r>
              <a:rPr dirty="0" sz="2400" spc="-25">
                <a:solidFill>
                  <a:srgbClr val="FF09FF"/>
                </a:solidFill>
                <a:latin typeface="黑体"/>
                <a:cs typeface="黑体"/>
              </a:rPr>
              <a:t>为有效位。</a:t>
            </a:r>
            <a:endParaRPr sz="2400">
              <a:latin typeface="黑体"/>
              <a:cs typeface="黑体"/>
            </a:endParaRPr>
          </a:p>
          <a:p>
            <a:pPr marL="12700">
              <a:lnSpc>
                <a:spcPct val="100000"/>
              </a:lnSpc>
            </a:pPr>
            <a:r>
              <a:rPr dirty="0" sz="2400" spc="-10">
                <a:solidFill>
                  <a:srgbClr val="FF09FF"/>
                </a:solidFill>
                <a:latin typeface="Tahoma"/>
                <a:cs typeface="Tahoma"/>
              </a:rPr>
              <a:t>CPU</a:t>
            </a:r>
            <a:r>
              <a:rPr dirty="0" sz="2400">
                <a:solidFill>
                  <a:srgbClr val="FF09FF"/>
                </a:solidFill>
                <a:latin typeface="黑体"/>
                <a:cs typeface="黑体"/>
              </a:rPr>
              <a:t>连续写了</a:t>
            </a:r>
            <a:r>
              <a:rPr dirty="0" sz="2400" spc="-25">
                <a:solidFill>
                  <a:srgbClr val="FF09FF"/>
                </a:solidFill>
                <a:latin typeface="Tahoma"/>
                <a:cs typeface="Tahoma"/>
              </a:rPr>
              <a:t>4</a:t>
            </a:r>
            <a:r>
              <a:rPr dirty="0" sz="2400" spc="-50">
                <a:solidFill>
                  <a:srgbClr val="FF09FF"/>
                </a:solidFill>
                <a:latin typeface="黑体"/>
                <a:cs typeface="黑体"/>
              </a:rPr>
              <a:t>次</a:t>
            </a:r>
            <a:endParaRPr sz="2400">
              <a:latin typeface="黑体"/>
              <a:cs typeface="黑体"/>
            </a:endParaRPr>
          </a:p>
          <a:p>
            <a:pPr marL="12700">
              <a:lnSpc>
                <a:spcPct val="100000"/>
              </a:lnSpc>
            </a:pPr>
            <a:r>
              <a:rPr dirty="0" sz="2400" spc="-20">
                <a:solidFill>
                  <a:srgbClr val="FF09FF"/>
                </a:solidFill>
                <a:latin typeface="黑体"/>
                <a:cs typeface="黑体"/>
              </a:rPr>
              <a:t>（</a:t>
            </a:r>
            <a:r>
              <a:rPr dirty="0" sz="2400" spc="-20">
                <a:solidFill>
                  <a:srgbClr val="FF09FF"/>
                </a:solidFill>
                <a:latin typeface="Tahoma"/>
                <a:cs typeface="Tahoma"/>
              </a:rPr>
              <a:t>100,108,116,124</a:t>
            </a:r>
            <a:r>
              <a:rPr dirty="0" sz="2400" spc="-20">
                <a:solidFill>
                  <a:srgbClr val="FF09FF"/>
                </a:solidFill>
                <a:latin typeface="黑体"/>
                <a:cs typeface="黑体"/>
              </a:rPr>
              <a:t>），已写满</a:t>
            </a:r>
            <a:endParaRPr sz="2400">
              <a:latin typeface="黑体"/>
              <a:cs typeface="黑体"/>
            </a:endParaRPr>
          </a:p>
        </p:txBody>
      </p:sp>
      <p:sp>
        <p:nvSpPr>
          <p:cNvPr id="28" name="object 28" descr=""/>
          <p:cNvSpPr txBox="1"/>
          <p:nvPr/>
        </p:nvSpPr>
        <p:spPr>
          <a:xfrm>
            <a:off x="467055" y="4119448"/>
            <a:ext cx="3987800" cy="1845945"/>
          </a:xfrm>
          <a:prstGeom prst="rect">
            <a:avLst/>
          </a:prstGeom>
        </p:spPr>
        <p:txBody>
          <a:bodyPr wrap="square" lIns="0" tIns="15240" rIns="0" bIns="0" rtlCol="0" vert="horz">
            <a:spAutoFit/>
          </a:bodyPr>
          <a:lstStyle/>
          <a:p>
            <a:pPr algn="just" marL="12700" marR="5080">
              <a:lnSpc>
                <a:spcPct val="99400"/>
              </a:lnSpc>
              <a:spcBef>
                <a:spcPts val="120"/>
              </a:spcBef>
            </a:pPr>
            <a:r>
              <a:rPr dirty="0" sz="2400" spc="-15">
                <a:solidFill>
                  <a:srgbClr val="FF09FF"/>
                </a:solidFill>
                <a:latin typeface="黑体"/>
                <a:cs typeface="黑体"/>
              </a:rPr>
              <a:t>将每次写的地址与写缓冲器中</a:t>
            </a:r>
            <a:r>
              <a:rPr dirty="0" sz="2400" spc="-5">
                <a:solidFill>
                  <a:srgbClr val="FF09FF"/>
                </a:solidFill>
                <a:latin typeface="黑体"/>
                <a:cs typeface="黑体"/>
              </a:rPr>
              <a:t>的地址比较，是否有匹配项？如果有且空闲则把这次写入的数据与该项合并，即为写缓冲</a:t>
            </a:r>
            <a:r>
              <a:rPr dirty="0" sz="2400" spc="-25">
                <a:solidFill>
                  <a:srgbClr val="FF09FF"/>
                </a:solidFill>
                <a:latin typeface="黑体"/>
                <a:cs typeface="黑体"/>
              </a:rPr>
              <a:t>合并。</a:t>
            </a:r>
            <a:endParaRPr sz="2400">
              <a:latin typeface="黑体"/>
              <a:cs typeface="黑体"/>
            </a:endParaRPr>
          </a:p>
        </p:txBody>
      </p:sp>
      <p:sp>
        <p:nvSpPr>
          <p:cNvPr id="29" name="object 29" descr=""/>
          <p:cNvSpPr txBox="1"/>
          <p:nvPr/>
        </p:nvSpPr>
        <p:spPr>
          <a:xfrm>
            <a:off x="660603" y="1168146"/>
            <a:ext cx="2159000"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2C44A3"/>
                </a:solidFill>
                <a:latin typeface="黑体"/>
                <a:cs typeface="黑体"/>
              </a:rPr>
              <a:t>当写缓冲区不空</a:t>
            </a:r>
            <a:endParaRPr sz="2400">
              <a:latin typeface="黑体"/>
              <a:cs typeface="黑体"/>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40839" y="36068"/>
            <a:ext cx="4700270" cy="513715"/>
          </a:xfrm>
          <a:prstGeom prst="rect"/>
        </p:spPr>
        <p:txBody>
          <a:bodyPr wrap="square" lIns="0" tIns="12700" rIns="0" bIns="0" rtlCol="0" vert="horz">
            <a:spAutoFit/>
          </a:bodyPr>
          <a:lstStyle/>
          <a:p>
            <a:pPr marL="12700">
              <a:lnSpc>
                <a:spcPct val="100000"/>
              </a:lnSpc>
              <a:spcBef>
                <a:spcPts val="100"/>
              </a:spcBef>
            </a:pPr>
            <a:r>
              <a:rPr dirty="0" u="none" sz="3200"/>
              <a:t>7.4</a:t>
            </a:r>
            <a:r>
              <a:rPr dirty="0" u="none" sz="3200" spc="5"/>
              <a:t> 减少</a:t>
            </a:r>
            <a:r>
              <a:rPr dirty="0" u="none" sz="3200" spc="-10"/>
              <a:t>Cache</a:t>
            </a:r>
            <a:r>
              <a:rPr dirty="0" u="none" sz="3200" spc="-15"/>
              <a:t>不命中开销</a:t>
            </a:r>
            <a:endParaRPr sz="3200"/>
          </a:p>
        </p:txBody>
      </p:sp>
      <p:sp>
        <p:nvSpPr>
          <p:cNvPr id="10" name="object 10" descr=""/>
          <p:cNvSpPr txBox="1"/>
          <p:nvPr/>
        </p:nvSpPr>
        <p:spPr>
          <a:xfrm>
            <a:off x="342391" y="968501"/>
            <a:ext cx="11875770" cy="5158740"/>
          </a:xfrm>
          <a:prstGeom prst="rect">
            <a:avLst/>
          </a:prstGeom>
        </p:spPr>
        <p:txBody>
          <a:bodyPr wrap="square" lIns="0" tIns="122555" rIns="0" bIns="0" rtlCol="0" vert="horz">
            <a:spAutoFit/>
          </a:bodyPr>
          <a:lstStyle/>
          <a:p>
            <a:pPr marL="469265" indent="-456565">
              <a:lnSpc>
                <a:spcPct val="100000"/>
              </a:lnSpc>
              <a:spcBef>
                <a:spcPts val="965"/>
              </a:spcBef>
              <a:buClr>
                <a:srgbClr val="40458B"/>
              </a:buClr>
              <a:buFont typeface="Tahoma"/>
              <a:buAutoNum type="arabicPeriod"/>
              <a:tabLst>
                <a:tab pos="469265" algn="l"/>
              </a:tabLst>
            </a:pPr>
            <a:r>
              <a:rPr dirty="0" sz="2400">
                <a:solidFill>
                  <a:srgbClr val="E14B04"/>
                </a:solidFill>
                <a:latin typeface="黑体"/>
                <a:cs typeface="黑体"/>
              </a:rPr>
              <a:t>请求字</a:t>
            </a:r>
            <a:r>
              <a:rPr dirty="0" sz="2400" spc="-10">
                <a:solidFill>
                  <a:srgbClr val="E14B04"/>
                </a:solidFill>
                <a:latin typeface="黑体"/>
                <a:cs typeface="黑体"/>
              </a:rPr>
              <a:t>（</a:t>
            </a:r>
            <a:r>
              <a:rPr dirty="0" sz="2400" spc="-10">
                <a:solidFill>
                  <a:srgbClr val="E14B04"/>
                </a:solidFill>
                <a:latin typeface="Tahoma"/>
                <a:cs typeface="Tahoma"/>
              </a:rPr>
              <a:t>CPU</a:t>
            </a:r>
            <a:r>
              <a:rPr dirty="0" sz="2400">
                <a:solidFill>
                  <a:srgbClr val="E14B04"/>
                </a:solidFill>
                <a:latin typeface="黑体"/>
                <a:cs typeface="黑体"/>
              </a:rPr>
              <a:t>要读取的字不在</a:t>
            </a:r>
            <a:r>
              <a:rPr dirty="0" sz="2400" spc="-25">
                <a:solidFill>
                  <a:srgbClr val="E14B04"/>
                </a:solidFill>
                <a:latin typeface="Tahoma"/>
                <a:cs typeface="Tahoma"/>
              </a:rPr>
              <a:t>Cache</a:t>
            </a:r>
            <a:r>
              <a:rPr dirty="0" sz="2400">
                <a:solidFill>
                  <a:srgbClr val="E14B04"/>
                </a:solidFill>
                <a:latin typeface="黑体"/>
                <a:cs typeface="黑体"/>
              </a:rPr>
              <a:t>缓冲器中，即读不命中），</a:t>
            </a:r>
            <a:r>
              <a:rPr dirty="0" sz="2400" spc="-10">
                <a:solidFill>
                  <a:srgbClr val="E14B04"/>
                </a:solidFill>
                <a:latin typeface="黑体"/>
                <a:cs typeface="黑体"/>
              </a:rPr>
              <a:t>不需增加硬件</a:t>
            </a:r>
            <a:endParaRPr sz="2400">
              <a:latin typeface="黑体"/>
              <a:cs typeface="黑体"/>
            </a:endParaRPr>
          </a:p>
          <a:p>
            <a:pPr marL="737870">
              <a:lnSpc>
                <a:spcPct val="100000"/>
              </a:lnSpc>
              <a:spcBef>
                <a:spcPts val="860"/>
              </a:spcBef>
            </a:pPr>
            <a:r>
              <a:rPr dirty="0" sz="2400" spc="-5">
                <a:solidFill>
                  <a:srgbClr val="40458B"/>
                </a:solidFill>
                <a:latin typeface="黑体"/>
                <a:cs typeface="黑体"/>
              </a:rPr>
              <a:t>从下一级存储器调入</a:t>
            </a:r>
            <a:r>
              <a:rPr dirty="0" sz="2400">
                <a:solidFill>
                  <a:srgbClr val="40458B"/>
                </a:solidFill>
                <a:latin typeface="黑体"/>
                <a:cs typeface="黑体"/>
              </a:rPr>
              <a:t>Cache</a:t>
            </a:r>
            <a:r>
              <a:rPr dirty="0" sz="2400" spc="-5">
                <a:solidFill>
                  <a:srgbClr val="40458B"/>
                </a:solidFill>
                <a:latin typeface="黑体"/>
                <a:cs typeface="黑体"/>
              </a:rPr>
              <a:t>的块中，</a:t>
            </a:r>
            <a:r>
              <a:rPr dirty="0" sz="2400">
                <a:solidFill>
                  <a:srgbClr val="FF09FF"/>
                </a:solidFill>
                <a:latin typeface="黑体"/>
                <a:cs typeface="黑体"/>
              </a:rPr>
              <a:t>只有</a:t>
            </a:r>
            <a:r>
              <a:rPr dirty="0" sz="2400">
                <a:solidFill>
                  <a:srgbClr val="40458B"/>
                </a:solidFill>
                <a:latin typeface="黑体"/>
                <a:cs typeface="黑体"/>
              </a:rPr>
              <a:t>一个字是立即需要的。这个字称为</a:t>
            </a:r>
            <a:r>
              <a:rPr dirty="0" sz="2400" spc="-15">
                <a:solidFill>
                  <a:srgbClr val="FF0000"/>
                </a:solidFill>
                <a:latin typeface="黑体"/>
                <a:cs typeface="黑体"/>
              </a:rPr>
              <a:t>请求字。</a:t>
            </a:r>
            <a:endParaRPr sz="2400">
              <a:latin typeface="黑体"/>
              <a:cs typeface="黑体"/>
            </a:endParaRPr>
          </a:p>
          <a:p>
            <a:pPr marL="468630" indent="-455930">
              <a:lnSpc>
                <a:spcPct val="100000"/>
              </a:lnSpc>
              <a:spcBef>
                <a:spcPts val="865"/>
              </a:spcBef>
              <a:buClr>
                <a:srgbClr val="40458B"/>
              </a:buClr>
              <a:buAutoNum type="arabicPeriod" startAt="2"/>
              <a:tabLst>
                <a:tab pos="468630" algn="l"/>
              </a:tabLst>
            </a:pPr>
            <a:r>
              <a:rPr dirty="0" sz="2400" spc="-10">
                <a:solidFill>
                  <a:srgbClr val="E14B04"/>
                </a:solidFill>
                <a:latin typeface="黑体"/>
                <a:cs typeface="黑体"/>
              </a:rPr>
              <a:t>应</a:t>
            </a:r>
            <a:r>
              <a:rPr dirty="0" u="sng" sz="2400" spc="-10">
                <a:solidFill>
                  <a:srgbClr val="E14B04"/>
                </a:solidFill>
                <a:uFill>
                  <a:solidFill>
                    <a:srgbClr val="E14B04"/>
                  </a:solidFill>
                </a:uFill>
                <a:latin typeface="黑体"/>
                <a:cs typeface="黑体"/>
              </a:rPr>
              <a:t>尽早</a:t>
            </a:r>
            <a:r>
              <a:rPr dirty="0" u="none" sz="2400" spc="-10">
                <a:solidFill>
                  <a:srgbClr val="E14B04"/>
                </a:solidFill>
                <a:latin typeface="黑体"/>
                <a:cs typeface="黑体"/>
              </a:rPr>
              <a:t>把请求字发送给CPU（如何尽快将请求字发送CPU，解决方法</a:t>
            </a:r>
            <a:r>
              <a:rPr dirty="0" u="none" sz="2400" spc="-50">
                <a:solidFill>
                  <a:srgbClr val="E14B04"/>
                </a:solidFill>
                <a:latin typeface="黑体"/>
                <a:cs typeface="黑体"/>
              </a:rPr>
              <a:t>）</a:t>
            </a:r>
            <a:endParaRPr sz="2400">
              <a:latin typeface="黑体"/>
              <a:cs typeface="黑体"/>
            </a:endParaRPr>
          </a:p>
          <a:p>
            <a:pPr lvl="1" marL="1099185" marR="405130" indent="-457200">
              <a:lnSpc>
                <a:spcPct val="110000"/>
              </a:lnSpc>
              <a:spcBef>
                <a:spcPts val="580"/>
              </a:spcBef>
              <a:buClr>
                <a:srgbClr val="40458B"/>
              </a:buClr>
              <a:buSzPct val="89583"/>
              <a:buFont typeface="Wingdings"/>
              <a:buChar char=""/>
              <a:tabLst>
                <a:tab pos="1099185" algn="l"/>
              </a:tabLst>
            </a:pPr>
            <a:r>
              <a:rPr dirty="0" sz="2400">
                <a:solidFill>
                  <a:srgbClr val="FF0000"/>
                </a:solidFill>
                <a:latin typeface="黑体"/>
                <a:cs typeface="黑体"/>
              </a:rPr>
              <a:t>尽早重启动：</a:t>
            </a:r>
            <a:r>
              <a:rPr dirty="0" sz="2400" spc="-5">
                <a:solidFill>
                  <a:srgbClr val="40458B"/>
                </a:solidFill>
                <a:latin typeface="黑体"/>
                <a:cs typeface="黑体"/>
              </a:rPr>
              <a:t>调块时，从块的起始位置开始读起。一旦请求字到达，就立即发</a:t>
            </a:r>
            <a:r>
              <a:rPr dirty="0" sz="2400">
                <a:solidFill>
                  <a:srgbClr val="40458B"/>
                </a:solidFill>
                <a:latin typeface="黑体"/>
                <a:cs typeface="黑体"/>
              </a:rPr>
              <a:t>送给CPU，让CPU</a:t>
            </a:r>
            <a:r>
              <a:rPr dirty="0" sz="2400" spc="-10">
                <a:solidFill>
                  <a:srgbClr val="40458B"/>
                </a:solidFill>
                <a:latin typeface="黑体"/>
                <a:cs typeface="黑体"/>
              </a:rPr>
              <a:t>继续执行。</a:t>
            </a:r>
            <a:endParaRPr sz="2400">
              <a:latin typeface="黑体"/>
              <a:cs typeface="黑体"/>
            </a:endParaRPr>
          </a:p>
          <a:p>
            <a:pPr lvl="1" marL="1099185" indent="-457200">
              <a:lnSpc>
                <a:spcPct val="100000"/>
              </a:lnSpc>
              <a:spcBef>
                <a:spcPts val="860"/>
              </a:spcBef>
              <a:buClr>
                <a:srgbClr val="40458B"/>
              </a:buClr>
              <a:buSzPct val="89583"/>
              <a:buFont typeface="Wingdings"/>
              <a:buChar char=""/>
              <a:tabLst>
                <a:tab pos="1099185" algn="l"/>
              </a:tabLst>
            </a:pPr>
            <a:r>
              <a:rPr dirty="0" sz="2400" spc="-10">
                <a:solidFill>
                  <a:srgbClr val="FF0000"/>
                </a:solidFill>
                <a:latin typeface="黑体"/>
                <a:cs typeface="黑体"/>
              </a:rPr>
              <a:t>请求字优先：</a:t>
            </a:r>
            <a:r>
              <a:rPr dirty="0" sz="2400" spc="-15">
                <a:solidFill>
                  <a:srgbClr val="40458B"/>
                </a:solidFill>
                <a:latin typeface="黑体"/>
                <a:cs typeface="黑体"/>
              </a:rPr>
              <a:t>调块时，从请求字所在的位置读起。这样，第一个读出的字便是</a:t>
            </a:r>
            <a:endParaRPr sz="2400">
              <a:latin typeface="黑体"/>
              <a:cs typeface="黑体"/>
            </a:endParaRPr>
          </a:p>
          <a:p>
            <a:pPr marL="1099185">
              <a:lnSpc>
                <a:spcPct val="100000"/>
              </a:lnSpc>
              <a:spcBef>
                <a:spcPts val="290"/>
              </a:spcBef>
            </a:pPr>
            <a:r>
              <a:rPr dirty="0" sz="2400">
                <a:solidFill>
                  <a:srgbClr val="40458B"/>
                </a:solidFill>
                <a:latin typeface="黑体"/>
                <a:cs typeface="黑体"/>
              </a:rPr>
              <a:t>请求字。将之立即发送给CPU</a:t>
            </a:r>
            <a:r>
              <a:rPr dirty="0" sz="2400" spc="-50">
                <a:solidFill>
                  <a:srgbClr val="40458B"/>
                </a:solidFill>
                <a:latin typeface="黑体"/>
                <a:cs typeface="黑体"/>
              </a:rPr>
              <a:t>。</a:t>
            </a:r>
            <a:endParaRPr sz="2400">
              <a:latin typeface="黑体"/>
              <a:cs typeface="黑体"/>
            </a:endParaRPr>
          </a:p>
          <a:p>
            <a:pPr>
              <a:lnSpc>
                <a:spcPct val="100000"/>
              </a:lnSpc>
              <a:spcBef>
                <a:spcPts val="114"/>
              </a:spcBef>
            </a:pPr>
            <a:endParaRPr sz="2400">
              <a:latin typeface="黑体"/>
              <a:cs typeface="黑体"/>
            </a:endParaRPr>
          </a:p>
          <a:p>
            <a:pPr marL="472440" indent="-457200">
              <a:lnSpc>
                <a:spcPct val="100000"/>
              </a:lnSpc>
              <a:buClr>
                <a:srgbClr val="40458B"/>
              </a:buClr>
              <a:buFont typeface="Tahoma"/>
              <a:buAutoNum type="arabicPeriod" startAt="3"/>
              <a:tabLst>
                <a:tab pos="472440" algn="l"/>
              </a:tabLst>
            </a:pPr>
            <a:r>
              <a:rPr dirty="0" sz="2400" spc="-5">
                <a:solidFill>
                  <a:srgbClr val="E14B04"/>
                </a:solidFill>
                <a:latin typeface="黑体"/>
                <a:cs typeface="黑体"/>
              </a:rPr>
              <a:t>这种技术在以下情况下效果不大：</a:t>
            </a:r>
            <a:endParaRPr sz="2400">
              <a:latin typeface="黑体"/>
              <a:cs typeface="黑体"/>
            </a:endParaRPr>
          </a:p>
          <a:p>
            <a:pPr marL="1730375" indent="-457200">
              <a:lnSpc>
                <a:spcPct val="100000"/>
              </a:lnSpc>
              <a:spcBef>
                <a:spcPts val="2280"/>
              </a:spcBef>
              <a:buClr>
                <a:srgbClr val="4668F5"/>
              </a:buClr>
              <a:buSzPct val="60000"/>
              <a:buFont typeface="Wingdings"/>
              <a:buChar char=""/>
              <a:tabLst>
                <a:tab pos="1730375" algn="l"/>
              </a:tabLst>
            </a:pPr>
            <a:r>
              <a:rPr dirty="0" sz="2000" spc="-10" b="1">
                <a:solidFill>
                  <a:srgbClr val="00AFEF"/>
                </a:solidFill>
                <a:latin typeface="宋体"/>
                <a:cs typeface="宋体"/>
              </a:rPr>
              <a:t>Cache</a:t>
            </a:r>
            <a:r>
              <a:rPr dirty="0" sz="2000" spc="-30" b="1">
                <a:solidFill>
                  <a:srgbClr val="00AFEF"/>
                </a:solidFill>
                <a:latin typeface="宋体"/>
                <a:cs typeface="宋体"/>
              </a:rPr>
              <a:t>块较小</a:t>
            </a:r>
            <a:endParaRPr sz="2000">
              <a:latin typeface="宋体"/>
              <a:cs typeface="宋体"/>
            </a:endParaRPr>
          </a:p>
          <a:p>
            <a:pPr marL="1730375" indent="-457200">
              <a:lnSpc>
                <a:spcPct val="100000"/>
              </a:lnSpc>
              <a:spcBef>
                <a:spcPts val="2160"/>
              </a:spcBef>
              <a:buClr>
                <a:srgbClr val="4668F5"/>
              </a:buClr>
              <a:buSzPct val="60000"/>
              <a:buFont typeface="Wingdings"/>
              <a:buChar char=""/>
              <a:tabLst>
                <a:tab pos="1730375" algn="l"/>
              </a:tabLst>
            </a:pPr>
            <a:r>
              <a:rPr dirty="0" sz="2000" spc="-15" b="1">
                <a:solidFill>
                  <a:srgbClr val="00AFEF"/>
                </a:solidFill>
                <a:latin typeface="宋体"/>
                <a:cs typeface="宋体"/>
              </a:rPr>
              <a:t>下一条指令正好访问同一</a:t>
            </a:r>
            <a:r>
              <a:rPr dirty="0" sz="2000" spc="-10" b="1">
                <a:solidFill>
                  <a:srgbClr val="00AFEF"/>
                </a:solidFill>
                <a:latin typeface="宋体"/>
                <a:cs typeface="宋体"/>
              </a:rPr>
              <a:t>Cache</a:t>
            </a:r>
            <a:r>
              <a:rPr dirty="0" sz="2000" spc="-25" b="1">
                <a:solidFill>
                  <a:srgbClr val="00AFEF"/>
                </a:solidFill>
                <a:latin typeface="宋体"/>
                <a:cs typeface="宋体"/>
              </a:rPr>
              <a:t>块的另一部分</a:t>
            </a:r>
            <a:endParaRPr sz="2000">
              <a:latin typeface="宋体"/>
              <a:cs typeface="宋体"/>
            </a:endParaRPr>
          </a:p>
        </p:txBody>
      </p:sp>
      <p:sp>
        <p:nvSpPr>
          <p:cNvPr id="11" name="object 11" descr=""/>
          <p:cNvSpPr txBox="1"/>
          <p:nvPr/>
        </p:nvSpPr>
        <p:spPr>
          <a:xfrm>
            <a:off x="7255256" y="86613"/>
            <a:ext cx="3329304"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7.4.4</a:t>
            </a:r>
            <a:r>
              <a:rPr dirty="0" sz="2600" spc="-15">
                <a:solidFill>
                  <a:srgbClr val="0000CC"/>
                </a:solidFill>
                <a:latin typeface="黑体"/>
                <a:cs typeface="黑体"/>
              </a:rPr>
              <a:t> 请求字处理技术</a:t>
            </a:r>
            <a:endParaRPr sz="2600">
              <a:latin typeface="黑体"/>
              <a:cs typeface="黑体"/>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40839" y="36068"/>
            <a:ext cx="4700270" cy="513715"/>
          </a:xfrm>
          <a:prstGeom prst="rect"/>
        </p:spPr>
        <p:txBody>
          <a:bodyPr wrap="square" lIns="0" tIns="12700" rIns="0" bIns="0" rtlCol="0" vert="horz">
            <a:spAutoFit/>
          </a:bodyPr>
          <a:lstStyle/>
          <a:p>
            <a:pPr marL="12700">
              <a:lnSpc>
                <a:spcPct val="100000"/>
              </a:lnSpc>
              <a:spcBef>
                <a:spcPts val="100"/>
              </a:spcBef>
            </a:pPr>
            <a:r>
              <a:rPr dirty="0" u="none" sz="3200"/>
              <a:t>7.4</a:t>
            </a:r>
            <a:r>
              <a:rPr dirty="0" u="none" sz="3200" spc="5"/>
              <a:t> 减少</a:t>
            </a:r>
            <a:r>
              <a:rPr dirty="0" u="none" sz="3200" spc="-10"/>
              <a:t>Cache</a:t>
            </a:r>
            <a:r>
              <a:rPr dirty="0" u="none" sz="3200" spc="-15"/>
              <a:t>不命中开销</a:t>
            </a:r>
            <a:endParaRPr sz="3200"/>
          </a:p>
        </p:txBody>
      </p:sp>
      <p:sp>
        <p:nvSpPr>
          <p:cNvPr id="10" name="object 10" descr=""/>
          <p:cNvSpPr txBox="1"/>
          <p:nvPr/>
        </p:nvSpPr>
        <p:spPr>
          <a:xfrm>
            <a:off x="342391" y="705993"/>
            <a:ext cx="11469370" cy="4373245"/>
          </a:xfrm>
          <a:prstGeom prst="rect">
            <a:avLst/>
          </a:prstGeom>
        </p:spPr>
        <p:txBody>
          <a:bodyPr wrap="square" lIns="0" tIns="13335" rIns="0" bIns="0" rtlCol="0" vert="horz">
            <a:spAutoFit/>
          </a:bodyPr>
          <a:lstStyle/>
          <a:p>
            <a:pPr marL="1452245">
              <a:lnSpc>
                <a:spcPct val="100000"/>
              </a:lnSpc>
              <a:spcBef>
                <a:spcPts val="105"/>
              </a:spcBef>
            </a:pPr>
            <a:r>
              <a:rPr dirty="0" sz="2600">
                <a:solidFill>
                  <a:srgbClr val="0000CC"/>
                </a:solidFill>
                <a:latin typeface="黑体"/>
                <a:cs typeface="黑体"/>
              </a:rPr>
              <a:t>7.4.5 非阻塞</a:t>
            </a:r>
            <a:r>
              <a:rPr dirty="0" sz="2600" spc="-10">
                <a:solidFill>
                  <a:srgbClr val="0000CC"/>
                </a:solidFill>
                <a:latin typeface="黑体"/>
                <a:cs typeface="黑体"/>
              </a:rPr>
              <a:t>Cache</a:t>
            </a:r>
            <a:r>
              <a:rPr dirty="0" sz="2600" spc="-25">
                <a:solidFill>
                  <a:srgbClr val="0000CC"/>
                </a:solidFill>
                <a:latin typeface="黑体"/>
                <a:cs typeface="黑体"/>
              </a:rPr>
              <a:t>技术</a:t>
            </a:r>
            <a:endParaRPr sz="2600">
              <a:latin typeface="黑体"/>
              <a:cs typeface="黑体"/>
            </a:endParaRPr>
          </a:p>
          <a:p>
            <a:pPr marL="468630" indent="-455930">
              <a:lnSpc>
                <a:spcPct val="100000"/>
              </a:lnSpc>
              <a:spcBef>
                <a:spcPts val="2330"/>
              </a:spcBef>
              <a:buClr>
                <a:srgbClr val="40458B"/>
              </a:buClr>
              <a:buAutoNum type="arabicPeriod"/>
              <a:tabLst>
                <a:tab pos="468630" algn="l"/>
              </a:tabLst>
            </a:pPr>
            <a:r>
              <a:rPr dirty="0" sz="2400" spc="-10">
                <a:solidFill>
                  <a:srgbClr val="FF0000"/>
                </a:solidFill>
                <a:latin typeface="黑体"/>
                <a:cs typeface="黑体"/>
              </a:rPr>
              <a:t>非阻塞Cache：</a:t>
            </a:r>
            <a:r>
              <a:rPr dirty="0" sz="2400" spc="-10">
                <a:solidFill>
                  <a:srgbClr val="E14B04"/>
                </a:solidFill>
                <a:latin typeface="黑体"/>
                <a:cs typeface="黑体"/>
              </a:rPr>
              <a:t>Cache不命中时仍允许CPU</a:t>
            </a:r>
            <a:r>
              <a:rPr dirty="0" sz="2400" spc="-15">
                <a:solidFill>
                  <a:srgbClr val="E14B04"/>
                </a:solidFill>
                <a:latin typeface="黑体"/>
                <a:cs typeface="黑体"/>
              </a:rPr>
              <a:t>进行其它的命中访问。即允许“不命中下</a:t>
            </a:r>
            <a:endParaRPr sz="2400">
              <a:latin typeface="黑体"/>
              <a:cs typeface="黑体"/>
            </a:endParaRPr>
          </a:p>
          <a:p>
            <a:pPr marL="469900">
              <a:lnSpc>
                <a:spcPct val="100000"/>
              </a:lnSpc>
              <a:spcBef>
                <a:spcPts val="580"/>
              </a:spcBef>
            </a:pPr>
            <a:r>
              <a:rPr dirty="0" sz="2400" spc="-15">
                <a:solidFill>
                  <a:srgbClr val="E14B04"/>
                </a:solidFill>
                <a:latin typeface="黑体"/>
                <a:cs typeface="黑体"/>
              </a:rPr>
              <a:t>命中”。</a:t>
            </a:r>
            <a:endParaRPr sz="2400">
              <a:latin typeface="黑体"/>
              <a:cs typeface="黑体"/>
            </a:endParaRPr>
          </a:p>
          <a:p>
            <a:pPr marL="469265" indent="-456565">
              <a:lnSpc>
                <a:spcPct val="100000"/>
              </a:lnSpc>
              <a:spcBef>
                <a:spcPts val="1150"/>
              </a:spcBef>
              <a:buClr>
                <a:srgbClr val="40458B"/>
              </a:buClr>
              <a:buFont typeface="Tahoma"/>
              <a:buAutoNum type="arabicPeriod" startAt="2"/>
              <a:tabLst>
                <a:tab pos="469265" algn="l"/>
              </a:tabLst>
            </a:pPr>
            <a:r>
              <a:rPr dirty="0" sz="2400" spc="-5">
                <a:solidFill>
                  <a:srgbClr val="E14B04"/>
                </a:solidFill>
                <a:latin typeface="黑体"/>
                <a:cs typeface="黑体"/>
              </a:rPr>
              <a:t>进一步提高性能，希望做到：</a:t>
            </a:r>
            <a:endParaRPr sz="2400">
              <a:latin typeface="黑体"/>
              <a:cs typeface="黑体"/>
            </a:endParaRPr>
          </a:p>
          <a:p>
            <a:pPr lvl="1" marL="1099185" indent="-457200">
              <a:lnSpc>
                <a:spcPct val="100000"/>
              </a:lnSpc>
              <a:spcBef>
                <a:spcPts val="1155"/>
              </a:spcBef>
              <a:buFont typeface="Wingdings"/>
              <a:buChar char=""/>
              <a:tabLst>
                <a:tab pos="1099185" algn="l"/>
              </a:tabLst>
            </a:pPr>
            <a:r>
              <a:rPr dirty="0" sz="2400" spc="-15">
                <a:solidFill>
                  <a:srgbClr val="40458B"/>
                </a:solidFill>
                <a:latin typeface="黑体"/>
                <a:cs typeface="黑体"/>
              </a:rPr>
              <a:t>“多重不命中下命中”</a:t>
            </a:r>
            <a:endParaRPr sz="2400">
              <a:latin typeface="黑体"/>
              <a:cs typeface="黑体"/>
            </a:endParaRPr>
          </a:p>
          <a:p>
            <a:pPr lvl="1" marL="1193165" indent="-551180">
              <a:lnSpc>
                <a:spcPct val="100000"/>
              </a:lnSpc>
              <a:spcBef>
                <a:spcPts val="1155"/>
              </a:spcBef>
              <a:buFont typeface="Wingdings"/>
              <a:buChar char=""/>
              <a:tabLst>
                <a:tab pos="1193165" algn="l"/>
              </a:tabLst>
            </a:pPr>
            <a:r>
              <a:rPr dirty="0" sz="2400" spc="-10">
                <a:solidFill>
                  <a:srgbClr val="40458B"/>
                </a:solidFill>
                <a:latin typeface="黑体"/>
                <a:cs typeface="黑体"/>
              </a:rPr>
              <a:t>“不命中下不命中”</a:t>
            </a:r>
            <a:endParaRPr sz="2400">
              <a:latin typeface="黑体"/>
              <a:cs typeface="黑体"/>
            </a:endParaRPr>
          </a:p>
          <a:p>
            <a:pPr marL="1717675">
              <a:lnSpc>
                <a:spcPct val="100000"/>
              </a:lnSpc>
              <a:spcBef>
                <a:spcPts val="1019"/>
              </a:spcBef>
            </a:pPr>
            <a:r>
              <a:rPr dirty="0" sz="2000" spc="-10" b="1">
                <a:solidFill>
                  <a:srgbClr val="00AFEF"/>
                </a:solidFill>
                <a:latin typeface="宋体"/>
                <a:cs typeface="宋体"/>
              </a:rPr>
              <a:t>（</a:t>
            </a:r>
            <a:r>
              <a:rPr dirty="0" sz="2000" spc="-20" b="1">
                <a:solidFill>
                  <a:srgbClr val="00AFEF"/>
                </a:solidFill>
                <a:latin typeface="宋体"/>
                <a:cs typeface="宋体"/>
              </a:rPr>
              <a:t>存储器必须能够处理多个不命中</a:t>
            </a:r>
            <a:r>
              <a:rPr dirty="0" sz="2000" spc="-50" b="1">
                <a:solidFill>
                  <a:srgbClr val="00AFEF"/>
                </a:solidFill>
                <a:latin typeface="宋体"/>
                <a:cs typeface="宋体"/>
              </a:rPr>
              <a:t>）</a:t>
            </a:r>
            <a:endParaRPr sz="2000">
              <a:latin typeface="宋体"/>
              <a:cs typeface="宋体"/>
            </a:endParaRPr>
          </a:p>
          <a:p>
            <a:pPr marL="469900" marR="5080" indent="-457200">
              <a:lnSpc>
                <a:spcPct val="118900"/>
              </a:lnSpc>
              <a:spcBef>
                <a:spcPts val="550"/>
              </a:spcBef>
              <a:buClr>
                <a:srgbClr val="40458B"/>
              </a:buClr>
              <a:buFont typeface="Tahoma"/>
              <a:buAutoNum type="arabicPeriod" startAt="3"/>
              <a:tabLst>
                <a:tab pos="469900" algn="l"/>
              </a:tabLst>
            </a:pPr>
            <a:r>
              <a:rPr dirty="0" sz="2400">
                <a:solidFill>
                  <a:srgbClr val="E14B04"/>
                </a:solidFill>
                <a:latin typeface="黑体"/>
                <a:cs typeface="黑体"/>
              </a:rPr>
              <a:t>可以同时处理的不命中次数越多，所能带来的性能上的提高就越大。</a:t>
            </a:r>
            <a:r>
              <a:rPr dirty="0" sz="2400">
                <a:latin typeface="黑体"/>
                <a:cs typeface="黑体"/>
              </a:rPr>
              <a:t>（</a:t>
            </a:r>
            <a:r>
              <a:rPr dirty="0" sz="2000" spc="-20" b="1">
                <a:latin typeface="宋体"/>
                <a:cs typeface="宋体"/>
              </a:rPr>
              <a:t>不命中次数越</a:t>
            </a:r>
            <a:r>
              <a:rPr dirty="0" sz="2000" spc="-10" b="1">
                <a:latin typeface="宋体"/>
                <a:cs typeface="宋体"/>
              </a:rPr>
              <a:t>多越好</a:t>
            </a:r>
            <a:r>
              <a:rPr dirty="0" sz="2000" spc="-25" b="1">
                <a:latin typeface="宋体"/>
                <a:cs typeface="宋体"/>
              </a:rPr>
              <a:t>？）</a:t>
            </a:r>
            <a:endParaRPr sz="2000">
              <a:latin typeface="宋体"/>
              <a:cs typeface="宋体"/>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118/170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63246" rIns="0" bIns="0" rtlCol="0" vert="horz">
            <a:spAutoFit/>
          </a:bodyPr>
          <a:lstStyle/>
          <a:p>
            <a:pPr marL="12700">
              <a:lnSpc>
                <a:spcPct val="100000"/>
              </a:lnSpc>
              <a:spcBef>
                <a:spcPts val="95"/>
              </a:spcBef>
              <a:tabLst>
                <a:tab pos="10648315" algn="l"/>
              </a:tabLst>
            </a:pPr>
            <a:r>
              <a:rPr dirty="0"/>
              <a:t>7.4</a:t>
            </a:r>
            <a:r>
              <a:rPr dirty="0" spc="35"/>
              <a:t> </a:t>
            </a:r>
            <a:r>
              <a:rPr dirty="0" spc="-40"/>
              <a:t>减少</a:t>
            </a:r>
            <a:r>
              <a:rPr dirty="0" spc="-20"/>
              <a:t>Cache</a:t>
            </a:r>
            <a:r>
              <a:rPr dirty="0" spc="-35"/>
              <a:t>不命中开</a:t>
            </a:r>
            <a:r>
              <a:rPr dirty="0" spc="-50"/>
              <a:t>销</a:t>
            </a:r>
            <a:r>
              <a:rPr dirty="0"/>
              <a:t>	</a:t>
            </a:r>
          </a:p>
        </p:txBody>
      </p:sp>
      <p:sp>
        <p:nvSpPr>
          <p:cNvPr id="9" name="object 9" descr=""/>
          <p:cNvSpPr txBox="1"/>
          <p:nvPr/>
        </p:nvSpPr>
        <p:spPr>
          <a:xfrm>
            <a:off x="324104" y="1121264"/>
            <a:ext cx="11902440" cy="4274820"/>
          </a:xfrm>
          <a:prstGeom prst="rect">
            <a:avLst/>
          </a:prstGeom>
        </p:spPr>
        <p:txBody>
          <a:bodyPr wrap="square" lIns="0" tIns="168275" rIns="0" bIns="0" rtlCol="0" vert="horz">
            <a:spAutoFit/>
          </a:bodyPr>
          <a:lstStyle/>
          <a:p>
            <a:pPr marL="469265" indent="-456565">
              <a:lnSpc>
                <a:spcPct val="100000"/>
              </a:lnSpc>
              <a:spcBef>
                <a:spcPts val="1325"/>
              </a:spcBef>
              <a:buSzPct val="89583"/>
              <a:buFont typeface="Wingdings"/>
              <a:buChar char=""/>
              <a:tabLst>
                <a:tab pos="469265" algn="l"/>
              </a:tabLst>
            </a:pPr>
            <a:r>
              <a:rPr dirty="0" sz="2400" spc="-15">
                <a:solidFill>
                  <a:srgbClr val="40458B"/>
                </a:solidFill>
                <a:latin typeface="黑体"/>
                <a:cs typeface="黑体"/>
              </a:rPr>
              <a:t>模拟研究</a:t>
            </a:r>
            <a:endParaRPr sz="2400">
              <a:latin typeface="黑体"/>
              <a:cs typeface="黑体"/>
            </a:endParaRPr>
          </a:p>
          <a:p>
            <a:pPr marL="1783080">
              <a:lnSpc>
                <a:spcPct val="100000"/>
              </a:lnSpc>
              <a:spcBef>
                <a:spcPts val="1025"/>
              </a:spcBef>
            </a:pPr>
            <a:r>
              <a:rPr dirty="0" sz="2000" spc="-10" b="1">
                <a:solidFill>
                  <a:srgbClr val="40458B"/>
                </a:solidFill>
                <a:latin typeface="宋体"/>
                <a:cs typeface="宋体"/>
              </a:rPr>
              <a:t>数据</a:t>
            </a:r>
            <a:r>
              <a:rPr dirty="0" sz="2000" spc="-10" b="1">
                <a:solidFill>
                  <a:srgbClr val="40458B"/>
                </a:solidFill>
                <a:latin typeface="Times New Roman"/>
                <a:cs typeface="Times New Roman"/>
              </a:rPr>
              <a:t>Cache</a:t>
            </a:r>
            <a:r>
              <a:rPr dirty="0" sz="2000" spc="-20" b="1">
                <a:solidFill>
                  <a:srgbClr val="40458B"/>
                </a:solidFill>
                <a:latin typeface="宋体"/>
                <a:cs typeface="宋体"/>
              </a:rPr>
              <a:t>的平均存储器等待时间</a:t>
            </a:r>
            <a:r>
              <a:rPr dirty="0" sz="2000" spc="-10" b="1">
                <a:solidFill>
                  <a:srgbClr val="40458B"/>
                </a:solidFill>
                <a:latin typeface="宋体"/>
                <a:cs typeface="宋体"/>
              </a:rPr>
              <a:t>（</a:t>
            </a:r>
            <a:r>
              <a:rPr dirty="0" sz="2000" spc="-20" b="1">
                <a:solidFill>
                  <a:srgbClr val="40458B"/>
                </a:solidFill>
                <a:latin typeface="宋体"/>
                <a:cs typeface="宋体"/>
              </a:rPr>
              <a:t>以周期为单位</a:t>
            </a:r>
            <a:r>
              <a:rPr dirty="0" sz="2000" spc="-10" b="1">
                <a:solidFill>
                  <a:srgbClr val="40458B"/>
                </a:solidFill>
                <a:latin typeface="宋体"/>
                <a:cs typeface="宋体"/>
              </a:rPr>
              <a:t>）与阻塞</a:t>
            </a:r>
            <a:r>
              <a:rPr dirty="0" sz="2000" spc="-10" b="1">
                <a:solidFill>
                  <a:srgbClr val="40458B"/>
                </a:solidFill>
                <a:latin typeface="Times New Roman"/>
                <a:cs typeface="Times New Roman"/>
              </a:rPr>
              <a:t>Cache</a:t>
            </a:r>
            <a:r>
              <a:rPr dirty="0" sz="2000" spc="-25" b="1">
                <a:solidFill>
                  <a:srgbClr val="40458B"/>
                </a:solidFill>
                <a:latin typeface="宋体"/>
                <a:cs typeface="宋体"/>
              </a:rPr>
              <a:t>平均存储器等待时间的比</a:t>
            </a:r>
            <a:endParaRPr sz="2000">
              <a:latin typeface="宋体"/>
              <a:cs typeface="宋体"/>
            </a:endParaRPr>
          </a:p>
          <a:p>
            <a:pPr marL="1097280">
              <a:lnSpc>
                <a:spcPct val="100000"/>
              </a:lnSpc>
              <a:spcBef>
                <a:spcPts val="480"/>
              </a:spcBef>
            </a:pPr>
            <a:r>
              <a:rPr dirty="0" sz="2000" spc="-50" b="1">
                <a:solidFill>
                  <a:srgbClr val="40458B"/>
                </a:solidFill>
                <a:latin typeface="宋体"/>
                <a:cs typeface="宋体"/>
              </a:rPr>
              <a:t>值</a:t>
            </a:r>
            <a:endParaRPr sz="2000">
              <a:latin typeface="宋体"/>
              <a:cs typeface="宋体"/>
            </a:endParaRPr>
          </a:p>
          <a:p>
            <a:pPr lvl="1" marL="1097280" indent="-457200">
              <a:lnSpc>
                <a:spcPct val="100000"/>
              </a:lnSpc>
              <a:spcBef>
                <a:spcPts val="960"/>
              </a:spcBef>
              <a:buClr>
                <a:srgbClr val="4668F5"/>
              </a:buClr>
              <a:buSzPct val="60000"/>
              <a:buFont typeface="Wingdings"/>
              <a:buChar char=""/>
              <a:tabLst>
                <a:tab pos="1097280" algn="l"/>
              </a:tabLst>
            </a:pPr>
            <a:r>
              <a:rPr dirty="0" sz="2000" spc="-10" b="1">
                <a:solidFill>
                  <a:srgbClr val="00AFEF"/>
                </a:solidFill>
                <a:latin typeface="宋体"/>
                <a:cs typeface="宋体"/>
              </a:rPr>
              <a:t>测试条件：</a:t>
            </a:r>
            <a:r>
              <a:rPr dirty="0" sz="2000" spc="-10" b="1">
                <a:solidFill>
                  <a:srgbClr val="9933FF"/>
                </a:solidFill>
                <a:latin typeface="Times New Roman"/>
                <a:cs typeface="Times New Roman"/>
              </a:rPr>
              <a:t>8K</a:t>
            </a:r>
            <a:r>
              <a:rPr dirty="0" sz="2000" spc="-20" b="1">
                <a:solidFill>
                  <a:srgbClr val="00AFEF"/>
                </a:solidFill>
                <a:latin typeface="宋体"/>
                <a:cs typeface="宋体"/>
              </a:rPr>
              <a:t>直接映象</a:t>
            </a:r>
            <a:r>
              <a:rPr dirty="0" sz="2000" spc="-10" b="1">
                <a:solidFill>
                  <a:srgbClr val="00AFEF"/>
                </a:solidFill>
                <a:latin typeface="Times New Roman"/>
                <a:cs typeface="Times New Roman"/>
              </a:rPr>
              <a:t>Cache</a:t>
            </a:r>
            <a:r>
              <a:rPr dirty="0" sz="2000" spc="-15" b="1">
                <a:solidFill>
                  <a:srgbClr val="00AFEF"/>
                </a:solidFill>
                <a:latin typeface="宋体"/>
                <a:cs typeface="宋体"/>
              </a:rPr>
              <a:t>，块大小为</a:t>
            </a:r>
            <a:r>
              <a:rPr dirty="0" sz="2000" spc="-10" b="1">
                <a:solidFill>
                  <a:srgbClr val="9933FF"/>
                </a:solidFill>
                <a:latin typeface="Times New Roman"/>
                <a:cs typeface="Times New Roman"/>
              </a:rPr>
              <a:t>32</a:t>
            </a:r>
            <a:r>
              <a:rPr dirty="0" sz="2000" spc="-30" b="1">
                <a:solidFill>
                  <a:srgbClr val="00AFEF"/>
                </a:solidFill>
                <a:latin typeface="宋体"/>
                <a:cs typeface="宋体"/>
              </a:rPr>
              <a:t>字节</a:t>
            </a:r>
            <a:endParaRPr sz="2000">
              <a:latin typeface="宋体"/>
              <a:cs typeface="宋体"/>
            </a:endParaRPr>
          </a:p>
          <a:p>
            <a:pPr lvl="1" marL="1097280" indent="-457200">
              <a:lnSpc>
                <a:spcPct val="100000"/>
              </a:lnSpc>
              <a:spcBef>
                <a:spcPts val="960"/>
              </a:spcBef>
              <a:buClr>
                <a:srgbClr val="4668F5"/>
              </a:buClr>
              <a:buSzPct val="60000"/>
              <a:buFont typeface="Wingdings"/>
              <a:buChar char=""/>
              <a:tabLst>
                <a:tab pos="1097280" algn="l"/>
              </a:tabLst>
            </a:pPr>
            <a:r>
              <a:rPr dirty="0" sz="2000" spc="-15" b="1">
                <a:solidFill>
                  <a:srgbClr val="00AFEF"/>
                </a:solidFill>
                <a:latin typeface="宋体"/>
                <a:cs typeface="宋体"/>
              </a:rPr>
              <a:t>测试程序：</a:t>
            </a:r>
            <a:r>
              <a:rPr dirty="0" sz="2000" spc="-10" b="1">
                <a:solidFill>
                  <a:srgbClr val="9933FF"/>
                </a:solidFill>
                <a:latin typeface="Times New Roman"/>
                <a:cs typeface="Times New Roman"/>
              </a:rPr>
              <a:t>SPEC92</a:t>
            </a:r>
            <a:r>
              <a:rPr dirty="0" sz="2000" spc="-10" b="1">
                <a:solidFill>
                  <a:srgbClr val="00AFEF"/>
                </a:solidFill>
                <a:latin typeface="宋体"/>
                <a:cs typeface="宋体"/>
              </a:rPr>
              <a:t>（</a:t>
            </a:r>
            <a:r>
              <a:rPr dirty="0" sz="2000" spc="-10" b="1">
                <a:solidFill>
                  <a:srgbClr val="9933FF"/>
                </a:solidFill>
                <a:latin typeface="Times New Roman"/>
                <a:cs typeface="Times New Roman"/>
              </a:rPr>
              <a:t>14</a:t>
            </a:r>
            <a:r>
              <a:rPr dirty="0" sz="2000" spc="-20" b="1">
                <a:solidFill>
                  <a:srgbClr val="00AFEF"/>
                </a:solidFill>
                <a:latin typeface="宋体"/>
                <a:cs typeface="宋体"/>
              </a:rPr>
              <a:t>个浮点程序，</a:t>
            </a:r>
            <a:r>
              <a:rPr dirty="0" sz="2000" spc="-10" b="1">
                <a:solidFill>
                  <a:srgbClr val="9933FF"/>
                </a:solidFill>
                <a:latin typeface="Times New Roman"/>
                <a:cs typeface="Times New Roman"/>
              </a:rPr>
              <a:t>4</a:t>
            </a:r>
            <a:r>
              <a:rPr dirty="0" sz="2000" spc="-20" b="1">
                <a:solidFill>
                  <a:srgbClr val="00AFEF"/>
                </a:solidFill>
                <a:latin typeface="宋体"/>
                <a:cs typeface="宋体"/>
              </a:rPr>
              <a:t>个整数程序</a:t>
            </a:r>
            <a:r>
              <a:rPr dirty="0" sz="2000" spc="-50" b="1">
                <a:solidFill>
                  <a:srgbClr val="00AFEF"/>
                </a:solidFill>
                <a:latin typeface="宋体"/>
                <a:cs typeface="宋体"/>
              </a:rPr>
              <a:t>）</a:t>
            </a:r>
            <a:endParaRPr sz="2000">
              <a:latin typeface="宋体"/>
              <a:cs typeface="宋体"/>
            </a:endParaRPr>
          </a:p>
          <a:p>
            <a:pPr lvl="1" marL="1097280" indent="-457200">
              <a:lnSpc>
                <a:spcPct val="100000"/>
              </a:lnSpc>
              <a:spcBef>
                <a:spcPts val="965"/>
              </a:spcBef>
              <a:buClr>
                <a:srgbClr val="4668F5"/>
              </a:buClr>
              <a:buSzPct val="60000"/>
              <a:buFont typeface="Wingdings"/>
              <a:buChar char=""/>
              <a:tabLst>
                <a:tab pos="1097280" algn="l"/>
              </a:tabLst>
            </a:pPr>
            <a:r>
              <a:rPr dirty="0" sz="2000" spc="-20" b="1">
                <a:solidFill>
                  <a:srgbClr val="D50092"/>
                </a:solidFill>
                <a:latin typeface="宋体"/>
                <a:cs typeface="宋体"/>
              </a:rPr>
              <a:t>结果表明</a:t>
            </a:r>
            <a:endParaRPr sz="2000">
              <a:latin typeface="宋体"/>
              <a:cs typeface="宋体"/>
            </a:endParaRPr>
          </a:p>
          <a:p>
            <a:pPr marL="1722120">
              <a:lnSpc>
                <a:spcPct val="100000"/>
              </a:lnSpc>
              <a:spcBef>
                <a:spcPts val="960"/>
              </a:spcBef>
            </a:pPr>
            <a:r>
              <a:rPr dirty="0" sz="2000" spc="-15" b="1">
                <a:solidFill>
                  <a:srgbClr val="40458B"/>
                </a:solidFill>
                <a:latin typeface="宋体"/>
                <a:cs typeface="宋体"/>
              </a:rPr>
              <a:t>在重叠不命中个数为</a:t>
            </a:r>
            <a:r>
              <a:rPr dirty="0" sz="2000" spc="-10" b="1">
                <a:solidFill>
                  <a:srgbClr val="9933FF"/>
                </a:solidFill>
                <a:latin typeface="Times New Roman"/>
                <a:cs typeface="Times New Roman"/>
              </a:rPr>
              <a:t>1</a:t>
            </a:r>
            <a:r>
              <a:rPr dirty="0" sz="2000" spc="-10" b="1">
                <a:solidFill>
                  <a:srgbClr val="9933FF"/>
                </a:solidFill>
                <a:latin typeface="宋体"/>
                <a:cs typeface="宋体"/>
              </a:rPr>
              <a:t>、</a:t>
            </a:r>
            <a:r>
              <a:rPr dirty="0" sz="2000" spc="-10" b="1">
                <a:solidFill>
                  <a:srgbClr val="9933FF"/>
                </a:solidFill>
                <a:latin typeface="Times New Roman"/>
                <a:cs typeface="Times New Roman"/>
              </a:rPr>
              <a:t>2</a:t>
            </a:r>
            <a:r>
              <a:rPr dirty="0" sz="2000" spc="-10" b="1">
                <a:solidFill>
                  <a:srgbClr val="40458B"/>
                </a:solidFill>
                <a:latin typeface="宋体"/>
                <a:cs typeface="宋体"/>
              </a:rPr>
              <a:t>和</a:t>
            </a:r>
            <a:r>
              <a:rPr dirty="0" sz="2000" spc="-10" b="1">
                <a:solidFill>
                  <a:srgbClr val="9933FF"/>
                </a:solidFill>
                <a:latin typeface="Times New Roman"/>
                <a:cs typeface="Times New Roman"/>
              </a:rPr>
              <a:t>64</a:t>
            </a:r>
            <a:r>
              <a:rPr dirty="0" sz="2000" spc="-15" b="1">
                <a:solidFill>
                  <a:srgbClr val="40458B"/>
                </a:solidFill>
                <a:latin typeface="宋体"/>
                <a:cs typeface="宋体"/>
              </a:rPr>
              <a:t>的情况下</a:t>
            </a:r>
            <a:r>
              <a:rPr dirty="0" sz="2000" spc="-10" b="1">
                <a:solidFill>
                  <a:srgbClr val="40458B"/>
                </a:solidFill>
                <a:latin typeface="Times New Roman"/>
                <a:cs typeface="Times New Roman"/>
              </a:rPr>
              <a:t>,</a:t>
            </a:r>
            <a:r>
              <a:rPr dirty="0" sz="2000" spc="-20" b="1">
                <a:solidFill>
                  <a:srgbClr val="40458B"/>
                </a:solidFill>
                <a:latin typeface="宋体"/>
                <a:cs typeface="宋体"/>
              </a:rPr>
              <a:t>浮点程序的平均比值分别为：</a:t>
            </a:r>
            <a:r>
              <a:rPr dirty="0" sz="2000" spc="-20" b="1">
                <a:solidFill>
                  <a:srgbClr val="9933FF"/>
                </a:solidFill>
                <a:latin typeface="Times New Roman"/>
                <a:cs typeface="Times New Roman"/>
              </a:rPr>
              <a:t>76%</a:t>
            </a:r>
            <a:r>
              <a:rPr dirty="0" sz="2000" spc="-10" b="1">
                <a:solidFill>
                  <a:srgbClr val="9933FF"/>
                </a:solidFill>
                <a:latin typeface="宋体"/>
                <a:cs typeface="宋体"/>
              </a:rPr>
              <a:t>、</a:t>
            </a:r>
            <a:r>
              <a:rPr dirty="0" sz="2000" spc="-10" b="1">
                <a:solidFill>
                  <a:srgbClr val="9933FF"/>
                </a:solidFill>
                <a:latin typeface="Times New Roman"/>
                <a:cs typeface="Times New Roman"/>
              </a:rPr>
              <a:t>51%</a:t>
            </a:r>
            <a:r>
              <a:rPr dirty="0" sz="2000" spc="-10" b="1">
                <a:solidFill>
                  <a:srgbClr val="9933FF"/>
                </a:solidFill>
                <a:latin typeface="宋体"/>
                <a:cs typeface="宋体"/>
              </a:rPr>
              <a:t>和</a:t>
            </a:r>
            <a:r>
              <a:rPr dirty="0" sz="2000" spc="-25" b="1">
                <a:solidFill>
                  <a:srgbClr val="9933FF"/>
                </a:solidFill>
                <a:latin typeface="Times New Roman"/>
                <a:cs typeface="Times New Roman"/>
              </a:rPr>
              <a:t>39%</a:t>
            </a:r>
            <a:endParaRPr sz="2000">
              <a:latin typeface="Times New Roman"/>
              <a:cs typeface="Times New Roman"/>
            </a:endParaRPr>
          </a:p>
          <a:p>
            <a:pPr marL="1277620">
              <a:lnSpc>
                <a:spcPct val="100000"/>
              </a:lnSpc>
              <a:spcBef>
                <a:spcPts val="960"/>
              </a:spcBef>
            </a:pPr>
            <a:r>
              <a:rPr dirty="0" sz="2000" spc="-20" b="1">
                <a:solidFill>
                  <a:srgbClr val="40458B"/>
                </a:solidFill>
                <a:latin typeface="宋体"/>
                <a:cs typeface="宋体"/>
              </a:rPr>
              <a:t>整数程序的平均比值则分别为：</a:t>
            </a:r>
            <a:r>
              <a:rPr dirty="0" sz="2000" spc="-20" b="1">
                <a:solidFill>
                  <a:srgbClr val="9933FF"/>
                </a:solidFill>
                <a:latin typeface="Times New Roman"/>
                <a:cs typeface="Times New Roman"/>
              </a:rPr>
              <a:t>81%</a:t>
            </a:r>
            <a:r>
              <a:rPr dirty="0" sz="2000" spc="-15" b="1">
                <a:solidFill>
                  <a:srgbClr val="9933FF"/>
                </a:solidFill>
                <a:latin typeface="宋体"/>
                <a:cs typeface="宋体"/>
              </a:rPr>
              <a:t>、</a:t>
            </a:r>
            <a:r>
              <a:rPr dirty="0" sz="2000" spc="-20" b="1">
                <a:solidFill>
                  <a:srgbClr val="9933FF"/>
                </a:solidFill>
                <a:latin typeface="Times New Roman"/>
                <a:cs typeface="Times New Roman"/>
              </a:rPr>
              <a:t>78%</a:t>
            </a:r>
            <a:r>
              <a:rPr dirty="0" sz="2000" spc="-15" b="1">
                <a:solidFill>
                  <a:srgbClr val="9933FF"/>
                </a:solidFill>
                <a:latin typeface="宋体"/>
                <a:cs typeface="宋体"/>
              </a:rPr>
              <a:t>和</a:t>
            </a:r>
            <a:r>
              <a:rPr dirty="0" sz="2000" spc="-25" b="1">
                <a:solidFill>
                  <a:srgbClr val="9933FF"/>
                </a:solidFill>
                <a:latin typeface="Times New Roman"/>
                <a:cs typeface="Times New Roman"/>
              </a:rPr>
              <a:t>78%</a:t>
            </a:r>
            <a:endParaRPr sz="2000">
              <a:latin typeface="Times New Roman"/>
              <a:cs typeface="Times New Roman"/>
            </a:endParaRPr>
          </a:p>
          <a:p>
            <a:pPr marL="1097280" marR="5080" indent="-457200">
              <a:lnSpc>
                <a:spcPct val="120000"/>
              </a:lnSpc>
              <a:spcBef>
                <a:spcPts val="480"/>
              </a:spcBef>
            </a:pPr>
            <a:r>
              <a:rPr dirty="0" sz="2000" spc="-25" b="1">
                <a:solidFill>
                  <a:srgbClr val="E14B04"/>
                </a:solidFill>
                <a:latin typeface="宋体"/>
                <a:cs typeface="宋体"/>
              </a:rPr>
              <a:t>对于整数程序来说，重叠次数对性能提高影响不大，简单的“一次不命中下命中”就几乎可以得到所</a:t>
            </a:r>
            <a:r>
              <a:rPr dirty="0" sz="2000" spc="-20" b="1">
                <a:solidFill>
                  <a:srgbClr val="E14B04"/>
                </a:solidFill>
                <a:latin typeface="宋体"/>
                <a:cs typeface="宋体"/>
              </a:rPr>
              <a:t>有的好处。</a:t>
            </a:r>
            <a:endParaRPr sz="2000">
              <a:latin typeface="宋体"/>
              <a:cs typeface="宋体"/>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119/170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40839" y="36068"/>
            <a:ext cx="4701540" cy="513715"/>
          </a:xfrm>
          <a:prstGeom prst="rect"/>
        </p:spPr>
        <p:txBody>
          <a:bodyPr wrap="square" lIns="0" tIns="12700" rIns="0" bIns="0" rtlCol="0" vert="horz">
            <a:spAutoFit/>
          </a:bodyPr>
          <a:lstStyle/>
          <a:p>
            <a:pPr marL="12700">
              <a:lnSpc>
                <a:spcPct val="100000"/>
              </a:lnSpc>
              <a:spcBef>
                <a:spcPts val="100"/>
              </a:spcBef>
            </a:pPr>
            <a:r>
              <a:rPr dirty="0" u="none" sz="3200"/>
              <a:t>减少</a:t>
            </a:r>
            <a:r>
              <a:rPr dirty="0" u="none" sz="3200" spc="-10"/>
              <a:t>Cache</a:t>
            </a:r>
            <a:r>
              <a:rPr dirty="0" u="none" sz="3200" spc="-15"/>
              <a:t>不命中开销总结</a:t>
            </a:r>
            <a:endParaRPr sz="3200"/>
          </a:p>
        </p:txBody>
      </p:sp>
      <p:sp>
        <p:nvSpPr>
          <p:cNvPr id="10" name="object 10" descr=""/>
          <p:cNvSpPr txBox="1"/>
          <p:nvPr/>
        </p:nvSpPr>
        <p:spPr>
          <a:xfrm>
            <a:off x="110439" y="1105662"/>
            <a:ext cx="4298950" cy="2465070"/>
          </a:xfrm>
          <a:prstGeom prst="rect">
            <a:avLst/>
          </a:prstGeom>
        </p:spPr>
        <p:txBody>
          <a:bodyPr wrap="square" lIns="0" tIns="13335" rIns="0" bIns="0" rtlCol="0" vert="horz">
            <a:spAutoFit/>
          </a:bodyPr>
          <a:lstStyle/>
          <a:p>
            <a:pPr marL="12700">
              <a:lnSpc>
                <a:spcPct val="100000"/>
              </a:lnSpc>
              <a:spcBef>
                <a:spcPts val="105"/>
              </a:spcBef>
            </a:pPr>
            <a:r>
              <a:rPr dirty="0" sz="2000" spc="-20">
                <a:solidFill>
                  <a:srgbClr val="FF0000"/>
                </a:solidFill>
                <a:latin typeface="黑体"/>
                <a:cs typeface="黑体"/>
              </a:rPr>
              <a:t>为了描述方便，引入以下记号：</a:t>
            </a:r>
            <a:endParaRPr sz="2000">
              <a:latin typeface="黑体"/>
              <a:cs typeface="黑体"/>
            </a:endParaRPr>
          </a:p>
          <a:p>
            <a:pPr>
              <a:lnSpc>
                <a:spcPct val="100000"/>
              </a:lnSpc>
              <a:spcBef>
                <a:spcPts val="1720"/>
              </a:spcBef>
            </a:pPr>
            <a:endParaRPr sz="2000">
              <a:latin typeface="黑体"/>
              <a:cs typeface="黑体"/>
            </a:endParaRPr>
          </a:p>
          <a:p>
            <a:pPr marL="469265" indent="-456565">
              <a:lnSpc>
                <a:spcPct val="100000"/>
              </a:lnSpc>
              <a:buClr>
                <a:srgbClr val="40458B"/>
              </a:buClr>
              <a:buAutoNum type="arabicPeriod"/>
              <a:tabLst>
                <a:tab pos="469265" algn="l"/>
              </a:tabLst>
            </a:pPr>
            <a:r>
              <a:rPr dirty="0" sz="2000" spc="-15">
                <a:solidFill>
                  <a:srgbClr val="FF0000"/>
                </a:solidFill>
                <a:latin typeface="黑体"/>
                <a:cs typeface="黑体"/>
              </a:rPr>
              <a:t>“＋”号：表示改进了相应指标。</a:t>
            </a:r>
            <a:endParaRPr sz="2000">
              <a:latin typeface="黑体"/>
              <a:cs typeface="黑体"/>
            </a:endParaRPr>
          </a:p>
          <a:p>
            <a:pPr marL="469265" indent="-456565">
              <a:lnSpc>
                <a:spcPct val="100000"/>
              </a:lnSpc>
              <a:spcBef>
                <a:spcPts val="960"/>
              </a:spcBef>
              <a:buClr>
                <a:srgbClr val="40458B"/>
              </a:buClr>
              <a:buAutoNum type="arabicPeriod"/>
              <a:tabLst>
                <a:tab pos="469265" algn="l"/>
              </a:tabLst>
            </a:pPr>
            <a:r>
              <a:rPr dirty="0" sz="2000" spc="-15">
                <a:solidFill>
                  <a:srgbClr val="FF0000"/>
                </a:solidFill>
                <a:latin typeface="黑体"/>
                <a:cs typeface="黑体"/>
              </a:rPr>
              <a:t>“－”号：表示它使该指标变差。</a:t>
            </a:r>
            <a:endParaRPr sz="2000">
              <a:latin typeface="黑体"/>
              <a:cs typeface="黑体"/>
            </a:endParaRPr>
          </a:p>
          <a:p>
            <a:pPr marL="469265" indent="-456565">
              <a:lnSpc>
                <a:spcPct val="100000"/>
              </a:lnSpc>
              <a:spcBef>
                <a:spcPts val="960"/>
              </a:spcBef>
              <a:buClr>
                <a:srgbClr val="40458B"/>
              </a:buClr>
              <a:buAutoNum type="arabicPeriod"/>
              <a:tabLst>
                <a:tab pos="469265" algn="l"/>
              </a:tabLst>
            </a:pPr>
            <a:r>
              <a:rPr dirty="0" sz="2000" spc="-20">
                <a:solidFill>
                  <a:srgbClr val="FF0000"/>
                </a:solidFill>
                <a:latin typeface="黑体"/>
                <a:cs typeface="黑体"/>
              </a:rPr>
              <a:t>空格栏：表示它对该指标无影响。</a:t>
            </a:r>
            <a:endParaRPr sz="2000">
              <a:latin typeface="黑体"/>
              <a:cs typeface="黑体"/>
            </a:endParaRPr>
          </a:p>
          <a:p>
            <a:pPr marL="469265" indent="-456565">
              <a:lnSpc>
                <a:spcPct val="100000"/>
              </a:lnSpc>
              <a:spcBef>
                <a:spcPts val="960"/>
              </a:spcBef>
              <a:buClr>
                <a:srgbClr val="40458B"/>
              </a:buClr>
              <a:buAutoNum type="arabicPeriod"/>
              <a:tabLst>
                <a:tab pos="469265" algn="l"/>
              </a:tabLst>
            </a:pPr>
            <a:r>
              <a:rPr dirty="0" sz="2000" spc="-5">
                <a:solidFill>
                  <a:srgbClr val="FF0000"/>
                </a:solidFill>
                <a:latin typeface="黑体"/>
                <a:cs typeface="黑体"/>
              </a:rPr>
              <a:t>复杂性：</a:t>
            </a:r>
            <a:r>
              <a:rPr dirty="0" sz="2000" spc="-10">
                <a:solidFill>
                  <a:srgbClr val="FF0000"/>
                </a:solidFill>
                <a:latin typeface="黑体"/>
                <a:cs typeface="黑体"/>
              </a:rPr>
              <a:t>0</a:t>
            </a:r>
            <a:r>
              <a:rPr dirty="0" sz="2000" spc="-15">
                <a:solidFill>
                  <a:srgbClr val="FF0000"/>
                </a:solidFill>
                <a:latin typeface="黑体"/>
                <a:cs typeface="黑体"/>
              </a:rPr>
              <a:t>表示最容易，</a:t>
            </a:r>
            <a:r>
              <a:rPr dirty="0" sz="2000" spc="-10">
                <a:solidFill>
                  <a:srgbClr val="FF0000"/>
                </a:solidFill>
                <a:latin typeface="黑体"/>
                <a:cs typeface="黑体"/>
              </a:rPr>
              <a:t>3</a:t>
            </a:r>
            <a:r>
              <a:rPr dirty="0" sz="2000" spc="-20">
                <a:solidFill>
                  <a:srgbClr val="FF0000"/>
                </a:solidFill>
                <a:latin typeface="黑体"/>
                <a:cs typeface="黑体"/>
              </a:rPr>
              <a:t>表示最</a:t>
            </a:r>
            <a:endParaRPr sz="2000">
              <a:latin typeface="黑体"/>
              <a:cs typeface="黑体"/>
            </a:endParaRPr>
          </a:p>
        </p:txBody>
      </p:sp>
      <p:pic>
        <p:nvPicPr>
          <p:cNvPr id="11" name="object 11" descr=""/>
          <p:cNvPicPr/>
          <p:nvPr/>
        </p:nvPicPr>
        <p:blipFill>
          <a:blip r:embed="rId3" cstate="print"/>
          <a:stretch>
            <a:fillRect/>
          </a:stretch>
        </p:blipFill>
        <p:spPr>
          <a:xfrm>
            <a:off x="4666538" y="806156"/>
            <a:ext cx="7184407" cy="411765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33578" y="914527"/>
            <a:ext cx="11569700" cy="4652645"/>
          </a:xfrm>
          <a:prstGeom prst="rect">
            <a:avLst/>
          </a:prstGeom>
        </p:spPr>
        <p:txBody>
          <a:bodyPr wrap="square" lIns="0" tIns="12700" rIns="0" bIns="0" rtlCol="0" vert="horz">
            <a:spAutoFit/>
          </a:bodyPr>
          <a:lstStyle/>
          <a:p>
            <a:pPr marL="12700" marR="5080" indent="417195">
              <a:lnSpc>
                <a:spcPct val="110000"/>
              </a:lnSpc>
              <a:spcBef>
                <a:spcPts val="100"/>
              </a:spcBef>
              <a:buFont typeface="Wingdings"/>
              <a:buChar char=""/>
              <a:tabLst>
                <a:tab pos="429895" algn="l"/>
              </a:tabLst>
            </a:pPr>
            <a:r>
              <a:rPr dirty="0" sz="2400">
                <a:solidFill>
                  <a:srgbClr val="40458B"/>
                </a:solidFill>
                <a:latin typeface="黑体"/>
                <a:cs typeface="黑体"/>
              </a:rPr>
              <a:t>命中时间直接影响到处理器的时钟频率。在当今的许多计算机中，往往是Cache</a:t>
            </a:r>
            <a:r>
              <a:rPr dirty="0" sz="2400" spc="-25">
                <a:solidFill>
                  <a:srgbClr val="40458B"/>
                </a:solidFill>
                <a:latin typeface="黑体"/>
                <a:cs typeface="黑体"/>
              </a:rPr>
              <a:t>的访</a:t>
            </a:r>
            <a:r>
              <a:rPr dirty="0" sz="2400" spc="-5">
                <a:solidFill>
                  <a:srgbClr val="40458B"/>
                </a:solidFill>
                <a:latin typeface="黑体"/>
                <a:cs typeface="黑体"/>
              </a:rPr>
              <a:t>问时间限制了处理器的时钟频率。</a:t>
            </a:r>
            <a:endParaRPr sz="2400">
              <a:latin typeface="黑体"/>
              <a:cs typeface="黑体"/>
            </a:endParaRPr>
          </a:p>
          <a:p>
            <a:pPr marL="239395" indent="-239395">
              <a:lnSpc>
                <a:spcPct val="100000"/>
              </a:lnSpc>
              <a:spcBef>
                <a:spcPts val="860"/>
              </a:spcBef>
              <a:buFont typeface="Wingdings"/>
              <a:buChar char=""/>
              <a:tabLst>
                <a:tab pos="239395" algn="l"/>
              </a:tabLst>
            </a:pPr>
            <a:r>
              <a:rPr dirty="0" sz="2400" spc="-10">
                <a:solidFill>
                  <a:srgbClr val="40458B"/>
                </a:solidFill>
                <a:latin typeface="黑体"/>
                <a:cs typeface="黑体"/>
              </a:rPr>
              <a:t>即：CPU已准备就绪计算，而数据尚未就绪，因此COU</a:t>
            </a:r>
            <a:r>
              <a:rPr dirty="0" sz="2400" spc="-15">
                <a:solidFill>
                  <a:srgbClr val="40458B"/>
                </a:solidFill>
                <a:latin typeface="黑体"/>
                <a:cs typeface="黑体"/>
              </a:rPr>
              <a:t>需要等待数据才能计算，则造成</a:t>
            </a:r>
            <a:endParaRPr sz="2400">
              <a:latin typeface="黑体"/>
              <a:cs typeface="黑体"/>
            </a:endParaRPr>
          </a:p>
          <a:p>
            <a:pPr marL="12700">
              <a:lnSpc>
                <a:spcPct val="100000"/>
              </a:lnSpc>
              <a:spcBef>
                <a:spcPts val="290"/>
              </a:spcBef>
            </a:pPr>
            <a:r>
              <a:rPr dirty="0" sz="2400" spc="-10">
                <a:solidFill>
                  <a:srgbClr val="40458B"/>
                </a:solidFill>
                <a:latin typeface="黑体"/>
                <a:cs typeface="黑体"/>
              </a:rPr>
              <a:t>计算资源的浪费</a:t>
            </a:r>
            <a:endParaRPr sz="2400">
              <a:latin typeface="黑体"/>
              <a:cs typeface="黑体"/>
            </a:endParaRPr>
          </a:p>
          <a:p>
            <a:pPr>
              <a:lnSpc>
                <a:spcPct val="100000"/>
              </a:lnSpc>
              <a:spcBef>
                <a:spcPts val="1050"/>
              </a:spcBef>
            </a:pPr>
            <a:endParaRPr sz="2400">
              <a:latin typeface="黑体"/>
              <a:cs typeface="黑体"/>
            </a:endParaRPr>
          </a:p>
          <a:p>
            <a:pPr marL="840105">
              <a:lnSpc>
                <a:spcPct val="100000"/>
              </a:lnSpc>
            </a:pPr>
            <a:r>
              <a:rPr dirty="0" sz="2400" spc="-10">
                <a:solidFill>
                  <a:srgbClr val="E14B04"/>
                </a:solidFill>
                <a:latin typeface="黑体"/>
                <a:cs typeface="黑体"/>
              </a:rPr>
              <a:t>四种解决方法</a:t>
            </a:r>
            <a:endParaRPr sz="2400">
              <a:latin typeface="黑体"/>
              <a:cs typeface="黑体"/>
            </a:endParaRPr>
          </a:p>
          <a:p>
            <a:pPr lvl="2" marL="1907539" indent="-1067435">
              <a:lnSpc>
                <a:spcPct val="100000"/>
              </a:lnSpc>
              <a:spcBef>
                <a:spcPts val="1155"/>
              </a:spcBef>
              <a:buAutoNum type="arabicPeriod"/>
              <a:tabLst>
                <a:tab pos="1907539" algn="l"/>
              </a:tabLst>
            </a:pPr>
            <a:r>
              <a:rPr dirty="0" sz="2400">
                <a:solidFill>
                  <a:srgbClr val="E14B04"/>
                </a:solidFill>
                <a:latin typeface="黑体"/>
                <a:cs typeface="黑体"/>
              </a:rPr>
              <a:t>容量小、结构简单的</a:t>
            </a:r>
            <a:r>
              <a:rPr dirty="0" sz="2400" spc="-10">
                <a:solidFill>
                  <a:srgbClr val="E14B04"/>
                </a:solidFill>
                <a:latin typeface="黑体"/>
                <a:cs typeface="黑体"/>
              </a:rPr>
              <a:t>Cache</a:t>
            </a:r>
            <a:endParaRPr sz="2400">
              <a:latin typeface="黑体"/>
              <a:cs typeface="黑体"/>
            </a:endParaRPr>
          </a:p>
          <a:p>
            <a:pPr lvl="2" marL="1907539" indent="-1067435">
              <a:lnSpc>
                <a:spcPct val="100000"/>
              </a:lnSpc>
              <a:spcBef>
                <a:spcPts val="1150"/>
              </a:spcBef>
              <a:buAutoNum type="arabicPeriod"/>
              <a:tabLst>
                <a:tab pos="1907539" algn="l"/>
              </a:tabLst>
            </a:pPr>
            <a:r>
              <a:rPr dirty="0" sz="2400">
                <a:solidFill>
                  <a:srgbClr val="E14B04"/>
                </a:solidFill>
                <a:latin typeface="黑体"/>
                <a:cs typeface="黑体"/>
              </a:rPr>
              <a:t>虚拟</a:t>
            </a:r>
            <a:r>
              <a:rPr dirty="0" sz="2400" spc="-10">
                <a:solidFill>
                  <a:srgbClr val="E14B04"/>
                </a:solidFill>
                <a:latin typeface="黑体"/>
                <a:cs typeface="黑体"/>
              </a:rPr>
              <a:t>Cache</a:t>
            </a:r>
            <a:endParaRPr sz="2400">
              <a:latin typeface="黑体"/>
              <a:cs typeface="黑体"/>
            </a:endParaRPr>
          </a:p>
          <a:p>
            <a:pPr lvl="2" marL="1906905" indent="-1066800">
              <a:lnSpc>
                <a:spcPct val="100000"/>
              </a:lnSpc>
              <a:spcBef>
                <a:spcPts val="1155"/>
              </a:spcBef>
              <a:buAutoNum type="arabicPeriod"/>
              <a:tabLst>
                <a:tab pos="1906905" algn="l"/>
              </a:tabLst>
            </a:pPr>
            <a:r>
              <a:rPr dirty="0" sz="2400" spc="-10">
                <a:solidFill>
                  <a:srgbClr val="E14B04"/>
                </a:solidFill>
                <a:latin typeface="黑体"/>
                <a:cs typeface="黑体"/>
              </a:rPr>
              <a:t>Cache</a:t>
            </a:r>
            <a:r>
              <a:rPr dirty="0" sz="2400" spc="-20">
                <a:solidFill>
                  <a:srgbClr val="E14B04"/>
                </a:solidFill>
                <a:latin typeface="黑体"/>
                <a:cs typeface="黑体"/>
              </a:rPr>
              <a:t>访问流水化</a:t>
            </a:r>
            <a:endParaRPr sz="2400">
              <a:latin typeface="黑体"/>
              <a:cs typeface="黑体"/>
            </a:endParaRPr>
          </a:p>
          <a:p>
            <a:pPr lvl="2" marL="1907539" indent="-1067435">
              <a:lnSpc>
                <a:spcPct val="100000"/>
              </a:lnSpc>
              <a:spcBef>
                <a:spcPts val="1155"/>
              </a:spcBef>
              <a:buAutoNum type="arabicPeriod"/>
              <a:tabLst>
                <a:tab pos="1907539" algn="l"/>
              </a:tabLst>
            </a:pPr>
            <a:r>
              <a:rPr dirty="0" sz="2400">
                <a:solidFill>
                  <a:srgbClr val="E14B04"/>
                </a:solidFill>
                <a:latin typeface="黑体"/>
                <a:cs typeface="黑体"/>
              </a:rPr>
              <a:t>踪迹</a:t>
            </a:r>
            <a:r>
              <a:rPr dirty="0" sz="2400" spc="-10">
                <a:solidFill>
                  <a:srgbClr val="E14B04"/>
                </a:solidFill>
                <a:latin typeface="黑体"/>
                <a:cs typeface="黑体"/>
              </a:rPr>
              <a:t>Cache</a:t>
            </a:r>
            <a:endParaRPr sz="2400">
              <a:latin typeface="黑体"/>
              <a:cs typeface="黑体"/>
            </a:endParaRPr>
          </a:p>
        </p:txBody>
      </p:sp>
      <p:sp>
        <p:nvSpPr>
          <p:cNvPr id="10" name="object 10"/>
          <p:cNvSpPr txBox="1">
            <a:spLocks noGrp="1"/>
          </p:cNvSpPr>
          <p:nvPr>
            <p:ph type="title"/>
          </p:nvPr>
        </p:nvSpPr>
        <p:spPr>
          <a:xfrm>
            <a:off x="1707895" y="18415"/>
            <a:ext cx="2869565" cy="452120"/>
          </a:xfrm>
          <a:prstGeom prst="rect"/>
        </p:spPr>
        <p:txBody>
          <a:bodyPr wrap="square" lIns="0" tIns="12065" rIns="0" bIns="0" rtlCol="0" vert="horz">
            <a:spAutoFit/>
          </a:bodyPr>
          <a:lstStyle/>
          <a:p>
            <a:pPr marL="12700">
              <a:lnSpc>
                <a:spcPct val="100000"/>
              </a:lnSpc>
              <a:spcBef>
                <a:spcPts val="95"/>
              </a:spcBef>
              <a:tabLst>
                <a:tab pos="724535" algn="l"/>
              </a:tabLst>
            </a:pPr>
            <a:r>
              <a:rPr dirty="0" u="none" spc="-25">
                <a:solidFill>
                  <a:srgbClr val="647AD3"/>
                </a:solidFill>
              </a:rPr>
              <a:t>7.5</a:t>
            </a:r>
            <a:r>
              <a:rPr dirty="0" u="none">
                <a:solidFill>
                  <a:srgbClr val="647AD3"/>
                </a:solidFill>
              </a:rPr>
              <a:t>	</a:t>
            </a:r>
            <a:r>
              <a:rPr dirty="0" u="none" spc="-40">
                <a:solidFill>
                  <a:srgbClr val="647AD3"/>
                </a:solidFill>
              </a:rPr>
              <a:t>减少命中时间</a:t>
            </a:r>
          </a:p>
        </p:txBody>
      </p:sp>
      <p:sp>
        <p:nvSpPr>
          <p:cNvPr id="11" name="object 11" descr=""/>
          <p:cNvSpPr txBox="1"/>
          <p:nvPr/>
        </p:nvSpPr>
        <p:spPr>
          <a:xfrm>
            <a:off x="5743702" y="79959"/>
            <a:ext cx="4815205" cy="422909"/>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7.5.1</a:t>
            </a:r>
            <a:r>
              <a:rPr dirty="0" sz="2600" spc="-20">
                <a:solidFill>
                  <a:srgbClr val="0000CC"/>
                </a:solidFill>
                <a:latin typeface="黑体"/>
                <a:cs typeface="黑体"/>
              </a:rPr>
              <a:t> 容量小、结构简单的</a:t>
            </a:r>
            <a:r>
              <a:rPr dirty="0" sz="2600" spc="-10">
                <a:solidFill>
                  <a:srgbClr val="0000CC"/>
                </a:solidFill>
                <a:latin typeface="黑体"/>
                <a:cs typeface="黑体"/>
              </a:rPr>
              <a:t>Cache</a:t>
            </a:r>
            <a:endParaRPr sz="2600">
              <a:latin typeface="黑体"/>
              <a:cs typeface="黑体"/>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233578" y="914527"/>
            <a:ext cx="11569700" cy="4761865"/>
          </a:xfrm>
          <a:prstGeom prst="rect">
            <a:avLst/>
          </a:prstGeom>
        </p:spPr>
        <p:txBody>
          <a:bodyPr wrap="square" lIns="0" tIns="12700" rIns="0" bIns="0" rtlCol="0" vert="horz">
            <a:spAutoFit/>
          </a:bodyPr>
          <a:lstStyle/>
          <a:p>
            <a:pPr marL="12700" marR="5080" indent="417195">
              <a:lnSpc>
                <a:spcPct val="110000"/>
              </a:lnSpc>
              <a:spcBef>
                <a:spcPts val="100"/>
              </a:spcBef>
              <a:buFont typeface="Wingdings"/>
              <a:buChar char=""/>
              <a:tabLst>
                <a:tab pos="429895" algn="l"/>
              </a:tabLst>
            </a:pPr>
            <a:r>
              <a:rPr dirty="0" sz="2400">
                <a:solidFill>
                  <a:srgbClr val="40458B"/>
                </a:solidFill>
                <a:latin typeface="黑体"/>
                <a:cs typeface="黑体"/>
              </a:rPr>
              <a:t>命中时间直接影响到处理器的时钟频率。在当今的许多计算机中，往往是Cache</a:t>
            </a:r>
            <a:r>
              <a:rPr dirty="0" sz="2400" spc="-25">
                <a:solidFill>
                  <a:srgbClr val="40458B"/>
                </a:solidFill>
                <a:latin typeface="黑体"/>
                <a:cs typeface="黑体"/>
              </a:rPr>
              <a:t>的访</a:t>
            </a:r>
            <a:r>
              <a:rPr dirty="0" sz="2400" spc="-5">
                <a:solidFill>
                  <a:srgbClr val="40458B"/>
                </a:solidFill>
                <a:latin typeface="黑体"/>
                <a:cs typeface="黑体"/>
              </a:rPr>
              <a:t>问时间限制了处理器的时钟频率。</a:t>
            </a:r>
            <a:endParaRPr sz="2400">
              <a:latin typeface="黑体"/>
              <a:cs typeface="黑体"/>
            </a:endParaRPr>
          </a:p>
          <a:p>
            <a:pPr marL="239395" indent="-239395">
              <a:lnSpc>
                <a:spcPct val="100000"/>
              </a:lnSpc>
              <a:spcBef>
                <a:spcPts val="860"/>
              </a:spcBef>
              <a:buFont typeface="Wingdings"/>
              <a:buChar char=""/>
              <a:tabLst>
                <a:tab pos="239395" algn="l"/>
              </a:tabLst>
            </a:pPr>
            <a:r>
              <a:rPr dirty="0" sz="2400" spc="-10">
                <a:solidFill>
                  <a:srgbClr val="40458B"/>
                </a:solidFill>
                <a:latin typeface="黑体"/>
                <a:cs typeface="黑体"/>
              </a:rPr>
              <a:t>即：CPU已准备就绪计算，而数据尚未就绪，因此COU</a:t>
            </a:r>
            <a:r>
              <a:rPr dirty="0" sz="2400" spc="-15">
                <a:solidFill>
                  <a:srgbClr val="40458B"/>
                </a:solidFill>
                <a:latin typeface="黑体"/>
                <a:cs typeface="黑体"/>
              </a:rPr>
              <a:t>需要等待数据才能计算，则造成</a:t>
            </a:r>
            <a:endParaRPr sz="2400">
              <a:latin typeface="黑体"/>
              <a:cs typeface="黑体"/>
            </a:endParaRPr>
          </a:p>
          <a:p>
            <a:pPr marL="12700">
              <a:lnSpc>
                <a:spcPct val="100000"/>
              </a:lnSpc>
              <a:spcBef>
                <a:spcPts val="290"/>
              </a:spcBef>
            </a:pPr>
            <a:r>
              <a:rPr dirty="0" sz="2400" spc="-10">
                <a:solidFill>
                  <a:srgbClr val="40458B"/>
                </a:solidFill>
                <a:latin typeface="黑体"/>
                <a:cs typeface="黑体"/>
              </a:rPr>
              <a:t>计算资源的浪费</a:t>
            </a:r>
            <a:endParaRPr sz="2400">
              <a:latin typeface="黑体"/>
              <a:cs typeface="黑体"/>
            </a:endParaRPr>
          </a:p>
          <a:p>
            <a:pPr marL="732155">
              <a:lnSpc>
                <a:spcPct val="100000"/>
              </a:lnSpc>
              <a:spcBef>
                <a:spcPts val="2630"/>
              </a:spcBef>
            </a:pPr>
            <a:r>
              <a:rPr dirty="0" sz="2600">
                <a:solidFill>
                  <a:srgbClr val="0000CC"/>
                </a:solidFill>
                <a:latin typeface="黑体"/>
                <a:cs typeface="黑体"/>
              </a:rPr>
              <a:t>7.5.1</a:t>
            </a:r>
            <a:r>
              <a:rPr dirty="0" sz="2600" spc="-20">
                <a:solidFill>
                  <a:srgbClr val="0000CC"/>
                </a:solidFill>
                <a:latin typeface="黑体"/>
                <a:cs typeface="黑体"/>
              </a:rPr>
              <a:t> 容量小、结构简单的</a:t>
            </a:r>
            <a:r>
              <a:rPr dirty="0" sz="2600" spc="-10">
                <a:solidFill>
                  <a:srgbClr val="0000CC"/>
                </a:solidFill>
                <a:latin typeface="黑体"/>
                <a:cs typeface="黑体"/>
              </a:rPr>
              <a:t>Cache</a:t>
            </a:r>
            <a:endParaRPr sz="2600">
              <a:latin typeface="黑体"/>
              <a:cs typeface="黑体"/>
            </a:endParaRPr>
          </a:p>
          <a:p>
            <a:pPr marL="1010285" indent="-457200">
              <a:lnSpc>
                <a:spcPct val="100000"/>
              </a:lnSpc>
              <a:spcBef>
                <a:spcPts val="1345"/>
              </a:spcBef>
              <a:buClr>
                <a:srgbClr val="40458B"/>
              </a:buClr>
              <a:buFont typeface="Tahoma"/>
              <a:buAutoNum type="arabicPeriod"/>
              <a:tabLst>
                <a:tab pos="1010285" algn="l"/>
              </a:tabLst>
            </a:pPr>
            <a:r>
              <a:rPr dirty="0" sz="2400" spc="-15">
                <a:solidFill>
                  <a:srgbClr val="E14B04"/>
                </a:solidFill>
                <a:latin typeface="黑体"/>
                <a:cs typeface="黑体"/>
              </a:rPr>
              <a:t>硬件越简单，速度就越快；</a:t>
            </a:r>
            <a:endParaRPr sz="2400">
              <a:latin typeface="黑体"/>
              <a:cs typeface="黑体"/>
            </a:endParaRPr>
          </a:p>
          <a:p>
            <a:pPr marL="1010285" indent="-457200">
              <a:lnSpc>
                <a:spcPct val="100000"/>
              </a:lnSpc>
              <a:spcBef>
                <a:spcPts val="1155"/>
              </a:spcBef>
              <a:buClr>
                <a:srgbClr val="40458B"/>
              </a:buClr>
              <a:buAutoNum type="arabicPeriod"/>
              <a:tabLst>
                <a:tab pos="1010285" algn="l"/>
              </a:tabLst>
            </a:pPr>
            <a:r>
              <a:rPr dirty="0" sz="2400">
                <a:solidFill>
                  <a:srgbClr val="E14B04"/>
                </a:solidFill>
                <a:latin typeface="黑体"/>
                <a:cs typeface="黑体"/>
              </a:rPr>
              <a:t>片内开销：应使Cache足够小，以便可以与CPU</a:t>
            </a:r>
            <a:r>
              <a:rPr dirty="0" sz="2400" spc="-5">
                <a:solidFill>
                  <a:srgbClr val="E14B04"/>
                </a:solidFill>
                <a:latin typeface="黑体"/>
                <a:cs typeface="黑体"/>
              </a:rPr>
              <a:t>一起放在同一块芯片上。</a:t>
            </a:r>
            <a:endParaRPr sz="2400">
              <a:latin typeface="黑体"/>
              <a:cs typeface="黑体"/>
            </a:endParaRPr>
          </a:p>
          <a:p>
            <a:pPr>
              <a:lnSpc>
                <a:spcPct val="100000"/>
              </a:lnSpc>
              <a:spcBef>
                <a:spcPts val="85"/>
              </a:spcBef>
            </a:pPr>
            <a:endParaRPr sz="2400">
              <a:latin typeface="黑体"/>
              <a:cs typeface="黑体"/>
            </a:endParaRPr>
          </a:p>
          <a:p>
            <a:pPr marL="845185">
              <a:lnSpc>
                <a:spcPct val="100000"/>
              </a:lnSpc>
            </a:pPr>
            <a:r>
              <a:rPr dirty="0" sz="2400">
                <a:solidFill>
                  <a:srgbClr val="40458B"/>
                </a:solidFill>
                <a:latin typeface="黑体"/>
                <a:cs typeface="黑体"/>
              </a:rPr>
              <a:t>如果</a:t>
            </a:r>
            <a:r>
              <a:rPr dirty="0" sz="2400" spc="-25">
                <a:solidFill>
                  <a:srgbClr val="40458B"/>
                </a:solidFill>
                <a:latin typeface="Tahoma"/>
                <a:cs typeface="Tahoma"/>
              </a:rPr>
              <a:t>Cache</a:t>
            </a:r>
            <a:r>
              <a:rPr dirty="0" sz="2400" spc="-5">
                <a:solidFill>
                  <a:srgbClr val="40458B"/>
                </a:solidFill>
                <a:latin typeface="黑体"/>
                <a:cs typeface="黑体"/>
              </a:rPr>
              <a:t>放不进去，某些设计采用了一种折衷方案：</a:t>
            </a:r>
            <a:endParaRPr sz="2400">
              <a:latin typeface="黑体"/>
              <a:cs typeface="黑体"/>
            </a:endParaRPr>
          </a:p>
          <a:p>
            <a:pPr marL="1512570">
              <a:lnSpc>
                <a:spcPct val="100000"/>
              </a:lnSpc>
              <a:spcBef>
                <a:spcPts val="1550"/>
              </a:spcBef>
            </a:pPr>
            <a:r>
              <a:rPr dirty="0" sz="2000" spc="-10" b="1">
                <a:latin typeface="宋体"/>
                <a:cs typeface="宋体"/>
              </a:rPr>
              <a:t>把Cache</a:t>
            </a:r>
            <a:r>
              <a:rPr dirty="0" sz="2000" spc="-20" b="1">
                <a:latin typeface="宋体"/>
                <a:cs typeface="宋体"/>
              </a:rPr>
              <a:t>的标识放在片内，而把</a:t>
            </a:r>
            <a:r>
              <a:rPr dirty="0" sz="2000" spc="-10" b="1">
                <a:latin typeface="宋体"/>
                <a:cs typeface="宋体"/>
              </a:rPr>
              <a:t>Cache</a:t>
            </a:r>
            <a:r>
              <a:rPr dirty="0" sz="2000" spc="-25" b="1">
                <a:latin typeface="宋体"/>
                <a:cs typeface="宋体"/>
              </a:rPr>
              <a:t>的数据存储器放在片外。</a:t>
            </a:r>
            <a:endParaRPr sz="2000">
              <a:latin typeface="宋体"/>
              <a:cs typeface="宋体"/>
            </a:endParaRPr>
          </a:p>
        </p:txBody>
      </p:sp>
      <p:sp>
        <p:nvSpPr>
          <p:cNvPr id="10" name="object 10"/>
          <p:cNvSpPr txBox="1">
            <a:spLocks noGrp="1"/>
          </p:cNvSpPr>
          <p:nvPr>
            <p:ph type="title"/>
          </p:nvPr>
        </p:nvSpPr>
        <p:spPr>
          <a:xfrm>
            <a:off x="1707895" y="18415"/>
            <a:ext cx="2869565" cy="452120"/>
          </a:xfrm>
          <a:prstGeom prst="rect"/>
        </p:spPr>
        <p:txBody>
          <a:bodyPr wrap="square" lIns="0" tIns="12065" rIns="0" bIns="0" rtlCol="0" vert="horz">
            <a:spAutoFit/>
          </a:bodyPr>
          <a:lstStyle/>
          <a:p>
            <a:pPr marL="12700">
              <a:lnSpc>
                <a:spcPct val="100000"/>
              </a:lnSpc>
              <a:spcBef>
                <a:spcPts val="95"/>
              </a:spcBef>
              <a:tabLst>
                <a:tab pos="724535" algn="l"/>
              </a:tabLst>
            </a:pPr>
            <a:r>
              <a:rPr dirty="0" u="none" spc="-25">
                <a:solidFill>
                  <a:srgbClr val="647AD3"/>
                </a:solidFill>
              </a:rPr>
              <a:t>7.5</a:t>
            </a:r>
            <a:r>
              <a:rPr dirty="0" u="none">
                <a:solidFill>
                  <a:srgbClr val="647AD3"/>
                </a:solidFill>
              </a:rPr>
              <a:t>	</a:t>
            </a:r>
            <a:r>
              <a:rPr dirty="0" u="none" spc="-40">
                <a:solidFill>
                  <a:srgbClr val="647AD3"/>
                </a:solidFill>
              </a:rPr>
              <a:t>减少命中时间</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122/170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58978" rIns="0" bIns="0" rtlCol="0" vert="horz">
            <a:spAutoFit/>
          </a:bodyPr>
          <a:lstStyle/>
          <a:p>
            <a:pPr marL="12700">
              <a:lnSpc>
                <a:spcPct val="100000"/>
              </a:lnSpc>
              <a:spcBef>
                <a:spcPts val="95"/>
              </a:spcBef>
              <a:tabLst>
                <a:tab pos="10648315" algn="l"/>
              </a:tabLst>
            </a:pPr>
            <a:r>
              <a:rPr dirty="0" spc="-105"/>
              <a:t> </a:t>
            </a:r>
            <a:r>
              <a:rPr dirty="0"/>
              <a:t>7.5</a:t>
            </a:r>
            <a:r>
              <a:rPr dirty="0" spc="-5"/>
              <a:t> </a:t>
            </a:r>
            <a:r>
              <a:rPr dirty="0" spc="-35"/>
              <a:t>减少</a:t>
            </a:r>
            <a:r>
              <a:rPr dirty="0" spc="-30"/>
              <a:t>命</a:t>
            </a:r>
            <a:r>
              <a:rPr dirty="0" spc="-35"/>
              <a:t>中时</a:t>
            </a:r>
            <a:r>
              <a:rPr dirty="0" spc="-50"/>
              <a:t>间</a:t>
            </a:r>
            <a:r>
              <a:rPr dirty="0"/>
              <a:t>	</a:t>
            </a:r>
          </a:p>
        </p:txBody>
      </p:sp>
      <p:sp>
        <p:nvSpPr>
          <p:cNvPr id="9" name="object 9" descr=""/>
          <p:cNvSpPr txBox="1"/>
          <p:nvPr/>
        </p:nvSpPr>
        <p:spPr>
          <a:xfrm>
            <a:off x="629818" y="678637"/>
            <a:ext cx="11698605" cy="3165475"/>
          </a:xfrm>
          <a:prstGeom prst="rect">
            <a:avLst/>
          </a:prstGeom>
        </p:spPr>
        <p:txBody>
          <a:bodyPr wrap="square" lIns="0" tIns="13335" rIns="0" bIns="0" rtlCol="0" vert="horz">
            <a:spAutoFit/>
          </a:bodyPr>
          <a:lstStyle/>
          <a:p>
            <a:pPr marL="1020444">
              <a:lnSpc>
                <a:spcPct val="100000"/>
              </a:lnSpc>
              <a:spcBef>
                <a:spcPts val="105"/>
              </a:spcBef>
            </a:pPr>
            <a:r>
              <a:rPr dirty="0" sz="2600">
                <a:solidFill>
                  <a:srgbClr val="0000CC"/>
                </a:solidFill>
                <a:latin typeface="黑体"/>
                <a:cs typeface="黑体"/>
              </a:rPr>
              <a:t>7.5.2</a:t>
            </a:r>
            <a:r>
              <a:rPr dirty="0" sz="2600" spc="-20">
                <a:solidFill>
                  <a:srgbClr val="0000CC"/>
                </a:solidFill>
                <a:latin typeface="黑体"/>
                <a:cs typeface="黑体"/>
              </a:rPr>
              <a:t> 虚拟Cache</a:t>
            </a:r>
            <a:endParaRPr sz="2600">
              <a:latin typeface="黑体"/>
              <a:cs typeface="黑体"/>
            </a:endParaRPr>
          </a:p>
          <a:p>
            <a:pPr>
              <a:lnSpc>
                <a:spcPct val="100000"/>
              </a:lnSpc>
              <a:spcBef>
                <a:spcPts val="355"/>
              </a:spcBef>
            </a:pPr>
            <a:endParaRPr sz="2600">
              <a:latin typeface="黑体"/>
              <a:cs typeface="黑体"/>
            </a:endParaRPr>
          </a:p>
          <a:p>
            <a:pPr marL="461009" indent="-448309">
              <a:lnSpc>
                <a:spcPct val="100000"/>
              </a:lnSpc>
              <a:buClr>
                <a:srgbClr val="40458B"/>
              </a:buClr>
              <a:buAutoNum type="arabicPeriod"/>
              <a:tabLst>
                <a:tab pos="461009" algn="l"/>
              </a:tabLst>
            </a:pPr>
            <a:r>
              <a:rPr dirty="0" sz="2400" spc="-10">
                <a:solidFill>
                  <a:srgbClr val="E14B04"/>
                </a:solidFill>
                <a:latin typeface="黑体"/>
                <a:cs typeface="黑体"/>
              </a:rPr>
              <a:t>物理Cache</a:t>
            </a:r>
            <a:r>
              <a:rPr dirty="0" sz="2400" spc="-20">
                <a:solidFill>
                  <a:srgbClr val="E14B04"/>
                </a:solidFill>
                <a:latin typeface="黑体"/>
                <a:cs typeface="黑体"/>
              </a:rPr>
              <a:t>存储系统</a:t>
            </a:r>
            <a:endParaRPr sz="2400">
              <a:latin typeface="黑体"/>
              <a:cs typeface="黑体"/>
            </a:endParaRPr>
          </a:p>
          <a:p>
            <a:pPr lvl="1" marL="911860" marR="5080" indent="-270510">
              <a:lnSpc>
                <a:spcPct val="120000"/>
              </a:lnSpc>
              <a:spcBef>
                <a:spcPts val="580"/>
              </a:spcBef>
              <a:buSzPct val="89583"/>
              <a:buFont typeface="Wingdings"/>
              <a:buChar char=""/>
              <a:tabLst>
                <a:tab pos="913130" algn="l"/>
              </a:tabLst>
            </a:pPr>
            <a:r>
              <a:rPr dirty="0" sz="2400" spc="-10">
                <a:solidFill>
                  <a:srgbClr val="40458B"/>
                </a:solidFill>
                <a:latin typeface="Tahoma"/>
                <a:cs typeface="Tahoma"/>
              </a:rPr>
              <a:t>CPU</a:t>
            </a:r>
            <a:r>
              <a:rPr dirty="0" sz="2400">
                <a:solidFill>
                  <a:srgbClr val="40458B"/>
                </a:solidFill>
                <a:latin typeface="黑体"/>
                <a:cs typeface="黑体"/>
              </a:rPr>
              <a:t>要访问</a:t>
            </a:r>
            <a:r>
              <a:rPr dirty="0" sz="2400" spc="-20">
                <a:solidFill>
                  <a:srgbClr val="40458B"/>
                </a:solidFill>
                <a:latin typeface="Tahoma"/>
                <a:cs typeface="Tahoma"/>
              </a:rPr>
              <a:t>Cache</a:t>
            </a:r>
            <a:r>
              <a:rPr dirty="0" sz="2400" spc="-10">
                <a:solidFill>
                  <a:srgbClr val="40458B"/>
                </a:solidFill>
                <a:latin typeface="黑体"/>
                <a:cs typeface="黑体"/>
              </a:rPr>
              <a:t>，首先获取</a:t>
            </a:r>
            <a:r>
              <a:rPr dirty="0" sz="2400" spc="-20">
                <a:solidFill>
                  <a:srgbClr val="40458B"/>
                </a:solidFill>
                <a:latin typeface="Tahoma"/>
                <a:cs typeface="Tahoma"/>
              </a:rPr>
              <a:t>Cache</a:t>
            </a:r>
            <a:r>
              <a:rPr dirty="0" sz="2400">
                <a:solidFill>
                  <a:srgbClr val="40458B"/>
                </a:solidFill>
                <a:latin typeface="黑体"/>
                <a:cs typeface="黑体"/>
              </a:rPr>
              <a:t>的虚拟地址，通过</a:t>
            </a:r>
            <a:r>
              <a:rPr dirty="0" sz="2400" spc="-30">
                <a:solidFill>
                  <a:srgbClr val="40458B"/>
                </a:solidFill>
                <a:latin typeface="Tahoma"/>
                <a:cs typeface="Tahoma"/>
              </a:rPr>
              <a:t>MMU</a:t>
            </a:r>
            <a:r>
              <a:rPr dirty="0" sz="2400" spc="-5">
                <a:solidFill>
                  <a:srgbClr val="40458B"/>
                </a:solidFill>
                <a:latin typeface="黑体"/>
                <a:cs typeface="黑体"/>
              </a:rPr>
              <a:t>将虚拟地址转换为物理</a:t>
            </a:r>
            <a:r>
              <a:rPr dirty="0" sz="2400" spc="-5">
                <a:solidFill>
                  <a:srgbClr val="40458B"/>
                </a:solidFill>
                <a:latin typeface="黑体"/>
                <a:cs typeface="黑体"/>
              </a:rPr>
              <a:t>	</a:t>
            </a:r>
            <a:r>
              <a:rPr dirty="0" sz="2400">
                <a:solidFill>
                  <a:srgbClr val="40458B"/>
                </a:solidFill>
                <a:latin typeface="黑体"/>
                <a:cs typeface="黑体"/>
              </a:rPr>
              <a:t>地址，然后做</a:t>
            </a:r>
            <a:r>
              <a:rPr dirty="0" sz="2400" spc="-25">
                <a:solidFill>
                  <a:srgbClr val="40458B"/>
                </a:solidFill>
                <a:latin typeface="Tahoma"/>
                <a:cs typeface="Tahoma"/>
              </a:rPr>
              <a:t>Cache</a:t>
            </a:r>
            <a:r>
              <a:rPr dirty="0" sz="2400" spc="-15">
                <a:solidFill>
                  <a:srgbClr val="40458B"/>
                </a:solidFill>
                <a:latin typeface="黑体"/>
                <a:cs typeface="黑体"/>
              </a:rPr>
              <a:t>的访问。</a:t>
            </a:r>
            <a:endParaRPr sz="2400">
              <a:latin typeface="黑体"/>
              <a:cs typeface="黑体"/>
            </a:endParaRPr>
          </a:p>
          <a:p>
            <a:pPr lvl="1" marL="913130" indent="-271145">
              <a:lnSpc>
                <a:spcPct val="100000"/>
              </a:lnSpc>
              <a:spcBef>
                <a:spcPts val="1150"/>
              </a:spcBef>
              <a:buSzPct val="89583"/>
              <a:buFont typeface="Wingdings"/>
              <a:buChar char=""/>
              <a:tabLst>
                <a:tab pos="913130" algn="l"/>
              </a:tabLst>
            </a:pPr>
            <a:r>
              <a:rPr dirty="0" sz="2400" spc="-30">
                <a:solidFill>
                  <a:srgbClr val="40458B"/>
                </a:solidFill>
                <a:latin typeface="Times New Roman"/>
                <a:cs typeface="Times New Roman"/>
              </a:rPr>
              <a:t>MMU</a:t>
            </a:r>
            <a:r>
              <a:rPr dirty="0" sz="2400" spc="-10">
                <a:solidFill>
                  <a:srgbClr val="40458B"/>
                </a:solidFill>
                <a:latin typeface="黑体"/>
                <a:cs typeface="黑体"/>
              </a:rPr>
              <a:t>做虚拟地址到物理地址的映射和</a:t>
            </a:r>
            <a:r>
              <a:rPr dirty="0" sz="2400" spc="-10">
                <a:solidFill>
                  <a:srgbClr val="40458B"/>
                </a:solidFill>
                <a:latin typeface="Times New Roman"/>
                <a:cs typeface="Times New Roman"/>
              </a:rPr>
              <a:t>Cache</a:t>
            </a:r>
            <a:r>
              <a:rPr dirty="0" sz="2400" spc="-10">
                <a:solidFill>
                  <a:srgbClr val="40458B"/>
                </a:solidFill>
                <a:latin typeface="黑体"/>
                <a:cs typeface="黑体"/>
              </a:rPr>
              <a:t>的访问是串行执行的，访问</a:t>
            </a:r>
            <a:r>
              <a:rPr dirty="0" sz="2400" spc="-10">
                <a:solidFill>
                  <a:srgbClr val="40458B"/>
                </a:solidFill>
                <a:latin typeface="Times New Roman"/>
                <a:cs typeface="Times New Roman"/>
              </a:rPr>
              <a:t>Cache</a:t>
            </a:r>
            <a:r>
              <a:rPr dirty="0" sz="2400" spc="-50">
                <a:solidFill>
                  <a:srgbClr val="40458B"/>
                </a:solidFill>
                <a:latin typeface="黑体"/>
                <a:cs typeface="黑体"/>
              </a:rPr>
              <a:t>必</a:t>
            </a:r>
            <a:endParaRPr sz="2400">
              <a:latin typeface="黑体"/>
              <a:cs typeface="黑体"/>
            </a:endParaRPr>
          </a:p>
          <a:p>
            <a:pPr marL="913130">
              <a:lnSpc>
                <a:spcPct val="100000"/>
              </a:lnSpc>
              <a:spcBef>
                <a:spcPts val="580"/>
              </a:spcBef>
            </a:pPr>
            <a:r>
              <a:rPr dirty="0" sz="2400">
                <a:solidFill>
                  <a:srgbClr val="40458B"/>
                </a:solidFill>
                <a:latin typeface="黑体"/>
                <a:cs typeface="黑体"/>
              </a:rPr>
              <a:t>须等到</a:t>
            </a:r>
            <a:r>
              <a:rPr dirty="0" sz="2400" spc="-30">
                <a:solidFill>
                  <a:srgbClr val="40458B"/>
                </a:solidFill>
                <a:latin typeface="Times New Roman"/>
                <a:cs typeface="Times New Roman"/>
              </a:rPr>
              <a:t>MMU</a:t>
            </a:r>
            <a:r>
              <a:rPr dirty="0" sz="2400">
                <a:solidFill>
                  <a:srgbClr val="40458B"/>
                </a:solidFill>
                <a:latin typeface="黑体"/>
                <a:cs typeface="黑体"/>
              </a:rPr>
              <a:t>把地址转换完后才可以执行（</a:t>
            </a:r>
            <a:r>
              <a:rPr dirty="0" sz="2400">
                <a:solidFill>
                  <a:srgbClr val="FF09FF"/>
                </a:solidFill>
                <a:latin typeface="黑体"/>
                <a:cs typeface="黑体"/>
              </a:rPr>
              <a:t>效率问题产生</a:t>
            </a:r>
            <a:r>
              <a:rPr dirty="0" sz="2400">
                <a:solidFill>
                  <a:srgbClr val="40458B"/>
                </a:solidFill>
                <a:latin typeface="黑体"/>
                <a:cs typeface="黑体"/>
              </a:rPr>
              <a:t>）</a:t>
            </a:r>
            <a:r>
              <a:rPr dirty="0" sz="2400" spc="-50">
                <a:solidFill>
                  <a:srgbClr val="40458B"/>
                </a:solidFill>
                <a:latin typeface="黑体"/>
                <a:cs typeface="黑体"/>
              </a:rPr>
              <a:t>。</a:t>
            </a:r>
            <a:endParaRPr sz="2400">
              <a:latin typeface="黑体"/>
              <a:cs typeface="黑体"/>
            </a:endParaRPr>
          </a:p>
        </p:txBody>
      </p:sp>
      <p:grpSp>
        <p:nvGrpSpPr>
          <p:cNvPr id="10" name="object 10" descr=""/>
          <p:cNvGrpSpPr/>
          <p:nvPr/>
        </p:nvGrpSpPr>
        <p:grpSpPr>
          <a:xfrm>
            <a:off x="3590094" y="4560608"/>
            <a:ext cx="2886075" cy="488315"/>
            <a:chOff x="3590094" y="4560608"/>
            <a:chExt cx="2886075" cy="488315"/>
          </a:xfrm>
        </p:grpSpPr>
        <p:sp>
          <p:nvSpPr>
            <p:cNvPr id="11" name="object 11" descr=""/>
            <p:cNvSpPr/>
            <p:nvPr/>
          </p:nvSpPr>
          <p:spPr>
            <a:xfrm>
              <a:off x="5404957" y="4743670"/>
              <a:ext cx="1069975" cy="93345"/>
            </a:xfrm>
            <a:custGeom>
              <a:avLst/>
              <a:gdLst/>
              <a:ahLst/>
              <a:cxnLst/>
              <a:rect l="l" t="t" r="r" b="b"/>
              <a:pathLst>
                <a:path w="1069975" h="93345">
                  <a:moveTo>
                    <a:pt x="928870" y="0"/>
                  </a:moveTo>
                  <a:lnTo>
                    <a:pt x="973981" y="47549"/>
                  </a:lnTo>
                  <a:lnTo>
                    <a:pt x="928870" y="92799"/>
                  </a:lnTo>
                  <a:lnTo>
                    <a:pt x="1033987" y="58995"/>
                  </a:lnTo>
                  <a:lnTo>
                    <a:pt x="973981" y="58995"/>
                  </a:lnTo>
                  <a:lnTo>
                    <a:pt x="979825" y="56139"/>
                  </a:lnTo>
                  <a:lnTo>
                    <a:pt x="981928" y="56139"/>
                  </a:lnTo>
                  <a:lnTo>
                    <a:pt x="984967" y="50404"/>
                  </a:lnTo>
                  <a:lnTo>
                    <a:pt x="987772" y="47549"/>
                  </a:lnTo>
                  <a:lnTo>
                    <a:pt x="984967" y="41814"/>
                  </a:lnTo>
                  <a:lnTo>
                    <a:pt x="981928" y="39515"/>
                  </a:lnTo>
                  <a:lnTo>
                    <a:pt x="979824" y="36660"/>
                  </a:lnTo>
                  <a:lnTo>
                    <a:pt x="973981" y="33804"/>
                  </a:lnTo>
                  <a:lnTo>
                    <a:pt x="1028906" y="33804"/>
                  </a:lnTo>
                  <a:lnTo>
                    <a:pt x="928870" y="0"/>
                  </a:lnTo>
                  <a:close/>
                </a:path>
                <a:path w="1069975" h="93345">
                  <a:moveTo>
                    <a:pt x="960941" y="33804"/>
                  </a:moveTo>
                  <a:lnTo>
                    <a:pt x="14024" y="33804"/>
                  </a:lnTo>
                  <a:lnTo>
                    <a:pt x="8180" y="36660"/>
                  </a:lnTo>
                  <a:lnTo>
                    <a:pt x="5843" y="39515"/>
                  </a:lnTo>
                  <a:lnTo>
                    <a:pt x="3038" y="41814"/>
                  </a:lnTo>
                  <a:lnTo>
                    <a:pt x="0" y="47549"/>
                  </a:lnTo>
                  <a:lnTo>
                    <a:pt x="3038" y="50404"/>
                  </a:lnTo>
                  <a:lnTo>
                    <a:pt x="5843" y="56139"/>
                  </a:lnTo>
                  <a:lnTo>
                    <a:pt x="8180" y="56139"/>
                  </a:lnTo>
                  <a:lnTo>
                    <a:pt x="14024" y="58995"/>
                  </a:lnTo>
                  <a:lnTo>
                    <a:pt x="962570" y="58995"/>
                  </a:lnTo>
                  <a:lnTo>
                    <a:pt x="973981" y="47549"/>
                  </a:lnTo>
                  <a:lnTo>
                    <a:pt x="960941" y="33804"/>
                  </a:lnTo>
                  <a:close/>
                </a:path>
                <a:path w="1069975" h="93345">
                  <a:moveTo>
                    <a:pt x="1028906" y="33804"/>
                  </a:moveTo>
                  <a:lnTo>
                    <a:pt x="973981" y="33804"/>
                  </a:lnTo>
                  <a:lnTo>
                    <a:pt x="979824" y="36660"/>
                  </a:lnTo>
                  <a:lnTo>
                    <a:pt x="981928" y="39515"/>
                  </a:lnTo>
                  <a:lnTo>
                    <a:pt x="984967" y="41814"/>
                  </a:lnTo>
                  <a:lnTo>
                    <a:pt x="987772" y="47549"/>
                  </a:lnTo>
                  <a:lnTo>
                    <a:pt x="984967" y="50404"/>
                  </a:lnTo>
                  <a:lnTo>
                    <a:pt x="981928" y="56139"/>
                  </a:lnTo>
                  <a:lnTo>
                    <a:pt x="979825" y="56139"/>
                  </a:lnTo>
                  <a:lnTo>
                    <a:pt x="973981" y="58995"/>
                  </a:lnTo>
                  <a:lnTo>
                    <a:pt x="1033987" y="58995"/>
                  </a:lnTo>
                  <a:lnTo>
                    <a:pt x="1069579" y="47549"/>
                  </a:lnTo>
                  <a:lnTo>
                    <a:pt x="1028906" y="33804"/>
                  </a:lnTo>
                  <a:close/>
                </a:path>
              </a:pathLst>
            </a:custGeom>
            <a:solidFill>
              <a:srgbClr val="000000"/>
            </a:solidFill>
          </p:spPr>
          <p:txBody>
            <a:bodyPr wrap="square" lIns="0" tIns="0" rIns="0" bIns="0" rtlCol="0"/>
            <a:lstStyle/>
            <a:p/>
          </p:txBody>
        </p:sp>
        <p:sp>
          <p:nvSpPr>
            <p:cNvPr id="12" name="object 12" descr=""/>
            <p:cNvSpPr/>
            <p:nvPr/>
          </p:nvSpPr>
          <p:spPr>
            <a:xfrm>
              <a:off x="5404957" y="4743670"/>
              <a:ext cx="1069975" cy="93345"/>
            </a:xfrm>
            <a:custGeom>
              <a:avLst/>
              <a:gdLst/>
              <a:ahLst/>
              <a:cxnLst/>
              <a:rect l="l" t="t" r="r" b="b"/>
              <a:pathLst>
                <a:path w="1069975" h="93345">
                  <a:moveTo>
                    <a:pt x="14024" y="33804"/>
                  </a:moveTo>
                  <a:lnTo>
                    <a:pt x="973981" y="33804"/>
                  </a:lnTo>
                  <a:lnTo>
                    <a:pt x="979825" y="36660"/>
                  </a:lnTo>
                  <a:lnTo>
                    <a:pt x="981928" y="39515"/>
                  </a:lnTo>
                  <a:lnTo>
                    <a:pt x="984967" y="41814"/>
                  </a:lnTo>
                  <a:lnTo>
                    <a:pt x="987772" y="47549"/>
                  </a:lnTo>
                  <a:lnTo>
                    <a:pt x="984967" y="50404"/>
                  </a:lnTo>
                  <a:lnTo>
                    <a:pt x="981928" y="56139"/>
                  </a:lnTo>
                  <a:lnTo>
                    <a:pt x="979825" y="56139"/>
                  </a:lnTo>
                  <a:lnTo>
                    <a:pt x="973981" y="58995"/>
                  </a:lnTo>
                  <a:lnTo>
                    <a:pt x="14024" y="58995"/>
                  </a:lnTo>
                  <a:lnTo>
                    <a:pt x="8180" y="56139"/>
                  </a:lnTo>
                  <a:lnTo>
                    <a:pt x="5843" y="56139"/>
                  </a:lnTo>
                  <a:lnTo>
                    <a:pt x="3038" y="50404"/>
                  </a:lnTo>
                  <a:lnTo>
                    <a:pt x="0" y="47549"/>
                  </a:lnTo>
                  <a:lnTo>
                    <a:pt x="3038" y="41814"/>
                  </a:lnTo>
                  <a:lnTo>
                    <a:pt x="5843" y="39515"/>
                  </a:lnTo>
                  <a:lnTo>
                    <a:pt x="8180" y="36660"/>
                  </a:lnTo>
                  <a:lnTo>
                    <a:pt x="14024" y="33804"/>
                  </a:lnTo>
                  <a:close/>
                </a:path>
                <a:path w="1069975" h="93345">
                  <a:moveTo>
                    <a:pt x="973981" y="47549"/>
                  </a:moveTo>
                  <a:lnTo>
                    <a:pt x="928870" y="0"/>
                  </a:lnTo>
                  <a:lnTo>
                    <a:pt x="1069579" y="47549"/>
                  </a:lnTo>
                  <a:lnTo>
                    <a:pt x="928870" y="92799"/>
                  </a:lnTo>
                  <a:lnTo>
                    <a:pt x="973981" y="47549"/>
                  </a:lnTo>
                  <a:close/>
                </a:path>
              </a:pathLst>
            </a:custGeom>
            <a:ln w="3261">
              <a:solidFill>
                <a:srgbClr val="000000"/>
              </a:solidFill>
            </a:ln>
          </p:spPr>
          <p:txBody>
            <a:bodyPr wrap="square" lIns="0" tIns="0" rIns="0" bIns="0" rtlCol="0"/>
            <a:lstStyle/>
            <a:p/>
          </p:txBody>
        </p:sp>
        <p:sp>
          <p:nvSpPr>
            <p:cNvPr id="13" name="object 13" descr=""/>
            <p:cNvSpPr/>
            <p:nvPr/>
          </p:nvSpPr>
          <p:spPr>
            <a:xfrm>
              <a:off x="3591720" y="4743670"/>
              <a:ext cx="991235" cy="93345"/>
            </a:xfrm>
            <a:custGeom>
              <a:avLst/>
              <a:gdLst/>
              <a:ahLst/>
              <a:cxnLst/>
              <a:rect l="l" t="t" r="r" b="b"/>
              <a:pathLst>
                <a:path w="991235" h="93345">
                  <a:moveTo>
                    <a:pt x="850498" y="0"/>
                  </a:moveTo>
                  <a:lnTo>
                    <a:pt x="898554" y="47549"/>
                  </a:lnTo>
                  <a:lnTo>
                    <a:pt x="850498" y="92799"/>
                  </a:lnTo>
                  <a:lnTo>
                    <a:pt x="955598" y="58995"/>
                  </a:lnTo>
                  <a:lnTo>
                    <a:pt x="898554" y="58995"/>
                  </a:lnTo>
                  <a:lnTo>
                    <a:pt x="900868" y="56139"/>
                  </a:lnTo>
                  <a:lnTo>
                    <a:pt x="906665" y="56139"/>
                  </a:lnTo>
                  <a:lnTo>
                    <a:pt x="909563" y="50404"/>
                  </a:lnTo>
                  <a:lnTo>
                    <a:pt x="909563" y="41814"/>
                  </a:lnTo>
                  <a:lnTo>
                    <a:pt x="906665" y="39515"/>
                  </a:lnTo>
                  <a:lnTo>
                    <a:pt x="900868" y="36660"/>
                  </a:lnTo>
                  <a:lnTo>
                    <a:pt x="898554" y="33804"/>
                  </a:lnTo>
                  <a:lnTo>
                    <a:pt x="950517" y="33804"/>
                  </a:lnTo>
                  <a:lnTo>
                    <a:pt x="850498" y="0"/>
                  </a:lnTo>
                  <a:close/>
                </a:path>
                <a:path w="991235" h="93345">
                  <a:moveTo>
                    <a:pt x="884663" y="33804"/>
                  </a:moveTo>
                  <a:lnTo>
                    <a:pt x="11569" y="33804"/>
                  </a:lnTo>
                  <a:lnTo>
                    <a:pt x="8671" y="36660"/>
                  </a:lnTo>
                  <a:lnTo>
                    <a:pt x="2874" y="39515"/>
                  </a:lnTo>
                  <a:lnTo>
                    <a:pt x="0" y="41814"/>
                  </a:lnTo>
                  <a:lnTo>
                    <a:pt x="0" y="50404"/>
                  </a:lnTo>
                  <a:lnTo>
                    <a:pt x="2874" y="56139"/>
                  </a:lnTo>
                  <a:lnTo>
                    <a:pt x="8671" y="56139"/>
                  </a:lnTo>
                  <a:lnTo>
                    <a:pt x="11569" y="58995"/>
                  </a:lnTo>
                  <a:lnTo>
                    <a:pt x="886398" y="58995"/>
                  </a:lnTo>
                  <a:lnTo>
                    <a:pt x="898554" y="47549"/>
                  </a:lnTo>
                  <a:lnTo>
                    <a:pt x="884663" y="33804"/>
                  </a:lnTo>
                  <a:close/>
                </a:path>
                <a:path w="991235" h="93345">
                  <a:moveTo>
                    <a:pt x="950517" y="33804"/>
                  </a:moveTo>
                  <a:lnTo>
                    <a:pt x="898554" y="33804"/>
                  </a:lnTo>
                  <a:lnTo>
                    <a:pt x="900868" y="36660"/>
                  </a:lnTo>
                  <a:lnTo>
                    <a:pt x="906665" y="39515"/>
                  </a:lnTo>
                  <a:lnTo>
                    <a:pt x="909563" y="41814"/>
                  </a:lnTo>
                  <a:lnTo>
                    <a:pt x="909563" y="50404"/>
                  </a:lnTo>
                  <a:lnTo>
                    <a:pt x="906665" y="56139"/>
                  </a:lnTo>
                  <a:lnTo>
                    <a:pt x="900868" y="56139"/>
                  </a:lnTo>
                  <a:lnTo>
                    <a:pt x="898554" y="58995"/>
                  </a:lnTo>
                  <a:lnTo>
                    <a:pt x="955598" y="58995"/>
                  </a:lnTo>
                  <a:lnTo>
                    <a:pt x="991184" y="47549"/>
                  </a:lnTo>
                  <a:lnTo>
                    <a:pt x="950517" y="33804"/>
                  </a:lnTo>
                  <a:close/>
                </a:path>
              </a:pathLst>
            </a:custGeom>
            <a:solidFill>
              <a:srgbClr val="000000"/>
            </a:solidFill>
          </p:spPr>
          <p:txBody>
            <a:bodyPr wrap="square" lIns="0" tIns="0" rIns="0" bIns="0" rtlCol="0"/>
            <a:lstStyle/>
            <a:p/>
          </p:txBody>
        </p:sp>
        <p:sp>
          <p:nvSpPr>
            <p:cNvPr id="14" name="object 14" descr=""/>
            <p:cNvSpPr/>
            <p:nvPr/>
          </p:nvSpPr>
          <p:spPr>
            <a:xfrm>
              <a:off x="3591720" y="4743670"/>
              <a:ext cx="991235" cy="93345"/>
            </a:xfrm>
            <a:custGeom>
              <a:avLst/>
              <a:gdLst/>
              <a:ahLst/>
              <a:cxnLst/>
              <a:rect l="l" t="t" r="r" b="b"/>
              <a:pathLst>
                <a:path w="991235" h="93345">
                  <a:moveTo>
                    <a:pt x="11569" y="33804"/>
                  </a:moveTo>
                  <a:lnTo>
                    <a:pt x="898554" y="33804"/>
                  </a:lnTo>
                  <a:lnTo>
                    <a:pt x="900868" y="36660"/>
                  </a:lnTo>
                  <a:lnTo>
                    <a:pt x="906665" y="39515"/>
                  </a:lnTo>
                  <a:lnTo>
                    <a:pt x="909563" y="41814"/>
                  </a:lnTo>
                  <a:lnTo>
                    <a:pt x="909563" y="47549"/>
                  </a:lnTo>
                  <a:lnTo>
                    <a:pt x="909563" y="50404"/>
                  </a:lnTo>
                  <a:lnTo>
                    <a:pt x="906665" y="56139"/>
                  </a:lnTo>
                  <a:lnTo>
                    <a:pt x="900868" y="56139"/>
                  </a:lnTo>
                  <a:lnTo>
                    <a:pt x="898554" y="58995"/>
                  </a:lnTo>
                  <a:lnTo>
                    <a:pt x="11569" y="58995"/>
                  </a:lnTo>
                  <a:lnTo>
                    <a:pt x="8671" y="56139"/>
                  </a:lnTo>
                  <a:lnTo>
                    <a:pt x="2874" y="56139"/>
                  </a:lnTo>
                  <a:lnTo>
                    <a:pt x="0" y="50404"/>
                  </a:lnTo>
                  <a:lnTo>
                    <a:pt x="0" y="47549"/>
                  </a:lnTo>
                  <a:lnTo>
                    <a:pt x="0" y="41814"/>
                  </a:lnTo>
                  <a:lnTo>
                    <a:pt x="2874" y="39515"/>
                  </a:lnTo>
                  <a:lnTo>
                    <a:pt x="8671" y="36660"/>
                  </a:lnTo>
                  <a:lnTo>
                    <a:pt x="11569" y="33804"/>
                  </a:lnTo>
                  <a:close/>
                </a:path>
                <a:path w="991235" h="93345">
                  <a:moveTo>
                    <a:pt x="898554" y="47549"/>
                  </a:moveTo>
                  <a:lnTo>
                    <a:pt x="850498" y="0"/>
                  </a:lnTo>
                  <a:lnTo>
                    <a:pt x="991184" y="47549"/>
                  </a:lnTo>
                  <a:lnTo>
                    <a:pt x="850498" y="92799"/>
                  </a:lnTo>
                  <a:lnTo>
                    <a:pt x="898554" y="47549"/>
                  </a:lnTo>
                  <a:close/>
                </a:path>
              </a:pathLst>
            </a:custGeom>
            <a:ln w="3261">
              <a:solidFill>
                <a:srgbClr val="000000"/>
              </a:solidFill>
            </a:ln>
          </p:spPr>
          <p:txBody>
            <a:bodyPr wrap="square" lIns="0" tIns="0" rIns="0" bIns="0" rtlCol="0"/>
            <a:lstStyle/>
            <a:p/>
          </p:txBody>
        </p:sp>
        <p:sp>
          <p:nvSpPr>
            <p:cNvPr id="15" name="object 15" descr=""/>
            <p:cNvSpPr/>
            <p:nvPr/>
          </p:nvSpPr>
          <p:spPr>
            <a:xfrm>
              <a:off x="4579445" y="4568960"/>
              <a:ext cx="836294" cy="471805"/>
            </a:xfrm>
            <a:custGeom>
              <a:avLst/>
              <a:gdLst/>
              <a:ahLst/>
              <a:cxnLst/>
              <a:rect l="l" t="t" r="r" b="b"/>
              <a:pathLst>
                <a:path w="836295" h="471804">
                  <a:moveTo>
                    <a:pt x="0" y="471427"/>
                  </a:moveTo>
                  <a:lnTo>
                    <a:pt x="836030" y="471427"/>
                  </a:lnTo>
                  <a:lnTo>
                    <a:pt x="836030" y="0"/>
                  </a:lnTo>
                  <a:lnTo>
                    <a:pt x="0" y="0"/>
                  </a:lnTo>
                  <a:lnTo>
                    <a:pt x="0" y="471427"/>
                  </a:lnTo>
                  <a:close/>
                </a:path>
              </a:pathLst>
            </a:custGeom>
            <a:ln w="16705">
              <a:solidFill>
                <a:srgbClr val="000000"/>
              </a:solidFill>
            </a:ln>
          </p:spPr>
          <p:txBody>
            <a:bodyPr wrap="square" lIns="0" tIns="0" rIns="0" bIns="0" rtlCol="0"/>
            <a:lstStyle/>
            <a:p/>
          </p:txBody>
        </p:sp>
      </p:grpSp>
      <p:grpSp>
        <p:nvGrpSpPr>
          <p:cNvPr id="16" name="object 16" descr=""/>
          <p:cNvGrpSpPr/>
          <p:nvPr/>
        </p:nvGrpSpPr>
        <p:grpSpPr>
          <a:xfrm>
            <a:off x="7222038" y="4742042"/>
            <a:ext cx="752475" cy="96520"/>
            <a:chOff x="7222038" y="4742042"/>
            <a:chExt cx="752475" cy="96520"/>
          </a:xfrm>
        </p:grpSpPr>
        <p:sp>
          <p:nvSpPr>
            <p:cNvPr id="17" name="object 17" descr=""/>
            <p:cNvSpPr/>
            <p:nvPr/>
          </p:nvSpPr>
          <p:spPr>
            <a:xfrm>
              <a:off x="7223663" y="4743670"/>
              <a:ext cx="749300" cy="93345"/>
            </a:xfrm>
            <a:custGeom>
              <a:avLst/>
              <a:gdLst/>
              <a:ahLst/>
              <a:cxnLst/>
              <a:rect l="l" t="t" r="r" b="b"/>
              <a:pathLst>
                <a:path w="749300" h="93345">
                  <a:moveTo>
                    <a:pt x="609118" y="0"/>
                  </a:moveTo>
                  <a:lnTo>
                    <a:pt x="653528" y="47549"/>
                  </a:lnTo>
                  <a:lnTo>
                    <a:pt x="609118" y="92799"/>
                  </a:lnTo>
                  <a:lnTo>
                    <a:pt x="713711" y="58995"/>
                  </a:lnTo>
                  <a:lnTo>
                    <a:pt x="653528" y="58995"/>
                  </a:lnTo>
                  <a:lnTo>
                    <a:pt x="659371" y="56139"/>
                  </a:lnTo>
                  <a:lnTo>
                    <a:pt x="662410" y="56139"/>
                  </a:lnTo>
                  <a:lnTo>
                    <a:pt x="665215" y="50404"/>
                  </a:lnTo>
                  <a:lnTo>
                    <a:pt x="665215" y="41814"/>
                  </a:lnTo>
                  <a:lnTo>
                    <a:pt x="662410" y="39515"/>
                  </a:lnTo>
                  <a:lnTo>
                    <a:pt x="659371" y="36660"/>
                  </a:lnTo>
                  <a:lnTo>
                    <a:pt x="653528" y="33804"/>
                  </a:lnTo>
                  <a:lnTo>
                    <a:pt x="708655" y="33804"/>
                  </a:lnTo>
                  <a:lnTo>
                    <a:pt x="609118" y="0"/>
                  </a:lnTo>
                  <a:close/>
                </a:path>
                <a:path w="749300" h="93345">
                  <a:moveTo>
                    <a:pt x="640691" y="33804"/>
                  </a:moveTo>
                  <a:lnTo>
                    <a:pt x="10985" y="33804"/>
                  </a:lnTo>
                  <a:lnTo>
                    <a:pt x="5843" y="36660"/>
                  </a:lnTo>
                  <a:lnTo>
                    <a:pt x="2804" y="39515"/>
                  </a:lnTo>
                  <a:lnTo>
                    <a:pt x="0" y="41814"/>
                  </a:lnTo>
                  <a:lnTo>
                    <a:pt x="0" y="50404"/>
                  </a:lnTo>
                  <a:lnTo>
                    <a:pt x="2804" y="56139"/>
                  </a:lnTo>
                  <a:lnTo>
                    <a:pt x="5843" y="56139"/>
                  </a:lnTo>
                  <a:lnTo>
                    <a:pt x="10985" y="58995"/>
                  </a:lnTo>
                  <a:lnTo>
                    <a:pt x="642294" y="58995"/>
                  </a:lnTo>
                  <a:lnTo>
                    <a:pt x="653528" y="47549"/>
                  </a:lnTo>
                  <a:lnTo>
                    <a:pt x="640691" y="33804"/>
                  </a:lnTo>
                  <a:close/>
                </a:path>
                <a:path w="749300" h="93345">
                  <a:moveTo>
                    <a:pt x="708655" y="33804"/>
                  </a:moveTo>
                  <a:lnTo>
                    <a:pt x="653528" y="33804"/>
                  </a:lnTo>
                  <a:lnTo>
                    <a:pt x="659371" y="36660"/>
                  </a:lnTo>
                  <a:lnTo>
                    <a:pt x="662410" y="39515"/>
                  </a:lnTo>
                  <a:lnTo>
                    <a:pt x="665215" y="41814"/>
                  </a:lnTo>
                  <a:lnTo>
                    <a:pt x="665215" y="50404"/>
                  </a:lnTo>
                  <a:lnTo>
                    <a:pt x="662410" y="56139"/>
                  </a:lnTo>
                  <a:lnTo>
                    <a:pt x="659371" y="56139"/>
                  </a:lnTo>
                  <a:lnTo>
                    <a:pt x="653528" y="58995"/>
                  </a:lnTo>
                  <a:lnTo>
                    <a:pt x="713711" y="58995"/>
                  </a:lnTo>
                  <a:lnTo>
                    <a:pt x="749126" y="47549"/>
                  </a:lnTo>
                  <a:lnTo>
                    <a:pt x="708655" y="33804"/>
                  </a:lnTo>
                  <a:close/>
                </a:path>
              </a:pathLst>
            </a:custGeom>
            <a:solidFill>
              <a:srgbClr val="000000"/>
            </a:solidFill>
          </p:spPr>
          <p:txBody>
            <a:bodyPr wrap="square" lIns="0" tIns="0" rIns="0" bIns="0" rtlCol="0"/>
            <a:lstStyle/>
            <a:p/>
          </p:txBody>
        </p:sp>
        <p:sp>
          <p:nvSpPr>
            <p:cNvPr id="18" name="object 18" descr=""/>
            <p:cNvSpPr/>
            <p:nvPr/>
          </p:nvSpPr>
          <p:spPr>
            <a:xfrm>
              <a:off x="7223663" y="4743670"/>
              <a:ext cx="749300" cy="93345"/>
            </a:xfrm>
            <a:custGeom>
              <a:avLst/>
              <a:gdLst/>
              <a:ahLst/>
              <a:cxnLst/>
              <a:rect l="l" t="t" r="r" b="b"/>
              <a:pathLst>
                <a:path w="749300" h="93345">
                  <a:moveTo>
                    <a:pt x="10985" y="33804"/>
                  </a:moveTo>
                  <a:lnTo>
                    <a:pt x="653528" y="33804"/>
                  </a:lnTo>
                  <a:lnTo>
                    <a:pt x="659371" y="36660"/>
                  </a:lnTo>
                  <a:lnTo>
                    <a:pt x="662410" y="39515"/>
                  </a:lnTo>
                  <a:lnTo>
                    <a:pt x="665215" y="41814"/>
                  </a:lnTo>
                  <a:lnTo>
                    <a:pt x="665215" y="47549"/>
                  </a:lnTo>
                  <a:lnTo>
                    <a:pt x="665215" y="50404"/>
                  </a:lnTo>
                  <a:lnTo>
                    <a:pt x="662410" y="56139"/>
                  </a:lnTo>
                  <a:lnTo>
                    <a:pt x="659371" y="56139"/>
                  </a:lnTo>
                  <a:lnTo>
                    <a:pt x="653528" y="58995"/>
                  </a:lnTo>
                  <a:lnTo>
                    <a:pt x="10985" y="58995"/>
                  </a:lnTo>
                  <a:lnTo>
                    <a:pt x="5843" y="56139"/>
                  </a:lnTo>
                  <a:lnTo>
                    <a:pt x="2804" y="56139"/>
                  </a:lnTo>
                  <a:lnTo>
                    <a:pt x="0" y="50404"/>
                  </a:lnTo>
                  <a:lnTo>
                    <a:pt x="0" y="47549"/>
                  </a:lnTo>
                  <a:lnTo>
                    <a:pt x="0" y="41814"/>
                  </a:lnTo>
                  <a:lnTo>
                    <a:pt x="2804" y="39515"/>
                  </a:lnTo>
                  <a:lnTo>
                    <a:pt x="5843" y="36660"/>
                  </a:lnTo>
                  <a:lnTo>
                    <a:pt x="10985" y="33804"/>
                  </a:lnTo>
                  <a:close/>
                </a:path>
                <a:path w="749300" h="93345">
                  <a:moveTo>
                    <a:pt x="653528" y="47549"/>
                  </a:moveTo>
                  <a:lnTo>
                    <a:pt x="609118" y="0"/>
                  </a:lnTo>
                  <a:lnTo>
                    <a:pt x="749126" y="47549"/>
                  </a:lnTo>
                  <a:lnTo>
                    <a:pt x="609118" y="92799"/>
                  </a:lnTo>
                  <a:lnTo>
                    <a:pt x="653528" y="47549"/>
                  </a:lnTo>
                  <a:close/>
                </a:path>
              </a:pathLst>
            </a:custGeom>
            <a:ln w="3261">
              <a:solidFill>
                <a:srgbClr val="000000"/>
              </a:solidFill>
            </a:ln>
          </p:spPr>
          <p:txBody>
            <a:bodyPr wrap="square" lIns="0" tIns="0" rIns="0" bIns="0" rtlCol="0"/>
            <a:lstStyle/>
            <a:p/>
          </p:txBody>
        </p:sp>
      </p:grpSp>
      <p:grpSp>
        <p:nvGrpSpPr>
          <p:cNvPr id="19" name="object 19" descr=""/>
          <p:cNvGrpSpPr/>
          <p:nvPr/>
        </p:nvGrpSpPr>
        <p:grpSpPr>
          <a:xfrm>
            <a:off x="3601661" y="5250129"/>
            <a:ext cx="2909570" cy="95885"/>
            <a:chOff x="3601661" y="5250129"/>
            <a:chExt cx="2909570" cy="95885"/>
          </a:xfrm>
        </p:grpSpPr>
        <p:sp>
          <p:nvSpPr>
            <p:cNvPr id="20" name="object 20" descr=""/>
            <p:cNvSpPr/>
            <p:nvPr/>
          </p:nvSpPr>
          <p:spPr>
            <a:xfrm>
              <a:off x="3603289" y="5251758"/>
              <a:ext cx="2908300" cy="92710"/>
            </a:xfrm>
            <a:custGeom>
              <a:avLst/>
              <a:gdLst/>
              <a:ahLst/>
              <a:cxnLst/>
              <a:rect l="l" t="t" r="r" b="b"/>
              <a:pathLst>
                <a:path w="2908300" h="92710">
                  <a:moveTo>
                    <a:pt x="140101" y="0"/>
                  </a:moveTo>
                  <a:lnTo>
                    <a:pt x="0" y="44670"/>
                  </a:lnTo>
                  <a:lnTo>
                    <a:pt x="140101" y="92219"/>
                  </a:lnTo>
                  <a:lnTo>
                    <a:pt x="108956" y="58995"/>
                  </a:lnTo>
                  <a:lnTo>
                    <a:pt x="95528" y="58995"/>
                  </a:lnTo>
                  <a:lnTo>
                    <a:pt x="89731" y="56139"/>
                  </a:lnTo>
                  <a:lnTo>
                    <a:pt x="83958" y="50404"/>
                  </a:lnTo>
                  <a:lnTo>
                    <a:pt x="81059" y="44670"/>
                  </a:lnTo>
                  <a:lnTo>
                    <a:pt x="83958" y="41814"/>
                  </a:lnTo>
                  <a:lnTo>
                    <a:pt x="86833" y="36079"/>
                  </a:lnTo>
                  <a:lnTo>
                    <a:pt x="89731" y="36079"/>
                  </a:lnTo>
                  <a:lnTo>
                    <a:pt x="95528" y="33223"/>
                  </a:lnTo>
                  <a:lnTo>
                    <a:pt x="106949" y="33223"/>
                  </a:lnTo>
                  <a:lnTo>
                    <a:pt x="140101" y="0"/>
                  </a:lnTo>
                  <a:close/>
                </a:path>
                <a:path w="2908300" h="92710">
                  <a:moveTo>
                    <a:pt x="106949" y="33223"/>
                  </a:moveTo>
                  <a:lnTo>
                    <a:pt x="95528" y="33223"/>
                  </a:lnTo>
                  <a:lnTo>
                    <a:pt x="89731" y="36079"/>
                  </a:lnTo>
                  <a:lnTo>
                    <a:pt x="86833" y="36079"/>
                  </a:lnTo>
                  <a:lnTo>
                    <a:pt x="83958" y="41814"/>
                  </a:lnTo>
                  <a:lnTo>
                    <a:pt x="81059" y="44670"/>
                  </a:lnTo>
                  <a:lnTo>
                    <a:pt x="83958" y="50404"/>
                  </a:lnTo>
                  <a:lnTo>
                    <a:pt x="89731" y="56139"/>
                  </a:lnTo>
                  <a:lnTo>
                    <a:pt x="95528" y="58995"/>
                  </a:lnTo>
                  <a:lnTo>
                    <a:pt x="108956" y="58995"/>
                  </a:lnTo>
                  <a:lnTo>
                    <a:pt x="95528" y="44670"/>
                  </a:lnTo>
                  <a:lnTo>
                    <a:pt x="106949" y="33223"/>
                  </a:lnTo>
                  <a:close/>
                </a:path>
                <a:path w="2908300" h="92710">
                  <a:moveTo>
                    <a:pt x="2896023" y="33223"/>
                  </a:moveTo>
                  <a:lnTo>
                    <a:pt x="106949" y="33223"/>
                  </a:lnTo>
                  <a:lnTo>
                    <a:pt x="95528" y="44670"/>
                  </a:lnTo>
                  <a:lnTo>
                    <a:pt x="108956" y="58995"/>
                  </a:lnTo>
                  <a:lnTo>
                    <a:pt x="2896023" y="58995"/>
                  </a:lnTo>
                  <a:lnTo>
                    <a:pt x="2898828" y="56139"/>
                  </a:lnTo>
                  <a:lnTo>
                    <a:pt x="2904671" y="53260"/>
                  </a:lnTo>
                  <a:lnTo>
                    <a:pt x="2904671" y="50404"/>
                  </a:lnTo>
                  <a:lnTo>
                    <a:pt x="2907710" y="44670"/>
                  </a:lnTo>
                  <a:lnTo>
                    <a:pt x="2904671" y="41814"/>
                  </a:lnTo>
                  <a:lnTo>
                    <a:pt x="2904671" y="36079"/>
                  </a:lnTo>
                  <a:lnTo>
                    <a:pt x="2898828" y="36079"/>
                  </a:lnTo>
                  <a:lnTo>
                    <a:pt x="2896023" y="33223"/>
                  </a:lnTo>
                  <a:close/>
                </a:path>
              </a:pathLst>
            </a:custGeom>
            <a:solidFill>
              <a:srgbClr val="000000"/>
            </a:solidFill>
          </p:spPr>
          <p:txBody>
            <a:bodyPr wrap="square" lIns="0" tIns="0" rIns="0" bIns="0" rtlCol="0"/>
            <a:lstStyle/>
            <a:p/>
          </p:txBody>
        </p:sp>
        <p:sp>
          <p:nvSpPr>
            <p:cNvPr id="21" name="object 21" descr=""/>
            <p:cNvSpPr/>
            <p:nvPr/>
          </p:nvSpPr>
          <p:spPr>
            <a:xfrm>
              <a:off x="3682724" y="5297867"/>
              <a:ext cx="2813685" cy="0"/>
            </a:xfrm>
            <a:custGeom>
              <a:avLst/>
              <a:gdLst/>
              <a:ahLst/>
              <a:cxnLst/>
              <a:rect l="l" t="t" r="r" b="b"/>
              <a:pathLst>
                <a:path w="2813685" h="0">
                  <a:moveTo>
                    <a:pt x="0" y="0"/>
                  </a:moveTo>
                  <a:lnTo>
                    <a:pt x="2813082" y="0"/>
                  </a:lnTo>
                </a:path>
              </a:pathLst>
            </a:custGeom>
            <a:ln w="29021">
              <a:solidFill>
                <a:srgbClr val="000000"/>
              </a:solidFill>
            </a:ln>
          </p:spPr>
          <p:txBody>
            <a:bodyPr wrap="square" lIns="0" tIns="0" rIns="0" bIns="0" rtlCol="0"/>
            <a:lstStyle/>
            <a:p/>
          </p:txBody>
        </p:sp>
        <p:sp>
          <p:nvSpPr>
            <p:cNvPr id="22" name="object 22" descr=""/>
            <p:cNvSpPr/>
            <p:nvPr/>
          </p:nvSpPr>
          <p:spPr>
            <a:xfrm>
              <a:off x="3603289" y="5251758"/>
              <a:ext cx="140335" cy="92710"/>
            </a:xfrm>
            <a:custGeom>
              <a:avLst/>
              <a:gdLst/>
              <a:ahLst/>
              <a:cxnLst/>
              <a:rect l="l" t="t" r="r" b="b"/>
              <a:pathLst>
                <a:path w="140335" h="92710">
                  <a:moveTo>
                    <a:pt x="95528" y="44670"/>
                  </a:moveTo>
                  <a:lnTo>
                    <a:pt x="140101" y="92219"/>
                  </a:lnTo>
                  <a:lnTo>
                    <a:pt x="0" y="44670"/>
                  </a:lnTo>
                  <a:lnTo>
                    <a:pt x="140101" y="0"/>
                  </a:lnTo>
                  <a:lnTo>
                    <a:pt x="95528" y="44670"/>
                  </a:lnTo>
                  <a:close/>
                </a:path>
              </a:pathLst>
            </a:custGeom>
            <a:ln w="3257">
              <a:solidFill>
                <a:srgbClr val="000000"/>
              </a:solidFill>
            </a:ln>
          </p:spPr>
          <p:txBody>
            <a:bodyPr wrap="square" lIns="0" tIns="0" rIns="0" bIns="0" rtlCol="0"/>
            <a:lstStyle/>
            <a:p/>
          </p:txBody>
        </p:sp>
      </p:grpSp>
      <p:sp>
        <p:nvSpPr>
          <p:cNvPr id="23" name="object 23" descr=""/>
          <p:cNvSpPr txBox="1"/>
          <p:nvPr/>
        </p:nvSpPr>
        <p:spPr>
          <a:xfrm>
            <a:off x="2665350" y="4422898"/>
            <a:ext cx="932180" cy="1269365"/>
          </a:xfrm>
          <a:prstGeom prst="rect">
            <a:avLst/>
          </a:prstGeom>
          <a:solidFill>
            <a:srgbClr val="FFFF99"/>
          </a:solidFill>
          <a:ln w="16751">
            <a:solidFill>
              <a:srgbClr val="000000"/>
            </a:solidFill>
          </a:ln>
        </p:spPr>
        <p:txBody>
          <a:bodyPr wrap="square" lIns="0" tIns="0" rIns="0" bIns="0" rtlCol="0" vert="horz">
            <a:spAutoFit/>
          </a:bodyPr>
          <a:lstStyle/>
          <a:p>
            <a:pPr>
              <a:lnSpc>
                <a:spcPct val="100000"/>
              </a:lnSpc>
            </a:pPr>
            <a:endParaRPr sz="1650">
              <a:latin typeface="Times New Roman"/>
              <a:cs typeface="Times New Roman"/>
            </a:endParaRPr>
          </a:p>
          <a:p>
            <a:pPr>
              <a:lnSpc>
                <a:spcPct val="100000"/>
              </a:lnSpc>
              <a:spcBef>
                <a:spcPts val="365"/>
              </a:spcBef>
            </a:pPr>
            <a:endParaRPr sz="1650">
              <a:latin typeface="Times New Roman"/>
              <a:cs typeface="Times New Roman"/>
            </a:endParaRPr>
          </a:p>
          <a:p>
            <a:pPr marL="316230">
              <a:lnSpc>
                <a:spcPct val="100000"/>
              </a:lnSpc>
              <a:spcBef>
                <a:spcPts val="5"/>
              </a:spcBef>
            </a:pPr>
            <a:r>
              <a:rPr dirty="0" sz="1650" spc="-25">
                <a:latin typeface="宋体"/>
                <a:cs typeface="宋体"/>
              </a:rPr>
              <a:t>CPU</a:t>
            </a:r>
            <a:endParaRPr sz="1650">
              <a:latin typeface="宋体"/>
              <a:cs typeface="宋体"/>
            </a:endParaRPr>
          </a:p>
        </p:txBody>
      </p:sp>
      <p:sp>
        <p:nvSpPr>
          <p:cNvPr id="24" name="object 24" descr=""/>
          <p:cNvSpPr txBox="1"/>
          <p:nvPr/>
        </p:nvSpPr>
        <p:spPr>
          <a:xfrm>
            <a:off x="4579445" y="4568960"/>
            <a:ext cx="836294" cy="471805"/>
          </a:xfrm>
          <a:prstGeom prst="rect">
            <a:avLst/>
          </a:prstGeom>
          <a:solidFill>
            <a:srgbClr val="FFB7DB"/>
          </a:solidFill>
        </p:spPr>
        <p:txBody>
          <a:bodyPr wrap="square" lIns="0" tIns="93345" rIns="0" bIns="0" rtlCol="0" vert="horz">
            <a:spAutoFit/>
          </a:bodyPr>
          <a:lstStyle/>
          <a:p>
            <a:pPr marL="243204">
              <a:lnSpc>
                <a:spcPct val="100000"/>
              </a:lnSpc>
              <a:spcBef>
                <a:spcPts val="735"/>
              </a:spcBef>
            </a:pPr>
            <a:r>
              <a:rPr dirty="0" sz="1650" spc="-25">
                <a:latin typeface="宋体"/>
                <a:cs typeface="宋体"/>
              </a:rPr>
              <a:t>MMU</a:t>
            </a:r>
            <a:endParaRPr sz="1650">
              <a:latin typeface="宋体"/>
              <a:cs typeface="宋体"/>
            </a:endParaRPr>
          </a:p>
        </p:txBody>
      </p:sp>
      <p:sp>
        <p:nvSpPr>
          <p:cNvPr id="25" name="object 25" descr=""/>
          <p:cNvSpPr txBox="1"/>
          <p:nvPr/>
        </p:nvSpPr>
        <p:spPr>
          <a:xfrm>
            <a:off x="6495807" y="4605620"/>
            <a:ext cx="735330" cy="906780"/>
          </a:xfrm>
          <a:prstGeom prst="rect">
            <a:avLst/>
          </a:prstGeom>
          <a:solidFill>
            <a:srgbClr val="CCFFFF"/>
          </a:solidFill>
          <a:ln w="17431">
            <a:solidFill>
              <a:srgbClr val="000000"/>
            </a:solidFill>
          </a:ln>
        </p:spPr>
        <p:txBody>
          <a:bodyPr wrap="square" lIns="0" tIns="67945" rIns="0" bIns="0" rtlCol="0" vert="horz">
            <a:spAutoFit/>
          </a:bodyPr>
          <a:lstStyle/>
          <a:p>
            <a:pPr>
              <a:lnSpc>
                <a:spcPct val="100000"/>
              </a:lnSpc>
              <a:spcBef>
                <a:spcPts val="535"/>
              </a:spcBef>
            </a:pPr>
            <a:endParaRPr sz="1650">
              <a:latin typeface="Times New Roman"/>
              <a:cs typeface="Times New Roman"/>
            </a:endParaRPr>
          </a:p>
          <a:p>
            <a:pPr marL="95250">
              <a:lnSpc>
                <a:spcPct val="100000"/>
              </a:lnSpc>
              <a:spcBef>
                <a:spcPts val="5"/>
              </a:spcBef>
            </a:pPr>
            <a:r>
              <a:rPr dirty="0" sz="1650" spc="-10">
                <a:latin typeface="宋体"/>
                <a:cs typeface="宋体"/>
              </a:rPr>
              <a:t>Cache</a:t>
            </a:r>
            <a:endParaRPr sz="1650">
              <a:latin typeface="宋体"/>
              <a:cs typeface="宋体"/>
            </a:endParaRPr>
          </a:p>
        </p:txBody>
      </p:sp>
      <p:sp>
        <p:nvSpPr>
          <p:cNvPr id="26" name="object 26" descr=""/>
          <p:cNvSpPr txBox="1"/>
          <p:nvPr/>
        </p:nvSpPr>
        <p:spPr>
          <a:xfrm>
            <a:off x="7991957" y="4422881"/>
            <a:ext cx="1057910" cy="1304925"/>
          </a:xfrm>
          <a:prstGeom prst="rect">
            <a:avLst/>
          </a:prstGeom>
          <a:solidFill>
            <a:srgbClr val="46FFFF"/>
          </a:solidFill>
          <a:ln w="16746">
            <a:solidFill>
              <a:srgbClr val="000000"/>
            </a:solidFill>
          </a:ln>
        </p:spPr>
        <p:txBody>
          <a:bodyPr wrap="square" lIns="0" tIns="0" rIns="0" bIns="0" rtlCol="0" vert="horz">
            <a:spAutoFit/>
          </a:bodyPr>
          <a:lstStyle/>
          <a:p>
            <a:pPr>
              <a:lnSpc>
                <a:spcPct val="100000"/>
              </a:lnSpc>
            </a:pPr>
            <a:endParaRPr sz="1650">
              <a:latin typeface="Times New Roman"/>
              <a:cs typeface="Times New Roman"/>
            </a:endParaRPr>
          </a:p>
          <a:p>
            <a:pPr>
              <a:lnSpc>
                <a:spcPct val="100000"/>
              </a:lnSpc>
              <a:spcBef>
                <a:spcPts val="390"/>
              </a:spcBef>
            </a:pPr>
            <a:endParaRPr sz="1650">
              <a:latin typeface="Times New Roman"/>
              <a:cs typeface="Times New Roman"/>
            </a:endParaRPr>
          </a:p>
          <a:p>
            <a:pPr marL="120014">
              <a:lnSpc>
                <a:spcPct val="100000"/>
              </a:lnSpc>
            </a:pPr>
            <a:r>
              <a:rPr dirty="0" sz="1650" spc="-15">
                <a:latin typeface="宋体"/>
                <a:cs typeface="宋体"/>
              </a:rPr>
              <a:t>主 存 储</a:t>
            </a:r>
            <a:endParaRPr sz="1650">
              <a:latin typeface="宋体"/>
              <a:cs typeface="宋体"/>
            </a:endParaRPr>
          </a:p>
        </p:txBody>
      </p:sp>
      <p:sp>
        <p:nvSpPr>
          <p:cNvPr id="27" name="object 27" descr=""/>
          <p:cNvSpPr txBox="1"/>
          <p:nvPr/>
        </p:nvSpPr>
        <p:spPr>
          <a:xfrm>
            <a:off x="4661689" y="5302378"/>
            <a:ext cx="1083945" cy="278765"/>
          </a:xfrm>
          <a:prstGeom prst="rect">
            <a:avLst/>
          </a:prstGeom>
        </p:spPr>
        <p:txBody>
          <a:bodyPr wrap="square" lIns="0" tIns="13970" rIns="0" bIns="0" rtlCol="0" vert="horz">
            <a:spAutoFit/>
          </a:bodyPr>
          <a:lstStyle/>
          <a:p>
            <a:pPr marL="12700">
              <a:lnSpc>
                <a:spcPct val="100000"/>
              </a:lnSpc>
              <a:spcBef>
                <a:spcPts val="110"/>
              </a:spcBef>
            </a:pPr>
            <a:r>
              <a:rPr dirty="0" sz="1650" spc="-10">
                <a:latin typeface="宋体"/>
                <a:cs typeface="宋体"/>
              </a:rPr>
              <a:t>数据或指令</a:t>
            </a:r>
            <a:endParaRPr sz="1650">
              <a:latin typeface="宋体"/>
              <a:cs typeface="宋体"/>
            </a:endParaRPr>
          </a:p>
        </p:txBody>
      </p:sp>
      <p:grpSp>
        <p:nvGrpSpPr>
          <p:cNvPr id="28" name="object 28" descr=""/>
          <p:cNvGrpSpPr/>
          <p:nvPr/>
        </p:nvGrpSpPr>
        <p:grpSpPr>
          <a:xfrm>
            <a:off x="7233021" y="5250129"/>
            <a:ext cx="741680" cy="95885"/>
            <a:chOff x="7233021" y="5250129"/>
            <a:chExt cx="741680" cy="95885"/>
          </a:xfrm>
        </p:grpSpPr>
        <p:sp>
          <p:nvSpPr>
            <p:cNvPr id="29" name="object 29" descr=""/>
            <p:cNvSpPr/>
            <p:nvPr/>
          </p:nvSpPr>
          <p:spPr>
            <a:xfrm>
              <a:off x="7234649" y="5251758"/>
              <a:ext cx="738505" cy="92710"/>
            </a:xfrm>
            <a:custGeom>
              <a:avLst/>
              <a:gdLst/>
              <a:ahLst/>
              <a:cxnLst/>
              <a:rect l="l" t="t" r="r" b="b"/>
              <a:pathLst>
                <a:path w="738504" h="92710">
                  <a:moveTo>
                    <a:pt x="140709" y="0"/>
                  </a:moveTo>
                  <a:lnTo>
                    <a:pt x="0" y="44670"/>
                  </a:lnTo>
                  <a:lnTo>
                    <a:pt x="140709" y="92219"/>
                  </a:lnTo>
                  <a:lnTo>
                    <a:pt x="107065" y="58995"/>
                  </a:lnTo>
                  <a:lnTo>
                    <a:pt x="92559" y="58995"/>
                  </a:lnTo>
                  <a:lnTo>
                    <a:pt x="89754" y="56139"/>
                  </a:lnTo>
                  <a:lnTo>
                    <a:pt x="84379" y="53260"/>
                  </a:lnTo>
                  <a:lnTo>
                    <a:pt x="84379" y="50404"/>
                  </a:lnTo>
                  <a:lnTo>
                    <a:pt x="81574" y="44670"/>
                  </a:lnTo>
                  <a:lnTo>
                    <a:pt x="84379" y="41814"/>
                  </a:lnTo>
                  <a:lnTo>
                    <a:pt x="84379" y="36079"/>
                  </a:lnTo>
                  <a:lnTo>
                    <a:pt x="89754" y="36079"/>
                  </a:lnTo>
                  <a:lnTo>
                    <a:pt x="92559" y="33223"/>
                  </a:lnTo>
                  <a:lnTo>
                    <a:pt x="104897" y="33223"/>
                  </a:lnTo>
                  <a:lnTo>
                    <a:pt x="140709" y="0"/>
                  </a:lnTo>
                  <a:close/>
                </a:path>
                <a:path w="738504" h="92710">
                  <a:moveTo>
                    <a:pt x="598132" y="0"/>
                  </a:moveTo>
                  <a:lnTo>
                    <a:pt x="642542" y="44670"/>
                  </a:lnTo>
                  <a:lnTo>
                    <a:pt x="598132" y="92219"/>
                  </a:lnTo>
                  <a:lnTo>
                    <a:pt x="695960" y="58995"/>
                  </a:lnTo>
                  <a:lnTo>
                    <a:pt x="642542" y="58995"/>
                  </a:lnTo>
                  <a:lnTo>
                    <a:pt x="648386" y="56139"/>
                  </a:lnTo>
                  <a:lnTo>
                    <a:pt x="651424" y="53260"/>
                  </a:lnTo>
                  <a:lnTo>
                    <a:pt x="654229" y="50404"/>
                  </a:lnTo>
                  <a:lnTo>
                    <a:pt x="654229" y="41814"/>
                  </a:lnTo>
                  <a:lnTo>
                    <a:pt x="651424" y="36079"/>
                  </a:lnTo>
                  <a:lnTo>
                    <a:pt x="648386" y="36079"/>
                  </a:lnTo>
                  <a:lnTo>
                    <a:pt x="642542" y="33223"/>
                  </a:lnTo>
                  <a:lnTo>
                    <a:pt x="702265" y="33223"/>
                  </a:lnTo>
                  <a:lnTo>
                    <a:pt x="598132" y="0"/>
                  </a:lnTo>
                  <a:close/>
                </a:path>
                <a:path w="738504" h="92710">
                  <a:moveTo>
                    <a:pt x="104897" y="33223"/>
                  </a:moveTo>
                  <a:lnTo>
                    <a:pt x="92559" y="33223"/>
                  </a:lnTo>
                  <a:lnTo>
                    <a:pt x="89754" y="36079"/>
                  </a:lnTo>
                  <a:lnTo>
                    <a:pt x="84379" y="36079"/>
                  </a:lnTo>
                  <a:lnTo>
                    <a:pt x="84379" y="41814"/>
                  </a:lnTo>
                  <a:lnTo>
                    <a:pt x="81574" y="44670"/>
                  </a:lnTo>
                  <a:lnTo>
                    <a:pt x="84379" y="50404"/>
                  </a:lnTo>
                  <a:lnTo>
                    <a:pt x="84379" y="53260"/>
                  </a:lnTo>
                  <a:lnTo>
                    <a:pt x="89754" y="56139"/>
                  </a:lnTo>
                  <a:lnTo>
                    <a:pt x="92559" y="58995"/>
                  </a:lnTo>
                  <a:lnTo>
                    <a:pt x="107065" y="58995"/>
                  </a:lnTo>
                  <a:lnTo>
                    <a:pt x="92559" y="44670"/>
                  </a:lnTo>
                  <a:lnTo>
                    <a:pt x="104897" y="33223"/>
                  </a:lnTo>
                  <a:close/>
                </a:path>
                <a:path w="738504" h="92710">
                  <a:moveTo>
                    <a:pt x="631163" y="33223"/>
                  </a:moveTo>
                  <a:lnTo>
                    <a:pt x="104897" y="33223"/>
                  </a:lnTo>
                  <a:lnTo>
                    <a:pt x="92559" y="44670"/>
                  </a:lnTo>
                  <a:lnTo>
                    <a:pt x="107065" y="58995"/>
                  </a:lnTo>
                  <a:lnTo>
                    <a:pt x="629163" y="58995"/>
                  </a:lnTo>
                  <a:lnTo>
                    <a:pt x="642542" y="44670"/>
                  </a:lnTo>
                  <a:lnTo>
                    <a:pt x="631163" y="33223"/>
                  </a:lnTo>
                  <a:close/>
                </a:path>
                <a:path w="738504" h="92710">
                  <a:moveTo>
                    <a:pt x="702265" y="33223"/>
                  </a:moveTo>
                  <a:lnTo>
                    <a:pt x="642542" y="33223"/>
                  </a:lnTo>
                  <a:lnTo>
                    <a:pt x="648386" y="36079"/>
                  </a:lnTo>
                  <a:lnTo>
                    <a:pt x="651424" y="36079"/>
                  </a:lnTo>
                  <a:lnTo>
                    <a:pt x="654229" y="41814"/>
                  </a:lnTo>
                  <a:lnTo>
                    <a:pt x="654229" y="50404"/>
                  </a:lnTo>
                  <a:lnTo>
                    <a:pt x="651424" y="53260"/>
                  </a:lnTo>
                  <a:lnTo>
                    <a:pt x="648386" y="56139"/>
                  </a:lnTo>
                  <a:lnTo>
                    <a:pt x="642542" y="58995"/>
                  </a:lnTo>
                  <a:lnTo>
                    <a:pt x="695960" y="58995"/>
                  </a:lnTo>
                  <a:lnTo>
                    <a:pt x="738141" y="44670"/>
                  </a:lnTo>
                  <a:lnTo>
                    <a:pt x="702265" y="33223"/>
                  </a:lnTo>
                  <a:close/>
                </a:path>
              </a:pathLst>
            </a:custGeom>
            <a:solidFill>
              <a:srgbClr val="000000"/>
            </a:solidFill>
          </p:spPr>
          <p:txBody>
            <a:bodyPr wrap="square" lIns="0" tIns="0" rIns="0" bIns="0" rtlCol="0"/>
            <a:lstStyle/>
            <a:p/>
          </p:txBody>
        </p:sp>
        <p:sp>
          <p:nvSpPr>
            <p:cNvPr id="30" name="object 30" descr=""/>
            <p:cNvSpPr/>
            <p:nvPr/>
          </p:nvSpPr>
          <p:spPr>
            <a:xfrm>
              <a:off x="7234649" y="5251758"/>
              <a:ext cx="738505" cy="92710"/>
            </a:xfrm>
            <a:custGeom>
              <a:avLst/>
              <a:gdLst/>
              <a:ahLst/>
              <a:cxnLst/>
              <a:rect l="l" t="t" r="r" b="b"/>
              <a:pathLst>
                <a:path w="738504" h="92710">
                  <a:moveTo>
                    <a:pt x="92559" y="33223"/>
                  </a:moveTo>
                  <a:lnTo>
                    <a:pt x="642542" y="33223"/>
                  </a:lnTo>
                  <a:lnTo>
                    <a:pt x="648386" y="36079"/>
                  </a:lnTo>
                  <a:lnTo>
                    <a:pt x="651424" y="36079"/>
                  </a:lnTo>
                  <a:lnTo>
                    <a:pt x="654229" y="41814"/>
                  </a:lnTo>
                  <a:lnTo>
                    <a:pt x="654229" y="44670"/>
                  </a:lnTo>
                  <a:lnTo>
                    <a:pt x="654229" y="50404"/>
                  </a:lnTo>
                  <a:lnTo>
                    <a:pt x="651424" y="53260"/>
                  </a:lnTo>
                  <a:lnTo>
                    <a:pt x="648386" y="56139"/>
                  </a:lnTo>
                  <a:lnTo>
                    <a:pt x="642542" y="58995"/>
                  </a:lnTo>
                  <a:lnTo>
                    <a:pt x="92559" y="58995"/>
                  </a:lnTo>
                  <a:lnTo>
                    <a:pt x="89754" y="56139"/>
                  </a:lnTo>
                  <a:lnTo>
                    <a:pt x="84379" y="53260"/>
                  </a:lnTo>
                  <a:lnTo>
                    <a:pt x="84379" y="50404"/>
                  </a:lnTo>
                  <a:lnTo>
                    <a:pt x="81574" y="44670"/>
                  </a:lnTo>
                  <a:lnTo>
                    <a:pt x="84379" y="41814"/>
                  </a:lnTo>
                  <a:lnTo>
                    <a:pt x="84379" y="36079"/>
                  </a:lnTo>
                  <a:lnTo>
                    <a:pt x="89754" y="36079"/>
                  </a:lnTo>
                  <a:lnTo>
                    <a:pt x="92559" y="33223"/>
                  </a:lnTo>
                  <a:close/>
                </a:path>
                <a:path w="738504" h="92710">
                  <a:moveTo>
                    <a:pt x="92559" y="44670"/>
                  </a:moveTo>
                  <a:lnTo>
                    <a:pt x="140709" y="92219"/>
                  </a:lnTo>
                  <a:lnTo>
                    <a:pt x="0" y="44670"/>
                  </a:lnTo>
                  <a:lnTo>
                    <a:pt x="140709" y="0"/>
                  </a:lnTo>
                  <a:lnTo>
                    <a:pt x="92559" y="44670"/>
                  </a:lnTo>
                  <a:close/>
                </a:path>
                <a:path w="738504" h="92710">
                  <a:moveTo>
                    <a:pt x="642542" y="44670"/>
                  </a:moveTo>
                  <a:lnTo>
                    <a:pt x="598132" y="0"/>
                  </a:lnTo>
                  <a:lnTo>
                    <a:pt x="738141" y="44670"/>
                  </a:lnTo>
                  <a:lnTo>
                    <a:pt x="598132" y="92219"/>
                  </a:lnTo>
                  <a:lnTo>
                    <a:pt x="642542" y="44670"/>
                  </a:lnTo>
                  <a:close/>
                </a:path>
              </a:pathLst>
            </a:custGeom>
            <a:ln w="3261">
              <a:solidFill>
                <a:srgbClr val="000000"/>
              </a:solidFill>
            </a:ln>
          </p:spPr>
          <p:txBody>
            <a:bodyPr wrap="square" lIns="0" tIns="0" rIns="0" bIns="0" rtlCol="0"/>
            <a:lstStyle/>
            <a:p/>
          </p:txBody>
        </p:sp>
      </p:grpSp>
      <p:sp>
        <p:nvSpPr>
          <p:cNvPr id="31" name="object 31" descr=""/>
          <p:cNvSpPr txBox="1"/>
          <p:nvPr/>
        </p:nvSpPr>
        <p:spPr>
          <a:xfrm>
            <a:off x="3657181" y="4432263"/>
            <a:ext cx="873125" cy="278765"/>
          </a:xfrm>
          <a:prstGeom prst="rect">
            <a:avLst/>
          </a:prstGeom>
        </p:spPr>
        <p:txBody>
          <a:bodyPr wrap="square" lIns="0" tIns="13970" rIns="0" bIns="0" rtlCol="0" vert="horz">
            <a:spAutoFit/>
          </a:bodyPr>
          <a:lstStyle/>
          <a:p>
            <a:pPr marL="12700">
              <a:lnSpc>
                <a:spcPct val="100000"/>
              </a:lnSpc>
              <a:spcBef>
                <a:spcPts val="110"/>
              </a:spcBef>
            </a:pPr>
            <a:r>
              <a:rPr dirty="0" sz="1650" spc="-15">
                <a:solidFill>
                  <a:srgbClr val="0000FF"/>
                </a:solidFill>
                <a:latin typeface="宋体"/>
                <a:cs typeface="宋体"/>
              </a:rPr>
              <a:t>虚拟地址</a:t>
            </a:r>
            <a:endParaRPr sz="1650">
              <a:latin typeface="宋体"/>
              <a:cs typeface="宋体"/>
            </a:endParaRPr>
          </a:p>
        </p:txBody>
      </p:sp>
      <p:sp>
        <p:nvSpPr>
          <p:cNvPr id="32" name="object 32" descr=""/>
          <p:cNvSpPr txBox="1"/>
          <p:nvPr/>
        </p:nvSpPr>
        <p:spPr>
          <a:xfrm>
            <a:off x="5498373" y="4432263"/>
            <a:ext cx="873125" cy="278765"/>
          </a:xfrm>
          <a:prstGeom prst="rect">
            <a:avLst/>
          </a:prstGeom>
        </p:spPr>
        <p:txBody>
          <a:bodyPr wrap="square" lIns="0" tIns="13970" rIns="0" bIns="0" rtlCol="0" vert="horz">
            <a:spAutoFit/>
          </a:bodyPr>
          <a:lstStyle/>
          <a:p>
            <a:pPr marL="12700">
              <a:lnSpc>
                <a:spcPct val="100000"/>
              </a:lnSpc>
              <a:spcBef>
                <a:spcPts val="110"/>
              </a:spcBef>
            </a:pPr>
            <a:r>
              <a:rPr dirty="0" sz="1650" spc="-15">
                <a:solidFill>
                  <a:srgbClr val="0000FF"/>
                </a:solidFill>
                <a:latin typeface="宋体"/>
                <a:cs typeface="宋体"/>
              </a:rPr>
              <a:t>物理地址</a:t>
            </a:r>
            <a:endParaRPr sz="1650">
              <a:latin typeface="宋体"/>
              <a:cs typeface="宋体"/>
            </a:endParaRPr>
          </a:p>
        </p:txBody>
      </p:sp>
      <p:sp>
        <p:nvSpPr>
          <p:cNvPr id="33" name="object 33" descr=""/>
          <p:cNvSpPr txBox="1"/>
          <p:nvPr/>
        </p:nvSpPr>
        <p:spPr>
          <a:xfrm>
            <a:off x="5167376" y="6057696"/>
            <a:ext cx="224155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物理</a:t>
            </a:r>
            <a:r>
              <a:rPr dirty="0" sz="2000" spc="-10" b="1">
                <a:latin typeface="Times New Roman"/>
                <a:cs typeface="Times New Roman"/>
              </a:rPr>
              <a:t>Cache</a:t>
            </a:r>
            <a:r>
              <a:rPr dirty="0" sz="2000" spc="-20" b="1">
                <a:latin typeface="宋体"/>
                <a:cs typeface="宋体"/>
              </a:rPr>
              <a:t>存储系统</a:t>
            </a:r>
            <a:endParaRPr sz="2000">
              <a:latin typeface="宋体"/>
              <a:cs typeface="宋体"/>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489963" y="24129"/>
            <a:ext cx="286893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629818" y="600202"/>
            <a:ext cx="11019155" cy="3013710"/>
          </a:xfrm>
          <a:prstGeom prst="rect">
            <a:avLst/>
          </a:prstGeom>
        </p:spPr>
        <p:txBody>
          <a:bodyPr wrap="square" lIns="0" tIns="90170" rIns="0" bIns="0" rtlCol="0" vert="horz">
            <a:spAutoFit/>
          </a:bodyPr>
          <a:lstStyle/>
          <a:p>
            <a:pPr marL="156845">
              <a:lnSpc>
                <a:spcPct val="100000"/>
              </a:lnSpc>
              <a:spcBef>
                <a:spcPts val="710"/>
              </a:spcBef>
            </a:pPr>
            <a:r>
              <a:rPr dirty="0" sz="2400">
                <a:solidFill>
                  <a:srgbClr val="FF09FF"/>
                </a:solidFill>
                <a:latin typeface="黑体"/>
                <a:cs typeface="黑体"/>
              </a:rPr>
              <a:t>解决方法：引入虚拟</a:t>
            </a:r>
            <a:r>
              <a:rPr dirty="0" sz="2400" spc="-10">
                <a:solidFill>
                  <a:srgbClr val="FF09FF"/>
                </a:solidFill>
                <a:latin typeface="Times New Roman"/>
                <a:cs typeface="Times New Roman"/>
              </a:rPr>
              <a:t>Cache</a:t>
            </a:r>
            <a:endParaRPr sz="2400">
              <a:latin typeface="Times New Roman"/>
              <a:cs typeface="Times New Roman"/>
            </a:endParaRPr>
          </a:p>
          <a:p>
            <a:pPr marL="12700">
              <a:lnSpc>
                <a:spcPct val="100000"/>
              </a:lnSpc>
              <a:spcBef>
                <a:spcPts val="610"/>
              </a:spcBef>
              <a:tabLst>
                <a:tab pos="469265" algn="l"/>
              </a:tabLst>
            </a:pPr>
            <a:r>
              <a:rPr dirty="0" sz="2400" spc="-25">
                <a:solidFill>
                  <a:srgbClr val="40458B"/>
                </a:solidFill>
                <a:latin typeface="黑体"/>
                <a:cs typeface="黑体"/>
              </a:rPr>
              <a:t>2.</a:t>
            </a:r>
            <a:r>
              <a:rPr dirty="0" sz="2400">
                <a:solidFill>
                  <a:srgbClr val="40458B"/>
                </a:solidFill>
                <a:latin typeface="黑体"/>
                <a:cs typeface="黑体"/>
              </a:rPr>
              <a:t>	</a:t>
            </a:r>
            <a:r>
              <a:rPr dirty="0" sz="2400" spc="-5">
                <a:solidFill>
                  <a:srgbClr val="E14B04"/>
                </a:solidFill>
                <a:latin typeface="黑体"/>
                <a:cs typeface="黑体"/>
              </a:rPr>
              <a:t>虚拟</a:t>
            </a:r>
            <a:r>
              <a:rPr dirty="0" sz="2400" spc="-20">
                <a:solidFill>
                  <a:srgbClr val="E14B04"/>
                </a:solidFill>
                <a:latin typeface="黑体"/>
                <a:cs typeface="黑体"/>
              </a:rPr>
              <a:t>Cache</a:t>
            </a:r>
            <a:endParaRPr sz="2400">
              <a:latin typeface="黑体"/>
              <a:cs typeface="黑体"/>
            </a:endParaRPr>
          </a:p>
          <a:p>
            <a:pPr marL="1099185" marR="5080" indent="-457200">
              <a:lnSpc>
                <a:spcPct val="110000"/>
              </a:lnSpc>
              <a:spcBef>
                <a:spcPts val="650"/>
              </a:spcBef>
              <a:buSzPct val="89583"/>
              <a:buFont typeface="Wingdings"/>
              <a:buChar char=""/>
              <a:tabLst>
                <a:tab pos="1099185" algn="l"/>
              </a:tabLst>
            </a:pPr>
            <a:r>
              <a:rPr dirty="0" sz="2400">
                <a:solidFill>
                  <a:srgbClr val="40458B"/>
                </a:solidFill>
                <a:latin typeface="黑体"/>
                <a:cs typeface="黑体"/>
              </a:rPr>
              <a:t>可以直接用虚拟地址进行访问的</a:t>
            </a:r>
            <a:r>
              <a:rPr dirty="0" sz="2400">
                <a:solidFill>
                  <a:srgbClr val="40458B"/>
                </a:solidFill>
                <a:latin typeface="Times New Roman"/>
                <a:cs typeface="Times New Roman"/>
              </a:rPr>
              <a:t>Cache</a:t>
            </a:r>
            <a:r>
              <a:rPr dirty="0" sz="2400" spc="-5">
                <a:solidFill>
                  <a:srgbClr val="40458B"/>
                </a:solidFill>
                <a:latin typeface="黑体"/>
                <a:cs typeface="黑体"/>
              </a:rPr>
              <a:t>。标识存储器中存放的是虚拟地址，</a:t>
            </a:r>
            <a:r>
              <a:rPr dirty="0" sz="2400" spc="-10">
                <a:solidFill>
                  <a:srgbClr val="40458B"/>
                </a:solidFill>
                <a:latin typeface="黑体"/>
                <a:cs typeface="黑体"/>
              </a:rPr>
              <a:t>进行地址检测用的也是虚拟地址</a:t>
            </a:r>
            <a:r>
              <a:rPr dirty="0" sz="2000" spc="-50">
                <a:solidFill>
                  <a:srgbClr val="40458B"/>
                </a:solidFill>
                <a:latin typeface="黑体"/>
                <a:cs typeface="黑体"/>
              </a:rPr>
              <a:t>。</a:t>
            </a:r>
            <a:endParaRPr sz="2000">
              <a:latin typeface="黑体"/>
              <a:cs typeface="黑体"/>
            </a:endParaRPr>
          </a:p>
          <a:p>
            <a:pPr marL="1099185" indent="-457200">
              <a:lnSpc>
                <a:spcPct val="100000"/>
              </a:lnSpc>
              <a:spcBef>
                <a:spcPts val="865"/>
              </a:spcBef>
              <a:buClr>
                <a:srgbClr val="40458B"/>
              </a:buClr>
              <a:buSzPct val="89583"/>
              <a:buFont typeface="Wingdings"/>
              <a:buChar char=""/>
              <a:tabLst>
                <a:tab pos="1099185" algn="l"/>
              </a:tabLst>
            </a:pPr>
            <a:r>
              <a:rPr dirty="0" sz="2400" spc="-20">
                <a:solidFill>
                  <a:srgbClr val="D50092"/>
                </a:solidFill>
                <a:latin typeface="黑体"/>
                <a:cs typeface="黑体"/>
              </a:rPr>
              <a:t>优点：</a:t>
            </a:r>
            <a:endParaRPr sz="2400">
              <a:latin typeface="黑体"/>
              <a:cs typeface="黑体"/>
            </a:endParaRPr>
          </a:p>
          <a:p>
            <a:pPr lvl="1" marL="1726564" indent="-457200">
              <a:lnSpc>
                <a:spcPct val="100000"/>
              </a:lnSpc>
              <a:spcBef>
                <a:spcPts val="775"/>
              </a:spcBef>
              <a:buClr>
                <a:srgbClr val="4668F5"/>
              </a:buClr>
              <a:buSzPct val="60000"/>
              <a:buFont typeface="Wingdings"/>
              <a:buChar char=""/>
              <a:tabLst>
                <a:tab pos="1726564" algn="l"/>
              </a:tabLst>
            </a:pPr>
            <a:r>
              <a:rPr dirty="0" sz="2000" spc="-25" b="1">
                <a:latin typeface="宋体"/>
                <a:cs typeface="宋体"/>
              </a:rPr>
              <a:t>在命中时不需要地址转换，省去了地址转换的时间。即使不命中，地址转换和访问</a:t>
            </a:r>
            <a:endParaRPr sz="2000">
              <a:latin typeface="宋体"/>
              <a:cs typeface="宋体"/>
            </a:endParaRPr>
          </a:p>
          <a:p>
            <a:pPr marL="1726564">
              <a:lnSpc>
                <a:spcPct val="100000"/>
              </a:lnSpc>
              <a:spcBef>
                <a:spcPts val="240"/>
              </a:spcBef>
            </a:pPr>
            <a:r>
              <a:rPr dirty="0" sz="2000" spc="-10" b="1">
                <a:latin typeface="Times New Roman"/>
                <a:cs typeface="Times New Roman"/>
              </a:rPr>
              <a:t>Cache</a:t>
            </a:r>
            <a:r>
              <a:rPr dirty="0" sz="2000" spc="-20" b="1">
                <a:latin typeface="宋体"/>
                <a:cs typeface="宋体"/>
              </a:rPr>
              <a:t>也是并行进行的，其速度比物理</a:t>
            </a:r>
            <a:r>
              <a:rPr dirty="0" sz="2000" spc="-10" b="1">
                <a:latin typeface="Times New Roman"/>
                <a:cs typeface="Times New Roman"/>
              </a:rPr>
              <a:t>Cache</a:t>
            </a:r>
            <a:r>
              <a:rPr dirty="0" sz="2000" spc="-25" b="1">
                <a:latin typeface="宋体"/>
                <a:cs typeface="宋体"/>
              </a:rPr>
              <a:t>快很多。</a:t>
            </a:r>
            <a:endParaRPr sz="2000">
              <a:latin typeface="宋体"/>
              <a:cs typeface="宋体"/>
            </a:endParaRPr>
          </a:p>
        </p:txBody>
      </p:sp>
      <p:grpSp>
        <p:nvGrpSpPr>
          <p:cNvPr id="11" name="object 11" descr=""/>
          <p:cNvGrpSpPr/>
          <p:nvPr/>
        </p:nvGrpSpPr>
        <p:grpSpPr>
          <a:xfrm>
            <a:off x="8614889" y="4203134"/>
            <a:ext cx="2028825" cy="806450"/>
            <a:chOff x="8614889" y="4203134"/>
            <a:chExt cx="2028825" cy="806450"/>
          </a:xfrm>
        </p:grpSpPr>
        <p:sp>
          <p:nvSpPr>
            <p:cNvPr id="12" name="object 12" descr=""/>
            <p:cNvSpPr/>
            <p:nvPr/>
          </p:nvSpPr>
          <p:spPr>
            <a:xfrm>
              <a:off x="9794746" y="4393137"/>
              <a:ext cx="847090" cy="80645"/>
            </a:xfrm>
            <a:custGeom>
              <a:avLst/>
              <a:gdLst/>
              <a:ahLst/>
              <a:cxnLst/>
              <a:rect l="l" t="t" r="r" b="b"/>
              <a:pathLst>
                <a:path w="847090" h="80645">
                  <a:moveTo>
                    <a:pt x="724618" y="0"/>
                  </a:moveTo>
                  <a:lnTo>
                    <a:pt x="763560" y="41301"/>
                  </a:lnTo>
                  <a:lnTo>
                    <a:pt x="724618" y="80142"/>
                  </a:lnTo>
                  <a:lnTo>
                    <a:pt x="815557" y="51269"/>
                  </a:lnTo>
                  <a:lnTo>
                    <a:pt x="768657" y="51269"/>
                  </a:lnTo>
                  <a:lnTo>
                    <a:pt x="771104" y="48767"/>
                  </a:lnTo>
                  <a:lnTo>
                    <a:pt x="773755" y="43803"/>
                  </a:lnTo>
                  <a:lnTo>
                    <a:pt x="776201" y="41301"/>
                  </a:lnTo>
                  <a:lnTo>
                    <a:pt x="773755" y="36338"/>
                  </a:lnTo>
                  <a:lnTo>
                    <a:pt x="771104" y="33836"/>
                  </a:lnTo>
                  <a:lnTo>
                    <a:pt x="768657" y="31354"/>
                  </a:lnTo>
                  <a:lnTo>
                    <a:pt x="817488" y="31354"/>
                  </a:lnTo>
                  <a:lnTo>
                    <a:pt x="724618" y="0"/>
                  </a:lnTo>
                  <a:close/>
                </a:path>
                <a:path w="847090" h="80645">
                  <a:moveTo>
                    <a:pt x="754181" y="31354"/>
                  </a:moveTo>
                  <a:lnTo>
                    <a:pt x="7136" y="31354"/>
                  </a:lnTo>
                  <a:lnTo>
                    <a:pt x="4485" y="33836"/>
                  </a:lnTo>
                  <a:lnTo>
                    <a:pt x="2446" y="36338"/>
                  </a:lnTo>
                  <a:lnTo>
                    <a:pt x="0" y="41301"/>
                  </a:lnTo>
                  <a:lnTo>
                    <a:pt x="2446" y="43803"/>
                  </a:lnTo>
                  <a:lnTo>
                    <a:pt x="4485" y="48767"/>
                  </a:lnTo>
                  <a:lnTo>
                    <a:pt x="7136" y="51269"/>
                  </a:lnTo>
                  <a:lnTo>
                    <a:pt x="753567" y="51269"/>
                  </a:lnTo>
                  <a:lnTo>
                    <a:pt x="763560" y="41301"/>
                  </a:lnTo>
                  <a:lnTo>
                    <a:pt x="754181" y="31354"/>
                  </a:lnTo>
                  <a:close/>
                </a:path>
                <a:path w="847090" h="80645">
                  <a:moveTo>
                    <a:pt x="817488" y="31354"/>
                  </a:moveTo>
                  <a:lnTo>
                    <a:pt x="768657" y="31354"/>
                  </a:lnTo>
                  <a:lnTo>
                    <a:pt x="771104" y="33836"/>
                  </a:lnTo>
                  <a:lnTo>
                    <a:pt x="773755" y="36338"/>
                  </a:lnTo>
                  <a:lnTo>
                    <a:pt x="776201" y="41301"/>
                  </a:lnTo>
                  <a:lnTo>
                    <a:pt x="773755" y="43803"/>
                  </a:lnTo>
                  <a:lnTo>
                    <a:pt x="771104" y="48767"/>
                  </a:lnTo>
                  <a:lnTo>
                    <a:pt x="768657" y="51269"/>
                  </a:lnTo>
                  <a:lnTo>
                    <a:pt x="815557" y="51269"/>
                  </a:lnTo>
                  <a:lnTo>
                    <a:pt x="846950" y="41301"/>
                  </a:lnTo>
                  <a:lnTo>
                    <a:pt x="817488" y="31354"/>
                  </a:lnTo>
                  <a:close/>
                </a:path>
              </a:pathLst>
            </a:custGeom>
            <a:solidFill>
              <a:srgbClr val="000000"/>
            </a:solidFill>
          </p:spPr>
          <p:txBody>
            <a:bodyPr wrap="square" lIns="0" tIns="0" rIns="0" bIns="0" rtlCol="0"/>
            <a:lstStyle/>
            <a:p/>
          </p:txBody>
        </p:sp>
        <p:sp>
          <p:nvSpPr>
            <p:cNvPr id="13" name="object 13" descr=""/>
            <p:cNvSpPr/>
            <p:nvPr/>
          </p:nvSpPr>
          <p:spPr>
            <a:xfrm>
              <a:off x="9794746" y="4393137"/>
              <a:ext cx="847090" cy="80645"/>
            </a:xfrm>
            <a:custGeom>
              <a:avLst/>
              <a:gdLst/>
              <a:ahLst/>
              <a:cxnLst/>
              <a:rect l="l" t="t" r="r" b="b"/>
              <a:pathLst>
                <a:path w="847090" h="80645">
                  <a:moveTo>
                    <a:pt x="12029" y="31354"/>
                  </a:moveTo>
                  <a:lnTo>
                    <a:pt x="763560" y="31354"/>
                  </a:lnTo>
                  <a:lnTo>
                    <a:pt x="768658" y="31354"/>
                  </a:lnTo>
                  <a:lnTo>
                    <a:pt x="771104" y="33836"/>
                  </a:lnTo>
                  <a:lnTo>
                    <a:pt x="773755" y="36338"/>
                  </a:lnTo>
                  <a:lnTo>
                    <a:pt x="776201" y="41301"/>
                  </a:lnTo>
                  <a:lnTo>
                    <a:pt x="773755" y="43803"/>
                  </a:lnTo>
                  <a:lnTo>
                    <a:pt x="771104" y="48767"/>
                  </a:lnTo>
                  <a:lnTo>
                    <a:pt x="768658" y="51269"/>
                  </a:lnTo>
                  <a:lnTo>
                    <a:pt x="763560" y="51269"/>
                  </a:lnTo>
                  <a:lnTo>
                    <a:pt x="12029" y="51269"/>
                  </a:lnTo>
                  <a:lnTo>
                    <a:pt x="7136" y="51269"/>
                  </a:lnTo>
                  <a:lnTo>
                    <a:pt x="4485" y="48767"/>
                  </a:lnTo>
                  <a:lnTo>
                    <a:pt x="2446" y="43803"/>
                  </a:lnTo>
                  <a:lnTo>
                    <a:pt x="0" y="41301"/>
                  </a:lnTo>
                  <a:lnTo>
                    <a:pt x="2446" y="36338"/>
                  </a:lnTo>
                  <a:lnTo>
                    <a:pt x="4485" y="33836"/>
                  </a:lnTo>
                  <a:lnTo>
                    <a:pt x="7136" y="31354"/>
                  </a:lnTo>
                  <a:lnTo>
                    <a:pt x="12029" y="31354"/>
                  </a:lnTo>
                  <a:close/>
                </a:path>
                <a:path w="847090" h="80645">
                  <a:moveTo>
                    <a:pt x="763560" y="41301"/>
                  </a:moveTo>
                  <a:lnTo>
                    <a:pt x="724618" y="0"/>
                  </a:lnTo>
                  <a:lnTo>
                    <a:pt x="846951" y="41301"/>
                  </a:lnTo>
                  <a:lnTo>
                    <a:pt x="724618" y="80142"/>
                  </a:lnTo>
                  <a:lnTo>
                    <a:pt x="763560" y="41301"/>
                  </a:lnTo>
                  <a:close/>
                </a:path>
              </a:pathLst>
            </a:custGeom>
            <a:ln w="3175">
              <a:solidFill>
                <a:srgbClr val="000000"/>
              </a:solidFill>
            </a:ln>
          </p:spPr>
          <p:txBody>
            <a:bodyPr wrap="square" lIns="0" tIns="0" rIns="0" bIns="0" rtlCol="0"/>
            <a:lstStyle/>
            <a:p/>
          </p:txBody>
        </p:sp>
        <p:sp>
          <p:nvSpPr>
            <p:cNvPr id="14" name="object 14" descr=""/>
            <p:cNvSpPr/>
            <p:nvPr/>
          </p:nvSpPr>
          <p:spPr>
            <a:xfrm>
              <a:off x="8616477" y="4361763"/>
              <a:ext cx="461009" cy="83185"/>
            </a:xfrm>
            <a:custGeom>
              <a:avLst/>
              <a:gdLst/>
              <a:ahLst/>
              <a:cxnLst/>
              <a:rect l="l" t="t" r="r" b="b"/>
              <a:pathLst>
                <a:path w="461009" h="83185">
                  <a:moveTo>
                    <a:pt x="338454" y="0"/>
                  </a:moveTo>
                  <a:lnTo>
                    <a:pt x="379843" y="41321"/>
                  </a:lnTo>
                  <a:lnTo>
                    <a:pt x="338454" y="82643"/>
                  </a:lnTo>
                  <a:lnTo>
                    <a:pt x="432615" y="50784"/>
                  </a:lnTo>
                  <a:lnTo>
                    <a:pt x="382290" y="50784"/>
                  </a:lnTo>
                  <a:lnTo>
                    <a:pt x="387387" y="48282"/>
                  </a:lnTo>
                  <a:lnTo>
                    <a:pt x="389426" y="45801"/>
                  </a:lnTo>
                  <a:lnTo>
                    <a:pt x="389426" y="36338"/>
                  </a:lnTo>
                  <a:lnTo>
                    <a:pt x="387387" y="33856"/>
                  </a:lnTo>
                  <a:lnTo>
                    <a:pt x="382290" y="31374"/>
                  </a:lnTo>
                  <a:lnTo>
                    <a:pt x="431183" y="31374"/>
                  </a:lnTo>
                  <a:lnTo>
                    <a:pt x="338454" y="0"/>
                  </a:lnTo>
                  <a:close/>
                </a:path>
                <a:path w="461009" h="83185">
                  <a:moveTo>
                    <a:pt x="369880" y="31374"/>
                  </a:moveTo>
                  <a:lnTo>
                    <a:pt x="7564" y="31374"/>
                  </a:lnTo>
                  <a:lnTo>
                    <a:pt x="2528" y="33856"/>
                  </a:lnTo>
                  <a:lnTo>
                    <a:pt x="0" y="36338"/>
                  </a:lnTo>
                  <a:lnTo>
                    <a:pt x="0" y="45801"/>
                  </a:lnTo>
                  <a:lnTo>
                    <a:pt x="2528" y="48282"/>
                  </a:lnTo>
                  <a:lnTo>
                    <a:pt x="7564" y="50784"/>
                  </a:lnTo>
                  <a:lnTo>
                    <a:pt x="370365" y="50784"/>
                  </a:lnTo>
                  <a:lnTo>
                    <a:pt x="379843" y="41321"/>
                  </a:lnTo>
                  <a:lnTo>
                    <a:pt x="369880" y="31374"/>
                  </a:lnTo>
                  <a:close/>
                </a:path>
                <a:path w="461009" h="83185">
                  <a:moveTo>
                    <a:pt x="431183" y="31374"/>
                  </a:moveTo>
                  <a:lnTo>
                    <a:pt x="382290" y="31374"/>
                  </a:lnTo>
                  <a:lnTo>
                    <a:pt x="387387" y="33856"/>
                  </a:lnTo>
                  <a:lnTo>
                    <a:pt x="389426" y="36338"/>
                  </a:lnTo>
                  <a:lnTo>
                    <a:pt x="389426" y="45801"/>
                  </a:lnTo>
                  <a:lnTo>
                    <a:pt x="387387" y="48282"/>
                  </a:lnTo>
                  <a:lnTo>
                    <a:pt x="382290" y="50784"/>
                  </a:lnTo>
                  <a:lnTo>
                    <a:pt x="432615" y="50784"/>
                  </a:lnTo>
                  <a:lnTo>
                    <a:pt x="460583" y="41321"/>
                  </a:lnTo>
                  <a:lnTo>
                    <a:pt x="431183" y="31374"/>
                  </a:lnTo>
                  <a:close/>
                </a:path>
              </a:pathLst>
            </a:custGeom>
            <a:solidFill>
              <a:srgbClr val="000000"/>
            </a:solidFill>
          </p:spPr>
          <p:txBody>
            <a:bodyPr wrap="square" lIns="0" tIns="0" rIns="0" bIns="0" rtlCol="0"/>
            <a:lstStyle/>
            <a:p/>
          </p:txBody>
        </p:sp>
        <p:sp>
          <p:nvSpPr>
            <p:cNvPr id="15" name="object 15" descr=""/>
            <p:cNvSpPr/>
            <p:nvPr/>
          </p:nvSpPr>
          <p:spPr>
            <a:xfrm>
              <a:off x="8616477" y="4361763"/>
              <a:ext cx="461009" cy="83185"/>
            </a:xfrm>
            <a:custGeom>
              <a:avLst/>
              <a:gdLst/>
              <a:ahLst/>
              <a:cxnLst/>
              <a:rect l="l" t="t" r="r" b="b"/>
              <a:pathLst>
                <a:path w="461009" h="83185">
                  <a:moveTo>
                    <a:pt x="10092" y="31374"/>
                  </a:moveTo>
                  <a:lnTo>
                    <a:pt x="379843" y="31374"/>
                  </a:lnTo>
                  <a:lnTo>
                    <a:pt x="382290" y="31374"/>
                  </a:lnTo>
                  <a:lnTo>
                    <a:pt x="387387" y="33856"/>
                  </a:lnTo>
                  <a:lnTo>
                    <a:pt x="389426" y="36338"/>
                  </a:lnTo>
                  <a:lnTo>
                    <a:pt x="389426" y="41321"/>
                  </a:lnTo>
                  <a:lnTo>
                    <a:pt x="389426" y="45801"/>
                  </a:lnTo>
                  <a:lnTo>
                    <a:pt x="387387" y="48282"/>
                  </a:lnTo>
                  <a:lnTo>
                    <a:pt x="382290" y="50784"/>
                  </a:lnTo>
                  <a:lnTo>
                    <a:pt x="379843" y="50784"/>
                  </a:lnTo>
                  <a:lnTo>
                    <a:pt x="10092" y="50784"/>
                  </a:lnTo>
                  <a:lnTo>
                    <a:pt x="7564" y="50784"/>
                  </a:lnTo>
                  <a:lnTo>
                    <a:pt x="2528" y="48282"/>
                  </a:lnTo>
                  <a:lnTo>
                    <a:pt x="0" y="45801"/>
                  </a:lnTo>
                  <a:lnTo>
                    <a:pt x="0" y="41321"/>
                  </a:lnTo>
                  <a:lnTo>
                    <a:pt x="0" y="36338"/>
                  </a:lnTo>
                  <a:lnTo>
                    <a:pt x="2528" y="33856"/>
                  </a:lnTo>
                  <a:lnTo>
                    <a:pt x="7564" y="31374"/>
                  </a:lnTo>
                  <a:lnTo>
                    <a:pt x="10092" y="31374"/>
                  </a:lnTo>
                  <a:close/>
                </a:path>
                <a:path w="461009" h="83185">
                  <a:moveTo>
                    <a:pt x="379843" y="41321"/>
                  </a:moveTo>
                  <a:lnTo>
                    <a:pt x="338454" y="0"/>
                  </a:lnTo>
                  <a:lnTo>
                    <a:pt x="460583" y="41321"/>
                  </a:lnTo>
                  <a:lnTo>
                    <a:pt x="338454" y="82643"/>
                  </a:lnTo>
                  <a:lnTo>
                    <a:pt x="379843" y="41321"/>
                  </a:lnTo>
                  <a:close/>
                </a:path>
              </a:pathLst>
            </a:custGeom>
            <a:ln w="3175">
              <a:solidFill>
                <a:srgbClr val="000000"/>
              </a:solidFill>
            </a:ln>
          </p:spPr>
          <p:txBody>
            <a:bodyPr wrap="square" lIns="0" tIns="0" rIns="0" bIns="0" rtlCol="0"/>
            <a:lstStyle/>
            <a:p/>
          </p:txBody>
        </p:sp>
        <p:sp>
          <p:nvSpPr>
            <p:cNvPr id="16" name="object 16" descr=""/>
            <p:cNvSpPr/>
            <p:nvPr/>
          </p:nvSpPr>
          <p:spPr>
            <a:xfrm>
              <a:off x="8616477" y="4927277"/>
              <a:ext cx="504825" cy="80645"/>
            </a:xfrm>
            <a:custGeom>
              <a:avLst/>
              <a:gdLst/>
              <a:ahLst/>
              <a:cxnLst/>
              <a:rect l="l" t="t" r="r" b="b"/>
              <a:pathLst>
                <a:path w="504825" h="80645">
                  <a:moveTo>
                    <a:pt x="382290" y="0"/>
                  </a:moveTo>
                  <a:lnTo>
                    <a:pt x="421232" y="39324"/>
                  </a:lnTo>
                  <a:lnTo>
                    <a:pt x="382290" y="80626"/>
                  </a:lnTo>
                  <a:lnTo>
                    <a:pt x="469243" y="51269"/>
                  </a:lnTo>
                  <a:lnTo>
                    <a:pt x="421232" y="51269"/>
                  </a:lnTo>
                  <a:lnTo>
                    <a:pt x="426329" y="48767"/>
                  </a:lnTo>
                  <a:lnTo>
                    <a:pt x="431223" y="43803"/>
                  </a:lnTo>
                  <a:lnTo>
                    <a:pt x="431223" y="36822"/>
                  </a:lnTo>
                  <a:lnTo>
                    <a:pt x="428776" y="31859"/>
                  </a:lnTo>
                  <a:lnTo>
                    <a:pt x="426329" y="31859"/>
                  </a:lnTo>
                  <a:lnTo>
                    <a:pt x="421232" y="29357"/>
                  </a:lnTo>
                  <a:lnTo>
                    <a:pt x="473616" y="29357"/>
                  </a:lnTo>
                  <a:lnTo>
                    <a:pt x="382290" y="0"/>
                  </a:lnTo>
                  <a:close/>
                </a:path>
                <a:path w="504825" h="80645">
                  <a:moveTo>
                    <a:pt x="411362" y="29357"/>
                  </a:moveTo>
                  <a:lnTo>
                    <a:pt x="10092" y="29357"/>
                  </a:lnTo>
                  <a:lnTo>
                    <a:pt x="7564" y="31859"/>
                  </a:lnTo>
                  <a:lnTo>
                    <a:pt x="2528" y="31859"/>
                  </a:lnTo>
                  <a:lnTo>
                    <a:pt x="0" y="36822"/>
                  </a:lnTo>
                  <a:lnTo>
                    <a:pt x="0" y="43803"/>
                  </a:lnTo>
                  <a:lnTo>
                    <a:pt x="2528" y="46285"/>
                  </a:lnTo>
                  <a:lnTo>
                    <a:pt x="7564" y="48767"/>
                  </a:lnTo>
                  <a:lnTo>
                    <a:pt x="10092" y="51269"/>
                  </a:lnTo>
                  <a:lnTo>
                    <a:pt x="409970" y="51269"/>
                  </a:lnTo>
                  <a:lnTo>
                    <a:pt x="421232" y="39324"/>
                  </a:lnTo>
                  <a:lnTo>
                    <a:pt x="411362" y="29357"/>
                  </a:lnTo>
                  <a:close/>
                </a:path>
                <a:path w="504825" h="80645">
                  <a:moveTo>
                    <a:pt x="473616" y="29357"/>
                  </a:moveTo>
                  <a:lnTo>
                    <a:pt x="421232" y="29357"/>
                  </a:lnTo>
                  <a:lnTo>
                    <a:pt x="426329" y="31859"/>
                  </a:lnTo>
                  <a:lnTo>
                    <a:pt x="428776" y="31859"/>
                  </a:lnTo>
                  <a:lnTo>
                    <a:pt x="431223" y="36822"/>
                  </a:lnTo>
                  <a:lnTo>
                    <a:pt x="431223" y="43803"/>
                  </a:lnTo>
                  <a:lnTo>
                    <a:pt x="426329" y="48767"/>
                  </a:lnTo>
                  <a:lnTo>
                    <a:pt x="421232" y="51269"/>
                  </a:lnTo>
                  <a:lnTo>
                    <a:pt x="469243" y="51269"/>
                  </a:lnTo>
                  <a:lnTo>
                    <a:pt x="504622" y="39324"/>
                  </a:lnTo>
                  <a:lnTo>
                    <a:pt x="473616" y="29357"/>
                  </a:lnTo>
                  <a:close/>
                </a:path>
              </a:pathLst>
            </a:custGeom>
            <a:solidFill>
              <a:srgbClr val="000000"/>
            </a:solidFill>
          </p:spPr>
          <p:txBody>
            <a:bodyPr wrap="square" lIns="0" tIns="0" rIns="0" bIns="0" rtlCol="0"/>
            <a:lstStyle/>
            <a:p/>
          </p:txBody>
        </p:sp>
        <p:sp>
          <p:nvSpPr>
            <p:cNvPr id="17" name="object 17" descr=""/>
            <p:cNvSpPr/>
            <p:nvPr/>
          </p:nvSpPr>
          <p:spPr>
            <a:xfrm>
              <a:off x="8616477" y="4927277"/>
              <a:ext cx="504825" cy="80645"/>
            </a:xfrm>
            <a:custGeom>
              <a:avLst/>
              <a:gdLst/>
              <a:ahLst/>
              <a:cxnLst/>
              <a:rect l="l" t="t" r="r" b="b"/>
              <a:pathLst>
                <a:path w="504825" h="80645">
                  <a:moveTo>
                    <a:pt x="10092" y="29357"/>
                  </a:moveTo>
                  <a:lnTo>
                    <a:pt x="421232" y="29357"/>
                  </a:lnTo>
                  <a:lnTo>
                    <a:pt x="426329" y="31859"/>
                  </a:lnTo>
                  <a:lnTo>
                    <a:pt x="428776" y="31859"/>
                  </a:lnTo>
                  <a:lnTo>
                    <a:pt x="431223" y="36822"/>
                  </a:lnTo>
                  <a:lnTo>
                    <a:pt x="431223" y="39324"/>
                  </a:lnTo>
                  <a:lnTo>
                    <a:pt x="431223" y="43803"/>
                  </a:lnTo>
                  <a:lnTo>
                    <a:pt x="428776" y="46285"/>
                  </a:lnTo>
                  <a:lnTo>
                    <a:pt x="426329" y="48767"/>
                  </a:lnTo>
                  <a:lnTo>
                    <a:pt x="421232" y="51269"/>
                  </a:lnTo>
                  <a:lnTo>
                    <a:pt x="10092" y="51269"/>
                  </a:lnTo>
                  <a:lnTo>
                    <a:pt x="7564" y="48767"/>
                  </a:lnTo>
                  <a:lnTo>
                    <a:pt x="2528" y="46285"/>
                  </a:lnTo>
                  <a:lnTo>
                    <a:pt x="0" y="43803"/>
                  </a:lnTo>
                  <a:lnTo>
                    <a:pt x="0" y="39324"/>
                  </a:lnTo>
                  <a:lnTo>
                    <a:pt x="0" y="36822"/>
                  </a:lnTo>
                  <a:lnTo>
                    <a:pt x="2528" y="31859"/>
                  </a:lnTo>
                  <a:lnTo>
                    <a:pt x="7564" y="31859"/>
                  </a:lnTo>
                  <a:lnTo>
                    <a:pt x="10092" y="29357"/>
                  </a:lnTo>
                  <a:close/>
                </a:path>
                <a:path w="504825" h="80645">
                  <a:moveTo>
                    <a:pt x="421232" y="39324"/>
                  </a:moveTo>
                  <a:lnTo>
                    <a:pt x="382290" y="0"/>
                  </a:lnTo>
                  <a:lnTo>
                    <a:pt x="504622" y="39324"/>
                  </a:lnTo>
                  <a:lnTo>
                    <a:pt x="382290" y="80626"/>
                  </a:lnTo>
                  <a:lnTo>
                    <a:pt x="421232" y="39324"/>
                  </a:lnTo>
                  <a:close/>
                </a:path>
              </a:pathLst>
            </a:custGeom>
            <a:ln w="3175">
              <a:solidFill>
                <a:srgbClr val="000000"/>
              </a:solidFill>
            </a:ln>
          </p:spPr>
          <p:txBody>
            <a:bodyPr wrap="square" lIns="0" tIns="0" rIns="0" bIns="0" rtlCol="0"/>
            <a:lstStyle/>
            <a:p/>
          </p:txBody>
        </p:sp>
        <p:sp>
          <p:nvSpPr>
            <p:cNvPr id="18" name="object 18" descr=""/>
            <p:cNvSpPr/>
            <p:nvPr/>
          </p:nvSpPr>
          <p:spPr>
            <a:xfrm>
              <a:off x="9074001" y="4210437"/>
              <a:ext cx="730250" cy="408305"/>
            </a:xfrm>
            <a:custGeom>
              <a:avLst/>
              <a:gdLst/>
              <a:ahLst/>
              <a:cxnLst/>
              <a:rect l="l" t="t" r="r" b="b"/>
              <a:pathLst>
                <a:path w="730250" h="408304">
                  <a:moveTo>
                    <a:pt x="0" y="408195"/>
                  </a:moveTo>
                  <a:lnTo>
                    <a:pt x="729776" y="408195"/>
                  </a:lnTo>
                  <a:lnTo>
                    <a:pt x="729776" y="0"/>
                  </a:lnTo>
                  <a:lnTo>
                    <a:pt x="0" y="0"/>
                  </a:lnTo>
                  <a:lnTo>
                    <a:pt x="0" y="408195"/>
                  </a:lnTo>
                  <a:close/>
                </a:path>
              </a:pathLst>
            </a:custGeom>
            <a:ln w="14530">
              <a:solidFill>
                <a:srgbClr val="000000"/>
              </a:solidFill>
            </a:ln>
          </p:spPr>
          <p:txBody>
            <a:bodyPr wrap="square" lIns="0" tIns="0" rIns="0" bIns="0" rtlCol="0"/>
            <a:lstStyle/>
            <a:p/>
          </p:txBody>
        </p:sp>
      </p:grpSp>
      <p:grpSp>
        <p:nvGrpSpPr>
          <p:cNvPr id="19" name="object 19" descr=""/>
          <p:cNvGrpSpPr/>
          <p:nvPr/>
        </p:nvGrpSpPr>
        <p:grpSpPr>
          <a:xfrm>
            <a:off x="9783135" y="5144878"/>
            <a:ext cx="838200" cy="83185"/>
            <a:chOff x="9783135" y="5144878"/>
            <a:chExt cx="838200" cy="83185"/>
          </a:xfrm>
        </p:grpSpPr>
        <p:sp>
          <p:nvSpPr>
            <p:cNvPr id="20" name="object 20" descr=""/>
            <p:cNvSpPr/>
            <p:nvPr/>
          </p:nvSpPr>
          <p:spPr>
            <a:xfrm>
              <a:off x="9784552" y="5146295"/>
              <a:ext cx="835660" cy="80645"/>
            </a:xfrm>
            <a:custGeom>
              <a:avLst/>
              <a:gdLst/>
              <a:ahLst/>
              <a:cxnLst/>
              <a:rect l="l" t="t" r="r" b="b"/>
              <a:pathLst>
                <a:path w="835659" h="80645">
                  <a:moveTo>
                    <a:pt x="122740" y="0"/>
                  </a:moveTo>
                  <a:lnTo>
                    <a:pt x="0" y="41321"/>
                  </a:lnTo>
                  <a:lnTo>
                    <a:pt x="122740" y="80142"/>
                  </a:lnTo>
                  <a:lnTo>
                    <a:pt x="91132" y="50784"/>
                  </a:lnTo>
                  <a:lnTo>
                    <a:pt x="78293" y="50784"/>
                  </a:lnTo>
                  <a:lnTo>
                    <a:pt x="73807" y="48282"/>
                  </a:lnTo>
                  <a:lnTo>
                    <a:pt x="71360" y="43319"/>
                  </a:lnTo>
                  <a:lnTo>
                    <a:pt x="71360" y="36338"/>
                  </a:lnTo>
                  <a:lnTo>
                    <a:pt x="73807" y="33856"/>
                  </a:lnTo>
                  <a:lnTo>
                    <a:pt x="78293" y="31374"/>
                  </a:lnTo>
                  <a:lnTo>
                    <a:pt x="91005" y="31374"/>
                  </a:lnTo>
                  <a:lnTo>
                    <a:pt x="122740" y="0"/>
                  </a:lnTo>
                  <a:close/>
                </a:path>
                <a:path w="835659" h="80645">
                  <a:moveTo>
                    <a:pt x="712588" y="0"/>
                  </a:moveTo>
                  <a:lnTo>
                    <a:pt x="754589" y="41321"/>
                  </a:lnTo>
                  <a:lnTo>
                    <a:pt x="712588" y="80142"/>
                  </a:lnTo>
                  <a:lnTo>
                    <a:pt x="805409" y="50784"/>
                  </a:lnTo>
                  <a:lnTo>
                    <a:pt x="757036" y="50784"/>
                  </a:lnTo>
                  <a:lnTo>
                    <a:pt x="761725" y="48282"/>
                  </a:lnTo>
                  <a:lnTo>
                    <a:pt x="764172" y="43319"/>
                  </a:lnTo>
                  <a:lnTo>
                    <a:pt x="764172" y="36338"/>
                  </a:lnTo>
                  <a:lnTo>
                    <a:pt x="761725" y="33856"/>
                  </a:lnTo>
                  <a:lnTo>
                    <a:pt x="757036" y="31374"/>
                  </a:lnTo>
                  <a:lnTo>
                    <a:pt x="805782" y="31374"/>
                  </a:lnTo>
                  <a:lnTo>
                    <a:pt x="712588" y="0"/>
                  </a:lnTo>
                  <a:close/>
                </a:path>
                <a:path w="835659" h="80645">
                  <a:moveTo>
                    <a:pt x="91005" y="31374"/>
                  </a:moveTo>
                  <a:lnTo>
                    <a:pt x="78293" y="31374"/>
                  </a:lnTo>
                  <a:lnTo>
                    <a:pt x="73807" y="33856"/>
                  </a:lnTo>
                  <a:lnTo>
                    <a:pt x="71360" y="36338"/>
                  </a:lnTo>
                  <a:lnTo>
                    <a:pt x="71360" y="43319"/>
                  </a:lnTo>
                  <a:lnTo>
                    <a:pt x="73807" y="48282"/>
                  </a:lnTo>
                  <a:lnTo>
                    <a:pt x="78293" y="50784"/>
                  </a:lnTo>
                  <a:lnTo>
                    <a:pt x="91132" y="50784"/>
                  </a:lnTo>
                  <a:lnTo>
                    <a:pt x="80943" y="41321"/>
                  </a:lnTo>
                  <a:lnTo>
                    <a:pt x="91005" y="31374"/>
                  </a:lnTo>
                  <a:close/>
                </a:path>
                <a:path w="835659" h="80645">
                  <a:moveTo>
                    <a:pt x="744479" y="31374"/>
                  </a:moveTo>
                  <a:lnTo>
                    <a:pt x="91005" y="31374"/>
                  </a:lnTo>
                  <a:lnTo>
                    <a:pt x="80943" y="41321"/>
                  </a:lnTo>
                  <a:lnTo>
                    <a:pt x="91132" y="50784"/>
                  </a:lnTo>
                  <a:lnTo>
                    <a:pt x="744351" y="50784"/>
                  </a:lnTo>
                  <a:lnTo>
                    <a:pt x="754589" y="41321"/>
                  </a:lnTo>
                  <a:lnTo>
                    <a:pt x="744479" y="31374"/>
                  </a:lnTo>
                  <a:close/>
                </a:path>
                <a:path w="835659" h="80645">
                  <a:moveTo>
                    <a:pt x="805782" y="31374"/>
                  </a:moveTo>
                  <a:lnTo>
                    <a:pt x="757036" y="31374"/>
                  </a:lnTo>
                  <a:lnTo>
                    <a:pt x="761725" y="33856"/>
                  </a:lnTo>
                  <a:lnTo>
                    <a:pt x="764172" y="36338"/>
                  </a:lnTo>
                  <a:lnTo>
                    <a:pt x="764172" y="43319"/>
                  </a:lnTo>
                  <a:lnTo>
                    <a:pt x="761725" y="48282"/>
                  </a:lnTo>
                  <a:lnTo>
                    <a:pt x="757036" y="50784"/>
                  </a:lnTo>
                  <a:lnTo>
                    <a:pt x="805409" y="50784"/>
                  </a:lnTo>
                  <a:lnTo>
                    <a:pt x="835329" y="41321"/>
                  </a:lnTo>
                  <a:lnTo>
                    <a:pt x="805782" y="31374"/>
                  </a:lnTo>
                  <a:close/>
                </a:path>
              </a:pathLst>
            </a:custGeom>
            <a:solidFill>
              <a:srgbClr val="000000"/>
            </a:solidFill>
          </p:spPr>
          <p:txBody>
            <a:bodyPr wrap="square" lIns="0" tIns="0" rIns="0" bIns="0" rtlCol="0"/>
            <a:lstStyle/>
            <a:p/>
          </p:txBody>
        </p:sp>
        <p:sp>
          <p:nvSpPr>
            <p:cNvPr id="21" name="object 21" descr=""/>
            <p:cNvSpPr/>
            <p:nvPr/>
          </p:nvSpPr>
          <p:spPr>
            <a:xfrm>
              <a:off x="9784552" y="5146295"/>
              <a:ext cx="835660" cy="80645"/>
            </a:xfrm>
            <a:custGeom>
              <a:avLst/>
              <a:gdLst/>
              <a:ahLst/>
              <a:cxnLst/>
              <a:rect l="l" t="t" r="r" b="b"/>
              <a:pathLst>
                <a:path w="835659" h="80645">
                  <a:moveTo>
                    <a:pt x="80943" y="31374"/>
                  </a:moveTo>
                  <a:lnTo>
                    <a:pt x="754589" y="31374"/>
                  </a:lnTo>
                  <a:lnTo>
                    <a:pt x="757036" y="31374"/>
                  </a:lnTo>
                  <a:lnTo>
                    <a:pt x="761725" y="33856"/>
                  </a:lnTo>
                  <a:lnTo>
                    <a:pt x="764172" y="36338"/>
                  </a:lnTo>
                  <a:lnTo>
                    <a:pt x="764172" y="41321"/>
                  </a:lnTo>
                  <a:lnTo>
                    <a:pt x="764172" y="43319"/>
                  </a:lnTo>
                  <a:lnTo>
                    <a:pt x="761725" y="48282"/>
                  </a:lnTo>
                  <a:lnTo>
                    <a:pt x="757036" y="50784"/>
                  </a:lnTo>
                  <a:lnTo>
                    <a:pt x="754589" y="50784"/>
                  </a:lnTo>
                  <a:lnTo>
                    <a:pt x="80943" y="50784"/>
                  </a:lnTo>
                  <a:lnTo>
                    <a:pt x="78293" y="50784"/>
                  </a:lnTo>
                  <a:lnTo>
                    <a:pt x="73807" y="48282"/>
                  </a:lnTo>
                  <a:lnTo>
                    <a:pt x="71360" y="43319"/>
                  </a:lnTo>
                  <a:lnTo>
                    <a:pt x="71360" y="41321"/>
                  </a:lnTo>
                  <a:lnTo>
                    <a:pt x="71360" y="36338"/>
                  </a:lnTo>
                  <a:lnTo>
                    <a:pt x="73807" y="33856"/>
                  </a:lnTo>
                  <a:lnTo>
                    <a:pt x="78293" y="31374"/>
                  </a:lnTo>
                  <a:lnTo>
                    <a:pt x="80943" y="31374"/>
                  </a:lnTo>
                  <a:close/>
                </a:path>
                <a:path w="835659" h="80645">
                  <a:moveTo>
                    <a:pt x="80943" y="41321"/>
                  </a:moveTo>
                  <a:lnTo>
                    <a:pt x="122740" y="80142"/>
                  </a:lnTo>
                  <a:lnTo>
                    <a:pt x="0" y="41321"/>
                  </a:lnTo>
                  <a:lnTo>
                    <a:pt x="122740" y="0"/>
                  </a:lnTo>
                  <a:lnTo>
                    <a:pt x="80943" y="41321"/>
                  </a:lnTo>
                  <a:close/>
                </a:path>
                <a:path w="835659" h="80645">
                  <a:moveTo>
                    <a:pt x="754589" y="41321"/>
                  </a:moveTo>
                  <a:lnTo>
                    <a:pt x="712588" y="0"/>
                  </a:lnTo>
                  <a:lnTo>
                    <a:pt x="835329" y="41321"/>
                  </a:lnTo>
                  <a:lnTo>
                    <a:pt x="712588" y="80142"/>
                  </a:lnTo>
                  <a:lnTo>
                    <a:pt x="754589" y="41321"/>
                  </a:lnTo>
                  <a:close/>
                </a:path>
              </a:pathLst>
            </a:custGeom>
            <a:ln w="3175">
              <a:solidFill>
                <a:srgbClr val="000000"/>
              </a:solidFill>
            </a:ln>
          </p:spPr>
          <p:txBody>
            <a:bodyPr wrap="square" lIns="0" tIns="0" rIns="0" bIns="0" rtlCol="0"/>
            <a:lstStyle/>
            <a:p/>
          </p:txBody>
        </p:sp>
      </p:grpSp>
      <p:grpSp>
        <p:nvGrpSpPr>
          <p:cNvPr id="22" name="object 22" descr=""/>
          <p:cNvGrpSpPr/>
          <p:nvPr/>
        </p:nvGrpSpPr>
        <p:grpSpPr>
          <a:xfrm>
            <a:off x="7768110" y="5302681"/>
            <a:ext cx="1354455" cy="83185"/>
            <a:chOff x="7768110" y="5302681"/>
            <a:chExt cx="1354455" cy="83185"/>
          </a:xfrm>
        </p:grpSpPr>
        <p:sp>
          <p:nvSpPr>
            <p:cNvPr id="23" name="object 23" descr=""/>
            <p:cNvSpPr/>
            <p:nvPr/>
          </p:nvSpPr>
          <p:spPr>
            <a:xfrm>
              <a:off x="7769527" y="5304098"/>
              <a:ext cx="1351915" cy="80645"/>
            </a:xfrm>
            <a:custGeom>
              <a:avLst/>
              <a:gdLst/>
              <a:ahLst/>
              <a:cxnLst/>
              <a:rect l="l" t="t" r="r" b="b"/>
              <a:pathLst>
                <a:path w="1351915" h="80645">
                  <a:moveTo>
                    <a:pt x="122210" y="0"/>
                  </a:moveTo>
                  <a:lnTo>
                    <a:pt x="0" y="38840"/>
                  </a:lnTo>
                  <a:lnTo>
                    <a:pt x="122210" y="80142"/>
                  </a:lnTo>
                  <a:lnTo>
                    <a:pt x="94573" y="50784"/>
                  </a:lnTo>
                  <a:lnTo>
                    <a:pt x="83329" y="50784"/>
                  </a:lnTo>
                  <a:lnTo>
                    <a:pt x="78272" y="48282"/>
                  </a:lnTo>
                  <a:lnTo>
                    <a:pt x="75744" y="45801"/>
                  </a:lnTo>
                  <a:lnTo>
                    <a:pt x="73236" y="43803"/>
                  </a:lnTo>
                  <a:lnTo>
                    <a:pt x="70708" y="38840"/>
                  </a:lnTo>
                  <a:lnTo>
                    <a:pt x="73236" y="36338"/>
                  </a:lnTo>
                  <a:lnTo>
                    <a:pt x="75744" y="31374"/>
                  </a:lnTo>
                  <a:lnTo>
                    <a:pt x="78272" y="31374"/>
                  </a:lnTo>
                  <a:lnTo>
                    <a:pt x="83329" y="28872"/>
                  </a:lnTo>
                  <a:lnTo>
                    <a:pt x="93306" y="28872"/>
                  </a:lnTo>
                  <a:lnTo>
                    <a:pt x="122210" y="0"/>
                  </a:lnTo>
                  <a:close/>
                </a:path>
                <a:path w="1351915" h="80645">
                  <a:moveTo>
                    <a:pt x="1229241" y="0"/>
                  </a:moveTo>
                  <a:lnTo>
                    <a:pt x="1268183" y="38840"/>
                  </a:lnTo>
                  <a:lnTo>
                    <a:pt x="1229241" y="80142"/>
                  </a:lnTo>
                  <a:lnTo>
                    <a:pt x="1316194" y="50784"/>
                  </a:lnTo>
                  <a:lnTo>
                    <a:pt x="1268183" y="50784"/>
                  </a:lnTo>
                  <a:lnTo>
                    <a:pt x="1273280" y="48282"/>
                  </a:lnTo>
                  <a:lnTo>
                    <a:pt x="1275727" y="45801"/>
                  </a:lnTo>
                  <a:lnTo>
                    <a:pt x="1278174" y="43803"/>
                  </a:lnTo>
                  <a:lnTo>
                    <a:pt x="1278174" y="36338"/>
                  </a:lnTo>
                  <a:lnTo>
                    <a:pt x="1275727" y="31374"/>
                  </a:lnTo>
                  <a:lnTo>
                    <a:pt x="1273280" y="31374"/>
                  </a:lnTo>
                  <a:lnTo>
                    <a:pt x="1268183" y="28872"/>
                  </a:lnTo>
                  <a:lnTo>
                    <a:pt x="1320180" y="28872"/>
                  </a:lnTo>
                  <a:lnTo>
                    <a:pt x="1229241" y="0"/>
                  </a:lnTo>
                  <a:close/>
                </a:path>
                <a:path w="1351915" h="80645">
                  <a:moveTo>
                    <a:pt x="93306" y="28872"/>
                  </a:moveTo>
                  <a:lnTo>
                    <a:pt x="83329" y="28872"/>
                  </a:lnTo>
                  <a:lnTo>
                    <a:pt x="78272" y="31374"/>
                  </a:lnTo>
                  <a:lnTo>
                    <a:pt x="75744" y="31374"/>
                  </a:lnTo>
                  <a:lnTo>
                    <a:pt x="73236" y="36338"/>
                  </a:lnTo>
                  <a:lnTo>
                    <a:pt x="70708" y="38840"/>
                  </a:lnTo>
                  <a:lnTo>
                    <a:pt x="73236" y="43803"/>
                  </a:lnTo>
                  <a:lnTo>
                    <a:pt x="75744" y="45801"/>
                  </a:lnTo>
                  <a:lnTo>
                    <a:pt x="78272" y="48282"/>
                  </a:lnTo>
                  <a:lnTo>
                    <a:pt x="83329" y="50784"/>
                  </a:lnTo>
                  <a:lnTo>
                    <a:pt x="94573" y="50784"/>
                  </a:lnTo>
                  <a:lnTo>
                    <a:pt x="83329" y="38840"/>
                  </a:lnTo>
                  <a:lnTo>
                    <a:pt x="93306" y="28872"/>
                  </a:lnTo>
                  <a:close/>
                </a:path>
                <a:path w="1351915" h="80645">
                  <a:moveTo>
                    <a:pt x="1258190" y="28872"/>
                  </a:moveTo>
                  <a:lnTo>
                    <a:pt x="93306" y="28872"/>
                  </a:lnTo>
                  <a:lnTo>
                    <a:pt x="83329" y="38840"/>
                  </a:lnTo>
                  <a:lnTo>
                    <a:pt x="94573" y="50784"/>
                  </a:lnTo>
                  <a:lnTo>
                    <a:pt x="1256921" y="50784"/>
                  </a:lnTo>
                  <a:lnTo>
                    <a:pt x="1268183" y="38840"/>
                  </a:lnTo>
                  <a:lnTo>
                    <a:pt x="1258190" y="28872"/>
                  </a:lnTo>
                  <a:close/>
                </a:path>
                <a:path w="1351915" h="80645">
                  <a:moveTo>
                    <a:pt x="1320180" y="28872"/>
                  </a:moveTo>
                  <a:lnTo>
                    <a:pt x="1268183" y="28872"/>
                  </a:lnTo>
                  <a:lnTo>
                    <a:pt x="1273280" y="31374"/>
                  </a:lnTo>
                  <a:lnTo>
                    <a:pt x="1275727" y="31374"/>
                  </a:lnTo>
                  <a:lnTo>
                    <a:pt x="1278174" y="36338"/>
                  </a:lnTo>
                  <a:lnTo>
                    <a:pt x="1278174" y="43803"/>
                  </a:lnTo>
                  <a:lnTo>
                    <a:pt x="1275727" y="45801"/>
                  </a:lnTo>
                  <a:lnTo>
                    <a:pt x="1273280" y="48282"/>
                  </a:lnTo>
                  <a:lnTo>
                    <a:pt x="1268183" y="50784"/>
                  </a:lnTo>
                  <a:lnTo>
                    <a:pt x="1316194" y="50784"/>
                  </a:lnTo>
                  <a:lnTo>
                    <a:pt x="1351573" y="38840"/>
                  </a:lnTo>
                  <a:lnTo>
                    <a:pt x="1320180" y="28872"/>
                  </a:lnTo>
                  <a:close/>
                </a:path>
              </a:pathLst>
            </a:custGeom>
            <a:solidFill>
              <a:srgbClr val="000000"/>
            </a:solidFill>
          </p:spPr>
          <p:txBody>
            <a:bodyPr wrap="square" lIns="0" tIns="0" rIns="0" bIns="0" rtlCol="0"/>
            <a:lstStyle/>
            <a:p/>
          </p:txBody>
        </p:sp>
        <p:sp>
          <p:nvSpPr>
            <p:cNvPr id="24" name="object 24" descr=""/>
            <p:cNvSpPr/>
            <p:nvPr/>
          </p:nvSpPr>
          <p:spPr>
            <a:xfrm>
              <a:off x="7769527" y="5304098"/>
              <a:ext cx="1351915" cy="80645"/>
            </a:xfrm>
            <a:custGeom>
              <a:avLst/>
              <a:gdLst/>
              <a:ahLst/>
              <a:cxnLst/>
              <a:rect l="l" t="t" r="r" b="b"/>
              <a:pathLst>
                <a:path w="1351915" h="80645">
                  <a:moveTo>
                    <a:pt x="83329" y="28872"/>
                  </a:moveTo>
                  <a:lnTo>
                    <a:pt x="1268183" y="28872"/>
                  </a:lnTo>
                  <a:lnTo>
                    <a:pt x="1273280" y="31374"/>
                  </a:lnTo>
                  <a:lnTo>
                    <a:pt x="1275727" y="31374"/>
                  </a:lnTo>
                  <a:lnTo>
                    <a:pt x="1278174" y="36338"/>
                  </a:lnTo>
                  <a:lnTo>
                    <a:pt x="1278174" y="38840"/>
                  </a:lnTo>
                  <a:lnTo>
                    <a:pt x="1278174" y="43803"/>
                  </a:lnTo>
                  <a:lnTo>
                    <a:pt x="1275727" y="45801"/>
                  </a:lnTo>
                  <a:lnTo>
                    <a:pt x="1273280" y="48282"/>
                  </a:lnTo>
                  <a:lnTo>
                    <a:pt x="1268183" y="50784"/>
                  </a:lnTo>
                  <a:lnTo>
                    <a:pt x="83329" y="50784"/>
                  </a:lnTo>
                  <a:lnTo>
                    <a:pt x="78272" y="48282"/>
                  </a:lnTo>
                  <a:lnTo>
                    <a:pt x="75744" y="45801"/>
                  </a:lnTo>
                  <a:lnTo>
                    <a:pt x="73236" y="43803"/>
                  </a:lnTo>
                  <a:lnTo>
                    <a:pt x="70708" y="38840"/>
                  </a:lnTo>
                  <a:lnTo>
                    <a:pt x="73236" y="36338"/>
                  </a:lnTo>
                  <a:lnTo>
                    <a:pt x="75744" y="31374"/>
                  </a:lnTo>
                  <a:lnTo>
                    <a:pt x="78272" y="31374"/>
                  </a:lnTo>
                  <a:lnTo>
                    <a:pt x="83329" y="28872"/>
                  </a:lnTo>
                  <a:close/>
                </a:path>
                <a:path w="1351915" h="80645">
                  <a:moveTo>
                    <a:pt x="83329" y="38840"/>
                  </a:moveTo>
                  <a:lnTo>
                    <a:pt x="122210" y="80142"/>
                  </a:lnTo>
                  <a:lnTo>
                    <a:pt x="0" y="38840"/>
                  </a:lnTo>
                  <a:lnTo>
                    <a:pt x="122210" y="0"/>
                  </a:lnTo>
                  <a:lnTo>
                    <a:pt x="83329" y="38840"/>
                  </a:lnTo>
                  <a:close/>
                </a:path>
                <a:path w="1351915" h="80645">
                  <a:moveTo>
                    <a:pt x="1268183" y="38840"/>
                  </a:moveTo>
                  <a:lnTo>
                    <a:pt x="1229241" y="0"/>
                  </a:lnTo>
                  <a:lnTo>
                    <a:pt x="1351573" y="38840"/>
                  </a:lnTo>
                  <a:lnTo>
                    <a:pt x="1229241" y="80142"/>
                  </a:lnTo>
                  <a:lnTo>
                    <a:pt x="1268183" y="38840"/>
                  </a:lnTo>
                  <a:close/>
                </a:path>
              </a:pathLst>
            </a:custGeom>
            <a:ln w="3175">
              <a:solidFill>
                <a:srgbClr val="000000"/>
              </a:solidFill>
            </a:ln>
          </p:spPr>
          <p:txBody>
            <a:bodyPr wrap="square" lIns="0" tIns="0" rIns="0" bIns="0" rtlCol="0"/>
            <a:lstStyle/>
            <a:p/>
          </p:txBody>
        </p:sp>
      </p:grpSp>
      <p:sp>
        <p:nvSpPr>
          <p:cNvPr id="25" name="object 25" descr=""/>
          <p:cNvSpPr txBox="1"/>
          <p:nvPr/>
        </p:nvSpPr>
        <p:spPr>
          <a:xfrm>
            <a:off x="6953384" y="4462826"/>
            <a:ext cx="813435" cy="1098550"/>
          </a:xfrm>
          <a:prstGeom prst="rect">
            <a:avLst/>
          </a:prstGeom>
          <a:solidFill>
            <a:srgbClr val="FFFF99"/>
          </a:solidFill>
          <a:ln w="14593">
            <a:solidFill>
              <a:srgbClr val="000000"/>
            </a:solidFill>
          </a:ln>
        </p:spPr>
        <p:txBody>
          <a:bodyPr wrap="square" lIns="0" tIns="0" rIns="0" bIns="0" rtlCol="0" vert="horz">
            <a:spAutoFit/>
          </a:bodyPr>
          <a:lstStyle/>
          <a:p>
            <a:pPr>
              <a:lnSpc>
                <a:spcPct val="100000"/>
              </a:lnSpc>
            </a:pPr>
            <a:endParaRPr sz="1450">
              <a:latin typeface="Times New Roman"/>
              <a:cs typeface="Times New Roman"/>
            </a:endParaRPr>
          </a:p>
          <a:p>
            <a:pPr>
              <a:lnSpc>
                <a:spcPct val="100000"/>
              </a:lnSpc>
              <a:spcBef>
                <a:spcPts val="225"/>
              </a:spcBef>
            </a:pPr>
            <a:endParaRPr sz="1450">
              <a:latin typeface="Times New Roman"/>
              <a:cs typeface="Times New Roman"/>
            </a:endParaRPr>
          </a:p>
          <a:p>
            <a:pPr marL="254000">
              <a:lnSpc>
                <a:spcPct val="100000"/>
              </a:lnSpc>
            </a:pPr>
            <a:r>
              <a:rPr dirty="0" sz="1450" spc="-25">
                <a:latin typeface="宋体"/>
                <a:cs typeface="宋体"/>
              </a:rPr>
              <a:t>CPU</a:t>
            </a:r>
            <a:endParaRPr sz="1450">
              <a:latin typeface="宋体"/>
              <a:cs typeface="宋体"/>
            </a:endParaRPr>
          </a:p>
        </p:txBody>
      </p:sp>
      <p:sp>
        <p:nvSpPr>
          <p:cNvPr id="26" name="object 26" descr=""/>
          <p:cNvSpPr txBox="1"/>
          <p:nvPr/>
        </p:nvSpPr>
        <p:spPr>
          <a:xfrm>
            <a:off x="9074001" y="4210437"/>
            <a:ext cx="730250" cy="408305"/>
          </a:xfrm>
          <a:prstGeom prst="rect">
            <a:avLst/>
          </a:prstGeom>
          <a:solidFill>
            <a:srgbClr val="FFB7DB"/>
          </a:solidFill>
        </p:spPr>
        <p:txBody>
          <a:bodyPr wrap="square" lIns="0" tIns="78105" rIns="0" bIns="0" rtlCol="0" vert="horz">
            <a:spAutoFit/>
          </a:bodyPr>
          <a:lstStyle/>
          <a:p>
            <a:pPr marL="212725">
              <a:lnSpc>
                <a:spcPct val="100000"/>
              </a:lnSpc>
              <a:spcBef>
                <a:spcPts val="615"/>
              </a:spcBef>
            </a:pPr>
            <a:r>
              <a:rPr dirty="0" sz="1450" spc="-25">
                <a:latin typeface="宋体"/>
                <a:cs typeface="宋体"/>
              </a:rPr>
              <a:t>MMU</a:t>
            </a:r>
            <a:endParaRPr sz="1450">
              <a:latin typeface="宋体"/>
              <a:cs typeface="宋体"/>
            </a:endParaRPr>
          </a:p>
        </p:txBody>
      </p:sp>
      <p:sp>
        <p:nvSpPr>
          <p:cNvPr id="27" name="object 27" descr=""/>
          <p:cNvSpPr txBox="1"/>
          <p:nvPr/>
        </p:nvSpPr>
        <p:spPr>
          <a:xfrm>
            <a:off x="9137615" y="4776433"/>
            <a:ext cx="644525" cy="784860"/>
          </a:xfrm>
          <a:prstGeom prst="rect">
            <a:avLst/>
          </a:prstGeom>
          <a:solidFill>
            <a:srgbClr val="CCFFFF"/>
          </a:solidFill>
          <a:ln w="14585">
            <a:solidFill>
              <a:srgbClr val="333300"/>
            </a:solidFill>
          </a:ln>
        </p:spPr>
        <p:txBody>
          <a:bodyPr wrap="square" lIns="0" tIns="53340" rIns="0" bIns="0" rtlCol="0" vert="horz">
            <a:spAutoFit/>
          </a:bodyPr>
          <a:lstStyle/>
          <a:p>
            <a:pPr>
              <a:lnSpc>
                <a:spcPct val="100000"/>
              </a:lnSpc>
              <a:spcBef>
                <a:spcPts val="420"/>
              </a:spcBef>
            </a:pPr>
            <a:endParaRPr sz="1450">
              <a:latin typeface="Times New Roman"/>
              <a:cs typeface="Times New Roman"/>
            </a:endParaRPr>
          </a:p>
          <a:p>
            <a:pPr marL="41910">
              <a:lnSpc>
                <a:spcPct val="100000"/>
              </a:lnSpc>
            </a:pPr>
            <a:r>
              <a:rPr dirty="0" sz="1450" spc="-10">
                <a:latin typeface="宋体"/>
                <a:cs typeface="宋体"/>
              </a:rPr>
              <a:t>Cache</a:t>
            </a:r>
            <a:endParaRPr sz="1450">
              <a:latin typeface="宋体"/>
              <a:cs typeface="宋体"/>
            </a:endParaRPr>
          </a:p>
        </p:txBody>
      </p:sp>
      <p:sp>
        <p:nvSpPr>
          <p:cNvPr id="28" name="object 28" descr=""/>
          <p:cNvSpPr txBox="1"/>
          <p:nvPr/>
        </p:nvSpPr>
        <p:spPr>
          <a:xfrm>
            <a:off x="10660863" y="4241791"/>
            <a:ext cx="920750" cy="1129665"/>
          </a:xfrm>
          <a:prstGeom prst="rect">
            <a:avLst/>
          </a:prstGeom>
          <a:solidFill>
            <a:srgbClr val="46FFFF"/>
          </a:solidFill>
          <a:ln w="14586">
            <a:solidFill>
              <a:srgbClr val="000000"/>
            </a:solidFill>
          </a:ln>
        </p:spPr>
        <p:txBody>
          <a:bodyPr wrap="square" lIns="0" tIns="0" rIns="0" bIns="0" rtlCol="0" vert="horz">
            <a:spAutoFit/>
          </a:bodyPr>
          <a:lstStyle/>
          <a:p>
            <a:pPr>
              <a:lnSpc>
                <a:spcPct val="100000"/>
              </a:lnSpc>
            </a:pPr>
            <a:endParaRPr sz="1450">
              <a:latin typeface="Times New Roman"/>
              <a:cs typeface="Times New Roman"/>
            </a:endParaRPr>
          </a:p>
          <a:p>
            <a:pPr>
              <a:lnSpc>
                <a:spcPct val="100000"/>
              </a:lnSpc>
              <a:spcBef>
                <a:spcPts val="265"/>
              </a:spcBef>
            </a:pPr>
            <a:endParaRPr sz="1450">
              <a:latin typeface="Times New Roman"/>
              <a:cs typeface="Times New Roman"/>
            </a:endParaRPr>
          </a:p>
          <a:p>
            <a:pPr marL="104775">
              <a:lnSpc>
                <a:spcPct val="100000"/>
              </a:lnSpc>
            </a:pPr>
            <a:r>
              <a:rPr dirty="0" sz="1450" spc="-20">
                <a:latin typeface="宋体"/>
                <a:cs typeface="宋体"/>
              </a:rPr>
              <a:t>主 存 储</a:t>
            </a:r>
            <a:endParaRPr sz="1450">
              <a:latin typeface="宋体"/>
              <a:cs typeface="宋体"/>
            </a:endParaRPr>
          </a:p>
        </p:txBody>
      </p:sp>
      <p:sp>
        <p:nvSpPr>
          <p:cNvPr id="29" name="object 29" descr=""/>
          <p:cNvSpPr/>
          <p:nvPr/>
        </p:nvSpPr>
        <p:spPr>
          <a:xfrm>
            <a:off x="7766488" y="4400098"/>
            <a:ext cx="857250" cy="563880"/>
          </a:xfrm>
          <a:custGeom>
            <a:avLst/>
            <a:gdLst/>
            <a:ahLst/>
            <a:cxnLst/>
            <a:rect l="l" t="t" r="r" b="b"/>
            <a:pathLst>
              <a:path w="857250" h="563879">
                <a:moveTo>
                  <a:pt x="0" y="281748"/>
                </a:moveTo>
                <a:lnTo>
                  <a:pt x="837368" y="281748"/>
                </a:lnTo>
              </a:path>
              <a:path w="857250" h="563879">
                <a:moveTo>
                  <a:pt x="857063" y="0"/>
                </a:moveTo>
                <a:lnTo>
                  <a:pt x="857064" y="563516"/>
                </a:lnTo>
              </a:path>
            </a:pathLst>
          </a:custGeom>
          <a:ln w="14569">
            <a:solidFill>
              <a:srgbClr val="000000"/>
            </a:solidFill>
          </a:ln>
        </p:spPr>
        <p:txBody>
          <a:bodyPr wrap="square" lIns="0" tIns="0" rIns="0" bIns="0" rtlCol="0"/>
          <a:lstStyle/>
          <a:p/>
        </p:txBody>
      </p:sp>
      <p:sp>
        <p:nvSpPr>
          <p:cNvPr id="30" name="object 30" descr=""/>
          <p:cNvSpPr txBox="1"/>
          <p:nvPr/>
        </p:nvSpPr>
        <p:spPr>
          <a:xfrm>
            <a:off x="7802782" y="4406084"/>
            <a:ext cx="764540" cy="245110"/>
          </a:xfrm>
          <a:prstGeom prst="rect">
            <a:avLst/>
          </a:prstGeom>
        </p:spPr>
        <p:txBody>
          <a:bodyPr wrap="square" lIns="0" tIns="11430" rIns="0" bIns="0" rtlCol="0" vert="horz">
            <a:spAutoFit/>
          </a:bodyPr>
          <a:lstStyle/>
          <a:p>
            <a:pPr marL="12700">
              <a:lnSpc>
                <a:spcPct val="100000"/>
              </a:lnSpc>
              <a:spcBef>
                <a:spcPts val="90"/>
              </a:spcBef>
            </a:pPr>
            <a:r>
              <a:rPr dirty="0" sz="1450" spc="-20">
                <a:solidFill>
                  <a:srgbClr val="0000FF"/>
                </a:solidFill>
                <a:latin typeface="宋体"/>
                <a:cs typeface="宋体"/>
              </a:rPr>
              <a:t>虚拟地址</a:t>
            </a:r>
            <a:endParaRPr sz="1450">
              <a:latin typeface="宋体"/>
              <a:cs typeface="宋体"/>
            </a:endParaRPr>
          </a:p>
        </p:txBody>
      </p:sp>
      <p:sp>
        <p:nvSpPr>
          <p:cNvPr id="31" name="object 31" descr=""/>
          <p:cNvSpPr txBox="1"/>
          <p:nvPr/>
        </p:nvSpPr>
        <p:spPr>
          <a:xfrm>
            <a:off x="9852183" y="4121834"/>
            <a:ext cx="764540" cy="245110"/>
          </a:xfrm>
          <a:prstGeom prst="rect">
            <a:avLst/>
          </a:prstGeom>
        </p:spPr>
        <p:txBody>
          <a:bodyPr wrap="square" lIns="0" tIns="11430" rIns="0" bIns="0" rtlCol="0" vert="horz">
            <a:spAutoFit/>
          </a:bodyPr>
          <a:lstStyle/>
          <a:p>
            <a:pPr marL="12700">
              <a:lnSpc>
                <a:spcPct val="100000"/>
              </a:lnSpc>
              <a:spcBef>
                <a:spcPts val="90"/>
              </a:spcBef>
            </a:pPr>
            <a:r>
              <a:rPr dirty="0" sz="1450" spc="-20">
                <a:solidFill>
                  <a:srgbClr val="0000FF"/>
                </a:solidFill>
                <a:latin typeface="宋体"/>
                <a:cs typeface="宋体"/>
              </a:rPr>
              <a:t>物理地址</a:t>
            </a:r>
            <a:endParaRPr sz="1450">
              <a:latin typeface="宋体"/>
              <a:cs typeface="宋体"/>
            </a:endParaRPr>
          </a:p>
        </p:txBody>
      </p:sp>
      <p:grpSp>
        <p:nvGrpSpPr>
          <p:cNvPr id="32" name="object 32" descr=""/>
          <p:cNvGrpSpPr/>
          <p:nvPr/>
        </p:nvGrpSpPr>
        <p:grpSpPr>
          <a:xfrm>
            <a:off x="1040226" y="4542540"/>
            <a:ext cx="2414905" cy="408940"/>
            <a:chOff x="1040226" y="4542540"/>
            <a:chExt cx="2414905" cy="408940"/>
          </a:xfrm>
        </p:grpSpPr>
        <p:sp>
          <p:nvSpPr>
            <p:cNvPr id="33" name="object 33" descr=""/>
            <p:cNvSpPr/>
            <p:nvPr/>
          </p:nvSpPr>
          <p:spPr>
            <a:xfrm>
              <a:off x="2558703" y="4695692"/>
              <a:ext cx="895350" cy="78105"/>
            </a:xfrm>
            <a:custGeom>
              <a:avLst/>
              <a:gdLst/>
              <a:ahLst/>
              <a:cxnLst/>
              <a:rect l="l" t="t" r="r" b="b"/>
              <a:pathLst>
                <a:path w="895350" h="78104">
                  <a:moveTo>
                    <a:pt x="777176" y="0"/>
                  </a:moveTo>
                  <a:lnTo>
                    <a:pt x="814920" y="39779"/>
                  </a:lnTo>
                  <a:lnTo>
                    <a:pt x="777176" y="77636"/>
                  </a:lnTo>
                  <a:lnTo>
                    <a:pt x="865126" y="49355"/>
                  </a:lnTo>
                  <a:lnTo>
                    <a:pt x="814920" y="49355"/>
                  </a:lnTo>
                  <a:lnTo>
                    <a:pt x="819809" y="46966"/>
                  </a:lnTo>
                  <a:lnTo>
                    <a:pt x="821569" y="46966"/>
                  </a:lnTo>
                  <a:lnTo>
                    <a:pt x="824112" y="42168"/>
                  </a:lnTo>
                  <a:lnTo>
                    <a:pt x="826458" y="39779"/>
                  </a:lnTo>
                  <a:lnTo>
                    <a:pt x="824112" y="34982"/>
                  </a:lnTo>
                  <a:lnTo>
                    <a:pt x="821569" y="33059"/>
                  </a:lnTo>
                  <a:lnTo>
                    <a:pt x="819809" y="30670"/>
                  </a:lnTo>
                  <a:lnTo>
                    <a:pt x="814920" y="28280"/>
                  </a:lnTo>
                  <a:lnTo>
                    <a:pt x="860875" y="28280"/>
                  </a:lnTo>
                  <a:lnTo>
                    <a:pt x="777176" y="0"/>
                  </a:lnTo>
                  <a:close/>
                </a:path>
                <a:path w="895350" h="78104">
                  <a:moveTo>
                    <a:pt x="804010" y="28280"/>
                  </a:moveTo>
                  <a:lnTo>
                    <a:pt x="11733" y="28280"/>
                  </a:lnTo>
                  <a:lnTo>
                    <a:pt x="6844" y="30670"/>
                  </a:lnTo>
                  <a:lnTo>
                    <a:pt x="4889" y="33059"/>
                  </a:lnTo>
                  <a:lnTo>
                    <a:pt x="2542" y="34982"/>
                  </a:lnTo>
                  <a:lnTo>
                    <a:pt x="0" y="39779"/>
                  </a:lnTo>
                  <a:lnTo>
                    <a:pt x="2542" y="42168"/>
                  </a:lnTo>
                  <a:lnTo>
                    <a:pt x="4889" y="46966"/>
                  </a:lnTo>
                  <a:lnTo>
                    <a:pt x="6844" y="46966"/>
                  </a:lnTo>
                  <a:lnTo>
                    <a:pt x="11733" y="49355"/>
                  </a:lnTo>
                  <a:lnTo>
                    <a:pt x="805373" y="49355"/>
                  </a:lnTo>
                  <a:lnTo>
                    <a:pt x="814920" y="39779"/>
                  </a:lnTo>
                  <a:lnTo>
                    <a:pt x="804010" y="28280"/>
                  </a:lnTo>
                  <a:close/>
                </a:path>
                <a:path w="895350" h="78104">
                  <a:moveTo>
                    <a:pt x="860875" y="28280"/>
                  </a:moveTo>
                  <a:lnTo>
                    <a:pt x="814920" y="28280"/>
                  </a:lnTo>
                  <a:lnTo>
                    <a:pt x="819809" y="30670"/>
                  </a:lnTo>
                  <a:lnTo>
                    <a:pt x="821569" y="33059"/>
                  </a:lnTo>
                  <a:lnTo>
                    <a:pt x="824112" y="34982"/>
                  </a:lnTo>
                  <a:lnTo>
                    <a:pt x="826458" y="39779"/>
                  </a:lnTo>
                  <a:lnTo>
                    <a:pt x="824112" y="42168"/>
                  </a:lnTo>
                  <a:lnTo>
                    <a:pt x="821569" y="46966"/>
                  </a:lnTo>
                  <a:lnTo>
                    <a:pt x="819809" y="46966"/>
                  </a:lnTo>
                  <a:lnTo>
                    <a:pt x="814920" y="49355"/>
                  </a:lnTo>
                  <a:lnTo>
                    <a:pt x="865126" y="49355"/>
                  </a:lnTo>
                  <a:lnTo>
                    <a:pt x="894906" y="39779"/>
                  </a:lnTo>
                  <a:lnTo>
                    <a:pt x="860875" y="28280"/>
                  </a:lnTo>
                  <a:close/>
                </a:path>
              </a:pathLst>
            </a:custGeom>
            <a:solidFill>
              <a:srgbClr val="000000"/>
            </a:solidFill>
          </p:spPr>
          <p:txBody>
            <a:bodyPr wrap="square" lIns="0" tIns="0" rIns="0" bIns="0" rtlCol="0"/>
            <a:lstStyle/>
            <a:p/>
          </p:txBody>
        </p:sp>
        <p:sp>
          <p:nvSpPr>
            <p:cNvPr id="34" name="object 34" descr=""/>
            <p:cNvSpPr/>
            <p:nvPr/>
          </p:nvSpPr>
          <p:spPr>
            <a:xfrm>
              <a:off x="2558703" y="4695692"/>
              <a:ext cx="895350" cy="78105"/>
            </a:xfrm>
            <a:custGeom>
              <a:avLst/>
              <a:gdLst/>
              <a:ahLst/>
              <a:cxnLst/>
              <a:rect l="l" t="t" r="r" b="b"/>
              <a:pathLst>
                <a:path w="895350" h="78104">
                  <a:moveTo>
                    <a:pt x="11733" y="28280"/>
                  </a:moveTo>
                  <a:lnTo>
                    <a:pt x="814920" y="28280"/>
                  </a:lnTo>
                  <a:lnTo>
                    <a:pt x="819809" y="30670"/>
                  </a:lnTo>
                  <a:lnTo>
                    <a:pt x="821569" y="33059"/>
                  </a:lnTo>
                  <a:lnTo>
                    <a:pt x="824112" y="34982"/>
                  </a:lnTo>
                  <a:lnTo>
                    <a:pt x="826458" y="39779"/>
                  </a:lnTo>
                  <a:lnTo>
                    <a:pt x="824112" y="42168"/>
                  </a:lnTo>
                  <a:lnTo>
                    <a:pt x="821569" y="46966"/>
                  </a:lnTo>
                  <a:lnTo>
                    <a:pt x="819809" y="46966"/>
                  </a:lnTo>
                  <a:lnTo>
                    <a:pt x="814920" y="49355"/>
                  </a:lnTo>
                  <a:lnTo>
                    <a:pt x="11733" y="49355"/>
                  </a:lnTo>
                  <a:lnTo>
                    <a:pt x="6844" y="46966"/>
                  </a:lnTo>
                  <a:lnTo>
                    <a:pt x="4889" y="46966"/>
                  </a:lnTo>
                  <a:lnTo>
                    <a:pt x="2542" y="42168"/>
                  </a:lnTo>
                  <a:lnTo>
                    <a:pt x="0" y="39779"/>
                  </a:lnTo>
                  <a:lnTo>
                    <a:pt x="2542" y="34982"/>
                  </a:lnTo>
                  <a:lnTo>
                    <a:pt x="4889" y="33059"/>
                  </a:lnTo>
                  <a:lnTo>
                    <a:pt x="6844" y="30670"/>
                  </a:lnTo>
                  <a:lnTo>
                    <a:pt x="11733" y="28280"/>
                  </a:lnTo>
                  <a:close/>
                </a:path>
                <a:path w="895350" h="78104">
                  <a:moveTo>
                    <a:pt x="814920" y="39779"/>
                  </a:moveTo>
                  <a:lnTo>
                    <a:pt x="777176" y="0"/>
                  </a:lnTo>
                  <a:lnTo>
                    <a:pt x="894906" y="39779"/>
                  </a:lnTo>
                  <a:lnTo>
                    <a:pt x="777176" y="77636"/>
                  </a:lnTo>
                  <a:lnTo>
                    <a:pt x="814920" y="39779"/>
                  </a:lnTo>
                  <a:close/>
                </a:path>
              </a:pathLst>
            </a:custGeom>
            <a:ln w="3175">
              <a:solidFill>
                <a:srgbClr val="000000"/>
              </a:solidFill>
            </a:ln>
          </p:spPr>
          <p:txBody>
            <a:bodyPr wrap="square" lIns="0" tIns="0" rIns="0" bIns="0" rtlCol="0"/>
            <a:lstStyle/>
            <a:p/>
          </p:txBody>
        </p:sp>
        <p:sp>
          <p:nvSpPr>
            <p:cNvPr id="35" name="object 35" descr=""/>
            <p:cNvSpPr/>
            <p:nvPr/>
          </p:nvSpPr>
          <p:spPr>
            <a:xfrm>
              <a:off x="1041586" y="4695692"/>
              <a:ext cx="829310" cy="78105"/>
            </a:xfrm>
            <a:custGeom>
              <a:avLst/>
              <a:gdLst/>
              <a:ahLst/>
              <a:cxnLst/>
              <a:rect l="l" t="t" r="r" b="b"/>
              <a:pathLst>
                <a:path w="829310" h="78104">
                  <a:moveTo>
                    <a:pt x="711603" y="0"/>
                  </a:moveTo>
                  <a:lnTo>
                    <a:pt x="751811" y="39779"/>
                  </a:lnTo>
                  <a:lnTo>
                    <a:pt x="711603" y="77636"/>
                  </a:lnTo>
                  <a:lnTo>
                    <a:pt x="799539" y="49355"/>
                  </a:lnTo>
                  <a:lnTo>
                    <a:pt x="751811" y="49355"/>
                  </a:lnTo>
                  <a:lnTo>
                    <a:pt x="753747" y="46966"/>
                  </a:lnTo>
                  <a:lnTo>
                    <a:pt x="758597" y="46966"/>
                  </a:lnTo>
                  <a:lnTo>
                    <a:pt x="761022" y="42168"/>
                  </a:lnTo>
                  <a:lnTo>
                    <a:pt x="761022" y="34982"/>
                  </a:lnTo>
                  <a:lnTo>
                    <a:pt x="758597" y="33059"/>
                  </a:lnTo>
                  <a:lnTo>
                    <a:pt x="753747" y="30670"/>
                  </a:lnTo>
                  <a:lnTo>
                    <a:pt x="751811" y="28280"/>
                  </a:lnTo>
                  <a:lnTo>
                    <a:pt x="795288" y="28280"/>
                  </a:lnTo>
                  <a:lnTo>
                    <a:pt x="711603" y="0"/>
                  </a:lnTo>
                  <a:close/>
                </a:path>
                <a:path w="829310" h="78104">
                  <a:moveTo>
                    <a:pt x="740188" y="28280"/>
                  </a:moveTo>
                  <a:lnTo>
                    <a:pt x="9680" y="28280"/>
                  </a:lnTo>
                  <a:lnTo>
                    <a:pt x="7255" y="30670"/>
                  </a:lnTo>
                  <a:lnTo>
                    <a:pt x="2405" y="33059"/>
                  </a:lnTo>
                  <a:lnTo>
                    <a:pt x="0" y="34982"/>
                  </a:lnTo>
                  <a:lnTo>
                    <a:pt x="0" y="42168"/>
                  </a:lnTo>
                  <a:lnTo>
                    <a:pt x="2405" y="46966"/>
                  </a:lnTo>
                  <a:lnTo>
                    <a:pt x="7255" y="46966"/>
                  </a:lnTo>
                  <a:lnTo>
                    <a:pt x="9680" y="49355"/>
                  </a:lnTo>
                  <a:lnTo>
                    <a:pt x="741641" y="49355"/>
                  </a:lnTo>
                  <a:lnTo>
                    <a:pt x="751811" y="39779"/>
                  </a:lnTo>
                  <a:lnTo>
                    <a:pt x="740188" y="28280"/>
                  </a:lnTo>
                  <a:close/>
                </a:path>
                <a:path w="829310" h="78104">
                  <a:moveTo>
                    <a:pt x="795288" y="28280"/>
                  </a:moveTo>
                  <a:lnTo>
                    <a:pt x="751811" y="28280"/>
                  </a:lnTo>
                  <a:lnTo>
                    <a:pt x="753747" y="30670"/>
                  </a:lnTo>
                  <a:lnTo>
                    <a:pt x="758597" y="33059"/>
                  </a:lnTo>
                  <a:lnTo>
                    <a:pt x="761022" y="34982"/>
                  </a:lnTo>
                  <a:lnTo>
                    <a:pt x="761022" y="42168"/>
                  </a:lnTo>
                  <a:lnTo>
                    <a:pt x="758597" y="46966"/>
                  </a:lnTo>
                  <a:lnTo>
                    <a:pt x="753747" y="46966"/>
                  </a:lnTo>
                  <a:lnTo>
                    <a:pt x="751811" y="49355"/>
                  </a:lnTo>
                  <a:lnTo>
                    <a:pt x="799539" y="49355"/>
                  </a:lnTo>
                  <a:lnTo>
                    <a:pt x="829314" y="39779"/>
                  </a:lnTo>
                  <a:lnTo>
                    <a:pt x="795288" y="28280"/>
                  </a:lnTo>
                  <a:close/>
                </a:path>
              </a:pathLst>
            </a:custGeom>
            <a:solidFill>
              <a:srgbClr val="000000"/>
            </a:solidFill>
          </p:spPr>
          <p:txBody>
            <a:bodyPr wrap="square" lIns="0" tIns="0" rIns="0" bIns="0" rtlCol="0"/>
            <a:lstStyle/>
            <a:p/>
          </p:txBody>
        </p:sp>
        <p:sp>
          <p:nvSpPr>
            <p:cNvPr id="36" name="object 36" descr=""/>
            <p:cNvSpPr/>
            <p:nvPr/>
          </p:nvSpPr>
          <p:spPr>
            <a:xfrm>
              <a:off x="1041586" y="4695692"/>
              <a:ext cx="829310" cy="78105"/>
            </a:xfrm>
            <a:custGeom>
              <a:avLst/>
              <a:gdLst/>
              <a:ahLst/>
              <a:cxnLst/>
              <a:rect l="l" t="t" r="r" b="b"/>
              <a:pathLst>
                <a:path w="829310" h="78104">
                  <a:moveTo>
                    <a:pt x="9680" y="28280"/>
                  </a:moveTo>
                  <a:lnTo>
                    <a:pt x="751811" y="28280"/>
                  </a:lnTo>
                  <a:lnTo>
                    <a:pt x="753747" y="30670"/>
                  </a:lnTo>
                  <a:lnTo>
                    <a:pt x="758597" y="33059"/>
                  </a:lnTo>
                  <a:lnTo>
                    <a:pt x="761022" y="34982"/>
                  </a:lnTo>
                  <a:lnTo>
                    <a:pt x="761022" y="39779"/>
                  </a:lnTo>
                  <a:lnTo>
                    <a:pt x="761022" y="42168"/>
                  </a:lnTo>
                  <a:lnTo>
                    <a:pt x="758597" y="46966"/>
                  </a:lnTo>
                  <a:lnTo>
                    <a:pt x="753747" y="46966"/>
                  </a:lnTo>
                  <a:lnTo>
                    <a:pt x="751811" y="49355"/>
                  </a:lnTo>
                  <a:lnTo>
                    <a:pt x="9680" y="49355"/>
                  </a:lnTo>
                  <a:lnTo>
                    <a:pt x="7255" y="46966"/>
                  </a:lnTo>
                  <a:lnTo>
                    <a:pt x="2405" y="46966"/>
                  </a:lnTo>
                  <a:lnTo>
                    <a:pt x="0" y="42168"/>
                  </a:lnTo>
                  <a:lnTo>
                    <a:pt x="0" y="39779"/>
                  </a:lnTo>
                  <a:lnTo>
                    <a:pt x="0" y="34982"/>
                  </a:lnTo>
                  <a:lnTo>
                    <a:pt x="2405" y="33059"/>
                  </a:lnTo>
                  <a:lnTo>
                    <a:pt x="7255" y="30670"/>
                  </a:lnTo>
                  <a:lnTo>
                    <a:pt x="9680" y="28280"/>
                  </a:lnTo>
                  <a:close/>
                </a:path>
                <a:path w="829310" h="78104">
                  <a:moveTo>
                    <a:pt x="751811" y="39779"/>
                  </a:moveTo>
                  <a:lnTo>
                    <a:pt x="711603" y="0"/>
                  </a:lnTo>
                  <a:lnTo>
                    <a:pt x="829314" y="39779"/>
                  </a:lnTo>
                  <a:lnTo>
                    <a:pt x="711603" y="77636"/>
                  </a:lnTo>
                  <a:lnTo>
                    <a:pt x="751811" y="39779"/>
                  </a:lnTo>
                  <a:close/>
                </a:path>
              </a:pathLst>
            </a:custGeom>
            <a:ln w="3175">
              <a:solidFill>
                <a:srgbClr val="000000"/>
              </a:solidFill>
            </a:ln>
          </p:spPr>
          <p:txBody>
            <a:bodyPr wrap="square" lIns="0" tIns="0" rIns="0" bIns="0" rtlCol="0"/>
            <a:lstStyle/>
            <a:p/>
          </p:txBody>
        </p:sp>
        <p:sp>
          <p:nvSpPr>
            <p:cNvPr id="37" name="object 37" descr=""/>
            <p:cNvSpPr/>
            <p:nvPr/>
          </p:nvSpPr>
          <p:spPr>
            <a:xfrm>
              <a:off x="1868006" y="4549528"/>
              <a:ext cx="699770" cy="394970"/>
            </a:xfrm>
            <a:custGeom>
              <a:avLst/>
              <a:gdLst/>
              <a:ahLst/>
              <a:cxnLst/>
              <a:rect l="l" t="t" r="r" b="b"/>
              <a:pathLst>
                <a:path w="699769" h="394970">
                  <a:moveTo>
                    <a:pt x="0" y="394399"/>
                  </a:moveTo>
                  <a:lnTo>
                    <a:pt x="699498" y="394399"/>
                  </a:lnTo>
                  <a:lnTo>
                    <a:pt x="699497" y="0"/>
                  </a:lnTo>
                  <a:lnTo>
                    <a:pt x="0" y="0"/>
                  </a:lnTo>
                  <a:lnTo>
                    <a:pt x="0" y="394399"/>
                  </a:lnTo>
                  <a:close/>
                </a:path>
              </a:pathLst>
            </a:custGeom>
            <a:ln w="13975">
              <a:solidFill>
                <a:srgbClr val="000000"/>
              </a:solidFill>
            </a:ln>
          </p:spPr>
          <p:txBody>
            <a:bodyPr wrap="square" lIns="0" tIns="0" rIns="0" bIns="0" rtlCol="0"/>
            <a:lstStyle/>
            <a:p/>
          </p:txBody>
        </p:sp>
      </p:grpSp>
      <p:grpSp>
        <p:nvGrpSpPr>
          <p:cNvPr id="38" name="object 38" descr=""/>
          <p:cNvGrpSpPr/>
          <p:nvPr/>
        </p:nvGrpSpPr>
        <p:grpSpPr>
          <a:xfrm>
            <a:off x="4079037" y="4694330"/>
            <a:ext cx="629920" cy="80645"/>
            <a:chOff x="4079037" y="4694330"/>
            <a:chExt cx="629920" cy="80645"/>
          </a:xfrm>
        </p:grpSpPr>
        <p:sp>
          <p:nvSpPr>
            <p:cNvPr id="39" name="object 39" descr=""/>
            <p:cNvSpPr/>
            <p:nvPr/>
          </p:nvSpPr>
          <p:spPr>
            <a:xfrm>
              <a:off x="4080397" y="4695692"/>
              <a:ext cx="627380" cy="78105"/>
            </a:xfrm>
            <a:custGeom>
              <a:avLst/>
              <a:gdLst/>
              <a:ahLst/>
              <a:cxnLst/>
              <a:rect l="l" t="t" r="r" b="b"/>
              <a:pathLst>
                <a:path w="627379" h="78104">
                  <a:moveTo>
                    <a:pt x="509643" y="0"/>
                  </a:moveTo>
                  <a:lnTo>
                    <a:pt x="546800" y="39779"/>
                  </a:lnTo>
                  <a:lnTo>
                    <a:pt x="509643" y="77636"/>
                  </a:lnTo>
                  <a:lnTo>
                    <a:pt x="597155" y="49355"/>
                  </a:lnTo>
                  <a:lnTo>
                    <a:pt x="546800" y="49355"/>
                  </a:lnTo>
                  <a:lnTo>
                    <a:pt x="551689" y="46966"/>
                  </a:lnTo>
                  <a:lnTo>
                    <a:pt x="554232" y="46966"/>
                  </a:lnTo>
                  <a:lnTo>
                    <a:pt x="556578" y="42168"/>
                  </a:lnTo>
                  <a:lnTo>
                    <a:pt x="556578" y="34982"/>
                  </a:lnTo>
                  <a:lnTo>
                    <a:pt x="554232" y="33059"/>
                  </a:lnTo>
                  <a:lnTo>
                    <a:pt x="551689" y="30670"/>
                  </a:lnTo>
                  <a:lnTo>
                    <a:pt x="546800" y="28280"/>
                  </a:lnTo>
                  <a:lnTo>
                    <a:pt x="592924" y="28280"/>
                  </a:lnTo>
                  <a:lnTo>
                    <a:pt x="509643" y="0"/>
                  </a:lnTo>
                  <a:close/>
                </a:path>
                <a:path w="627379" h="78104">
                  <a:moveTo>
                    <a:pt x="536059" y="28280"/>
                  </a:moveTo>
                  <a:lnTo>
                    <a:pt x="9191" y="28280"/>
                  </a:lnTo>
                  <a:lnTo>
                    <a:pt x="4889" y="30670"/>
                  </a:lnTo>
                  <a:lnTo>
                    <a:pt x="2346" y="33059"/>
                  </a:lnTo>
                  <a:lnTo>
                    <a:pt x="0" y="34982"/>
                  </a:lnTo>
                  <a:lnTo>
                    <a:pt x="0" y="42168"/>
                  </a:lnTo>
                  <a:lnTo>
                    <a:pt x="2346" y="46966"/>
                  </a:lnTo>
                  <a:lnTo>
                    <a:pt x="4889" y="46966"/>
                  </a:lnTo>
                  <a:lnTo>
                    <a:pt x="9191" y="49355"/>
                  </a:lnTo>
                  <a:lnTo>
                    <a:pt x="537401" y="49355"/>
                  </a:lnTo>
                  <a:lnTo>
                    <a:pt x="546800" y="39779"/>
                  </a:lnTo>
                  <a:lnTo>
                    <a:pt x="536059" y="28280"/>
                  </a:lnTo>
                  <a:close/>
                </a:path>
                <a:path w="627379" h="78104">
                  <a:moveTo>
                    <a:pt x="592924" y="28280"/>
                  </a:moveTo>
                  <a:lnTo>
                    <a:pt x="546800" y="28280"/>
                  </a:lnTo>
                  <a:lnTo>
                    <a:pt x="551689" y="30670"/>
                  </a:lnTo>
                  <a:lnTo>
                    <a:pt x="554232" y="33059"/>
                  </a:lnTo>
                  <a:lnTo>
                    <a:pt x="556578" y="34982"/>
                  </a:lnTo>
                  <a:lnTo>
                    <a:pt x="556578" y="42168"/>
                  </a:lnTo>
                  <a:lnTo>
                    <a:pt x="554232" y="46966"/>
                  </a:lnTo>
                  <a:lnTo>
                    <a:pt x="551689" y="46966"/>
                  </a:lnTo>
                  <a:lnTo>
                    <a:pt x="546800" y="49355"/>
                  </a:lnTo>
                  <a:lnTo>
                    <a:pt x="597155" y="49355"/>
                  </a:lnTo>
                  <a:lnTo>
                    <a:pt x="626786" y="39779"/>
                  </a:lnTo>
                  <a:lnTo>
                    <a:pt x="592924" y="28280"/>
                  </a:lnTo>
                  <a:close/>
                </a:path>
              </a:pathLst>
            </a:custGeom>
            <a:solidFill>
              <a:srgbClr val="000000"/>
            </a:solidFill>
          </p:spPr>
          <p:txBody>
            <a:bodyPr wrap="square" lIns="0" tIns="0" rIns="0" bIns="0" rtlCol="0"/>
            <a:lstStyle/>
            <a:p/>
          </p:txBody>
        </p:sp>
        <p:sp>
          <p:nvSpPr>
            <p:cNvPr id="40" name="object 40" descr=""/>
            <p:cNvSpPr/>
            <p:nvPr/>
          </p:nvSpPr>
          <p:spPr>
            <a:xfrm>
              <a:off x="4080397" y="4695692"/>
              <a:ext cx="627380" cy="78105"/>
            </a:xfrm>
            <a:custGeom>
              <a:avLst/>
              <a:gdLst/>
              <a:ahLst/>
              <a:cxnLst/>
              <a:rect l="l" t="t" r="r" b="b"/>
              <a:pathLst>
                <a:path w="627379" h="78104">
                  <a:moveTo>
                    <a:pt x="9191" y="28280"/>
                  </a:moveTo>
                  <a:lnTo>
                    <a:pt x="546800" y="28280"/>
                  </a:lnTo>
                  <a:lnTo>
                    <a:pt x="551689" y="30670"/>
                  </a:lnTo>
                  <a:lnTo>
                    <a:pt x="554232" y="33059"/>
                  </a:lnTo>
                  <a:lnTo>
                    <a:pt x="556578" y="34982"/>
                  </a:lnTo>
                  <a:lnTo>
                    <a:pt x="556578" y="39779"/>
                  </a:lnTo>
                  <a:lnTo>
                    <a:pt x="556578" y="42168"/>
                  </a:lnTo>
                  <a:lnTo>
                    <a:pt x="554232" y="46966"/>
                  </a:lnTo>
                  <a:lnTo>
                    <a:pt x="551689" y="46966"/>
                  </a:lnTo>
                  <a:lnTo>
                    <a:pt x="546800" y="49355"/>
                  </a:lnTo>
                  <a:lnTo>
                    <a:pt x="9191" y="49355"/>
                  </a:lnTo>
                  <a:lnTo>
                    <a:pt x="4889" y="46966"/>
                  </a:lnTo>
                  <a:lnTo>
                    <a:pt x="2346" y="46966"/>
                  </a:lnTo>
                  <a:lnTo>
                    <a:pt x="0" y="42168"/>
                  </a:lnTo>
                  <a:lnTo>
                    <a:pt x="0" y="39779"/>
                  </a:lnTo>
                  <a:lnTo>
                    <a:pt x="0" y="34982"/>
                  </a:lnTo>
                  <a:lnTo>
                    <a:pt x="2346" y="33059"/>
                  </a:lnTo>
                  <a:lnTo>
                    <a:pt x="4889" y="30670"/>
                  </a:lnTo>
                  <a:lnTo>
                    <a:pt x="9191" y="28280"/>
                  </a:lnTo>
                  <a:close/>
                </a:path>
                <a:path w="627379" h="78104">
                  <a:moveTo>
                    <a:pt x="546800" y="39779"/>
                  </a:moveTo>
                  <a:lnTo>
                    <a:pt x="509643" y="0"/>
                  </a:lnTo>
                  <a:lnTo>
                    <a:pt x="626786" y="39779"/>
                  </a:lnTo>
                  <a:lnTo>
                    <a:pt x="509643" y="77636"/>
                  </a:lnTo>
                  <a:lnTo>
                    <a:pt x="546800" y="39779"/>
                  </a:lnTo>
                  <a:close/>
                </a:path>
              </a:pathLst>
            </a:custGeom>
            <a:ln w="3175">
              <a:solidFill>
                <a:srgbClr val="000000"/>
              </a:solidFill>
            </a:ln>
          </p:spPr>
          <p:txBody>
            <a:bodyPr wrap="square" lIns="0" tIns="0" rIns="0" bIns="0" rtlCol="0"/>
            <a:lstStyle/>
            <a:p/>
          </p:txBody>
        </p:sp>
      </p:grpSp>
      <p:grpSp>
        <p:nvGrpSpPr>
          <p:cNvPr id="41" name="object 41" descr=""/>
          <p:cNvGrpSpPr/>
          <p:nvPr/>
        </p:nvGrpSpPr>
        <p:grpSpPr>
          <a:xfrm>
            <a:off x="1049904" y="5119399"/>
            <a:ext cx="2434590" cy="80010"/>
            <a:chOff x="1049904" y="5119399"/>
            <a:chExt cx="2434590" cy="80010"/>
          </a:xfrm>
        </p:grpSpPr>
        <p:sp>
          <p:nvSpPr>
            <p:cNvPr id="42" name="object 42" descr=""/>
            <p:cNvSpPr/>
            <p:nvPr/>
          </p:nvSpPr>
          <p:spPr>
            <a:xfrm>
              <a:off x="1051266" y="5120762"/>
              <a:ext cx="2433320" cy="77470"/>
            </a:xfrm>
            <a:custGeom>
              <a:avLst/>
              <a:gdLst/>
              <a:ahLst/>
              <a:cxnLst/>
              <a:rect l="l" t="t" r="r" b="b"/>
              <a:pathLst>
                <a:path w="2433320" h="77470">
                  <a:moveTo>
                    <a:pt x="117221" y="0"/>
                  </a:moveTo>
                  <a:lnTo>
                    <a:pt x="0" y="37371"/>
                  </a:lnTo>
                  <a:lnTo>
                    <a:pt x="117221" y="77151"/>
                  </a:lnTo>
                  <a:lnTo>
                    <a:pt x="91163" y="49355"/>
                  </a:lnTo>
                  <a:lnTo>
                    <a:pt x="79927" y="49355"/>
                  </a:lnTo>
                  <a:lnTo>
                    <a:pt x="75077" y="46966"/>
                  </a:lnTo>
                  <a:lnTo>
                    <a:pt x="70247" y="42168"/>
                  </a:lnTo>
                  <a:lnTo>
                    <a:pt x="67822" y="37371"/>
                  </a:lnTo>
                  <a:lnTo>
                    <a:pt x="70247" y="34982"/>
                  </a:lnTo>
                  <a:lnTo>
                    <a:pt x="72652" y="30184"/>
                  </a:lnTo>
                  <a:lnTo>
                    <a:pt x="75077" y="30184"/>
                  </a:lnTo>
                  <a:lnTo>
                    <a:pt x="79927" y="27795"/>
                  </a:lnTo>
                  <a:lnTo>
                    <a:pt x="89483" y="27795"/>
                  </a:lnTo>
                  <a:lnTo>
                    <a:pt x="117221" y="0"/>
                  </a:lnTo>
                  <a:close/>
                </a:path>
                <a:path w="2433320" h="77470">
                  <a:moveTo>
                    <a:pt x="89483" y="27795"/>
                  </a:moveTo>
                  <a:lnTo>
                    <a:pt x="79927" y="27795"/>
                  </a:lnTo>
                  <a:lnTo>
                    <a:pt x="75077" y="30184"/>
                  </a:lnTo>
                  <a:lnTo>
                    <a:pt x="72652" y="30184"/>
                  </a:lnTo>
                  <a:lnTo>
                    <a:pt x="70247" y="34982"/>
                  </a:lnTo>
                  <a:lnTo>
                    <a:pt x="67822" y="37371"/>
                  </a:lnTo>
                  <a:lnTo>
                    <a:pt x="70247" y="42168"/>
                  </a:lnTo>
                  <a:lnTo>
                    <a:pt x="75077" y="46966"/>
                  </a:lnTo>
                  <a:lnTo>
                    <a:pt x="79927" y="49355"/>
                  </a:lnTo>
                  <a:lnTo>
                    <a:pt x="91163" y="49355"/>
                  </a:lnTo>
                  <a:lnTo>
                    <a:pt x="79927" y="37371"/>
                  </a:lnTo>
                  <a:lnTo>
                    <a:pt x="89483" y="27795"/>
                  </a:lnTo>
                  <a:close/>
                </a:path>
                <a:path w="2433320" h="77470">
                  <a:moveTo>
                    <a:pt x="2423073" y="27795"/>
                  </a:moveTo>
                  <a:lnTo>
                    <a:pt x="89483" y="27795"/>
                  </a:lnTo>
                  <a:lnTo>
                    <a:pt x="79927" y="37371"/>
                  </a:lnTo>
                  <a:lnTo>
                    <a:pt x="91163" y="49355"/>
                  </a:lnTo>
                  <a:lnTo>
                    <a:pt x="2423073" y="49355"/>
                  </a:lnTo>
                  <a:lnTo>
                    <a:pt x="2425420" y="46966"/>
                  </a:lnTo>
                  <a:lnTo>
                    <a:pt x="2430309" y="44558"/>
                  </a:lnTo>
                  <a:lnTo>
                    <a:pt x="2430309" y="42168"/>
                  </a:lnTo>
                  <a:lnTo>
                    <a:pt x="2432851" y="37371"/>
                  </a:lnTo>
                  <a:lnTo>
                    <a:pt x="2430309" y="34982"/>
                  </a:lnTo>
                  <a:lnTo>
                    <a:pt x="2430309" y="30184"/>
                  </a:lnTo>
                  <a:lnTo>
                    <a:pt x="2425420" y="30184"/>
                  </a:lnTo>
                  <a:lnTo>
                    <a:pt x="2423073" y="27795"/>
                  </a:lnTo>
                  <a:close/>
                </a:path>
              </a:pathLst>
            </a:custGeom>
            <a:solidFill>
              <a:srgbClr val="000000"/>
            </a:solidFill>
          </p:spPr>
          <p:txBody>
            <a:bodyPr wrap="square" lIns="0" tIns="0" rIns="0" bIns="0" rtlCol="0"/>
            <a:lstStyle/>
            <a:p/>
          </p:txBody>
        </p:sp>
        <p:sp>
          <p:nvSpPr>
            <p:cNvPr id="43" name="object 43" descr=""/>
            <p:cNvSpPr/>
            <p:nvPr/>
          </p:nvSpPr>
          <p:spPr>
            <a:xfrm>
              <a:off x="1117729" y="5159337"/>
              <a:ext cx="2353945" cy="0"/>
            </a:xfrm>
            <a:custGeom>
              <a:avLst/>
              <a:gdLst/>
              <a:ahLst/>
              <a:cxnLst/>
              <a:rect l="l" t="t" r="r" b="b"/>
              <a:pathLst>
                <a:path w="2353945" h="0">
                  <a:moveTo>
                    <a:pt x="0" y="0"/>
                  </a:moveTo>
                  <a:lnTo>
                    <a:pt x="2353677" y="0"/>
                  </a:lnTo>
                </a:path>
              </a:pathLst>
            </a:custGeom>
            <a:ln w="24279">
              <a:solidFill>
                <a:srgbClr val="000000"/>
              </a:solidFill>
            </a:ln>
          </p:spPr>
          <p:txBody>
            <a:bodyPr wrap="square" lIns="0" tIns="0" rIns="0" bIns="0" rtlCol="0"/>
            <a:lstStyle/>
            <a:p/>
          </p:txBody>
        </p:sp>
        <p:sp>
          <p:nvSpPr>
            <p:cNvPr id="44" name="object 44" descr=""/>
            <p:cNvSpPr/>
            <p:nvPr/>
          </p:nvSpPr>
          <p:spPr>
            <a:xfrm>
              <a:off x="1051267" y="5120762"/>
              <a:ext cx="117475" cy="77470"/>
            </a:xfrm>
            <a:custGeom>
              <a:avLst/>
              <a:gdLst/>
              <a:ahLst/>
              <a:cxnLst/>
              <a:rect l="l" t="t" r="r" b="b"/>
              <a:pathLst>
                <a:path w="117475" h="77470">
                  <a:moveTo>
                    <a:pt x="79927" y="37371"/>
                  </a:moveTo>
                  <a:lnTo>
                    <a:pt x="117221" y="77151"/>
                  </a:lnTo>
                  <a:lnTo>
                    <a:pt x="0" y="37371"/>
                  </a:lnTo>
                  <a:lnTo>
                    <a:pt x="117221" y="0"/>
                  </a:lnTo>
                  <a:lnTo>
                    <a:pt x="79927" y="37371"/>
                  </a:lnTo>
                  <a:close/>
                </a:path>
              </a:pathLst>
            </a:custGeom>
            <a:ln w="3175">
              <a:solidFill>
                <a:srgbClr val="000000"/>
              </a:solidFill>
            </a:ln>
          </p:spPr>
          <p:txBody>
            <a:bodyPr wrap="square" lIns="0" tIns="0" rIns="0" bIns="0" rtlCol="0"/>
            <a:lstStyle/>
            <a:p/>
          </p:txBody>
        </p:sp>
      </p:grpSp>
      <p:sp>
        <p:nvSpPr>
          <p:cNvPr id="45" name="object 45" descr=""/>
          <p:cNvSpPr txBox="1"/>
          <p:nvPr/>
        </p:nvSpPr>
        <p:spPr>
          <a:xfrm>
            <a:off x="266502" y="4427332"/>
            <a:ext cx="779780" cy="1061720"/>
          </a:xfrm>
          <a:prstGeom prst="rect">
            <a:avLst/>
          </a:prstGeom>
          <a:solidFill>
            <a:srgbClr val="FFFF99"/>
          </a:solidFill>
          <a:ln w="14015">
            <a:solidFill>
              <a:srgbClr val="000000"/>
            </a:solidFill>
          </a:ln>
        </p:spPr>
        <p:txBody>
          <a:bodyPr wrap="square" lIns="0" tIns="0" rIns="0" bIns="0" rtlCol="0" vert="horz">
            <a:spAutoFit/>
          </a:bodyPr>
          <a:lstStyle/>
          <a:p>
            <a:pPr>
              <a:lnSpc>
                <a:spcPct val="100000"/>
              </a:lnSpc>
            </a:pPr>
            <a:endParaRPr sz="1400">
              <a:latin typeface="Times New Roman"/>
              <a:cs typeface="Times New Roman"/>
            </a:endParaRPr>
          </a:p>
          <a:p>
            <a:pPr>
              <a:lnSpc>
                <a:spcPct val="100000"/>
              </a:lnSpc>
              <a:spcBef>
                <a:spcPts val="240"/>
              </a:spcBef>
            </a:pPr>
            <a:endParaRPr sz="1400">
              <a:latin typeface="Times New Roman"/>
              <a:cs typeface="Times New Roman"/>
            </a:endParaRPr>
          </a:p>
          <a:p>
            <a:pPr marL="264795">
              <a:lnSpc>
                <a:spcPct val="100000"/>
              </a:lnSpc>
              <a:spcBef>
                <a:spcPts val="5"/>
              </a:spcBef>
            </a:pPr>
            <a:r>
              <a:rPr dirty="0" sz="1400" spc="-25" b="1">
                <a:latin typeface="宋体"/>
                <a:cs typeface="宋体"/>
              </a:rPr>
              <a:t>CPU</a:t>
            </a:r>
            <a:endParaRPr sz="1400">
              <a:latin typeface="宋体"/>
              <a:cs typeface="宋体"/>
            </a:endParaRPr>
          </a:p>
        </p:txBody>
      </p:sp>
      <p:sp>
        <p:nvSpPr>
          <p:cNvPr id="46" name="object 46" descr=""/>
          <p:cNvSpPr txBox="1"/>
          <p:nvPr/>
        </p:nvSpPr>
        <p:spPr>
          <a:xfrm>
            <a:off x="1868006" y="4549529"/>
            <a:ext cx="699770" cy="394970"/>
          </a:xfrm>
          <a:prstGeom prst="rect">
            <a:avLst/>
          </a:prstGeom>
          <a:solidFill>
            <a:srgbClr val="FFB7DB"/>
          </a:solidFill>
        </p:spPr>
        <p:txBody>
          <a:bodyPr wrap="square" lIns="0" tIns="75565" rIns="0" bIns="0" rtlCol="0" vert="horz">
            <a:spAutoFit/>
          </a:bodyPr>
          <a:lstStyle/>
          <a:p>
            <a:pPr marL="203835">
              <a:lnSpc>
                <a:spcPct val="100000"/>
              </a:lnSpc>
              <a:spcBef>
                <a:spcPts val="595"/>
              </a:spcBef>
            </a:pPr>
            <a:r>
              <a:rPr dirty="0" sz="1400" spc="-25" b="1">
                <a:latin typeface="宋体"/>
                <a:cs typeface="宋体"/>
              </a:rPr>
              <a:t>MMU</a:t>
            </a:r>
            <a:endParaRPr sz="1400">
              <a:latin typeface="宋体"/>
              <a:cs typeface="宋体"/>
            </a:endParaRPr>
          </a:p>
        </p:txBody>
      </p:sp>
      <p:sp>
        <p:nvSpPr>
          <p:cNvPr id="47" name="object 47" descr=""/>
          <p:cNvSpPr txBox="1"/>
          <p:nvPr/>
        </p:nvSpPr>
        <p:spPr>
          <a:xfrm>
            <a:off x="3471407" y="4580199"/>
            <a:ext cx="615315" cy="758190"/>
          </a:xfrm>
          <a:prstGeom prst="rect">
            <a:avLst/>
          </a:prstGeom>
          <a:solidFill>
            <a:srgbClr val="CCFFFF"/>
          </a:solidFill>
          <a:ln w="14584">
            <a:solidFill>
              <a:srgbClr val="000000"/>
            </a:solidFill>
          </a:ln>
        </p:spPr>
        <p:txBody>
          <a:bodyPr wrap="square" lIns="0" tIns="51435" rIns="0" bIns="0" rtlCol="0" vert="horz">
            <a:spAutoFit/>
          </a:bodyPr>
          <a:lstStyle/>
          <a:p>
            <a:pPr>
              <a:lnSpc>
                <a:spcPct val="100000"/>
              </a:lnSpc>
              <a:spcBef>
                <a:spcPts val="405"/>
              </a:spcBef>
            </a:pPr>
            <a:endParaRPr sz="1400">
              <a:latin typeface="Times New Roman"/>
              <a:cs typeface="Times New Roman"/>
            </a:endParaRPr>
          </a:p>
          <a:p>
            <a:pPr marL="79375">
              <a:lnSpc>
                <a:spcPct val="100000"/>
              </a:lnSpc>
            </a:pPr>
            <a:r>
              <a:rPr dirty="0" sz="1400" spc="-10" b="1">
                <a:latin typeface="宋体"/>
                <a:cs typeface="宋体"/>
              </a:rPr>
              <a:t>Cache</a:t>
            </a:r>
            <a:endParaRPr sz="1400">
              <a:latin typeface="宋体"/>
              <a:cs typeface="宋体"/>
            </a:endParaRPr>
          </a:p>
        </p:txBody>
      </p:sp>
      <p:sp>
        <p:nvSpPr>
          <p:cNvPr id="48" name="object 48" descr=""/>
          <p:cNvSpPr txBox="1"/>
          <p:nvPr/>
        </p:nvSpPr>
        <p:spPr>
          <a:xfrm>
            <a:off x="4723221" y="4427318"/>
            <a:ext cx="885190" cy="1092200"/>
          </a:xfrm>
          <a:prstGeom prst="rect">
            <a:avLst/>
          </a:prstGeom>
          <a:solidFill>
            <a:srgbClr val="46FFFF"/>
          </a:solidFill>
          <a:ln w="14010">
            <a:solidFill>
              <a:srgbClr val="000000"/>
            </a:solidFill>
          </a:ln>
        </p:spPr>
        <p:txBody>
          <a:bodyPr wrap="square" lIns="0" tIns="0" rIns="0" bIns="0" rtlCol="0" vert="horz">
            <a:spAutoFit/>
          </a:bodyPr>
          <a:lstStyle/>
          <a:p>
            <a:pPr>
              <a:lnSpc>
                <a:spcPct val="100000"/>
              </a:lnSpc>
            </a:pPr>
            <a:endParaRPr sz="1400">
              <a:latin typeface="Times New Roman"/>
              <a:cs typeface="Times New Roman"/>
            </a:endParaRPr>
          </a:p>
          <a:p>
            <a:pPr>
              <a:lnSpc>
                <a:spcPct val="100000"/>
              </a:lnSpc>
              <a:spcBef>
                <a:spcPts val="260"/>
              </a:spcBef>
            </a:pPr>
            <a:endParaRPr sz="1400">
              <a:latin typeface="Times New Roman"/>
              <a:cs typeface="Times New Roman"/>
            </a:endParaRPr>
          </a:p>
          <a:p>
            <a:pPr marL="100330">
              <a:lnSpc>
                <a:spcPct val="100000"/>
              </a:lnSpc>
            </a:pPr>
            <a:r>
              <a:rPr dirty="0" sz="1400" spc="-30" b="1">
                <a:latin typeface="宋体"/>
                <a:cs typeface="宋体"/>
              </a:rPr>
              <a:t>主 存 储</a:t>
            </a:r>
            <a:endParaRPr sz="1400">
              <a:latin typeface="宋体"/>
              <a:cs typeface="宋体"/>
            </a:endParaRPr>
          </a:p>
        </p:txBody>
      </p:sp>
      <p:sp>
        <p:nvSpPr>
          <p:cNvPr id="49" name="object 49" descr=""/>
          <p:cNvSpPr txBox="1"/>
          <p:nvPr/>
        </p:nvSpPr>
        <p:spPr>
          <a:xfrm>
            <a:off x="1934745" y="5161036"/>
            <a:ext cx="910590" cy="237490"/>
          </a:xfrm>
          <a:prstGeom prst="rect">
            <a:avLst/>
          </a:prstGeom>
        </p:spPr>
        <p:txBody>
          <a:bodyPr wrap="square" lIns="0" tIns="11430" rIns="0" bIns="0" rtlCol="0" vert="horz">
            <a:spAutoFit/>
          </a:bodyPr>
          <a:lstStyle/>
          <a:p>
            <a:pPr marL="12700">
              <a:lnSpc>
                <a:spcPct val="100000"/>
              </a:lnSpc>
              <a:spcBef>
                <a:spcPts val="90"/>
              </a:spcBef>
            </a:pPr>
            <a:r>
              <a:rPr dirty="0" sz="1400" spc="-40" b="1">
                <a:latin typeface="宋体"/>
                <a:cs typeface="宋体"/>
              </a:rPr>
              <a:t>数据或指令</a:t>
            </a:r>
            <a:endParaRPr sz="1400">
              <a:latin typeface="宋体"/>
              <a:cs typeface="宋体"/>
            </a:endParaRPr>
          </a:p>
        </p:txBody>
      </p:sp>
      <p:grpSp>
        <p:nvGrpSpPr>
          <p:cNvPr id="50" name="object 50" descr=""/>
          <p:cNvGrpSpPr/>
          <p:nvPr/>
        </p:nvGrpSpPr>
        <p:grpSpPr>
          <a:xfrm>
            <a:off x="4088226" y="5119399"/>
            <a:ext cx="620395" cy="80010"/>
            <a:chOff x="4088226" y="5119399"/>
            <a:chExt cx="620395" cy="80010"/>
          </a:xfrm>
        </p:grpSpPr>
        <p:sp>
          <p:nvSpPr>
            <p:cNvPr id="51" name="object 51" descr=""/>
            <p:cNvSpPr/>
            <p:nvPr/>
          </p:nvSpPr>
          <p:spPr>
            <a:xfrm>
              <a:off x="4089589" y="5120762"/>
              <a:ext cx="617855" cy="77470"/>
            </a:xfrm>
            <a:custGeom>
              <a:avLst/>
              <a:gdLst/>
              <a:ahLst/>
              <a:cxnLst/>
              <a:rect l="l" t="t" r="r" b="b"/>
              <a:pathLst>
                <a:path w="617854" h="77470">
                  <a:moveTo>
                    <a:pt x="117730" y="0"/>
                  </a:moveTo>
                  <a:lnTo>
                    <a:pt x="0" y="37371"/>
                  </a:lnTo>
                  <a:lnTo>
                    <a:pt x="117730" y="77151"/>
                  </a:lnTo>
                  <a:lnTo>
                    <a:pt x="89580" y="49355"/>
                  </a:lnTo>
                  <a:lnTo>
                    <a:pt x="77443" y="49355"/>
                  </a:lnTo>
                  <a:lnTo>
                    <a:pt x="75097" y="46966"/>
                  </a:lnTo>
                  <a:lnTo>
                    <a:pt x="70599" y="44558"/>
                  </a:lnTo>
                  <a:lnTo>
                    <a:pt x="70599" y="42168"/>
                  </a:lnTo>
                  <a:lnTo>
                    <a:pt x="68252" y="37371"/>
                  </a:lnTo>
                  <a:lnTo>
                    <a:pt x="70599" y="34982"/>
                  </a:lnTo>
                  <a:lnTo>
                    <a:pt x="70599" y="30184"/>
                  </a:lnTo>
                  <a:lnTo>
                    <a:pt x="75097" y="30184"/>
                  </a:lnTo>
                  <a:lnTo>
                    <a:pt x="77443" y="27795"/>
                  </a:lnTo>
                  <a:lnTo>
                    <a:pt x="87766" y="27795"/>
                  </a:lnTo>
                  <a:lnTo>
                    <a:pt x="117730" y="0"/>
                  </a:lnTo>
                  <a:close/>
                </a:path>
                <a:path w="617854" h="77470">
                  <a:moveTo>
                    <a:pt x="500451" y="0"/>
                  </a:moveTo>
                  <a:lnTo>
                    <a:pt x="537609" y="37371"/>
                  </a:lnTo>
                  <a:lnTo>
                    <a:pt x="500451" y="77151"/>
                  </a:lnTo>
                  <a:lnTo>
                    <a:pt x="582303" y="49355"/>
                  </a:lnTo>
                  <a:lnTo>
                    <a:pt x="537609" y="49355"/>
                  </a:lnTo>
                  <a:lnTo>
                    <a:pt x="542498" y="46966"/>
                  </a:lnTo>
                  <a:lnTo>
                    <a:pt x="545040" y="44558"/>
                  </a:lnTo>
                  <a:lnTo>
                    <a:pt x="547387" y="42168"/>
                  </a:lnTo>
                  <a:lnTo>
                    <a:pt x="547387" y="34982"/>
                  </a:lnTo>
                  <a:lnTo>
                    <a:pt x="545040" y="30184"/>
                  </a:lnTo>
                  <a:lnTo>
                    <a:pt x="542498" y="30184"/>
                  </a:lnTo>
                  <a:lnTo>
                    <a:pt x="537609" y="27795"/>
                  </a:lnTo>
                  <a:lnTo>
                    <a:pt x="587578" y="27795"/>
                  </a:lnTo>
                  <a:lnTo>
                    <a:pt x="500451" y="0"/>
                  </a:lnTo>
                  <a:close/>
                </a:path>
                <a:path w="617854" h="77470">
                  <a:moveTo>
                    <a:pt x="87766" y="27795"/>
                  </a:moveTo>
                  <a:lnTo>
                    <a:pt x="77443" y="27795"/>
                  </a:lnTo>
                  <a:lnTo>
                    <a:pt x="75097" y="30184"/>
                  </a:lnTo>
                  <a:lnTo>
                    <a:pt x="70599" y="30184"/>
                  </a:lnTo>
                  <a:lnTo>
                    <a:pt x="70599" y="34982"/>
                  </a:lnTo>
                  <a:lnTo>
                    <a:pt x="68252" y="37371"/>
                  </a:lnTo>
                  <a:lnTo>
                    <a:pt x="70599" y="42168"/>
                  </a:lnTo>
                  <a:lnTo>
                    <a:pt x="70599" y="44558"/>
                  </a:lnTo>
                  <a:lnTo>
                    <a:pt x="75097" y="46966"/>
                  </a:lnTo>
                  <a:lnTo>
                    <a:pt x="77443" y="49355"/>
                  </a:lnTo>
                  <a:lnTo>
                    <a:pt x="89580" y="49355"/>
                  </a:lnTo>
                  <a:lnTo>
                    <a:pt x="77443" y="37371"/>
                  </a:lnTo>
                  <a:lnTo>
                    <a:pt x="87766" y="27795"/>
                  </a:lnTo>
                  <a:close/>
                </a:path>
                <a:path w="617854" h="77470">
                  <a:moveTo>
                    <a:pt x="528087" y="27795"/>
                  </a:moveTo>
                  <a:lnTo>
                    <a:pt x="87766" y="27795"/>
                  </a:lnTo>
                  <a:lnTo>
                    <a:pt x="77443" y="37371"/>
                  </a:lnTo>
                  <a:lnTo>
                    <a:pt x="89580" y="49355"/>
                  </a:lnTo>
                  <a:lnTo>
                    <a:pt x="526414" y="49355"/>
                  </a:lnTo>
                  <a:lnTo>
                    <a:pt x="537609" y="37371"/>
                  </a:lnTo>
                  <a:lnTo>
                    <a:pt x="528087" y="27795"/>
                  </a:lnTo>
                  <a:close/>
                </a:path>
                <a:path w="617854" h="77470">
                  <a:moveTo>
                    <a:pt x="587578" y="27795"/>
                  </a:moveTo>
                  <a:lnTo>
                    <a:pt x="537609" y="27795"/>
                  </a:lnTo>
                  <a:lnTo>
                    <a:pt x="542498" y="30184"/>
                  </a:lnTo>
                  <a:lnTo>
                    <a:pt x="545040" y="30184"/>
                  </a:lnTo>
                  <a:lnTo>
                    <a:pt x="547387" y="34982"/>
                  </a:lnTo>
                  <a:lnTo>
                    <a:pt x="547387" y="42168"/>
                  </a:lnTo>
                  <a:lnTo>
                    <a:pt x="545040" y="44558"/>
                  </a:lnTo>
                  <a:lnTo>
                    <a:pt x="542498" y="46966"/>
                  </a:lnTo>
                  <a:lnTo>
                    <a:pt x="537609" y="49355"/>
                  </a:lnTo>
                  <a:lnTo>
                    <a:pt x="582303" y="49355"/>
                  </a:lnTo>
                  <a:lnTo>
                    <a:pt x="617595" y="37371"/>
                  </a:lnTo>
                  <a:lnTo>
                    <a:pt x="587578" y="27795"/>
                  </a:lnTo>
                  <a:close/>
                </a:path>
              </a:pathLst>
            </a:custGeom>
            <a:solidFill>
              <a:srgbClr val="000000"/>
            </a:solidFill>
          </p:spPr>
          <p:txBody>
            <a:bodyPr wrap="square" lIns="0" tIns="0" rIns="0" bIns="0" rtlCol="0"/>
            <a:lstStyle/>
            <a:p/>
          </p:txBody>
        </p:sp>
        <p:sp>
          <p:nvSpPr>
            <p:cNvPr id="52" name="object 52" descr=""/>
            <p:cNvSpPr/>
            <p:nvPr/>
          </p:nvSpPr>
          <p:spPr>
            <a:xfrm>
              <a:off x="4089589" y="5120762"/>
              <a:ext cx="617855" cy="77470"/>
            </a:xfrm>
            <a:custGeom>
              <a:avLst/>
              <a:gdLst/>
              <a:ahLst/>
              <a:cxnLst/>
              <a:rect l="l" t="t" r="r" b="b"/>
              <a:pathLst>
                <a:path w="617854" h="77470">
                  <a:moveTo>
                    <a:pt x="77443" y="27795"/>
                  </a:moveTo>
                  <a:lnTo>
                    <a:pt x="537609" y="27795"/>
                  </a:lnTo>
                  <a:lnTo>
                    <a:pt x="542498" y="30184"/>
                  </a:lnTo>
                  <a:lnTo>
                    <a:pt x="545040" y="30184"/>
                  </a:lnTo>
                  <a:lnTo>
                    <a:pt x="547387" y="34982"/>
                  </a:lnTo>
                  <a:lnTo>
                    <a:pt x="547387" y="37371"/>
                  </a:lnTo>
                  <a:lnTo>
                    <a:pt x="547387" y="42168"/>
                  </a:lnTo>
                  <a:lnTo>
                    <a:pt x="545040" y="44558"/>
                  </a:lnTo>
                  <a:lnTo>
                    <a:pt x="542498" y="46966"/>
                  </a:lnTo>
                  <a:lnTo>
                    <a:pt x="537609" y="49355"/>
                  </a:lnTo>
                  <a:lnTo>
                    <a:pt x="77443" y="49355"/>
                  </a:lnTo>
                  <a:lnTo>
                    <a:pt x="75097" y="46966"/>
                  </a:lnTo>
                  <a:lnTo>
                    <a:pt x="70599" y="44558"/>
                  </a:lnTo>
                  <a:lnTo>
                    <a:pt x="70599" y="42168"/>
                  </a:lnTo>
                  <a:lnTo>
                    <a:pt x="68252" y="37371"/>
                  </a:lnTo>
                  <a:lnTo>
                    <a:pt x="70599" y="34982"/>
                  </a:lnTo>
                  <a:lnTo>
                    <a:pt x="70599" y="30184"/>
                  </a:lnTo>
                  <a:lnTo>
                    <a:pt x="75097" y="30184"/>
                  </a:lnTo>
                  <a:lnTo>
                    <a:pt x="77443" y="27795"/>
                  </a:lnTo>
                  <a:close/>
                </a:path>
                <a:path w="617854" h="77470">
                  <a:moveTo>
                    <a:pt x="77443" y="37371"/>
                  </a:moveTo>
                  <a:lnTo>
                    <a:pt x="117730" y="77151"/>
                  </a:lnTo>
                  <a:lnTo>
                    <a:pt x="0" y="37371"/>
                  </a:lnTo>
                  <a:lnTo>
                    <a:pt x="117730" y="0"/>
                  </a:lnTo>
                  <a:lnTo>
                    <a:pt x="77443" y="37371"/>
                  </a:lnTo>
                  <a:close/>
                </a:path>
                <a:path w="617854" h="77470">
                  <a:moveTo>
                    <a:pt x="537609" y="37371"/>
                  </a:moveTo>
                  <a:lnTo>
                    <a:pt x="500451" y="0"/>
                  </a:lnTo>
                  <a:lnTo>
                    <a:pt x="617595" y="37371"/>
                  </a:lnTo>
                  <a:lnTo>
                    <a:pt x="500451" y="77151"/>
                  </a:lnTo>
                  <a:lnTo>
                    <a:pt x="537609" y="37371"/>
                  </a:lnTo>
                  <a:close/>
                </a:path>
              </a:pathLst>
            </a:custGeom>
            <a:ln w="3175">
              <a:solidFill>
                <a:srgbClr val="000000"/>
              </a:solidFill>
            </a:ln>
          </p:spPr>
          <p:txBody>
            <a:bodyPr wrap="square" lIns="0" tIns="0" rIns="0" bIns="0" rtlCol="0"/>
            <a:lstStyle/>
            <a:p/>
          </p:txBody>
        </p:sp>
      </p:grpSp>
      <p:sp>
        <p:nvSpPr>
          <p:cNvPr id="53" name="object 53" descr=""/>
          <p:cNvSpPr txBox="1"/>
          <p:nvPr/>
        </p:nvSpPr>
        <p:spPr>
          <a:xfrm>
            <a:off x="1094283" y="4433092"/>
            <a:ext cx="734695" cy="237490"/>
          </a:xfrm>
          <a:prstGeom prst="rect">
            <a:avLst/>
          </a:prstGeom>
        </p:spPr>
        <p:txBody>
          <a:bodyPr wrap="square" lIns="0" tIns="11430" rIns="0" bIns="0" rtlCol="0" vert="horz">
            <a:spAutoFit/>
          </a:bodyPr>
          <a:lstStyle/>
          <a:p>
            <a:pPr marL="12700">
              <a:lnSpc>
                <a:spcPct val="100000"/>
              </a:lnSpc>
              <a:spcBef>
                <a:spcPts val="90"/>
              </a:spcBef>
            </a:pPr>
            <a:r>
              <a:rPr dirty="0" sz="1400" spc="-35" b="1">
                <a:solidFill>
                  <a:srgbClr val="0000FF"/>
                </a:solidFill>
                <a:latin typeface="宋体"/>
                <a:cs typeface="宋体"/>
              </a:rPr>
              <a:t>虚拟地址</a:t>
            </a:r>
            <a:endParaRPr sz="1400">
              <a:latin typeface="宋体"/>
              <a:cs typeface="宋体"/>
            </a:endParaRPr>
          </a:p>
        </p:txBody>
      </p:sp>
      <p:sp>
        <p:nvSpPr>
          <p:cNvPr id="54" name="object 54" descr=""/>
          <p:cNvSpPr txBox="1"/>
          <p:nvPr/>
        </p:nvSpPr>
        <p:spPr>
          <a:xfrm>
            <a:off x="2634790" y="4433092"/>
            <a:ext cx="734695" cy="237490"/>
          </a:xfrm>
          <a:prstGeom prst="rect">
            <a:avLst/>
          </a:prstGeom>
        </p:spPr>
        <p:txBody>
          <a:bodyPr wrap="square" lIns="0" tIns="11430" rIns="0" bIns="0" rtlCol="0" vert="horz">
            <a:spAutoFit/>
          </a:bodyPr>
          <a:lstStyle/>
          <a:p>
            <a:pPr marL="12700">
              <a:lnSpc>
                <a:spcPct val="100000"/>
              </a:lnSpc>
              <a:spcBef>
                <a:spcPts val="90"/>
              </a:spcBef>
            </a:pPr>
            <a:r>
              <a:rPr dirty="0" sz="1400" spc="-35" b="1">
                <a:solidFill>
                  <a:srgbClr val="0000FF"/>
                </a:solidFill>
                <a:latin typeface="宋体"/>
                <a:cs typeface="宋体"/>
              </a:rPr>
              <a:t>物理地址</a:t>
            </a:r>
            <a:endParaRPr sz="1400">
              <a:latin typeface="宋体"/>
              <a:cs typeface="宋体"/>
            </a:endParaRPr>
          </a:p>
        </p:txBody>
      </p:sp>
      <p:grpSp>
        <p:nvGrpSpPr>
          <p:cNvPr id="55" name="object 55" descr=""/>
          <p:cNvGrpSpPr/>
          <p:nvPr/>
        </p:nvGrpSpPr>
        <p:grpSpPr>
          <a:xfrm>
            <a:off x="6008687" y="4900612"/>
            <a:ext cx="800100" cy="225425"/>
            <a:chOff x="6008687" y="4900612"/>
            <a:chExt cx="800100" cy="225425"/>
          </a:xfrm>
        </p:grpSpPr>
        <p:sp>
          <p:nvSpPr>
            <p:cNvPr id="56" name="object 56" descr=""/>
            <p:cNvSpPr/>
            <p:nvPr/>
          </p:nvSpPr>
          <p:spPr>
            <a:xfrm>
              <a:off x="6013450" y="4905375"/>
              <a:ext cx="790575" cy="215900"/>
            </a:xfrm>
            <a:custGeom>
              <a:avLst/>
              <a:gdLst/>
              <a:ahLst/>
              <a:cxnLst/>
              <a:rect l="l" t="t" r="r" b="b"/>
              <a:pathLst>
                <a:path w="790575" h="215900">
                  <a:moveTo>
                    <a:pt x="682751" y="0"/>
                  </a:moveTo>
                  <a:lnTo>
                    <a:pt x="682751" y="53975"/>
                  </a:lnTo>
                  <a:lnTo>
                    <a:pt x="0" y="53975"/>
                  </a:lnTo>
                  <a:lnTo>
                    <a:pt x="0" y="161925"/>
                  </a:lnTo>
                  <a:lnTo>
                    <a:pt x="682751" y="161925"/>
                  </a:lnTo>
                  <a:lnTo>
                    <a:pt x="682751" y="215900"/>
                  </a:lnTo>
                  <a:lnTo>
                    <a:pt x="790575" y="107950"/>
                  </a:lnTo>
                  <a:lnTo>
                    <a:pt x="682751" y="0"/>
                  </a:lnTo>
                  <a:close/>
                </a:path>
              </a:pathLst>
            </a:custGeom>
            <a:solidFill>
              <a:srgbClr val="EBD782"/>
            </a:solidFill>
          </p:spPr>
          <p:txBody>
            <a:bodyPr wrap="square" lIns="0" tIns="0" rIns="0" bIns="0" rtlCol="0"/>
            <a:lstStyle/>
            <a:p/>
          </p:txBody>
        </p:sp>
        <p:sp>
          <p:nvSpPr>
            <p:cNvPr id="57" name="object 57" descr=""/>
            <p:cNvSpPr/>
            <p:nvPr/>
          </p:nvSpPr>
          <p:spPr>
            <a:xfrm>
              <a:off x="6013450" y="4905375"/>
              <a:ext cx="790575" cy="215900"/>
            </a:xfrm>
            <a:custGeom>
              <a:avLst/>
              <a:gdLst/>
              <a:ahLst/>
              <a:cxnLst/>
              <a:rect l="l" t="t" r="r" b="b"/>
              <a:pathLst>
                <a:path w="790575" h="215900">
                  <a:moveTo>
                    <a:pt x="0" y="53975"/>
                  </a:moveTo>
                  <a:lnTo>
                    <a:pt x="682751" y="53975"/>
                  </a:lnTo>
                  <a:lnTo>
                    <a:pt x="682751" y="0"/>
                  </a:lnTo>
                  <a:lnTo>
                    <a:pt x="790575" y="107950"/>
                  </a:lnTo>
                  <a:lnTo>
                    <a:pt x="682751" y="215900"/>
                  </a:lnTo>
                  <a:lnTo>
                    <a:pt x="682751" y="161925"/>
                  </a:lnTo>
                  <a:lnTo>
                    <a:pt x="0" y="161925"/>
                  </a:lnTo>
                  <a:lnTo>
                    <a:pt x="0" y="53975"/>
                  </a:lnTo>
                  <a:close/>
                </a:path>
              </a:pathLst>
            </a:custGeom>
            <a:ln w="9525">
              <a:solidFill>
                <a:srgbClr val="40458B"/>
              </a:solidFill>
            </a:ln>
          </p:spPr>
          <p:txBody>
            <a:bodyPr wrap="square" lIns="0" tIns="0" rIns="0" bIns="0" rtlCol="0"/>
            <a:lstStyle/>
            <a:p/>
          </p:txBody>
        </p:sp>
      </p:grpSp>
      <p:sp>
        <p:nvSpPr>
          <p:cNvPr id="58" name="object 58" descr=""/>
          <p:cNvSpPr txBox="1"/>
          <p:nvPr/>
        </p:nvSpPr>
        <p:spPr>
          <a:xfrm>
            <a:off x="2071242" y="5726988"/>
            <a:ext cx="2241550" cy="331470"/>
          </a:xfrm>
          <a:prstGeom prst="rect">
            <a:avLst/>
          </a:prstGeom>
        </p:spPr>
        <p:txBody>
          <a:bodyPr wrap="square" lIns="0" tIns="13335" rIns="0" bIns="0" rtlCol="0" vert="horz">
            <a:spAutoFit/>
          </a:bodyPr>
          <a:lstStyle/>
          <a:p>
            <a:pPr marL="12700">
              <a:lnSpc>
                <a:spcPct val="100000"/>
              </a:lnSpc>
              <a:spcBef>
                <a:spcPts val="105"/>
              </a:spcBef>
            </a:pPr>
            <a:r>
              <a:rPr dirty="0" sz="2000" spc="-15" b="1">
                <a:latin typeface="宋体"/>
                <a:cs typeface="宋体"/>
              </a:rPr>
              <a:t>物理</a:t>
            </a:r>
            <a:r>
              <a:rPr dirty="0" sz="2000" b="1">
                <a:latin typeface="Times New Roman"/>
                <a:cs typeface="Times New Roman"/>
              </a:rPr>
              <a:t>Cache</a:t>
            </a:r>
            <a:r>
              <a:rPr dirty="0" sz="2000" spc="-25" b="1">
                <a:latin typeface="宋体"/>
                <a:cs typeface="宋体"/>
              </a:rPr>
              <a:t>存储系统</a:t>
            </a:r>
            <a:endParaRPr sz="2000">
              <a:latin typeface="宋体"/>
              <a:cs typeface="宋体"/>
            </a:endParaRPr>
          </a:p>
        </p:txBody>
      </p:sp>
      <p:sp>
        <p:nvSpPr>
          <p:cNvPr id="59" name="object 59" descr=""/>
          <p:cNvSpPr txBox="1"/>
          <p:nvPr/>
        </p:nvSpPr>
        <p:spPr>
          <a:xfrm>
            <a:off x="8263255" y="5775147"/>
            <a:ext cx="224155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宋体"/>
                <a:cs typeface="宋体"/>
              </a:rPr>
              <a:t>虚拟</a:t>
            </a:r>
            <a:r>
              <a:rPr dirty="0" sz="2000" spc="-10" b="1">
                <a:latin typeface="Times New Roman"/>
                <a:cs typeface="Times New Roman"/>
              </a:rPr>
              <a:t>Cache</a:t>
            </a:r>
            <a:r>
              <a:rPr dirty="0" sz="2000" spc="-20" b="1">
                <a:latin typeface="宋体"/>
                <a:cs typeface="宋体"/>
              </a:rPr>
              <a:t>存储系统</a:t>
            </a:r>
            <a:endParaRPr sz="2000">
              <a:latin typeface="宋体"/>
              <a:cs typeface="宋体"/>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017014" y="97028"/>
            <a:ext cx="287020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53441" y="675630"/>
            <a:ext cx="12086590" cy="5680710"/>
          </a:xfrm>
          <a:prstGeom prst="rect">
            <a:avLst/>
          </a:prstGeom>
        </p:spPr>
        <p:txBody>
          <a:bodyPr wrap="square" lIns="0" tIns="159385" rIns="0" bIns="0" rtlCol="0" vert="horz">
            <a:spAutoFit/>
          </a:bodyPr>
          <a:lstStyle/>
          <a:p>
            <a:pPr marL="468630" indent="-455930">
              <a:lnSpc>
                <a:spcPct val="100000"/>
              </a:lnSpc>
              <a:spcBef>
                <a:spcPts val="1255"/>
              </a:spcBef>
              <a:buClr>
                <a:srgbClr val="40458B"/>
              </a:buClr>
              <a:buAutoNum type="arabicPeriod" startAt="3"/>
              <a:tabLst>
                <a:tab pos="468630" algn="l"/>
              </a:tabLst>
            </a:pPr>
            <a:r>
              <a:rPr dirty="0" sz="2400" spc="-10">
                <a:solidFill>
                  <a:srgbClr val="E14B04"/>
                </a:solidFill>
                <a:latin typeface="黑体"/>
                <a:cs typeface="黑体"/>
              </a:rPr>
              <a:t>并非都采用虚拟Cache</a:t>
            </a:r>
            <a:r>
              <a:rPr dirty="0" sz="2400" spc="-10" b="1">
                <a:solidFill>
                  <a:srgbClr val="E14B04"/>
                </a:solidFill>
                <a:latin typeface="黑体"/>
                <a:cs typeface="黑体"/>
              </a:rPr>
              <a:t>(</a:t>
            </a:r>
            <a:r>
              <a:rPr dirty="0" sz="2400" spc="-10">
                <a:solidFill>
                  <a:srgbClr val="E14B04"/>
                </a:solidFill>
                <a:latin typeface="黑体"/>
                <a:cs typeface="黑体"/>
              </a:rPr>
              <a:t>为什么?</a:t>
            </a:r>
            <a:r>
              <a:rPr dirty="0" sz="2400" spc="-30" b="1">
                <a:solidFill>
                  <a:srgbClr val="E14B04"/>
                </a:solidFill>
                <a:latin typeface="黑体"/>
                <a:cs typeface="黑体"/>
              </a:rPr>
              <a:t>)：造成的新问题</a:t>
            </a:r>
            <a:endParaRPr sz="2400">
              <a:latin typeface="黑体"/>
              <a:cs typeface="黑体"/>
            </a:endParaRPr>
          </a:p>
          <a:p>
            <a:pPr marL="782320">
              <a:lnSpc>
                <a:spcPct val="100000"/>
              </a:lnSpc>
              <a:spcBef>
                <a:spcPts val="1155"/>
              </a:spcBef>
            </a:pPr>
            <a:r>
              <a:rPr dirty="0" sz="2400" spc="-5">
                <a:solidFill>
                  <a:srgbClr val="E14B04"/>
                </a:solidFill>
                <a:latin typeface="黑体"/>
                <a:cs typeface="黑体"/>
              </a:rPr>
              <a:t>虚拟地址与进程是相关的</a:t>
            </a:r>
            <a:endParaRPr sz="2400">
              <a:latin typeface="黑体"/>
              <a:cs typeface="黑体"/>
            </a:endParaRPr>
          </a:p>
          <a:p>
            <a:pPr lvl="1" marL="1099185" marR="5080" indent="-457200">
              <a:lnSpc>
                <a:spcPct val="120000"/>
              </a:lnSpc>
              <a:spcBef>
                <a:spcPts val="580"/>
              </a:spcBef>
              <a:buSzPct val="89583"/>
              <a:buFont typeface="Wingdings"/>
              <a:buChar char=""/>
              <a:tabLst>
                <a:tab pos="1099185" algn="l"/>
              </a:tabLst>
            </a:pPr>
            <a:r>
              <a:rPr dirty="0" sz="2400">
                <a:solidFill>
                  <a:srgbClr val="40458B"/>
                </a:solidFill>
                <a:latin typeface="黑体"/>
                <a:cs typeface="黑体"/>
              </a:rPr>
              <a:t>虚拟Cache的清空问题（如果两个进程共享了Cache,访问的地址是一个虚拟</a:t>
            </a:r>
            <a:r>
              <a:rPr dirty="0" sz="2400" spc="-10">
                <a:solidFill>
                  <a:srgbClr val="40458B"/>
                </a:solidFill>
                <a:latin typeface="黑体"/>
                <a:cs typeface="黑体"/>
              </a:rPr>
              <a:t>Cache，即两个虚地址映射到了同一块，歧义产生，不知道数据到底是个进程的</a:t>
            </a:r>
            <a:r>
              <a:rPr dirty="0" sz="2400" spc="-50">
                <a:solidFill>
                  <a:srgbClr val="40458B"/>
                </a:solidFill>
                <a:latin typeface="黑体"/>
                <a:cs typeface="黑体"/>
              </a:rPr>
              <a:t>）</a:t>
            </a:r>
            <a:endParaRPr sz="2400">
              <a:latin typeface="黑体"/>
              <a:cs typeface="黑体"/>
            </a:endParaRPr>
          </a:p>
          <a:p>
            <a:pPr marL="641985">
              <a:lnSpc>
                <a:spcPct val="100000"/>
              </a:lnSpc>
              <a:spcBef>
                <a:spcPts val="1150"/>
              </a:spcBef>
            </a:pPr>
            <a:r>
              <a:rPr dirty="0" sz="2400" spc="-5">
                <a:solidFill>
                  <a:srgbClr val="FF09FF"/>
                </a:solidFill>
                <a:latin typeface="黑体"/>
                <a:cs typeface="黑体"/>
              </a:rPr>
              <a:t>解决这个问题的方法：</a:t>
            </a:r>
            <a:endParaRPr sz="2400">
              <a:latin typeface="黑体"/>
              <a:cs typeface="黑体"/>
            </a:endParaRPr>
          </a:p>
          <a:p>
            <a:pPr lvl="1" marL="912494" indent="-270510">
              <a:lnSpc>
                <a:spcPct val="100000"/>
              </a:lnSpc>
              <a:spcBef>
                <a:spcPts val="1155"/>
              </a:spcBef>
              <a:buSzPct val="89583"/>
              <a:buFont typeface="Wingdings"/>
              <a:buChar char=""/>
              <a:tabLst>
                <a:tab pos="912494" algn="l"/>
                <a:tab pos="6247765" algn="l"/>
              </a:tabLst>
            </a:pPr>
            <a:r>
              <a:rPr dirty="0" sz="2400">
                <a:solidFill>
                  <a:srgbClr val="40458B"/>
                </a:solidFill>
                <a:latin typeface="黑体"/>
                <a:cs typeface="黑体"/>
              </a:rPr>
              <a:t>在地址标识中增加</a:t>
            </a:r>
            <a:r>
              <a:rPr dirty="0" sz="2400">
                <a:solidFill>
                  <a:srgbClr val="40458B"/>
                </a:solidFill>
                <a:latin typeface="宋体"/>
                <a:cs typeface="宋体"/>
              </a:rPr>
              <a:t>PID</a:t>
            </a:r>
            <a:r>
              <a:rPr dirty="0" sz="2400">
                <a:solidFill>
                  <a:srgbClr val="40458B"/>
                </a:solidFill>
                <a:latin typeface="黑体"/>
                <a:cs typeface="黑体"/>
              </a:rPr>
              <a:t>字</a:t>
            </a:r>
            <a:r>
              <a:rPr dirty="0" sz="2400" spc="-50">
                <a:solidFill>
                  <a:srgbClr val="40458B"/>
                </a:solidFill>
                <a:latin typeface="黑体"/>
                <a:cs typeface="黑体"/>
              </a:rPr>
              <a:t>段</a:t>
            </a:r>
            <a:r>
              <a:rPr dirty="0" sz="2400">
                <a:solidFill>
                  <a:srgbClr val="40458B"/>
                </a:solidFill>
                <a:latin typeface="黑体"/>
                <a:cs typeface="黑体"/>
              </a:rPr>
              <a:t>	</a:t>
            </a:r>
            <a:r>
              <a:rPr dirty="0" sz="2400">
                <a:solidFill>
                  <a:srgbClr val="40458B"/>
                </a:solidFill>
                <a:latin typeface="宋体"/>
                <a:cs typeface="宋体"/>
              </a:rPr>
              <a:t>(</a:t>
            </a:r>
            <a:r>
              <a:rPr dirty="0" sz="2400">
                <a:solidFill>
                  <a:srgbClr val="40458B"/>
                </a:solidFill>
                <a:latin typeface="黑体"/>
                <a:cs typeface="黑体"/>
              </a:rPr>
              <a:t>进程标识符，操作系统指定</a:t>
            </a:r>
            <a:r>
              <a:rPr dirty="0" sz="2400" spc="-50">
                <a:solidFill>
                  <a:srgbClr val="40458B"/>
                </a:solidFill>
                <a:latin typeface="宋体"/>
                <a:cs typeface="宋体"/>
              </a:rPr>
              <a:t>)</a:t>
            </a:r>
            <a:endParaRPr sz="2400">
              <a:latin typeface="宋体"/>
              <a:cs typeface="宋体"/>
            </a:endParaRPr>
          </a:p>
          <a:p>
            <a:pPr lvl="2" marL="1726564" indent="-456565">
              <a:lnSpc>
                <a:spcPct val="100000"/>
              </a:lnSpc>
              <a:spcBef>
                <a:spcPts val="1025"/>
              </a:spcBef>
              <a:buClr>
                <a:srgbClr val="4668F5"/>
              </a:buClr>
              <a:buSzPct val="60000"/>
              <a:buFont typeface="Wingdings"/>
              <a:buChar char=""/>
              <a:tabLst>
                <a:tab pos="1726564" algn="l"/>
              </a:tabLst>
            </a:pPr>
            <a:r>
              <a:rPr dirty="0" sz="2000" spc="-15" b="1">
                <a:solidFill>
                  <a:srgbClr val="00AFEF"/>
                </a:solidFill>
                <a:latin typeface="宋体"/>
                <a:cs typeface="宋体"/>
              </a:rPr>
              <a:t>三种情况下不命中率的比较</a:t>
            </a:r>
            <a:endParaRPr sz="2000">
              <a:latin typeface="宋体"/>
              <a:cs typeface="宋体"/>
            </a:endParaRPr>
          </a:p>
          <a:p>
            <a:pPr lvl="3" marL="2287905" indent="-381000">
              <a:lnSpc>
                <a:spcPct val="100000"/>
              </a:lnSpc>
              <a:spcBef>
                <a:spcPts val="960"/>
              </a:spcBef>
              <a:buClr>
                <a:srgbClr val="006600"/>
              </a:buClr>
              <a:buSzPct val="65000"/>
              <a:buFont typeface="Wingdings"/>
              <a:buChar char=""/>
              <a:tabLst>
                <a:tab pos="2287905" algn="l"/>
              </a:tabLst>
            </a:pPr>
            <a:r>
              <a:rPr dirty="0" sz="2000" spc="-10" b="1">
                <a:solidFill>
                  <a:srgbClr val="40458B"/>
                </a:solidFill>
                <a:latin typeface="宋体"/>
                <a:cs typeface="宋体"/>
              </a:rPr>
              <a:t>单进程，PIDs</a:t>
            </a:r>
            <a:r>
              <a:rPr dirty="0" sz="2000" spc="-25" b="1">
                <a:solidFill>
                  <a:srgbClr val="40458B"/>
                </a:solidFill>
                <a:latin typeface="宋体"/>
                <a:cs typeface="宋体"/>
              </a:rPr>
              <a:t>，清空</a:t>
            </a:r>
            <a:endParaRPr sz="2000">
              <a:latin typeface="宋体"/>
              <a:cs typeface="宋体"/>
            </a:endParaRPr>
          </a:p>
          <a:p>
            <a:pPr lvl="3" marL="2287905" indent="-381000">
              <a:lnSpc>
                <a:spcPct val="100000"/>
              </a:lnSpc>
              <a:spcBef>
                <a:spcPts val="960"/>
              </a:spcBef>
              <a:buClr>
                <a:srgbClr val="006600"/>
              </a:buClr>
              <a:buSzPct val="65000"/>
              <a:buFont typeface="Wingdings"/>
              <a:buChar char=""/>
              <a:tabLst>
                <a:tab pos="2287905" algn="l"/>
              </a:tabLst>
            </a:pPr>
            <a:r>
              <a:rPr dirty="0" sz="2000" spc="-10" b="1">
                <a:solidFill>
                  <a:srgbClr val="40458B"/>
                </a:solidFill>
                <a:latin typeface="宋体"/>
                <a:cs typeface="宋体"/>
              </a:rPr>
              <a:t>PIDs</a:t>
            </a:r>
            <a:r>
              <a:rPr dirty="0" sz="2000" spc="-15" b="1">
                <a:solidFill>
                  <a:srgbClr val="40458B"/>
                </a:solidFill>
                <a:latin typeface="宋体"/>
                <a:cs typeface="宋体"/>
              </a:rPr>
              <a:t>与单进程相比：</a:t>
            </a:r>
            <a:r>
              <a:rPr dirty="0" sz="2000" spc="-10" b="1">
                <a:solidFill>
                  <a:srgbClr val="9933FF"/>
                </a:solidFill>
                <a:latin typeface="宋体"/>
                <a:cs typeface="宋体"/>
              </a:rPr>
              <a:t>＋0.3％～＋0.6％</a:t>
            </a:r>
            <a:endParaRPr sz="2000">
              <a:latin typeface="宋体"/>
              <a:cs typeface="宋体"/>
            </a:endParaRPr>
          </a:p>
          <a:p>
            <a:pPr lvl="3" marL="2287905" indent="-381000">
              <a:lnSpc>
                <a:spcPct val="100000"/>
              </a:lnSpc>
              <a:spcBef>
                <a:spcPts val="960"/>
              </a:spcBef>
              <a:buClr>
                <a:srgbClr val="006600"/>
              </a:buClr>
              <a:buSzPct val="65000"/>
              <a:buFont typeface="Wingdings"/>
              <a:buChar char=""/>
              <a:tabLst>
                <a:tab pos="2287905" algn="l"/>
                <a:tab pos="4594225" algn="l"/>
              </a:tabLst>
            </a:pPr>
            <a:r>
              <a:rPr dirty="0" sz="2000" b="1">
                <a:solidFill>
                  <a:srgbClr val="40458B"/>
                </a:solidFill>
                <a:latin typeface="宋体"/>
                <a:cs typeface="宋体"/>
              </a:rPr>
              <a:t>PIDs</a:t>
            </a:r>
            <a:r>
              <a:rPr dirty="0" sz="2000" spc="-15" b="1">
                <a:solidFill>
                  <a:srgbClr val="40458B"/>
                </a:solidFill>
                <a:latin typeface="宋体"/>
                <a:cs typeface="宋体"/>
              </a:rPr>
              <a:t>与清空</a:t>
            </a:r>
            <a:r>
              <a:rPr dirty="0" sz="2000" spc="-20" b="1">
                <a:solidFill>
                  <a:srgbClr val="40458B"/>
                </a:solidFill>
                <a:latin typeface="宋体"/>
                <a:cs typeface="宋体"/>
              </a:rPr>
              <a:t>相</a:t>
            </a:r>
            <a:r>
              <a:rPr dirty="0" sz="2000" spc="-15" b="1">
                <a:solidFill>
                  <a:srgbClr val="40458B"/>
                </a:solidFill>
                <a:latin typeface="宋体"/>
                <a:cs typeface="宋体"/>
              </a:rPr>
              <a:t>比</a:t>
            </a:r>
            <a:r>
              <a:rPr dirty="0" sz="2000" spc="-50" b="1">
                <a:solidFill>
                  <a:srgbClr val="40458B"/>
                </a:solidFill>
                <a:latin typeface="宋体"/>
                <a:cs typeface="宋体"/>
              </a:rPr>
              <a:t>：</a:t>
            </a:r>
            <a:r>
              <a:rPr dirty="0" sz="2000" b="1">
                <a:solidFill>
                  <a:srgbClr val="40458B"/>
                </a:solidFill>
                <a:latin typeface="宋体"/>
                <a:cs typeface="宋体"/>
              </a:rPr>
              <a:t>	</a:t>
            </a:r>
            <a:r>
              <a:rPr dirty="0" sz="2000" spc="-10" b="1">
                <a:solidFill>
                  <a:srgbClr val="9933FF"/>
                </a:solidFill>
                <a:latin typeface="宋体"/>
                <a:cs typeface="宋体"/>
              </a:rPr>
              <a:t>－0.6％～－4.3%</a:t>
            </a:r>
            <a:endParaRPr sz="2000">
              <a:latin typeface="宋体"/>
              <a:cs typeface="宋体"/>
            </a:endParaRPr>
          </a:p>
          <a:p>
            <a:pPr lvl="1" marL="1099185" indent="-457200">
              <a:lnSpc>
                <a:spcPct val="100000"/>
              </a:lnSpc>
              <a:spcBef>
                <a:spcPts val="1090"/>
              </a:spcBef>
              <a:buSzPct val="89583"/>
              <a:buFont typeface="Wingdings"/>
              <a:buChar char=""/>
              <a:tabLst>
                <a:tab pos="1099185" algn="l"/>
              </a:tabLst>
            </a:pPr>
            <a:r>
              <a:rPr dirty="0" sz="2400">
                <a:solidFill>
                  <a:srgbClr val="40458B"/>
                </a:solidFill>
                <a:latin typeface="黑体"/>
                <a:cs typeface="黑体"/>
              </a:rPr>
              <a:t>其他的的问题：同义和别名（同一个数据在</a:t>
            </a:r>
            <a:r>
              <a:rPr dirty="0" sz="2400" spc="-20">
                <a:solidFill>
                  <a:srgbClr val="40458B"/>
                </a:solidFill>
                <a:latin typeface="Tahoma"/>
                <a:cs typeface="Tahoma"/>
              </a:rPr>
              <a:t>Cache</a:t>
            </a:r>
            <a:r>
              <a:rPr dirty="0" sz="2400">
                <a:solidFill>
                  <a:srgbClr val="40458B"/>
                </a:solidFill>
                <a:latin typeface="黑体"/>
                <a:cs typeface="黑体"/>
              </a:rPr>
              <a:t>中两个副本</a:t>
            </a:r>
            <a:r>
              <a:rPr dirty="0" sz="2400" spc="-50">
                <a:solidFill>
                  <a:srgbClr val="40458B"/>
                </a:solidFill>
                <a:latin typeface="黑体"/>
                <a:cs typeface="黑体"/>
              </a:rPr>
              <a:t>）</a:t>
            </a:r>
            <a:endParaRPr sz="2400">
              <a:latin typeface="黑体"/>
              <a:cs typeface="黑体"/>
            </a:endParaRPr>
          </a:p>
          <a:p>
            <a:pPr marL="1270000">
              <a:lnSpc>
                <a:spcPct val="100000"/>
              </a:lnSpc>
              <a:spcBef>
                <a:spcPts val="1025"/>
              </a:spcBef>
            </a:pPr>
            <a:r>
              <a:rPr dirty="0" sz="2000" spc="-10" b="1">
                <a:solidFill>
                  <a:srgbClr val="D50092"/>
                </a:solidFill>
                <a:latin typeface="宋体"/>
                <a:cs typeface="宋体"/>
              </a:rPr>
              <a:t>解决方法：</a:t>
            </a:r>
            <a:r>
              <a:rPr dirty="0" sz="2000" spc="-20" b="1">
                <a:solidFill>
                  <a:srgbClr val="00AFEF"/>
                </a:solidFill>
                <a:latin typeface="宋体"/>
                <a:cs typeface="宋体"/>
              </a:rPr>
              <a:t>反别名法、页着色</a:t>
            </a:r>
            <a:endParaRPr sz="2000">
              <a:latin typeface="宋体"/>
              <a:cs typeface="宋体"/>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2017014" y="97028"/>
            <a:ext cx="287020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53441" y="675630"/>
            <a:ext cx="12022455" cy="3131820"/>
          </a:xfrm>
          <a:prstGeom prst="rect">
            <a:avLst/>
          </a:prstGeom>
        </p:spPr>
        <p:txBody>
          <a:bodyPr wrap="square" lIns="0" tIns="159385" rIns="0" bIns="0" rtlCol="0" vert="horz">
            <a:spAutoFit/>
          </a:bodyPr>
          <a:lstStyle/>
          <a:p>
            <a:pPr marL="468630" indent="-455930">
              <a:lnSpc>
                <a:spcPct val="100000"/>
              </a:lnSpc>
              <a:spcBef>
                <a:spcPts val="1255"/>
              </a:spcBef>
              <a:buClr>
                <a:srgbClr val="40458B"/>
              </a:buClr>
              <a:buAutoNum type="arabicPeriod" startAt="3"/>
              <a:tabLst>
                <a:tab pos="468630" algn="l"/>
              </a:tabLst>
            </a:pPr>
            <a:r>
              <a:rPr dirty="0" sz="2400" spc="-10">
                <a:solidFill>
                  <a:srgbClr val="E14B04"/>
                </a:solidFill>
                <a:latin typeface="黑体"/>
                <a:cs typeface="黑体"/>
              </a:rPr>
              <a:t>并非都采用虚拟Cache</a:t>
            </a:r>
            <a:r>
              <a:rPr dirty="0" sz="2400" spc="-10" b="1">
                <a:solidFill>
                  <a:srgbClr val="E14B04"/>
                </a:solidFill>
                <a:latin typeface="黑体"/>
                <a:cs typeface="黑体"/>
              </a:rPr>
              <a:t>(</a:t>
            </a:r>
            <a:r>
              <a:rPr dirty="0" sz="2400" spc="-10">
                <a:solidFill>
                  <a:srgbClr val="E14B04"/>
                </a:solidFill>
                <a:latin typeface="黑体"/>
                <a:cs typeface="黑体"/>
              </a:rPr>
              <a:t>为什么?</a:t>
            </a:r>
            <a:r>
              <a:rPr dirty="0" sz="2400" spc="-30" b="1">
                <a:solidFill>
                  <a:srgbClr val="E14B04"/>
                </a:solidFill>
                <a:latin typeface="黑体"/>
                <a:cs typeface="黑体"/>
              </a:rPr>
              <a:t>)：造成的新问题</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其他的的问题：同义和别名</a:t>
            </a:r>
            <a:r>
              <a:rPr dirty="0" sz="2400" spc="-25">
                <a:solidFill>
                  <a:srgbClr val="40458B"/>
                </a:solidFill>
                <a:latin typeface="黑体"/>
                <a:cs typeface="黑体"/>
              </a:rPr>
              <a:t>（）</a:t>
            </a:r>
            <a:endParaRPr sz="2400">
              <a:latin typeface="黑体"/>
              <a:cs typeface="黑体"/>
            </a:endParaRPr>
          </a:p>
          <a:p>
            <a:pPr marL="1727200" marR="5080" indent="-457200">
              <a:lnSpc>
                <a:spcPct val="120000"/>
              </a:lnSpc>
              <a:spcBef>
                <a:spcPts val="545"/>
              </a:spcBef>
            </a:pPr>
            <a:r>
              <a:rPr dirty="0" sz="2000" spc="-25" b="1">
                <a:solidFill>
                  <a:srgbClr val="D50092"/>
                </a:solidFill>
                <a:latin typeface="宋体"/>
                <a:cs typeface="宋体"/>
              </a:rPr>
              <a:t>原因：操作系统和用户对于同一个物理地址可能采用两种以上不同的虚拟地址来访问，这些地址</a:t>
            </a:r>
            <a:r>
              <a:rPr dirty="0" sz="2000" spc="-20" b="1">
                <a:solidFill>
                  <a:srgbClr val="D50092"/>
                </a:solidFill>
                <a:latin typeface="宋体"/>
                <a:cs typeface="宋体"/>
              </a:rPr>
              <a:t>为同义或别名。</a:t>
            </a:r>
            <a:endParaRPr sz="2000">
              <a:latin typeface="宋体"/>
              <a:cs typeface="宋体"/>
            </a:endParaRPr>
          </a:p>
          <a:p>
            <a:pPr marL="1270000">
              <a:lnSpc>
                <a:spcPct val="100000"/>
              </a:lnSpc>
              <a:spcBef>
                <a:spcPts val="965"/>
              </a:spcBef>
            </a:pPr>
            <a:r>
              <a:rPr dirty="0" sz="2000" spc="-10" b="1">
                <a:solidFill>
                  <a:srgbClr val="D50092"/>
                </a:solidFill>
                <a:latin typeface="宋体"/>
                <a:cs typeface="宋体"/>
              </a:rPr>
              <a:t>导致：</a:t>
            </a:r>
            <a:r>
              <a:rPr dirty="0" sz="2000" spc="-10" b="1">
                <a:solidFill>
                  <a:srgbClr val="00AFEF"/>
                </a:solidFill>
                <a:latin typeface="宋体"/>
                <a:cs typeface="宋体"/>
              </a:rPr>
              <a:t>同一个数据在</a:t>
            </a:r>
            <a:r>
              <a:rPr dirty="0" sz="2000" spc="-10" b="1">
                <a:solidFill>
                  <a:srgbClr val="00AFEF"/>
                </a:solidFill>
                <a:latin typeface="Tahoma"/>
                <a:cs typeface="Tahoma"/>
              </a:rPr>
              <a:t>Cache</a:t>
            </a:r>
            <a:r>
              <a:rPr dirty="0" sz="2000" spc="-25" b="1">
                <a:solidFill>
                  <a:srgbClr val="00AFEF"/>
                </a:solidFill>
                <a:latin typeface="宋体"/>
                <a:cs typeface="宋体"/>
              </a:rPr>
              <a:t>中两个副本。</a:t>
            </a:r>
            <a:endParaRPr sz="2000">
              <a:latin typeface="宋体"/>
              <a:cs typeface="宋体"/>
            </a:endParaRPr>
          </a:p>
          <a:p>
            <a:pPr>
              <a:lnSpc>
                <a:spcPct val="100000"/>
              </a:lnSpc>
              <a:spcBef>
                <a:spcPts val="1714"/>
              </a:spcBef>
            </a:pPr>
            <a:endParaRPr sz="2000">
              <a:latin typeface="宋体"/>
              <a:cs typeface="宋体"/>
            </a:endParaRPr>
          </a:p>
          <a:p>
            <a:pPr marL="1270000">
              <a:lnSpc>
                <a:spcPct val="100000"/>
              </a:lnSpc>
              <a:spcBef>
                <a:spcPts val="5"/>
              </a:spcBef>
            </a:pPr>
            <a:r>
              <a:rPr dirty="0" sz="2000" spc="-10" b="1">
                <a:solidFill>
                  <a:srgbClr val="D50092"/>
                </a:solidFill>
                <a:latin typeface="宋体"/>
                <a:cs typeface="宋体"/>
              </a:rPr>
              <a:t>解决方法：</a:t>
            </a:r>
            <a:r>
              <a:rPr dirty="0" sz="2000" spc="-15" b="1">
                <a:solidFill>
                  <a:srgbClr val="00AFEF"/>
                </a:solidFill>
                <a:latin typeface="宋体"/>
                <a:cs typeface="宋体"/>
              </a:rPr>
              <a:t>反别名法、页着色</a:t>
            </a:r>
            <a:r>
              <a:rPr dirty="0" sz="2000" spc="-10" b="1">
                <a:solidFill>
                  <a:srgbClr val="00AFEF"/>
                </a:solidFill>
                <a:latin typeface="宋体"/>
                <a:cs typeface="宋体"/>
              </a:rPr>
              <a:t>（</a:t>
            </a:r>
            <a:r>
              <a:rPr dirty="0" sz="2000" spc="-20" b="1">
                <a:solidFill>
                  <a:srgbClr val="00AFEF"/>
                </a:solidFill>
                <a:latin typeface="宋体"/>
                <a:cs typeface="宋体"/>
              </a:rPr>
              <a:t>软件实现，只要求别名的某些地址位相同</a:t>
            </a:r>
            <a:r>
              <a:rPr dirty="0" sz="2000" spc="-50" b="1">
                <a:solidFill>
                  <a:srgbClr val="00AFEF"/>
                </a:solidFill>
                <a:latin typeface="宋体"/>
                <a:cs typeface="宋体"/>
              </a:rPr>
              <a:t>）</a:t>
            </a:r>
            <a:endParaRPr sz="2000">
              <a:latin typeface="宋体"/>
              <a:cs typeface="宋体"/>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40535" y="35179"/>
            <a:ext cx="286893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529539" y="526188"/>
            <a:ext cx="6599555" cy="977265"/>
          </a:xfrm>
          <a:prstGeom prst="rect">
            <a:avLst/>
          </a:prstGeom>
        </p:spPr>
        <p:txBody>
          <a:bodyPr wrap="square" lIns="0" tIns="122555" rIns="0" bIns="0" rtlCol="0" vert="horz">
            <a:spAutoFit/>
          </a:bodyPr>
          <a:lstStyle/>
          <a:p>
            <a:pPr marL="469900" indent="-457200">
              <a:lnSpc>
                <a:spcPct val="100000"/>
              </a:lnSpc>
              <a:spcBef>
                <a:spcPts val="965"/>
              </a:spcBef>
              <a:buClr>
                <a:srgbClr val="40458B"/>
              </a:buClr>
              <a:buFont typeface="Tahoma"/>
              <a:buAutoNum type="arabicPeriod" startAt="4"/>
              <a:tabLst>
                <a:tab pos="469900" algn="l"/>
              </a:tabLst>
            </a:pPr>
            <a:r>
              <a:rPr dirty="0" sz="2400" spc="-15">
                <a:solidFill>
                  <a:srgbClr val="E14B04"/>
                </a:solidFill>
                <a:latin typeface="黑体"/>
                <a:cs typeface="黑体"/>
              </a:rPr>
              <a:t>虚拟索引＋物理标识</a:t>
            </a:r>
            <a:endParaRPr sz="2400">
              <a:latin typeface="黑体"/>
              <a:cs typeface="黑体"/>
            </a:endParaRPr>
          </a:p>
          <a:p>
            <a:pPr lvl="1" marL="1099185" indent="-457200">
              <a:lnSpc>
                <a:spcPct val="100000"/>
              </a:lnSpc>
              <a:spcBef>
                <a:spcPts val="870"/>
              </a:spcBef>
              <a:buClr>
                <a:srgbClr val="40458B"/>
              </a:buClr>
              <a:buSzPct val="89583"/>
              <a:buFont typeface="Wingdings"/>
              <a:buChar char=""/>
              <a:tabLst>
                <a:tab pos="1099185" algn="l"/>
              </a:tabLst>
            </a:pPr>
            <a:r>
              <a:rPr dirty="0" sz="2400">
                <a:solidFill>
                  <a:srgbClr val="D50092"/>
                </a:solidFill>
                <a:latin typeface="黑体"/>
                <a:cs typeface="黑体"/>
              </a:rPr>
              <a:t>优点：</a:t>
            </a:r>
            <a:r>
              <a:rPr dirty="0" sz="2400">
                <a:solidFill>
                  <a:srgbClr val="40458B"/>
                </a:solidFill>
                <a:latin typeface="黑体"/>
                <a:cs typeface="黑体"/>
              </a:rPr>
              <a:t>兼得虚拟Cache和物理Cache</a:t>
            </a:r>
            <a:r>
              <a:rPr dirty="0" sz="2400" spc="-20">
                <a:solidFill>
                  <a:srgbClr val="40458B"/>
                </a:solidFill>
                <a:latin typeface="黑体"/>
                <a:cs typeface="黑体"/>
              </a:rPr>
              <a:t>的好处</a:t>
            </a:r>
            <a:endParaRPr sz="2400">
              <a:latin typeface="黑体"/>
              <a:cs typeface="黑体"/>
            </a:endParaRPr>
          </a:p>
        </p:txBody>
      </p:sp>
      <p:sp>
        <p:nvSpPr>
          <p:cNvPr id="11" name="object 11" descr=""/>
          <p:cNvSpPr txBox="1"/>
          <p:nvPr/>
        </p:nvSpPr>
        <p:spPr>
          <a:xfrm>
            <a:off x="529539" y="1471448"/>
            <a:ext cx="4923155" cy="1776095"/>
          </a:xfrm>
          <a:prstGeom prst="rect">
            <a:avLst/>
          </a:prstGeom>
        </p:spPr>
        <p:txBody>
          <a:bodyPr wrap="square" lIns="0" tIns="128905" rIns="0" bIns="0" rtlCol="0" vert="horz">
            <a:spAutoFit/>
          </a:bodyPr>
          <a:lstStyle/>
          <a:p>
            <a:pPr marL="1099185" indent="-457200">
              <a:lnSpc>
                <a:spcPct val="100000"/>
              </a:lnSpc>
              <a:spcBef>
                <a:spcPts val="1015"/>
              </a:spcBef>
              <a:buClr>
                <a:srgbClr val="40458B"/>
              </a:buClr>
              <a:buSzPct val="89583"/>
              <a:buFont typeface="Wingdings"/>
              <a:buChar char=""/>
              <a:tabLst>
                <a:tab pos="1099185" algn="l"/>
              </a:tabLst>
            </a:pPr>
            <a:r>
              <a:rPr dirty="0" sz="2400">
                <a:solidFill>
                  <a:srgbClr val="D50092"/>
                </a:solidFill>
                <a:latin typeface="黑体"/>
                <a:cs typeface="黑体"/>
              </a:rPr>
              <a:t>局限性：</a:t>
            </a:r>
            <a:r>
              <a:rPr dirty="0" sz="2400">
                <a:solidFill>
                  <a:srgbClr val="40458B"/>
                </a:solidFill>
                <a:latin typeface="黑体"/>
                <a:cs typeface="黑体"/>
              </a:rPr>
              <a:t>Cache</a:t>
            </a:r>
            <a:r>
              <a:rPr dirty="0" sz="2400" spc="-10">
                <a:solidFill>
                  <a:srgbClr val="40458B"/>
                </a:solidFill>
                <a:latin typeface="黑体"/>
                <a:cs typeface="黑体"/>
              </a:rPr>
              <a:t>容量受到限制</a:t>
            </a:r>
            <a:endParaRPr sz="2400">
              <a:latin typeface="黑体"/>
              <a:cs typeface="黑体"/>
            </a:endParaRPr>
          </a:p>
          <a:p>
            <a:pPr marL="2313940">
              <a:lnSpc>
                <a:spcPct val="100000"/>
              </a:lnSpc>
              <a:spcBef>
                <a:spcPts val="770"/>
              </a:spcBef>
            </a:pPr>
            <a:r>
              <a:rPr dirty="0" sz="2000" spc="-25" b="1">
                <a:solidFill>
                  <a:srgbClr val="00AFEF"/>
                </a:solidFill>
                <a:latin typeface="宋体"/>
                <a:cs typeface="宋体"/>
              </a:rPr>
              <a:t>(页内位移)</a:t>
            </a:r>
            <a:endParaRPr sz="2000">
              <a:latin typeface="宋体"/>
              <a:cs typeface="宋体"/>
            </a:endParaRPr>
          </a:p>
          <a:p>
            <a:pPr marL="1655445">
              <a:lnSpc>
                <a:spcPct val="100000"/>
              </a:lnSpc>
              <a:spcBef>
                <a:spcPts val="725"/>
              </a:spcBef>
            </a:pPr>
            <a:r>
              <a:rPr dirty="0" sz="2000" spc="-10" b="1">
                <a:solidFill>
                  <a:srgbClr val="00AFEF"/>
                </a:solidFill>
                <a:latin typeface="宋体"/>
                <a:cs typeface="宋体"/>
              </a:rPr>
              <a:t>Cache</a:t>
            </a:r>
            <a:r>
              <a:rPr dirty="0" sz="2000" spc="-25" b="1">
                <a:solidFill>
                  <a:srgbClr val="00AFEF"/>
                </a:solidFill>
                <a:latin typeface="宋体"/>
                <a:cs typeface="宋体"/>
              </a:rPr>
              <a:t>容量≤页大小×相联度</a:t>
            </a:r>
            <a:endParaRPr sz="2000">
              <a:latin typeface="宋体"/>
              <a:cs typeface="宋体"/>
            </a:endParaRPr>
          </a:p>
          <a:p>
            <a:pPr marL="12700">
              <a:lnSpc>
                <a:spcPct val="100000"/>
              </a:lnSpc>
              <a:spcBef>
                <a:spcPts val="810"/>
              </a:spcBef>
            </a:pPr>
            <a:r>
              <a:rPr dirty="0" sz="2400">
                <a:solidFill>
                  <a:srgbClr val="40458B"/>
                </a:solidFill>
                <a:latin typeface="黑体"/>
                <a:cs typeface="黑体"/>
              </a:rPr>
              <a:t>5. </a:t>
            </a:r>
            <a:r>
              <a:rPr dirty="0" sz="2400">
                <a:solidFill>
                  <a:srgbClr val="E14B04"/>
                </a:solidFill>
                <a:latin typeface="黑体"/>
                <a:cs typeface="黑体"/>
              </a:rPr>
              <a:t>举例：IBM3033的</a:t>
            </a:r>
            <a:r>
              <a:rPr dirty="0" sz="2400" spc="-10">
                <a:solidFill>
                  <a:srgbClr val="E14B04"/>
                </a:solidFill>
                <a:latin typeface="黑体"/>
                <a:cs typeface="黑体"/>
              </a:rPr>
              <a:t>Cache</a:t>
            </a:r>
            <a:endParaRPr sz="2400">
              <a:latin typeface="黑体"/>
              <a:cs typeface="黑体"/>
            </a:endParaRPr>
          </a:p>
        </p:txBody>
      </p:sp>
      <p:sp>
        <p:nvSpPr>
          <p:cNvPr id="12" name="object 12" descr=""/>
          <p:cNvSpPr txBox="1"/>
          <p:nvPr/>
        </p:nvSpPr>
        <p:spPr>
          <a:xfrm>
            <a:off x="529539" y="3331286"/>
            <a:ext cx="5075555" cy="1780539"/>
          </a:xfrm>
          <a:prstGeom prst="rect">
            <a:avLst/>
          </a:prstGeom>
        </p:spPr>
        <p:txBody>
          <a:bodyPr wrap="square" lIns="0" tIns="12700" rIns="0" bIns="0" rtlCol="0" vert="horz">
            <a:spAutoFit/>
          </a:bodyPr>
          <a:lstStyle/>
          <a:p>
            <a:pPr marL="1099185" indent="-457200">
              <a:lnSpc>
                <a:spcPct val="100000"/>
              </a:lnSpc>
              <a:spcBef>
                <a:spcPts val="100"/>
              </a:spcBef>
              <a:buSzPct val="89583"/>
              <a:buFont typeface="Wingdings"/>
              <a:buChar char=""/>
              <a:tabLst>
                <a:tab pos="1099185" algn="l"/>
                <a:tab pos="3537585" algn="l"/>
              </a:tabLst>
            </a:pPr>
            <a:r>
              <a:rPr dirty="0" sz="2400" spc="-10">
                <a:solidFill>
                  <a:srgbClr val="40458B"/>
                </a:solidFill>
                <a:latin typeface="黑体"/>
                <a:cs typeface="黑体"/>
              </a:rPr>
              <a:t>页大小</a:t>
            </a:r>
            <a:r>
              <a:rPr dirty="0" sz="2400" spc="-20">
                <a:solidFill>
                  <a:srgbClr val="40458B"/>
                </a:solidFill>
                <a:latin typeface="黑体"/>
                <a:cs typeface="黑体"/>
              </a:rPr>
              <a:t>＝4KB</a:t>
            </a:r>
            <a:r>
              <a:rPr dirty="0" sz="2400">
                <a:solidFill>
                  <a:srgbClr val="40458B"/>
                </a:solidFill>
                <a:latin typeface="黑体"/>
                <a:cs typeface="黑体"/>
              </a:rPr>
              <a:t>	</a:t>
            </a:r>
            <a:r>
              <a:rPr dirty="0" sz="2400" spc="-10">
                <a:solidFill>
                  <a:srgbClr val="40458B"/>
                </a:solidFill>
                <a:latin typeface="黑体"/>
                <a:cs typeface="黑体"/>
              </a:rPr>
              <a:t>相联度</a:t>
            </a:r>
            <a:r>
              <a:rPr dirty="0" sz="2400" spc="-25">
                <a:solidFill>
                  <a:srgbClr val="40458B"/>
                </a:solidFill>
                <a:latin typeface="黑体"/>
                <a:cs typeface="黑体"/>
              </a:rPr>
              <a:t>＝16</a:t>
            </a:r>
            <a:endParaRPr sz="2400">
              <a:latin typeface="黑体"/>
              <a:cs typeface="黑体"/>
            </a:endParaRPr>
          </a:p>
          <a:p>
            <a:pPr>
              <a:lnSpc>
                <a:spcPct val="100000"/>
              </a:lnSpc>
              <a:spcBef>
                <a:spcPts val="900"/>
              </a:spcBef>
              <a:buClr>
                <a:srgbClr val="40458B"/>
              </a:buClr>
              <a:buFont typeface="Wingdings"/>
              <a:buChar char=""/>
            </a:pPr>
            <a:endParaRPr sz="2400">
              <a:latin typeface="黑体"/>
              <a:cs typeface="黑体"/>
            </a:endParaRPr>
          </a:p>
          <a:p>
            <a:pPr marL="1099185" indent="-457200">
              <a:lnSpc>
                <a:spcPct val="100000"/>
              </a:lnSpc>
              <a:spcBef>
                <a:spcPts val="5"/>
              </a:spcBef>
              <a:buSzPct val="89583"/>
              <a:buFont typeface="Wingdings"/>
              <a:buChar char=""/>
              <a:tabLst>
                <a:tab pos="1099185" algn="l"/>
              </a:tabLst>
            </a:pPr>
            <a:r>
              <a:rPr dirty="0" sz="2400">
                <a:solidFill>
                  <a:srgbClr val="40458B"/>
                </a:solidFill>
                <a:latin typeface="黑体"/>
                <a:cs typeface="黑体"/>
              </a:rPr>
              <a:t>Cache容量</a:t>
            </a:r>
            <a:r>
              <a:rPr dirty="0" sz="2400" spc="-10">
                <a:solidFill>
                  <a:srgbClr val="40458B"/>
                </a:solidFill>
                <a:latin typeface="黑体"/>
                <a:cs typeface="黑体"/>
              </a:rPr>
              <a:t>＝16×4KB＝64KB</a:t>
            </a:r>
            <a:endParaRPr sz="2400">
              <a:latin typeface="黑体"/>
              <a:cs typeface="黑体"/>
            </a:endParaRPr>
          </a:p>
          <a:p>
            <a:pPr marL="12700">
              <a:lnSpc>
                <a:spcPct val="100000"/>
              </a:lnSpc>
              <a:spcBef>
                <a:spcPts val="1150"/>
              </a:spcBef>
              <a:tabLst>
                <a:tab pos="469900" algn="l"/>
              </a:tabLst>
            </a:pPr>
            <a:r>
              <a:rPr dirty="0" sz="2400" spc="-25">
                <a:solidFill>
                  <a:srgbClr val="40458B"/>
                </a:solidFill>
                <a:latin typeface="Tahoma"/>
                <a:cs typeface="Tahoma"/>
              </a:rPr>
              <a:t>6.</a:t>
            </a:r>
            <a:r>
              <a:rPr dirty="0" sz="2400">
                <a:solidFill>
                  <a:srgbClr val="40458B"/>
                </a:solidFill>
                <a:latin typeface="Tahoma"/>
                <a:cs typeface="Tahoma"/>
              </a:rPr>
              <a:t>	</a:t>
            </a:r>
            <a:r>
              <a:rPr dirty="0" sz="2400" spc="-15">
                <a:solidFill>
                  <a:srgbClr val="E14B04"/>
                </a:solidFill>
                <a:latin typeface="黑体"/>
                <a:cs typeface="黑体"/>
              </a:rPr>
              <a:t>另一种方法：硬件散列变换</a:t>
            </a:r>
            <a:endParaRPr sz="2400">
              <a:latin typeface="黑体"/>
              <a:cs typeface="黑体"/>
            </a:endParaRPr>
          </a:p>
        </p:txBody>
      </p:sp>
      <p:graphicFrame>
        <p:nvGraphicFramePr>
          <p:cNvPr id="13" name="object 13" descr=""/>
          <p:cNvGraphicFramePr>
            <a:graphicFrameLocks noGrp="1"/>
          </p:cNvGraphicFramePr>
          <p:nvPr/>
        </p:nvGraphicFramePr>
        <p:xfrm>
          <a:off x="6657975" y="2122423"/>
          <a:ext cx="5429250" cy="761365"/>
        </p:xfrm>
        <a:graphic>
          <a:graphicData uri="http://schemas.openxmlformats.org/drawingml/2006/table">
            <a:tbl>
              <a:tblPr firstRow="1" bandRow="1">
                <a:tableStyleId>{2D5ABB26-0587-4C30-8999-92F81FD0307C}</a:tableStyleId>
              </a:tblPr>
              <a:tblGrid>
                <a:gridCol w="2667000"/>
                <a:gridCol w="1506854"/>
                <a:gridCol w="1160779"/>
              </a:tblGrid>
              <a:tr h="381000">
                <a:tc rowSpan="2">
                  <a:txBody>
                    <a:bodyPr/>
                    <a:lstStyle/>
                    <a:p>
                      <a:pPr marL="718820" marR="922655" indent="126364">
                        <a:lnSpc>
                          <a:spcPct val="100000"/>
                        </a:lnSpc>
                        <a:spcBef>
                          <a:spcPts val="819"/>
                        </a:spcBef>
                      </a:pPr>
                      <a:r>
                        <a:rPr dirty="0" sz="2000" spc="-20">
                          <a:latin typeface="宋体"/>
                          <a:cs typeface="宋体"/>
                        </a:rPr>
                        <a:t>页地址</a:t>
                      </a:r>
                      <a:r>
                        <a:rPr dirty="0" sz="2000" spc="-15">
                          <a:latin typeface="宋体"/>
                          <a:cs typeface="宋体"/>
                        </a:rPr>
                        <a:t>地址标识</a:t>
                      </a:r>
                      <a:endParaRPr sz="2000">
                        <a:latin typeface="宋体"/>
                        <a:cs typeface="宋体"/>
                      </a:endParaRPr>
                    </a:p>
                  </a:txBody>
                  <a:tcPr marL="0" marR="0" marB="0" marT="104139">
                    <a:lnL w="19050">
                      <a:solidFill>
                        <a:srgbClr val="40458B"/>
                      </a:solidFill>
                      <a:prstDash val="solid"/>
                    </a:lnL>
                    <a:lnR w="19050">
                      <a:solidFill>
                        <a:srgbClr val="40458B"/>
                      </a:solidFill>
                      <a:prstDash val="solid"/>
                    </a:lnR>
                    <a:lnT w="19050">
                      <a:solidFill>
                        <a:srgbClr val="40458B"/>
                      </a:solidFill>
                      <a:prstDash val="solid"/>
                    </a:lnT>
                    <a:lnB w="19050">
                      <a:solidFill>
                        <a:srgbClr val="40458B"/>
                      </a:solidFill>
                      <a:prstDash val="solid"/>
                    </a:lnB>
                    <a:solidFill>
                      <a:srgbClr val="FBFCCD"/>
                    </a:solidFill>
                  </a:tcPr>
                </a:tc>
                <a:tc gridSpan="2">
                  <a:txBody>
                    <a:bodyPr/>
                    <a:lstStyle/>
                    <a:p>
                      <a:pPr marL="760730">
                        <a:lnSpc>
                          <a:spcPct val="100000"/>
                        </a:lnSpc>
                        <a:spcBef>
                          <a:spcPts val="245"/>
                        </a:spcBef>
                      </a:pPr>
                      <a:r>
                        <a:rPr dirty="0" sz="2000" spc="-15">
                          <a:latin typeface="宋体"/>
                          <a:cs typeface="宋体"/>
                        </a:rPr>
                        <a:t>页内位移</a:t>
                      </a:r>
                      <a:endParaRPr sz="2000">
                        <a:latin typeface="宋体"/>
                        <a:cs typeface="宋体"/>
                      </a:endParaRPr>
                    </a:p>
                  </a:txBody>
                  <a:tcPr marL="0" marR="0" marB="0" marT="31115">
                    <a:lnL w="19050">
                      <a:solidFill>
                        <a:srgbClr val="40458B"/>
                      </a:solidFill>
                      <a:prstDash val="solid"/>
                    </a:lnL>
                    <a:lnR w="19050">
                      <a:solidFill>
                        <a:srgbClr val="40458B"/>
                      </a:solidFill>
                      <a:prstDash val="solid"/>
                    </a:lnR>
                    <a:lnT w="19050">
                      <a:solidFill>
                        <a:srgbClr val="40458B"/>
                      </a:solidFill>
                      <a:prstDash val="solid"/>
                    </a:lnT>
                    <a:lnB w="9525">
                      <a:solidFill>
                        <a:srgbClr val="3B428A"/>
                      </a:solidFill>
                      <a:prstDash val="solid"/>
                    </a:lnB>
                    <a:solidFill>
                      <a:srgbClr val="FBFCCD"/>
                    </a:solidFill>
                  </a:tcPr>
                </a:tc>
                <a:tc hMerge="1">
                  <a:txBody>
                    <a:bodyPr/>
                    <a:lstStyle/>
                    <a:p>
                      <a:pPr/>
                    </a:p>
                  </a:txBody>
                  <a:tcPr marL="0" marR="0" marB="0" marT="0"/>
                </a:tc>
              </a:tr>
              <a:tr h="380365">
                <a:tc vMerge="1">
                  <a:txBody>
                    <a:bodyPr/>
                    <a:lstStyle/>
                    <a:p>
                      <a:pPr/>
                    </a:p>
                  </a:txBody>
                  <a:tcPr marL="0" marR="0" marB="0" marT="104139">
                    <a:lnL w="19050">
                      <a:solidFill>
                        <a:srgbClr val="40458B"/>
                      </a:solidFill>
                      <a:prstDash val="solid"/>
                    </a:lnL>
                    <a:lnR w="19050">
                      <a:solidFill>
                        <a:srgbClr val="40458B"/>
                      </a:solidFill>
                      <a:prstDash val="solid"/>
                    </a:lnR>
                    <a:lnT w="19050">
                      <a:solidFill>
                        <a:srgbClr val="40458B"/>
                      </a:solidFill>
                      <a:prstDash val="solid"/>
                    </a:lnT>
                    <a:lnB w="19050">
                      <a:solidFill>
                        <a:srgbClr val="40458B"/>
                      </a:solidFill>
                      <a:prstDash val="solid"/>
                    </a:lnB>
                    <a:solidFill>
                      <a:srgbClr val="FBFCCD"/>
                    </a:solidFill>
                  </a:tcPr>
                </a:tc>
                <a:tc>
                  <a:txBody>
                    <a:bodyPr/>
                    <a:lstStyle/>
                    <a:p>
                      <a:pPr marL="379730">
                        <a:lnSpc>
                          <a:spcPct val="100000"/>
                        </a:lnSpc>
                        <a:spcBef>
                          <a:spcPts val="85"/>
                        </a:spcBef>
                        <a:tabLst>
                          <a:tab pos="889000" algn="l"/>
                        </a:tabLst>
                      </a:pPr>
                      <a:r>
                        <a:rPr dirty="0" sz="2000" spc="-50">
                          <a:latin typeface="宋体"/>
                          <a:cs typeface="宋体"/>
                        </a:rPr>
                        <a:t>索</a:t>
                      </a:r>
                      <a:r>
                        <a:rPr dirty="0" sz="2000">
                          <a:latin typeface="宋体"/>
                          <a:cs typeface="宋体"/>
                        </a:rPr>
                        <a:t>	</a:t>
                      </a:r>
                      <a:r>
                        <a:rPr dirty="0" sz="2000" spc="-50">
                          <a:latin typeface="宋体"/>
                          <a:cs typeface="宋体"/>
                        </a:rPr>
                        <a:t>引</a:t>
                      </a:r>
                      <a:endParaRPr sz="2000">
                        <a:latin typeface="宋体"/>
                        <a:cs typeface="宋体"/>
                      </a:endParaRPr>
                    </a:p>
                  </a:txBody>
                  <a:tcPr marL="0" marR="0" marB="0" marT="10795">
                    <a:lnL w="19050">
                      <a:solidFill>
                        <a:srgbClr val="40458B"/>
                      </a:solidFill>
                      <a:prstDash val="solid"/>
                    </a:lnL>
                    <a:lnR w="9525">
                      <a:solidFill>
                        <a:srgbClr val="40458B"/>
                      </a:solidFill>
                      <a:prstDash val="solid"/>
                    </a:lnR>
                    <a:lnT w="9525">
                      <a:solidFill>
                        <a:srgbClr val="3B428A"/>
                      </a:solidFill>
                      <a:prstDash val="solid"/>
                    </a:lnT>
                    <a:lnB w="19050">
                      <a:solidFill>
                        <a:srgbClr val="40458B"/>
                      </a:solidFill>
                      <a:prstDash val="solid"/>
                    </a:lnB>
                    <a:solidFill>
                      <a:srgbClr val="FBFCCD"/>
                    </a:solidFill>
                  </a:tcPr>
                </a:tc>
                <a:tc>
                  <a:txBody>
                    <a:bodyPr/>
                    <a:lstStyle/>
                    <a:p>
                      <a:pPr marL="92075">
                        <a:lnSpc>
                          <a:spcPct val="100000"/>
                        </a:lnSpc>
                        <a:spcBef>
                          <a:spcPts val="110"/>
                        </a:spcBef>
                      </a:pPr>
                      <a:r>
                        <a:rPr dirty="0" sz="2000" spc="-15">
                          <a:latin typeface="宋体"/>
                          <a:cs typeface="宋体"/>
                        </a:rPr>
                        <a:t>块内位移</a:t>
                      </a:r>
                      <a:endParaRPr sz="2000">
                        <a:latin typeface="宋体"/>
                        <a:cs typeface="宋体"/>
                      </a:endParaRPr>
                    </a:p>
                  </a:txBody>
                  <a:tcPr marL="0" marR="0" marB="0" marT="13970">
                    <a:lnL w="9525">
                      <a:solidFill>
                        <a:srgbClr val="40458B"/>
                      </a:solidFill>
                      <a:prstDash val="solid"/>
                    </a:lnL>
                    <a:lnR w="19050">
                      <a:solidFill>
                        <a:srgbClr val="40458B"/>
                      </a:solidFill>
                      <a:prstDash val="solid"/>
                    </a:lnR>
                    <a:lnT w="9525">
                      <a:solidFill>
                        <a:srgbClr val="3B428A"/>
                      </a:solidFill>
                      <a:prstDash val="solid"/>
                    </a:lnT>
                    <a:lnB w="19050">
                      <a:solidFill>
                        <a:srgbClr val="40458B"/>
                      </a:solidFill>
                      <a:prstDash val="solid"/>
                    </a:lnB>
                    <a:solidFill>
                      <a:srgbClr val="FBFCCD"/>
                    </a:solidFill>
                  </a:tcPr>
                </a:tc>
              </a:tr>
            </a:tbl>
          </a:graphicData>
        </a:graphic>
      </p:graphicFrame>
      <p:sp>
        <p:nvSpPr>
          <p:cNvPr id="14" name="object 14" descr=""/>
          <p:cNvSpPr txBox="1"/>
          <p:nvPr/>
        </p:nvSpPr>
        <p:spPr>
          <a:xfrm>
            <a:off x="6680454" y="1749044"/>
            <a:ext cx="330200" cy="391160"/>
          </a:xfrm>
          <a:prstGeom prst="rect">
            <a:avLst/>
          </a:prstGeom>
        </p:spPr>
        <p:txBody>
          <a:bodyPr wrap="square" lIns="0" tIns="12700" rIns="0" bIns="0" rtlCol="0" vert="horz">
            <a:spAutoFit/>
          </a:bodyPr>
          <a:lstStyle/>
          <a:p>
            <a:pPr marL="12700">
              <a:lnSpc>
                <a:spcPct val="100000"/>
              </a:lnSpc>
              <a:spcBef>
                <a:spcPts val="100"/>
              </a:spcBef>
            </a:pPr>
            <a:r>
              <a:rPr dirty="0" sz="2400" spc="-25">
                <a:latin typeface="Times New Roman"/>
                <a:cs typeface="Times New Roman"/>
              </a:rPr>
              <a:t>31</a:t>
            </a:r>
            <a:endParaRPr sz="2400">
              <a:latin typeface="Times New Roman"/>
              <a:cs typeface="Times New Roman"/>
            </a:endParaRPr>
          </a:p>
        </p:txBody>
      </p:sp>
      <p:sp>
        <p:nvSpPr>
          <p:cNvPr id="15" name="object 15" descr=""/>
          <p:cNvSpPr txBox="1"/>
          <p:nvPr/>
        </p:nvSpPr>
        <p:spPr>
          <a:xfrm>
            <a:off x="8892031" y="1738121"/>
            <a:ext cx="777240" cy="391160"/>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latin typeface="Times New Roman"/>
                <a:cs typeface="Times New Roman"/>
              </a:rPr>
              <a:t>12</a:t>
            </a:r>
            <a:r>
              <a:rPr dirty="0" sz="2400">
                <a:latin typeface="Times New Roman"/>
                <a:cs typeface="Times New Roman"/>
              </a:rPr>
              <a:t>	</a:t>
            </a:r>
            <a:r>
              <a:rPr dirty="0" sz="2400" spc="-25">
                <a:latin typeface="Times New Roman"/>
                <a:cs typeface="Times New Roman"/>
              </a:rPr>
              <a:t>11</a:t>
            </a:r>
            <a:endParaRPr sz="2400">
              <a:latin typeface="Times New Roman"/>
              <a:cs typeface="Times New Roman"/>
            </a:endParaRPr>
          </a:p>
        </p:txBody>
      </p:sp>
      <p:sp>
        <p:nvSpPr>
          <p:cNvPr id="16" name="object 16" descr=""/>
          <p:cNvSpPr txBox="1"/>
          <p:nvPr/>
        </p:nvSpPr>
        <p:spPr>
          <a:xfrm>
            <a:off x="11773661" y="1738121"/>
            <a:ext cx="177800" cy="391160"/>
          </a:xfrm>
          <a:prstGeom prst="rect">
            <a:avLst/>
          </a:prstGeom>
        </p:spPr>
        <p:txBody>
          <a:bodyPr wrap="square" lIns="0" tIns="12700" rIns="0" bIns="0" rtlCol="0" vert="horz">
            <a:spAutoFit/>
          </a:bodyPr>
          <a:lstStyle/>
          <a:p>
            <a:pPr marL="12700">
              <a:lnSpc>
                <a:spcPct val="100000"/>
              </a:lnSpc>
              <a:spcBef>
                <a:spcPts val="100"/>
              </a:spcBef>
            </a:pPr>
            <a:r>
              <a:rPr dirty="0" sz="2400" spc="-50">
                <a:latin typeface="Times New Roman"/>
                <a:cs typeface="Times New Roman"/>
              </a:rPr>
              <a:t>0</a:t>
            </a:r>
            <a:endParaRPr sz="2400">
              <a:latin typeface="Times New Roman"/>
              <a:cs typeface="Times New Roman"/>
            </a:endParaRPr>
          </a:p>
        </p:txBody>
      </p:sp>
      <p:sp>
        <p:nvSpPr>
          <p:cNvPr id="17" name="object 17" descr=""/>
          <p:cNvSpPr txBox="1"/>
          <p:nvPr/>
        </p:nvSpPr>
        <p:spPr>
          <a:xfrm>
            <a:off x="7305802" y="3070605"/>
            <a:ext cx="4333875" cy="269240"/>
          </a:xfrm>
          <a:prstGeom prst="rect">
            <a:avLst/>
          </a:prstGeom>
        </p:spPr>
        <p:txBody>
          <a:bodyPr wrap="square" lIns="0" tIns="12065" rIns="0" bIns="0" rtlCol="0" vert="horz">
            <a:spAutoFit/>
          </a:bodyPr>
          <a:lstStyle/>
          <a:p>
            <a:pPr marL="12700">
              <a:lnSpc>
                <a:spcPct val="100000"/>
              </a:lnSpc>
              <a:spcBef>
                <a:spcPts val="95"/>
              </a:spcBef>
            </a:pPr>
            <a:r>
              <a:rPr dirty="0" sz="1600" spc="-10">
                <a:solidFill>
                  <a:srgbClr val="40458B"/>
                </a:solidFill>
                <a:latin typeface="黑体"/>
                <a:cs typeface="黑体"/>
              </a:rPr>
              <a:t>图</a:t>
            </a:r>
            <a:r>
              <a:rPr dirty="0" sz="1600" spc="-10">
                <a:solidFill>
                  <a:srgbClr val="40458B"/>
                </a:solidFill>
                <a:latin typeface="Tahoma"/>
                <a:cs typeface="Tahoma"/>
              </a:rPr>
              <a:t>7.25</a:t>
            </a:r>
            <a:r>
              <a:rPr dirty="0" sz="1600" spc="20">
                <a:solidFill>
                  <a:srgbClr val="40458B"/>
                </a:solidFill>
                <a:latin typeface="Tahoma"/>
                <a:cs typeface="Tahoma"/>
              </a:rPr>
              <a:t> </a:t>
            </a:r>
            <a:r>
              <a:rPr dirty="0" sz="1600" spc="-30">
                <a:solidFill>
                  <a:srgbClr val="40458B"/>
                </a:solidFill>
                <a:latin typeface="黑体"/>
                <a:cs typeface="黑体"/>
              </a:rPr>
              <a:t>对三种方式，索引字段和页内位移的关系</a:t>
            </a:r>
            <a:endParaRPr sz="1600">
              <a:latin typeface="黑体"/>
              <a:cs typeface="黑体"/>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25192" y="24129"/>
            <a:ext cx="286893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1350391" y="734695"/>
            <a:ext cx="9932035" cy="4347210"/>
          </a:xfrm>
          <a:prstGeom prst="rect">
            <a:avLst/>
          </a:prstGeom>
        </p:spPr>
        <p:txBody>
          <a:bodyPr wrap="square" lIns="0" tIns="13335" rIns="0" bIns="0" rtlCol="0" vert="horz">
            <a:spAutoFit/>
          </a:bodyPr>
          <a:lstStyle/>
          <a:p>
            <a:pPr marL="515620">
              <a:lnSpc>
                <a:spcPct val="100000"/>
              </a:lnSpc>
              <a:spcBef>
                <a:spcPts val="105"/>
              </a:spcBef>
            </a:pPr>
            <a:r>
              <a:rPr dirty="0" sz="2600">
                <a:solidFill>
                  <a:srgbClr val="0000CC"/>
                </a:solidFill>
                <a:latin typeface="黑体"/>
                <a:cs typeface="黑体"/>
              </a:rPr>
              <a:t>7.5.3</a:t>
            </a:r>
            <a:r>
              <a:rPr dirty="0" sz="2600" spc="20">
                <a:solidFill>
                  <a:srgbClr val="0000CC"/>
                </a:solidFill>
                <a:latin typeface="黑体"/>
                <a:cs typeface="黑体"/>
              </a:rPr>
              <a:t> </a:t>
            </a:r>
            <a:r>
              <a:rPr dirty="0" sz="2600" spc="-10">
                <a:solidFill>
                  <a:srgbClr val="0000CC"/>
                </a:solidFill>
                <a:latin typeface="黑体"/>
                <a:cs typeface="黑体"/>
              </a:rPr>
              <a:t>Cache访问流水化</a:t>
            </a:r>
            <a:endParaRPr sz="2600">
              <a:latin typeface="黑体"/>
              <a:cs typeface="黑体"/>
            </a:endParaRPr>
          </a:p>
          <a:p>
            <a:pPr marL="469265" indent="-456565">
              <a:lnSpc>
                <a:spcPct val="100000"/>
              </a:lnSpc>
              <a:spcBef>
                <a:spcPts val="2380"/>
              </a:spcBef>
              <a:buClr>
                <a:srgbClr val="40458B"/>
              </a:buClr>
              <a:buAutoNum type="arabicPeriod"/>
              <a:tabLst>
                <a:tab pos="469265" algn="l"/>
              </a:tabLst>
            </a:pPr>
            <a:r>
              <a:rPr dirty="0" sz="2400">
                <a:solidFill>
                  <a:srgbClr val="E14B04"/>
                </a:solidFill>
                <a:latin typeface="黑体"/>
                <a:cs typeface="黑体"/>
              </a:rPr>
              <a:t>对第一级Cache</a:t>
            </a:r>
            <a:r>
              <a:rPr dirty="0" sz="2400" spc="-5">
                <a:solidFill>
                  <a:srgbClr val="E14B04"/>
                </a:solidFill>
                <a:latin typeface="黑体"/>
                <a:cs typeface="黑体"/>
              </a:rPr>
              <a:t>的访问按流水方式组织</a:t>
            </a:r>
            <a:endParaRPr sz="2400">
              <a:latin typeface="黑体"/>
              <a:cs typeface="黑体"/>
            </a:endParaRPr>
          </a:p>
          <a:p>
            <a:pPr marL="469265" indent="-456565">
              <a:lnSpc>
                <a:spcPct val="100000"/>
              </a:lnSpc>
              <a:spcBef>
                <a:spcPts val="1155"/>
              </a:spcBef>
              <a:buClr>
                <a:srgbClr val="40458B"/>
              </a:buClr>
              <a:buAutoNum type="arabicPeriod"/>
              <a:tabLst>
                <a:tab pos="469265" algn="l"/>
              </a:tabLst>
            </a:pPr>
            <a:r>
              <a:rPr dirty="0" sz="2400" spc="-10">
                <a:solidFill>
                  <a:srgbClr val="E14B04"/>
                </a:solidFill>
                <a:latin typeface="黑体"/>
                <a:cs typeface="黑体"/>
              </a:rPr>
              <a:t>访问Cache</a:t>
            </a:r>
            <a:r>
              <a:rPr dirty="0" sz="2400" spc="-15">
                <a:solidFill>
                  <a:srgbClr val="E14B04"/>
                </a:solidFill>
                <a:latin typeface="黑体"/>
                <a:cs typeface="黑体"/>
              </a:rPr>
              <a:t>需要多个时钟周期才可以完成</a:t>
            </a:r>
            <a:endParaRPr sz="2400">
              <a:latin typeface="黑体"/>
              <a:cs typeface="黑体"/>
            </a:endParaRPr>
          </a:p>
          <a:p>
            <a:pPr marL="641985">
              <a:lnSpc>
                <a:spcPct val="100000"/>
              </a:lnSpc>
              <a:spcBef>
                <a:spcPts val="1150"/>
              </a:spcBef>
            </a:pPr>
            <a:r>
              <a:rPr dirty="0" sz="2400" spc="-25">
                <a:solidFill>
                  <a:srgbClr val="40458B"/>
                </a:solidFill>
                <a:latin typeface="黑体"/>
                <a:cs typeface="黑体"/>
              </a:rPr>
              <a:t>例如</a:t>
            </a:r>
            <a:endParaRPr sz="2400">
              <a:latin typeface="黑体"/>
              <a:cs typeface="黑体"/>
            </a:endParaRPr>
          </a:p>
          <a:p>
            <a:pPr lvl="1" marL="1727200" indent="-457200">
              <a:lnSpc>
                <a:spcPct val="100000"/>
              </a:lnSpc>
              <a:spcBef>
                <a:spcPts val="1025"/>
              </a:spcBef>
              <a:buClr>
                <a:srgbClr val="4668F5"/>
              </a:buClr>
              <a:buSzPct val="60000"/>
              <a:buFont typeface="Wingdings"/>
              <a:buChar char=""/>
              <a:tabLst>
                <a:tab pos="1727200" algn="l"/>
              </a:tabLst>
            </a:pPr>
            <a:r>
              <a:rPr dirty="0" sz="2000" spc="-10" b="1">
                <a:latin typeface="宋体"/>
                <a:cs typeface="宋体"/>
              </a:rPr>
              <a:t>Pentium</a:t>
            </a:r>
            <a:r>
              <a:rPr dirty="0" sz="2000" spc="-20" b="1">
                <a:latin typeface="宋体"/>
                <a:cs typeface="宋体"/>
              </a:rPr>
              <a:t>访问指令</a:t>
            </a:r>
            <a:r>
              <a:rPr dirty="0" sz="2000" spc="-10" b="1">
                <a:latin typeface="宋体"/>
                <a:cs typeface="宋体"/>
              </a:rPr>
              <a:t>Cache需要</a:t>
            </a:r>
            <a:r>
              <a:rPr dirty="0" sz="2000" spc="-15" b="1">
                <a:solidFill>
                  <a:srgbClr val="9933FF"/>
                </a:solidFill>
                <a:latin typeface="宋体"/>
                <a:cs typeface="宋体"/>
              </a:rPr>
              <a:t>一个</a:t>
            </a:r>
            <a:r>
              <a:rPr dirty="0" sz="2000" spc="-25" b="1">
                <a:latin typeface="宋体"/>
                <a:cs typeface="宋体"/>
              </a:rPr>
              <a:t>时钟周期</a:t>
            </a:r>
            <a:endParaRPr sz="2000">
              <a:latin typeface="宋体"/>
              <a:cs typeface="宋体"/>
            </a:endParaRPr>
          </a:p>
          <a:p>
            <a:pPr lvl="1" marL="1727200" indent="-457200">
              <a:lnSpc>
                <a:spcPct val="100000"/>
              </a:lnSpc>
              <a:spcBef>
                <a:spcPts val="960"/>
              </a:spcBef>
              <a:buClr>
                <a:srgbClr val="4668F5"/>
              </a:buClr>
              <a:buSzPct val="60000"/>
              <a:buFont typeface="Wingdings"/>
              <a:buChar char=""/>
              <a:tabLst>
                <a:tab pos="1727200" algn="l"/>
              </a:tabLst>
            </a:pPr>
            <a:r>
              <a:rPr dirty="0" sz="2000" b="1">
                <a:latin typeface="宋体"/>
                <a:cs typeface="宋体"/>
              </a:rPr>
              <a:t>Pentium</a:t>
            </a:r>
            <a:r>
              <a:rPr dirty="0" sz="2000" spc="-35" b="1">
                <a:latin typeface="宋体"/>
                <a:cs typeface="宋体"/>
              </a:rPr>
              <a:t> </a:t>
            </a:r>
            <a:r>
              <a:rPr dirty="0" sz="2000" b="1">
                <a:latin typeface="宋体"/>
                <a:cs typeface="宋体"/>
              </a:rPr>
              <a:t>Pro</a:t>
            </a:r>
            <a:r>
              <a:rPr dirty="0" sz="2000" spc="-15" b="1">
                <a:latin typeface="宋体"/>
                <a:cs typeface="宋体"/>
              </a:rPr>
              <a:t>到</a:t>
            </a:r>
            <a:r>
              <a:rPr dirty="0" sz="2000" b="1">
                <a:latin typeface="宋体"/>
                <a:cs typeface="宋体"/>
              </a:rPr>
              <a:t>Pentium</a:t>
            </a:r>
            <a:r>
              <a:rPr dirty="0" sz="2000" spc="-15" b="1">
                <a:latin typeface="宋体"/>
                <a:cs typeface="宋体"/>
              </a:rPr>
              <a:t> Ⅲ需要</a:t>
            </a:r>
            <a:r>
              <a:rPr dirty="0" sz="2000" spc="-15" b="1">
                <a:solidFill>
                  <a:srgbClr val="9933FF"/>
                </a:solidFill>
                <a:latin typeface="宋体"/>
                <a:cs typeface="宋体"/>
              </a:rPr>
              <a:t>两个</a:t>
            </a:r>
            <a:r>
              <a:rPr dirty="0" sz="2000" spc="-25" b="1">
                <a:latin typeface="宋体"/>
                <a:cs typeface="宋体"/>
              </a:rPr>
              <a:t>时钟周期</a:t>
            </a:r>
            <a:endParaRPr sz="2000">
              <a:latin typeface="宋体"/>
              <a:cs typeface="宋体"/>
            </a:endParaRPr>
          </a:p>
          <a:p>
            <a:pPr lvl="1" marL="1727200" indent="-457200">
              <a:lnSpc>
                <a:spcPct val="100000"/>
              </a:lnSpc>
              <a:spcBef>
                <a:spcPts val="965"/>
              </a:spcBef>
              <a:buClr>
                <a:srgbClr val="4668F5"/>
              </a:buClr>
              <a:buSzPct val="60000"/>
              <a:buFont typeface="Wingdings"/>
              <a:buChar char=""/>
              <a:tabLst>
                <a:tab pos="1727200" algn="l"/>
              </a:tabLst>
            </a:pPr>
            <a:r>
              <a:rPr dirty="0" sz="2000" b="1">
                <a:latin typeface="宋体"/>
                <a:cs typeface="宋体"/>
              </a:rPr>
              <a:t>Pentium</a:t>
            </a:r>
            <a:r>
              <a:rPr dirty="0" sz="2000" spc="-65" b="1">
                <a:latin typeface="宋体"/>
                <a:cs typeface="宋体"/>
              </a:rPr>
              <a:t> </a:t>
            </a:r>
            <a:r>
              <a:rPr dirty="0" sz="2000" b="1">
                <a:latin typeface="宋体"/>
                <a:cs typeface="宋体"/>
              </a:rPr>
              <a:t>4</a:t>
            </a:r>
            <a:r>
              <a:rPr dirty="0" sz="2000" spc="-10" b="1">
                <a:latin typeface="宋体"/>
                <a:cs typeface="宋体"/>
              </a:rPr>
              <a:t> 则需要</a:t>
            </a:r>
            <a:r>
              <a:rPr dirty="0" sz="2000" spc="-10" b="1">
                <a:solidFill>
                  <a:srgbClr val="9933FF"/>
                </a:solidFill>
                <a:latin typeface="宋体"/>
                <a:cs typeface="宋体"/>
              </a:rPr>
              <a:t>4个</a:t>
            </a:r>
            <a:r>
              <a:rPr dirty="0" sz="2000" spc="-25" b="1">
                <a:latin typeface="宋体"/>
                <a:cs typeface="宋体"/>
              </a:rPr>
              <a:t>时钟周期</a:t>
            </a:r>
            <a:endParaRPr sz="2000">
              <a:latin typeface="宋体"/>
              <a:cs typeface="宋体"/>
            </a:endParaRPr>
          </a:p>
          <a:p>
            <a:pPr marL="12700" marR="5080">
              <a:lnSpc>
                <a:spcPct val="120000"/>
              </a:lnSpc>
              <a:spcBef>
                <a:spcPts val="509"/>
              </a:spcBef>
            </a:pPr>
            <a:r>
              <a:rPr dirty="0" sz="2400" spc="-5">
                <a:solidFill>
                  <a:srgbClr val="E14B04"/>
                </a:solidFill>
                <a:latin typeface="黑体"/>
                <a:cs typeface="黑体"/>
              </a:rPr>
              <a:t>使用流水线虽然不能真正减少</a:t>
            </a:r>
            <a:r>
              <a:rPr dirty="0" sz="2400">
                <a:solidFill>
                  <a:srgbClr val="E14B04"/>
                </a:solidFill>
                <a:latin typeface="宋体"/>
                <a:cs typeface="宋体"/>
              </a:rPr>
              <a:t>Cache</a:t>
            </a:r>
            <a:r>
              <a:rPr dirty="0" sz="2400" spc="-5">
                <a:solidFill>
                  <a:srgbClr val="E14B04"/>
                </a:solidFill>
                <a:latin typeface="黑体"/>
                <a:cs typeface="黑体"/>
              </a:rPr>
              <a:t>命中时间，但是可以提高时钟频率，通过提高</a:t>
            </a:r>
            <a:r>
              <a:rPr dirty="0" sz="2400" spc="-10">
                <a:solidFill>
                  <a:srgbClr val="E14B04"/>
                </a:solidFill>
                <a:latin typeface="宋体"/>
                <a:cs typeface="宋体"/>
              </a:rPr>
              <a:t>Cache</a:t>
            </a:r>
            <a:r>
              <a:rPr dirty="0" sz="2400" spc="-10">
                <a:solidFill>
                  <a:srgbClr val="E14B04"/>
                </a:solidFill>
                <a:latin typeface="黑体"/>
                <a:cs typeface="黑体"/>
              </a:rPr>
              <a:t>的效率来提高</a:t>
            </a:r>
            <a:r>
              <a:rPr dirty="0" sz="2400" spc="-10">
                <a:solidFill>
                  <a:srgbClr val="E14B04"/>
                </a:solidFill>
                <a:latin typeface="宋体"/>
                <a:cs typeface="宋体"/>
              </a:rPr>
              <a:t>Cache</a:t>
            </a:r>
            <a:r>
              <a:rPr dirty="0" sz="2400" spc="-20">
                <a:solidFill>
                  <a:srgbClr val="E14B04"/>
                </a:solidFill>
                <a:latin typeface="黑体"/>
                <a:cs typeface="黑体"/>
              </a:rPr>
              <a:t>的带宽。</a:t>
            </a:r>
            <a:endParaRPr sz="2400">
              <a:latin typeface="黑体"/>
              <a:cs typeface="黑体"/>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129/170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01114" y="79629"/>
            <a:ext cx="286893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609091" y="928243"/>
            <a:ext cx="11160125" cy="5387340"/>
          </a:xfrm>
          <a:prstGeom prst="rect">
            <a:avLst/>
          </a:prstGeom>
        </p:spPr>
        <p:txBody>
          <a:bodyPr wrap="square" lIns="0" tIns="13335" rIns="0" bIns="0" rtlCol="0" vert="horz">
            <a:spAutoFit/>
          </a:bodyPr>
          <a:lstStyle/>
          <a:p>
            <a:pPr marL="393065" marR="1178560">
              <a:lnSpc>
                <a:spcPct val="100000"/>
              </a:lnSpc>
              <a:spcBef>
                <a:spcPts val="105"/>
              </a:spcBef>
            </a:pPr>
            <a:r>
              <a:rPr dirty="0" sz="2600">
                <a:solidFill>
                  <a:srgbClr val="0000CC"/>
                </a:solidFill>
                <a:latin typeface="黑体"/>
                <a:cs typeface="黑体"/>
              </a:rPr>
              <a:t>踪迹 </a:t>
            </a:r>
            <a:r>
              <a:rPr dirty="0" sz="2600" spc="-10">
                <a:solidFill>
                  <a:srgbClr val="0000CC"/>
                </a:solidFill>
                <a:latin typeface="黑体"/>
                <a:cs typeface="黑体"/>
              </a:rPr>
              <a:t>Cache</a:t>
            </a:r>
            <a:r>
              <a:rPr dirty="0" sz="2600" spc="-20">
                <a:solidFill>
                  <a:srgbClr val="0000CC"/>
                </a:solidFill>
                <a:latin typeface="黑体"/>
                <a:cs typeface="黑体"/>
              </a:rPr>
              <a:t>也称为执行踪迹缓存，是一种非常专业的缓存，它存储</a:t>
            </a:r>
            <a:r>
              <a:rPr dirty="0" sz="2600" spc="-15">
                <a:solidFill>
                  <a:srgbClr val="0000CC"/>
                </a:solidFill>
                <a:latin typeface="黑体"/>
                <a:cs typeface="黑体"/>
              </a:rPr>
              <a:t>了踪迹的动态指令流。</a:t>
            </a:r>
            <a:endParaRPr sz="2600">
              <a:latin typeface="黑体"/>
              <a:cs typeface="黑体"/>
            </a:endParaRPr>
          </a:p>
          <a:p>
            <a:pPr marL="496570" indent="-457200">
              <a:lnSpc>
                <a:spcPct val="100000"/>
              </a:lnSpc>
              <a:spcBef>
                <a:spcPts val="900"/>
              </a:spcBef>
              <a:buClr>
                <a:srgbClr val="40458B"/>
              </a:buClr>
              <a:buFont typeface="Tahoma"/>
              <a:buAutoNum type="arabicPeriod"/>
              <a:tabLst>
                <a:tab pos="496570" algn="l"/>
              </a:tabLst>
            </a:pPr>
            <a:r>
              <a:rPr dirty="0" sz="2400" spc="-5">
                <a:solidFill>
                  <a:srgbClr val="E14B04"/>
                </a:solidFill>
                <a:latin typeface="黑体"/>
                <a:cs typeface="黑体"/>
              </a:rPr>
              <a:t>开发指令级并行性所遇到的一个挑战是：</a:t>
            </a:r>
            <a:endParaRPr sz="2400">
              <a:latin typeface="黑体"/>
              <a:cs typeface="黑体"/>
            </a:endParaRPr>
          </a:p>
          <a:p>
            <a:pPr marL="1278255">
              <a:lnSpc>
                <a:spcPct val="100000"/>
              </a:lnSpc>
              <a:spcBef>
                <a:spcPts val="1155"/>
              </a:spcBef>
            </a:pPr>
            <a:r>
              <a:rPr dirty="0" sz="2400" spc="-10">
                <a:solidFill>
                  <a:srgbClr val="40458B"/>
                </a:solidFill>
                <a:latin typeface="黑体"/>
                <a:cs typeface="黑体"/>
              </a:rPr>
              <a:t>当要每个时钟周期流出超过4</a:t>
            </a:r>
            <a:r>
              <a:rPr dirty="0" sz="2400" spc="-5">
                <a:solidFill>
                  <a:srgbClr val="40458B"/>
                </a:solidFill>
                <a:latin typeface="黑体"/>
                <a:cs typeface="黑体"/>
              </a:rPr>
              <a:t>条指令时，要提供足够多条彼此互不相关的</a:t>
            </a:r>
            <a:endParaRPr sz="2400">
              <a:latin typeface="黑体"/>
              <a:cs typeface="黑体"/>
            </a:endParaRPr>
          </a:p>
          <a:p>
            <a:pPr marL="1125855">
              <a:lnSpc>
                <a:spcPct val="100000"/>
              </a:lnSpc>
              <a:spcBef>
                <a:spcPts val="575"/>
              </a:spcBef>
            </a:pPr>
            <a:r>
              <a:rPr dirty="0" sz="2400" spc="-10">
                <a:solidFill>
                  <a:srgbClr val="40458B"/>
                </a:solidFill>
                <a:latin typeface="黑体"/>
                <a:cs typeface="黑体"/>
              </a:rPr>
              <a:t>指令是很困难的。</a:t>
            </a:r>
            <a:endParaRPr sz="2400">
              <a:latin typeface="黑体"/>
              <a:cs typeface="黑体"/>
            </a:endParaRPr>
          </a:p>
          <a:p>
            <a:pPr marL="496570" indent="-457200">
              <a:lnSpc>
                <a:spcPct val="100000"/>
              </a:lnSpc>
              <a:spcBef>
                <a:spcPts val="1150"/>
              </a:spcBef>
              <a:buClr>
                <a:srgbClr val="40458B"/>
              </a:buClr>
              <a:buAutoNum type="arabicPeriod" startAt="2"/>
              <a:tabLst>
                <a:tab pos="496570" algn="l"/>
              </a:tabLst>
            </a:pPr>
            <a:r>
              <a:rPr dirty="0" sz="2400">
                <a:solidFill>
                  <a:srgbClr val="E14B04"/>
                </a:solidFill>
                <a:latin typeface="黑体"/>
                <a:cs typeface="黑体"/>
              </a:rPr>
              <a:t>一个解决方法：</a:t>
            </a:r>
            <a:r>
              <a:rPr dirty="0" sz="2400" spc="-5">
                <a:solidFill>
                  <a:srgbClr val="D50092"/>
                </a:solidFill>
                <a:latin typeface="黑体"/>
                <a:cs typeface="黑体"/>
              </a:rPr>
              <a:t>采用踪迹 </a:t>
            </a:r>
            <a:r>
              <a:rPr dirty="0" sz="2400" spc="-10">
                <a:solidFill>
                  <a:srgbClr val="D50092"/>
                </a:solidFill>
                <a:latin typeface="黑体"/>
                <a:cs typeface="黑体"/>
              </a:rPr>
              <a:t>Cache</a:t>
            </a:r>
            <a:endParaRPr sz="2400">
              <a:latin typeface="黑体"/>
              <a:cs typeface="黑体"/>
            </a:endParaRPr>
          </a:p>
          <a:p>
            <a:pPr marL="1125855">
              <a:lnSpc>
                <a:spcPct val="100000"/>
              </a:lnSpc>
              <a:spcBef>
                <a:spcPts val="1155"/>
              </a:spcBef>
            </a:pPr>
            <a:r>
              <a:rPr dirty="0" sz="2400" spc="-10">
                <a:solidFill>
                  <a:srgbClr val="40458B"/>
                </a:solidFill>
                <a:latin typeface="黑体"/>
                <a:cs typeface="黑体"/>
              </a:rPr>
              <a:t>用来存放CPU</a:t>
            </a:r>
            <a:r>
              <a:rPr dirty="0" sz="2400" spc="-15">
                <a:solidFill>
                  <a:srgbClr val="40458B"/>
                </a:solidFill>
                <a:latin typeface="黑体"/>
                <a:cs typeface="黑体"/>
              </a:rPr>
              <a:t>所执行的动态指令序列</a:t>
            </a:r>
            <a:endParaRPr sz="2400">
              <a:latin typeface="黑体"/>
              <a:cs typeface="黑体"/>
            </a:endParaRPr>
          </a:p>
          <a:p>
            <a:pPr marL="1699260">
              <a:lnSpc>
                <a:spcPts val="2310"/>
              </a:lnSpc>
              <a:spcBef>
                <a:spcPts val="1385"/>
              </a:spcBef>
            </a:pPr>
            <a:r>
              <a:rPr dirty="0" sz="2000" spc="-25" b="1">
                <a:solidFill>
                  <a:srgbClr val="40458B"/>
                </a:solidFill>
                <a:latin typeface="宋体"/>
                <a:cs typeface="宋体"/>
              </a:rPr>
              <a:t>包含了由分支预测展开的指令，该分支预测是否正确需要在取到该指令时进行确认。</a:t>
            </a:r>
            <a:endParaRPr sz="2000">
              <a:latin typeface="宋体"/>
              <a:cs typeface="宋体"/>
            </a:endParaRPr>
          </a:p>
          <a:p>
            <a:pPr marL="469265" indent="-456565">
              <a:lnSpc>
                <a:spcPts val="2790"/>
              </a:lnSpc>
              <a:buClr>
                <a:srgbClr val="40458B"/>
              </a:buClr>
              <a:buFont typeface="Tahoma"/>
              <a:buAutoNum type="arabicPeriod" startAt="3"/>
              <a:tabLst>
                <a:tab pos="469265" algn="l"/>
              </a:tabLst>
            </a:pPr>
            <a:r>
              <a:rPr dirty="0" sz="2400" spc="-25">
                <a:solidFill>
                  <a:srgbClr val="E14B04"/>
                </a:solidFill>
                <a:latin typeface="黑体"/>
                <a:cs typeface="黑体"/>
              </a:rPr>
              <a:t>优缺点</a:t>
            </a:r>
            <a:endParaRPr sz="2400">
              <a:latin typeface="黑体"/>
              <a:cs typeface="黑体"/>
            </a:endParaRPr>
          </a:p>
          <a:p>
            <a:pPr lvl="1" marL="1727200" indent="-457200">
              <a:lnSpc>
                <a:spcPct val="100000"/>
              </a:lnSpc>
              <a:spcBef>
                <a:spcPts val="1030"/>
              </a:spcBef>
              <a:buClr>
                <a:srgbClr val="4668F5"/>
              </a:buClr>
              <a:buSzPct val="60000"/>
              <a:buFont typeface="Wingdings"/>
              <a:buChar char=""/>
              <a:tabLst>
                <a:tab pos="1727200" algn="l"/>
              </a:tabLst>
            </a:pPr>
            <a:r>
              <a:rPr dirty="0" sz="2000" spc="-15" b="1">
                <a:solidFill>
                  <a:srgbClr val="00AFEF"/>
                </a:solidFill>
                <a:latin typeface="宋体"/>
                <a:cs typeface="宋体"/>
              </a:rPr>
              <a:t>地址映象机制复杂，</a:t>
            </a:r>
            <a:endParaRPr sz="2000">
              <a:latin typeface="宋体"/>
              <a:cs typeface="宋体"/>
            </a:endParaRPr>
          </a:p>
          <a:p>
            <a:pPr lvl="1" marL="1727200" indent="-457200">
              <a:lnSpc>
                <a:spcPct val="100000"/>
              </a:lnSpc>
              <a:spcBef>
                <a:spcPts val="960"/>
              </a:spcBef>
              <a:buClr>
                <a:srgbClr val="4668F5"/>
              </a:buClr>
              <a:buSzPct val="60000"/>
              <a:buFont typeface="Wingdings"/>
              <a:buChar char=""/>
              <a:tabLst>
                <a:tab pos="1727200" algn="l"/>
              </a:tabLst>
            </a:pPr>
            <a:r>
              <a:rPr dirty="0" sz="2000" spc="-25" b="1">
                <a:solidFill>
                  <a:srgbClr val="00AFEF"/>
                </a:solidFill>
                <a:latin typeface="宋体"/>
                <a:cs typeface="宋体"/>
              </a:rPr>
              <a:t>相同的指令序列有可能被当作条件分支的不同选择而重复存放,</a:t>
            </a:r>
            <a:endParaRPr sz="2000">
              <a:latin typeface="宋体"/>
              <a:cs typeface="宋体"/>
            </a:endParaRPr>
          </a:p>
          <a:p>
            <a:pPr lvl="1" marL="1727200" indent="-457200">
              <a:lnSpc>
                <a:spcPct val="100000"/>
              </a:lnSpc>
              <a:spcBef>
                <a:spcPts val="960"/>
              </a:spcBef>
              <a:buClr>
                <a:srgbClr val="4668F5"/>
              </a:buClr>
              <a:buSzPct val="60000"/>
              <a:buFont typeface="Wingdings"/>
              <a:buChar char=""/>
              <a:tabLst>
                <a:tab pos="1727200" algn="l"/>
              </a:tabLst>
            </a:pPr>
            <a:r>
              <a:rPr dirty="0" sz="2000" spc="-10" b="1">
                <a:solidFill>
                  <a:srgbClr val="00AFEF"/>
                </a:solidFill>
                <a:latin typeface="宋体"/>
                <a:cs typeface="宋体"/>
              </a:rPr>
              <a:t>能够提高指令Cache</a:t>
            </a:r>
            <a:r>
              <a:rPr dirty="0" sz="2000" spc="-25" b="1">
                <a:solidFill>
                  <a:srgbClr val="00AFEF"/>
                </a:solidFill>
                <a:latin typeface="宋体"/>
                <a:cs typeface="宋体"/>
              </a:rPr>
              <a:t>的空间利用率。</a:t>
            </a:r>
            <a:endParaRPr sz="2000">
              <a:latin typeface="宋体"/>
              <a:cs typeface="宋体"/>
            </a:endParaRPr>
          </a:p>
        </p:txBody>
      </p:sp>
      <p:sp>
        <p:nvSpPr>
          <p:cNvPr id="11" name="object 11" descr=""/>
          <p:cNvSpPr txBox="1"/>
          <p:nvPr/>
        </p:nvSpPr>
        <p:spPr>
          <a:xfrm>
            <a:off x="5959602" y="213740"/>
            <a:ext cx="266954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0000CC"/>
                </a:solidFill>
                <a:latin typeface="黑体"/>
                <a:cs typeface="黑体"/>
              </a:rPr>
              <a:t>7.5.4</a:t>
            </a:r>
            <a:r>
              <a:rPr dirty="0" sz="2600" spc="-5">
                <a:solidFill>
                  <a:srgbClr val="0000CC"/>
                </a:solidFill>
                <a:latin typeface="黑体"/>
                <a:cs typeface="黑体"/>
              </a:rPr>
              <a:t> 踪迹 </a:t>
            </a:r>
            <a:r>
              <a:rPr dirty="0" sz="2600" spc="-10">
                <a:solidFill>
                  <a:srgbClr val="0000CC"/>
                </a:solidFill>
                <a:latin typeface="黑体"/>
                <a:cs typeface="黑体"/>
              </a:rPr>
              <a:t>Cache</a:t>
            </a:r>
            <a:endParaRPr sz="2600">
              <a:latin typeface="黑体"/>
              <a:cs typeface="黑体"/>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72488" y="6477"/>
            <a:ext cx="2870200" cy="452120"/>
          </a:xfrm>
          <a:prstGeom prst="rect"/>
        </p:spPr>
        <p:txBody>
          <a:bodyPr wrap="square" lIns="0" tIns="12065" rIns="0" bIns="0" rtlCol="0" vert="horz">
            <a:spAutoFit/>
          </a:bodyPr>
          <a:lstStyle/>
          <a:p>
            <a:pPr marL="12700">
              <a:lnSpc>
                <a:spcPct val="100000"/>
              </a:lnSpc>
              <a:spcBef>
                <a:spcPts val="95"/>
              </a:spcBef>
            </a:pPr>
            <a:r>
              <a:rPr dirty="0" u="none"/>
              <a:t>7.5</a:t>
            </a:r>
            <a:r>
              <a:rPr dirty="0" u="none" spc="-40"/>
              <a:t> 减少命中时间</a:t>
            </a:r>
          </a:p>
        </p:txBody>
      </p:sp>
      <p:sp>
        <p:nvSpPr>
          <p:cNvPr id="10" name="object 10" descr=""/>
          <p:cNvSpPr txBox="1"/>
          <p:nvPr/>
        </p:nvSpPr>
        <p:spPr>
          <a:xfrm>
            <a:off x="990091" y="1239088"/>
            <a:ext cx="6737984" cy="271335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7.5.5</a:t>
            </a:r>
            <a:r>
              <a:rPr dirty="0" sz="2600" spc="10">
                <a:solidFill>
                  <a:srgbClr val="0000CC"/>
                </a:solidFill>
                <a:latin typeface="黑体"/>
                <a:cs typeface="黑体"/>
              </a:rPr>
              <a:t> </a:t>
            </a:r>
            <a:r>
              <a:rPr dirty="0" sz="2600" spc="-10">
                <a:solidFill>
                  <a:srgbClr val="0000CC"/>
                </a:solidFill>
                <a:latin typeface="黑体"/>
                <a:cs typeface="黑体"/>
              </a:rPr>
              <a:t>Cache</a:t>
            </a:r>
            <a:r>
              <a:rPr dirty="0" sz="2600" spc="-20">
                <a:solidFill>
                  <a:srgbClr val="0000CC"/>
                </a:solidFill>
                <a:latin typeface="黑体"/>
                <a:cs typeface="黑体"/>
              </a:rPr>
              <a:t>优化技术总结</a:t>
            </a:r>
            <a:endParaRPr sz="2600">
              <a:latin typeface="黑体"/>
              <a:cs typeface="黑体"/>
            </a:endParaRPr>
          </a:p>
          <a:p>
            <a:pPr>
              <a:lnSpc>
                <a:spcPct val="100000"/>
              </a:lnSpc>
              <a:spcBef>
                <a:spcPts val="2175"/>
              </a:spcBef>
            </a:pPr>
            <a:endParaRPr sz="2600">
              <a:latin typeface="黑体"/>
              <a:cs typeface="黑体"/>
            </a:endParaRPr>
          </a:p>
          <a:p>
            <a:pPr marL="2374900" indent="-457200">
              <a:lnSpc>
                <a:spcPct val="100000"/>
              </a:lnSpc>
              <a:buClr>
                <a:srgbClr val="4668F5"/>
              </a:buClr>
              <a:buSzPct val="60000"/>
              <a:buFont typeface="Wingdings"/>
              <a:buChar char=""/>
              <a:tabLst>
                <a:tab pos="2374900" algn="l"/>
              </a:tabLst>
            </a:pPr>
            <a:r>
              <a:rPr dirty="0" sz="2000" spc="-10" b="1">
                <a:solidFill>
                  <a:srgbClr val="D50092"/>
                </a:solidFill>
                <a:latin typeface="Times New Roman"/>
                <a:cs typeface="Times New Roman"/>
              </a:rPr>
              <a:t>“</a:t>
            </a:r>
            <a:r>
              <a:rPr dirty="0" sz="2000" spc="-10" b="1">
                <a:solidFill>
                  <a:srgbClr val="D50092"/>
                </a:solidFill>
                <a:latin typeface="宋体"/>
                <a:cs typeface="宋体"/>
              </a:rPr>
              <a:t>＋”号：</a:t>
            </a:r>
            <a:r>
              <a:rPr dirty="0" sz="2000" spc="-20" b="1">
                <a:latin typeface="宋体"/>
                <a:cs typeface="宋体"/>
              </a:rPr>
              <a:t>表示改进了相应指标。</a:t>
            </a:r>
            <a:endParaRPr sz="2000">
              <a:latin typeface="宋体"/>
              <a:cs typeface="宋体"/>
            </a:endParaRPr>
          </a:p>
          <a:p>
            <a:pPr marL="2374900" indent="-457200">
              <a:lnSpc>
                <a:spcPct val="100000"/>
              </a:lnSpc>
              <a:spcBef>
                <a:spcPts val="960"/>
              </a:spcBef>
              <a:buClr>
                <a:srgbClr val="4668F5"/>
              </a:buClr>
              <a:buSzPct val="60000"/>
              <a:buFont typeface="Wingdings"/>
              <a:buChar char=""/>
              <a:tabLst>
                <a:tab pos="2374900" algn="l"/>
              </a:tabLst>
            </a:pPr>
            <a:r>
              <a:rPr dirty="0" sz="2000" spc="-15" b="1">
                <a:solidFill>
                  <a:srgbClr val="D50092"/>
                </a:solidFill>
                <a:latin typeface="宋体"/>
                <a:cs typeface="宋体"/>
              </a:rPr>
              <a:t>“－”号：</a:t>
            </a:r>
            <a:r>
              <a:rPr dirty="0" sz="2000" spc="-20" b="1">
                <a:latin typeface="宋体"/>
                <a:cs typeface="宋体"/>
              </a:rPr>
              <a:t>表示它使该指标变差。</a:t>
            </a:r>
            <a:endParaRPr sz="2000">
              <a:latin typeface="宋体"/>
              <a:cs typeface="宋体"/>
            </a:endParaRPr>
          </a:p>
          <a:p>
            <a:pPr marL="2374900" indent="-457200">
              <a:lnSpc>
                <a:spcPct val="100000"/>
              </a:lnSpc>
              <a:spcBef>
                <a:spcPts val="960"/>
              </a:spcBef>
              <a:buClr>
                <a:srgbClr val="4668F5"/>
              </a:buClr>
              <a:buSzPct val="60000"/>
              <a:buFont typeface="Wingdings"/>
              <a:buChar char=""/>
              <a:tabLst>
                <a:tab pos="2374900" algn="l"/>
              </a:tabLst>
            </a:pPr>
            <a:r>
              <a:rPr dirty="0" sz="2000" spc="-10" b="1">
                <a:solidFill>
                  <a:srgbClr val="D50092"/>
                </a:solidFill>
                <a:latin typeface="宋体"/>
                <a:cs typeface="宋体"/>
              </a:rPr>
              <a:t>空格栏：</a:t>
            </a:r>
            <a:r>
              <a:rPr dirty="0" sz="2000" spc="-20" b="1">
                <a:latin typeface="宋体"/>
                <a:cs typeface="宋体"/>
              </a:rPr>
              <a:t>表示它对该指标无影响。</a:t>
            </a:r>
            <a:endParaRPr sz="2000">
              <a:latin typeface="宋体"/>
              <a:cs typeface="宋体"/>
            </a:endParaRPr>
          </a:p>
          <a:p>
            <a:pPr marL="2374900" indent="-457200">
              <a:lnSpc>
                <a:spcPct val="100000"/>
              </a:lnSpc>
              <a:spcBef>
                <a:spcPts val="960"/>
              </a:spcBef>
              <a:buClr>
                <a:srgbClr val="4668F5"/>
              </a:buClr>
              <a:buSzPct val="60000"/>
              <a:buFont typeface="Wingdings"/>
              <a:buChar char=""/>
              <a:tabLst>
                <a:tab pos="2374900" algn="l"/>
              </a:tabLst>
            </a:pPr>
            <a:r>
              <a:rPr dirty="0" sz="2000" spc="-10" b="1">
                <a:solidFill>
                  <a:srgbClr val="D50092"/>
                </a:solidFill>
                <a:latin typeface="宋体"/>
                <a:cs typeface="宋体"/>
              </a:rPr>
              <a:t>复杂性：</a:t>
            </a:r>
            <a:r>
              <a:rPr dirty="0" sz="2000" spc="-10" b="1">
                <a:latin typeface="黑体"/>
                <a:cs typeface="黑体"/>
              </a:rPr>
              <a:t>0</a:t>
            </a:r>
            <a:r>
              <a:rPr dirty="0" sz="2000" spc="-15" b="1">
                <a:latin typeface="宋体"/>
                <a:cs typeface="宋体"/>
              </a:rPr>
              <a:t>表示最容易，</a:t>
            </a:r>
            <a:r>
              <a:rPr dirty="0" sz="2000" spc="-25" b="1">
                <a:latin typeface="黑体"/>
                <a:cs typeface="黑体"/>
              </a:rPr>
              <a:t>3</a:t>
            </a:r>
            <a:r>
              <a:rPr dirty="0" sz="2000" spc="-25" b="1">
                <a:latin typeface="宋体"/>
                <a:cs typeface="宋体"/>
              </a:rPr>
              <a:t>表示最复杂。</a:t>
            </a:r>
            <a:endParaRPr sz="2000">
              <a:latin typeface="宋体"/>
              <a:cs typeface="宋体"/>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689163" y="671512"/>
          <a:ext cx="8818880" cy="5909309"/>
        </p:xfrm>
        <a:graphic>
          <a:graphicData uri="http://schemas.openxmlformats.org/drawingml/2006/table">
            <a:tbl>
              <a:tblPr firstRow="1" bandRow="1">
                <a:tableStyleId>{2D5ABB26-0587-4C30-8999-92F81FD0307C}</a:tableStyleId>
              </a:tblPr>
              <a:tblGrid>
                <a:gridCol w="2089150"/>
                <a:gridCol w="790575"/>
                <a:gridCol w="1007745"/>
                <a:gridCol w="720725"/>
                <a:gridCol w="1079500"/>
                <a:gridCol w="3025775"/>
              </a:tblGrid>
              <a:tr h="762000">
                <a:tc>
                  <a:txBody>
                    <a:bodyPr/>
                    <a:lstStyle/>
                    <a:p>
                      <a:pPr algn="ctr">
                        <a:lnSpc>
                          <a:spcPct val="100000"/>
                        </a:lnSpc>
                        <a:spcBef>
                          <a:spcPts val="365"/>
                        </a:spcBef>
                      </a:pPr>
                      <a:r>
                        <a:rPr dirty="0" sz="2000" spc="-15">
                          <a:solidFill>
                            <a:srgbClr val="E14B04"/>
                          </a:solidFill>
                          <a:latin typeface="黑体"/>
                          <a:cs typeface="黑体"/>
                        </a:rPr>
                        <a:t>优化技术</a:t>
                      </a:r>
                      <a:endParaRPr sz="2000">
                        <a:latin typeface="黑体"/>
                        <a:cs typeface="黑体"/>
                      </a:endParaRPr>
                    </a:p>
                  </a:txBody>
                  <a:tcPr marL="0" marR="0" marB="0" marT="46355">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39065" marR="130175" indent="1270">
                        <a:lnSpc>
                          <a:spcPts val="2340"/>
                        </a:lnSpc>
                        <a:spcBef>
                          <a:spcPts val="555"/>
                        </a:spcBef>
                      </a:pPr>
                      <a:r>
                        <a:rPr dirty="0" sz="2000" spc="-25">
                          <a:solidFill>
                            <a:srgbClr val="E14B04"/>
                          </a:solidFill>
                          <a:latin typeface="黑体"/>
                          <a:cs typeface="黑体"/>
                        </a:rPr>
                        <a:t>不命中率</a:t>
                      </a:r>
                      <a:endParaRPr sz="2000">
                        <a:latin typeface="黑体"/>
                        <a:cs typeface="黑体"/>
                      </a:endParaRPr>
                    </a:p>
                  </a:txBody>
                  <a:tcPr marL="0" marR="0" marB="0" marT="7048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47650" marR="114300" indent="-125095">
                        <a:lnSpc>
                          <a:spcPts val="2880"/>
                        </a:lnSpc>
                        <a:spcBef>
                          <a:spcPts val="60"/>
                        </a:spcBef>
                      </a:pPr>
                      <a:r>
                        <a:rPr dirty="0" sz="2000" spc="-20">
                          <a:solidFill>
                            <a:srgbClr val="E14B04"/>
                          </a:solidFill>
                          <a:latin typeface="黑体"/>
                          <a:cs typeface="黑体"/>
                        </a:rPr>
                        <a:t>不命中</a:t>
                      </a:r>
                      <a:r>
                        <a:rPr dirty="0" sz="2000" spc="-25">
                          <a:solidFill>
                            <a:srgbClr val="E14B04"/>
                          </a:solidFill>
                          <a:latin typeface="黑体"/>
                          <a:cs typeface="黑体"/>
                        </a:rPr>
                        <a:t>开销</a:t>
                      </a:r>
                      <a:endParaRPr sz="2000">
                        <a:latin typeface="黑体"/>
                        <a:cs typeface="黑体"/>
                      </a:endParaRPr>
                    </a:p>
                  </a:txBody>
                  <a:tcPr marL="0" marR="0" marB="0" marT="76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04775" marR="95885" indent="1270">
                        <a:lnSpc>
                          <a:spcPts val="2880"/>
                        </a:lnSpc>
                        <a:spcBef>
                          <a:spcPts val="60"/>
                        </a:spcBef>
                      </a:pPr>
                      <a:r>
                        <a:rPr dirty="0" sz="2000" spc="-25">
                          <a:solidFill>
                            <a:srgbClr val="E14B04"/>
                          </a:solidFill>
                          <a:latin typeface="黑体"/>
                          <a:cs typeface="黑体"/>
                        </a:rPr>
                        <a:t>命中时间</a:t>
                      </a:r>
                      <a:endParaRPr sz="2000">
                        <a:latin typeface="黑体"/>
                        <a:cs typeface="黑体"/>
                      </a:endParaRPr>
                    </a:p>
                  </a:txBody>
                  <a:tcPr marL="0" marR="0" marB="0" marT="76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56845" marR="146685" indent="129539">
                        <a:lnSpc>
                          <a:spcPts val="2880"/>
                        </a:lnSpc>
                        <a:spcBef>
                          <a:spcPts val="60"/>
                        </a:spcBef>
                      </a:pPr>
                      <a:r>
                        <a:rPr dirty="0" sz="2000" spc="-25">
                          <a:solidFill>
                            <a:srgbClr val="E14B04"/>
                          </a:solidFill>
                          <a:latin typeface="黑体"/>
                          <a:cs typeface="黑体"/>
                        </a:rPr>
                        <a:t>硬件</a:t>
                      </a:r>
                      <a:r>
                        <a:rPr dirty="0" sz="2000" spc="-20">
                          <a:solidFill>
                            <a:srgbClr val="E14B04"/>
                          </a:solidFill>
                          <a:latin typeface="黑体"/>
                          <a:cs typeface="黑体"/>
                        </a:rPr>
                        <a:t>复杂度</a:t>
                      </a:r>
                      <a:endParaRPr sz="2000">
                        <a:latin typeface="黑体"/>
                        <a:cs typeface="黑体"/>
                      </a:endParaRPr>
                    </a:p>
                  </a:txBody>
                  <a:tcPr marL="0" marR="0" marB="0" marT="762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a:lnSpc>
                          <a:spcPct val="100000"/>
                        </a:lnSpc>
                        <a:spcBef>
                          <a:spcPts val="365"/>
                        </a:spcBef>
                      </a:pPr>
                      <a:r>
                        <a:rPr dirty="0" sz="2000" spc="-145">
                          <a:solidFill>
                            <a:srgbClr val="E14B04"/>
                          </a:solidFill>
                          <a:latin typeface="黑体"/>
                          <a:cs typeface="黑体"/>
                        </a:rPr>
                        <a:t>说 明</a:t>
                      </a:r>
                      <a:endParaRPr sz="2000">
                        <a:latin typeface="黑体"/>
                        <a:cs typeface="黑体"/>
                      </a:endParaRPr>
                    </a:p>
                  </a:txBody>
                  <a:tcPr marL="0" marR="0" marB="0" marT="46355">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1188720">
                <a:tc>
                  <a:txBody>
                    <a:bodyPr/>
                    <a:lstStyle/>
                    <a:p>
                      <a:pPr>
                        <a:lnSpc>
                          <a:spcPct val="100000"/>
                        </a:lnSpc>
                        <a:spcBef>
                          <a:spcPts val="204"/>
                        </a:spcBef>
                      </a:pPr>
                      <a:endParaRPr sz="2000">
                        <a:latin typeface="Times New Roman"/>
                        <a:cs typeface="Times New Roman"/>
                      </a:endParaRPr>
                    </a:p>
                    <a:p>
                      <a:pPr algn="ctr" marL="635">
                        <a:lnSpc>
                          <a:spcPct val="100000"/>
                        </a:lnSpc>
                      </a:pPr>
                      <a:r>
                        <a:rPr dirty="0" sz="2000" spc="-15">
                          <a:solidFill>
                            <a:srgbClr val="0000CC"/>
                          </a:solidFill>
                          <a:latin typeface="黑体"/>
                          <a:cs typeface="黑体"/>
                        </a:rPr>
                        <a:t>增加块大小</a:t>
                      </a:r>
                      <a:endParaRPr sz="2000">
                        <a:latin typeface="黑体"/>
                        <a:cs typeface="黑体"/>
                      </a:endParaRPr>
                    </a:p>
                  </a:txBody>
                  <a:tcPr marL="0" marR="0" marB="0" marT="26034">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4"/>
                        </a:spcBef>
                      </a:pPr>
                      <a:endParaRPr sz="2000">
                        <a:latin typeface="Times New Roman"/>
                        <a:cs typeface="Times New Roman"/>
                      </a:endParaRPr>
                    </a:p>
                    <a:p>
                      <a:pPr algn="ctr">
                        <a:lnSpc>
                          <a:spcPct val="100000"/>
                        </a:lnSpc>
                      </a:pPr>
                      <a:r>
                        <a:rPr dirty="0" sz="2000" spc="-50">
                          <a:solidFill>
                            <a:srgbClr val="40458B"/>
                          </a:solidFill>
                          <a:latin typeface="Tahoma"/>
                          <a:cs typeface="Tahoma"/>
                        </a:rPr>
                        <a:t>+</a:t>
                      </a:r>
                      <a:endParaRPr sz="2000">
                        <a:latin typeface="Tahoma"/>
                        <a:cs typeface="Tahoma"/>
                      </a:endParaRPr>
                    </a:p>
                  </a:txBody>
                  <a:tcPr marL="0" marR="0" marB="0" marT="2603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4"/>
                        </a:spcBef>
                      </a:pPr>
                      <a:endParaRPr sz="2000">
                        <a:latin typeface="Times New Roman"/>
                        <a:cs typeface="Times New Roman"/>
                      </a:endParaRPr>
                    </a:p>
                    <a:p>
                      <a:pPr algn="ctr">
                        <a:lnSpc>
                          <a:spcPct val="100000"/>
                        </a:lnSpc>
                      </a:pPr>
                      <a:r>
                        <a:rPr dirty="0" sz="2000" spc="-50" b="1">
                          <a:solidFill>
                            <a:srgbClr val="40458B"/>
                          </a:solidFill>
                          <a:latin typeface="Symbol"/>
                          <a:cs typeface="Symbol"/>
                        </a:rPr>
                        <a:t></a:t>
                      </a:r>
                      <a:endParaRPr sz="2000">
                        <a:latin typeface="Symbol"/>
                        <a:cs typeface="Symbol"/>
                      </a:endParaRPr>
                    </a:p>
                  </a:txBody>
                  <a:tcPr marL="0" marR="0" marB="0" marT="2603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4"/>
                        </a:spcBef>
                      </a:pPr>
                      <a:endParaRPr sz="2000">
                        <a:latin typeface="Times New Roman"/>
                        <a:cs typeface="Times New Roman"/>
                      </a:endParaRPr>
                    </a:p>
                    <a:p>
                      <a:pPr algn="ctr" marL="635">
                        <a:lnSpc>
                          <a:spcPct val="100000"/>
                        </a:lnSpc>
                      </a:pPr>
                      <a:r>
                        <a:rPr dirty="0" sz="2000" spc="-50">
                          <a:solidFill>
                            <a:srgbClr val="40458B"/>
                          </a:solidFill>
                          <a:latin typeface="Tahoma"/>
                          <a:cs typeface="Tahoma"/>
                        </a:rPr>
                        <a:t>0</a:t>
                      </a:r>
                      <a:endParaRPr sz="2000">
                        <a:latin typeface="Tahoma"/>
                        <a:cs typeface="Tahoma"/>
                      </a:endParaRPr>
                    </a:p>
                  </a:txBody>
                  <a:tcPr marL="0" marR="0" marB="0" marT="26034">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just" marL="92075" marR="104139">
                        <a:lnSpc>
                          <a:spcPct val="120100"/>
                        </a:lnSpc>
                        <a:spcBef>
                          <a:spcPts val="40"/>
                        </a:spcBef>
                      </a:pPr>
                      <a:r>
                        <a:rPr dirty="0" sz="2000" spc="-15" b="1">
                          <a:solidFill>
                            <a:srgbClr val="40458B"/>
                          </a:solidFill>
                          <a:latin typeface="宋体"/>
                          <a:cs typeface="宋体"/>
                        </a:rPr>
                        <a:t>实现容易；</a:t>
                      </a:r>
                      <a:r>
                        <a:rPr dirty="0" sz="2000" b="1">
                          <a:solidFill>
                            <a:srgbClr val="40458B"/>
                          </a:solidFill>
                          <a:latin typeface="宋体"/>
                          <a:cs typeface="宋体"/>
                        </a:rPr>
                        <a:t>Pentium</a:t>
                      </a:r>
                      <a:r>
                        <a:rPr dirty="0" sz="2000" spc="-45" b="1">
                          <a:solidFill>
                            <a:srgbClr val="40458B"/>
                          </a:solidFill>
                          <a:latin typeface="宋体"/>
                          <a:cs typeface="宋体"/>
                        </a:rPr>
                        <a:t> </a:t>
                      </a:r>
                      <a:r>
                        <a:rPr dirty="0" sz="2000" b="1">
                          <a:solidFill>
                            <a:srgbClr val="40458B"/>
                          </a:solidFill>
                          <a:latin typeface="宋体"/>
                          <a:cs typeface="宋体"/>
                        </a:rPr>
                        <a:t>4</a:t>
                      </a:r>
                      <a:r>
                        <a:rPr dirty="0" sz="2000" spc="-30" b="1">
                          <a:solidFill>
                            <a:srgbClr val="40458B"/>
                          </a:solidFill>
                          <a:latin typeface="宋体"/>
                          <a:cs typeface="宋体"/>
                        </a:rPr>
                        <a:t> 的</a:t>
                      </a:r>
                      <a:r>
                        <a:rPr dirty="0" sz="2000" spc="-10" b="1">
                          <a:solidFill>
                            <a:srgbClr val="40458B"/>
                          </a:solidFill>
                          <a:latin typeface="宋体"/>
                          <a:cs typeface="宋体"/>
                        </a:rPr>
                        <a:t>第二级Cache</a:t>
                      </a:r>
                      <a:r>
                        <a:rPr dirty="0" sz="2000" spc="-20" b="1">
                          <a:solidFill>
                            <a:srgbClr val="40458B"/>
                          </a:solidFill>
                          <a:latin typeface="宋体"/>
                          <a:cs typeface="宋体"/>
                        </a:rPr>
                        <a:t>采用了128</a:t>
                      </a:r>
                      <a:r>
                        <a:rPr dirty="0" sz="2000" spc="-50" b="1">
                          <a:solidFill>
                            <a:srgbClr val="40458B"/>
                          </a:solidFill>
                          <a:latin typeface="宋体"/>
                          <a:cs typeface="宋体"/>
                        </a:rPr>
                        <a:t>字</a:t>
                      </a:r>
                      <a:r>
                        <a:rPr dirty="0" sz="2000" spc="-25" b="1">
                          <a:solidFill>
                            <a:srgbClr val="40458B"/>
                          </a:solidFill>
                          <a:latin typeface="宋体"/>
                          <a:cs typeface="宋体"/>
                        </a:rPr>
                        <a:t>节的块</a:t>
                      </a:r>
                      <a:endParaRPr sz="2000">
                        <a:latin typeface="宋体"/>
                        <a:cs typeface="宋体"/>
                      </a:endParaRPr>
                    </a:p>
                  </a:txBody>
                  <a:tcPr marL="0" marR="0" marB="0" marT="508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960">
                <a:tc>
                  <a:txBody>
                    <a:bodyPr/>
                    <a:lstStyle/>
                    <a:p>
                      <a:pPr algn="ctr">
                        <a:lnSpc>
                          <a:spcPct val="100000"/>
                        </a:lnSpc>
                        <a:spcBef>
                          <a:spcPts val="1425"/>
                        </a:spcBef>
                      </a:pPr>
                      <a:r>
                        <a:rPr dirty="0" sz="2000">
                          <a:solidFill>
                            <a:srgbClr val="0000CC"/>
                          </a:solidFill>
                          <a:latin typeface="黑体"/>
                          <a:cs typeface="黑体"/>
                        </a:rPr>
                        <a:t>增加</a:t>
                      </a:r>
                      <a:r>
                        <a:rPr dirty="0" sz="2000" spc="-10">
                          <a:solidFill>
                            <a:srgbClr val="0000CC"/>
                          </a:solidFill>
                          <a:latin typeface="黑体"/>
                          <a:cs typeface="黑体"/>
                        </a:rPr>
                        <a:t>Cache</a:t>
                      </a:r>
                      <a:r>
                        <a:rPr dirty="0" sz="2000" spc="-25">
                          <a:solidFill>
                            <a:srgbClr val="0000CC"/>
                          </a:solidFill>
                          <a:latin typeface="黑体"/>
                          <a:cs typeface="黑体"/>
                        </a:rPr>
                        <a:t>容量</a:t>
                      </a:r>
                      <a:endParaRPr sz="2000">
                        <a:latin typeface="黑体"/>
                        <a:cs typeface="黑体"/>
                      </a:endParaRPr>
                    </a:p>
                  </a:txBody>
                  <a:tcPr marL="0" marR="0" marB="0" marT="1809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5"/>
                        </a:spcBef>
                      </a:pPr>
                      <a:r>
                        <a:rPr dirty="0" sz="2000" spc="-50">
                          <a:solidFill>
                            <a:srgbClr val="40458B"/>
                          </a:solidFill>
                          <a:latin typeface="Tahoma"/>
                          <a:cs typeface="Tahoma"/>
                        </a:rPr>
                        <a:t>+</a:t>
                      </a:r>
                      <a:endParaRPr sz="2000">
                        <a:latin typeface="Tahoma"/>
                        <a:cs typeface="Tahoma"/>
                      </a:endParaRPr>
                    </a:p>
                  </a:txBody>
                  <a:tcPr marL="0" marR="0" marB="0" marT="1809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425"/>
                        </a:spcBef>
                      </a:pPr>
                      <a:r>
                        <a:rPr dirty="0" sz="2000" spc="-50">
                          <a:solidFill>
                            <a:srgbClr val="40458B"/>
                          </a:solidFill>
                          <a:latin typeface="Tahoma"/>
                          <a:cs typeface="Tahoma"/>
                        </a:rPr>
                        <a:t>1</a:t>
                      </a:r>
                      <a:endParaRPr sz="2000">
                        <a:latin typeface="Tahoma"/>
                        <a:cs typeface="Tahoma"/>
                      </a:endParaRPr>
                    </a:p>
                  </a:txBody>
                  <a:tcPr marL="0" marR="0" marB="0" marT="1809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109220">
                        <a:lnSpc>
                          <a:spcPct val="120000"/>
                        </a:lnSpc>
                        <a:spcBef>
                          <a:spcPts val="45"/>
                        </a:spcBef>
                      </a:pPr>
                      <a:r>
                        <a:rPr dirty="0" sz="2000" spc="-15" b="1">
                          <a:solidFill>
                            <a:srgbClr val="40458B"/>
                          </a:solidFill>
                          <a:latin typeface="宋体"/>
                          <a:cs typeface="宋体"/>
                        </a:rPr>
                        <a:t>被广泛采用，特别是第二</a:t>
                      </a:r>
                      <a:r>
                        <a:rPr dirty="0" sz="2000" spc="-10" b="1">
                          <a:solidFill>
                            <a:srgbClr val="40458B"/>
                          </a:solidFill>
                          <a:latin typeface="宋体"/>
                          <a:cs typeface="宋体"/>
                        </a:rPr>
                        <a:t>级Cache</a:t>
                      </a:r>
                      <a:endParaRPr sz="2000">
                        <a:latin typeface="宋体"/>
                        <a:cs typeface="宋体"/>
                      </a:endParaRPr>
                    </a:p>
                  </a:txBody>
                  <a:tcPr marL="0" marR="0" marB="0" marT="57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605790">
                <a:tc>
                  <a:txBody>
                    <a:bodyPr/>
                    <a:lstStyle/>
                    <a:p>
                      <a:pPr algn="ctr" marL="635">
                        <a:lnSpc>
                          <a:spcPct val="100000"/>
                        </a:lnSpc>
                        <a:spcBef>
                          <a:spcPts val="1065"/>
                        </a:spcBef>
                      </a:pPr>
                      <a:r>
                        <a:rPr dirty="0" sz="2000" spc="-20">
                          <a:solidFill>
                            <a:srgbClr val="0000CC"/>
                          </a:solidFill>
                          <a:latin typeface="黑体"/>
                          <a:cs typeface="黑体"/>
                        </a:rPr>
                        <a:t>提高相联度</a:t>
                      </a:r>
                      <a:endParaRPr sz="2000">
                        <a:latin typeface="黑体"/>
                        <a:cs typeface="黑体"/>
                      </a:endParaRPr>
                    </a:p>
                  </a:txBody>
                  <a:tcPr marL="0" marR="0" marB="0" marT="13525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65"/>
                        </a:spcBef>
                      </a:pPr>
                      <a:r>
                        <a:rPr dirty="0" sz="2000" spc="-50">
                          <a:solidFill>
                            <a:srgbClr val="40458B"/>
                          </a:solidFill>
                          <a:latin typeface="Tahoma"/>
                          <a:cs typeface="Tahoma"/>
                        </a:rPr>
                        <a:t>+</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065"/>
                        </a:spcBef>
                      </a:pPr>
                      <a:r>
                        <a:rPr dirty="0" sz="2000" spc="-50" b="1">
                          <a:solidFill>
                            <a:srgbClr val="40458B"/>
                          </a:solidFill>
                          <a:latin typeface="Symbol"/>
                          <a:cs typeface="Symbol"/>
                        </a:rPr>
                        <a:t></a:t>
                      </a:r>
                      <a:endParaRPr sz="2000">
                        <a:latin typeface="Symbol"/>
                        <a:cs typeface="Symbol"/>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065"/>
                        </a:spcBef>
                      </a:pPr>
                      <a:r>
                        <a:rPr dirty="0" sz="2000" spc="-50">
                          <a:solidFill>
                            <a:srgbClr val="40458B"/>
                          </a:solidFill>
                          <a:latin typeface="Tahoma"/>
                          <a:cs typeface="Tahoma"/>
                        </a:rPr>
                        <a:t>1</a:t>
                      </a:r>
                      <a:endParaRPr sz="2000">
                        <a:latin typeface="Tahoma"/>
                        <a:cs typeface="Tahoma"/>
                      </a:endParaRPr>
                    </a:p>
                  </a:txBody>
                  <a:tcPr marL="0" marR="0" marB="0" marT="13525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1065"/>
                        </a:spcBef>
                      </a:pPr>
                      <a:r>
                        <a:rPr dirty="0" sz="2000" spc="-25" b="1">
                          <a:solidFill>
                            <a:srgbClr val="40458B"/>
                          </a:solidFill>
                          <a:latin typeface="宋体"/>
                          <a:cs typeface="宋体"/>
                        </a:rPr>
                        <a:t>被广泛采用</a:t>
                      </a:r>
                      <a:endParaRPr sz="2000">
                        <a:latin typeface="宋体"/>
                        <a:cs typeface="宋体"/>
                      </a:endParaRPr>
                    </a:p>
                  </a:txBody>
                  <a:tcPr marL="0" marR="0" marB="0" marT="13525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960">
                <a:tc>
                  <a:txBody>
                    <a:bodyPr/>
                    <a:lstStyle/>
                    <a:p>
                      <a:pPr algn="ctr">
                        <a:lnSpc>
                          <a:spcPct val="100000"/>
                        </a:lnSpc>
                        <a:spcBef>
                          <a:spcPts val="1430"/>
                        </a:spcBef>
                      </a:pPr>
                      <a:r>
                        <a:rPr dirty="0" sz="2000">
                          <a:solidFill>
                            <a:srgbClr val="0000CC"/>
                          </a:solidFill>
                          <a:latin typeface="黑体"/>
                          <a:cs typeface="黑体"/>
                        </a:rPr>
                        <a:t>牺牲</a:t>
                      </a:r>
                      <a:r>
                        <a:rPr dirty="0" sz="2000" spc="-10" b="1">
                          <a:solidFill>
                            <a:srgbClr val="0000CC"/>
                          </a:solidFill>
                          <a:latin typeface="黑体"/>
                          <a:cs typeface="黑体"/>
                        </a:rPr>
                        <a:t>Cache</a:t>
                      </a:r>
                      <a:endParaRPr sz="2000">
                        <a:latin typeface="黑体"/>
                        <a:cs typeface="黑体"/>
                      </a:endParaRPr>
                    </a:p>
                  </a:txBody>
                  <a:tcPr marL="0" marR="0" marB="0" marT="1816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30"/>
                        </a:spcBef>
                      </a:pPr>
                      <a:r>
                        <a:rPr dirty="0" sz="2000" spc="-50">
                          <a:solidFill>
                            <a:srgbClr val="40458B"/>
                          </a:solidFill>
                          <a:latin typeface="Tahoma"/>
                          <a:cs typeface="Tahoma"/>
                        </a:rPr>
                        <a:t>+</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430"/>
                        </a:spcBef>
                      </a:pPr>
                      <a:r>
                        <a:rPr dirty="0" sz="2000" spc="-50">
                          <a:solidFill>
                            <a:srgbClr val="40458B"/>
                          </a:solidFill>
                          <a:latin typeface="Tahoma"/>
                          <a:cs typeface="Tahoma"/>
                        </a:rPr>
                        <a:t>2</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25"/>
                        </a:spcBef>
                      </a:pPr>
                      <a:r>
                        <a:rPr dirty="0" sz="2000" b="1">
                          <a:solidFill>
                            <a:srgbClr val="40458B"/>
                          </a:solidFill>
                          <a:latin typeface="宋体"/>
                          <a:cs typeface="宋体"/>
                        </a:rPr>
                        <a:t>AMD</a:t>
                      </a:r>
                      <a:r>
                        <a:rPr dirty="0" sz="2000" spc="5" b="1">
                          <a:solidFill>
                            <a:srgbClr val="40458B"/>
                          </a:solidFill>
                          <a:latin typeface="宋体"/>
                          <a:cs typeface="宋体"/>
                        </a:rPr>
                        <a:t> </a:t>
                      </a:r>
                      <a:r>
                        <a:rPr dirty="0" sz="2000" b="1">
                          <a:solidFill>
                            <a:srgbClr val="40458B"/>
                          </a:solidFill>
                          <a:latin typeface="宋体"/>
                          <a:cs typeface="宋体"/>
                        </a:rPr>
                        <a:t>Athlon</a:t>
                      </a:r>
                      <a:r>
                        <a:rPr dirty="0" sz="2000" spc="-20" b="1">
                          <a:solidFill>
                            <a:srgbClr val="40458B"/>
                          </a:solidFill>
                          <a:latin typeface="宋体"/>
                          <a:cs typeface="宋体"/>
                        </a:rPr>
                        <a:t>采用了</a:t>
                      </a:r>
                      <a:r>
                        <a:rPr dirty="0" sz="2000" spc="-10" b="1">
                          <a:solidFill>
                            <a:srgbClr val="40458B"/>
                          </a:solidFill>
                          <a:latin typeface="宋体"/>
                          <a:cs typeface="宋体"/>
                        </a:rPr>
                        <a:t>8</a:t>
                      </a:r>
                      <a:r>
                        <a:rPr dirty="0" sz="2000" spc="-35" b="1">
                          <a:solidFill>
                            <a:srgbClr val="40458B"/>
                          </a:solidFill>
                          <a:latin typeface="宋体"/>
                          <a:cs typeface="宋体"/>
                        </a:rPr>
                        <a:t>个项</a:t>
                      </a:r>
                      <a:endParaRPr sz="2000">
                        <a:latin typeface="宋体"/>
                        <a:cs typeface="宋体"/>
                      </a:endParaRPr>
                    </a:p>
                    <a:p>
                      <a:pPr marL="92075">
                        <a:lnSpc>
                          <a:spcPct val="100000"/>
                        </a:lnSpc>
                        <a:spcBef>
                          <a:spcPts val="484"/>
                        </a:spcBef>
                      </a:pPr>
                      <a:r>
                        <a:rPr dirty="0" sz="2000" spc="-10" b="1">
                          <a:solidFill>
                            <a:srgbClr val="40458B"/>
                          </a:solidFill>
                          <a:latin typeface="宋体"/>
                          <a:cs typeface="宋体"/>
                        </a:rPr>
                        <a:t>的</a:t>
                      </a:r>
                      <a:r>
                        <a:rPr dirty="0" sz="2000" b="1">
                          <a:solidFill>
                            <a:srgbClr val="40458B"/>
                          </a:solidFill>
                          <a:latin typeface="宋体"/>
                          <a:cs typeface="宋体"/>
                        </a:rPr>
                        <a:t>Victim</a:t>
                      </a:r>
                      <a:r>
                        <a:rPr dirty="0" sz="2000" spc="-75" b="1">
                          <a:solidFill>
                            <a:srgbClr val="40458B"/>
                          </a:solidFill>
                          <a:latin typeface="宋体"/>
                          <a:cs typeface="宋体"/>
                        </a:rPr>
                        <a:t> </a:t>
                      </a:r>
                      <a:r>
                        <a:rPr dirty="0" sz="2000" spc="-10" b="1">
                          <a:solidFill>
                            <a:srgbClr val="40458B"/>
                          </a:solidFill>
                          <a:latin typeface="宋体"/>
                          <a:cs typeface="宋体"/>
                        </a:rPr>
                        <a:t>Cache</a:t>
                      </a:r>
                      <a:endParaRPr sz="2000">
                        <a:latin typeface="宋体"/>
                        <a:cs typeface="宋体"/>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960">
                <a:tc>
                  <a:txBody>
                    <a:bodyPr/>
                    <a:lstStyle/>
                    <a:p>
                      <a:pPr algn="ctr">
                        <a:lnSpc>
                          <a:spcPct val="100000"/>
                        </a:lnSpc>
                        <a:spcBef>
                          <a:spcPts val="1430"/>
                        </a:spcBef>
                      </a:pPr>
                      <a:r>
                        <a:rPr dirty="0" sz="2000" spc="-5">
                          <a:solidFill>
                            <a:srgbClr val="0000CC"/>
                          </a:solidFill>
                          <a:latin typeface="黑体"/>
                          <a:cs typeface="黑体"/>
                        </a:rPr>
                        <a:t>伪相联</a:t>
                      </a:r>
                      <a:r>
                        <a:rPr dirty="0" sz="2000" spc="-10">
                          <a:solidFill>
                            <a:srgbClr val="0000CC"/>
                          </a:solidFill>
                          <a:latin typeface="黑体"/>
                          <a:cs typeface="黑体"/>
                        </a:rPr>
                        <a:t>Cache</a:t>
                      </a:r>
                      <a:endParaRPr sz="2000">
                        <a:latin typeface="黑体"/>
                        <a:cs typeface="黑体"/>
                      </a:endParaRPr>
                    </a:p>
                  </a:txBody>
                  <a:tcPr marL="0" marR="0" marB="0" marT="1816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30"/>
                        </a:spcBef>
                      </a:pPr>
                      <a:r>
                        <a:rPr dirty="0" sz="2000" spc="-50">
                          <a:solidFill>
                            <a:srgbClr val="40458B"/>
                          </a:solidFill>
                          <a:latin typeface="Tahoma"/>
                          <a:cs typeface="Tahoma"/>
                        </a:rPr>
                        <a:t>+</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635">
                        <a:lnSpc>
                          <a:spcPct val="100000"/>
                        </a:lnSpc>
                        <a:spcBef>
                          <a:spcPts val="1430"/>
                        </a:spcBef>
                      </a:pPr>
                      <a:r>
                        <a:rPr dirty="0" sz="2000" spc="-50">
                          <a:solidFill>
                            <a:srgbClr val="40458B"/>
                          </a:solidFill>
                          <a:latin typeface="Tahoma"/>
                          <a:cs typeface="Tahoma"/>
                        </a:rPr>
                        <a:t>2</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525"/>
                        </a:spcBef>
                      </a:pPr>
                      <a:r>
                        <a:rPr dirty="0" sz="2000" b="1">
                          <a:solidFill>
                            <a:srgbClr val="40458B"/>
                          </a:solidFill>
                          <a:latin typeface="宋体"/>
                          <a:cs typeface="宋体"/>
                        </a:rPr>
                        <a:t>MIPS</a:t>
                      </a:r>
                      <a:r>
                        <a:rPr dirty="0" sz="2000" spc="-5" b="1">
                          <a:solidFill>
                            <a:srgbClr val="40458B"/>
                          </a:solidFill>
                          <a:latin typeface="宋体"/>
                          <a:cs typeface="宋体"/>
                        </a:rPr>
                        <a:t> </a:t>
                      </a:r>
                      <a:r>
                        <a:rPr dirty="0" sz="2000" spc="-10" b="1">
                          <a:solidFill>
                            <a:srgbClr val="40458B"/>
                          </a:solidFill>
                          <a:latin typeface="宋体"/>
                          <a:cs typeface="宋体"/>
                        </a:rPr>
                        <a:t>R10000</a:t>
                      </a:r>
                      <a:r>
                        <a:rPr dirty="0" sz="2000" spc="-25" b="1">
                          <a:solidFill>
                            <a:srgbClr val="40458B"/>
                          </a:solidFill>
                          <a:latin typeface="宋体"/>
                          <a:cs typeface="宋体"/>
                        </a:rPr>
                        <a:t>的第二级</a:t>
                      </a:r>
                      <a:endParaRPr sz="2000">
                        <a:latin typeface="宋体"/>
                        <a:cs typeface="宋体"/>
                      </a:endParaRPr>
                    </a:p>
                    <a:p>
                      <a:pPr marL="92075">
                        <a:lnSpc>
                          <a:spcPct val="100000"/>
                        </a:lnSpc>
                        <a:spcBef>
                          <a:spcPts val="484"/>
                        </a:spcBef>
                      </a:pPr>
                      <a:r>
                        <a:rPr dirty="0" sz="2000" spc="-10" b="1">
                          <a:solidFill>
                            <a:srgbClr val="40458B"/>
                          </a:solidFill>
                          <a:latin typeface="宋体"/>
                          <a:cs typeface="宋体"/>
                        </a:rPr>
                        <a:t>Cache</a:t>
                      </a:r>
                      <a:r>
                        <a:rPr dirty="0" sz="2000" spc="-30" b="1">
                          <a:solidFill>
                            <a:srgbClr val="40458B"/>
                          </a:solidFill>
                          <a:latin typeface="宋体"/>
                          <a:cs typeface="宋体"/>
                        </a:rPr>
                        <a:t>采用</a:t>
                      </a:r>
                      <a:endParaRPr sz="2000">
                        <a:latin typeface="宋体"/>
                        <a:cs typeface="宋体"/>
                      </a:endParaRPr>
                    </a:p>
                  </a:txBody>
                  <a:tcPr marL="0" marR="0" marB="0" marT="666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83919">
                <a:tc>
                  <a:txBody>
                    <a:bodyPr/>
                    <a:lstStyle/>
                    <a:p>
                      <a:pPr algn="ctr" marL="1905">
                        <a:lnSpc>
                          <a:spcPct val="100000"/>
                        </a:lnSpc>
                        <a:spcBef>
                          <a:spcPts val="530"/>
                        </a:spcBef>
                      </a:pPr>
                      <a:r>
                        <a:rPr dirty="0" sz="2000" spc="-15">
                          <a:solidFill>
                            <a:srgbClr val="0000CC"/>
                          </a:solidFill>
                          <a:latin typeface="黑体"/>
                          <a:cs typeface="黑体"/>
                        </a:rPr>
                        <a:t>硬件预取指令</a:t>
                      </a:r>
                      <a:endParaRPr sz="2000">
                        <a:latin typeface="黑体"/>
                        <a:cs typeface="黑体"/>
                      </a:endParaRPr>
                    </a:p>
                    <a:p>
                      <a:pPr algn="ctr">
                        <a:lnSpc>
                          <a:spcPct val="100000"/>
                        </a:lnSpc>
                        <a:spcBef>
                          <a:spcPts val="960"/>
                        </a:spcBef>
                      </a:pPr>
                      <a:r>
                        <a:rPr dirty="0" sz="2000" spc="-20">
                          <a:solidFill>
                            <a:srgbClr val="0000CC"/>
                          </a:solidFill>
                          <a:latin typeface="黑体"/>
                          <a:cs typeface="黑体"/>
                        </a:rPr>
                        <a:t>和数据</a:t>
                      </a:r>
                      <a:endParaRPr sz="2000">
                        <a:latin typeface="黑体"/>
                        <a:cs typeface="黑体"/>
                      </a:endParaRPr>
                    </a:p>
                  </a:txBody>
                  <a:tcPr marL="0" marR="0" marB="0" marT="6731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a:lnSpc>
                          <a:spcPct val="100000"/>
                        </a:lnSpc>
                        <a:spcBef>
                          <a:spcPts val="1610"/>
                        </a:spcBef>
                      </a:pPr>
                      <a:r>
                        <a:rPr dirty="0" sz="2000" spc="-50">
                          <a:solidFill>
                            <a:srgbClr val="40458B"/>
                          </a:solidFill>
                          <a:latin typeface="Tahoma"/>
                          <a:cs typeface="Tahoma"/>
                        </a:rPr>
                        <a:t>+</a:t>
                      </a:r>
                      <a:endParaRPr sz="2000">
                        <a:latin typeface="Tahoma"/>
                        <a:cs typeface="Tahoma"/>
                      </a:endParaRPr>
                    </a:p>
                  </a:txBody>
                  <a:tcPr marL="0" marR="0" marB="0" marT="20447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1610"/>
                        </a:spcBef>
                      </a:pPr>
                      <a:r>
                        <a:rPr dirty="0" sz="2000" spc="-25">
                          <a:solidFill>
                            <a:srgbClr val="40458B"/>
                          </a:solidFill>
                          <a:latin typeface="Tahoma"/>
                          <a:cs typeface="Tahoma"/>
                        </a:rPr>
                        <a:t>2</a:t>
                      </a:r>
                      <a:r>
                        <a:rPr dirty="0" sz="2000" spc="-25">
                          <a:solidFill>
                            <a:srgbClr val="40458B"/>
                          </a:solidFill>
                          <a:latin typeface="黑体"/>
                          <a:cs typeface="黑体"/>
                        </a:rPr>
                        <a:t>～</a:t>
                      </a:r>
                      <a:r>
                        <a:rPr dirty="0" sz="2000" spc="-25">
                          <a:solidFill>
                            <a:srgbClr val="40458B"/>
                          </a:solidFill>
                          <a:latin typeface="Tahoma"/>
                          <a:cs typeface="Tahoma"/>
                        </a:rPr>
                        <a:t>3</a:t>
                      </a:r>
                      <a:endParaRPr sz="2000">
                        <a:latin typeface="Tahoma"/>
                        <a:cs typeface="Tahoma"/>
                      </a:endParaRPr>
                    </a:p>
                  </a:txBody>
                  <a:tcPr marL="0" marR="0" marB="0" marT="20447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marR="230504">
                        <a:lnSpc>
                          <a:spcPct val="120000"/>
                        </a:lnSpc>
                        <a:spcBef>
                          <a:spcPts val="50"/>
                        </a:spcBef>
                      </a:pPr>
                      <a:r>
                        <a:rPr dirty="0" sz="2000" spc="-15" b="1">
                          <a:solidFill>
                            <a:srgbClr val="40458B"/>
                          </a:solidFill>
                          <a:latin typeface="宋体"/>
                          <a:cs typeface="宋体"/>
                        </a:rPr>
                        <a:t>许多机器预取指令，</a:t>
                      </a:r>
                      <a:r>
                        <a:rPr dirty="0" sz="2000" spc="-50" b="1">
                          <a:solidFill>
                            <a:srgbClr val="40458B"/>
                          </a:solidFill>
                          <a:latin typeface="宋体"/>
                          <a:cs typeface="宋体"/>
                        </a:rPr>
                        <a:t> </a:t>
                      </a:r>
                      <a:r>
                        <a:rPr dirty="0" sz="2000" b="1">
                          <a:solidFill>
                            <a:srgbClr val="40458B"/>
                          </a:solidFill>
                          <a:latin typeface="宋体"/>
                          <a:cs typeface="宋体"/>
                        </a:rPr>
                        <a:t>UltraSPARC</a:t>
                      </a:r>
                      <a:r>
                        <a:rPr dirty="0" sz="2000" spc="-35" b="1">
                          <a:solidFill>
                            <a:srgbClr val="40458B"/>
                          </a:solidFill>
                          <a:latin typeface="宋体"/>
                          <a:cs typeface="宋体"/>
                        </a:rPr>
                        <a:t> Ⅲ预取数据</a:t>
                      </a:r>
                      <a:endParaRPr sz="2000">
                        <a:latin typeface="宋体"/>
                        <a:cs typeface="宋体"/>
                      </a:endParaRPr>
                    </a:p>
                  </a:txBody>
                  <a:tcPr marL="0" marR="0" marB="0" marT="635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
        <p:nvSpPr>
          <p:cNvPr id="3" name="object 3"/>
          <p:cNvSpPr txBox="1">
            <a:spLocks noGrp="1"/>
          </p:cNvSpPr>
          <p:nvPr>
            <p:ph type="title"/>
          </p:nvPr>
        </p:nvSpPr>
        <p:spPr>
          <a:xfrm>
            <a:off x="4736972" y="194259"/>
            <a:ext cx="2618105" cy="391795"/>
          </a:xfrm>
          <a:prstGeom prst="rect"/>
        </p:spPr>
        <p:txBody>
          <a:bodyPr wrap="square" lIns="0" tIns="12700" rIns="0" bIns="0" rtlCol="0" vert="horz">
            <a:spAutoFit/>
          </a:bodyPr>
          <a:lstStyle/>
          <a:p>
            <a:pPr marL="12700">
              <a:lnSpc>
                <a:spcPct val="100000"/>
              </a:lnSpc>
              <a:spcBef>
                <a:spcPts val="100"/>
              </a:spcBef>
            </a:pPr>
            <a:r>
              <a:rPr dirty="0" u="none" sz="2400" spc="-10">
                <a:solidFill>
                  <a:srgbClr val="000000"/>
                </a:solidFill>
              </a:rPr>
              <a:t>Cache优化技术总结</a:t>
            </a:r>
            <a:endParaRPr sz="240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689163" y="588962"/>
          <a:ext cx="8956040" cy="5929630"/>
        </p:xfrm>
        <a:graphic>
          <a:graphicData uri="http://schemas.openxmlformats.org/drawingml/2006/table">
            <a:tbl>
              <a:tblPr firstRow="1" bandRow="1">
                <a:tableStyleId>{2D5ABB26-0587-4C30-8999-92F81FD0307C}</a:tableStyleId>
              </a:tblPr>
              <a:tblGrid>
                <a:gridCol w="2160270"/>
                <a:gridCol w="791844"/>
                <a:gridCol w="1007744"/>
                <a:gridCol w="718820"/>
                <a:gridCol w="1007745"/>
                <a:gridCol w="3162935"/>
              </a:tblGrid>
              <a:tr h="822960">
                <a:tc>
                  <a:txBody>
                    <a:bodyPr/>
                    <a:lstStyle/>
                    <a:p>
                      <a:pPr algn="ctr">
                        <a:lnSpc>
                          <a:spcPct val="100000"/>
                        </a:lnSpc>
                        <a:spcBef>
                          <a:spcPts val="1600"/>
                        </a:spcBef>
                      </a:pPr>
                      <a:r>
                        <a:rPr dirty="0" sz="2000" spc="-15">
                          <a:solidFill>
                            <a:srgbClr val="E14B04"/>
                          </a:solidFill>
                          <a:latin typeface="黑体"/>
                          <a:cs typeface="黑体"/>
                        </a:rPr>
                        <a:t>优化技术</a:t>
                      </a:r>
                      <a:endParaRPr sz="2000">
                        <a:latin typeface="黑体"/>
                        <a:cs typeface="黑体"/>
                      </a:endParaRPr>
                    </a:p>
                  </a:txBody>
                  <a:tcPr marL="0" marR="0" marB="0" marT="20320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39700" marR="133350" indent="2540">
                        <a:lnSpc>
                          <a:spcPct val="120000"/>
                        </a:lnSpc>
                        <a:spcBef>
                          <a:spcPts val="40"/>
                        </a:spcBef>
                      </a:pPr>
                      <a:r>
                        <a:rPr dirty="0" sz="2000" spc="-25">
                          <a:solidFill>
                            <a:srgbClr val="E14B04"/>
                          </a:solidFill>
                          <a:latin typeface="黑体"/>
                          <a:cs typeface="黑体"/>
                        </a:rPr>
                        <a:t>不命中率</a:t>
                      </a:r>
                      <a:endParaRPr sz="2000">
                        <a:latin typeface="黑体"/>
                        <a:cs typeface="黑体"/>
                      </a:endParaRPr>
                    </a:p>
                  </a:txBody>
                  <a:tcPr marL="0" marR="0" marB="0" marT="508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247650" marR="113664" indent="-125095">
                        <a:lnSpc>
                          <a:spcPts val="2960"/>
                        </a:lnSpc>
                        <a:spcBef>
                          <a:spcPts val="155"/>
                        </a:spcBef>
                      </a:pPr>
                      <a:r>
                        <a:rPr dirty="0" sz="2000" spc="-20">
                          <a:solidFill>
                            <a:srgbClr val="E14B04"/>
                          </a:solidFill>
                          <a:latin typeface="黑体"/>
                          <a:cs typeface="黑体"/>
                        </a:rPr>
                        <a:t>不命中</a:t>
                      </a:r>
                      <a:r>
                        <a:rPr dirty="0" sz="2000" spc="-25">
                          <a:solidFill>
                            <a:srgbClr val="E14B04"/>
                          </a:solidFill>
                          <a:latin typeface="黑体"/>
                          <a:cs typeface="黑体"/>
                        </a:rPr>
                        <a:t>开销</a:t>
                      </a:r>
                      <a:endParaRPr sz="2000">
                        <a:latin typeface="黑体"/>
                        <a:cs typeface="黑体"/>
                      </a:endParaRPr>
                    </a:p>
                  </a:txBody>
                  <a:tcPr marL="0" marR="0" marB="0" marT="1968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02870" marR="95885" indent="2540">
                        <a:lnSpc>
                          <a:spcPct val="126000"/>
                        </a:lnSpc>
                        <a:spcBef>
                          <a:spcPts val="75"/>
                        </a:spcBef>
                      </a:pPr>
                      <a:r>
                        <a:rPr dirty="0" sz="2000" spc="-25">
                          <a:solidFill>
                            <a:srgbClr val="E14B04"/>
                          </a:solidFill>
                          <a:latin typeface="黑体"/>
                          <a:cs typeface="黑体"/>
                        </a:rPr>
                        <a:t>命中时间</a:t>
                      </a:r>
                      <a:endParaRPr sz="2000">
                        <a:latin typeface="黑体"/>
                        <a:cs typeface="黑体"/>
                      </a:endParaRPr>
                    </a:p>
                  </a:txBody>
                  <a:tcPr marL="0" marR="0" marB="0" marT="952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21920" marR="109855" indent="129539">
                        <a:lnSpc>
                          <a:spcPct val="110000"/>
                        </a:lnSpc>
                        <a:spcBef>
                          <a:spcPts val="125"/>
                        </a:spcBef>
                      </a:pPr>
                      <a:r>
                        <a:rPr dirty="0" sz="2000" spc="-25">
                          <a:solidFill>
                            <a:srgbClr val="E14B04"/>
                          </a:solidFill>
                          <a:latin typeface="黑体"/>
                          <a:cs typeface="黑体"/>
                        </a:rPr>
                        <a:t>硬件</a:t>
                      </a:r>
                      <a:r>
                        <a:rPr dirty="0" sz="2000" spc="-20">
                          <a:solidFill>
                            <a:srgbClr val="E14B04"/>
                          </a:solidFill>
                          <a:latin typeface="黑体"/>
                          <a:cs typeface="黑体"/>
                        </a:rPr>
                        <a:t>复杂度</a:t>
                      </a:r>
                      <a:endParaRPr sz="2000">
                        <a:latin typeface="黑体"/>
                        <a:cs typeface="黑体"/>
                      </a:endParaRPr>
                    </a:p>
                  </a:txBody>
                  <a:tcPr marL="0" marR="0" marB="0" marT="15875">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marR="130810">
                        <a:lnSpc>
                          <a:spcPct val="100000"/>
                        </a:lnSpc>
                        <a:spcBef>
                          <a:spcPts val="1780"/>
                        </a:spcBef>
                      </a:pPr>
                      <a:r>
                        <a:rPr dirty="0" sz="2000" spc="-145">
                          <a:solidFill>
                            <a:srgbClr val="E14B04"/>
                          </a:solidFill>
                          <a:latin typeface="黑体"/>
                          <a:cs typeface="黑体"/>
                        </a:rPr>
                        <a:t>说 明</a:t>
                      </a:r>
                      <a:endParaRPr sz="2000">
                        <a:latin typeface="黑体"/>
                        <a:cs typeface="黑体"/>
                      </a:endParaRPr>
                    </a:p>
                  </a:txBody>
                  <a:tcPr marL="0" marR="0" marB="0" marT="22606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1096645">
                <a:tc>
                  <a:txBody>
                    <a:bodyPr/>
                    <a:lstStyle/>
                    <a:p>
                      <a:pPr marL="698500" marR="435609" indent="-253365">
                        <a:lnSpc>
                          <a:spcPct val="141000"/>
                        </a:lnSpc>
                        <a:spcBef>
                          <a:spcPts val="620"/>
                        </a:spcBef>
                      </a:pPr>
                      <a:r>
                        <a:rPr dirty="0" sz="2000" spc="-15">
                          <a:solidFill>
                            <a:srgbClr val="0000CC"/>
                          </a:solidFill>
                          <a:latin typeface="黑体"/>
                          <a:cs typeface="黑体"/>
                        </a:rPr>
                        <a:t>编译器控制</a:t>
                      </a:r>
                      <a:r>
                        <a:rPr dirty="0" sz="2000" spc="-20">
                          <a:solidFill>
                            <a:srgbClr val="0000CC"/>
                          </a:solidFill>
                          <a:latin typeface="黑体"/>
                          <a:cs typeface="黑体"/>
                        </a:rPr>
                        <a:t>的预取</a:t>
                      </a:r>
                      <a:endParaRPr sz="2000">
                        <a:latin typeface="黑体"/>
                        <a:cs typeface="黑体"/>
                      </a:endParaRPr>
                    </a:p>
                  </a:txBody>
                  <a:tcPr marL="0" marR="0" marB="0" marT="7874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0"/>
                        </a:spcBef>
                      </a:pPr>
                      <a:endParaRPr sz="2000">
                        <a:latin typeface="Times New Roman"/>
                        <a:cs typeface="Times New Roman"/>
                      </a:endParaRPr>
                    </a:p>
                    <a:p>
                      <a:pPr algn="ctr" marL="1270">
                        <a:lnSpc>
                          <a:spcPct val="100000"/>
                        </a:lnSpc>
                        <a:spcBef>
                          <a:spcPts val="5"/>
                        </a:spcBef>
                      </a:pPr>
                      <a:r>
                        <a:rPr dirty="0" sz="2000" spc="-50">
                          <a:solidFill>
                            <a:srgbClr val="40458B"/>
                          </a:solidFill>
                          <a:latin typeface="Tahoma"/>
                          <a:cs typeface="Tahoma"/>
                        </a:rPr>
                        <a:t>+</a:t>
                      </a:r>
                      <a:endParaRPr sz="2000">
                        <a:latin typeface="Tahoma"/>
                        <a:cs typeface="Tahoma"/>
                      </a:endParaRPr>
                    </a:p>
                  </a:txBody>
                  <a:tcPr marL="0" marR="0" marB="0" marT="254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0"/>
                        </a:spcBef>
                      </a:pPr>
                      <a:endParaRPr sz="2000">
                        <a:latin typeface="Times New Roman"/>
                        <a:cs typeface="Times New Roman"/>
                      </a:endParaRPr>
                    </a:p>
                    <a:p>
                      <a:pPr algn="ctr" marL="2540">
                        <a:lnSpc>
                          <a:spcPct val="100000"/>
                        </a:lnSpc>
                        <a:spcBef>
                          <a:spcPts val="5"/>
                        </a:spcBef>
                      </a:pPr>
                      <a:r>
                        <a:rPr dirty="0" sz="2000" spc="-50">
                          <a:solidFill>
                            <a:srgbClr val="40458B"/>
                          </a:solidFill>
                          <a:latin typeface="Tahoma"/>
                          <a:cs typeface="Tahoma"/>
                        </a:rPr>
                        <a:t>3</a:t>
                      </a:r>
                      <a:endParaRPr sz="2000">
                        <a:latin typeface="Tahoma"/>
                        <a:cs typeface="Tahoma"/>
                      </a:endParaRPr>
                    </a:p>
                  </a:txBody>
                  <a:tcPr marL="0" marR="0" marB="0" marT="254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112395">
                        <a:lnSpc>
                          <a:spcPct val="110000"/>
                        </a:lnSpc>
                        <a:spcBef>
                          <a:spcPts val="100"/>
                        </a:spcBef>
                      </a:pPr>
                      <a:r>
                        <a:rPr dirty="0" sz="2000" spc="-20" b="1">
                          <a:solidFill>
                            <a:srgbClr val="40458B"/>
                          </a:solidFill>
                          <a:latin typeface="宋体"/>
                          <a:cs typeface="宋体"/>
                        </a:rPr>
                        <a:t>需同时采用非阻塞</a:t>
                      </a:r>
                      <a:r>
                        <a:rPr dirty="0" sz="2000" spc="-10" b="1">
                          <a:solidFill>
                            <a:srgbClr val="40458B"/>
                          </a:solidFill>
                          <a:latin typeface="宋体"/>
                          <a:cs typeface="宋体"/>
                        </a:rPr>
                        <a:t>Cache；</a:t>
                      </a:r>
                      <a:r>
                        <a:rPr dirty="0" sz="2000" spc="-15" b="1">
                          <a:solidFill>
                            <a:srgbClr val="40458B"/>
                          </a:solidFill>
                          <a:latin typeface="宋体"/>
                          <a:cs typeface="宋体"/>
                        </a:rPr>
                        <a:t>有几种微处理器提供了对</a:t>
                      </a:r>
                      <a:r>
                        <a:rPr dirty="0" sz="2000" spc="-20" b="1">
                          <a:solidFill>
                            <a:srgbClr val="40458B"/>
                          </a:solidFill>
                          <a:latin typeface="宋体"/>
                          <a:cs typeface="宋体"/>
                        </a:rPr>
                        <a:t>这种预取的支持</a:t>
                      </a:r>
                      <a:endParaRPr sz="2000">
                        <a:latin typeface="宋体"/>
                        <a:cs typeface="宋体"/>
                      </a:endParaRPr>
                    </a:p>
                  </a:txBody>
                  <a:tcPr marL="0" marR="0" marB="0" marT="1270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960">
                <a:tc>
                  <a:txBody>
                    <a:bodyPr/>
                    <a:lstStyle/>
                    <a:p>
                      <a:pPr marL="191135">
                        <a:lnSpc>
                          <a:spcPct val="100000"/>
                        </a:lnSpc>
                        <a:spcBef>
                          <a:spcPts val="430"/>
                        </a:spcBef>
                      </a:pPr>
                      <a:r>
                        <a:rPr dirty="0" sz="2000" spc="-20">
                          <a:solidFill>
                            <a:srgbClr val="0000CC"/>
                          </a:solidFill>
                          <a:latin typeface="黑体"/>
                          <a:cs typeface="黑体"/>
                        </a:rPr>
                        <a:t>用编译技术减少</a:t>
                      </a:r>
                      <a:endParaRPr sz="2000">
                        <a:latin typeface="黑体"/>
                        <a:cs typeface="黑体"/>
                      </a:endParaRPr>
                    </a:p>
                    <a:p>
                      <a:pPr marL="127000">
                        <a:lnSpc>
                          <a:spcPct val="100000"/>
                        </a:lnSpc>
                      </a:pPr>
                      <a:r>
                        <a:rPr dirty="0" sz="2000" spc="-10">
                          <a:solidFill>
                            <a:srgbClr val="0000CC"/>
                          </a:solidFill>
                          <a:latin typeface="黑体"/>
                          <a:cs typeface="黑体"/>
                        </a:rPr>
                        <a:t>Cache</a:t>
                      </a:r>
                      <a:r>
                        <a:rPr dirty="0" sz="2000" spc="-15">
                          <a:solidFill>
                            <a:srgbClr val="0000CC"/>
                          </a:solidFill>
                          <a:latin typeface="黑体"/>
                          <a:cs typeface="黑体"/>
                        </a:rPr>
                        <a:t>不命中次数</a:t>
                      </a:r>
                      <a:endParaRPr sz="2000">
                        <a:latin typeface="黑体"/>
                        <a:cs typeface="黑体"/>
                      </a:endParaRPr>
                    </a:p>
                  </a:txBody>
                  <a:tcPr marL="0" marR="0" marB="0" marT="5461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270">
                        <a:lnSpc>
                          <a:spcPct val="100000"/>
                        </a:lnSpc>
                        <a:spcBef>
                          <a:spcPts val="1425"/>
                        </a:spcBef>
                      </a:pPr>
                      <a:r>
                        <a:rPr dirty="0" sz="2000" spc="-50">
                          <a:solidFill>
                            <a:srgbClr val="40458B"/>
                          </a:solidFill>
                          <a:latin typeface="Tahoma"/>
                          <a:cs typeface="Tahoma"/>
                        </a:rPr>
                        <a:t>+</a:t>
                      </a:r>
                      <a:endParaRPr sz="2000">
                        <a:latin typeface="Tahoma"/>
                        <a:cs typeface="Tahoma"/>
                      </a:endParaRPr>
                    </a:p>
                  </a:txBody>
                  <a:tcPr marL="0" marR="0" marB="0" marT="1809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425"/>
                        </a:spcBef>
                      </a:pPr>
                      <a:r>
                        <a:rPr dirty="0" sz="2000" spc="-50">
                          <a:solidFill>
                            <a:srgbClr val="40458B"/>
                          </a:solidFill>
                          <a:latin typeface="Tahoma"/>
                          <a:cs typeface="Tahoma"/>
                        </a:rPr>
                        <a:t>0</a:t>
                      </a:r>
                      <a:endParaRPr sz="2000">
                        <a:latin typeface="Tahoma"/>
                        <a:cs typeface="Tahoma"/>
                      </a:endParaRPr>
                    </a:p>
                  </a:txBody>
                  <a:tcPr marL="0" marR="0" marB="0" marT="1809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246379">
                        <a:lnSpc>
                          <a:spcPct val="120000"/>
                        </a:lnSpc>
                        <a:spcBef>
                          <a:spcPts val="45"/>
                        </a:spcBef>
                      </a:pPr>
                      <a:r>
                        <a:rPr dirty="0" sz="2000" spc="-15" b="1">
                          <a:solidFill>
                            <a:srgbClr val="40458B"/>
                          </a:solidFill>
                          <a:latin typeface="宋体"/>
                          <a:cs typeface="宋体"/>
                        </a:rPr>
                        <a:t>向软件提出了新要求；有些机器提供了编译器选项</a:t>
                      </a:r>
                      <a:endParaRPr sz="2000">
                        <a:latin typeface="宋体"/>
                        <a:cs typeface="宋体"/>
                      </a:endParaRPr>
                    </a:p>
                  </a:txBody>
                  <a:tcPr marL="0" marR="0" marB="0" marT="571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31520">
                <a:tc>
                  <a:txBody>
                    <a:bodyPr/>
                    <a:lstStyle/>
                    <a:p>
                      <a:pPr marL="445770">
                        <a:lnSpc>
                          <a:spcPct val="100000"/>
                        </a:lnSpc>
                        <a:spcBef>
                          <a:spcPts val="425"/>
                        </a:spcBef>
                      </a:pPr>
                      <a:r>
                        <a:rPr dirty="0" sz="2000" spc="-20">
                          <a:solidFill>
                            <a:srgbClr val="0000CC"/>
                          </a:solidFill>
                          <a:latin typeface="黑体"/>
                          <a:cs typeface="黑体"/>
                        </a:rPr>
                        <a:t>使读不命中</a:t>
                      </a:r>
                      <a:endParaRPr sz="2000">
                        <a:latin typeface="黑体"/>
                        <a:cs typeface="黑体"/>
                      </a:endParaRPr>
                    </a:p>
                    <a:p>
                      <a:pPr marL="570865">
                        <a:lnSpc>
                          <a:spcPct val="100000"/>
                        </a:lnSpc>
                        <a:spcBef>
                          <a:spcPts val="245"/>
                        </a:spcBef>
                      </a:pPr>
                      <a:r>
                        <a:rPr dirty="0" sz="2000" spc="-15">
                          <a:solidFill>
                            <a:srgbClr val="0000CC"/>
                          </a:solidFill>
                          <a:latin typeface="黑体"/>
                          <a:cs typeface="黑体"/>
                        </a:rPr>
                        <a:t>优先于写</a:t>
                      </a:r>
                      <a:endParaRPr sz="2000">
                        <a:latin typeface="黑体"/>
                        <a:cs typeface="黑体"/>
                      </a:endParaRPr>
                    </a:p>
                  </a:txBody>
                  <a:tcPr marL="0" marR="0" marB="0" marT="5397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605"/>
                        </a:spcBef>
                      </a:pPr>
                      <a:r>
                        <a:rPr dirty="0" sz="2000" spc="-50">
                          <a:solidFill>
                            <a:srgbClr val="40458B"/>
                          </a:solidFill>
                          <a:latin typeface="Tahoma"/>
                          <a:cs typeface="Tahoma"/>
                        </a:rPr>
                        <a:t>+</a:t>
                      </a:r>
                      <a:endParaRPr sz="2000">
                        <a:latin typeface="Tahoma"/>
                        <a:cs typeface="Tahoma"/>
                      </a:endParaRPr>
                    </a:p>
                  </a:txBody>
                  <a:tcPr marL="0" marR="0" marB="0" marT="2038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605"/>
                        </a:spcBef>
                      </a:pPr>
                      <a:r>
                        <a:rPr dirty="0" sz="2000" spc="-50">
                          <a:solidFill>
                            <a:srgbClr val="40458B"/>
                          </a:solidFill>
                          <a:latin typeface="Symbol"/>
                          <a:cs typeface="Symbol"/>
                        </a:rPr>
                        <a:t></a:t>
                      </a:r>
                      <a:endParaRPr sz="2000">
                        <a:latin typeface="Symbol"/>
                        <a:cs typeface="Symbol"/>
                      </a:endParaRPr>
                    </a:p>
                  </a:txBody>
                  <a:tcPr marL="0" marR="0" marB="0" marT="2038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605"/>
                        </a:spcBef>
                      </a:pPr>
                      <a:r>
                        <a:rPr dirty="0" sz="2000" spc="-50">
                          <a:solidFill>
                            <a:srgbClr val="40458B"/>
                          </a:solidFill>
                          <a:latin typeface="Tahoma"/>
                          <a:cs typeface="Tahoma"/>
                        </a:rPr>
                        <a:t>1</a:t>
                      </a:r>
                      <a:endParaRPr sz="2000">
                        <a:latin typeface="Tahoma"/>
                        <a:cs typeface="Tahoma"/>
                      </a:endParaRPr>
                    </a:p>
                  </a:txBody>
                  <a:tcPr marL="0" marR="0" marB="0" marT="2038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130810">
                        <a:lnSpc>
                          <a:spcPct val="100000"/>
                        </a:lnSpc>
                        <a:spcBef>
                          <a:spcPts val="425"/>
                        </a:spcBef>
                      </a:pPr>
                      <a:r>
                        <a:rPr dirty="0" sz="2000" spc="-20" b="1">
                          <a:solidFill>
                            <a:srgbClr val="40458B"/>
                          </a:solidFill>
                          <a:latin typeface="宋体"/>
                          <a:cs typeface="宋体"/>
                        </a:rPr>
                        <a:t>在单处理机上实现容易，</a:t>
                      </a:r>
                      <a:endParaRPr sz="2000">
                        <a:latin typeface="宋体"/>
                        <a:cs typeface="宋体"/>
                      </a:endParaRPr>
                    </a:p>
                    <a:p>
                      <a:pPr marL="92075" marR="130810">
                        <a:lnSpc>
                          <a:spcPct val="100000"/>
                        </a:lnSpc>
                        <a:spcBef>
                          <a:spcPts val="5"/>
                        </a:spcBef>
                      </a:pPr>
                      <a:r>
                        <a:rPr dirty="0" sz="2000" spc="-20" b="1">
                          <a:solidFill>
                            <a:srgbClr val="40458B"/>
                          </a:solidFill>
                          <a:latin typeface="宋体"/>
                          <a:cs typeface="宋体"/>
                        </a:rPr>
                        <a:t>被广泛采用</a:t>
                      </a:r>
                      <a:endParaRPr sz="2000">
                        <a:latin typeface="宋体"/>
                        <a:cs typeface="宋体"/>
                      </a:endParaRPr>
                    </a:p>
                  </a:txBody>
                  <a:tcPr marL="0" marR="0" marB="0" marT="539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914400">
                <a:tc>
                  <a:txBody>
                    <a:bodyPr/>
                    <a:lstStyle/>
                    <a:p>
                      <a:pPr algn="ctr">
                        <a:lnSpc>
                          <a:spcPct val="100000"/>
                        </a:lnSpc>
                        <a:spcBef>
                          <a:spcPts val="1785"/>
                        </a:spcBef>
                      </a:pPr>
                      <a:r>
                        <a:rPr dirty="0" sz="2000" spc="-15">
                          <a:solidFill>
                            <a:srgbClr val="0000CC"/>
                          </a:solidFill>
                          <a:latin typeface="黑体"/>
                          <a:cs typeface="黑体"/>
                        </a:rPr>
                        <a:t>写缓冲归并</a:t>
                      </a:r>
                      <a:endParaRPr sz="2000">
                        <a:latin typeface="黑体"/>
                        <a:cs typeface="黑体"/>
                      </a:endParaRPr>
                    </a:p>
                  </a:txBody>
                  <a:tcPr marL="0" marR="0" marB="0" marT="22669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785"/>
                        </a:spcBef>
                      </a:pPr>
                      <a:r>
                        <a:rPr dirty="0" sz="2000" spc="-50">
                          <a:solidFill>
                            <a:srgbClr val="40458B"/>
                          </a:solidFill>
                          <a:latin typeface="Tahoma"/>
                          <a:cs typeface="Tahoma"/>
                        </a:rPr>
                        <a:t>+</a:t>
                      </a:r>
                      <a:endParaRPr sz="2000">
                        <a:latin typeface="Tahoma"/>
                        <a:cs typeface="Tahoma"/>
                      </a:endParaRPr>
                    </a:p>
                  </a:txBody>
                  <a:tcPr marL="0" marR="0" marB="0" marT="2266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785"/>
                        </a:spcBef>
                      </a:pPr>
                      <a:r>
                        <a:rPr dirty="0" sz="2000" spc="-50">
                          <a:solidFill>
                            <a:srgbClr val="40458B"/>
                          </a:solidFill>
                          <a:latin typeface="Tahoma"/>
                          <a:cs typeface="Tahoma"/>
                        </a:rPr>
                        <a:t>1</a:t>
                      </a:r>
                      <a:endParaRPr sz="2000">
                        <a:latin typeface="Tahoma"/>
                        <a:cs typeface="Tahoma"/>
                      </a:endParaRPr>
                    </a:p>
                  </a:txBody>
                  <a:tcPr marL="0" marR="0" marB="0" marT="2266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ts val="2160"/>
                        </a:lnSpc>
                        <a:spcBef>
                          <a:spcPts val="459"/>
                        </a:spcBef>
                      </a:pPr>
                      <a:r>
                        <a:rPr dirty="0" sz="2000" spc="-25" b="1">
                          <a:solidFill>
                            <a:srgbClr val="40458B"/>
                          </a:solidFill>
                          <a:latin typeface="宋体"/>
                          <a:cs typeface="宋体"/>
                        </a:rPr>
                        <a:t>与写直达合用，广泛应用，</a:t>
                      </a:r>
                      <a:r>
                        <a:rPr dirty="0" sz="2000" spc="-10" b="1">
                          <a:solidFill>
                            <a:srgbClr val="40458B"/>
                          </a:solidFill>
                          <a:latin typeface="宋体"/>
                          <a:cs typeface="宋体"/>
                        </a:rPr>
                        <a:t>例如21164，UltraSPARC</a:t>
                      </a:r>
                      <a:r>
                        <a:rPr dirty="0" sz="2000" spc="-10" b="1">
                          <a:solidFill>
                            <a:srgbClr val="40458B"/>
                          </a:solidFill>
                          <a:latin typeface="宋体"/>
                          <a:cs typeface="宋体"/>
                        </a:rPr>
                        <a:t>  </a:t>
                      </a:r>
                      <a:r>
                        <a:rPr dirty="0" sz="2000" spc="-50" b="1">
                          <a:solidFill>
                            <a:srgbClr val="40458B"/>
                          </a:solidFill>
                          <a:latin typeface="宋体"/>
                          <a:cs typeface="宋体"/>
                        </a:rPr>
                        <a:t>Ⅲ</a:t>
                      </a:r>
                      <a:endParaRPr sz="2000">
                        <a:latin typeface="宋体"/>
                        <a:cs typeface="宋体"/>
                      </a:endParaRPr>
                    </a:p>
                  </a:txBody>
                  <a:tcPr marL="0" marR="0" marB="0" marT="58419">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18820">
                <a:tc>
                  <a:txBody>
                    <a:bodyPr/>
                    <a:lstStyle/>
                    <a:p>
                      <a:pPr marL="317500" marR="309245" indent="127635">
                        <a:lnSpc>
                          <a:spcPts val="2640"/>
                        </a:lnSpc>
                        <a:spcBef>
                          <a:spcPts val="80"/>
                        </a:spcBef>
                      </a:pPr>
                      <a:r>
                        <a:rPr dirty="0" sz="2000" spc="-15">
                          <a:solidFill>
                            <a:srgbClr val="0000CC"/>
                          </a:solidFill>
                          <a:latin typeface="黑体"/>
                          <a:cs typeface="黑体"/>
                        </a:rPr>
                        <a:t>尽早重启动和关键字优先</a:t>
                      </a:r>
                      <a:endParaRPr sz="2000">
                        <a:latin typeface="黑体"/>
                        <a:cs typeface="黑体"/>
                      </a:endParaRPr>
                    </a:p>
                  </a:txBody>
                  <a:tcPr marL="0" marR="0" marB="0" marT="1016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430"/>
                        </a:spcBef>
                      </a:pPr>
                      <a:r>
                        <a:rPr dirty="0" sz="2000" spc="-50">
                          <a:solidFill>
                            <a:srgbClr val="40458B"/>
                          </a:solidFill>
                          <a:latin typeface="Tahoma"/>
                          <a:cs typeface="Tahoma"/>
                        </a:rPr>
                        <a:t>+</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430"/>
                        </a:spcBef>
                      </a:pPr>
                      <a:r>
                        <a:rPr dirty="0" sz="2000" spc="-50">
                          <a:solidFill>
                            <a:srgbClr val="40458B"/>
                          </a:solidFill>
                          <a:latin typeface="Tahoma"/>
                          <a:cs typeface="Tahoma"/>
                        </a:rPr>
                        <a:t>2</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130810">
                        <a:lnSpc>
                          <a:spcPct val="100000"/>
                        </a:lnSpc>
                        <a:spcBef>
                          <a:spcPts val="1250"/>
                        </a:spcBef>
                      </a:pPr>
                      <a:r>
                        <a:rPr dirty="0" sz="2000" spc="-20" b="1">
                          <a:solidFill>
                            <a:srgbClr val="40458B"/>
                          </a:solidFill>
                          <a:latin typeface="宋体"/>
                          <a:cs typeface="宋体"/>
                        </a:rPr>
                        <a:t>被广泛采用</a:t>
                      </a:r>
                      <a:endParaRPr sz="2000">
                        <a:latin typeface="宋体"/>
                        <a:cs typeface="宋体"/>
                      </a:endParaRPr>
                    </a:p>
                  </a:txBody>
                  <a:tcPr marL="0" marR="0" marB="0" marT="15875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325">
                <a:tc>
                  <a:txBody>
                    <a:bodyPr/>
                    <a:lstStyle/>
                    <a:p>
                      <a:pPr algn="ctr" marL="635">
                        <a:lnSpc>
                          <a:spcPct val="100000"/>
                        </a:lnSpc>
                        <a:spcBef>
                          <a:spcPts val="1430"/>
                        </a:spcBef>
                      </a:pPr>
                      <a:r>
                        <a:rPr dirty="0" sz="2000" spc="-10">
                          <a:solidFill>
                            <a:srgbClr val="0000CC"/>
                          </a:solidFill>
                          <a:latin typeface="黑体"/>
                          <a:cs typeface="黑体"/>
                        </a:rPr>
                        <a:t>非阻塞Cache</a:t>
                      </a:r>
                      <a:endParaRPr sz="2000">
                        <a:latin typeface="黑体"/>
                        <a:cs typeface="黑体"/>
                      </a:endParaRPr>
                    </a:p>
                  </a:txBody>
                  <a:tcPr marL="0" marR="0" marB="0" marT="18161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1610"/>
                        </a:spcBef>
                      </a:pPr>
                      <a:r>
                        <a:rPr dirty="0" sz="2000" spc="-50">
                          <a:solidFill>
                            <a:srgbClr val="40458B"/>
                          </a:solidFill>
                          <a:latin typeface="Tahoma"/>
                          <a:cs typeface="Tahoma"/>
                        </a:rPr>
                        <a:t>+</a:t>
                      </a:r>
                      <a:endParaRPr sz="2000">
                        <a:latin typeface="Tahoma"/>
                        <a:cs typeface="Tahoma"/>
                      </a:endParaRPr>
                    </a:p>
                  </a:txBody>
                  <a:tcPr marL="0" marR="0" marB="0" marT="20447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1610"/>
                        </a:spcBef>
                      </a:pPr>
                      <a:r>
                        <a:rPr dirty="0" sz="2000" spc="-50">
                          <a:solidFill>
                            <a:srgbClr val="40458B"/>
                          </a:solidFill>
                          <a:latin typeface="Tahoma"/>
                          <a:cs typeface="Tahoma"/>
                        </a:rPr>
                        <a:t>3</a:t>
                      </a:r>
                      <a:endParaRPr sz="2000">
                        <a:latin typeface="Tahoma"/>
                        <a:cs typeface="Tahoma"/>
                      </a:endParaRPr>
                    </a:p>
                  </a:txBody>
                  <a:tcPr marL="0" marR="0" marB="0" marT="20447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marR="373380">
                        <a:lnSpc>
                          <a:spcPct val="120100"/>
                        </a:lnSpc>
                        <a:spcBef>
                          <a:spcPts val="45"/>
                        </a:spcBef>
                      </a:pPr>
                      <a:r>
                        <a:rPr dirty="0" sz="2000" spc="-10" b="1">
                          <a:solidFill>
                            <a:srgbClr val="40458B"/>
                          </a:solidFill>
                          <a:latin typeface="宋体"/>
                          <a:cs typeface="宋体"/>
                        </a:rPr>
                        <a:t>在支持乱序执行的CPU</a:t>
                      </a:r>
                      <a:r>
                        <a:rPr dirty="0" sz="2000" spc="-50" b="1">
                          <a:solidFill>
                            <a:srgbClr val="40458B"/>
                          </a:solidFill>
                          <a:latin typeface="宋体"/>
                          <a:cs typeface="宋体"/>
                        </a:rPr>
                        <a:t>中</a:t>
                      </a:r>
                      <a:r>
                        <a:rPr dirty="0" sz="2000" spc="-30" b="1">
                          <a:solidFill>
                            <a:srgbClr val="40458B"/>
                          </a:solidFill>
                          <a:latin typeface="宋体"/>
                          <a:cs typeface="宋体"/>
                        </a:rPr>
                        <a:t>使用</a:t>
                      </a:r>
                      <a:endParaRPr sz="2000">
                        <a:latin typeface="宋体"/>
                        <a:cs typeface="宋体"/>
                      </a:endParaRPr>
                    </a:p>
                  </a:txBody>
                  <a:tcPr marL="0" marR="0" marB="0" marT="5715">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1760537" y="658812"/>
          <a:ext cx="8884285" cy="5400040"/>
        </p:xfrm>
        <a:graphic>
          <a:graphicData uri="http://schemas.openxmlformats.org/drawingml/2006/table">
            <a:tbl>
              <a:tblPr firstRow="1" bandRow="1">
                <a:tableStyleId>{2D5ABB26-0587-4C30-8999-92F81FD0307C}</a:tableStyleId>
              </a:tblPr>
              <a:tblGrid>
                <a:gridCol w="2089150"/>
                <a:gridCol w="792480"/>
                <a:gridCol w="1008380"/>
                <a:gridCol w="719454"/>
                <a:gridCol w="1008380"/>
                <a:gridCol w="3163570"/>
              </a:tblGrid>
              <a:tr h="861694">
                <a:tc>
                  <a:txBody>
                    <a:bodyPr/>
                    <a:lstStyle/>
                    <a:p>
                      <a:pPr algn="ctr">
                        <a:lnSpc>
                          <a:spcPct val="100000"/>
                        </a:lnSpc>
                        <a:spcBef>
                          <a:spcPts val="1600"/>
                        </a:spcBef>
                      </a:pPr>
                      <a:r>
                        <a:rPr dirty="0" sz="2000" spc="-15">
                          <a:solidFill>
                            <a:srgbClr val="E14B04"/>
                          </a:solidFill>
                          <a:latin typeface="黑体"/>
                          <a:cs typeface="黑体"/>
                        </a:rPr>
                        <a:t>优化技术</a:t>
                      </a:r>
                      <a:endParaRPr sz="2000">
                        <a:latin typeface="黑体"/>
                        <a:cs typeface="黑体"/>
                      </a:endParaRPr>
                    </a:p>
                  </a:txBody>
                  <a:tcPr marL="0" marR="0" marB="0" marT="203200">
                    <a:lnL w="28575">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42875">
                        <a:lnSpc>
                          <a:spcPct val="100000"/>
                        </a:lnSpc>
                        <a:spcBef>
                          <a:spcPts val="520"/>
                        </a:spcBef>
                      </a:pPr>
                      <a:r>
                        <a:rPr dirty="0" sz="2000" spc="-25">
                          <a:solidFill>
                            <a:srgbClr val="E14B04"/>
                          </a:solidFill>
                          <a:latin typeface="黑体"/>
                          <a:cs typeface="黑体"/>
                        </a:rPr>
                        <a:t>不命</a:t>
                      </a:r>
                      <a:endParaRPr sz="2000">
                        <a:latin typeface="黑体"/>
                        <a:cs typeface="黑体"/>
                      </a:endParaRPr>
                    </a:p>
                    <a:p>
                      <a:pPr marL="139700">
                        <a:lnSpc>
                          <a:spcPct val="100000"/>
                        </a:lnSpc>
                        <a:spcBef>
                          <a:spcPts val="480"/>
                        </a:spcBef>
                      </a:pPr>
                      <a:r>
                        <a:rPr dirty="0" sz="2000" spc="-25">
                          <a:solidFill>
                            <a:srgbClr val="E14B04"/>
                          </a:solidFill>
                          <a:latin typeface="黑体"/>
                          <a:cs typeface="黑体"/>
                        </a:rPr>
                        <a:t>中率</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22555">
                        <a:lnSpc>
                          <a:spcPct val="100000"/>
                        </a:lnSpc>
                        <a:spcBef>
                          <a:spcPts val="520"/>
                        </a:spcBef>
                      </a:pPr>
                      <a:r>
                        <a:rPr dirty="0" sz="2000" spc="-20">
                          <a:solidFill>
                            <a:srgbClr val="E14B04"/>
                          </a:solidFill>
                          <a:latin typeface="黑体"/>
                          <a:cs typeface="黑体"/>
                        </a:rPr>
                        <a:t>不命中</a:t>
                      </a:r>
                      <a:endParaRPr sz="2000">
                        <a:latin typeface="黑体"/>
                        <a:cs typeface="黑体"/>
                      </a:endParaRPr>
                    </a:p>
                    <a:p>
                      <a:pPr marL="247650">
                        <a:lnSpc>
                          <a:spcPct val="100000"/>
                        </a:lnSpc>
                        <a:spcBef>
                          <a:spcPts val="805"/>
                        </a:spcBef>
                      </a:pPr>
                      <a:r>
                        <a:rPr dirty="0" sz="2000" spc="-25">
                          <a:solidFill>
                            <a:srgbClr val="E14B04"/>
                          </a:solidFill>
                          <a:latin typeface="黑体"/>
                          <a:cs typeface="黑体"/>
                        </a:rPr>
                        <a:t>开销</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marL="106045">
                        <a:lnSpc>
                          <a:spcPct val="100000"/>
                        </a:lnSpc>
                        <a:spcBef>
                          <a:spcPts val="520"/>
                        </a:spcBef>
                      </a:pPr>
                      <a:r>
                        <a:rPr dirty="0" sz="2000" spc="-25">
                          <a:solidFill>
                            <a:srgbClr val="E14B04"/>
                          </a:solidFill>
                          <a:latin typeface="黑体"/>
                          <a:cs typeface="黑体"/>
                        </a:rPr>
                        <a:t>命中</a:t>
                      </a:r>
                      <a:endParaRPr sz="2000">
                        <a:latin typeface="黑体"/>
                        <a:cs typeface="黑体"/>
                      </a:endParaRPr>
                    </a:p>
                    <a:p>
                      <a:pPr marL="102870">
                        <a:lnSpc>
                          <a:spcPct val="100000"/>
                        </a:lnSpc>
                        <a:spcBef>
                          <a:spcPts val="780"/>
                        </a:spcBef>
                      </a:pPr>
                      <a:r>
                        <a:rPr dirty="0" sz="2000" spc="-25">
                          <a:solidFill>
                            <a:srgbClr val="E14B04"/>
                          </a:solidFill>
                          <a:latin typeface="黑体"/>
                          <a:cs typeface="黑体"/>
                        </a:rPr>
                        <a:t>时间</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3810">
                        <a:lnSpc>
                          <a:spcPct val="100000"/>
                        </a:lnSpc>
                        <a:spcBef>
                          <a:spcPts val="520"/>
                        </a:spcBef>
                      </a:pPr>
                      <a:r>
                        <a:rPr dirty="0" sz="2000" spc="-25">
                          <a:solidFill>
                            <a:srgbClr val="E14B04"/>
                          </a:solidFill>
                          <a:latin typeface="黑体"/>
                          <a:cs typeface="黑体"/>
                        </a:rPr>
                        <a:t>硬件</a:t>
                      </a:r>
                      <a:endParaRPr sz="2000">
                        <a:latin typeface="黑体"/>
                        <a:cs typeface="黑体"/>
                      </a:endParaRPr>
                    </a:p>
                    <a:p>
                      <a:pPr algn="ctr" marL="3810">
                        <a:lnSpc>
                          <a:spcPct val="100000"/>
                        </a:lnSpc>
                        <a:spcBef>
                          <a:spcPts val="780"/>
                        </a:spcBef>
                      </a:pPr>
                      <a:r>
                        <a:rPr dirty="0" sz="2000" spc="-20">
                          <a:solidFill>
                            <a:srgbClr val="E14B04"/>
                          </a:solidFill>
                          <a:latin typeface="黑体"/>
                          <a:cs typeface="黑体"/>
                        </a:rPr>
                        <a:t>复杂度</a:t>
                      </a:r>
                      <a:endParaRPr sz="2000">
                        <a:latin typeface="黑体"/>
                        <a:cs typeface="黑体"/>
                      </a:endParaRPr>
                    </a:p>
                  </a:txBody>
                  <a:tcPr marL="0" marR="0" marB="0" marT="66040">
                    <a:lnL w="12700">
                      <a:solidFill>
                        <a:srgbClr val="40458B"/>
                      </a:solidFill>
                      <a:prstDash val="solid"/>
                    </a:lnL>
                    <a:lnR w="12700">
                      <a:solidFill>
                        <a:srgbClr val="40458B"/>
                      </a:solidFill>
                      <a:prstDash val="solid"/>
                    </a:lnR>
                    <a:lnT w="28575">
                      <a:solidFill>
                        <a:srgbClr val="40458B"/>
                      </a:solidFill>
                      <a:prstDash val="solid"/>
                    </a:lnT>
                    <a:lnB w="12700">
                      <a:solidFill>
                        <a:srgbClr val="40458B"/>
                      </a:solidFill>
                      <a:prstDash val="solid"/>
                    </a:lnB>
                  </a:tcPr>
                </a:tc>
                <a:tc>
                  <a:txBody>
                    <a:bodyPr/>
                    <a:lstStyle/>
                    <a:p>
                      <a:pPr algn="ctr" marL="1270" marR="130810">
                        <a:lnSpc>
                          <a:spcPct val="100000"/>
                        </a:lnSpc>
                        <a:spcBef>
                          <a:spcPts val="1780"/>
                        </a:spcBef>
                      </a:pPr>
                      <a:r>
                        <a:rPr dirty="0" sz="2000" spc="-145">
                          <a:solidFill>
                            <a:srgbClr val="E14B04"/>
                          </a:solidFill>
                          <a:latin typeface="黑体"/>
                          <a:cs typeface="黑体"/>
                        </a:rPr>
                        <a:t>说 明</a:t>
                      </a:r>
                      <a:endParaRPr sz="2000">
                        <a:latin typeface="黑体"/>
                        <a:cs typeface="黑体"/>
                      </a:endParaRPr>
                    </a:p>
                  </a:txBody>
                  <a:tcPr marL="0" marR="0" marB="0" marT="226060">
                    <a:lnL w="12700">
                      <a:solidFill>
                        <a:srgbClr val="40458B"/>
                      </a:solidFill>
                      <a:prstDash val="solid"/>
                    </a:lnL>
                    <a:lnR w="28575">
                      <a:solidFill>
                        <a:srgbClr val="40458B"/>
                      </a:solidFill>
                      <a:prstDash val="solid"/>
                    </a:lnR>
                    <a:lnT w="28575">
                      <a:solidFill>
                        <a:srgbClr val="40458B"/>
                      </a:solidFill>
                      <a:prstDash val="solid"/>
                    </a:lnT>
                    <a:lnB w="12700">
                      <a:solidFill>
                        <a:srgbClr val="40458B"/>
                      </a:solidFill>
                      <a:prstDash val="solid"/>
                    </a:lnB>
                  </a:tcPr>
                </a:tc>
              </a:tr>
              <a:tr h="1009015">
                <a:tc>
                  <a:txBody>
                    <a:bodyPr/>
                    <a:lstStyle/>
                    <a:p>
                      <a:pPr>
                        <a:lnSpc>
                          <a:spcPct val="100000"/>
                        </a:lnSpc>
                        <a:spcBef>
                          <a:spcPts val="200"/>
                        </a:spcBef>
                      </a:pPr>
                      <a:endParaRPr sz="2000">
                        <a:latin typeface="Times New Roman"/>
                        <a:cs typeface="Times New Roman"/>
                      </a:endParaRPr>
                    </a:p>
                    <a:p>
                      <a:pPr algn="ctr" marL="635">
                        <a:lnSpc>
                          <a:spcPct val="100000"/>
                        </a:lnSpc>
                        <a:spcBef>
                          <a:spcPts val="5"/>
                        </a:spcBef>
                      </a:pPr>
                      <a:r>
                        <a:rPr dirty="0" sz="2000">
                          <a:solidFill>
                            <a:srgbClr val="0000CC"/>
                          </a:solidFill>
                          <a:latin typeface="黑体"/>
                          <a:cs typeface="黑体"/>
                        </a:rPr>
                        <a:t>两级</a:t>
                      </a:r>
                      <a:r>
                        <a:rPr dirty="0" sz="2000" spc="-10">
                          <a:solidFill>
                            <a:srgbClr val="0000CC"/>
                          </a:solidFill>
                          <a:latin typeface="黑体"/>
                          <a:cs typeface="黑体"/>
                        </a:rPr>
                        <a:t>Cache</a:t>
                      </a:r>
                      <a:endParaRPr sz="2000">
                        <a:latin typeface="黑体"/>
                        <a:cs typeface="黑体"/>
                      </a:endParaRPr>
                    </a:p>
                  </a:txBody>
                  <a:tcPr marL="0" marR="0" marB="0" marT="2540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0"/>
                        </a:spcBef>
                      </a:pPr>
                      <a:endParaRPr sz="2000">
                        <a:latin typeface="Times New Roman"/>
                        <a:cs typeface="Times New Roman"/>
                      </a:endParaRPr>
                    </a:p>
                    <a:p>
                      <a:pPr algn="ctr" marL="1905">
                        <a:lnSpc>
                          <a:spcPct val="100000"/>
                        </a:lnSpc>
                        <a:spcBef>
                          <a:spcPts val="5"/>
                        </a:spcBef>
                      </a:pPr>
                      <a:r>
                        <a:rPr dirty="0" sz="2000" spc="-50">
                          <a:solidFill>
                            <a:srgbClr val="40458B"/>
                          </a:solidFill>
                          <a:latin typeface="Tahoma"/>
                          <a:cs typeface="Tahoma"/>
                        </a:rPr>
                        <a:t>+</a:t>
                      </a:r>
                      <a:endParaRPr sz="2000">
                        <a:latin typeface="Tahoma"/>
                        <a:cs typeface="Tahoma"/>
                      </a:endParaRPr>
                    </a:p>
                  </a:txBody>
                  <a:tcPr marL="0" marR="0" marB="0" marT="254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200"/>
                        </a:spcBef>
                      </a:pPr>
                      <a:endParaRPr sz="2000">
                        <a:latin typeface="Times New Roman"/>
                        <a:cs typeface="Times New Roman"/>
                      </a:endParaRPr>
                    </a:p>
                    <a:p>
                      <a:pPr algn="ctr" marL="2540">
                        <a:lnSpc>
                          <a:spcPct val="100000"/>
                        </a:lnSpc>
                        <a:spcBef>
                          <a:spcPts val="5"/>
                        </a:spcBef>
                      </a:pPr>
                      <a:r>
                        <a:rPr dirty="0" sz="2000" spc="-50">
                          <a:solidFill>
                            <a:srgbClr val="40458B"/>
                          </a:solidFill>
                          <a:latin typeface="Tahoma"/>
                          <a:cs typeface="Tahoma"/>
                        </a:rPr>
                        <a:t>2</a:t>
                      </a:r>
                      <a:endParaRPr sz="2000">
                        <a:latin typeface="Tahoma"/>
                        <a:cs typeface="Tahoma"/>
                      </a:endParaRPr>
                    </a:p>
                  </a:txBody>
                  <a:tcPr marL="0" marR="0" marB="0" marT="2540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a:lnSpc>
                          <a:spcPct val="100000"/>
                        </a:lnSpc>
                        <a:spcBef>
                          <a:spcPts val="425"/>
                        </a:spcBef>
                      </a:pPr>
                      <a:r>
                        <a:rPr dirty="0" sz="2000" spc="-10" b="1">
                          <a:solidFill>
                            <a:srgbClr val="40458B"/>
                          </a:solidFill>
                          <a:latin typeface="宋体"/>
                          <a:cs typeface="宋体"/>
                        </a:rPr>
                        <a:t>硬件代价大；两级</a:t>
                      </a:r>
                      <a:r>
                        <a:rPr dirty="0" sz="2000" spc="-20" b="1">
                          <a:solidFill>
                            <a:srgbClr val="40458B"/>
                          </a:solidFill>
                          <a:latin typeface="宋体"/>
                          <a:cs typeface="宋体"/>
                        </a:rPr>
                        <a:t>Cache</a:t>
                      </a:r>
                      <a:r>
                        <a:rPr dirty="0" sz="2000" spc="-20" b="1">
                          <a:solidFill>
                            <a:srgbClr val="40458B"/>
                          </a:solidFill>
                          <a:latin typeface="宋体"/>
                          <a:cs typeface="宋体"/>
                        </a:rPr>
                        <a:t>  </a:t>
                      </a:r>
                      <a:r>
                        <a:rPr dirty="0" sz="2000" spc="-25" b="1">
                          <a:solidFill>
                            <a:srgbClr val="40458B"/>
                          </a:solidFill>
                          <a:latin typeface="宋体"/>
                          <a:cs typeface="宋体"/>
                        </a:rPr>
                        <a:t>的块大小不同时实现困难；</a:t>
                      </a:r>
                      <a:r>
                        <a:rPr dirty="0" sz="2000" spc="-20" b="1">
                          <a:solidFill>
                            <a:srgbClr val="40458B"/>
                          </a:solidFill>
                          <a:latin typeface="宋体"/>
                          <a:cs typeface="宋体"/>
                        </a:rPr>
                        <a:t>被广泛采用</a:t>
                      </a:r>
                      <a:endParaRPr sz="2000">
                        <a:latin typeface="宋体"/>
                        <a:cs typeface="宋体"/>
                      </a:endParaRPr>
                    </a:p>
                  </a:txBody>
                  <a:tcPr marL="0" marR="0" marB="0" marT="539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822960">
                <a:tc>
                  <a:txBody>
                    <a:bodyPr/>
                    <a:lstStyle/>
                    <a:p>
                      <a:pPr marL="473075" marR="147955" indent="-318770">
                        <a:lnSpc>
                          <a:spcPct val="120000"/>
                        </a:lnSpc>
                        <a:spcBef>
                          <a:spcPts val="45"/>
                        </a:spcBef>
                      </a:pPr>
                      <a:r>
                        <a:rPr dirty="0" sz="2000" spc="-20">
                          <a:solidFill>
                            <a:srgbClr val="0000CC"/>
                          </a:solidFill>
                          <a:latin typeface="黑体"/>
                          <a:cs typeface="黑体"/>
                        </a:rPr>
                        <a:t>容量小且结构简</a:t>
                      </a:r>
                      <a:r>
                        <a:rPr dirty="0" sz="2000">
                          <a:solidFill>
                            <a:srgbClr val="0000CC"/>
                          </a:solidFill>
                          <a:latin typeface="黑体"/>
                          <a:cs typeface="黑体"/>
                        </a:rPr>
                        <a:t>单的</a:t>
                      </a:r>
                      <a:r>
                        <a:rPr dirty="0" sz="2000" spc="-20">
                          <a:solidFill>
                            <a:srgbClr val="0000CC"/>
                          </a:solidFill>
                          <a:latin typeface="黑体"/>
                          <a:cs typeface="黑体"/>
                        </a:rPr>
                        <a:t>Cache</a:t>
                      </a:r>
                      <a:endParaRPr sz="2000">
                        <a:latin typeface="黑体"/>
                        <a:cs typeface="黑体"/>
                      </a:endParaRPr>
                    </a:p>
                  </a:txBody>
                  <a:tcPr marL="0" marR="0" marB="0" marT="5715">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a:lnSpc>
                          <a:spcPct val="100000"/>
                        </a:lnSpc>
                        <a:spcBef>
                          <a:spcPts val="1425"/>
                        </a:spcBef>
                      </a:pPr>
                      <a:r>
                        <a:rPr dirty="0" sz="2000" spc="-50">
                          <a:solidFill>
                            <a:srgbClr val="40458B"/>
                          </a:solidFill>
                          <a:latin typeface="Symbol"/>
                          <a:cs typeface="Symbol"/>
                        </a:rPr>
                        <a:t></a:t>
                      </a:r>
                      <a:endParaRPr sz="2000">
                        <a:latin typeface="Symbol"/>
                        <a:cs typeface="Symbol"/>
                      </a:endParaRPr>
                    </a:p>
                  </a:txBody>
                  <a:tcPr marL="0" marR="0" marB="0" marT="1809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425"/>
                        </a:spcBef>
                      </a:pPr>
                      <a:r>
                        <a:rPr dirty="0" sz="2000" spc="-50">
                          <a:solidFill>
                            <a:srgbClr val="40458B"/>
                          </a:solidFill>
                          <a:latin typeface="Tahoma"/>
                          <a:cs typeface="Tahoma"/>
                        </a:rPr>
                        <a:t>+</a:t>
                      </a:r>
                      <a:endParaRPr sz="2000">
                        <a:latin typeface="Tahoma"/>
                        <a:cs typeface="Tahoma"/>
                      </a:endParaRPr>
                    </a:p>
                  </a:txBody>
                  <a:tcPr marL="0" marR="0" marB="0" marT="18097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605"/>
                        </a:spcBef>
                      </a:pPr>
                      <a:r>
                        <a:rPr dirty="0" sz="2000" spc="-50">
                          <a:solidFill>
                            <a:srgbClr val="40458B"/>
                          </a:solidFill>
                          <a:latin typeface="Tahoma"/>
                          <a:cs typeface="Tahoma"/>
                        </a:rPr>
                        <a:t>0</a:t>
                      </a:r>
                      <a:endParaRPr sz="2000">
                        <a:latin typeface="Tahoma"/>
                        <a:cs typeface="Tahoma"/>
                      </a:endParaRPr>
                    </a:p>
                  </a:txBody>
                  <a:tcPr marL="0" marR="0" marB="0" marT="20383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130810">
                        <a:lnSpc>
                          <a:spcPct val="100000"/>
                        </a:lnSpc>
                        <a:spcBef>
                          <a:spcPts val="1425"/>
                        </a:spcBef>
                      </a:pPr>
                      <a:r>
                        <a:rPr dirty="0" sz="2000" spc="-15" b="1">
                          <a:solidFill>
                            <a:srgbClr val="40458B"/>
                          </a:solidFill>
                          <a:latin typeface="宋体"/>
                          <a:cs typeface="宋体"/>
                        </a:rPr>
                        <a:t>实现容易，被广泛采用</a:t>
                      </a:r>
                      <a:endParaRPr sz="2000">
                        <a:latin typeface="宋体"/>
                        <a:cs typeface="宋体"/>
                      </a:endParaRPr>
                    </a:p>
                  </a:txBody>
                  <a:tcPr marL="0" marR="0" marB="0" marT="180975">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1188085">
                <a:tc>
                  <a:txBody>
                    <a:bodyPr/>
                    <a:lstStyle/>
                    <a:p>
                      <a:pPr marL="91440" marR="83820">
                        <a:lnSpc>
                          <a:spcPct val="120100"/>
                        </a:lnSpc>
                        <a:spcBef>
                          <a:spcPts val="40"/>
                        </a:spcBef>
                      </a:pPr>
                      <a:r>
                        <a:rPr dirty="0" sz="2000">
                          <a:solidFill>
                            <a:srgbClr val="0000CC"/>
                          </a:solidFill>
                          <a:latin typeface="黑体"/>
                          <a:cs typeface="黑体"/>
                        </a:rPr>
                        <a:t>对</a:t>
                      </a:r>
                      <a:r>
                        <a:rPr dirty="0" sz="2000" spc="-10">
                          <a:solidFill>
                            <a:srgbClr val="0000CC"/>
                          </a:solidFill>
                          <a:latin typeface="黑体"/>
                          <a:cs typeface="黑体"/>
                        </a:rPr>
                        <a:t>Cache</a:t>
                      </a:r>
                      <a:r>
                        <a:rPr dirty="0" sz="2000" spc="-15">
                          <a:solidFill>
                            <a:srgbClr val="0000CC"/>
                          </a:solidFill>
                          <a:latin typeface="黑体"/>
                          <a:cs typeface="黑体"/>
                        </a:rPr>
                        <a:t>进行索引</a:t>
                      </a:r>
                      <a:r>
                        <a:rPr dirty="0" sz="2000" spc="-20">
                          <a:solidFill>
                            <a:srgbClr val="0000CC"/>
                          </a:solidFill>
                          <a:latin typeface="黑体"/>
                          <a:cs typeface="黑体"/>
                        </a:rPr>
                        <a:t>时不必进行地址</a:t>
                      </a:r>
                      <a:r>
                        <a:rPr dirty="0" sz="2000" spc="-25">
                          <a:solidFill>
                            <a:srgbClr val="0000CC"/>
                          </a:solidFill>
                          <a:latin typeface="黑体"/>
                          <a:cs typeface="黑体"/>
                        </a:rPr>
                        <a:t>变换</a:t>
                      </a:r>
                      <a:endParaRPr sz="2000">
                        <a:latin typeface="黑体"/>
                        <a:cs typeface="黑体"/>
                      </a:endParaRPr>
                    </a:p>
                  </a:txBody>
                  <a:tcPr marL="0" marR="0" marB="0" marT="508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385"/>
                        </a:spcBef>
                      </a:pPr>
                      <a:endParaRPr sz="2000">
                        <a:latin typeface="Times New Roman"/>
                        <a:cs typeface="Times New Roman"/>
                      </a:endParaRPr>
                    </a:p>
                    <a:p>
                      <a:pPr algn="ctr" marL="1905">
                        <a:lnSpc>
                          <a:spcPct val="100000"/>
                        </a:lnSpc>
                      </a:pPr>
                      <a:r>
                        <a:rPr dirty="0" sz="2000" spc="-50">
                          <a:solidFill>
                            <a:srgbClr val="40458B"/>
                          </a:solidFill>
                          <a:latin typeface="Tahoma"/>
                          <a:cs typeface="Tahoma"/>
                        </a:rPr>
                        <a:t>+</a:t>
                      </a:r>
                      <a:endParaRPr sz="2000">
                        <a:latin typeface="Tahoma"/>
                        <a:cs typeface="Tahoma"/>
                      </a:endParaRPr>
                    </a:p>
                  </a:txBody>
                  <a:tcPr marL="0" marR="0" marB="0" marT="488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spcBef>
                          <a:spcPts val="385"/>
                        </a:spcBef>
                      </a:pPr>
                      <a:endParaRPr sz="2000">
                        <a:latin typeface="Times New Roman"/>
                        <a:cs typeface="Times New Roman"/>
                      </a:endParaRPr>
                    </a:p>
                    <a:p>
                      <a:pPr algn="ctr" marL="2540">
                        <a:lnSpc>
                          <a:spcPct val="100000"/>
                        </a:lnSpc>
                      </a:pPr>
                      <a:r>
                        <a:rPr dirty="0" sz="2000" spc="-50">
                          <a:solidFill>
                            <a:srgbClr val="40458B"/>
                          </a:solidFill>
                          <a:latin typeface="Tahoma"/>
                          <a:cs typeface="Tahoma"/>
                        </a:rPr>
                        <a:t>2</a:t>
                      </a:r>
                      <a:endParaRPr sz="2000">
                        <a:latin typeface="Tahoma"/>
                        <a:cs typeface="Tahoma"/>
                      </a:endParaRPr>
                    </a:p>
                  </a:txBody>
                  <a:tcPr marL="0" marR="0" marB="0" marT="48895">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238125">
                        <a:lnSpc>
                          <a:spcPct val="90000"/>
                        </a:lnSpc>
                        <a:spcBef>
                          <a:spcPts val="430"/>
                        </a:spcBef>
                      </a:pPr>
                      <a:r>
                        <a:rPr dirty="0" sz="2000" spc="-10" b="1">
                          <a:solidFill>
                            <a:srgbClr val="40458B"/>
                          </a:solidFill>
                          <a:latin typeface="宋体"/>
                          <a:cs typeface="宋体"/>
                        </a:rPr>
                        <a:t>对于小容量Cache</a:t>
                      </a:r>
                      <a:r>
                        <a:rPr dirty="0" sz="2000" spc="-25" b="1">
                          <a:solidFill>
                            <a:srgbClr val="40458B"/>
                          </a:solidFill>
                          <a:latin typeface="宋体"/>
                          <a:cs typeface="宋体"/>
                        </a:rPr>
                        <a:t>来说实</a:t>
                      </a:r>
                      <a:r>
                        <a:rPr dirty="0" sz="2000" spc="-10" b="1">
                          <a:solidFill>
                            <a:srgbClr val="40458B"/>
                          </a:solidFill>
                          <a:latin typeface="宋体"/>
                          <a:cs typeface="宋体"/>
                        </a:rPr>
                        <a:t>现容易，已被</a:t>
                      </a:r>
                      <a:r>
                        <a:rPr dirty="0" sz="2000" spc="-20" b="1">
                          <a:solidFill>
                            <a:srgbClr val="40458B"/>
                          </a:solidFill>
                          <a:latin typeface="宋体"/>
                          <a:cs typeface="宋体"/>
                        </a:rPr>
                        <a:t>Alpha </a:t>
                      </a:r>
                      <a:r>
                        <a:rPr dirty="0" sz="2000" b="1">
                          <a:solidFill>
                            <a:srgbClr val="40458B"/>
                          </a:solidFill>
                          <a:latin typeface="宋体"/>
                          <a:cs typeface="宋体"/>
                        </a:rPr>
                        <a:t>21164</a:t>
                      </a:r>
                      <a:r>
                        <a:rPr dirty="0" sz="2000" spc="-15" b="1">
                          <a:solidFill>
                            <a:srgbClr val="40458B"/>
                          </a:solidFill>
                          <a:latin typeface="宋体"/>
                          <a:cs typeface="宋体"/>
                        </a:rPr>
                        <a:t>和</a:t>
                      </a:r>
                      <a:r>
                        <a:rPr dirty="0" sz="2000" b="1">
                          <a:solidFill>
                            <a:srgbClr val="40458B"/>
                          </a:solidFill>
                          <a:latin typeface="宋体"/>
                          <a:cs typeface="宋体"/>
                        </a:rPr>
                        <a:t>UltraSPARC</a:t>
                      </a:r>
                      <a:r>
                        <a:rPr dirty="0" sz="2000" spc="-35" b="1">
                          <a:solidFill>
                            <a:srgbClr val="40458B"/>
                          </a:solidFill>
                          <a:latin typeface="宋体"/>
                          <a:cs typeface="宋体"/>
                        </a:rPr>
                        <a:t> Ⅲ采</a:t>
                      </a:r>
                      <a:r>
                        <a:rPr dirty="0" sz="2000" spc="-50" b="1">
                          <a:solidFill>
                            <a:srgbClr val="40458B"/>
                          </a:solidFill>
                          <a:latin typeface="宋体"/>
                          <a:cs typeface="宋体"/>
                        </a:rPr>
                        <a:t>用</a:t>
                      </a:r>
                      <a:endParaRPr sz="2000">
                        <a:latin typeface="宋体"/>
                        <a:cs typeface="宋体"/>
                      </a:endParaRPr>
                    </a:p>
                  </a:txBody>
                  <a:tcPr marL="0" marR="0" marB="0" marT="5461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98195">
                <a:tc>
                  <a:txBody>
                    <a:bodyPr/>
                    <a:lstStyle/>
                    <a:p>
                      <a:pPr marL="789940" marR="337820" indent="-445134">
                        <a:lnSpc>
                          <a:spcPts val="3020"/>
                        </a:lnSpc>
                        <a:spcBef>
                          <a:spcPts val="110"/>
                        </a:spcBef>
                      </a:pPr>
                      <a:r>
                        <a:rPr dirty="0" sz="2000">
                          <a:solidFill>
                            <a:srgbClr val="0000CC"/>
                          </a:solidFill>
                          <a:latin typeface="黑体"/>
                          <a:cs typeface="黑体"/>
                        </a:rPr>
                        <a:t>流水化</a:t>
                      </a:r>
                      <a:r>
                        <a:rPr dirty="0" sz="2000" spc="-20">
                          <a:solidFill>
                            <a:srgbClr val="0000CC"/>
                          </a:solidFill>
                          <a:latin typeface="黑体"/>
                          <a:cs typeface="黑体"/>
                        </a:rPr>
                        <a:t>Cache</a:t>
                      </a:r>
                      <a:r>
                        <a:rPr dirty="0" sz="2000" spc="-25">
                          <a:solidFill>
                            <a:srgbClr val="0000CC"/>
                          </a:solidFill>
                          <a:latin typeface="黑体"/>
                          <a:cs typeface="黑体"/>
                        </a:rPr>
                        <a:t>访问</a:t>
                      </a:r>
                      <a:endParaRPr sz="2000">
                        <a:latin typeface="黑体"/>
                        <a:cs typeface="黑体"/>
                      </a:endParaRPr>
                    </a:p>
                  </a:txBody>
                  <a:tcPr marL="0" marR="0" marB="0" marT="13970">
                    <a:lnL w="28575">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1905">
                        <a:lnSpc>
                          <a:spcPct val="100000"/>
                        </a:lnSpc>
                        <a:spcBef>
                          <a:spcPts val="1430"/>
                        </a:spcBef>
                      </a:pPr>
                      <a:r>
                        <a:rPr dirty="0" sz="2000" spc="-50">
                          <a:solidFill>
                            <a:srgbClr val="40458B"/>
                          </a:solidFill>
                          <a:latin typeface="Tahoma"/>
                          <a:cs typeface="Tahoma"/>
                        </a:rPr>
                        <a:t>+</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algn="ctr" marL="2540">
                        <a:lnSpc>
                          <a:spcPct val="100000"/>
                        </a:lnSpc>
                        <a:spcBef>
                          <a:spcPts val="1430"/>
                        </a:spcBef>
                      </a:pPr>
                      <a:r>
                        <a:rPr dirty="0" sz="2000" spc="-50">
                          <a:solidFill>
                            <a:srgbClr val="40458B"/>
                          </a:solidFill>
                          <a:latin typeface="Tahoma"/>
                          <a:cs typeface="Tahoma"/>
                        </a:rPr>
                        <a:t>1</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12700">
                      <a:solidFill>
                        <a:srgbClr val="40458B"/>
                      </a:solidFill>
                      <a:prstDash val="solid"/>
                    </a:lnB>
                  </a:tcPr>
                </a:tc>
                <a:tc>
                  <a:txBody>
                    <a:bodyPr/>
                    <a:lstStyle/>
                    <a:p>
                      <a:pPr marL="92075" marR="130810">
                        <a:lnSpc>
                          <a:spcPct val="100000"/>
                        </a:lnSpc>
                        <a:spcBef>
                          <a:spcPts val="1430"/>
                        </a:spcBef>
                      </a:pPr>
                      <a:r>
                        <a:rPr dirty="0" sz="2000" spc="-20" b="1">
                          <a:solidFill>
                            <a:srgbClr val="40458B"/>
                          </a:solidFill>
                          <a:latin typeface="宋体"/>
                          <a:cs typeface="宋体"/>
                        </a:rPr>
                        <a:t>被广泛采用</a:t>
                      </a:r>
                      <a:endParaRPr sz="2000">
                        <a:latin typeface="宋体"/>
                        <a:cs typeface="宋体"/>
                      </a:endParaRPr>
                    </a:p>
                  </a:txBody>
                  <a:tcPr marL="0" marR="0" marB="0" marT="181610">
                    <a:lnL w="12700">
                      <a:solidFill>
                        <a:srgbClr val="40458B"/>
                      </a:solidFill>
                      <a:prstDash val="solid"/>
                    </a:lnL>
                    <a:lnR w="28575">
                      <a:solidFill>
                        <a:srgbClr val="40458B"/>
                      </a:solidFill>
                      <a:prstDash val="solid"/>
                    </a:lnR>
                    <a:lnT w="12700">
                      <a:solidFill>
                        <a:srgbClr val="40458B"/>
                      </a:solidFill>
                      <a:prstDash val="solid"/>
                    </a:lnT>
                    <a:lnB w="12700">
                      <a:solidFill>
                        <a:srgbClr val="40458B"/>
                      </a:solidFill>
                      <a:prstDash val="solid"/>
                    </a:lnB>
                  </a:tcPr>
                </a:tc>
              </a:tr>
              <a:tr h="720090">
                <a:tc>
                  <a:txBody>
                    <a:bodyPr/>
                    <a:lstStyle/>
                    <a:p>
                      <a:pPr algn="ctr">
                        <a:lnSpc>
                          <a:spcPct val="100000"/>
                        </a:lnSpc>
                        <a:spcBef>
                          <a:spcPts val="1430"/>
                        </a:spcBef>
                      </a:pPr>
                      <a:r>
                        <a:rPr dirty="0" sz="2000">
                          <a:solidFill>
                            <a:srgbClr val="0000CC"/>
                          </a:solidFill>
                          <a:latin typeface="黑体"/>
                          <a:cs typeface="黑体"/>
                        </a:rPr>
                        <a:t>Trace</a:t>
                      </a:r>
                      <a:r>
                        <a:rPr dirty="0" sz="2000" spc="-10">
                          <a:solidFill>
                            <a:srgbClr val="0000CC"/>
                          </a:solidFill>
                          <a:latin typeface="黑体"/>
                          <a:cs typeface="黑体"/>
                        </a:rPr>
                        <a:t> Cache</a:t>
                      </a:r>
                      <a:endParaRPr sz="2000">
                        <a:latin typeface="黑体"/>
                        <a:cs typeface="黑体"/>
                      </a:endParaRPr>
                    </a:p>
                  </a:txBody>
                  <a:tcPr marL="0" marR="0" marB="0" marT="181610">
                    <a:lnL w="28575">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nSpc>
                          <a:spcPct val="100000"/>
                        </a:lnSpc>
                      </a:pPr>
                      <a:endParaRPr sz="2000">
                        <a:latin typeface="Times New Roman"/>
                        <a:cs typeface="Times New Roman"/>
                      </a:endParaRPr>
                    </a:p>
                  </a:txBody>
                  <a:tcPr marL="0" marR="0" marB="0" marT="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1905">
                        <a:lnSpc>
                          <a:spcPct val="100000"/>
                        </a:lnSpc>
                        <a:spcBef>
                          <a:spcPts val="1430"/>
                        </a:spcBef>
                      </a:pPr>
                      <a:r>
                        <a:rPr dirty="0" sz="2000" spc="-50">
                          <a:solidFill>
                            <a:srgbClr val="40458B"/>
                          </a:solidFill>
                          <a:latin typeface="Tahoma"/>
                          <a:cs typeface="Tahoma"/>
                        </a:rPr>
                        <a:t>+</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algn="ctr" marL="2540">
                        <a:lnSpc>
                          <a:spcPct val="100000"/>
                        </a:lnSpc>
                        <a:spcBef>
                          <a:spcPts val="1430"/>
                        </a:spcBef>
                      </a:pPr>
                      <a:r>
                        <a:rPr dirty="0" sz="2000" spc="-50">
                          <a:solidFill>
                            <a:srgbClr val="40458B"/>
                          </a:solidFill>
                          <a:latin typeface="Tahoma"/>
                          <a:cs typeface="Tahoma"/>
                        </a:rPr>
                        <a:t>3</a:t>
                      </a:r>
                      <a:endParaRPr sz="2000">
                        <a:latin typeface="Tahoma"/>
                        <a:cs typeface="Tahoma"/>
                      </a:endParaRPr>
                    </a:p>
                  </a:txBody>
                  <a:tcPr marL="0" marR="0" marB="0" marT="181610">
                    <a:lnL w="12700">
                      <a:solidFill>
                        <a:srgbClr val="40458B"/>
                      </a:solidFill>
                      <a:prstDash val="solid"/>
                    </a:lnL>
                    <a:lnR w="12700">
                      <a:solidFill>
                        <a:srgbClr val="40458B"/>
                      </a:solidFill>
                      <a:prstDash val="solid"/>
                    </a:lnR>
                    <a:lnT w="12700">
                      <a:solidFill>
                        <a:srgbClr val="40458B"/>
                      </a:solidFill>
                      <a:prstDash val="solid"/>
                    </a:lnT>
                    <a:lnB w="28575">
                      <a:solidFill>
                        <a:srgbClr val="40458B"/>
                      </a:solidFill>
                      <a:prstDash val="solid"/>
                    </a:lnB>
                  </a:tcPr>
                </a:tc>
                <a:tc>
                  <a:txBody>
                    <a:bodyPr/>
                    <a:lstStyle/>
                    <a:p>
                      <a:pPr marL="92075" marR="130810">
                        <a:lnSpc>
                          <a:spcPct val="100000"/>
                        </a:lnSpc>
                        <a:spcBef>
                          <a:spcPts val="1610"/>
                        </a:spcBef>
                      </a:pPr>
                      <a:r>
                        <a:rPr dirty="0" sz="2000" b="1">
                          <a:solidFill>
                            <a:srgbClr val="40458B"/>
                          </a:solidFill>
                          <a:latin typeface="宋体"/>
                          <a:cs typeface="宋体"/>
                        </a:rPr>
                        <a:t>Pentium</a:t>
                      </a:r>
                      <a:r>
                        <a:rPr dirty="0" sz="2000" spc="-70" b="1">
                          <a:solidFill>
                            <a:srgbClr val="40458B"/>
                          </a:solidFill>
                          <a:latin typeface="宋体"/>
                          <a:cs typeface="宋体"/>
                        </a:rPr>
                        <a:t> </a:t>
                      </a:r>
                      <a:r>
                        <a:rPr dirty="0" sz="2000" b="1">
                          <a:solidFill>
                            <a:srgbClr val="40458B"/>
                          </a:solidFill>
                          <a:latin typeface="宋体"/>
                          <a:cs typeface="宋体"/>
                        </a:rPr>
                        <a:t>4</a:t>
                      </a:r>
                      <a:r>
                        <a:rPr dirty="0" sz="2000" spc="-25" b="1">
                          <a:solidFill>
                            <a:srgbClr val="40458B"/>
                          </a:solidFill>
                          <a:latin typeface="宋体"/>
                          <a:cs typeface="宋体"/>
                        </a:rPr>
                        <a:t> 采用</a:t>
                      </a:r>
                      <a:endParaRPr sz="2000">
                        <a:latin typeface="宋体"/>
                        <a:cs typeface="宋体"/>
                      </a:endParaRPr>
                    </a:p>
                  </a:txBody>
                  <a:tcPr marL="0" marR="0" marB="0" marT="204470">
                    <a:lnL w="12700">
                      <a:solidFill>
                        <a:srgbClr val="40458B"/>
                      </a:solidFill>
                      <a:prstDash val="solid"/>
                    </a:lnL>
                    <a:lnR w="28575">
                      <a:solidFill>
                        <a:srgbClr val="40458B"/>
                      </a:solidFill>
                      <a:prstDash val="solid"/>
                    </a:lnR>
                    <a:lnT w="12700">
                      <a:solidFill>
                        <a:srgbClr val="40458B"/>
                      </a:solidFill>
                      <a:prstDash val="solid"/>
                    </a:lnT>
                    <a:lnB w="28575">
                      <a:solidFill>
                        <a:srgbClr val="40458B"/>
                      </a:solidFill>
                      <a:prstDash val="solid"/>
                    </a:lnB>
                  </a:tcPr>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1403730" y="1047359"/>
            <a:ext cx="9627235" cy="3961129"/>
          </a:xfrm>
          <a:prstGeom prst="rect">
            <a:avLst/>
          </a:prstGeom>
        </p:spPr>
        <p:txBody>
          <a:bodyPr wrap="square" lIns="0" tIns="159385" rIns="0" bIns="0" rtlCol="0" vert="horz">
            <a:spAutoFit/>
          </a:bodyPr>
          <a:lstStyle/>
          <a:p>
            <a:pPr marL="469265" indent="-456565">
              <a:lnSpc>
                <a:spcPct val="100000"/>
              </a:lnSpc>
              <a:spcBef>
                <a:spcPts val="1255"/>
              </a:spcBef>
              <a:buSzPct val="89583"/>
              <a:buFont typeface="Wingdings"/>
              <a:buChar char=""/>
              <a:tabLst>
                <a:tab pos="469265" algn="l"/>
              </a:tabLst>
            </a:pPr>
            <a:r>
              <a:rPr dirty="0" sz="2400" spc="-10">
                <a:solidFill>
                  <a:srgbClr val="40458B"/>
                </a:solidFill>
                <a:latin typeface="黑体"/>
                <a:cs typeface="黑体"/>
              </a:rPr>
              <a:t>主存的主要性能指标：</a:t>
            </a:r>
            <a:r>
              <a:rPr dirty="0" sz="2400" spc="-10">
                <a:solidFill>
                  <a:srgbClr val="D50092"/>
                </a:solidFill>
                <a:latin typeface="黑体"/>
                <a:cs typeface="黑体"/>
              </a:rPr>
              <a:t>延迟</a:t>
            </a:r>
            <a:r>
              <a:rPr dirty="0" sz="2400">
                <a:solidFill>
                  <a:srgbClr val="40458B"/>
                </a:solidFill>
                <a:latin typeface="黑体"/>
                <a:cs typeface="黑体"/>
              </a:rPr>
              <a:t>和</a:t>
            </a:r>
            <a:r>
              <a:rPr dirty="0" sz="2400" spc="-30">
                <a:solidFill>
                  <a:srgbClr val="D50092"/>
                </a:solidFill>
                <a:latin typeface="黑体"/>
                <a:cs typeface="黑体"/>
              </a:rPr>
              <a:t>带宽</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Lst>
            </a:pPr>
            <a:r>
              <a:rPr dirty="0" sz="2400">
                <a:solidFill>
                  <a:srgbClr val="D50092"/>
                </a:solidFill>
                <a:latin typeface="黑体"/>
                <a:cs typeface="黑体"/>
              </a:rPr>
              <a:t>延迟：</a:t>
            </a:r>
            <a:r>
              <a:rPr dirty="0" sz="2400" spc="-5">
                <a:solidFill>
                  <a:srgbClr val="647AD3"/>
                </a:solidFill>
                <a:latin typeface="黑体"/>
                <a:cs typeface="黑体"/>
              </a:rPr>
              <a:t>访问数据需要等待的时间</a:t>
            </a:r>
            <a:endParaRPr sz="2400">
              <a:latin typeface="黑体"/>
              <a:cs typeface="黑体"/>
            </a:endParaRPr>
          </a:p>
          <a:p>
            <a:pPr marL="469265" indent="-456565">
              <a:lnSpc>
                <a:spcPct val="100000"/>
              </a:lnSpc>
              <a:spcBef>
                <a:spcPts val="1150"/>
              </a:spcBef>
              <a:buClr>
                <a:srgbClr val="40458B"/>
              </a:buClr>
              <a:buSzPct val="89583"/>
              <a:buFont typeface="Wingdings"/>
              <a:buChar char=""/>
              <a:tabLst>
                <a:tab pos="469265" algn="l"/>
              </a:tabLst>
            </a:pPr>
            <a:r>
              <a:rPr dirty="0" sz="2400">
                <a:solidFill>
                  <a:srgbClr val="D50092"/>
                </a:solidFill>
                <a:latin typeface="黑体"/>
                <a:cs typeface="黑体"/>
              </a:rPr>
              <a:t>带宽：</a:t>
            </a:r>
            <a:r>
              <a:rPr dirty="0" sz="2400" spc="-5">
                <a:solidFill>
                  <a:srgbClr val="647AD3"/>
                </a:solidFill>
                <a:latin typeface="黑体"/>
                <a:cs typeface="黑体"/>
              </a:rPr>
              <a:t>单位时间内能传送的二进制数据</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Lst>
            </a:pPr>
            <a:r>
              <a:rPr dirty="0" sz="2400" spc="-25">
                <a:solidFill>
                  <a:srgbClr val="E14B04"/>
                </a:solidFill>
                <a:latin typeface="黑体"/>
                <a:cs typeface="黑体"/>
              </a:rPr>
              <a:t>以往：</a:t>
            </a:r>
            <a:endParaRPr sz="2400">
              <a:latin typeface="黑体"/>
              <a:cs typeface="黑体"/>
            </a:endParaRPr>
          </a:p>
          <a:p>
            <a:pPr lvl="1" marL="1097280" indent="-457200">
              <a:lnSpc>
                <a:spcPct val="100000"/>
              </a:lnSpc>
              <a:spcBef>
                <a:spcPts val="1025"/>
              </a:spcBef>
              <a:buClr>
                <a:srgbClr val="4668F5"/>
              </a:buClr>
              <a:buSzPct val="60000"/>
              <a:buFont typeface="Wingdings"/>
              <a:buChar char=""/>
              <a:tabLst>
                <a:tab pos="1097280" algn="l"/>
              </a:tabLst>
            </a:pPr>
            <a:r>
              <a:rPr dirty="0" sz="2000" spc="-10" b="1">
                <a:solidFill>
                  <a:srgbClr val="00AFEF"/>
                </a:solidFill>
                <a:latin typeface="黑体"/>
                <a:cs typeface="黑体"/>
              </a:rPr>
              <a:t>Cache</a:t>
            </a:r>
            <a:r>
              <a:rPr dirty="0" sz="2000" spc="-20" b="1">
                <a:solidFill>
                  <a:srgbClr val="00AFEF"/>
                </a:solidFill>
                <a:latin typeface="宋体"/>
                <a:cs typeface="宋体"/>
              </a:rPr>
              <a:t>主要关心延迟，</a:t>
            </a:r>
            <a:r>
              <a:rPr dirty="0" sz="2000" spc="-10" b="1">
                <a:solidFill>
                  <a:srgbClr val="00AFEF"/>
                </a:solidFill>
                <a:latin typeface="黑体"/>
                <a:cs typeface="黑体"/>
              </a:rPr>
              <a:t>I/O</a:t>
            </a:r>
            <a:r>
              <a:rPr dirty="0" sz="2000" spc="-25" b="1">
                <a:solidFill>
                  <a:srgbClr val="00AFEF"/>
                </a:solidFill>
                <a:latin typeface="宋体"/>
                <a:cs typeface="宋体"/>
              </a:rPr>
              <a:t>主要关心带宽。</a:t>
            </a:r>
            <a:endParaRPr sz="2000">
              <a:latin typeface="宋体"/>
              <a:cs typeface="宋体"/>
            </a:endParaRPr>
          </a:p>
          <a:p>
            <a:pPr marL="469265" indent="-456565">
              <a:lnSpc>
                <a:spcPct val="100000"/>
              </a:lnSpc>
              <a:spcBef>
                <a:spcPts val="1090"/>
              </a:spcBef>
              <a:buClr>
                <a:srgbClr val="40458B"/>
              </a:buClr>
              <a:buSzPct val="89583"/>
              <a:buFont typeface="Wingdings"/>
              <a:buChar char=""/>
              <a:tabLst>
                <a:tab pos="469265" algn="l"/>
              </a:tabLst>
            </a:pPr>
            <a:r>
              <a:rPr dirty="0" sz="2400">
                <a:solidFill>
                  <a:srgbClr val="E14B04"/>
                </a:solidFill>
                <a:latin typeface="黑体"/>
                <a:cs typeface="黑体"/>
              </a:rPr>
              <a:t>现在：</a:t>
            </a:r>
            <a:r>
              <a:rPr dirty="0" sz="2400">
                <a:solidFill>
                  <a:srgbClr val="40458B"/>
                </a:solidFill>
                <a:latin typeface="黑体"/>
                <a:cs typeface="黑体"/>
              </a:rPr>
              <a:t>Cache</a:t>
            </a:r>
            <a:r>
              <a:rPr dirty="0" sz="2400" spc="-15">
                <a:solidFill>
                  <a:srgbClr val="40458B"/>
                </a:solidFill>
                <a:latin typeface="黑体"/>
                <a:cs typeface="黑体"/>
              </a:rPr>
              <a:t>关心两者</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Lst>
            </a:pPr>
            <a:r>
              <a:rPr dirty="0" sz="2400">
                <a:solidFill>
                  <a:srgbClr val="FF0000"/>
                </a:solidFill>
                <a:latin typeface="黑体"/>
                <a:cs typeface="黑体"/>
              </a:rPr>
              <a:t>并行主存系统</a:t>
            </a:r>
            <a:r>
              <a:rPr dirty="0" sz="2400" spc="-5">
                <a:solidFill>
                  <a:srgbClr val="40458B"/>
                </a:solidFill>
                <a:latin typeface="黑体"/>
                <a:cs typeface="黑体"/>
              </a:rPr>
              <a:t>是在一个访存周期内能并行访问多个存储字的存储器。</a:t>
            </a:r>
            <a:endParaRPr sz="2400">
              <a:latin typeface="黑体"/>
              <a:cs typeface="黑体"/>
            </a:endParaRPr>
          </a:p>
          <a:p>
            <a:pPr lvl="1" marL="1097280" indent="-457200">
              <a:lnSpc>
                <a:spcPct val="100000"/>
              </a:lnSpc>
              <a:spcBef>
                <a:spcPts val="1019"/>
              </a:spcBef>
              <a:buClr>
                <a:srgbClr val="4668F5"/>
              </a:buClr>
              <a:buSzPct val="60000"/>
              <a:buFont typeface="Wingdings"/>
              <a:buChar char=""/>
              <a:tabLst>
                <a:tab pos="1097280" algn="l"/>
              </a:tabLst>
            </a:pPr>
            <a:r>
              <a:rPr dirty="0" sz="2000" spc="-15" b="1">
                <a:solidFill>
                  <a:srgbClr val="00AFEF"/>
                </a:solidFill>
                <a:latin typeface="宋体"/>
                <a:cs typeface="宋体"/>
              </a:rPr>
              <a:t>能有效地提高存储器的带宽。</a:t>
            </a:r>
            <a:endParaRPr sz="2000">
              <a:latin typeface="宋体"/>
              <a:cs typeface="宋体"/>
            </a:endParaRPr>
          </a:p>
        </p:txBody>
      </p:sp>
      <p:sp>
        <p:nvSpPr>
          <p:cNvPr id="10" name="object 10"/>
          <p:cNvSpPr txBox="1">
            <a:spLocks noGrp="1"/>
          </p:cNvSpPr>
          <p:nvPr>
            <p:ph type="title"/>
          </p:nvPr>
        </p:nvSpPr>
        <p:spPr>
          <a:xfrm>
            <a:off x="2392172" y="96138"/>
            <a:ext cx="2869565" cy="452120"/>
          </a:xfrm>
          <a:prstGeom prst="rect"/>
        </p:spPr>
        <p:txBody>
          <a:bodyPr wrap="square" lIns="0" tIns="12065" rIns="0" bIns="0" rtlCol="0" vert="horz">
            <a:spAutoFit/>
          </a:bodyPr>
          <a:lstStyle/>
          <a:p>
            <a:pPr marL="12700">
              <a:lnSpc>
                <a:spcPct val="100000"/>
              </a:lnSpc>
              <a:spcBef>
                <a:spcPts val="95"/>
              </a:spcBef>
              <a:tabLst>
                <a:tab pos="724535" algn="l"/>
              </a:tabLst>
            </a:pPr>
            <a:r>
              <a:rPr dirty="0" u="none" spc="-25">
                <a:solidFill>
                  <a:srgbClr val="647AD3"/>
                </a:solidFill>
              </a:rPr>
              <a:t>7.6</a:t>
            </a:r>
            <a:r>
              <a:rPr dirty="0" u="none">
                <a:solidFill>
                  <a:srgbClr val="647AD3"/>
                </a:solidFill>
              </a:rPr>
              <a:t>	</a:t>
            </a:r>
            <a:r>
              <a:rPr dirty="0" u="none" spc="-40">
                <a:solidFill>
                  <a:srgbClr val="647AD3"/>
                </a:solidFill>
              </a:rPr>
              <a:t>并行主存系统</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12798" y="34544"/>
            <a:ext cx="3279140" cy="513715"/>
          </a:xfrm>
          <a:prstGeom prst="rect"/>
        </p:spPr>
        <p:txBody>
          <a:bodyPr wrap="square" lIns="0" tIns="12700" rIns="0" bIns="0" rtlCol="0" vert="horz">
            <a:spAutoFit/>
          </a:bodyPr>
          <a:lstStyle/>
          <a:p>
            <a:pPr marL="12700">
              <a:lnSpc>
                <a:spcPct val="100000"/>
              </a:lnSpc>
              <a:spcBef>
                <a:spcPts val="100"/>
              </a:spcBef>
            </a:pPr>
            <a:r>
              <a:rPr dirty="0" u="none" sz="3200">
                <a:solidFill>
                  <a:srgbClr val="647AD3"/>
                </a:solidFill>
              </a:rPr>
              <a:t>7.6</a:t>
            </a:r>
            <a:r>
              <a:rPr dirty="0" u="none" sz="3200" spc="-15">
                <a:solidFill>
                  <a:srgbClr val="647AD3"/>
                </a:solidFill>
              </a:rPr>
              <a:t> 并行主存系统</a:t>
            </a:r>
            <a:endParaRPr sz="3200"/>
          </a:p>
        </p:txBody>
      </p:sp>
      <p:sp>
        <p:nvSpPr>
          <p:cNvPr id="10" name="object 10" descr=""/>
          <p:cNvSpPr txBox="1"/>
          <p:nvPr/>
        </p:nvSpPr>
        <p:spPr>
          <a:xfrm>
            <a:off x="243027" y="638682"/>
            <a:ext cx="6426200" cy="1415415"/>
          </a:xfrm>
          <a:prstGeom prst="rect">
            <a:avLst/>
          </a:prstGeom>
        </p:spPr>
        <p:txBody>
          <a:bodyPr wrap="square" lIns="0" tIns="12700" rIns="0" bIns="0" rtlCol="0" vert="horz">
            <a:spAutoFit/>
          </a:bodyPr>
          <a:lstStyle/>
          <a:p>
            <a:pPr marL="12700" marR="5080">
              <a:lnSpc>
                <a:spcPct val="120000"/>
              </a:lnSpc>
              <a:spcBef>
                <a:spcPts val="100"/>
              </a:spcBef>
            </a:pPr>
            <a:r>
              <a:rPr dirty="0" sz="2400" spc="-5">
                <a:solidFill>
                  <a:srgbClr val="40458B"/>
                </a:solidFill>
                <a:latin typeface="黑体"/>
                <a:cs typeface="黑体"/>
              </a:rPr>
              <a:t>假设不用并行存储系统，假设使用一个单体单字宽的存储器，观察其性能，如图</a:t>
            </a:r>
            <a:endParaRPr sz="2400">
              <a:latin typeface="黑体"/>
              <a:cs typeface="黑体"/>
            </a:endParaRPr>
          </a:p>
          <a:p>
            <a:pPr marL="469265" indent="-456565">
              <a:lnSpc>
                <a:spcPct val="100000"/>
              </a:lnSpc>
              <a:spcBef>
                <a:spcPts val="1150"/>
              </a:spcBef>
              <a:buSzPct val="89583"/>
              <a:buFont typeface="Wingdings"/>
              <a:buChar char=""/>
              <a:tabLst>
                <a:tab pos="469265" algn="l"/>
              </a:tabLst>
            </a:pPr>
            <a:r>
              <a:rPr dirty="0" sz="2400" spc="-15">
                <a:solidFill>
                  <a:srgbClr val="40458B"/>
                </a:solidFill>
                <a:latin typeface="黑体"/>
                <a:cs typeface="黑体"/>
              </a:rPr>
              <a:t>一个单体单字宽的存储器</a:t>
            </a:r>
            <a:endParaRPr sz="2400">
              <a:latin typeface="黑体"/>
              <a:cs typeface="黑体"/>
            </a:endParaRPr>
          </a:p>
        </p:txBody>
      </p:sp>
      <p:sp>
        <p:nvSpPr>
          <p:cNvPr id="11" name="object 11" descr=""/>
          <p:cNvSpPr txBox="1"/>
          <p:nvPr/>
        </p:nvSpPr>
        <p:spPr>
          <a:xfrm>
            <a:off x="832815" y="2037054"/>
            <a:ext cx="5686425" cy="1244600"/>
          </a:xfrm>
          <a:prstGeom prst="rect">
            <a:avLst/>
          </a:prstGeom>
        </p:spPr>
        <p:txBody>
          <a:bodyPr wrap="square" lIns="0" tIns="134620" rIns="0" bIns="0" rtlCol="0" vert="horz">
            <a:spAutoFit/>
          </a:bodyPr>
          <a:lstStyle/>
          <a:p>
            <a:pPr marL="508000" indent="-457200">
              <a:lnSpc>
                <a:spcPct val="100000"/>
              </a:lnSpc>
              <a:spcBef>
                <a:spcPts val="1060"/>
              </a:spcBef>
              <a:buClr>
                <a:srgbClr val="4668F5"/>
              </a:buClr>
              <a:buSzPct val="60000"/>
              <a:buFont typeface="Wingdings"/>
              <a:buChar char=""/>
              <a:tabLst>
                <a:tab pos="508000" algn="l"/>
              </a:tabLst>
            </a:pPr>
            <a:r>
              <a:rPr dirty="0" sz="2000" spc="-10" b="1">
                <a:latin typeface="宋体"/>
                <a:cs typeface="宋体"/>
              </a:rPr>
              <a:t>字长与</a:t>
            </a:r>
            <a:r>
              <a:rPr dirty="0" sz="2000" spc="-20" b="1">
                <a:latin typeface="Times New Roman"/>
                <a:cs typeface="Times New Roman"/>
              </a:rPr>
              <a:t>CPU</a:t>
            </a:r>
            <a:r>
              <a:rPr dirty="0" sz="2000" spc="-20" b="1">
                <a:latin typeface="宋体"/>
                <a:cs typeface="宋体"/>
              </a:rPr>
              <a:t>的字长相同。</a:t>
            </a:r>
            <a:endParaRPr sz="2000">
              <a:latin typeface="宋体"/>
              <a:cs typeface="宋体"/>
            </a:endParaRPr>
          </a:p>
          <a:p>
            <a:pPr marL="508000" marR="55880" indent="-457834">
              <a:lnSpc>
                <a:spcPct val="120000"/>
              </a:lnSpc>
              <a:spcBef>
                <a:spcPts val="480"/>
              </a:spcBef>
              <a:buClr>
                <a:srgbClr val="4668F5"/>
              </a:buClr>
              <a:buSzPct val="60000"/>
              <a:buFont typeface="Wingdings"/>
              <a:buChar char=""/>
              <a:tabLst>
                <a:tab pos="508000" algn="l"/>
              </a:tabLst>
            </a:pPr>
            <a:r>
              <a:rPr dirty="0" sz="2000" spc="-25" b="1">
                <a:latin typeface="宋体"/>
                <a:cs typeface="宋体"/>
              </a:rPr>
              <a:t>每一次只能访问一个存储字。假设该存储器的</a:t>
            </a:r>
            <a:r>
              <a:rPr dirty="0" sz="2000" spc="-10" b="1">
                <a:latin typeface="宋体"/>
                <a:cs typeface="宋体"/>
              </a:rPr>
              <a:t>访问周期是</a:t>
            </a:r>
            <a:r>
              <a:rPr dirty="0" sz="2000" spc="-10" b="1">
                <a:solidFill>
                  <a:srgbClr val="9933FF"/>
                </a:solidFill>
                <a:latin typeface="Times New Roman"/>
                <a:cs typeface="Times New Roman"/>
              </a:rPr>
              <a:t>T</a:t>
            </a:r>
            <a:r>
              <a:rPr dirty="0" baseline="-21367" sz="1950" spc="-15" b="1">
                <a:solidFill>
                  <a:srgbClr val="9933FF"/>
                </a:solidFill>
                <a:latin typeface="Times New Roman"/>
                <a:cs typeface="Times New Roman"/>
              </a:rPr>
              <a:t>M</a:t>
            </a:r>
            <a:r>
              <a:rPr dirty="0" sz="2000" spc="-10" b="1">
                <a:latin typeface="宋体"/>
                <a:cs typeface="宋体"/>
              </a:rPr>
              <a:t>，字长为</a:t>
            </a:r>
            <a:r>
              <a:rPr dirty="0" sz="2000" b="1">
                <a:solidFill>
                  <a:srgbClr val="9933FF"/>
                </a:solidFill>
                <a:latin typeface="Times New Roman"/>
                <a:cs typeface="Times New Roman"/>
              </a:rPr>
              <a:t>W</a:t>
            </a:r>
            <a:r>
              <a:rPr dirty="0" sz="2000" spc="-20" b="1">
                <a:latin typeface="宋体"/>
                <a:cs typeface="宋体"/>
              </a:rPr>
              <a:t>位，则其带宽为：</a:t>
            </a:r>
            <a:endParaRPr sz="2000">
              <a:latin typeface="宋体"/>
              <a:cs typeface="宋体"/>
            </a:endParaRPr>
          </a:p>
        </p:txBody>
      </p:sp>
      <p:grpSp>
        <p:nvGrpSpPr>
          <p:cNvPr id="12" name="object 12" descr=""/>
          <p:cNvGrpSpPr/>
          <p:nvPr/>
        </p:nvGrpSpPr>
        <p:grpSpPr>
          <a:xfrm>
            <a:off x="3071876" y="3433698"/>
            <a:ext cx="1224280" cy="869950"/>
            <a:chOff x="3071876" y="3433698"/>
            <a:chExt cx="1224280" cy="869950"/>
          </a:xfrm>
        </p:grpSpPr>
        <p:sp>
          <p:nvSpPr>
            <p:cNvPr id="13" name="object 13" descr=""/>
            <p:cNvSpPr/>
            <p:nvPr/>
          </p:nvSpPr>
          <p:spPr>
            <a:xfrm>
              <a:off x="3071876" y="3433698"/>
              <a:ext cx="1224280" cy="869950"/>
            </a:xfrm>
            <a:custGeom>
              <a:avLst/>
              <a:gdLst/>
              <a:ahLst/>
              <a:cxnLst/>
              <a:rect l="l" t="t" r="r" b="b"/>
              <a:pathLst>
                <a:path w="1224279" h="869950">
                  <a:moveTo>
                    <a:pt x="1223962" y="0"/>
                  </a:moveTo>
                  <a:lnTo>
                    <a:pt x="0" y="0"/>
                  </a:lnTo>
                  <a:lnTo>
                    <a:pt x="0" y="869950"/>
                  </a:lnTo>
                  <a:lnTo>
                    <a:pt x="1223962" y="869950"/>
                  </a:lnTo>
                  <a:lnTo>
                    <a:pt x="1223962" y="0"/>
                  </a:lnTo>
                  <a:close/>
                </a:path>
              </a:pathLst>
            </a:custGeom>
            <a:solidFill>
              <a:srgbClr val="EAEAEA"/>
            </a:solidFill>
          </p:spPr>
          <p:txBody>
            <a:bodyPr wrap="square" lIns="0" tIns="0" rIns="0" bIns="0" rtlCol="0"/>
            <a:lstStyle/>
            <a:p/>
          </p:txBody>
        </p:sp>
        <p:sp>
          <p:nvSpPr>
            <p:cNvPr id="14" name="object 14" descr=""/>
            <p:cNvSpPr/>
            <p:nvPr/>
          </p:nvSpPr>
          <p:spPr>
            <a:xfrm>
              <a:off x="3836025" y="3848065"/>
              <a:ext cx="401955" cy="0"/>
            </a:xfrm>
            <a:custGeom>
              <a:avLst/>
              <a:gdLst/>
              <a:ahLst/>
              <a:cxnLst/>
              <a:rect l="l" t="t" r="r" b="b"/>
              <a:pathLst>
                <a:path w="401954" h="0">
                  <a:moveTo>
                    <a:pt x="0" y="0"/>
                  </a:moveTo>
                  <a:lnTo>
                    <a:pt x="401954" y="0"/>
                  </a:lnTo>
                </a:path>
              </a:pathLst>
            </a:custGeom>
            <a:ln w="13355">
              <a:solidFill>
                <a:srgbClr val="000000"/>
              </a:solidFill>
            </a:ln>
          </p:spPr>
          <p:txBody>
            <a:bodyPr wrap="square" lIns="0" tIns="0" rIns="0" bIns="0" rtlCol="0"/>
            <a:lstStyle/>
            <a:p/>
          </p:txBody>
        </p:sp>
      </p:grpSp>
      <p:sp>
        <p:nvSpPr>
          <p:cNvPr id="15" name="object 15" descr=""/>
          <p:cNvSpPr txBox="1"/>
          <p:nvPr/>
        </p:nvSpPr>
        <p:spPr>
          <a:xfrm>
            <a:off x="3999104" y="4028807"/>
            <a:ext cx="172720" cy="254635"/>
          </a:xfrm>
          <a:prstGeom prst="rect">
            <a:avLst/>
          </a:prstGeom>
        </p:spPr>
        <p:txBody>
          <a:bodyPr wrap="square" lIns="0" tIns="12700" rIns="0" bIns="0" rtlCol="0" vert="horz">
            <a:spAutoFit/>
          </a:bodyPr>
          <a:lstStyle/>
          <a:p>
            <a:pPr>
              <a:lnSpc>
                <a:spcPct val="100000"/>
              </a:lnSpc>
              <a:spcBef>
                <a:spcPts val="100"/>
              </a:spcBef>
            </a:pPr>
            <a:r>
              <a:rPr dirty="0" sz="1500" spc="-50" i="1">
                <a:latin typeface="Times New Roman"/>
                <a:cs typeface="Times New Roman"/>
              </a:rPr>
              <a:t>M</a:t>
            </a:r>
            <a:endParaRPr sz="1500">
              <a:latin typeface="Times New Roman"/>
              <a:cs typeface="Times New Roman"/>
            </a:endParaRPr>
          </a:p>
        </p:txBody>
      </p:sp>
      <p:sp>
        <p:nvSpPr>
          <p:cNvPr id="16" name="object 16" descr=""/>
          <p:cNvSpPr txBox="1"/>
          <p:nvPr/>
        </p:nvSpPr>
        <p:spPr>
          <a:xfrm>
            <a:off x="3312645" y="3794031"/>
            <a:ext cx="172720" cy="254635"/>
          </a:xfrm>
          <a:prstGeom prst="rect">
            <a:avLst/>
          </a:prstGeom>
        </p:spPr>
        <p:txBody>
          <a:bodyPr wrap="square" lIns="0" tIns="12700" rIns="0" bIns="0" rtlCol="0" vert="horz">
            <a:spAutoFit/>
          </a:bodyPr>
          <a:lstStyle/>
          <a:p>
            <a:pPr>
              <a:lnSpc>
                <a:spcPct val="100000"/>
              </a:lnSpc>
              <a:spcBef>
                <a:spcPts val="100"/>
              </a:spcBef>
            </a:pPr>
            <a:r>
              <a:rPr dirty="0" sz="1500" spc="-50" i="1">
                <a:latin typeface="Times New Roman"/>
                <a:cs typeface="Times New Roman"/>
              </a:rPr>
              <a:t>M</a:t>
            </a:r>
            <a:endParaRPr sz="1500">
              <a:latin typeface="Times New Roman"/>
              <a:cs typeface="Times New Roman"/>
            </a:endParaRPr>
          </a:p>
        </p:txBody>
      </p:sp>
      <p:sp>
        <p:nvSpPr>
          <p:cNvPr id="17" name="object 17" descr=""/>
          <p:cNvSpPr txBox="1"/>
          <p:nvPr/>
        </p:nvSpPr>
        <p:spPr>
          <a:xfrm>
            <a:off x="3130126" y="3610026"/>
            <a:ext cx="197485" cy="386080"/>
          </a:xfrm>
          <a:prstGeom prst="rect">
            <a:avLst/>
          </a:prstGeom>
        </p:spPr>
        <p:txBody>
          <a:bodyPr wrap="square" lIns="0" tIns="14604" rIns="0" bIns="0" rtlCol="0" vert="horz">
            <a:spAutoFit/>
          </a:bodyPr>
          <a:lstStyle/>
          <a:p>
            <a:pPr>
              <a:lnSpc>
                <a:spcPct val="100000"/>
              </a:lnSpc>
              <a:spcBef>
                <a:spcPts val="114"/>
              </a:spcBef>
            </a:pPr>
            <a:r>
              <a:rPr dirty="0" sz="2350" spc="-50" i="1">
                <a:latin typeface="Times New Roman"/>
                <a:cs typeface="Times New Roman"/>
              </a:rPr>
              <a:t>B</a:t>
            </a:r>
            <a:endParaRPr sz="2350">
              <a:latin typeface="Times New Roman"/>
              <a:cs typeface="Times New Roman"/>
            </a:endParaRPr>
          </a:p>
        </p:txBody>
      </p:sp>
      <p:sp>
        <p:nvSpPr>
          <p:cNvPr id="18" name="object 18" descr=""/>
          <p:cNvSpPr txBox="1"/>
          <p:nvPr/>
        </p:nvSpPr>
        <p:spPr>
          <a:xfrm>
            <a:off x="3575786" y="3357385"/>
            <a:ext cx="594360" cy="873125"/>
          </a:xfrm>
          <a:prstGeom prst="rect">
            <a:avLst/>
          </a:prstGeom>
        </p:spPr>
        <p:txBody>
          <a:bodyPr wrap="square" lIns="0" tIns="12065" rIns="0" bIns="0" rtlCol="0" vert="horz">
            <a:spAutoFit/>
          </a:bodyPr>
          <a:lstStyle/>
          <a:p>
            <a:pPr marL="264795" marR="30480" indent="-240029">
              <a:lnSpc>
                <a:spcPct val="118300"/>
              </a:lnSpc>
              <a:spcBef>
                <a:spcPts val="95"/>
              </a:spcBef>
            </a:pPr>
            <a:r>
              <a:rPr dirty="0" baseline="-35460" sz="3525">
                <a:latin typeface="Symbol"/>
                <a:cs typeface="Symbol"/>
              </a:rPr>
              <a:t></a:t>
            </a:r>
            <a:r>
              <a:rPr dirty="0" baseline="-35460" sz="3525" spc="457">
                <a:latin typeface="Times New Roman"/>
                <a:cs typeface="Times New Roman"/>
              </a:rPr>
              <a:t> </a:t>
            </a:r>
            <a:r>
              <a:rPr dirty="0" sz="2350" spc="-50" i="1">
                <a:latin typeface="Times New Roman"/>
                <a:cs typeface="Times New Roman"/>
              </a:rPr>
              <a:t>W</a:t>
            </a:r>
            <a:r>
              <a:rPr dirty="0" sz="2350" spc="-50" i="1">
                <a:latin typeface="Times New Roman"/>
                <a:cs typeface="Times New Roman"/>
              </a:rPr>
              <a:t> T</a:t>
            </a:r>
            <a:endParaRPr sz="2350">
              <a:latin typeface="Times New Roman"/>
              <a:cs typeface="Times New Roman"/>
            </a:endParaRPr>
          </a:p>
        </p:txBody>
      </p:sp>
      <p:pic>
        <p:nvPicPr>
          <p:cNvPr id="19" name="object 19" descr=""/>
          <p:cNvPicPr/>
          <p:nvPr/>
        </p:nvPicPr>
        <p:blipFill>
          <a:blip r:embed="rId3" cstate="print"/>
          <a:stretch>
            <a:fillRect/>
          </a:stretch>
        </p:blipFill>
        <p:spPr>
          <a:xfrm>
            <a:off x="9510170" y="927269"/>
            <a:ext cx="1779925" cy="3038576"/>
          </a:xfrm>
          <a:prstGeom prst="rect">
            <a:avLst/>
          </a:prstGeom>
        </p:spPr>
      </p:pic>
      <p:sp>
        <p:nvSpPr>
          <p:cNvPr id="20" name="object 20" descr=""/>
          <p:cNvSpPr txBox="1"/>
          <p:nvPr/>
        </p:nvSpPr>
        <p:spPr>
          <a:xfrm>
            <a:off x="9939187" y="3656120"/>
            <a:ext cx="1026160" cy="265430"/>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地址寄存器</a:t>
            </a:r>
            <a:endParaRPr sz="1550">
              <a:latin typeface="宋体"/>
              <a:cs typeface="宋体"/>
            </a:endParaRPr>
          </a:p>
        </p:txBody>
      </p:sp>
      <p:sp>
        <p:nvSpPr>
          <p:cNvPr id="21" name="object 21" descr=""/>
          <p:cNvSpPr txBox="1"/>
          <p:nvPr/>
        </p:nvSpPr>
        <p:spPr>
          <a:xfrm>
            <a:off x="9963125" y="529280"/>
            <a:ext cx="1026160" cy="1046480"/>
          </a:xfrm>
          <a:prstGeom prst="rect">
            <a:avLst/>
          </a:prstGeom>
        </p:spPr>
        <p:txBody>
          <a:bodyPr wrap="square" lIns="0" tIns="118745" rIns="0" bIns="0" rtlCol="0" vert="horz">
            <a:spAutoFit/>
          </a:bodyPr>
          <a:lstStyle/>
          <a:p>
            <a:pPr algn="ctr">
              <a:lnSpc>
                <a:spcPct val="100000"/>
              </a:lnSpc>
              <a:spcBef>
                <a:spcPts val="935"/>
              </a:spcBef>
            </a:pPr>
            <a:r>
              <a:rPr dirty="0" sz="1550" spc="-10">
                <a:solidFill>
                  <a:srgbClr val="0000FF"/>
                </a:solidFill>
                <a:latin typeface="宋体"/>
                <a:cs typeface="宋体"/>
              </a:rPr>
              <a:t>数据寄存器</a:t>
            </a:r>
            <a:endParaRPr sz="1550">
              <a:latin typeface="宋体"/>
              <a:cs typeface="宋体"/>
            </a:endParaRPr>
          </a:p>
          <a:p>
            <a:pPr algn="ctr" marL="1270">
              <a:lnSpc>
                <a:spcPct val="100000"/>
              </a:lnSpc>
              <a:spcBef>
                <a:spcPts val="840"/>
              </a:spcBef>
            </a:pPr>
            <a:r>
              <a:rPr dirty="0" sz="1550">
                <a:latin typeface="宋体"/>
                <a:cs typeface="宋体"/>
              </a:rPr>
              <a:t>W</a:t>
            </a:r>
            <a:r>
              <a:rPr dirty="0" sz="1550" spc="-210">
                <a:latin typeface="宋体"/>
                <a:cs typeface="宋体"/>
              </a:rPr>
              <a:t> 位</a:t>
            </a:r>
            <a:endParaRPr sz="1550">
              <a:latin typeface="宋体"/>
              <a:cs typeface="宋体"/>
            </a:endParaRPr>
          </a:p>
          <a:p>
            <a:pPr algn="ctr" marR="12065">
              <a:lnSpc>
                <a:spcPct val="100000"/>
              </a:lnSpc>
              <a:spcBef>
                <a:spcPts val="420"/>
              </a:spcBef>
            </a:pPr>
            <a:r>
              <a:rPr dirty="0" sz="1850" spc="-25">
                <a:latin typeface="宋体"/>
                <a:cs typeface="宋体"/>
              </a:rPr>
              <a:t>……</a:t>
            </a:r>
            <a:endParaRPr sz="1850">
              <a:latin typeface="宋体"/>
              <a:cs typeface="宋体"/>
            </a:endParaRPr>
          </a:p>
        </p:txBody>
      </p:sp>
      <p:sp>
        <p:nvSpPr>
          <p:cNvPr id="22" name="object 22" descr=""/>
          <p:cNvSpPr txBox="1"/>
          <p:nvPr/>
        </p:nvSpPr>
        <p:spPr>
          <a:xfrm>
            <a:off x="10218593" y="3293817"/>
            <a:ext cx="495300" cy="307340"/>
          </a:xfrm>
          <a:prstGeom prst="rect">
            <a:avLst/>
          </a:prstGeom>
        </p:spPr>
        <p:txBody>
          <a:bodyPr wrap="square" lIns="0" tIns="12065" rIns="0" bIns="0" rtlCol="0" vert="horz">
            <a:spAutoFit/>
          </a:bodyPr>
          <a:lstStyle/>
          <a:p>
            <a:pPr marL="12700">
              <a:lnSpc>
                <a:spcPct val="100000"/>
              </a:lnSpc>
              <a:spcBef>
                <a:spcPts val="95"/>
              </a:spcBef>
            </a:pPr>
            <a:r>
              <a:rPr dirty="0" sz="1850" spc="-25">
                <a:latin typeface="宋体"/>
                <a:cs typeface="宋体"/>
              </a:rPr>
              <a:t>……</a:t>
            </a:r>
            <a:endParaRPr sz="1850">
              <a:latin typeface="宋体"/>
              <a:cs typeface="宋体"/>
            </a:endParaRPr>
          </a:p>
        </p:txBody>
      </p:sp>
      <p:sp>
        <p:nvSpPr>
          <p:cNvPr id="23" name="object 23" descr=""/>
          <p:cNvSpPr txBox="1"/>
          <p:nvPr/>
        </p:nvSpPr>
        <p:spPr>
          <a:xfrm>
            <a:off x="9409122" y="2247026"/>
            <a:ext cx="125730" cy="265430"/>
          </a:xfrm>
          <a:prstGeom prst="rect">
            <a:avLst/>
          </a:prstGeom>
        </p:spPr>
        <p:txBody>
          <a:bodyPr wrap="square" lIns="0" tIns="15240" rIns="0" bIns="0" rtlCol="0" vert="horz">
            <a:spAutoFit/>
          </a:bodyPr>
          <a:lstStyle/>
          <a:p>
            <a:pPr marL="12700">
              <a:lnSpc>
                <a:spcPct val="100000"/>
              </a:lnSpc>
              <a:spcBef>
                <a:spcPts val="120"/>
              </a:spcBef>
            </a:pPr>
            <a:r>
              <a:rPr dirty="0" sz="1550" spc="-50">
                <a:solidFill>
                  <a:srgbClr val="800000"/>
                </a:solidFill>
                <a:latin typeface="宋体"/>
                <a:cs typeface="宋体"/>
              </a:rPr>
              <a:t>L</a:t>
            </a:r>
            <a:endParaRPr sz="1550">
              <a:latin typeface="宋体"/>
              <a:cs typeface="宋体"/>
            </a:endParaRPr>
          </a:p>
        </p:txBody>
      </p:sp>
      <p:sp>
        <p:nvSpPr>
          <p:cNvPr id="24" name="object 24" descr=""/>
          <p:cNvSpPr txBox="1"/>
          <p:nvPr/>
        </p:nvSpPr>
        <p:spPr>
          <a:xfrm>
            <a:off x="9595484" y="3932021"/>
            <a:ext cx="2148840" cy="939800"/>
          </a:xfrm>
          <a:prstGeom prst="rect">
            <a:avLst/>
          </a:prstGeom>
        </p:spPr>
        <p:txBody>
          <a:bodyPr wrap="square" lIns="0" tIns="12700" rIns="0" bIns="0" rtlCol="0" vert="horz">
            <a:spAutoFit/>
          </a:bodyPr>
          <a:lstStyle/>
          <a:p>
            <a:pPr marL="86995" marR="5080" indent="-74930">
              <a:lnSpc>
                <a:spcPct val="150000"/>
              </a:lnSpc>
              <a:spcBef>
                <a:spcPts val="100"/>
              </a:spcBef>
            </a:pPr>
            <a:r>
              <a:rPr dirty="0" sz="2000" spc="-10" b="1">
                <a:solidFill>
                  <a:srgbClr val="FF5CFF"/>
                </a:solidFill>
                <a:latin typeface="宋体"/>
                <a:cs typeface="宋体"/>
              </a:rPr>
              <a:t>图</a:t>
            </a:r>
            <a:r>
              <a:rPr dirty="0" sz="2000" spc="-10" b="1">
                <a:solidFill>
                  <a:srgbClr val="FF5CFF"/>
                </a:solidFill>
                <a:latin typeface="Tahoma"/>
                <a:cs typeface="Tahoma"/>
              </a:rPr>
              <a:t>7.26</a:t>
            </a:r>
            <a:r>
              <a:rPr dirty="0" sz="2000" spc="-20" b="1">
                <a:solidFill>
                  <a:srgbClr val="FF5CFF"/>
                </a:solidFill>
                <a:latin typeface="宋体"/>
                <a:cs typeface="宋体"/>
              </a:rPr>
              <a:t>普通存储器单体单字宽存储器</a:t>
            </a:r>
            <a:endParaRPr sz="2000">
              <a:latin typeface="宋体"/>
              <a:cs typeface="宋体"/>
            </a:endParaRPr>
          </a:p>
        </p:txBody>
      </p:sp>
      <p:sp>
        <p:nvSpPr>
          <p:cNvPr id="25" name="object 25" descr=""/>
          <p:cNvSpPr txBox="1"/>
          <p:nvPr/>
        </p:nvSpPr>
        <p:spPr>
          <a:xfrm>
            <a:off x="467055" y="4108195"/>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FF5CFF"/>
                </a:solidFill>
                <a:latin typeface="黑体"/>
                <a:cs typeface="黑体"/>
              </a:rPr>
              <a:t>提升方法</a:t>
            </a:r>
            <a:endParaRPr sz="2400">
              <a:latin typeface="黑体"/>
              <a:cs typeface="黑体"/>
            </a:endParaRPr>
          </a:p>
        </p:txBody>
      </p:sp>
      <p:sp>
        <p:nvSpPr>
          <p:cNvPr id="26" name="object 26" descr=""/>
          <p:cNvSpPr txBox="1"/>
          <p:nvPr/>
        </p:nvSpPr>
        <p:spPr>
          <a:xfrm>
            <a:off x="441655" y="4547485"/>
            <a:ext cx="8943340" cy="902969"/>
          </a:xfrm>
          <a:prstGeom prst="rect">
            <a:avLst/>
          </a:prstGeom>
        </p:spPr>
        <p:txBody>
          <a:bodyPr wrap="square" lIns="0" tIns="12065" rIns="0" bIns="0" rtlCol="0" vert="horz">
            <a:spAutoFit/>
          </a:bodyPr>
          <a:lstStyle/>
          <a:p>
            <a:pPr marL="307975" marR="30480" indent="-270510">
              <a:lnSpc>
                <a:spcPct val="120000"/>
              </a:lnSpc>
              <a:spcBef>
                <a:spcPts val="95"/>
              </a:spcBef>
              <a:buSzPct val="89583"/>
              <a:buFont typeface="Wingdings"/>
              <a:buChar char=""/>
              <a:tabLst>
                <a:tab pos="309245" algn="l"/>
              </a:tabLst>
            </a:pPr>
            <a:r>
              <a:rPr dirty="0" sz="2400">
                <a:solidFill>
                  <a:srgbClr val="40458B"/>
                </a:solidFill>
                <a:latin typeface="黑体"/>
                <a:cs typeface="黑体"/>
              </a:rPr>
              <a:t>在相同的器件条件（即</a:t>
            </a:r>
            <a:r>
              <a:rPr dirty="0" sz="2400" spc="-20">
                <a:solidFill>
                  <a:srgbClr val="9933FF"/>
                </a:solidFill>
                <a:latin typeface="Times New Roman"/>
                <a:cs typeface="Times New Roman"/>
              </a:rPr>
              <a:t>T</a:t>
            </a:r>
            <a:r>
              <a:rPr dirty="0" baseline="-20833" sz="2400" spc="-30">
                <a:solidFill>
                  <a:srgbClr val="9933FF"/>
                </a:solidFill>
                <a:latin typeface="Times New Roman"/>
                <a:cs typeface="Times New Roman"/>
              </a:rPr>
              <a:t>M</a:t>
            </a:r>
            <a:r>
              <a:rPr dirty="0" sz="2400">
                <a:solidFill>
                  <a:srgbClr val="40458B"/>
                </a:solidFill>
                <a:latin typeface="黑体"/>
                <a:cs typeface="黑体"/>
              </a:rPr>
              <a:t>相同）</a:t>
            </a:r>
            <a:r>
              <a:rPr dirty="0" sz="2400" spc="-5">
                <a:solidFill>
                  <a:srgbClr val="40458B"/>
                </a:solidFill>
                <a:latin typeface="黑体"/>
                <a:cs typeface="黑体"/>
              </a:rPr>
              <a:t>下，可以采用两种并行存储器结</a:t>
            </a:r>
            <a:r>
              <a:rPr dirty="0" sz="2400" spc="-5">
                <a:solidFill>
                  <a:srgbClr val="40458B"/>
                </a:solidFill>
                <a:latin typeface="黑体"/>
                <a:cs typeface="黑体"/>
              </a:rPr>
              <a:t>	</a:t>
            </a:r>
            <a:r>
              <a:rPr dirty="0" sz="2400" spc="-15">
                <a:solidFill>
                  <a:srgbClr val="40458B"/>
                </a:solidFill>
                <a:latin typeface="黑体"/>
                <a:cs typeface="黑体"/>
              </a:rPr>
              <a:t>构来提高主存的带宽：</a:t>
            </a:r>
            <a:endParaRPr sz="2400">
              <a:latin typeface="黑体"/>
              <a:cs typeface="黑体"/>
            </a:endParaRPr>
          </a:p>
        </p:txBody>
      </p:sp>
      <p:sp>
        <p:nvSpPr>
          <p:cNvPr id="27" name="object 27" descr=""/>
          <p:cNvSpPr txBox="1"/>
          <p:nvPr/>
        </p:nvSpPr>
        <p:spPr>
          <a:xfrm>
            <a:off x="1094943" y="5433466"/>
            <a:ext cx="2275205" cy="878840"/>
          </a:xfrm>
          <a:prstGeom prst="rect">
            <a:avLst/>
          </a:prstGeom>
        </p:spPr>
        <p:txBody>
          <a:bodyPr wrap="square" lIns="0" tIns="134620" rIns="0" bIns="0" rtlCol="0" vert="horz">
            <a:spAutoFit/>
          </a:bodyPr>
          <a:lstStyle/>
          <a:p>
            <a:pPr marL="469265" indent="-456565">
              <a:lnSpc>
                <a:spcPct val="100000"/>
              </a:lnSpc>
              <a:spcBef>
                <a:spcPts val="1060"/>
              </a:spcBef>
              <a:buClr>
                <a:srgbClr val="4668F5"/>
              </a:buClr>
              <a:buSzPct val="60000"/>
              <a:buFont typeface="Wingdings"/>
              <a:buChar char=""/>
              <a:tabLst>
                <a:tab pos="469265" algn="l"/>
              </a:tabLst>
            </a:pPr>
            <a:r>
              <a:rPr dirty="0" sz="2000" spc="-20" b="1">
                <a:latin typeface="宋体"/>
                <a:cs typeface="宋体"/>
              </a:rPr>
              <a:t>单体多字存储器</a:t>
            </a:r>
            <a:endParaRPr sz="2000">
              <a:latin typeface="宋体"/>
              <a:cs typeface="宋体"/>
            </a:endParaRPr>
          </a:p>
          <a:p>
            <a:pPr marL="469265" indent="-456565">
              <a:lnSpc>
                <a:spcPct val="100000"/>
              </a:lnSpc>
              <a:spcBef>
                <a:spcPts val="960"/>
              </a:spcBef>
              <a:buClr>
                <a:srgbClr val="4668F5"/>
              </a:buClr>
              <a:buSzPct val="60000"/>
              <a:buFont typeface="Wingdings"/>
              <a:buChar char=""/>
              <a:tabLst>
                <a:tab pos="469265" algn="l"/>
              </a:tabLst>
            </a:pPr>
            <a:r>
              <a:rPr dirty="0" sz="2000" spc="-20" b="1">
                <a:latin typeface="宋体"/>
                <a:cs typeface="宋体"/>
              </a:rPr>
              <a:t>多体交叉存储器</a:t>
            </a:r>
            <a:endParaRPr sz="2000">
              <a:latin typeface="宋体"/>
              <a:cs typeface="宋体"/>
            </a:endParaRPr>
          </a:p>
        </p:txBody>
      </p:sp>
      <p:sp>
        <p:nvSpPr>
          <p:cNvPr id="28" name="object 28" descr=""/>
          <p:cNvSpPr txBox="1"/>
          <p:nvPr/>
        </p:nvSpPr>
        <p:spPr>
          <a:xfrm>
            <a:off x="5238750" y="3750309"/>
            <a:ext cx="3683000" cy="391160"/>
          </a:xfrm>
          <a:prstGeom prst="rect">
            <a:avLst/>
          </a:prstGeom>
        </p:spPr>
        <p:txBody>
          <a:bodyPr wrap="square" lIns="0" tIns="12700" rIns="0" bIns="0" rtlCol="0" vert="horz">
            <a:spAutoFit/>
          </a:bodyPr>
          <a:lstStyle/>
          <a:p>
            <a:pPr marL="12700">
              <a:lnSpc>
                <a:spcPct val="100000"/>
              </a:lnSpc>
              <a:spcBef>
                <a:spcPts val="100"/>
              </a:spcBef>
            </a:pPr>
            <a:r>
              <a:rPr dirty="0" sz="2400" spc="-5">
                <a:solidFill>
                  <a:srgbClr val="FF5CFF"/>
                </a:solidFill>
                <a:latin typeface="黑体"/>
                <a:cs typeface="黑体"/>
              </a:rPr>
              <a:t>显然带宽很小，如何提升？</a:t>
            </a:r>
            <a:endParaRPr sz="2400">
              <a:latin typeface="黑体"/>
              <a:cs typeface="黑体"/>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585086" y="24129"/>
            <a:ext cx="2869565" cy="452120"/>
          </a:xfrm>
          <a:prstGeom prst="rect"/>
        </p:spPr>
        <p:txBody>
          <a:bodyPr wrap="square" lIns="0" tIns="12065" rIns="0" bIns="0" rtlCol="0" vert="horz">
            <a:spAutoFit/>
          </a:bodyPr>
          <a:lstStyle/>
          <a:p>
            <a:pPr marL="12700">
              <a:lnSpc>
                <a:spcPct val="100000"/>
              </a:lnSpc>
              <a:spcBef>
                <a:spcPts val="95"/>
              </a:spcBef>
              <a:tabLst>
                <a:tab pos="724535" algn="l"/>
              </a:tabLst>
            </a:pPr>
            <a:r>
              <a:rPr dirty="0" u="none" spc="-25"/>
              <a:t>7.6</a:t>
            </a:r>
            <a:r>
              <a:rPr dirty="0" u="none"/>
              <a:t>	</a:t>
            </a:r>
            <a:r>
              <a:rPr dirty="0" u="none" spc="-40"/>
              <a:t>并行主存系统</a:t>
            </a:r>
          </a:p>
        </p:txBody>
      </p:sp>
      <p:sp>
        <p:nvSpPr>
          <p:cNvPr id="10" name="object 10" descr=""/>
          <p:cNvSpPr txBox="1"/>
          <p:nvPr/>
        </p:nvSpPr>
        <p:spPr>
          <a:xfrm>
            <a:off x="1422019" y="879094"/>
            <a:ext cx="4934585" cy="1162685"/>
          </a:xfrm>
          <a:prstGeom prst="rect">
            <a:avLst/>
          </a:prstGeom>
        </p:spPr>
        <p:txBody>
          <a:bodyPr wrap="square" lIns="0" tIns="13335" rIns="0" bIns="0" rtlCol="0" vert="horz">
            <a:spAutoFit/>
          </a:bodyPr>
          <a:lstStyle/>
          <a:p>
            <a:pPr marL="156845">
              <a:lnSpc>
                <a:spcPct val="100000"/>
              </a:lnSpc>
              <a:spcBef>
                <a:spcPts val="105"/>
              </a:spcBef>
            </a:pPr>
            <a:r>
              <a:rPr dirty="0" sz="2600">
                <a:solidFill>
                  <a:srgbClr val="0000CC"/>
                </a:solidFill>
                <a:latin typeface="黑体"/>
                <a:cs typeface="黑体"/>
              </a:rPr>
              <a:t>7.6.1</a:t>
            </a:r>
            <a:r>
              <a:rPr dirty="0" sz="2600" spc="-15">
                <a:solidFill>
                  <a:srgbClr val="0000CC"/>
                </a:solidFill>
                <a:latin typeface="黑体"/>
                <a:cs typeface="黑体"/>
              </a:rPr>
              <a:t> 单体多字存储器</a:t>
            </a:r>
            <a:endParaRPr sz="2600">
              <a:latin typeface="黑体"/>
              <a:cs typeface="黑体"/>
            </a:endParaRPr>
          </a:p>
          <a:p>
            <a:pPr marL="12700">
              <a:lnSpc>
                <a:spcPct val="100000"/>
              </a:lnSpc>
              <a:spcBef>
                <a:spcPts val="2945"/>
              </a:spcBef>
              <a:tabLst>
                <a:tab pos="469265" algn="l"/>
              </a:tabLst>
            </a:pPr>
            <a:r>
              <a:rPr dirty="0" sz="2400" spc="-25">
                <a:solidFill>
                  <a:srgbClr val="40458B"/>
                </a:solidFill>
                <a:latin typeface="Times New Roman"/>
                <a:cs typeface="Times New Roman"/>
              </a:rPr>
              <a:t>1.</a:t>
            </a:r>
            <a:r>
              <a:rPr dirty="0" sz="2400">
                <a:solidFill>
                  <a:srgbClr val="40458B"/>
                </a:solidFill>
                <a:latin typeface="Times New Roman"/>
                <a:cs typeface="Times New Roman"/>
              </a:rPr>
              <a:t>	</a:t>
            </a:r>
            <a:r>
              <a:rPr dirty="0" sz="2400" spc="-10">
                <a:solidFill>
                  <a:srgbClr val="E14B04"/>
                </a:solidFill>
                <a:latin typeface="黑体"/>
                <a:cs typeface="黑体"/>
              </a:rPr>
              <a:t>一个单体</a:t>
            </a:r>
            <a:r>
              <a:rPr dirty="0" sz="2400" spc="-25">
                <a:solidFill>
                  <a:srgbClr val="9933FF"/>
                </a:solidFill>
                <a:latin typeface="Times New Roman"/>
                <a:cs typeface="Times New Roman"/>
              </a:rPr>
              <a:t>m</a:t>
            </a:r>
            <a:r>
              <a:rPr dirty="0" sz="2400" spc="-10">
                <a:solidFill>
                  <a:srgbClr val="E14B04"/>
                </a:solidFill>
                <a:latin typeface="黑体"/>
                <a:cs typeface="黑体"/>
              </a:rPr>
              <a:t>字（这里</a:t>
            </a:r>
            <a:r>
              <a:rPr dirty="0" sz="2400" spc="-10">
                <a:solidFill>
                  <a:srgbClr val="9933FF"/>
                </a:solidFill>
                <a:latin typeface="Times New Roman"/>
                <a:cs typeface="Times New Roman"/>
              </a:rPr>
              <a:t>m=4</a:t>
            </a:r>
            <a:r>
              <a:rPr dirty="0" sz="2400" spc="-10">
                <a:solidFill>
                  <a:srgbClr val="E14B04"/>
                </a:solidFill>
                <a:latin typeface="黑体"/>
                <a:cs typeface="黑体"/>
              </a:rPr>
              <a:t>）</a:t>
            </a:r>
            <a:r>
              <a:rPr dirty="0" sz="2400" spc="-25">
                <a:solidFill>
                  <a:srgbClr val="E14B04"/>
                </a:solidFill>
                <a:latin typeface="黑体"/>
                <a:cs typeface="黑体"/>
              </a:rPr>
              <a:t>存储器</a:t>
            </a:r>
            <a:endParaRPr sz="2400">
              <a:latin typeface="黑体"/>
              <a:cs typeface="黑体"/>
            </a:endParaRPr>
          </a:p>
        </p:txBody>
      </p:sp>
      <p:grpSp>
        <p:nvGrpSpPr>
          <p:cNvPr id="11" name="object 11" descr=""/>
          <p:cNvGrpSpPr/>
          <p:nvPr/>
        </p:nvGrpSpPr>
        <p:grpSpPr>
          <a:xfrm>
            <a:off x="4644763" y="3908091"/>
            <a:ext cx="3721100" cy="1348740"/>
            <a:chOff x="4644763" y="3908091"/>
            <a:chExt cx="3721100" cy="1348740"/>
          </a:xfrm>
        </p:grpSpPr>
        <p:sp>
          <p:nvSpPr>
            <p:cNvPr id="12" name="object 12" descr=""/>
            <p:cNvSpPr/>
            <p:nvPr/>
          </p:nvSpPr>
          <p:spPr>
            <a:xfrm>
              <a:off x="6968716" y="4851094"/>
              <a:ext cx="77470" cy="403860"/>
            </a:xfrm>
            <a:custGeom>
              <a:avLst/>
              <a:gdLst/>
              <a:ahLst/>
              <a:cxnLst/>
              <a:rect l="l" t="t" r="r" b="b"/>
              <a:pathLst>
                <a:path w="77470" h="403860">
                  <a:moveTo>
                    <a:pt x="40081" y="77664"/>
                  </a:moveTo>
                  <a:lnTo>
                    <a:pt x="30501" y="87116"/>
                  </a:lnTo>
                  <a:lnTo>
                    <a:pt x="30501" y="396923"/>
                  </a:lnTo>
                  <a:lnTo>
                    <a:pt x="32847" y="401752"/>
                  </a:lnTo>
                  <a:lnTo>
                    <a:pt x="35193" y="403687"/>
                  </a:lnTo>
                  <a:lnTo>
                    <a:pt x="42623" y="403687"/>
                  </a:lnTo>
                  <a:lnTo>
                    <a:pt x="46925" y="401752"/>
                  </a:lnTo>
                  <a:lnTo>
                    <a:pt x="49271" y="396923"/>
                  </a:lnTo>
                  <a:lnTo>
                    <a:pt x="49271" y="87395"/>
                  </a:lnTo>
                  <a:lnTo>
                    <a:pt x="40081" y="77664"/>
                  </a:lnTo>
                  <a:close/>
                </a:path>
                <a:path w="77470" h="403860">
                  <a:moveTo>
                    <a:pt x="40081" y="0"/>
                  </a:moveTo>
                  <a:lnTo>
                    <a:pt x="0" y="117210"/>
                  </a:lnTo>
                  <a:lnTo>
                    <a:pt x="30501" y="87116"/>
                  </a:lnTo>
                  <a:lnTo>
                    <a:pt x="30501" y="75240"/>
                  </a:lnTo>
                  <a:lnTo>
                    <a:pt x="32847" y="70412"/>
                  </a:lnTo>
                  <a:lnTo>
                    <a:pt x="35193" y="68007"/>
                  </a:lnTo>
                  <a:lnTo>
                    <a:pt x="61749" y="68007"/>
                  </a:lnTo>
                  <a:lnTo>
                    <a:pt x="40081" y="0"/>
                  </a:lnTo>
                  <a:close/>
                </a:path>
                <a:path w="77470" h="403860">
                  <a:moveTo>
                    <a:pt x="61749" y="68007"/>
                  </a:moveTo>
                  <a:lnTo>
                    <a:pt x="42623" y="68007"/>
                  </a:lnTo>
                  <a:lnTo>
                    <a:pt x="46925" y="70412"/>
                  </a:lnTo>
                  <a:lnTo>
                    <a:pt x="49271" y="75240"/>
                  </a:lnTo>
                  <a:lnTo>
                    <a:pt x="49271" y="87395"/>
                  </a:lnTo>
                  <a:lnTo>
                    <a:pt x="77426" y="117210"/>
                  </a:lnTo>
                  <a:lnTo>
                    <a:pt x="61749" y="68007"/>
                  </a:lnTo>
                  <a:close/>
                </a:path>
                <a:path w="77470" h="403860">
                  <a:moveTo>
                    <a:pt x="49271" y="77664"/>
                  </a:moveTo>
                  <a:lnTo>
                    <a:pt x="40081" y="77664"/>
                  </a:lnTo>
                  <a:lnTo>
                    <a:pt x="49271" y="87395"/>
                  </a:lnTo>
                  <a:lnTo>
                    <a:pt x="49271" y="77664"/>
                  </a:lnTo>
                  <a:close/>
                </a:path>
                <a:path w="77470" h="403860">
                  <a:moveTo>
                    <a:pt x="42623" y="68007"/>
                  </a:moveTo>
                  <a:lnTo>
                    <a:pt x="35193" y="68007"/>
                  </a:lnTo>
                  <a:lnTo>
                    <a:pt x="32847" y="70412"/>
                  </a:lnTo>
                  <a:lnTo>
                    <a:pt x="30501" y="75240"/>
                  </a:lnTo>
                  <a:lnTo>
                    <a:pt x="30501" y="87116"/>
                  </a:lnTo>
                  <a:lnTo>
                    <a:pt x="40081" y="77664"/>
                  </a:lnTo>
                  <a:lnTo>
                    <a:pt x="49271" y="77664"/>
                  </a:lnTo>
                  <a:lnTo>
                    <a:pt x="49271" y="75240"/>
                  </a:lnTo>
                  <a:lnTo>
                    <a:pt x="46925" y="70412"/>
                  </a:lnTo>
                  <a:lnTo>
                    <a:pt x="42623" y="68007"/>
                  </a:lnTo>
                  <a:close/>
                </a:path>
              </a:pathLst>
            </a:custGeom>
            <a:solidFill>
              <a:srgbClr val="000000"/>
            </a:solidFill>
          </p:spPr>
          <p:txBody>
            <a:bodyPr wrap="square" lIns="0" tIns="0" rIns="0" bIns="0" rtlCol="0"/>
            <a:lstStyle/>
            <a:p/>
          </p:txBody>
        </p:sp>
        <p:sp>
          <p:nvSpPr>
            <p:cNvPr id="13" name="object 13" descr=""/>
            <p:cNvSpPr/>
            <p:nvPr/>
          </p:nvSpPr>
          <p:spPr>
            <a:xfrm>
              <a:off x="6968716" y="4851094"/>
              <a:ext cx="77470" cy="403860"/>
            </a:xfrm>
            <a:custGeom>
              <a:avLst/>
              <a:gdLst/>
              <a:ahLst/>
              <a:cxnLst/>
              <a:rect l="l" t="t" r="r" b="b"/>
              <a:pathLst>
                <a:path w="77470" h="403860">
                  <a:moveTo>
                    <a:pt x="30501" y="394519"/>
                  </a:moveTo>
                  <a:lnTo>
                    <a:pt x="30501" y="77664"/>
                  </a:lnTo>
                  <a:lnTo>
                    <a:pt x="30501" y="75240"/>
                  </a:lnTo>
                  <a:lnTo>
                    <a:pt x="32847" y="70412"/>
                  </a:lnTo>
                  <a:lnTo>
                    <a:pt x="35193" y="68007"/>
                  </a:lnTo>
                  <a:lnTo>
                    <a:pt x="40081" y="68007"/>
                  </a:lnTo>
                  <a:lnTo>
                    <a:pt x="42623" y="68007"/>
                  </a:lnTo>
                  <a:lnTo>
                    <a:pt x="46925" y="70412"/>
                  </a:lnTo>
                  <a:lnTo>
                    <a:pt x="49271" y="75240"/>
                  </a:lnTo>
                  <a:lnTo>
                    <a:pt x="49271" y="77664"/>
                  </a:lnTo>
                  <a:lnTo>
                    <a:pt x="49271" y="394519"/>
                  </a:lnTo>
                  <a:lnTo>
                    <a:pt x="49271" y="396923"/>
                  </a:lnTo>
                  <a:lnTo>
                    <a:pt x="46925" y="401752"/>
                  </a:lnTo>
                  <a:lnTo>
                    <a:pt x="42623" y="403687"/>
                  </a:lnTo>
                  <a:lnTo>
                    <a:pt x="40081" y="403687"/>
                  </a:lnTo>
                  <a:lnTo>
                    <a:pt x="35193" y="403687"/>
                  </a:lnTo>
                  <a:lnTo>
                    <a:pt x="32847" y="401752"/>
                  </a:lnTo>
                  <a:lnTo>
                    <a:pt x="30501" y="396923"/>
                  </a:lnTo>
                  <a:lnTo>
                    <a:pt x="30501" y="394519"/>
                  </a:lnTo>
                  <a:close/>
                </a:path>
                <a:path w="77470" h="403860">
                  <a:moveTo>
                    <a:pt x="40081" y="77664"/>
                  </a:moveTo>
                  <a:lnTo>
                    <a:pt x="0" y="117210"/>
                  </a:lnTo>
                  <a:lnTo>
                    <a:pt x="40081" y="0"/>
                  </a:lnTo>
                  <a:lnTo>
                    <a:pt x="77426" y="117210"/>
                  </a:lnTo>
                  <a:lnTo>
                    <a:pt x="40081" y="77664"/>
                  </a:lnTo>
                  <a:close/>
                </a:path>
              </a:pathLst>
            </a:custGeom>
            <a:ln w="3175">
              <a:solidFill>
                <a:srgbClr val="000000"/>
              </a:solidFill>
            </a:ln>
          </p:spPr>
          <p:txBody>
            <a:bodyPr wrap="square" lIns="0" tIns="0" rIns="0" bIns="0" rtlCol="0"/>
            <a:lstStyle/>
            <a:p/>
          </p:txBody>
        </p:sp>
        <p:sp>
          <p:nvSpPr>
            <p:cNvPr id="14" name="object 14" descr=""/>
            <p:cNvSpPr/>
            <p:nvPr/>
          </p:nvSpPr>
          <p:spPr>
            <a:xfrm>
              <a:off x="5961194" y="4851094"/>
              <a:ext cx="80010" cy="403860"/>
            </a:xfrm>
            <a:custGeom>
              <a:avLst/>
              <a:gdLst/>
              <a:ahLst/>
              <a:cxnLst/>
              <a:rect l="l" t="t" r="r" b="b"/>
              <a:pathLst>
                <a:path w="80010" h="403860">
                  <a:moveTo>
                    <a:pt x="40277" y="77664"/>
                  </a:moveTo>
                  <a:lnTo>
                    <a:pt x="30501" y="87263"/>
                  </a:lnTo>
                  <a:lnTo>
                    <a:pt x="30501" y="396923"/>
                  </a:lnTo>
                  <a:lnTo>
                    <a:pt x="33043" y="401752"/>
                  </a:lnTo>
                  <a:lnTo>
                    <a:pt x="35389" y="403687"/>
                  </a:lnTo>
                  <a:lnTo>
                    <a:pt x="45165" y="403687"/>
                  </a:lnTo>
                  <a:lnTo>
                    <a:pt x="47120" y="401752"/>
                  </a:lnTo>
                  <a:lnTo>
                    <a:pt x="49466" y="396923"/>
                  </a:lnTo>
                  <a:lnTo>
                    <a:pt x="49466" y="86820"/>
                  </a:lnTo>
                  <a:lnTo>
                    <a:pt x="40277" y="77664"/>
                  </a:lnTo>
                  <a:close/>
                </a:path>
                <a:path w="80010" h="403860">
                  <a:moveTo>
                    <a:pt x="40277" y="0"/>
                  </a:moveTo>
                  <a:lnTo>
                    <a:pt x="0" y="117210"/>
                  </a:lnTo>
                  <a:lnTo>
                    <a:pt x="30501" y="87263"/>
                  </a:lnTo>
                  <a:lnTo>
                    <a:pt x="30501" y="75240"/>
                  </a:lnTo>
                  <a:lnTo>
                    <a:pt x="33043" y="70412"/>
                  </a:lnTo>
                  <a:lnTo>
                    <a:pt x="35389" y="68007"/>
                  </a:lnTo>
                  <a:lnTo>
                    <a:pt x="63306" y="68007"/>
                  </a:lnTo>
                  <a:lnTo>
                    <a:pt x="40277" y="0"/>
                  </a:lnTo>
                  <a:close/>
                </a:path>
                <a:path w="80010" h="403860">
                  <a:moveTo>
                    <a:pt x="63306" y="68007"/>
                  </a:moveTo>
                  <a:lnTo>
                    <a:pt x="45165" y="68007"/>
                  </a:lnTo>
                  <a:lnTo>
                    <a:pt x="47120" y="70412"/>
                  </a:lnTo>
                  <a:lnTo>
                    <a:pt x="49466" y="75240"/>
                  </a:lnTo>
                  <a:lnTo>
                    <a:pt x="49466" y="86820"/>
                  </a:lnTo>
                  <a:lnTo>
                    <a:pt x="79968" y="117210"/>
                  </a:lnTo>
                  <a:lnTo>
                    <a:pt x="63306" y="68007"/>
                  </a:lnTo>
                  <a:close/>
                </a:path>
                <a:path w="80010" h="403860">
                  <a:moveTo>
                    <a:pt x="45165" y="68007"/>
                  </a:moveTo>
                  <a:lnTo>
                    <a:pt x="35389" y="68007"/>
                  </a:lnTo>
                  <a:lnTo>
                    <a:pt x="33043" y="70412"/>
                  </a:lnTo>
                  <a:lnTo>
                    <a:pt x="30501" y="75240"/>
                  </a:lnTo>
                  <a:lnTo>
                    <a:pt x="30501" y="87263"/>
                  </a:lnTo>
                  <a:lnTo>
                    <a:pt x="40277" y="77664"/>
                  </a:lnTo>
                  <a:lnTo>
                    <a:pt x="49466" y="77664"/>
                  </a:lnTo>
                  <a:lnTo>
                    <a:pt x="49466" y="75240"/>
                  </a:lnTo>
                  <a:lnTo>
                    <a:pt x="47120" y="70412"/>
                  </a:lnTo>
                  <a:lnTo>
                    <a:pt x="45165" y="68007"/>
                  </a:lnTo>
                  <a:close/>
                </a:path>
                <a:path w="80010" h="403860">
                  <a:moveTo>
                    <a:pt x="49466" y="77664"/>
                  </a:moveTo>
                  <a:lnTo>
                    <a:pt x="40277" y="77664"/>
                  </a:lnTo>
                  <a:lnTo>
                    <a:pt x="49466" y="86820"/>
                  </a:lnTo>
                  <a:lnTo>
                    <a:pt x="49466" y="77664"/>
                  </a:lnTo>
                  <a:close/>
                </a:path>
              </a:pathLst>
            </a:custGeom>
            <a:solidFill>
              <a:srgbClr val="000000"/>
            </a:solidFill>
          </p:spPr>
          <p:txBody>
            <a:bodyPr wrap="square" lIns="0" tIns="0" rIns="0" bIns="0" rtlCol="0"/>
            <a:lstStyle/>
            <a:p/>
          </p:txBody>
        </p:sp>
        <p:sp>
          <p:nvSpPr>
            <p:cNvPr id="15" name="object 15" descr=""/>
            <p:cNvSpPr/>
            <p:nvPr/>
          </p:nvSpPr>
          <p:spPr>
            <a:xfrm>
              <a:off x="5961194" y="4851094"/>
              <a:ext cx="80010" cy="403860"/>
            </a:xfrm>
            <a:custGeom>
              <a:avLst/>
              <a:gdLst/>
              <a:ahLst/>
              <a:cxnLst/>
              <a:rect l="l" t="t" r="r" b="b"/>
              <a:pathLst>
                <a:path w="80010" h="403860">
                  <a:moveTo>
                    <a:pt x="30501" y="394519"/>
                  </a:moveTo>
                  <a:lnTo>
                    <a:pt x="30501" y="77664"/>
                  </a:lnTo>
                  <a:lnTo>
                    <a:pt x="30501" y="75240"/>
                  </a:lnTo>
                  <a:lnTo>
                    <a:pt x="33043" y="70412"/>
                  </a:lnTo>
                  <a:lnTo>
                    <a:pt x="35389" y="68007"/>
                  </a:lnTo>
                  <a:lnTo>
                    <a:pt x="40277" y="68007"/>
                  </a:lnTo>
                  <a:lnTo>
                    <a:pt x="45165" y="68007"/>
                  </a:lnTo>
                  <a:lnTo>
                    <a:pt x="47120" y="70412"/>
                  </a:lnTo>
                  <a:lnTo>
                    <a:pt x="49466" y="75240"/>
                  </a:lnTo>
                  <a:lnTo>
                    <a:pt x="49466" y="77664"/>
                  </a:lnTo>
                  <a:lnTo>
                    <a:pt x="49466" y="394519"/>
                  </a:lnTo>
                  <a:lnTo>
                    <a:pt x="49466" y="396923"/>
                  </a:lnTo>
                  <a:lnTo>
                    <a:pt x="47120" y="401752"/>
                  </a:lnTo>
                  <a:lnTo>
                    <a:pt x="45165" y="403687"/>
                  </a:lnTo>
                  <a:lnTo>
                    <a:pt x="40277" y="403687"/>
                  </a:lnTo>
                  <a:lnTo>
                    <a:pt x="35389" y="403687"/>
                  </a:lnTo>
                  <a:lnTo>
                    <a:pt x="33043" y="401752"/>
                  </a:lnTo>
                  <a:lnTo>
                    <a:pt x="30501" y="396923"/>
                  </a:lnTo>
                  <a:lnTo>
                    <a:pt x="30501" y="394519"/>
                  </a:lnTo>
                  <a:close/>
                </a:path>
                <a:path w="80010" h="403860">
                  <a:moveTo>
                    <a:pt x="40277" y="77664"/>
                  </a:moveTo>
                  <a:lnTo>
                    <a:pt x="0" y="117210"/>
                  </a:lnTo>
                  <a:lnTo>
                    <a:pt x="40277" y="0"/>
                  </a:lnTo>
                  <a:lnTo>
                    <a:pt x="79968" y="117210"/>
                  </a:lnTo>
                  <a:lnTo>
                    <a:pt x="40277" y="77664"/>
                  </a:lnTo>
                  <a:close/>
                </a:path>
              </a:pathLst>
            </a:custGeom>
            <a:ln w="3175">
              <a:solidFill>
                <a:srgbClr val="000000"/>
              </a:solidFill>
            </a:ln>
          </p:spPr>
          <p:txBody>
            <a:bodyPr wrap="square" lIns="0" tIns="0" rIns="0" bIns="0" rtlCol="0"/>
            <a:lstStyle/>
            <a:p/>
          </p:txBody>
        </p:sp>
        <p:sp>
          <p:nvSpPr>
            <p:cNvPr id="16" name="object 16" descr=""/>
            <p:cNvSpPr/>
            <p:nvPr/>
          </p:nvSpPr>
          <p:spPr>
            <a:xfrm>
              <a:off x="4646351" y="3909678"/>
              <a:ext cx="80010" cy="375920"/>
            </a:xfrm>
            <a:custGeom>
              <a:avLst/>
              <a:gdLst/>
              <a:ahLst/>
              <a:cxnLst/>
              <a:rect l="l" t="t" r="r" b="b"/>
              <a:pathLst>
                <a:path w="80010" h="375920">
                  <a:moveTo>
                    <a:pt x="40199" y="79580"/>
                  </a:moveTo>
                  <a:lnTo>
                    <a:pt x="30520" y="88635"/>
                  </a:lnTo>
                  <a:lnTo>
                    <a:pt x="30520" y="368461"/>
                  </a:lnTo>
                  <a:lnTo>
                    <a:pt x="32925" y="370885"/>
                  </a:lnTo>
                  <a:lnTo>
                    <a:pt x="35350" y="373290"/>
                  </a:lnTo>
                  <a:lnTo>
                    <a:pt x="40199" y="375694"/>
                  </a:lnTo>
                  <a:lnTo>
                    <a:pt x="44559" y="373290"/>
                  </a:lnTo>
                  <a:lnTo>
                    <a:pt x="49408" y="368461"/>
                  </a:lnTo>
                  <a:lnTo>
                    <a:pt x="49408" y="88302"/>
                  </a:lnTo>
                  <a:lnTo>
                    <a:pt x="40199" y="79580"/>
                  </a:lnTo>
                  <a:close/>
                </a:path>
                <a:path w="80010" h="375920">
                  <a:moveTo>
                    <a:pt x="40199" y="0"/>
                  </a:moveTo>
                  <a:lnTo>
                    <a:pt x="0" y="117190"/>
                  </a:lnTo>
                  <a:lnTo>
                    <a:pt x="30520" y="88635"/>
                  </a:lnTo>
                  <a:lnTo>
                    <a:pt x="30520" y="75240"/>
                  </a:lnTo>
                  <a:lnTo>
                    <a:pt x="32925" y="72816"/>
                  </a:lnTo>
                  <a:lnTo>
                    <a:pt x="35350" y="70412"/>
                  </a:lnTo>
                  <a:lnTo>
                    <a:pt x="64058" y="70412"/>
                  </a:lnTo>
                  <a:lnTo>
                    <a:pt x="40199" y="0"/>
                  </a:lnTo>
                  <a:close/>
                </a:path>
                <a:path w="80010" h="375920">
                  <a:moveTo>
                    <a:pt x="64058" y="70412"/>
                  </a:moveTo>
                  <a:lnTo>
                    <a:pt x="44559" y="70412"/>
                  </a:lnTo>
                  <a:lnTo>
                    <a:pt x="49408" y="75240"/>
                  </a:lnTo>
                  <a:lnTo>
                    <a:pt x="49408" y="88302"/>
                  </a:lnTo>
                  <a:lnTo>
                    <a:pt x="79909" y="117190"/>
                  </a:lnTo>
                  <a:lnTo>
                    <a:pt x="64058" y="70412"/>
                  </a:lnTo>
                  <a:close/>
                </a:path>
                <a:path w="80010" h="375920">
                  <a:moveTo>
                    <a:pt x="44559" y="70412"/>
                  </a:moveTo>
                  <a:lnTo>
                    <a:pt x="35350" y="70412"/>
                  </a:lnTo>
                  <a:lnTo>
                    <a:pt x="32925" y="72816"/>
                  </a:lnTo>
                  <a:lnTo>
                    <a:pt x="30520" y="75240"/>
                  </a:lnTo>
                  <a:lnTo>
                    <a:pt x="30520" y="88635"/>
                  </a:lnTo>
                  <a:lnTo>
                    <a:pt x="40199" y="79580"/>
                  </a:lnTo>
                  <a:lnTo>
                    <a:pt x="49408" y="79580"/>
                  </a:lnTo>
                  <a:lnTo>
                    <a:pt x="49408" y="75240"/>
                  </a:lnTo>
                  <a:lnTo>
                    <a:pt x="44559" y="70412"/>
                  </a:lnTo>
                  <a:close/>
                </a:path>
                <a:path w="80010" h="375920">
                  <a:moveTo>
                    <a:pt x="49408" y="79580"/>
                  </a:moveTo>
                  <a:lnTo>
                    <a:pt x="40199" y="79580"/>
                  </a:lnTo>
                  <a:lnTo>
                    <a:pt x="49408" y="88302"/>
                  </a:lnTo>
                  <a:lnTo>
                    <a:pt x="49408" y="79580"/>
                  </a:lnTo>
                  <a:close/>
                </a:path>
              </a:pathLst>
            </a:custGeom>
            <a:solidFill>
              <a:srgbClr val="000000"/>
            </a:solidFill>
          </p:spPr>
          <p:txBody>
            <a:bodyPr wrap="square" lIns="0" tIns="0" rIns="0" bIns="0" rtlCol="0"/>
            <a:lstStyle/>
            <a:p/>
          </p:txBody>
        </p:sp>
        <p:sp>
          <p:nvSpPr>
            <p:cNvPr id="17" name="object 17" descr=""/>
            <p:cNvSpPr/>
            <p:nvPr/>
          </p:nvSpPr>
          <p:spPr>
            <a:xfrm>
              <a:off x="4646351" y="3909678"/>
              <a:ext cx="80010" cy="375920"/>
            </a:xfrm>
            <a:custGeom>
              <a:avLst/>
              <a:gdLst/>
              <a:ahLst/>
              <a:cxnLst/>
              <a:rect l="l" t="t" r="r" b="b"/>
              <a:pathLst>
                <a:path w="80010" h="375920">
                  <a:moveTo>
                    <a:pt x="30520" y="364122"/>
                  </a:moveTo>
                  <a:lnTo>
                    <a:pt x="30520" y="79580"/>
                  </a:lnTo>
                  <a:lnTo>
                    <a:pt x="30520" y="75240"/>
                  </a:lnTo>
                  <a:lnTo>
                    <a:pt x="32925" y="72816"/>
                  </a:lnTo>
                  <a:lnTo>
                    <a:pt x="35350" y="70412"/>
                  </a:lnTo>
                  <a:lnTo>
                    <a:pt x="40199" y="70412"/>
                  </a:lnTo>
                  <a:lnTo>
                    <a:pt x="44559" y="70412"/>
                  </a:lnTo>
                  <a:lnTo>
                    <a:pt x="46983" y="72816"/>
                  </a:lnTo>
                  <a:lnTo>
                    <a:pt x="49408" y="75240"/>
                  </a:lnTo>
                  <a:lnTo>
                    <a:pt x="49408" y="79580"/>
                  </a:lnTo>
                  <a:lnTo>
                    <a:pt x="49408" y="364122"/>
                  </a:lnTo>
                  <a:lnTo>
                    <a:pt x="49408" y="368461"/>
                  </a:lnTo>
                  <a:lnTo>
                    <a:pt x="46983" y="370885"/>
                  </a:lnTo>
                  <a:lnTo>
                    <a:pt x="44559" y="373290"/>
                  </a:lnTo>
                  <a:lnTo>
                    <a:pt x="40199" y="375694"/>
                  </a:lnTo>
                  <a:lnTo>
                    <a:pt x="35350" y="373290"/>
                  </a:lnTo>
                  <a:lnTo>
                    <a:pt x="32925" y="370885"/>
                  </a:lnTo>
                  <a:lnTo>
                    <a:pt x="30520" y="368461"/>
                  </a:lnTo>
                  <a:lnTo>
                    <a:pt x="30520" y="364122"/>
                  </a:lnTo>
                  <a:close/>
                </a:path>
                <a:path w="80010" h="375920">
                  <a:moveTo>
                    <a:pt x="40199" y="79580"/>
                  </a:moveTo>
                  <a:lnTo>
                    <a:pt x="0" y="117190"/>
                  </a:lnTo>
                  <a:lnTo>
                    <a:pt x="40199" y="0"/>
                  </a:lnTo>
                  <a:lnTo>
                    <a:pt x="79909" y="117190"/>
                  </a:lnTo>
                  <a:lnTo>
                    <a:pt x="40199" y="79580"/>
                  </a:lnTo>
                  <a:close/>
                </a:path>
              </a:pathLst>
            </a:custGeom>
            <a:ln w="3175">
              <a:solidFill>
                <a:srgbClr val="000000"/>
              </a:solidFill>
            </a:ln>
          </p:spPr>
          <p:txBody>
            <a:bodyPr wrap="square" lIns="0" tIns="0" rIns="0" bIns="0" rtlCol="0"/>
            <a:lstStyle/>
            <a:p/>
          </p:txBody>
        </p:sp>
        <p:sp>
          <p:nvSpPr>
            <p:cNvPr id="18" name="object 18" descr=""/>
            <p:cNvSpPr/>
            <p:nvPr/>
          </p:nvSpPr>
          <p:spPr>
            <a:xfrm>
              <a:off x="8283989" y="3909678"/>
              <a:ext cx="80010" cy="375920"/>
            </a:xfrm>
            <a:custGeom>
              <a:avLst/>
              <a:gdLst/>
              <a:ahLst/>
              <a:cxnLst/>
              <a:rect l="l" t="t" r="r" b="b"/>
              <a:pathLst>
                <a:path w="80009" h="375920">
                  <a:moveTo>
                    <a:pt x="48880" y="79580"/>
                  </a:moveTo>
                  <a:lnTo>
                    <a:pt x="39690" y="79580"/>
                  </a:lnTo>
                  <a:lnTo>
                    <a:pt x="49016" y="88288"/>
                  </a:lnTo>
                  <a:lnTo>
                    <a:pt x="30501" y="88288"/>
                  </a:lnTo>
                  <a:lnTo>
                    <a:pt x="30501" y="368461"/>
                  </a:lnTo>
                  <a:lnTo>
                    <a:pt x="33043" y="370885"/>
                  </a:lnTo>
                  <a:lnTo>
                    <a:pt x="34998" y="373290"/>
                  </a:lnTo>
                  <a:lnTo>
                    <a:pt x="39690" y="375694"/>
                  </a:lnTo>
                  <a:lnTo>
                    <a:pt x="42232" y="373290"/>
                  </a:lnTo>
                  <a:lnTo>
                    <a:pt x="46925" y="370885"/>
                  </a:lnTo>
                  <a:lnTo>
                    <a:pt x="48880" y="368461"/>
                  </a:lnTo>
                  <a:lnTo>
                    <a:pt x="48880" y="88288"/>
                  </a:lnTo>
                  <a:lnTo>
                    <a:pt x="49016" y="88288"/>
                  </a:lnTo>
                  <a:lnTo>
                    <a:pt x="39690" y="79580"/>
                  </a:lnTo>
                  <a:lnTo>
                    <a:pt x="48880" y="79580"/>
                  </a:lnTo>
                  <a:close/>
                </a:path>
                <a:path w="80009" h="375920">
                  <a:moveTo>
                    <a:pt x="39690" y="0"/>
                  </a:moveTo>
                  <a:lnTo>
                    <a:pt x="0" y="117190"/>
                  </a:lnTo>
                  <a:lnTo>
                    <a:pt x="30501" y="88288"/>
                  </a:lnTo>
                  <a:lnTo>
                    <a:pt x="30501" y="75240"/>
                  </a:lnTo>
                  <a:lnTo>
                    <a:pt x="33043" y="72816"/>
                  </a:lnTo>
                  <a:lnTo>
                    <a:pt x="34998" y="70412"/>
                  </a:lnTo>
                  <a:lnTo>
                    <a:pt x="63890" y="70412"/>
                  </a:lnTo>
                  <a:lnTo>
                    <a:pt x="39690" y="0"/>
                  </a:lnTo>
                  <a:close/>
                </a:path>
                <a:path w="80009" h="375920">
                  <a:moveTo>
                    <a:pt x="63890" y="70412"/>
                  </a:moveTo>
                  <a:lnTo>
                    <a:pt x="42232" y="70412"/>
                  </a:lnTo>
                  <a:lnTo>
                    <a:pt x="46925" y="72816"/>
                  </a:lnTo>
                  <a:lnTo>
                    <a:pt x="48880" y="75240"/>
                  </a:lnTo>
                  <a:lnTo>
                    <a:pt x="48880" y="88288"/>
                  </a:lnTo>
                  <a:lnTo>
                    <a:pt x="49016" y="88288"/>
                  </a:lnTo>
                  <a:lnTo>
                    <a:pt x="79968" y="117190"/>
                  </a:lnTo>
                  <a:lnTo>
                    <a:pt x="63890" y="70412"/>
                  </a:lnTo>
                  <a:close/>
                </a:path>
                <a:path w="80009" h="375920">
                  <a:moveTo>
                    <a:pt x="42232" y="70412"/>
                  </a:moveTo>
                  <a:lnTo>
                    <a:pt x="34998" y="70412"/>
                  </a:lnTo>
                  <a:lnTo>
                    <a:pt x="33043" y="72816"/>
                  </a:lnTo>
                  <a:lnTo>
                    <a:pt x="30501" y="75240"/>
                  </a:lnTo>
                  <a:lnTo>
                    <a:pt x="30501" y="88288"/>
                  </a:lnTo>
                  <a:lnTo>
                    <a:pt x="39690" y="79580"/>
                  </a:lnTo>
                  <a:lnTo>
                    <a:pt x="48880" y="79580"/>
                  </a:lnTo>
                  <a:lnTo>
                    <a:pt x="48880" y="75240"/>
                  </a:lnTo>
                  <a:lnTo>
                    <a:pt x="46925" y="72816"/>
                  </a:lnTo>
                  <a:lnTo>
                    <a:pt x="42232" y="70412"/>
                  </a:lnTo>
                  <a:close/>
                </a:path>
              </a:pathLst>
            </a:custGeom>
            <a:solidFill>
              <a:srgbClr val="000000"/>
            </a:solidFill>
          </p:spPr>
          <p:txBody>
            <a:bodyPr wrap="square" lIns="0" tIns="0" rIns="0" bIns="0" rtlCol="0"/>
            <a:lstStyle/>
            <a:p/>
          </p:txBody>
        </p:sp>
        <p:sp>
          <p:nvSpPr>
            <p:cNvPr id="19" name="object 19" descr=""/>
            <p:cNvSpPr/>
            <p:nvPr/>
          </p:nvSpPr>
          <p:spPr>
            <a:xfrm>
              <a:off x="8283989" y="3909678"/>
              <a:ext cx="80010" cy="375920"/>
            </a:xfrm>
            <a:custGeom>
              <a:avLst/>
              <a:gdLst/>
              <a:ahLst/>
              <a:cxnLst/>
              <a:rect l="l" t="t" r="r" b="b"/>
              <a:pathLst>
                <a:path w="80009" h="375920">
                  <a:moveTo>
                    <a:pt x="30501" y="364122"/>
                  </a:moveTo>
                  <a:lnTo>
                    <a:pt x="30501" y="79580"/>
                  </a:lnTo>
                  <a:lnTo>
                    <a:pt x="30501" y="75240"/>
                  </a:lnTo>
                  <a:lnTo>
                    <a:pt x="33043" y="72816"/>
                  </a:lnTo>
                  <a:lnTo>
                    <a:pt x="34998" y="70412"/>
                  </a:lnTo>
                  <a:lnTo>
                    <a:pt x="39690" y="70412"/>
                  </a:lnTo>
                  <a:lnTo>
                    <a:pt x="42232" y="70412"/>
                  </a:lnTo>
                  <a:lnTo>
                    <a:pt x="46925" y="72816"/>
                  </a:lnTo>
                  <a:lnTo>
                    <a:pt x="48880" y="75240"/>
                  </a:lnTo>
                  <a:lnTo>
                    <a:pt x="48880" y="79580"/>
                  </a:lnTo>
                  <a:lnTo>
                    <a:pt x="48880" y="364122"/>
                  </a:lnTo>
                  <a:lnTo>
                    <a:pt x="48880" y="368461"/>
                  </a:lnTo>
                  <a:lnTo>
                    <a:pt x="46925" y="370885"/>
                  </a:lnTo>
                  <a:lnTo>
                    <a:pt x="42232" y="373290"/>
                  </a:lnTo>
                  <a:lnTo>
                    <a:pt x="39690" y="375694"/>
                  </a:lnTo>
                  <a:lnTo>
                    <a:pt x="34998" y="373290"/>
                  </a:lnTo>
                  <a:lnTo>
                    <a:pt x="33043" y="370885"/>
                  </a:lnTo>
                  <a:lnTo>
                    <a:pt x="30501" y="368461"/>
                  </a:lnTo>
                  <a:lnTo>
                    <a:pt x="30501" y="364122"/>
                  </a:lnTo>
                  <a:close/>
                </a:path>
                <a:path w="80009" h="375920">
                  <a:moveTo>
                    <a:pt x="39690" y="79580"/>
                  </a:moveTo>
                  <a:lnTo>
                    <a:pt x="0" y="117190"/>
                  </a:lnTo>
                  <a:lnTo>
                    <a:pt x="39690" y="0"/>
                  </a:lnTo>
                  <a:lnTo>
                    <a:pt x="79968" y="117190"/>
                  </a:lnTo>
                  <a:lnTo>
                    <a:pt x="39690" y="79580"/>
                  </a:lnTo>
                  <a:close/>
                </a:path>
              </a:pathLst>
            </a:custGeom>
            <a:ln w="3175">
              <a:solidFill>
                <a:srgbClr val="000000"/>
              </a:solidFill>
            </a:ln>
          </p:spPr>
          <p:txBody>
            <a:bodyPr wrap="square" lIns="0" tIns="0" rIns="0" bIns="0" rtlCol="0"/>
            <a:lstStyle/>
            <a:p/>
          </p:txBody>
        </p:sp>
      </p:grpSp>
      <p:sp>
        <p:nvSpPr>
          <p:cNvPr id="20" name="object 20" descr=""/>
          <p:cNvSpPr txBox="1"/>
          <p:nvPr/>
        </p:nvSpPr>
        <p:spPr>
          <a:xfrm>
            <a:off x="5943801" y="2365030"/>
            <a:ext cx="1088390" cy="237490"/>
          </a:xfrm>
          <a:prstGeom prst="rect">
            <a:avLst/>
          </a:prstGeom>
        </p:spPr>
        <p:txBody>
          <a:bodyPr wrap="square" lIns="0" tIns="11430" rIns="0" bIns="0" rtlCol="0" vert="horz">
            <a:spAutoFit/>
          </a:bodyPr>
          <a:lstStyle/>
          <a:p>
            <a:pPr marL="12700">
              <a:lnSpc>
                <a:spcPct val="100000"/>
              </a:lnSpc>
              <a:spcBef>
                <a:spcPts val="90"/>
              </a:spcBef>
            </a:pPr>
            <a:r>
              <a:rPr dirty="0" sz="1400" spc="-30" b="1">
                <a:solidFill>
                  <a:srgbClr val="0000FF"/>
                </a:solidFill>
                <a:latin typeface="宋体"/>
                <a:cs typeface="宋体"/>
              </a:rPr>
              <a:t>单字长寄存器</a:t>
            </a:r>
            <a:endParaRPr sz="1400">
              <a:latin typeface="宋体"/>
              <a:cs typeface="宋体"/>
            </a:endParaRPr>
          </a:p>
        </p:txBody>
      </p:sp>
      <p:sp>
        <p:nvSpPr>
          <p:cNvPr id="21" name="object 21" descr=""/>
          <p:cNvSpPr txBox="1"/>
          <p:nvPr/>
        </p:nvSpPr>
        <p:spPr>
          <a:xfrm>
            <a:off x="5876533" y="2603651"/>
            <a:ext cx="1212215" cy="302895"/>
          </a:xfrm>
          <a:prstGeom prst="rect">
            <a:avLst/>
          </a:prstGeom>
          <a:solidFill>
            <a:srgbClr val="FFCCCC"/>
          </a:solidFill>
          <a:ln w="14042">
            <a:solidFill>
              <a:srgbClr val="000000"/>
            </a:solidFill>
          </a:ln>
        </p:spPr>
        <p:txBody>
          <a:bodyPr wrap="square" lIns="0" tIns="47625" rIns="0" bIns="0" rtlCol="0" vert="horz">
            <a:spAutoFit/>
          </a:bodyPr>
          <a:lstStyle/>
          <a:p>
            <a:pPr algn="ctr" marR="34290">
              <a:lnSpc>
                <a:spcPct val="100000"/>
              </a:lnSpc>
              <a:spcBef>
                <a:spcPts val="375"/>
              </a:spcBef>
            </a:pPr>
            <a:r>
              <a:rPr dirty="0" sz="1400" spc="-10" b="1">
                <a:latin typeface="宋体"/>
                <a:cs typeface="宋体"/>
              </a:rPr>
              <a:t>W</a:t>
            </a:r>
            <a:r>
              <a:rPr dirty="0" sz="1400" spc="-200" b="1">
                <a:latin typeface="宋体"/>
                <a:cs typeface="宋体"/>
              </a:rPr>
              <a:t> 位</a:t>
            </a:r>
            <a:endParaRPr sz="1400">
              <a:latin typeface="宋体"/>
              <a:cs typeface="宋体"/>
            </a:endParaRPr>
          </a:p>
        </p:txBody>
      </p:sp>
      <p:sp>
        <p:nvSpPr>
          <p:cNvPr id="22" name="object 22" descr=""/>
          <p:cNvSpPr txBox="1"/>
          <p:nvPr/>
        </p:nvSpPr>
        <p:spPr>
          <a:xfrm>
            <a:off x="5812989" y="5242721"/>
            <a:ext cx="1418590" cy="302895"/>
          </a:xfrm>
          <a:prstGeom prst="rect">
            <a:avLst/>
          </a:prstGeom>
          <a:solidFill>
            <a:srgbClr val="FFFF99"/>
          </a:solidFill>
          <a:ln w="14042">
            <a:solidFill>
              <a:srgbClr val="000000"/>
            </a:solidFill>
          </a:ln>
        </p:spPr>
        <p:txBody>
          <a:bodyPr wrap="square" lIns="0" tIns="45085" rIns="0" bIns="0" rtlCol="0" vert="horz">
            <a:spAutoFit/>
          </a:bodyPr>
          <a:lstStyle/>
          <a:p>
            <a:pPr marL="285750">
              <a:lnSpc>
                <a:spcPct val="100000"/>
              </a:lnSpc>
              <a:spcBef>
                <a:spcPts val="355"/>
              </a:spcBef>
            </a:pPr>
            <a:r>
              <a:rPr dirty="0" sz="1400" spc="-30" b="1">
                <a:latin typeface="宋体"/>
                <a:cs typeface="宋体"/>
              </a:rPr>
              <a:t>地址寄存器</a:t>
            </a:r>
            <a:endParaRPr sz="1400">
              <a:latin typeface="宋体"/>
              <a:cs typeface="宋体"/>
            </a:endParaRPr>
          </a:p>
        </p:txBody>
      </p:sp>
      <p:sp>
        <p:nvSpPr>
          <p:cNvPr id="23" name="object 23" descr=""/>
          <p:cNvSpPr/>
          <p:nvPr/>
        </p:nvSpPr>
        <p:spPr>
          <a:xfrm>
            <a:off x="5876533" y="2936829"/>
            <a:ext cx="1212215" cy="92075"/>
          </a:xfrm>
          <a:custGeom>
            <a:avLst/>
            <a:gdLst/>
            <a:ahLst/>
            <a:cxnLst/>
            <a:rect l="l" t="t" r="r" b="b"/>
            <a:pathLst>
              <a:path w="1212215" h="92075">
                <a:moveTo>
                  <a:pt x="0" y="0"/>
                </a:moveTo>
                <a:lnTo>
                  <a:pt x="0" y="4887"/>
                </a:lnTo>
                <a:lnTo>
                  <a:pt x="0" y="9774"/>
                </a:lnTo>
                <a:lnTo>
                  <a:pt x="2346" y="14465"/>
                </a:lnTo>
                <a:lnTo>
                  <a:pt x="6843" y="18961"/>
                </a:lnTo>
                <a:lnTo>
                  <a:pt x="11535" y="21307"/>
                </a:lnTo>
                <a:lnTo>
                  <a:pt x="16423" y="26194"/>
                </a:lnTo>
                <a:lnTo>
                  <a:pt x="20725" y="28540"/>
                </a:lnTo>
                <a:lnTo>
                  <a:pt x="28155" y="33427"/>
                </a:lnTo>
                <a:lnTo>
                  <a:pt x="34802" y="35186"/>
                </a:lnTo>
                <a:lnTo>
                  <a:pt x="44578" y="37727"/>
                </a:lnTo>
                <a:lnTo>
                  <a:pt x="61002" y="42419"/>
                </a:lnTo>
                <a:lnTo>
                  <a:pt x="79968" y="44960"/>
                </a:lnTo>
                <a:lnTo>
                  <a:pt x="100693" y="44960"/>
                </a:lnTo>
                <a:lnTo>
                  <a:pt x="504641" y="44960"/>
                </a:lnTo>
                <a:lnTo>
                  <a:pt x="523606" y="47306"/>
                </a:lnTo>
                <a:lnTo>
                  <a:pt x="542376" y="49652"/>
                </a:lnTo>
                <a:lnTo>
                  <a:pt x="561342" y="54148"/>
                </a:lnTo>
                <a:lnTo>
                  <a:pt x="567989" y="56493"/>
                </a:lnTo>
                <a:lnTo>
                  <a:pt x="575419" y="58839"/>
                </a:lnTo>
                <a:lnTo>
                  <a:pt x="582067" y="61380"/>
                </a:lnTo>
                <a:lnTo>
                  <a:pt x="586955" y="66072"/>
                </a:lnTo>
                <a:lnTo>
                  <a:pt x="591843" y="70568"/>
                </a:lnTo>
                <a:lnTo>
                  <a:pt x="596145" y="72914"/>
                </a:lnTo>
                <a:lnTo>
                  <a:pt x="601033" y="77801"/>
                </a:lnTo>
                <a:lnTo>
                  <a:pt x="603379" y="82492"/>
                </a:lnTo>
                <a:lnTo>
                  <a:pt x="603379" y="87379"/>
                </a:lnTo>
                <a:lnTo>
                  <a:pt x="605921" y="91680"/>
                </a:lnTo>
                <a:lnTo>
                  <a:pt x="605921" y="87379"/>
                </a:lnTo>
                <a:lnTo>
                  <a:pt x="607876" y="82492"/>
                </a:lnTo>
                <a:lnTo>
                  <a:pt x="610222" y="77801"/>
                </a:lnTo>
                <a:lnTo>
                  <a:pt x="612568" y="72914"/>
                </a:lnTo>
                <a:lnTo>
                  <a:pt x="617456" y="70568"/>
                </a:lnTo>
                <a:lnTo>
                  <a:pt x="622344" y="66072"/>
                </a:lnTo>
                <a:lnTo>
                  <a:pt x="626646" y="61380"/>
                </a:lnTo>
                <a:lnTo>
                  <a:pt x="633880" y="58839"/>
                </a:lnTo>
                <a:lnTo>
                  <a:pt x="640723" y="56493"/>
                </a:lnTo>
                <a:lnTo>
                  <a:pt x="650500" y="54148"/>
                </a:lnTo>
                <a:lnTo>
                  <a:pt x="666923" y="49652"/>
                </a:lnTo>
                <a:lnTo>
                  <a:pt x="685302" y="47306"/>
                </a:lnTo>
                <a:lnTo>
                  <a:pt x="706614" y="44960"/>
                </a:lnTo>
                <a:lnTo>
                  <a:pt x="1110562" y="44960"/>
                </a:lnTo>
                <a:lnTo>
                  <a:pt x="1129332" y="44960"/>
                </a:lnTo>
                <a:lnTo>
                  <a:pt x="1150644" y="42419"/>
                </a:lnTo>
                <a:lnTo>
                  <a:pt x="1166676" y="37727"/>
                </a:lnTo>
                <a:lnTo>
                  <a:pt x="1173911" y="35186"/>
                </a:lnTo>
                <a:lnTo>
                  <a:pt x="1181145" y="33427"/>
                </a:lnTo>
                <a:lnTo>
                  <a:pt x="1187988" y="28540"/>
                </a:lnTo>
                <a:lnTo>
                  <a:pt x="1192876" y="26194"/>
                </a:lnTo>
                <a:lnTo>
                  <a:pt x="1199524" y="21307"/>
                </a:lnTo>
                <a:lnTo>
                  <a:pt x="1202066" y="18961"/>
                </a:lnTo>
                <a:lnTo>
                  <a:pt x="1206954" y="14465"/>
                </a:lnTo>
                <a:lnTo>
                  <a:pt x="1209300" y="9774"/>
                </a:lnTo>
                <a:lnTo>
                  <a:pt x="1211646" y="4887"/>
                </a:lnTo>
                <a:lnTo>
                  <a:pt x="1211646" y="0"/>
                </a:lnTo>
              </a:path>
            </a:pathLst>
          </a:custGeom>
          <a:ln w="14042">
            <a:solidFill>
              <a:srgbClr val="000000"/>
            </a:solidFill>
          </a:ln>
        </p:spPr>
        <p:txBody>
          <a:bodyPr wrap="square" lIns="0" tIns="0" rIns="0" bIns="0" rtlCol="0"/>
          <a:lstStyle/>
          <a:p/>
        </p:txBody>
      </p:sp>
      <p:sp>
        <p:nvSpPr>
          <p:cNvPr id="24" name="object 24" descr=""/>
          <p:cNvSpPr txBox="1"/>
          <p:nvPr/>
        </p:nvSpPr>
        <p:spPr>
          <a:xfrm>
            <a:off x="3581237" y="4428721"/>
            <a:ext cx="293370" cy="237490"/>
          </a:xfrm>
          <a:prstGeom prst="rect">
            <a:avLst/>
          </a:prstGeom>
        </p:spPr>
        <p:txBody>
          <a:bodyPr wrap="square" lIns="0" tIns="11430" rIns="0" bIns="0" rtlCol="0" vert="horz">
            <a:spAutoFit/>
          </a:bodyPr>
          <a:lstStyle/>
          <a:p>
            <a:pPr marL="12700">
              <a:lnSpc>
                <a:spcPct val="100000"/>
              </a:lnSpc>
              <a:spcBef>
                <a:spcPts val="90"/>
              </a:spcBef>
            </a:pPr>
            <a:r>
              <a:rPr dirty="0" sz="1400" spc="-25" b="1">
                <a:solidFill>
                  <a:srgbClr val="993300"/>
                </a:solidFill>
                <a:latin typeface="宋体"/>
                <a:cs typeface="宋体"/>
              </a:rPr>
              <a:t>L/4</a:t>
            </a:r>
            <a:endParaRPr sz="1400">
              <a:latin typeface="宋体"/>
              <a:cs typeface="宋体"/>
            </a:endParaRPr>
          </a:p>
        </p:txBody>
      </p:sp>
      <p:grpSp>
        <p:nvGrpSpPr>
          <p:cNvPr id="25" name="object 25" descr=""/>
          <p:cNvGrpSpPr/>
          <p:nvPr/>
        </p:nvGrpSpPr>
        <p:grpSpPr>
          <a:xfrm>
            <a:off x="3840450" y="3046493"/>
            <a:ext cx="5102860" cy="1809114"/>
            <a:chOff x="3840450" y="3046493"/>
            <a:chExt cx="5102860" cy="1809114"/>
          </a:xfrm>
        </p:grpSpPr>
        <p:sp>
          <p:nvSpPr>
            <p:cNvPr id="26" name="object 26" descr=""/>
            <p:cNvSpPr/>
            <p:nvPr/>
          </p:nvSpPr>
          <p:spPr>
            <a:xfrm>
              <a:off x="4108276" y="3484371"/>
              <a:ext cx="1150620" cy="89535"/>
            </a:xfrm>
            <a:custGeom>
              <a:avLst/>
              <a:gdLst/>
              <a:ahLst/>
              <a:cxnLst/>
              <a:rect l="l" t="t" r="r" b="b"/>
              <a:pathLst>
                <a:path w="1150620" h="89535">
                  <a:moveTo>
                    <a:pt x="1150253" y="89139"/>
                  </a:moveTo>
                  <a:lnTo>
                    <a:pt x="1150253" y="84252"/>
                  </a:lnTo>
                  <a:lnTo>
                    <a:pt x="1148317" y="79560"/>
                  </a:lnTo>
                  <a:lnTo>
                    <a:pt x="1145892" y="77019"/>
                  </a:lnTo>
                  <a:lnTo>
                    <a:pt x="1143468" y="72718"/>
                  </a:lnTo>
                  <a:lnTo>
                    <a:pt x="1138619" y="67831"/>
                  </a:lnTo>
                  <a:lnTo>
                    <a:pt x="1134259" y="63140"/>
                  </a:lnTo>
                  <a:lnTo>
                    <a:pt x="1129430" y="60599"/>
                  </a:lnTo>
                  <a:lnTo>
                    <a:pt x="1122156" y="58253"/>
                  </a:lnTo>
                  <a:lnTo>
                    <a:pt x="1115372" y="53952"/>
                  </a:lnTo>
                  <a:lnTo>
                    <a:pt x="1108118" y="51606"/>
                  </a:lnTo>
                  <a:lnTo>
                    <a:pt x="1091655" y="46719"/>
                  </a:lnTo>
                  <a:lnTo>
                    <a:pt x="1072748" y="44374"/>
                  </a:lnTo>
                  <a:lnTo>
                    <a:pt x="1054349" y="44374"/>
                  </a:lnTo>
                  <a:lnTo>
                    <a:pt x="671264" y="44374"/>
                  </a:lnTo>
                  <a:lnTo>
                    <a:pt x="652865" y="44374"/>
                  </a:lnTo>
                  <a:lnTo>
                    <a:pt x="633978" y="39487"/>
                  </a:lnTo>
                  <a:lnTo>
                    <a:pt x="617496" y="37532"/>
                  </a:lnTo>
                  <a:lnTo>
                    <a:pt x="610242" y="32645"/>
                  </a:lnTo>
                  <a:lnTo>
                    <a:pt x="603457" y="30299"/>
                  </a:lnTo>
                  <a:lnTo>
                    <a:pt x="596184" y="27953"/>
                  </a:lnTo>
                  <a:lnTo>
                    <a:pt x="591843" y="23066"/>
                  </a:lnTo>
                  <a:lnTo>
                    <a:pt x="586994" y="21111"/>
                  </a:lnTo>
                  <a:lnTo>
                    <a:pt x="582145" y="16420"/>
                  </a:lnTo>
                  <a:lnTo>
                    <a:pt x="579721" y="11533"/>
                  </a:lnTo>
                  <a:lnTo>
                    <a:pt x="577296" y="6646"/>
                  </a:lnTo>
                  <a:lnTo>
                    <a:pt x="575361" y="4300"/>
                  </a:lnTo>
                  <a:lnTo>
                    <a:pt x="575361" y="0"/>
                  </a:lnTo>
                  <a:lnTo>
                    <a:pt x="575361" y="4300"/>
                  </a:lnTo>
                  <a:lnTo>
                    <a:pt x="572936" y="6646"/>
                  </a:lnTo>
                  <a:lnTo>
                    <a:pt x="570531" y="11533"/>
                  </a:lnTo>
                  <a:lnTo>
                    <a:pt x="568107" y="16420"/>
                  </a:lnTo>
                  <a:lnTo>
                    <a:pt x="563258" y="21111"/>
                  </a:lnTo>
                  <a:lnTo>
                    <a:pt x="558898" y="23066"/>
                  </a:lnTo>
                  <a:lnTo>
                    <a:pt x="554049" y="27953"/>
                  </a:lnTo>
                  <a:lnTo>
                    <a:pt x="546795" y="30299"/>
                  </a:lnTo>
                  <a:lnTo>
                    <a:pt x="540010" y="32645"/>
                  </a:lnTo>
                  <a:lnTo>
                    <a:pt x="532757" y="37532"/>
                  </a:lnTo>
                  <a:lnTo>
                    <a:pt x="516274" y="39487"/>
                  </a:lnTo>
                  <a:lnTo>
                    <a:pt x="497875" y="44374"/>
                  </a:lnTo>
                  <a:lnTo>
                    <a:pt x="478988" y="44374"/>
                  </a:lnTo>
                  <a:lnTo>
                    <a:pt x="95903" y="44374"/>
                  </a:lnTo>
                  <a:lnTo>
                    <a:pt x="77485" y="44374"/>
                  </a:lnTo>
                  <a:lnTo>
                    <a:pt x="58597" y="46719"/>
                  </a:lnTo>
                  <a:lnTo>
                    <a:pt x="42134" y="51606"/>
                  </a:lnTo>
                  <a:lnTo>
                    <a:pt x="34881" y="53952"/>
                  </a:lnTo>
                  <a:lnTo>
                    <a:pt x="28096" y="58253"/>
                  </a:lnTo>
                  <a:lnTo>
                    <a:pt x="20823" y="60599"/>
                  </a:lnTo>
                  <a:lnTo>
                    <a:pt x="16462" y="63140"/>
                  </a:lnTo>
                  <a:lnTo>
                    <a:pt x="11633" y="67831"/>
                  </a:lnTo>
                  <a:lnTo>
                    <a:pt x="6784" y="72718"/>
                  </a:lnTo>
                  <a:lnTo>
                    <a:pt x="4360" y="77019"/>
                  </a:lnTo>
                  <a:lnTo>
                    <a:pt x="2424" y="79560"/>
                  </a:lnTo>
                  <a:lnTo>
                    <a:pt x="0" y="84252"/>
                  </a:lnTo>
                  <a:lnTo>
                    <a:pt x="0" y="89139"/>
                  </a:lnTo>
                </a:path>
              </a:pathLst>
            </a:custGeom>
            <a:ln w="14042">
              <a:solidFill>
                <a:srgbClr val="000000"/>
              </a:solidFill>
            </a:ln>
          </p:spPr>
          <p:txBody>
            <a:bodyPr wrap="square" lIns="0" tIns="0" rIns="0" bIns="0" rtlCol="0"/>
            <a:lstStyle/>
            <a:p/>
          </p:txBody>
        </p:sp>
        <p:sp>
          <p:nvSpPr>
            <p:cNvPr id="27" name="object 27" descr=""/>
            <p:cNvSpPr/>
            <p:nvPr/>
          </p:nvSpPr>
          <p:spPr>
            <a:xfrm>
              <a:off x="4108276" y="4270907"/>
              <a:ext cx="4827905" cy="577850"/>
            </a:xfrm>
            <a:custGeom>
              <a:avLst/>
              <a:gdLst/>
              <a:ahLst/>
              <a:cxnLst/>
              <a:rect l="l" t="t" r="r" b="b"/>
              <a:pathLst>
                <a:path w="4827905" h="577850">
                  <a:moveTo>
                    <a:pt x="4827621" y="0"/>
                  </a:moveTo>
                  <a:lnTo>
                    <a:pt x="0" y="0"/>
                  </a:lnTo>
                  <a:lnTo>
                    <a:pt x="0" y="577293"/>
                  </a:lnTo>
                  <a:lnTo>
                    <a:pt x="4827621" y="577293"/>
                  </a:lnTo>
                  <a:lnTo>
                    <a:pt x="4827621" y="0"/>
                  </a:lnTo>
                  <a:close/>
                </a:path>
              </a:pathLst>
            </a:custGeom>
            <a:solidFill>
              <a:srgbClr val="66FFFF"/>
            </a:solidFill>
          </p:spPr>
          <p:txBody>
            <a:bodyPr wrap="square" lIns="0" tIns="0" rIns="0" bIns="0" rtlCol="0"/>
            <a:lstStyle/>
            <a:p/>
          </p:txBody>
        </p:sp>
        <p:sp>
          <p:nvSpPr>
            <p:cNvPr id="28" name="object 28" descr=""/>
            <p:cNvSpPr/>
            <p:nvPr/>
          </p:nvSpPr>
          <p:spPr>
            <a:xfrm>
              <a:off x="4108276" y="4270907"/>
              <a:ext cx="4827905" cy="577850"/>
            </a:xfrm>
            <a:custGeom>
              <a:avLst/>
              <a:gdLst/>
              <a:ahLst/>
              <a:cxnLst/>
              <a:rect l="l" t="t" r="r" b="b"/>
              <a:pathLst>
                <a:path w="4827905" h="577850">
                  <a:moveTo>
                    <a:pt x="0" y="577293"/>
                  </a:moveTo>
                  <a:lnTo>
                    <a:pt x="4827621" y="577293"/>
                  </a:lnTo>
                  <a:lnTo>
                    <a:pt x="4827621" y="0"/>
                  </a:lnTo>
                  <a:lnTo>
                    <a:pt x="0" y="0"/>
                  </a:lnTo>
                  <a:lnTo>
                    <a:pt x="0" y="577293"/>
                  </a:lnTo>
                  <a:close/>
                </a:path>
              </a:pathLst>
            </a:custGeom>
            <a:ln w="14042">
              <a:solidFill>
                <a:srgbClr val="000000"/>
              </a:solidFill>
            </a:ln>
          </p:spPr>
          <p:txBody>
            <a:bodyPr wrap="square" lIns="0" tIns="0" rIns="0" bIns="0" rtlCol="0"/>
            <a:lstStyle/>
            <a:p/>
          </p:txBody>
        </p:sp>
        <p:sp>
          <p:nvSpPr>
            <p:cNvPr id="29" name="object 29" descr=""/>
            <p:cNvSpPr/>
            <p:nvPr/>
          </p:nvSpPr>
          <p:spPr>
            <a:xfrm>
              <a:off x="3906810" y="4273800"/>
              <a:ext cx="80010" cy="577850"/>
            </a:xfrm>
            <a:custGeom>
              <a:avLst/>
              <a:gdLst/>
              <a:ahLst/>
              <a:cxnLst/>
              <a:rect l="l" t="t" r="r" b="b"/>
              <a:pathLst>
                <a:path w="80010" h="577850">
                  <a:moveTo>
                    <a:pt x="0" y="460103"/>
                  </a:moveTo>
                  <a:lnTo>
                    <a:pt x="39710" y="577293"/>
                  </a:lnTo>
                  <a:lnTo>
                    <a:pt x="63032" y="509305"/>
                  </a:lnTo>
                  <a:lnTo>
                    <a:pt x="39710" y="509305"/>
                  </a:lnTo>
                  <a:lnTo>
                    <a:pt x="35350" y="506881"/>
                  </a:lnTo>
                  <a:lnTo>
                    <a:pt x="30501" y="502072"/>
                  </a:lnTo>
                  <a:lnTo>
                    <a:pt x="30501" y="489006"/>
                  </a:lnTo>
                  <a:lnTo>
                    <a:pt x="0" y="460103"/>
                  </a:lnTo>
                  <a:close/>
                </a:path>
                <a:path w="80010" h="577850">
                  <a:moveTo>
                    <a:pt x="30501" y="489006"/>
                  </a:moveTo>
                  <a:lnTo>
                    <a:pt x="30501" y="502072"/>
                  </a:lnTo>
                  <a:lnTo>
                    <a:pt x="35350" y="506881"/>
                  </a:lnTo>
                  <a:lnTo>
                    <a:pt x="39710" y="509305"/>
                  </a:lnTo>
                  <a:lnTo>
                    <a:pt x="44559" y="506881"/>
                  </a:lnTo>
                  <a:lnTo>
                    <a:pt x="49388" y="502072"/>
                  </a:lnTo>
                  <a:lnTo>
                    <a:pt x="49388" y="497733"/>
                  </a:lnTo>
                  <a:lnTo>
                    <a:pt x="39710" y="497733"/>
                  </a:lnTo>
                  <a:lnTo>
                    <a:pt x="30501" y="489006"/>
                  </a:lnTo>
                  <a:close/>
                </a:path>
                <a:path w="80010" h="577850">
                  <a:moveTo>
                    <a:pt x="79909" y="460103"/>
                  </a:moveTo>
                  <a:lnTo>
                    <a:pt x="49388" y="488673"/>
                  </a:lnTo>
                  <a:lnTo>
                    <a:pt x="49388" y="502072"/>
                  </a:lnTo>
                  <a:lnTo>
                    <a:pt x="44559" y="506881"/>
                  </a:lnTo>
                  <a:lnTo>
                    <a:pt x="39710" y="509305"/>
                  </a:lnTo>
                  <a:lnTo>
                    <a:pt x="63032" y="509305"/>
                  </a:lnTo>
                  <a:lnTo>
                    <a:pt x="79909" y="460103"/>
                  </a:lnTo>
                  <a:close/>
                </a:path>
                <a:path w="80010" h="577850">
                  <a:moveTo>
                    <a:pt x="39710" y="79580"/>
                  </a:moveTo>
                  <a:lnTo>
                    <a:pt x="30501" y="88302"/>
                  </a:lnTo>
                  <a:lnTo>
                    <a:pt x="30501" y="489006"/>
                  </a:lnTo>
                  <a:lnTo>
                    <a:pt x="39710" y="497733"/>
                  </a:lnTo>
                  <a:lnTo>
                    <a:pt x="49388" y="488673"/>
                  </a:lnTo>
                  <a:lnTo>
                    <a:pt x="49388" y="88635"/>
                  </a:lnTo>
                  <a:lnTo>
                    <a:pt x="39710" y="79580"/>
                  </a:lnTo>
                  <a:close/>
                </a:path>
                <a:path w="80010" h="577850">
                  <a:moveTo>
                    <a:pt x="49388" y="488673"/>
                  </a:moveTo>
                  <a:lnTo>
                    <a:pt x="39710" y="497733"/>
                  </a:lnTo>
                  <a:lnTo>
                    <a:pt x="49388" y="497733"/>
                  </a:lnTo>
                  <a:lnTo>
                    <a:pt x="49388" y="488673"/>
                  </a:lnTo>
                  <a:close/>
                </a:path>
                <a:path w="80010" h="577850">
                  <a:moveTo>
                    <a:pt x="39710" y="0"/>
                  </a:moveTo>
                  <a:lnTo>
                    <a:pt x="0" y="117190"/>
                  </a:lnTo>
                  <a:lnTo>
                    <a:pt x="30501" y="88302"/>
                  </a:lnTo>
                  <a:lnTo>
                    <a:pt x="30501" y="74751"/>
                  </a:lnTo>
                  <a:lnTo>
                    <a:pt x="32925" y="72347"/>
                  </a:lnTo>
                  <a:lnTo>
                    <a:pt x="35350" y="70412"/>
                  </a:lnTo>
                  <a:lnTo>
                    <a:pt x="63863" y="70412"/>
                  </a:lnTo>
                  <a:lnTo>
                    <a:pt x="39710" y="0"/>
                  </a:lnTo>
                  <a:close/>
                </a:path>
                <a:path w="80010" h="577850">
                  <a:moveTo>
                    <a:pt x="63863" y="70412"/>
                  </a:moveTo>
                  <a:lnTo>
                    <a:pt x="44559" y="70412"/>
                  </a:lnTo>
                  <a:lnTo>
                    <a:pt x="46964" y="72347"/>
                  </a:lnTo>
                  <a:lnTo>
                    <a:pt x="49388" y="74751"/>
                  </a:lnTo>
                  <a:lnTo>
                    <a:pt x="49388" y="88635"/>
                  </a:lnTo>
                  <a:lnTo>
                    <a:pt x="79909" y="117190"/>
                  </a:lnTo>
                  <a:lnTo>
                    <a:pt x="63863" y="70412"/>
                  </a:lnTo>
                  <a:close/>
                </a:path>
                <a:path w="80010" h="577850">
                  <a:moveTo>
                    <a:pt x="49388" y="79580"/>
                  </a:moveTo>
                  <a:lnTo>
                    <a:pt x="39710" y="79580"/>
                  </a:lnTo>
                  <a:lnTo>
                    <a:pt x="49388" y="88635"/>
                  </a:lnTo>
                  <a:lnTo>
                    <a:pt x="49388" y="79580"/>
                  </a:lnTo>
                  <a:close/>
                </a:path>
                <a:path w="80010" h="577850">
                  <a:moveTo>
                    <a:pt x="44559" y="70412"/>
                  </a:moveTo>
                  <a:lnTo>
                    <a:pt x="35350" y="70412"/>
                  </a:lnTo>
                  <a:lnTo>
                    <a:pt x="32925" y="72347"/>
                  </a:lnTo>
                  <a:lnTo>
                    <a:pt x="30501" y="74751"/>
                  </a:lnTo>
                  <a:lnTo>
                    <a:pt x="30501" y="88302"/>
                  </a:lnTo>
                  <a:lnTo>
                    <a:pt x="39710" y="79580"/>
                  </a:lnTo>
                  <a:lnTo>
                    <a:pt x="49388" y="79580"/>
                  </a:lnTo>
                  <a:lnTo>
                    <a:pt x="49388" y="74751"/>
                  </a:lnTo>
                  <a:lnTo>
                    <a:pt x="46964" y="72347"/>
                  </a:lnTo>
                  <a:lnTo>
                    <a:pt x="44559" y="70412"/>
                  </a:lnTo>
                  <a:close/>
                </a:path>
              </a:pathLst>
            </a:custGeom>
            <a:solidFill>
              <a:srgbClr val="000000"/>
            </a:solidFill>
          </p:spPr>
          <p:txBody>
            <a:bodyPr wrap="square" lIns="0" tIns="0" rIns="0" bIns="0" rtlCol="0"/>
            <a:lstStyle/>
            <a:p/>
          </p:txBody>
        </p:sp>
        <p:sp>
          <p:nvSpPr>
            <p:cNvPr id="30" name="object 30" descr=""/>
            <p:cNvSpPr/>
            <p:nvPr/>
          </p:nvSpPr>
          <p:spPr>
            <a:xfrm>
              <a:off x="3906810" y="4273800"/>
              <a:ext cx="80010" cy="577850"/>
            </a:xfrm>
            <a:custGeom>
              <a:avLst/>
              <a:gdLst/>
              <a:ahLst/>
              <a:cxnLst/>
              <a:rect l="l" t="t" r="r" b="b"/>
              <a:pathLst>
                <a:path w="80010" h="577850">
                  <a:moveTo>
                    <a:pt x="49388" y="79580"/>
                  </a:moveTo>
                  <a:lnTo>
                    <a:pt x="49388" y="497733"/>
                  </a:lnTo>
                  <a:lnTo>
                    <a:pt x="49388" y="502072"/>
                  </a:lnTo>
                  <a:lnTo>
                    <a:pt x="46964" y="504477"/>
                  </a:lnTo>
                  <a:lnTo>
                    <a:pt x="44559" y="506881"/>
                  </a:lnTo>
                  <a:lnTo>
                    <a:pt x="39710" y="509305"/>
                  </a:lnTo>
                  <a:lnTo>
                    <a:pt x="35350" y="506881"/>
                  </a:lnTo>
                  <a:lnTo>
                    <a:pt x="32925" y="504477"/>
                  </a:lnTo>
                  <a:lnTo>
                    <a:pt x="30501" y="502072"/>
                  </a:lnTo>
                  <a:lnTo>
                    <a:pt x="30501" y="497733"/>
                  </a:lnTo>
                  <a:lnTo>
                    <a:pt x="30501" y="79580"/>
                  </a:lnTo>
                  <a:lnTo>
                    <a:pt x="30501" y="74751"/>
                  </a:lnTo>
                  <a:lnTo>
                    <a:pt x="32925" y="72347"/>
                  </a:lnTo>
                  <a:lnTo>
                    <a:pt x="35350" y="70412"/>
                  </a:lnTo>
                  <a:lnTo>
                    <a:pt x="39710" y="70412"/>
                  </a:lnTo>
                  <a:lnTo>
                    <a:pt x="44559" y="70412"/>
                  </a:lnTo>
                  <a:lnTo>
                    <a:pt x="46964" y="72347"/>
                  </a:lnTo>
                  <a:lnTo>
                    <a:pt x="49388" y="74751"/>
                  </a:lnTo>
                  <a:lnTo>
                    <a:pt x="49388" y="79580"/>
                  </a:lnTo>
                  <a:close/>
                </a:path>
                <a:path w="80010" h="577850">
                  <a:moveTo>
                    <a:pt x="39710" y="79580"/>
                  </a:moveTo>
                  <a:lnTo>
                    <a:pt x="0" y="117190"/>
                  </a:lnTo>
                  <a:lnTo>
                    <a:pt x="39710" y="0"/>
                  </a:lnTo>
                  <a:lnTo>
                    <a:pt x="79909" y="117190"/>
                  </a:lnTo>
                  <a:lnTo>
                    <a:pt x="39710" y="79580"/>
                  </a:lnTo>
                  <a:close/>
                </a:path>
                <a:path w="80010" h="577850">
                  <a:moveTo>
                    <a:pt x="39710" y="497733"/>
                  </a:moveTo>
                  <a:lnTo>
                    <a:pt x="79909" y="460103"/>
                  </a:lnTo>
                  <a:lnTo>
                    <a:pt x="39710" y="577293"/>
                  </a:lnTo>
                  <a:lnTo>
                    <a:pt x="0" y="460103"/>
                  </a:lnTo>
                  <a:lnTo>
                    <a:pt x="39710" y="497733"/>
                  </a:lnTo>
                  <a:close/>
                </a:path>
              </a:pathLst>
            </a:custGeom>
            <a:ln w="3175">
              <a:solidFill>
                <a:srgbClr val="000000"/>
              </a:solidFill>
            </a:ln>
          </p:spPr>
          <p:txBody>
            <a:bodyPr wrap="square" lIns="0" tIns="0" rIns="0" bIns="0" rtlCol="0"/>
            <a:lstStyle/>
            <a:p/>
          </p:txBody>
        </p:sp>
        <p:sp>
          <p:nvSpPr>
            <p:cNvPr id="31" name="object 31" descr=""/>
            <p:cNvSpPr/>
            <p:nvPr/>
          </p:nvSpPr>
          <p:spPr>
            <a:xfrm>
              <a:off x="5275950" y="4266568"/>
              <a:ext cx="14604" cy="573405"/>
            </a:xfrm>
            <a:custGeom>
              <a:avLst/>
              <a:gdLst/>
              <a:ahLst/>
              <a:cxnLst/>
              <a:rect l="l" t="t" r="r" b="b"/>
              <a:pathLst>
                <a:path w="14604" h="573404">
                  <a:moveTo>
                    <a:pt x="11633" y="2404"/>
                  </a:moveTo>
                  <a:lnTo>
                    <a:pt x="1955" y="2404"/>
                  </a:lnTo>
                  <a:lnTo>
                    <a:pt x="0" y="4828"/>
                  </a:lnTo>
                  <a:lnTo>
                    <a:pt x="0" y="54011"/>
                  </a:lnTo>
                  <a:lnTo>
                    <a:pt x="1955" y="56435"/>
                  </a:lnTo>
                  <a:lnTo>
                    <a:pt x="4360" y="58839"/>
                  </a:lnTo>
                  <a:lnTo>
                    <a:pt x="9209" y="58839"/>
                  </a:lnTo>
                  <a:lnTo>
                    <a:pt x="14058" y="54011"/>
                  </a:lnTo>
                  <a:lnTo>
                    <a:pt x="14057" y="4828"/>
                  </a:lnTo>
                  <a:lnTo>
                    <a:pt x="11633" y="2404"/>
                  </a:lnTo>
                  <a:close/>
                </a:path>
                <a:path w="14604" h="573404">
                  <a:moveTo>
                    <a:pt x="6784" y="0"/>
                  </a:moveTo>
                  <a:lnTo>
                    <a:pt x="4360" y="2404"/>
                  </a:lnTo>
                  <a:lnTo>
                    <a:pt x="9209" y="2404"/>
                  </a:lnTo>
                  <a:lnTo>
                    <a:pt x="6784" y="0"/>
                  </a:lnTo>
                  <a:close/>
                </a:path>
                <a:path w="14604" h="573404">
                  <a:moveTo>
                    <a:pt x="9209" y="103213"/>
                  </a:moveTo>
                  <a:lnTo>
                    <a:pt x="4360" y="103213"/>
                  </a:lnTo>
                  <a:lnTo>
                    <a:pt x="1955" y="105618"/>
                  </a:lnTo>
                  <a:lnTo>
                    <a:pt x="0" y="108042"/>
                  </a:lnTo>
                  <a:lnTo>
                    <a:pt x="0" y="157225"/>
                  </a:lnTo>
                  <a:lnTo>
                    <a:pt x="1955" y="159629"/>
                  </a:lnTo>
                  <a:lnTo>
                    <a:pt x="4360" y="162053"/>
                  </a:lnTo>
                  <a:lnTo>
                    <a:pt x="9209" y="162053"/>
                  </a:lnTo>
                  <a:lnTo>
                    <a:pt x="14058" y="157225"/>
                  </a:lnTo>
                  <a:lnTo>
                    <a:pt x="14058" y="108042"/>
                  </a:lnTo>
                  <a:lnTo>
                    <a:pt x="9209" y="103213"/>
                  </a:lnTo>
                  <a:close/>
                </a:path>
                <a:path w="14604" h="573404">
                  <a:moveTo>
                    <a:pt x="9209" y="206427"/>
                  </a:moveTo>
                  <a:lnTo>
                    <a:pt x="4360" y="206427"/>
                  </a:lnTo>
                  <a:lnTo>
                    <a:pt x="1955" y="208832"/>
                  </a:lnTo>
                  <a:lnTo>
                    <a:pt x="0" y="211236"/>
                  </a:lnTo>
                  <a:lnTo>
                    <a:pt x="0" y="260439"/>
                  </a:lnTo>
                  <a:lnTo>
                    <a:pt x="1955" y="262843"/>
                  </a:lnTo>
                  <a:lnTo>
                    <a:pt x="4360" y="265267"/>
                  </a:lnTo>
                  <a:lnTo>
                    <a:pt x="9209" y="265267"/>
                  </a:lnTo>
                  <a:lnTo>
                    <a:pt x="14058" y="260439"/>
                  </a:lnTo>
                  <a:lnTo>
                    <a:pt x="14058" y="211236"/>
                  </a:lnTo>
                  <a:lnTo>
                    <a:pt x="9209" y="206427"/>
                  </a:lnTo>
                  <a:close/>
                </a:path>
                <a:path w="14604" h="573404">
                  <a:moveTo>
                    <a:pt x="9209" y="366057"/>
                  </a:moveTo>
                  <a:lnTo>
                    <a:pt x="4360" y="366057"/>
                  </a:lnTo>
                  <a:lnTo>
                    <a:pt x="6784" y="368461"/>
                  </a:lnTo>
                  <a:lnTo>
                    <a:pt x="9209" y="366057"/>
                  </a:lnTo>
                  <a:close/>
                </a:path>
                <a:path w="14604" h="573404">
                  <a:moveTo>
                    <a:pt x="11633" y="310110"/>
                  </a:moveTo>
                  <a:lnTo>
                    <a:pt x="1955" y="310110"/>
                  </a:lnTo>
                  <a:lnTo>
                    <a:pt x="0" y="312046"/>
                  </a:lnTo>
                  <a:lnTo>
                    <a:pt x="0" y="363652"/>
                  </a:lnTo>
                  <a:lnTo>
                    <a:pt x="1955" y="366057"/>
                  </a:lnTo>
                  <a:lnTo>
                    <a:pt x="11633" y="366057"/>
                  </a:lnTo>
                  <a:lnTo>
                    <a:pt x="14058" y="363652"/>
                  </a:lnTo>
                  <a:lnTo>
                    <a:pt x="14058" y="312046"/>
                  </a:lnTo>
                  <a:lnTo>
                    <a:pt x="11633" y="310110"/>
                  </a:lnTo>
                  <a:close/>
                </a:path>
                <a:path w="14604" h="573404">
                  <a:moveTo>
                    <a:pt x="11633" y="413324"/>
                  </a:moveTo>
                  <a:lnTo>
                    <a:pt x="1955" y="413324"/>
                  </a:lnTo>
                  <a:lnTo>
                    <a:pt x="0" y="415729"/>
                  </a:lnTo>
                  <a:lnTo>
                    <a:pt x="0" y="464931"/>
                  </a:lnTo>
                  <a:lnTo>
                    <a:pt x="1955" y="467336"/>
                  </a:lnTo>
                  <a:lnTo>
                    <a:pt x="4360" y="469740"/>
                  </a:lnTo>
                  <a:lnTo>
                    <a:pt x="9209" y="469740"/>
                  </a:lnTo>
                  <a:lnTo>
                    <a:pt x="14058" y="464931"/>
                  </a:lnTo>
                  <a:lnTo>
                    <a:pt x="14058" y="415729"/>
                  </a:lnTo>
                  <a:lnTo>
                    <a:pt x="11633" y="413324"/>
                  </a:lnTo>
                  <a:close/>
                </a:path>
                <a:path w="14604" h="573404">
                  <a:moveTo>
                    <a:pt x="6784" y="410920"/>
                  </a:moveTo>
                  <a:lnTo>
                    <a:pt x="4360" y="413324"/>
                  </a:lnTo>
                  <a:lnTo>
                    <a:pt x="9209" y="413324"/>
                  </a:lnTo>
                  <a:lnTo>
                    <a:pt x="6784" y="410920"/>
                  </a:lnTo>
                  <a:close/>
                </a:path>
                <a:path w="14604" h="573404">
                  <a:moveTo>
                    <a:pt x="9209" y="514114"/>
                  </a:moveTo>
                  <a:lnTo>
                    <a:pt x="4360" y="514114"/>
                  </a:lnTo>
                  <a:lnTo>
                    <a:pt x="1955" y="516538"/>
                  </a:lnTo>
                  <a:lnTo>
                    <a:pt x="0" y="518942"/>
                  </a:lnTo>
                  <a:lnTo>
                    <a:pt x="0" y="568145"/>
                  </a:lnTo>
                  <a:lnTo>
                    <a:pt x="1955" y="570549"/>
                  </a:lnTo>
                  <a:lnTo>
                    <a:pt x="4360" y="572954"/>
                  </a:lnTo>
                  <a:lnTo>
                    <a:pt x="9209" y="572954"/>
                  </a:lnTo>
                  <a:lnTo>
                    <a:pt x="14058" y="568145"/>
                  </a:lnTo>
                  <a:lnTo>
                    <a:pt x="14058" y="518942"/>
                  </a:lnTo>
                  <a:lnTo>
                    <a:pt x="9209" y="514114"/>
                  </a:lnTo>
                  <a:close/>
                </a:path>
              </a:pathLst>
            </a:custGeom>
            <a:solidFill>
              <a:srgbClr val="000000"/>
            </a:solidFill>
          </p:spPr>
          <p:txBody>
            <a:bodyPr wrap="square" lIns="0" tIns="0" rIns="0" bIns="0" rtlCol="0"/>
            <a:lstStyle/>
            <a:p/>
          </p:txBody>
        </p:sp>
        <p:sp>
          <p:nvSpPr>
            <p:cNvPr id="32" name="object 32" descr=""/>
            <p:cNvSpPr/>
            <p:nvPr/>
          </p:nvSpPr>
          <p:spPr>
            <a:xfrm>
              <a:off x="5275950" y="4266568"/>
              <a:ext cx="14604" cy="573405"/>
            </a:xfrm>
            <a:custGeom>
              <a:avLst/>
              <a:gdLst/>
              <a:ahLst/>
              <a:cxnLst/>
              <a:rect l="l" t="t" r="r" b="b"/>
              <a:pathLst>
                <a:path w="14604" h="573404">
                  <a:moveTo>
                    <a:pt x="14057" y="7232"/>
                  </a:moveTo>
                  <a:lnTo>
                    <a:pt x="14058" y="51606"/>
                  </a:lnTo>
                  <a:lnTo>
                    <a:pt x="14058" y="54011"/>
                  </a:lnTo>
                  <a:lnTo>
                    <a:pt x="11633" y="56435"/>
                  </a:lnTo>
                  <a:lnTo>
                    <a:pt x="9209" y="58839"/>
                  </a:lnTo>
                  <a:lnTo>
                    <a:pt x="6784" y="58839"/>
                  </a:lnTo>
                  <a:lnTo>
                    <a:pt x="4360" y="58839"/>
                  </a:lnTo>
                  <a:lnTo>
                    <a:pt x="1955" y="56435"/>
                  </a:lnTo>
                  <a:lnTo>
                    <a:pt x="0" y="54011"/>
                  </a:lnTo>
                  <a:lnTo>
                    <a:pt x="0" y="51606"/>
                  </a:lnTo>
                  <a:lnTo>
                    <a:pt x="0" y="7232"/>
                  </a:lnTo>
                  <a:lnTo>
                    <a:pt x="0" y="4828"/>
                  </a:lnTo>
                  <a:lnTo>
                    <a:pt x="1955" y="2404"/>
                  </a:lnTo>
                  <a:lnTo>
                    <a:pt x="4360" y="2404"/>
                  </a:lnTo>
                  <a:lnTo>
                    <a:pt x="6784" y="0"/>
                  </a:lnTo>
                  <a:lnTo>
                    <a:pt x="9209" y="2404"/>
                  </a:lnTo>
                  <a:lnTo>
                    <a:pt x="11633" y="2404"/>
                  </a:lnTo>
                  <a:lnTo>
                    <a:pt x="14057" y="4828"/>
                  </a:lnTo>
                  <a:lnTo>
                    <a:pt x="14057" y="7232"/>
                  </a:lnTo>
                  <a:close/>
                </a:path>
                <a:path w="14604" h="573404">
                  <a:moveTo>
                    <a:pt x="14058" y="110446"/>
                  </a:moveTo>
                  <a:lnTo>
                    <a:pt x="14058" y="154820"/>
                  </a:lnTo>
                  <a:lnTo>
                    <a:pt x="14058" y="157225"/>
                  </a:lnTo>
                  <a:lnTo>
                    <a:pt x="11633" y="159629"/>
                  </a:lnTo>
                  <a:lnTo>
                    <a:pt x="9209" y="162053"/>
                  </a:lnTo>
                  <a:lnTo>
                    <a:pt x="6784" y="162053"/>
                  </a:lnTo>
                  <a:lnTo>
                    <a:pt x="4360" y="162053"/>
                  </a:lnTo>
                  <a:lnTo>
                    <a:pt x="1955" y="159629"/>
                  </a:lnTo>
                  <a:lnTo>
                    <a:pt x="0" y="157225"/>
                  </a:lnTo>
                  <a:lnTo>
                    <a:pt x="0" y="154820"/>
                  </a:lnTo>
                  <a:lnTo>
                    <a:pt x="0" y="110446"/>
                  </a:lnTo>
                  <a:lnTo>
                    <a:pt x="0" y="108042"/>
                  </a:lnTo>
                  <a:lnTo>
                    <a:pt x="1955" y="105618"/>
                  </a:lnTo>
                  <a:lnTo>
                    <a:pt x="4360" y="103213"/>
                  </a:lnTo>
                  <a:lnTo>
                    <a:pt x="6784" y="103213"/>
                  </a:lnTo>
                  <a:lnTo>
                    <a:pt x="9209" y="103213"/>
                  </a:lnTo>
                  <a:lnTo>
                    <a:pt x="11633" y="105618"/>
                  </a:lnTo>
                  <a:lnTo>
                    <a:pt x="14058" y="108042"/>
                  </a:lnTo>
                  <a:lnTo>
                    <a:pt x="14058" y="110446"/>
                  </a:lnTo>
                  <a:close/>
                </a:path>
                <a:path w="14604" h="573404">
                  <a:moveTo>
                    <a:pt x="14058" y="213660"/>
                  </a:moveTo>
                  <a:lnTo>
                    <a:pt x="14058" y="258034"/>
                  </a:lnTo>
                  <a:lnTo>
                    <a:pt x="14058" y="260439"/>
                  </a:lnTo>
                  <a:lnTo>
                    <a:pt x="11633" y="262843"/>
                  </a:lnTo>
                  <a:lnTo>
                    <a:pt x="9209" y="265267"/>
                  </a:lnTo>
                  <a:lnTo>
                    <a:pt x="6784" y="265267"/>
                  </a:lnTo>
                  <a:lnTo>
                    <a:pt x="4360" y="265267"/>
                  </a:lnTo>
                  <a:lnTo>
                    <a:pt x="1955" y="262843"/>
                  </a:lnTo>
                  <a:lnTo>
                    <a:pt x="0" y="260439"/>
                  </a:lnTo>
                  <a:lnTo>
                    <a:pt x="0" y="258034"/>
                  </a:lnTo>
                  <a:lnTo>
                    <a:pt x="0" y="213660"/>
                  </a:lnTo>
                  <a:lnTo>
                    <a:pt x="0" y="211236"/>
                  </a:lnTo>
                  <a:lnTo>
                    <a:pt x="1955" y="208832"/>
                  </a:lnTo>
                  <a:lnTo>
                    <a:pt x="4360" y="206427"/>
                  </a:lnTo>
                  <a:lnTo>
                    <a:pt x="6784" y="206427"/>
                  </a:lnTo>
                  <a:lnTo>
                    <a:pt x="9209" y="206427"/>
                  </a:lnTo>
                  <a:lnTo>
                    <a:pt x="11633" y="208832"/>
                  </a:lnTo>
                  <a:lnTo>
                    <a:pt x="14058" y="211236"/>
                  </a:lnTo>
                  <a:lnTo>
                    <a:pt x="14058" y="213660"/>
                  </a:lnTo>
                  <a:close/>
                </a:path>
                <a:path w="14604" h="573404">
                  <a:moveTo>
                    <a:pt x="14058" y="316854"/>
                  </a:moveTo>
                  <a:lnTo>
                    <a:pt x="14058" y="359313"/>
                  </a:lnTo>
                  <a:lnTo>
                    <a:pt x="14058" y="363652"/>
                  </a:lnTo>
                  <a:lnTo>
                    <a:pt x="11633" y="366057"/>
                  </a:lnTo>
                  <a:lnTo>
                    <a:pt x="9209" y="366057"/>
                  </a:lnTo>
                  <a:lnTo>
                    <a:pt x="6784" y="368461"/>
                  </a:lnTo>
                  <a:lnTo>
                    <a:pt x="4360" y="366057"/>
                  </a:lnTo>
                  <a:lnTo>
                    <a:pt x="1955" y="366057"/>
                  </a:lnTo>
                  <a:lnTo>
                    <a:pt x="0" y="363652"/>
                  </a:lnTo>
                  <a:lnTo>
                    <a:pt x="0" y="359313"/>
                  </a:lnTo>
                  <a:lnTo>
                    <a:pt x="0" y="316854"/>
                  </a:lnTo>
                  <a:lnTo>
                    <a:pt x="0" y="312046"/>
                  </a:lnTo>
                  <a:lnTo>
                    <a:pt x="1955" y="310110"/>
                  </a:lnTo>
                  <a:lnTo>
                    <a:pt x="4360" y="310110"/>
                  </a:lnTo>
                  <a:lnTo>
                    <a:pt x="6784" y="310110"/>
                  </a:lnTo>
                  <a:lnTo>
                    <a:pt x="9209" y="310110"/>
                  </a:lnTo>
                  <a:lnTo>
                    <a:pt x="11633" y="310110"/>
                  </a:lnTo>
                  <a:lnTo>
                    <a:pt x="14058" y="312046"/>
                  </a:lnTo>
                  <a:lnTo>
                    <a:pt x="14058" y="316854"/>
                  </a:lnTo>
                  <a:close/>
                </a:path>
                <a:path w="14604" h="573404">
                  <a:moveTo>
                    <a:pt x="14058" y="417664"/>
                  </a:moveTo>
                  <a:lnTo>
                    <a:pt x="14058" y="462507"/>
                  </a:lnTo>
                  <a:lnTo>
                    <a:pt x="14058" y="464931"/>
                  </a:lnTo>
                  <a:lnTo>
                    <a:pt x="11633" y="467336"/>
                  </a:lnTo>
                  <a:lnTo>
                    <a:pt x="9209" y="469740"/>
                  </a:lnTo>
                  <a:lnTo>
                    <a:pt x="6784" y="469740"/>
                  </a:lnTo>
                  <a:lnTo>
                    <a:pt x="4360" y="469740"/>
                  </a:lnTo>
                  <a:lnTo>
                    <a:pt x="1955" y="467336"/>
                  </a:lnTo>
                  <a:lnTo>
                    <a:pt x="0" y="464931"/>
                  </a:lnTo>
                  <a:lnTo>
                    <a:pt x="0" y="462507"/>
                  </a:lnTo>
                  <a:lnTo>
                    <a:pt x="0" y="417664"/>
                  </a:lnTo>
                  <a:lnTo>
                    <a:pt x="0" y="415729"/>
                  </a:lnTo>
                  <a:lnTo>
                    <a:pt x="1955" y="413324"/>
                  </a:lnTo>
                  <a:lnTo>
                    <a:pt x="4360" y="413324"/>
                  </a:lnTo>
                  <a:lnTo>
                    <a:pt x="6784" y="410920"/>
                  </a:lnTo>
                  <a:lnTo>
                    <a:pt x="9209" y="413324"/>
                  </a:lnTo>
                  <a:lnTo>
                    <a:pt x="11633" y="413324"/>
                  </a:lnTo>
                  <a:lnTo>
                    <a:pt x="14058" y="415729"/>
                  </a:lnTo>
                  <a:lnTo>
                    <a:pt x="14058" y="417664"/>
                  </a:lnTo>
                  <a:close/>
                </a:path>
                <a:path w="14604" h="573404">
                  <a:moveTo>
                    <a:pt x="14058" y="521347"/>
                  </a:moveTo>
                  <a:lnTo>
                    <a:pt x="14058" y="565721"/>
                  </a:lnTo>
                  <a:lnTo>
                    <a:pt x="14058" y="568145"/>
                  </a:lnTo>
                  <a:lnTo>
                    <a:pt x="11633" y="570549"/>
                  </a:lnTo>
                  <a:lnTo>
                    <a:pt x="9209" y="572954"/>
                  </a:lnTo>
                  <a:lnTo>
                    <a:pt x="6784" y="572954"/>
                  </a:lnTo>
                  <a:lnTo>
                    <a:pt x="4360" y="572954"/>
                  </a:lnTo>
                  <a:lnTo>
                    <a:pt x="1955" y="570549"/>
                  </a:lnTo>
                  <a:lnTo>
                    <a:pt x="0" y="568145"/>
                  </a:lnTo>
                  <a:lnTo>
                    <a:pt x="0" y="565721"/>
                  </a:lnTo>
                  <a:lnTo>
                    <a:pt x="0" y="521347"/>
                  </a:lnTo>
                  <a:lnTo>
                    <a:pt x="0" y="518942"/>
                  </a:lnTo>
                  <a:lnTo>
                    <a:pt x="1955" y="516538"/>
                  </a:lnTo>
                  <a:lnTo>
                    <a:pt x="4360" y="514114"/>
                  </a:lnTo>
                  <a:lnTo>
                    <a:pt x="6784" y="514114"/>
                  </a:lnTo>
                  <a:lnTo>
                    <a:pt x="9209" y="514114"/>
                  </a:lnTo>
                  <a:lnTo>
                    <a:pt x="11633" y="516538"/>
                  </a:lnTo>
                  <a:lnTo>
                    <a:pt x="14058" y="518942"/>
                  </a:lnTo>
                  <a:lnTo>
                    <a:pt x="14058" y="521347"/>
                  </a:lnTo>
                  <a:close/>
                </a:path>
              </a:pathLst>
            </a:custGeom>
            <a:ln w="3175">
              <a:solidFill>
                <a:srgbClr val="000000"/>
              </a:solidFill>
            </a:ln>
          </p:spPr>
          <p:txBody>
            <a:bodyPr wrap="square" lIns="0" tIns="0" rIns="0" bIns="0" rtlCol="0"/>
            <a:lstStyle/>
            <a:p/>
          </p:txBody>
        </p:sp>
        <p:sp>
          <p:nvSpPr>
            <p:cNvPr id="33" name="object 33" descr=""/>
            <p:cNvSpPr/>
            <p:nvPr/>
          </p:nvSpPr>
          <p:spPr>
            <a:xfrm>
              <a:off x="6487147" y="4266568"/>
              <a:ext cx="15240" cy="561340"/>
            </a:xfrm>
            <a:custGeom>
              <a:avLst/>
              <a:gdLst/>
              <a:ahLst/>
              <a:cxnLst/>
              <a:rect l="l" t="t" r="r" b="b"/>
              <a:pathLst>
                <a:path w="15239" h="561339">
                  <a:moveTo>
                    <a:pt x="12122" y="2404"/>
                  </a:moveTo>
                  <a:lnTo>
                    <a:pt x="2541" y="2404"/>
                  </a:lnTo>
                  <a:lnTo>
                    <a:pt x="0" y="4828"/>
                  </a:lnTo>
                  <a:lnTo>
                    <a:pt x="0" y="54011"/>
                  </a:lnTo>
                  <a:lnTo>
                    <a:pt x="2541" y="56435"/>
                  </a:lnTo>
                  <a:lnTo>
                    <a:pt x="4888" y="58839"/>
                  </a:lnTo>
                  <a:lnTo>
                    <a:pt x="9776" y="58839"/>
                  </a:lnTo>
                  <a:lnTo>
                    <a:pt x="12122" y="56435"/>
                  </a:lnTo>
                  <a:lnTo>
                    <a:pt x="14664" y="54011"/>
                  </a:lnTo>
                  <a:lnTo>
                    <a:pt x="14664" y="4828"/>
                  </a:lnTo>
                  <a:lnTo>
                    <a:pt x="12122" y="2404"/>
                  </a:lnTo>
                  <a:close/>
                </a:path>
                <a:path w="15239" h="561339">
                  <a:moveTo>
                    <a:pt x="7429" y="0"/>
                  </a:moveTo>
                  <a:lnTo>
                    <a:pt x="4888" y="2404"/>
                  </a:lnTo>
                  <a:lnTo>
                    <a:pt x="9776" y="2404"/>
                  </a:lnTo>
                  <a:lnTo>
                    <a:pt x="7429" y="0"/>
                  </a:lnTo>
                  <a:close/>
                </a:path>
                <a:path w="15239" h="561339">
                  <a:moveTo>
                    <a:pt x="9776" y="103213"/>
                  </a:moveTo>
                  <a:lnTo>
                    <a:pt x="4888" y="103213"/>
                  </a:lnTo>
                  <a:lnTo>
                    <a:pt x="2541" y="105618"/>
                  </a:lnTo>
                  <a:lnTo>
                    <a:pt x="0" y="108042"/>
                  </a:lnTo>
                  <a:lnTo>
                    <a:pt x="0" y="157225"/>
                  </a:lnTo>
                  <a:lnTo>
                    <a:pt x="2541" y="159629"/>
                  </a:lnTo>
                  <a:lnTo>
                    <a:pt x="4888" y="162053"/>
                  </a:lnTo>
                  <a:lnTo>
                    <a:pt x="9776" y="162053"/>
                  </a:lnTo>
                  <a:lnTo>
                    <a:pt x="12122" y="159629"/>
                  </a:lnTo>
                  <a:lnTo>
                    <a:pt x="14664" y="157225"/>
                  </a:lnTo>
                  <a:lnTo>
                    <a:pt x="14664" y="108042"/>
                  </a:lnTo>
                  <a:lnTo>
                    <a:pt x="12122" y="105618"/>
                  </a:lnTo>
                  <a:lnTo>
                    <a:pt x="9776" y="103213"/>
                  </a:lnTo>
                  <a:close/>
                </a:path>
                <a:path w="15239" h="561339">
                  <a:moveTo>
                    <a:pt x="9776" y="206427"/>
                  </a:moveTo>
                  <a:lnTo>
                    <a:pt x="4888" y="206427"/>
                  </a:lnTo>
                  <a:lnTo>
                    <a:pt x="2541" y="208832"/>
                  </a:lnTo>
                  <a:lnTo>
                    <a:pt x="0" y="211236"/>
                  </a:lnTo>
                  <a:lnTo>
                    <a:pt x="0" y="260439"/>
                  </a:lnTo>
                  <a:lnTo>
                    <a:pt x="2541" y="262843"/>
                  </a:lnTo>
                  <a:lnTo>
                    <a:pt x="4888" y="265267"/>
                  </a:lnTo>
                  <a:lnTo>
                    <a:pt x="9776" y="265267"/>
                  </a:lnTo>
                  <a:lnTo>
                    <a:pt x="12122" y="262843"/>
                  </a:lnTo>
                  <a:lnTo>
                    <a:pt x="14664" y="260439"/>
                  </a:lnTo>
                  <a:lnTo>
                    <a:pt x="14664" y="211236"/>
                  </a:lnTo>
                  <a:lnTo>
                    <a:pt x="12122" y="208832"/>
                  </a:lnTo>
                  <a:lnTo>
                    <a:pt x="9776" y="206427"/>
                  </a:lnTo>
                  <a:close/>
                </a:path>
                <a:path w="15239" h="561339">
                  <a:moveTo>
                    <a:pt x="9776" y="366057"/>
                  </a:moveTo>
                  <a:lnTo>
                    <a:pt x="4888" y="366057"/>
                  </a:lnTo>
                  <a:lnTo>
                    <a:pt x="7429" y="368461"/>
                  </a:lnTo>
                  <a:lnTo>
                    <a:pt x="9776" y="366057"/>
                  </a:lnTo>
                  <a:close/>
                </a:path>
                <a:path w="15239" h="561339">
                  <a:moveTo>
                    <a:pt x="12122" y="310110"/>
                  </a:moveTo>
                  <a:lnTo>
                    <a:pt x="2541" y="310110"/>
                  </a:lnTo>
                  <a:lnTo>
                    <a:pt x="0" y="312046"/>
                  </a:lnTo>
                  <a:lnTo>
                    <a:pt x="0" y="363652"/>
                  </a:lnTo>
                  <a:lnTo>
                    <a:pt x="2541" y="366057"/>
                  </a:lnTo>
                  <a:lnTo>
                    <a:pt x="12122" y="366057"/>
                  </a:lnTo>
                  <a:lnTo>
                    <a:pt x="14664" y="363652"/>
                  </a:lnTo>
                  <a:lnTo>
                    <a:pt x="14664" y="312046"/>
                  </a:lnTo>
                  <a:lnTo>
                    <a:pt x="12122" y="310110"/>
                  </a:lnTo>
                  <a:close/>
                </a:path>
                <a:path w="15239" h="561339">
                  <a:moveTo>
                    <a:pt x="12122" y="413324"/>
                  </a:moveTo>
                  <a:lnTo>
                    <a:pt x="2541" y="413324"/>
                  </a:lnTo>
                  <a:lnTo>
                    <a:pt x="0" y="415729"/>
                  </a:lnTo>
                  <a:lnTo>
                    <a:pt x="0" y="464931"/>
                  </a:lnTo>
                  <a:lnTo>
                    <a:pt x="2541" y="467336"/>
                  </a:lnTo>
                  <a:lnTo>
                    <a:pt x="4888" y="469740"/>
                  </a:lnTo>
                  <a:lnTo>
                    <a:pt x="9776" y="469740"/>
                  </a:lnTo>
                  <a:lnTo>
                    <a:pt x="12122" y="467336"/>
                  </a:lnTo>
                  <a:lnTo>
                    <a:pt x="14664" y="464931"/>
                  </a:lnTo>
                  <a:lnTo>
                    <a:pt x="14664" y="415729"/>
                  </a:lnTo>
                  <a:lnTo>
                    <a:pt x="12122" y="413324"/>
                  </a:lnTo>
                  <a:close/>
                </a:path>
                <a:path w="15239" h="561339">
                  <a:moveTo>
                    <a:pt x="7429" y="410920"/>
                  </a:moveTo>
                  <a:lnTo>
                    <a:pt x="4888" y="413324"/>
                  </a:lnTo>
                  <a:lnTo>
                    <a:pt x="9776" y="413324"/>
                  </a:lnTo>
                  <a:lnTo>
                    <a:pt x="7429" y="410920"/>
                  </a:lnTo>
                  <a:close/>
                </a:path>
                <a:path w="15239" h="561339">
                  <a:moveTo>
                    <a:pt x="9776" y="514114"/>
                  </a:moveTo>
                  <a:lnTo>
                    <a:pt x="4888" y="514114"/>
                  </a:lnTo>
                  <a:lnTo>
                    <a:pt x="2541" y="516538"/>
                  </a:lnTo>
                  <a:lnTo>
                    <a:pt x="0" y="518942"/>
                  </a:lnTo>
                  <a:lnTo>
                    <a:pt x="0" y="556553"/>
                  </a:lnTo>
                  <a:lnTo>
                    <a:pt x="2541" y="558977"/>
                  </a:lnTo>
                  <a:lnTo>
                    <a:pt x="4888" y="560893"/>
                  </a:lnTo>
                  <a:lnTo>
                    <a:pt x="9776" y="560893"/>
                  </a:lnTo>
                  <a:lnTo>
                    <a:pt x="12122" y="558977"/>
                  </a:lnTo>
                  <a:lnTo>
                    <a:pt x="14664" y="556553"/>
                  </a:lnTo>
                  <a:lnTo>
                    <a:pt x="14664" y="518942"/>
                  </a:lnTo>
                  <a:lnTo>
                    <a:pt x="12122" y="516538"/>
                  </a:lnTo>
                  <a:lnTo>
                    <a:pt x="9776" y="514114"/>
                  </a:lnTo>
                  <a:close/>
                </a:path>
              </a:pathLst>
            </a:custGeom>
            <a:solidFill>
              <a:srgbClr val="000000"/>
            </a:solidFill>
          </p:spPr>
          <p:txBody>
            <a:bodyPr wrap="square" lIns="0" tIns="0" rIns="0" bIns="0" rtlCol="0"/>
            <a:lstStyle/>
            <a:p/>
          </p:txBody>
        </p:sp>
        <p:sp>
          <p:nvSpPr>
            <p:cNvPr id="34" name="object 34" descr=""/>
            <p:cNvSpPr/>
            <p:nvPr/>
          </p:nvSpPr>
          <p:spPr>
            <a:xfrm>
              <a:off x="6487147" y="4266568"/>
              <a:ext cx="15240" cy="561340"/>
            </a:xfrm>
            <a:custGeom>
              <a:avLst/>
              <a:gdLst/>
              <a:ahLst/>
              <a:cxnLst/>
              <a:rect l="l" t="t" r="r" b="b"/>
              <a:pathLst>
                <a:path w="15239" h="561339">
                  <a:moveTo>
                    <a:pt x="14664" y="7232"/>
                  </a:moveTo>
                  <a:lnTo>
                    <a:pt x="14664" y="51606"/>
                  </a:lnTo>
                  <a:lnTo>
                    <a:pt x="14664" y="54011"/>
                  </a:lnTo>
                  <a:lnTo>
                    <a:pt x="12122" y="56435"/>
                  </a:lnTo>
                  <a:lnTo>
                    <a:pt x="9776" y="58839"/>
                  </a:lnTo>
                  <a:lnTo>
                    <a:pt x="7429" y="58839"/>
                  </a:lnTo>
                  <a:lnTo>
                    <a:pt x="4888" y="58839"/>
                  </a:lnTo>
                  <a:lnTo>
                    <a:pt x="2541" y="56435"/>
                  </a:lnTo>
                  <a:lnTo>
                    <a:pt x="0" y="54011"/>
                  </a:lnTo>
                  <a:lnTo>
                    <a:pt x="0" y="51606"/>
                  </a:lnTo>
                  <a:lnTo>
                    <a:pt x="0" y="7232"/>
                  </a:lnTo>
                  <a:lnTo>
                    <a:pt x="0" y="4828"/>
                  </a:lnTo>
                  <a:lnTo>
                    <a:pt x="2541" y="2404"/>
                  </a:lnTo>
                  <a:lnTo>
                    <a:pt x="4888" y="2404"/>
                  </a:lnTo>
                  <a:lnTo>
                    <a:pt x="7429" y="0"/>
                  </a:lnTo>
                  <a:lnTo>
                    <a:pt x="9776" y="2404"/>
                  </a:lnTo>
                  <a:lnTo>
                    <a:pt x="12122" y="2404"/>
                  </a:lnTo>
                  <a:lnTo>
                    <a:pt x="14664" y="4828"/>
                  </a:lnTo>
                  <a:lnTo>
                    <a:pt x="14664" y="7232"/>
                  </a:lnTo>
                  <a:close/>
                </a:path>
                <a:path w="15239" h="561339">
                  <a:moveTo>
                    <a:pt x="14664" y="110446"/>
                  </a:moveTo>
                  <a:lnTo>
                    <a:pt x="14664" y="154820"/>
                  </a:lnTo>
                  <a:lnTo>
                    <a:pt x="14664" y="157225"/>
                  </a:lnTo>
                  <a:lnTo>
                    <a:pt x="12122" y="159629"/>
                  </a:lnTo>
                  <a:lnTo>
                    <a:pt x="9776" y="162053"/>
                  </a:lnTo>
                  <a:lnTo>
                    <a:pt x="7429" y="162053"/>
                  </a:lnTo>
                  <a:lnTo>
                    <a:pt x="4888" y="162053"/>
                  </a:lnTo>
                  <a:lnTo>
                    <a:pt x="2541" y="159629"/>
                  </a:lnTo>
                  <a:lnTo>
                    <a:pt x="0" y="157225"/>
                  </a:lnTo>
                  <a:lnTo>
                    <a:pt x="0" y="154820"/>
                  </a:lnTo>
                  <a:lnTo>
                    <a:pt x="0" y="110446"/>
                  </a:lnTo>
                  <a:lnTo>
                    <a:pt x="0" y="108042"/>
                  </a:lnTo>
                  <a:lnTo>
                    <a:pt x="2541" y="105618"/>
                  </a:lnTo>
                  <a:lnTo>
                    <a:pt x="4888" y="103213"/>
                  </a:lnTo>
                  <a:lnTo>
                    <a:pt x="7429" y="103213"/>
                  </a:lnTo>
                  <a:lnTo>
                    <a:pt x="9776" y="103213"/>
                  </a:lnTo>
                  <a:lnTo>
                    <a:pt x="12122" y="105618"/>
                  </a:lnTo>
                  <a:lnTo>
                    <a:pt x="14664" y="108042"/>
                  </a:lnTo>
                  <a:lnTo>
                    <a:pt x="14664" y="110446"/>
                  </a:lnTo>
                  <a:close/>
                </a:path>
                <a:path w="15239" h="561339">
                  <a:moveTo>
                    <a:pt x="14664" y="213660"/>
                  </a:moveTo>
                  <a:lnTo>
                    <a:pt x="14664" y="258034"/>
                  </a:lnTo>
                  <a:lnTo>
                    <a:pt x="14664" y="260439"/>
                  </a:lnTo>
                  <a:lnTo>
                    <a:pt x="12122" y="262843"/>
                  </a:lnTo>
                  <a:lnTo>
                    <a:pt x="9776" y="265267"/>
                  </a:lnTo>
                  <a:lnTo>
                    <a:pt x="7429" y="265267"/>
                  </a:lnTo>
                  <a:lnTo>
                    <a:pt x="4888" y="265267"/>
                  </a:lnTo>
                  <a:lnTo>
                    <a:pt x="2541" y="262843"/>
                  </a:lnTo>
                  <a:lnTo>
                    <a:pt x="0" y="260439"/>
                  </a:lnTo>
                  <a:lnTo>
                    <a:pt x="0" y="258034"/>
                  </a:lnTo>
                  <a:lnTo>
                    <a:pt x="0" y="213660"/>
                  </a:lnTo>
                  <a:lnTo>
                    <a:pt x="0" y="211236"/>
                  </a:lnTo>
                  <a:lnTo>
                    <a:pt x="2541" y="208832"/>
                  </a:lnTo>
                  <a:lnTo>
                    <a:pt x="4888" y="206427"/>
                  </a:lnTo>
                  <a:lnTo>
                    <a:pt x="7429" y="206427"/>
                  </a:lnTo>
                  <a:lnTo>
                    <a:pt x="9776" y="206427"/>
                  </a:lnTo>
                  <a:lnTo>
                    <a:pt x="12122" y="208832"/>
                  </a:lnTo>
                  <a:lnTo>
                    <a:pt x="14664" y="211236"/>
                  </a:lnTo>
                  <a:lnTo>
                    <a:pt x="14664" y="213660"/>
                  </a:lnTo>
                  <a:close/>
                </a:path>
                <a:path w="15239" h="561339">
                  <a:moveTo>
                    <a:pt x="14664" y="316854"/>
                  </a:moveTo>
                  <a:lnTo>
                    <a:pt x="14664" y="359313"/>
                  </a:lnTo>
                  <a:lnTo>
                    <a:pt x="14664" y="363652"/>
                  </a:lnTo>
                  <a:lnTo>
                    <a:pt x="12122" y="366057"/>
                  </a:lnTo>
                  <a:lnTo>
                    <a:pt x="9776" y="366057"/>
                  </a:lnTo>
                  <a:lnTo>
                    <a:pt x="7429" y="368461"/>
                  </a:lnTo>
                  <a:lnTo>
                    <a:pt x="4888" y="366057"/>
                  </a:lnTo>
                  <a:lnTo>
                    <a:pt x="2541" y="366057"/>
                  </a:lnTo>
                  <a:lnTo>
                    <a:pt x="0" y="363652"/>
                  </a:lnTo>
                  <a:lnTo>
                    <a:pt x="0" y="359313"/>
                  </a:lnTo>
                  <a:lnTo>
                    <a:pt x="0" y="316854"/>
                  </a:lnTo>
                  <a:lnTo>
                    <a:pt x="0" y="312046"/>
                  </a:lnTo>
                  <a:lnTo>
                    <a:pt x="2541" y="310110"/>
                  </a:lnTo>
                  <a:lnTo>
                    <a:pt x="4888" y="310110"/>
                  </a:lnTo>
                  <a:lnTo>
                    <a:pt x="7429" y="310110"/>
                  </a:lnTo>
                  <a:lnTo>
                    <a:pt x="9776" y="310110"/>
                  </a:lnTo>
                  <a:lnTo>
                    <a:pt x="12122" y="310110"/>
                  </a:lnTo>
                  <a:lnTo>
                    <a:pt x="14664" y="312046"/>
                  </a:lnTo>
                  <a:lnTo>
                    <a:pt x="14664" y="316854"/>
                  </a:lnTo>
                  <a:close/>
                </a:path>
                <a:path w="15239" h="561339">
                  <a:moveTo>
                    <a:pt x="14664" y="417664"/>
                  </a:moveTo>
                  <a:lnTo>
                    <a:pt x="14664" y="462507"/>
                  </a:lnTo>
                  <a:lnTo>
                    <a:pt x="14664" y="464931"/>
                  </a:lnTo>
                  <a:lnTo>
                    <a:pt x="12122" y="467336"/>
                  </a:lnTo>
                  <a:lnTo>
                    <a:pt x="9776" y="469740"/>
                  </a:lnTo>
                  <a:lnTo>
                    <a:pt x="7429" y="469740"/>
                  </a:lnTo>
                  <a:lnTo>
                    <a:pt x="4888" y="469740"/>
                  </a:lnTo>
                  <a:lnTo>
                    <a:pt x="2541" y="467336"/>
                  </a:lnTo>
                  <a:lnTo>
                    <a:pt x="0" y="464931"/>
                  </a:lnTo>
                  <a:lnTo>
                    <a:pt x="0" y="462507"/>
                  </a:lnTo>
                  <a:lnTo>
                    <a:pt x="0" y="417664"/>
                  </a:lnTo>
                  <a:lnTo>
                    <a:pt x="0" y="415729"/>
                  </a:lnTo>
                  <a:lnTo>
                    <a:pt x="2541" y="413324"/>
                  </a:lnTo>
                  <a:lnTo>
                    <a:pt x="4888" y="413324"/>
                  </a:lnTo>
                  <a:lnTo>
                    <a:pt x="7429" y="410920"/>
                  </a:lnTo>
                  <a:lnTo>
                    <a:pt x="9776" y="413324"/>
                  </a:lnTo>
                  <a:lnTo>
                    <a:pt x="12122" y="413324"/>
                  </a:lnTo>
                  <a:lnTo>
                    <a:pt x="14664" y="415729"/>
                  </a:lnTo>
                  <a:lnTo>
                    <a:pt x="14664" y="417664"/>
                  </a:lnTo>
                  <a:close/>
                </a:path>
                <a:path w="15239" h="561339">
                  <a:moveTo>
                    <a:pt x="14664" y="521347"/>
                  </a:moveTo>
                  <a:lnTo>
                    <a:pt x="14664" y="554149"/>
                  </a:lnTo>
                  <a:lnTo>
                    <a:pt x="14664" y="556553"/>
                  </a:lnTo>
                  <a:lnTo>
                    <a:pt x="12122" y="558977"/>
                  </a:lnTo>
                  <a:lnTo>
                    <a:pt x="9776" y="560893"/>
                  </a:lnTo>
                  <a:lnTo>
                    <a:pt x="7429" y="560893"/>
                  </a:lnTo>
                  <a:lnTo>
                    <a:pt x="4888" y="560893"/>
                  </a:lnTo>
                  <a:lnTo>
                    <a:pt x="2541" y="558977"/>
                  </a:lnTo>
                  <a:lnTo>
                    <a:pt x="0" y="556553"/>
                  </a:lnTo>
                  <a:lnTo>
                    <a:pt x="0" y="554149"/>
                  </a:lnTo>
                  <a:lnTo>
                    <a:pt x="0" y="521347"/>
                  </a:lnTo>
                  <a:lnTo>
                    <a:pt x="0" y="518942"/>
                  </a:lnTo>
                  <a:lnTo>
                    <a:pt x="2541" y="516538"/>
                  </a:lnTo>
                  <a:lnTo>
                    <a:pt x="4888" y="514114"/>
                  </a:lnTo>
                  <a:lnTo>
                    <a:pt x="7429" y="514114"/>
                  </a:lnTo>
                  <a:lnTo>
                    <a:pt x="9776" y="514114"/>
                  </a:lnTo>
                  <a:lnTo>
                    <a:pt x="12122" y="516538"/>
                  </a:lnTo>
                  <a:lnTo>
                    <a:pt x="14664" y="518942"/>
                  </a:lnTo>
                  <a:lnTo>
                    <a:pt x="14664" y="521347"/>
                  </a:lnTo>
                  <a:close/>
                </a:path>
              </a:pathLst>
            </a:custGeom>
            <a:ln w="3175">
              <a:solidFill>
                <a:srgbClr val="000000"/>
              </a:solidFill>
            </a:ln>
          </p:spPr>
          <p:txBody>
            <a:bodyPr wrap="square" lIns="0" tIns="0" rIns="0" bIns="0" rtlCol="0"/>
            <a:lstStyle/>
            <a:p/>
          </p:txBody>
        </p:sp>
        <p:sp>
          <p:nvSpPr>
            <p:cNvPr id="35" name="object 35" descr=""/>
            <p:cNvSpPr/>
            <p:nvPr/>
          </p:nvSpPr>
          <p:spPr>
            <a:xfrm>
              <a:off x="7698989" y="4266568"/>
              <a:ext cx="14604" cy="573405"/>
            </a:xfrm>
            <a:custGeom>
              <a:avLst/>
              <a:gdLst/>
              <a:ahLst/>
              <a:cxnLst/>
              <a:rect l="l" t="t" r="r" b="b"/>
              <a:pathLst>
                <a:path w="14604" h="573404">
                  <a:moveTo>
                    <a:pt x="12122" y="2404"/>
                  </a:moveTo>
                  <a:lnTo>
                    <a:pt x="2346" y="2404"/>
                  </a:lnTo>
                  <a:lnTo>
                    <a:pt x="0" y="4828"/>
                  </a:lnTo>
                  <a:lnTo>
                    <a:pt x="0" y="54011"/>
                  </a:lnTo>
                  <a:lnTo>
                    <a:pt x="2346" y="56435"/>
                  </a:lnTo>
                  <a:lnTo>
                    <a:pt x="4888" y="58839"/>
                  </a:lnTo>
                  <a:lnTo>
                    <a:pt x="9580" y="58839"/>
                  </a:lnTo>
                  <a:lnTo>
                    <a:pt x="12122" y="56435"/>
                  </a:lnTo>
                  <a:lnTo>
                    <a:pt x="14077" y="54011"/>
                  </a:lnTo>
                  <a:lnTo>
                    <a:pt x="14077" y="4828"/>
                  </a:lnTo>
                  <a:lnTo>
                    <a:pt x="12122" y="2404"/>
                  </a:lnTo>
                  <a:close/>
                </a:path>
                <a:path w="14604" h="573404">
                  <a:moveTo>
                    <a:pt x="7234" y="0"/>
                  </a:moveTo>
                  <a:lnTo>
                    <a:pt x="4888" y="2404"/>
                  </a:lnTo>
                  <a:lnTo>
                    <a:pt x="9580" y="2404"/>
                  </a:lnTo>
                  <a:lnTo>
                    <a:pt x="7234" y="0"/>
                  </a:lnTo>
                  <a:close/>
                </a:path>
                <a:path w="14604" h="573404">
                  <a:moveTo>
                    <a:pt x="9580" y="103213"/>
                  </a:moveTo>
                  <a:lnTo>
                    <a:pt x="4888" y="103213"/>
                  </a:lnTo>
                  <a:lnTo>
                    <a:pt x="2346" y="105618"/>
                  </a:lnTo>
                  <a:lnTo>
                    <a:pt x="0" y="108042"/>
                  </a:lnTo>
                  <a:lnTo>
                    <a:pt x="0" y="157225"/>
                  </a:lnTo>
                  <a:lnTo>
                    <a:pt x="2346" y="159629"/>
                  </a:lnTo>
                  <a:lnTo>
                    <a:pt x="4888" y="162053"/>
                  </a:lnTo>
                  <a:lnTo>
                    <a:pt x="9580" y="162053"/>
                  </a:lnTo>
                  <a:lnTo>
                    <a:pt x="12122" y="159629"/>
                  </a:lnTo>
                  <a:lnTo>
                    <a:pt x="14077" y="157225"/>
                  </a:lnTo>
                  <a:lnTo>
                    <a:pt x="14077" y="108042"/>
                  </a:lnTo>
                  <a:lnTo>
                    <a:pt x="12122" y="105618"/>
                  </a:lnTo>
                  <a:lnTo>
                    <a:pt x="9580" y="103213"/>
                  </a:lnTo>
                  <a:close/>
                </a:path>
                <a:path w="14604" h="573404">
                  <a:moveTo>
                    <a:pt x="9580" y="206427"/>
                  </a:moveTo>
                  <a:lnTo>
                    <a:pt x="4888" y="206427"/>
                  </a:lnTo>
                  <a:lnTo>
                    <a:pt x="2346" y="208832"/>
                  </a:lnTo>
                  <a:lnTo>
                    <a:pt x="0" y="211236"/>
                  </a:lnTo>
                  <a:lnTo>
                    <a:pt x="0" y="260439"/>
                  </a:lnTo>
                  <a:lnTo>
                    <a:pt x="2346" y="262843"/>
                  </a:lnTo>
                  <a:lnTo>
                    <a:pt x="4888" y="265267"/>
                  </a:lnTo>
                  <a:lnTo>
                    <a:pt x="9580" y="265267"/>
                  </a:lnTo>
                  <a:lnTo>
                    <a:pt x="12122" y="262843"/>
                  </a:lnTo>
                  <a:lnTo>
                    <a:pt x="14077" y="260439"/>
                  </a:lnTo>
                  <a:lnTo>
                    <a:pt x="14077" y="211236"/>
                  </a:lnTo>
                  <a:lnTo>
                    <a:pt x="12122" y="208832"/>
                  </a:lnTo>
                  <a:lnTo>
                    <a:pt x="9580" y="206427"/>
                  </a:lnTo>
                  <a:close/>
                </a:path>
                <a:path w="14604" h="573404">
                  <a:moveTo>
                    <a:pt x="9580" y="366057"/>
                  </a:moveTo>
                  <a:lnTo>
                    <a:pt x="4888" y="366057"/>
                  </a:lnTo>
                  <a:lnTo>
                    <a:pt x="7234" y="368461"/>
                  </a:lnTo>
                  <a:lnTo>
                    <a:pt x="9580" y="366057"/>
                  </a:lnTo>
                  <a:close/>
                </a:path>
                <a:path w="14604" h="573404">
                  <a:moveTo>
                    <a:pt x="12122" y="310110"/>
                  </a:moveTo>
                  <a:lnTo>
                    <a:pt x="2346" y="310110"/>
                  </a:lnTo>
                  <a:lnTo>
                    <a:pt x="0" y="312046"/>
                  </a:lnTo>
                  <a:lnTo>
                    <a:pt x="0" y="363652"/>
                  </a:lnTo>
                  <a:lnTo>
                    <a:pt x="2346" y="366057"/>
                  </a:lnTo>
                  <a:lnTo>
                    <a:pt x="12122" y="366057"/>
                  </a:lnTo>
                  <a:lnTo>
                    <a:pt x="14077" y="363652"/>
                  </a:lnTo>
                  <a:lnTo>
                    <a:pt x="14077" y="312046"/>
                  </a:lnTo>
                  <a:lnTo>
                    <a:pt x="12122" y="310110"/>
                  </a:lnTo>
                  <a:close/>
                </a:path>
                <a:path w="14604" h="573404">
                  <a:moveTo>
                    <a:pt x="12122" y="413324"/>
                  </a:moveTo>
                  <a:lnTo>
                    <a:pt x="2346" y="413324"/>
                  </a:lnTo>
                  <a:lnTo>
                    <a:pt x="0" y="415729"/>
                  </a:lnTo>
                  <a:lnTo>
                    <a:pt x="0" y="464931"/>
                  </a:lnTo>
                  <a:lnTo>
                    <a:pt x="2346" y="467336"/>
                  </a:lnTo>
                  <a:lnTo>
                    <a:pt x="4888" y="469740"/>
                  </a:lnTo>
                  <a:lnTo>
                    <a:pt x="9580" y="469740"/>
                  </a:lnTo>
                  <a:lnTo>
                    <a:pt x="12122" y="467336"/>
                  </a:lnTo>
                  <a:lnTo>
                    <a:pt x="14077" y="464931"/>
                  </a:lnTo>
                  <a:lnTo>
                    <a:pt x="14077" y="415729"/>
                  </a:lnTo>
                  <a:lnTo>
                    <a:pt x="12122" y="413324"/>
                  </a:lnTo>
                  <a:close/>
                </a:path>
                <a:path w="14604" h="573404">
                  <a:moveTo>
                    <a:pt x="7234" y="410920"/>
                  </a:moveTo>
                  <a:lnTo>
                    <a:pt x="4888" y="413324"/>
                  </a:lnTo>
                  <a:lnTo>
                    <a:pt x="9580" y="413324"/>
                  </a:lnTo>
                  <a:lnTo>
                    <a:pt x="7234" y="410920"/>
                  </a:lnTo>
                  <a:close/>
                </a:path>
                <a:path w="14604" h="573404">
                  <a:moveTo>
                    <a:pt x="9580" y="514114"/>
                  </a:moveTo>
                  <a:lnTo>
                    <a:pt x="4888" y="514114"/>
                  </a:lnTo>
                  <a:lnTo>
                    <a:pt x="2346" y="516538"/>
                  </a:lnTo>
                  <a:lnTo>
                    <a:pt x="0" y="518942"/>
                  </a:lnTo>
                  <a:lnTo>
                    <a:pt x="0" y="568145"/>
                  </a:lnTo>
                  <a:lnTo>
                    <a:pt x="2346" y="570549"/>
                  </a:lnTo>
                  <a:lnTo>
                    <a:pt x="4888" y="572954"/>
                  </a:lnTo>
                  <a:lnTo>
                    <a:pt x="9580" y="572954"/>
                  </a:lnTo>
                  <a:lnTo>
                    <a:pt x="12122" y="570549"/>
                  </a:lnTo>
                  <a:lnTo>
                    <a:pt x="14077" y="568145"/>
                  </a:lnTo>
                  <a:lnTo>
                    <a:pt x="14077" y="518942"/>
                  </a:lnTo>
                  <a:lnTo>
                    <a:pt x="12122" y="516538"/>
                  </a:lnTo>
                  <a:lnTo>
                    <a:pt x="9580" y="514114"/>
                  </a:lnTo>
                  <a:close/>
                </a:path>
              </a:pathLst>
            </a:custGeom>
            <a:solidFill>
              <a:srgbClr val="000000"/>
            </a:solidFill>
          </p:spPr>
          <p:txBody>
            <a:bodyPr wrap="square" lIns="0" tIns="0" rIns="0" bIns="0" rtlCol="0"/>
            <a:lstStyle/>
            <a:p/>
          </p:txBody>
        </p:sp>
        <p:sp>
          <p:nvSpPr>
            <p:cNvPr id="36" name="object 36" descr=""/>
            <p:cNvSpPr/>
            <p:nvPr/>
          </p:nvSpPr>
          <p:spPr>
            <a:xfrm>
              <a:off x="7698989" y="4266568"/>
              <a:ext cx="14604" cy="573405"/>
            </a:xfrm>
            <a:custGeom>
              <a:avLst/>
              <a:gdLst/>
              <a:ahLst/>
              <a:cxnLst/>
              <a:rect l="l" t="t" r="r" b="b"/>
              <a:pathLst>
                <a:path w="14604" h="573404">
                  <a:moveTo>
                    <a:pt x="14077" y="7232"/>
                  </a:moveTo>
                  <a:lnTo>
                    <a:pt x="14077" y="51606"/>
                  </a:lnTo>
                  <a:lnTo>
                    <a:pt x="14077" y="54011"/>
                  </a:lnTo>
                  <a:lnTo>
                    <a:pt x="12122" y="56435"/>
                  </a:lnTo>
                  <a:lnTo>
                    <a:pt x="9580" y="58839"/>
                  </a:lnTo>
                  <a:lnTo>
                    <a:pt x="7234" y="58839"/>
                  </a:lnTo>
                  <a:lnTo>
                    <a:pt x="4888" y="58839"/>
                  </a:lnTo>
                  <a:lnTo>
                    <a:pt x="2346" y="56435"/>
                  </a:lnTo>
                  <a:lnTo>
                    <a:pt x="0" y="54011"/>
                  </a:lnTo>
                  <a:lnTo>
                    <a:pt x="0" y="51606"/>
                  </a:lnTo>
                  <a:lnTo>
                    <a:pt x="0" y="7232"/>
                  </a:lnTo>
                  <a:lnTo>
                    <a:pt x="0" y="4828"/>
                  </a:lnTo>
                  <a:lnTo>
                    <a:pt x="2346" y="2404"/>
                  </a:lnTo>
                  <a:lnTo>
                    <a:pt x="4888" y="2404"/>
                  </a:lnTo>
                  <a:lnTo>
                    <a:pt x="7234" y="0"/>
                  </a:lnTo>
                  <a:lnTo>
                    <a:pt x="9580" y="2404"/>
                  </a:lnTo>
                  <a:lnTo>
                    <a:pt x="12122" y="2404"/>
                  </a:lnTo>
                  <a:lnTo>
                    <a:pt x="14077" y="4828"/>
                  </a:lnTo>
                  <a:lnTo>
                    <a:pt x="14077" y="7232"/>
                  </a:lnTo>
                  <a:close/>
                </a:path>
                <a:path w="14604" h="573404">
                  <a:moveTo>
                    <a:pt x="14077" y="110446"/>
                  </a:moveTo>
                  <a:lnTo>
                    <a:pt x="14077" y="154820"/>
                  </a:lnTo>
                  <a:lnTo>
                    <a:pt x="14077" y="157225"/>
                  </a:lnTo>
                  <a:lnTo>
                    <a:pt x="12122" y="159629"/>
                  </a:lnTo>
                  <a:lnTo>
                    <a:pt x="9580" y="162053"/>
                  </a:lnTo>
                  <a:lnTo>
                    <a:pt x="7234" y="162053"/>
                  </a:lnTo>
                  <a:lnTo>
                    <a:pt x="4888" y="162053"/>
                  </a:lnTo>
                  <a:lnTo>
                    <a:pt x="2346" y="159629"/>
                  </a:lnTo>
                  <a:lnTo>
                    <a:pt x="0" y="157225"/>
                  </a:lnTo>
                  <a:lnTo>
                    <a:pt x="0" y="154820"/>
                  </a:lnTo>
                  <a:lnTo>
                    <a:pt x="0" y="110446"/>
                  </a:lnTo>
                  <a:lnTo>
                    <a:pt x="0" y="108042"/>
                  </a:lnTo>
                  <a:lnTo>
                    <a:pt x="2346" y="105618"/>
                  </a:lnTo>
                  <a:lnTo>
                    <a:pt x="4888" y="103213"/>
                  </a:lnTo>
                  <a:lnTo>
                    <a:pt x="7234" y="103213"/>
                  </a:lnTo>
                  <a:lnTo>
                    <a:pt x="9580" y="103213"/>
                  </a:lnTo>
                  <a:lnTo>
                    <a:pt x="12122" y="105618"/>
                  </a:lnTo>
                  <a:lnTo>
                    <a:pt x="14077" y="108042"/>
                  </a:lnTo>
                  <a:lnTo>
                    <a:pt x="14077" y="110446"/>
                  </a:lnTo>
                  <a:close/>
                </a:path>
                <a:path w="14604" h="573404">
                  <a:moveTo>
                    <a:pt x="14077" y="213660"/>
                  </a:moveTo>
                  <a:lnTo>
                    <a:pt x="14077" y="258034"/>
                  </a:lnTo>
                  <a:lnTo>
                    <a:pt x="14077" y="260439"/>
                  </a:lnTo>
                  <a:lnTo>
                    <a:pt x="12122" y="262843"/>
                  </a:lnTo>
                  <a:lnTo>
                    <a:pt x="9580" y="265267"/>
                  </a:lnTo>
                  <a:lnTo>
                    <a:pt x="7234" y="265267"/>
                  </a:lnTo>
                  <a:lnTo>
                    <a:pt x="4888" y="265267"/>
                  </a:lnTo>
                  <a:lnTo>
                    <a:pt x="2346" y="262843"/>
                  </a:lnTo>
                  <a:lnTo>
                    <a:pt x="0" y="260439"/>
                  </a:lnTo>
                  <a:lnTo>
                    <a:pt x="0" y="258034"/>
                  </a:lnTo>
                  <a:lnTo>
                    <a:pt x="0" y="213660"/>
                  </a:lnTo>
                  <a:lnTo>
                    <a:pt x="0" y="211236"/>
                  </a:lnTo>
                  <a:lnTo>
                    <a:pt x="2346" y="208832"/>
                  </a:lnTo>
                  <a:lnTo>
                    <a:pt x="4888" y="206427"/>
                  </a:lnTo>
                  <a:lnTo>
                    <a:pt x="7234" y="206427"/>
                  </a:lnTo>
                  <a:lnTo>
                    <a:pt x="9580" y="206427"/>
                  </a:lnTo>
                  <a:lnTo>
                    <a:pt x="12122" y="208832"/>
                  </a:lnTo>
                  <a:lnTo>
                    <a:pt x="14077" y="211236"/>
                  </a:lnTo>
                  <a:lnTo>
                    <a:pt x="14077" y="213660"/>
                  </a:lnTo>
                  <a:close/>
                </a:path>
                <a:path w="14604" h="573404">
                  <a:moveTo>
                    <a:pt x="14077" y="316854"/>
                  </a:moveTo>
                  <a:lnTo>
                    <a:pt x="14077" y="359313"/>
                  </a:lnTo>
                  <a:lnTo>
                    <a:pt x="14077" y="363652"/>
                  </a:lnTo>
                  <a:lnTo>
                    <a:pt x="12122" y="366057"/>
                  </a:lnTo>
                  <a:lnTo>
                    <a:pt x="9580" y="366057"/>
                  </a:lnTo>
                  <a:lnTo>
                    <a:pt x="7234" y="368461"/>
                  </a:lnTo>
                  <a:lnTo>
                    <a:pt x="4888" y="366057"/>
                  </a:lnTo>
                  <a:lnTo>
                    <a:pt x="2346" y="366057"/>
                  </a:lnTo>
                  <a:lnTo>
                    <a:pt x="0" y="363652"/>
                  </a:lnTo>
                  <a:lnTo>
                    <a:pt x="0" y="359313"/>
                  </a:lnTo>
                  <a:lnTo>
                    <a:pt x="0" y="316854"/>
                  </a:lnTo>
                  <a:lnTo>
                    <a:pt x="0" y="312046"/>
                  </a:lnTo>
                  <a:lnTo>
                    <a:pt x="2346" y="310110"/>
                  </a:lnTo>
                  <a:lnTo>
                    <a:pt x="4888" y="310110"/>
                  </a:lnTo>
                  <a:lnTo>
                    <a:pt x="7234" y="310110"/>
                  </a:lnTo>
                  <a:lnTo>
                    <a:pt x="9580" y="310110"/>
                  </a:lnTo>
                  <a:lnTo>
                    <a:pt x="12122" y="310110"/>
                  </a:lnTo>
                  <a:lnTo>
                    <a:pt x="14077" y="312046"/>
                  </a:lnTo>
                  <a:lnTo>
                    <a:pt x="14077" y="316854"/>
                  </a:lnTo>
                  <a:close/>
                </a:path>
                <a:path w="14604" h="573404">
                  <a:moveTo>
                    <a:pt x="14077" y="417664"/>
                  </a:moveTo>
                  <a:lnTo>
                    <a:pt x="14077" y="462507"/>
                  </a:lnTo>
                  <a:lnTo>
                    <a:pt x="14077" y="464931"/>
                  </a:lnTo>
                  <a:lnTo>
                    <a:pt x="12122" y="467336"/>
                  </a:lnTo>
                  <a:lnTo>
                    <a:pt x="9580" y="469740"/>
                  </a:lnTo>
                  <a:lnTo>
                    <a:pt x="7234" y="469740"/>
                  </a:lnTo>
                  <a:lnTo>
                    <a:pt x="4888" y="469740"/>
                  </a:lnTo>
                  <a:lnTo>
                    <a:pt x="2346" y="467336"/>
                  </a:lnTo>
                  <a:lnTo>
                    <a:pt x="0" y="464931"/>
                  </a:lnTo>
                  <a:lnTo>
                    <a:pt x="0" y="462507"/>
                  </a:lnTo>
                  <a:lnTo>
                    <a:pt x="0" y="417664"/>
                  </a:lnTo>
                  <a:lnTo>
                    <a:pt x="0" y="415729"/>
                  </a:lnTo>
                  <a:lnTo>
                    <a:pt x="2346" y="413324"/>
                  </a:lnTo>
                  <a:lnTo>
                    <a:pt x="4888" y="413324"/>
                  </a:lnTo>
                  <a:lnTo>
                    <a:pt x="7234" y="410920"/>
                  </a:lnTo>
                  <a:lnTo>
                    <a:pt x="9580" y="413324"/>
                  </a:lnTo>
                  <a:lnTo>
                    <a:pt x="12122" y="413324"/>
                  </a:lnTo>
                  <a:lnTo>
                    <a:pt x="14077" y="415729"/>
                  </a:lnTo>
                  <a:lnTo>
                    <a:pt x="14077" y="417664"/>
                  </a:lnTo>
                  <a:close/>
                </a:path>
                <a:path w="14604" h="573404">
                  <a:moveTo>
                    <a:pt x="14077" y="521347"/>
                  </a:moveTo>
                  <a:lnTo>
                    <a:pt x="14077" y="565721"/>
                  </a:lnTo>
                  <a:lnTo>
                    <a:pt x="14077" y="568145"/>
                  </a:lnTo>
                  <a:lnTo>
                    <a:pt x="12122" y="570549"/>
                  </a:lnTo>
                  <a:lnTo>
                    <a:pt x="9580" y="572954"/>
                  </a:lnTo>
                  <a:lnTo>
                    <a:pt x="7234" y="572954"/>
                  </a:lnTo>
                  <a:lnTo>
                    <a:pt x="4888" y="572954"/>
                  </a:lnTo>
                  <a:lnTo>
                    <a:pt x="2346" y="570549"/>
                  </a:lnTo>
                  <a:lnTo>
                    <a:pt x="0" y="568145"/>
                  </a:lnTo>
                  <a:lnTo>
                    <a:pt x="0" y="565721"/>
                  </a:lnTo>
                  <a:lnTo>
                    <a:pt x="0" y="521347"/>
                  </a:lnTo>
                  <a:lnTo>
                    <a:pt x="0" y="518942"/>
                  </a:lnTo>
                  <a:lnTo>
                    <a:pt x="2346" y="516538"/>
                  </a:lnTo>
                  <a:lnTo>
                    <a:pt x="4888" y="514114"/>
                  </a:lnTo>
                  <a:lnTo>
                    <a:pt x="7234" y="514114"/>
                  </a:lnTo>
                  <a:lnTo>
                    <a:pt x="9580" y="514114"/>
                  </a:lnTo>
                  <a:lnTo>
                    <a:pt x="12122" y="516538"/>
                  </a:lnTo>
                  <a:lnTo>
                    <a:pt x="14077" y="518942"/>
                  </a:lnTo>
                  <a:lnTo>
                    <a:pt x="14077" y="521347"/>
                  </a:lnTo>
                  <a:close/>
                </a:path>
              </a:pathLst>
            </a:custGeom>
            <a:ln w="3175">
              <a:solidFill>
                <a:srgbClr val="000000"/>
              </a:solidFill>
            </a:ln>
          </p:spPr>
          <p:txBody>
            <a:bodyPr wrap="square" lIns="0" tIns="0" rIns="0" bIns="0" rtlCol="0"/>
            <a:lstStyle/>
            <a:p/>
          </p:txBody>
        </p:sp>
        <p:sp>
          <p:nvSpPr>
            <p:cNvPr id="37" name="object 37" descr=""/>
            <p:cNvSpPr/>
            <p:nvPr/>
          </p:nvSpPr>
          <p:spPr>
            <a:xfrm>
              <a:off x="4108276" y="3603907"/>
              <a:ext cx="4827905" cy="302895"/>
            </a:xfrm>
            <a:custGeom>
              <a:avLst/>
              <a:gdLst/>
              <a:ahLst/>
              <a:cxnLst/>
              <a:rect l="l" t="t" r="r" b="b"/>
              <a:pathLst>
                <a:path w="4827905" h="302895">
                  <a:moveTo>
                    <a:pt x="4827621" y="0"/>
                  </a:moveTo>
                  <a:lnTo>
                    <a:pt x="0" y="0"/>
                  </a:lnTo>
                  <a:lnTo>
                    <a:pt x="0" y="302877"/>
                  </a:lnTo>
                  <a:lnTo>
                    <a:pt x="4827621" y="302877"/>
                  </a:lnTo>
                  <a:lnTo>
                    <a:pt x="4827621" y="0"/>
                  </a:lnTo>
                  <a:close/>
                </a:path>
              </a:pathLst>
            </a:custGeom>
            <a:solidFill>
              <a:srgbClr val="CCFFFF"/>
            </a:solidFill>
          </p:spPr>
          <p:txBody>
            <a:bodyPr wrap="square" lIns="0" tIns="0" rIns="0" bIns="0" rtlCol="0"/>
            <a:lstStyle/>
            <a:p/>
          </p:txBody>
        </p:sp>
        <p:sp>
          <p:nvSpPr>
            <p:cNvPr id="38" name="object 38" descr=""/>
            <p:cNvSpPr/>
            <p:nvPr/>
          </p:nvSpPr>
          <p:spPr>
            <a:xfrm>
              <a:off x="4108276" y="3603907"/>
              <a:ext cx="4827905" cy="302895"/>
            </a:xfrm>
            <a:custGeom>
              <a:avLst/>
              <a:gdLst/>
              <a:ahLst/>
              <a:cxnLst/>
              <a:rect l="l" t="t" r="r" b="b"/>
              <a:pathLst>
                <a:path w="4827905" h="302895">
                  <a:moveTo>
                    <a:pt x="0" y="302877"/>
                  </a:moveTo>
                  <a:lnTo>
                    <a:pt x="4827621" y="302877"/>
                  </a:lnTo>
                  <a:lnTo>
                    <a:pt x="4827621" y="0"/>
                  </a:lnTo>
                  <a:lnTo>
                    <a:pt x="0" y="0"/>
                  </a:lnTo>
                  <a:lnTo>
                    <a:pt x="0" y="302877"/>
                  </a:lnTo>
                  <a:close/>
                </a:path>
              </a:pathLst>
            </a:custGeom>
            <a:ln w="14042">
              <a:solidFill>
                <a:srgbClr val="000000"/>
              </a:solidFill>
            </a:ln>
          </p:spPr>
          <p:txBody>
            <a:bodyPr wrap="square" lIns="0" tIns="0" rIns="0" bIns="0" rtlCol="0"/>
            <a:lstStyle/>
            <a:p/>
          </p:txBody>
        </p:sp>
        <p:sp>
          <p:nvSpPr>
            <p:cNvPr id="39" name="object 39" descr=""/>
            <p:cNvSpPr/>
            <p:nvPr/>
          </p:nvSpPr>
          <p:spPr>
            <a:xfrm>
              <a:off x="5275950" y="3599509"/>
              <a:ext cx="14604" cy="265430"/>
            </a:xfrm>
            <a:custGeom>
              <a:avLst/>
              <a:gdLst/>
              <a:ahLst/>
              <a:cxnLst/>
              <a:rect l="l" t="t" r="r" b="b"/>
              <a:pathLst>
                <a:path w="14604" h="265429">
                  <a:moveTo>
                    <a:pt x="9209" y="0"/>
                  </a:moveTo>
                  <a:lnTo>
                    <a:pt x="4360" y="0"/>
                  </a:lnTo>
                  <a:lnTo>
                    <a:pt x="1955" y="2541"/>
                  </a:lnTo>
                  <a:lnTo>
                    <a:pt x="0" y="4887"/>
                  </a:lnTo>
                  <a:lnTo>
                    <a:pt x="0" y="54148"/>
                  </a:lnTo>
                  <a:lnTo>
                    <a:pt x="1955" y="56474"/>
                  </a:lnTo>
                  <a:lnTo>
                    <a:pt x="4360" y="58898"/>
                  </a:lnTo>
                  <a:lnTo>
                    <a:pt x="9209" y="58898"/>
                  </a:lnTo>
                  <a:lnTo>
                    <a:pt x="11633" y="56474"/>
                  </a:lnTo>
                  <a:lnTo>
                    <a:pt x="14058" y="54148"/>
                  </a:lnTo>
                  <a:lnTo>
                    <a:pt x="14057" y="4887"/>
                  </a:lnTo>
                  <a:lnTo>
                    <a:pt x="11633" y="2541"/>
                  </a:lnTo>
                  <a:lnTo>
                    <a:pt x="9209" y="0"/>
                  </a:lnTo>
                  <a:close/>
                </a:path>
                <a:path w="14604" h="265429">
                  <a:moveTo>
                    <a:pt x="9209" y="103741"/>
                  </a:moveTo>
                  <a:lnTo>
                    <a:pt x="4360" y="103741"/>
                  </a:lnTo>
                  <a:lnTo>
                    <a:pt x="1955" y="105676"/>
                  </a:lnTo>
                  <a:lnTo>
                    <a:pt x="0" y="108081"/>
                  </a:lnTo>
                  <a:lnTo>
                    <a:pt x="0" y="157753"/>
                  </a:lnTo>
                  <a:lnTo>
                    <a:pt x="1955" y="159688"/>
                  </a:lnTo>
                  <a:lnTo>
                    <a:pt x="4360" y="162112"/>
                  </a:lnTo>
                  <a:lnTo>
                    <a:pt x="9209" y="162112"/>
                  </a:lnTo>
                  <a:lnTo>
                    <a:pt x="11633" y="159688"/>
                  </a:lnTo>
                  <a:lnTo>
                    <a:pt x="14058" y="157753"/>
                  </a:lnTo>
                  <a:lnTo>
                    <a:pt x="14058" y="108081"/>
                  </a:lnTo>
                  <a:lnTo>
                    <a:pt x="11633" y="105676"/>
                  </a:lnTo>
                  <a:lnTo>
                    <a:pt x="9209" y="103741"/>
                  </a:lnTo>
                  <a:close/>
                </a:path>
                <a:path w="14604" h="265429">
                  <a:moveTo>
                    <a:pt x="9209" y="263390"/>
                  </a:moveTo>
                  <a:lnTo>
                    <a:pt x="4360" y="263390"/>
                  </a:lnTo>
                  <a:lnTo>
                    <a:pt x="6784" y="265306"/>
                  </a:lnTo>
                  <a:lnTo>
                    <a:pt x="9209" y="263390"/>
                  </a:lnTo>
                  <a:close/>
                </a:path>
                <a:path w="14604" h="265429">
                  <a:moveTo>
                    <a:pt x="9209" y="206955"/>
                  </a:moveTo>
                  <a:lnTo>
                    <a:pt x="4360" y="206955"/>
                  </a:lnTo>
                  <a:lnTo>
                    <a:pt x="1955" y="209359"/>
                  </a:lnTo>
                  <a:lnTo>
                    <a:pt x="0" y="211783"/>
                  </a:lnTo>
                  <a:lnTo>
                    <a:pt x="0" y="260966"/>
                  </a:lnTo>
                  <a:lnTo>
                    <a:pt x="1955" y="263390"/>
                  </a:lnTo>
                  <a:lnTo>
                    <a:pt x="11633" y="263390"/>
                  </a:lnTo>
                  <a:lnTo>
                    <a:pt x="14058" y="260966"/>
                  </a:lnTo>
                  <a:lnTo>
                    <a:pt x="14058" y="211783"/>
                  </a:lnTo>
                  <a:lnTo>
                    <a:pt x="9209" y="206955"/>
                  </a:lnTo>
                  <a:close/>
                </a:path>
              </a:pathLst>
            </a:custGeom>
            <a:solidFill>
              <a:srgbClr val="000000"/>
            </a:solidFill>
          </p:spPr>
          <p:txBody>
            <a:bodyPr wrap="square" lIns="0" tIns="0" rIns="0" bIns="0" rtlCol="0"/>
            <a:lstStyle/>
            <a:p/>
          </p:txBody>
        </p:sp>
        <p:sp>
          <p:nvSpPr>
            <p:cNvPr id="40" name="object 40" descr=""/>
            <p:cNvSpPr/>
            <p:nvPr/>
          </p:nvSpPr>
          <p:spPr>
            <a:xfrm>
              <a:off x="5275950" y="3599509"/>
              <a:ext cx="14604" cy="265430"/>
            </a:xfrm>
            <a:custGeom>
              <a:avLst/>
              <a:gdLst/>
              <a:ahLst/>
              <a:cxnLst/>
              <a:rect l="l" t="t" r="r" b="b"/>
              <a:pathLst>
                <a:path w="14604" h="265429">
                  <a:moveTo>
                    <a:pt x="14057" y="7232"/>
                  </a:moveTo>
                  <a:lnTo>
                    <a:pt x="14058" y="51606"/>
                  </a:lnTo>
                  <a:lnTo>
                    <a:pt x="14058" y="54148"/>
                  </a:lnTo>
                  <a:lnTo>
                    <a:pt x="11633" y="56474"/>
                  </a:lnTo>
                  <a:lnTo>
                    <a:pt x="9209" y="58898"/>
                  </a:lnTo>
                  <a:lnTo>
                    <a:pt x="6784" y="58898"/>
                  </a:lnTo>
                  <a:lnTo>
                    <a:pt x="4360" y="58898"/>
                  </a:lnTo>
                  <a:lnTo>
                    <a:pt x="1955" y="56474"/>
                  </a:lnTo>
                  <a:lnTo>
                    <a:pt x="0" y="54148"/>
                  </a:lnTo>
                  <a:lnTo>
                    <a:pt x="0" y="51606"/>
                  </a:lnTo>
                  <a:lnTo>
                    <a:pt x="0" y="7232"/>
                  </a:lnTo>
                  <a:lnTo>
                    <a:pt x="0" y="4887"/>
                  </a:lnTo>
                  <a:lnTo>
                    <a:pt x="1955" y="2541"/>
                  </a:lnTo>
                  <a:lnTo>
                    <a:pt x="4360" y="0"/>
                  </a:lnTo>
                  <a:lnTo>
                    <a:pt x="6784" y="0"/>
                  </a:lnTo>
                  <a:lnTo>
                    <a:pt x="9209" y="0"/>
                  </a:lnTo>
                  <a:lnTo>
                    <a:pt x="11633" y="2541"/>
                  </a:lnTo>
                  <a:lnTo>
                    <a:pt x="14057" y="4887"/>
                  </a:lnTo>
                  <a:lnTo>
                    <a:pt x="14057" y="7232"/>
                  </a:lnTo>
                  <a:close/>
                </a:path>
                <a:path w="14604" h="265429">
                  <a:moveTo>
                    <a:pt x="14058" y="110505"/>
                  </a:moveTo>
                  <a:lnTo>
                    <a:pt x="14058" y="155348"/>
                  </a:lnTo>
                  <a:lnTo>
                    <a:pt x="14058" y="157753"/>
                  </a:lnTo>
                  <a:lnTo>
                    <a:pt x="11633" y="159688"/>
                  </a:lnTo>
                  <a:lnTo>
                    <a:pt x="9209" y="162112"/>
                  </a:lnTo>
                  <a:lnTo>
                    <a:pt x="6784" y="162112"/>
                  </a:lnTo>
                  <a:lnTo>
                    <a:pt x="4360" y="162112"/>
                  </a:lnTo>
                  <a:lnTo>
                    <a:pt x="1955" y="159688"/>
                  </a:lnTo>
                  <a:lnTo>
                    <a:pt x="0" y="157753"/>
                  </a:lnTo>
                  <a:lnTo>
                    <a:pt x="0" y="155348"/>
                  </a:lnTo>
                  <a:lnTo>
                    <a:pt x="0" y="110505"/>
                  </a:lnTo>
                  <a:lnTo>
                    <a:pt x="0" y="108081"/>
                  </a:lnTo>
                  <a:lnTo>
                    <a:pt x="1955" y="105676"/>
                  </a:lnTo>
                  <a:lnTo>
                    <a:pt x="4360" y="103741"/>
                  </a:lnTo>
                  <a:lnTo>
                    <a:pt x="6784" y="103741"/>
                  </a:lnTo>
                  <a:lnTo>
                    <a:pt x="9209" y="103741"/>
                  </a:lnTo>
                  <a:lnTo>
                    <a:pt x="11633" y="105676"/>
                  </a:lnTo>
                  <a:lnTo>
                    <a:pt x="14058" y="108081"/>
                  </a:lnTo>
                  <a:lnTo>
                    <a:pt x="14058" y="110505"/>
                  </a:lnTo>
                  <a:close/>
                </a:path>
                <a:path w="14604" h="265429">
                  <a:moveTo>
                    <a:pt x="14058" y="213699"/>
                  </a:moveTo>
                  <a:lnTo>
                    <a:pt x="14058" y="256158"/>
                  </a:lnTo>
                  <a:lnTo>
                    <a:pt x="14058" y="260966"/>
                  </a:lnTo>
                  <a:lnTo>
                    <a:pt x="11633" y="263390"/>
                  </a:lnTo>
                  <a:lnTo>
                    <a:pt x="9209" y="263390"/>
                  </a:lnTo>
                  <a:lnTo>
                    <a:pt x="6784" y="265306"/>
                  </a:lnTo>
                  <a:lnTo>
                    <a:pt x="4360" y="263390"/>
                  </a:lnTo>
                  <a:lnTo>
                    <a:pt x="1955" y="263390"/>
                  </a:lnTo>
                  <a:lnTo>
                    <a:pt x="0" y="260966"/>
                  </a:lnTo>
                  <a:lnTo>
                    <a:pt x="0" y="256158"/>
                  </a:lnTo>
                  <a:lnTo>
                    <a:pt x="0" y="213699"/>
                  </a:lnTo>
                  <a:lnTo>
                    <a:pt x="0" y="211783"/>
                  </a:lnTo>
                  <a:lnTo>
                    <a:pt x="1955" y="209359"/>
                  </a:lnTo>
                  <a:lnTo>
                    <a:pt x="4360" y="206955"/>
                  </a:lnTo>
                  <a:lnTo>
                    <a:pt x="6784" y="206955"/>
                  </a:lnTo>
                  <a:lnTo>
                    <a:pt x="9209" y="206955"/>
                  </a:lnTo>
                  <a:lnTo>
                    <a:pt x="11633" y="209359"/>
                  </a:lnTo>
                  <a:lnTo>
                    <a:pt x="14058" y="211783"/>
                  </a:lnTo>
                  <a:lnTo>
                    <a:pt x="14058" y="213699"/>
                  </a:lnTo>
                  <a:close/>
                </a:path>
              </a:pathLst>
            </a:custGeom>
            <a:ln w="3175">
              <a:solidFill>
                <a:srgbClr val="000000"/>
              </a:solidFill>
            </a:ln>
          </p:spPr>
          <p:txBody>
            <a:bodyPr wrap="square" lIns="0" tIns="0" rIns="0" bIns="0" rtlCol="0"/>
            <a:lstStyle/>
            <a:p/>
          </p:txBody>
        </p:sp>
        <p:sp>
          <p:nvSpPr>
            <p:cNvPr id="41" name="object 41" descr=""/>
            <p:cNvSpPr/>
            <p:nvPr/>
          </p:nvSpPr>
          <p:spPr>
            <a:xfrm>
              <a:off x="6487147" y="3599509"/>
              <a:ext cx="15240" cy="265430"/>
            </a:xfrm>
            <a:custGeom>
              <a:avLst/>
              <a:gdLst/>
              <a:ahLst/>
              <a:cxnLst/>
              <a:rect l="l" t="t" r="r" b="b"/>
              <a:pathLst>
                <a:path w="15239" h="265429">
                  <a:moveTo>
                    <a:pt x="9776" y="0"/>
                  </a:moveTo>
                  <a:lnTo>
                    <a:pt x="4888" y="0"/>
                  </a:lnTo>
                  <a:lnTo>
                    <a:pt x="2541" y="2541"/>
                  </a:lnTo>
                  <a:lnTo>
                    <a:pt x="0" y="4887"/>
                  </a:lnTo>
                  <a:lnTo>
                    <a:pt x="0" y="54148"/>
                  </a:lnTo>
                  <a:lnTo>
                    <a:pt x="2541" y="56474"/>
                  </a:lnTo>
                  <a:lnTo>
                    <a:pt x="4888" y="58898"/>
                  </a:lnTo>
                  <a:lnTo>
                    <a:pt x="9776" y="58898"/>
                  </a:lnTo>
                  <a:lnTo>
                    <a:pt x="12122" y="56474"/>
                  </a:lnTo>
                  <a:lnTo>
                    <a:pt x="14664" y="54148"/>
                  </a:lnTo>
                  <a:lnTo>
                    <a:pt x="14664" y="4887"/>
                  </a:lnTo>
                  <a:lnTo>
                    <a:pt x="12122" y="2541"/>
                  </a:lnTo>
                  <a:lnTo>
                    <a:pt x="9776" y="0"/>
                  </a:lnTo>
                  <a:close/>
                </a:path>
                <a:path w="15239" h="265429">
                  <a:moveTo>
                    <a:pt x="9776" y="103741"/>
                  </a:moveTo>
                  <a:lnTo>
                    <a:pt x="4888" y="103741"/>
                  </a:lnTo>
                  <a:lnTo>
                    <a:pt x="2541" y="105676"/>
                  </a:lnTo>
                  <a:lnTo>
                    <a:pt x="0" y="108081"/>
                  </a:lnTo>
                  <a:lnTo>
                    <a:pt x="0" y="157753"/>
                  </a:lnTo>
                  <a:lnTo>
                    <a:pt x="2541" y="159688"/>
                  </a:lnTo>
                  <a:lnTo>
                    <a:pt x="4888" y="162112"/>
                  </a:lnTo>
                  <a:lnTo>
                    <a:pt x="9776" y="162112"/>
                  </a:lnTo>
                  <a:lnTo>
                    <a:pt x="12122" y="159688"/>
                  </a:lnTo>
                  <a:lnTo>
                    <a:pt x="14664" y="157753"/>
                  </a:lnTo>
                  <a:lnTo>
                    <a:pt x="14664" y="108081"/>
                  </a:lnTo>
                  <a:lnTo>
                    <a:pt x="12122" y="105676"/>
                  </a:lnTo>
                  <a:lnTo>
                    <a:pt x="9776" y="103741"/>
                  </a:lnTo>
                  <a:close/>
                </a:path>
                <a:path w="15239" h="265429">
                  <a:moveTo>
                    <a:pt x="9776" y="263390"/>
                  </a:moveTo>
                  <a:lnTo>
                    <a:pt x="4888" y="263390"/>
                  </a:lnTo>
                  <a:lnTo>
                    <a:pt x="7429" y="265306"/>
                  </a:lnTo>
                  <a:lnTo>
                    <a:pt x="9776" y="263390"/>
                  </a:lnTo>
                  <a:close/>
                </a:path>
                <a:path w="15239" h="265429">
                  <a:moveTo>
                    <a:pt x="9776" y="206955"/>
                  </a:moveTo>
                  <a:lnTo>
                    <a:pt x="4888" y="206955"/>
                  </a:lnTo>
                  <a:lnTo>
                    <a:pt x="2541" y="209359"/>
                  </a:lnTo>
                  <a:lnTo>
                    <a:pt x="0" y="211783"/>
                  </a:lnTo>
                  <a:lnTo>
                    <a:pt x="0" y="260966"/>
                  </a:lnTo>
                  <a:lnTo>
                    <a:pt x="2541" y="263390"/>
                  </a:lnTo>
                  <a:lnTo>
                    <a:pt x="12122" y="263390"/>
                  </a:lnTo>
                  <a:lnTo>
                    <a:pt x="14664" y="260966"/>
                  </a:lnTo>
                  <a:lnTo>
                    <a:pt x="14664" y="211783"/>
                  </a:lnTo>
                  <a:lnTo>
                    <a:pt x="12122" y="209359"/>
                  </a:lnTo>
                  <a:lnTo>
                    <a:pt x="9776" y="206955"/>
                  </a:lnTo>
                  <a:close/>
                </a:path>
              </a:pathLst>
            </a:custGeom>
            <a:solidFill>
              <a:srgbClr val="000000"/>
            </a:solidFill>
          </p:spPr>
          <p:txBody>
            <a:bodyPr wrap="square" lIns="0" tIns="0" rIns="0" bIns="0" rtlCol="0"/>
            <a:lstStyle/>
            <a:p/>
          </p:txBody>
        </p:sp>
        <p:sp>
          <p:nvSpPr>
            <p:cNvPr id="42" name="object 42" descr=""/>
            <p:cNvSpPr/>
            <p:nvPr/>
          </p:nvSpPr>
          <p:spPr>
            <a:xfrm>
              <a:off x="6487147" y="3599509"/>
              <a:ext cx="15240" cy="265430"/>
            </a:xfrm>
            <a:custGeom>
              <a:avLst/>
              <a:gdLst/>
              <a:ahLst/>
              <a:cxnLst/>
              <a:rect l="l" t="t" r="r" b="b"/>
              <a:pathLst>
                <a:path w="15239" h="265429">
                  <a:moveTo>
                    <a:pt x="14664" y="7232"/>
                  </a:moveTo>
                  <a:lnTo>
                    <a:pt x="14664" y="51606"/>
                  </a:lnTo>
                  <a:lnTo>
                    <a:pt x="14664" y="54148"/>
                  </a:lnTo>
                  <a:lnTo>
                    <a:pt x="12122" y="56474"/>
                  </a:lnTo>
                  <a:lnTo>
                    <a:pt x="9776" y="58898"/>
                  </a:lnTo>
                  <a:lnTo>
                    <a:pt x="7429" y="58898"/>
                  </a:lnTo>
                  <a:lnTo>
                    <a:pt x="4888" y="58898"/>
                  </a:lnTo>
                  <a:lnTo>
                    <a:pt x="2541" y="56474"/>
                  </a:lnTo>
                  <a:lnTo>
                    <a:pt x="0" y="54148"/>
                  </a:lnTo>
                  <a:lnTo>
                    <a:pt x="0" y="51606"/>
                  </a:lnTo>
                  <a:lnTo>
                    <a:pt x="0" y="7232"/>
                  </a:lnTo>
                  <a:lnTo>
                    <a:pt x="0" y="4887"/>
                  </a:lnTo>
                  <a:lnTo>
                    <a:pt x="2541" y="2541"/>
                  </a:lnTo>
                  <a:lnTo>
                    <a:pt x="4888" y="0"/>
                  </a:lnTo>
                  <a:lnTo>
                    <a:pt x="7429" y="0"/>
                  </a:lnTo>
                  <a:lnTo>
                    <a:pt x="9776" y="0"/>
                  </a:lnTo>
                  <a:lnTo>
                    <a:pt x="12122" y="2541"/>
                  </a:lnTo>
                  <a:lnTo>
                    <a:pt x="14664" y="4887"/>
                  </a:lnTo>
                  <a:lnTo>
                    <a:pt x="14664" y="7232"/>
                  </a:lnTo>
                  <a:close/>
                </a:path>
                <a:path w="15239" h="265429">
                  <a:moveTo>
                    <a:pt x="14664" y="110505"/>
                  </a:moveTo>
                  <a:lnTo>
                    <a:pt x="14664" y="155348"/>
                  </a:lnTo>
                  <a:lnTo>
                    <a:pt x="14664" y="157753"/>
                  </a:lnTo>
                  <a:lnTo>
                    <a:pt x="12122" y="159688"/>
                  </a:lnTo>
                  <a:lnTo>
                    <a:pt x="9776" y="162112"/>
                  </a:lnTo>
                  <a:lnTo>
                    <a:pt x="7429" y="162112"/>
                  </a:lnTo>
                  <a:lnTo>
                    <a:pt x="4888" y="162112"/>
                  </a:lnTo>
                  <a:lnTo>
                    <a:pt x="2541" y="159688"/>
                  </a:lnTo>
                  <a:lnTo>
                    <a:pt x="0" y="157753"/>
                  </a:lnTo>
                  <a:lnTo>
                    <a:pt x="0" y="155348"/>
                  </a:lnTo>
                  <a:lnTo>
                    <a:pt x="0" y="110505"/>
                  </a:lnTo>
                  <a:lnTo>
                    <a:pt x="0" y="108081"/>
                  </a:lnTo>
                  <a:lnTo>
                    <a:pt x="2541" y="105676"/>
                  </a:lnTo>
                  <a:lnTo>
                    <a:pt x="4888" y="103741"/>
                  </a:lnTo>
                  <a:lnTo>
                    <a:pt x="7429" y="103741"/>
                  </a:lnTo>
                  <a:lnTo>
                    <a:pt x="9776" y="103741"/>
                  </a:lnTo>
                  <a:lnTo>
                    <a:pt x="12122" y="105676"/>
                  </a:lnTo>
                  <a:lnTo>
                    <a:pt x="14664" y="108081"/>
                  </a:lnTo>
                  <a:lnTo>
                    <a:pt x="14664" y="110505"/>
                  </a:lnTo>
                  <a:close/>
                </a:path>
                <a:path w="15239" h="265429">
                  <a:moveTo>
                    <a:pt x="14664" y="213699"/>
                  </a:moveTo>
                  <a:lnTo>
                    <a:pt x="14664" y="256158"/>
                  </a:lnTo>
                  <a:lnTo>
                    <a:pt x="14664" y="260966"/>
                  </a:lnTo>
                  <a:lnTo>
                    <a:pt x="12122" y="263390"/>
                  </a:lnTo>
                  <a:lnTo>
                    <a:pt x="9776" y="263390"/>
                  </a:lnTo>
                  <a:lnTo>
                    <a:pt x="7429" y="265306"/>
                  </a:lnTo>
                  <a:lnTo>
                    <a:pt x="4888" y="263390"/>
                  </a:lnTo>
                  <a:lnTo>
                    <a:pt x="2541" y="263390"/>
                  </a:lnTo>
                  <a:lnTo>
                    <a:pt x="0" y="260966"/>
                  </a:lnTo>
                  <a:lnTo>
                    <a:pt x="0" y="256158"/>
                  </a:lnTo>
                  <a:lnTo>
                    <a:pt x="0" y="213699"/>
                  </a:lnTo>
                  <a:lnTo>
                    <a:pt x="0" y="211783"/>
                  </a:lnTo>
                  <a:lnTo>
                    <a:pt x="2541" y="209359"/>
                  </a:lnTo>
                  <a:lnTo>
                    <a:pt x="4888" y="206955"/>
                  </a:lnTo>
                  <a:lnTo>
                    <a:pt x="7429" y="206955"/>
                  </a:lnTo>
                  <a:lnTo>
                    <a:pt x="9776" y="206955"/>
                  </a:lnTo>
                  <a:lnTo>
                    <a:pt x="12122" y="209359"/>
                  </a:lnTo>
                  <a:lnTo>
                    <a:pt x="14664" y="211783"/>
                  </a:lnTo>
                  <a:lnTo>
                    <a:pt x="14664" y="213699"/>
                  </a:lnTo>
                  <a:close/>
                </a:path>
              </a:pathLst>
            </a:custGeom>
            <a:ln w="3175">
              <a:solidFill>
                <a:srgbClr val="000000"/>
              </a:solidFill>
            </a:ln>
          </p:spPr>
          <p:txBody>
            <a:bodyPr wrap="square" lIns="0" tIns="0" rIns="0" bIns="0" rtlCol="0"/>
            <a:lstStyle/>
            <a:p/>
          </p:txBody>
        </p:sp>
        <p:sp>
          <p:nvSpPr>
            <p:cNvPr id="43" name="object 43" descr=""/>
            <p:cNvSpPr/>
            <p:nvPr/>
          </p:nvSpPr>
          <p:spPr>
            <a:xfrm>
              <a:off x="7698989" y="3599509"/>
              <a:ext cx="14604" cy="265430"/>
            </a:xfrm>
            <a:custGeom>
              <a:avLst/>
              <a:gdLst/>
              <a:ahLst/>
              <a:cxnLst/>
              <a:rect l="l" t="t" r="r" b="b"/>
              <a:pathLst>
                <a:path w="14604" h="265429">
                  <a:moveTo>
                    <a:pt x="9580" y="0"/>
                  </a:moveTo>
                  <a:lnTo>
                    <a:pt x="4888" y="0"/>
                  </a:lnTo>
                  <a:lnTo>
                    <a:pt x="0" y="4887"/>
                  </a:lnTo>
                  <a:lnTo>
                    <a:pt x="0" y="54148"/>
                  </a:lnTo>
                  <a:lnTo>
                    <a:pt x="2346" y="56474"/>
                  </a:lnTo>
                  <a:lnTo>
                    <a:pt x="4888" y="58898"/>
                  </a:lnTo>
                  <a:lnTo>
                    <a:pt x="9580" y="58898"/>
                  </a:lnTo>
                  <a:lnTo>
                    <a:pt x="12122" y="56474"/>
                  </a:lnTo>
                  <a:lnTo>
                    <a:pt x="14077" y="54148"/>
                  </a:lnTo>
                  <a:lnTo>
                    <a:pt x="14077" y="4887"/>
                  </a:lnTo>
                  <a:lnTo>
                    <a:pt x="12122" y="2541"/>
                  </a:lnTo>
                  <a:lnTo>
                    <a:pt x="9580" y="0"/>
                  </a:lnTo>
                  <a:close/>
                </a:path>
                <a:path w="14604" h="265429">
                  <a:moveTo>
                    <a:pt x="9580" y="103741"/>
                  </a:moveTo>
                  <a:lnTo>
                    <a:pt x="4888" y="103741"/>
                  </a:lnTo>
                  <a:lnTo>
                    <a:pt x="2346" y="105676"/>
                  </a:lnTo>
                  <a:lnTo>
                    <a:pt x="0" y="108081"/>
                  </a:lnTo>
                  <a:lnTo>
                    <a:pt x="0" y="157753"/>
                  </a:lnTo>
                  <a:lnTo>
                    <a:pt x="2346" y="159688"/>
                  </a:lnTo>
                  <a:lnTo>
                    <a:pt x="4888" y="162112"/>
                  </a:lnTo>
                  <a:lnTo>
                    <a:pt x="9580" y="162112"/>
                  </a:lnTo>
                  <a:lnTo>
                    <a:pt x="12122" y="159688"/>
                  </a:lnTo>
                  <a:lnTo>
                    <a:pt x="14077" y="157753"/>
                  </a:lnTo>
                  <a:lnTo>
                    <a:pt x="14077" y="108081"/>
                  </a:lnTo>
                  <a:lnTo>
                    <a:pt x="12122" y="105676"/>
                  </a:lnTo>
                  <a:lnTo>
                    <a:pt x="9580" y="103741"/>
                  </a:lnTo>
                  <a:close/>
                </a:path>
                <a:path w="14604" h="265429">
                  <a:moveTo>
                    <a:pt x="9580" y="263390"/>
                  </a:moveTo>
                  <a:lnTo>
                    <a:pt x="4888" y="263390"/>
                  </a:lnTo>
                  <a:lnTo>
                    <a:pt x="7234" y="265306"/>
                  </a:lnTo>
                  <a:lnTo>
                    <a:pt x="9580" y="263390"/>
                  </a:lnTo>
                  <a:close/>
                </a:path>
                <a:path w="14604" h="265429">
                  <a:moveTo>
                    <a:pt x="9580" y="206955"/>
                  </a:moveTo>
                  <a:lnTo>
                    <a:pt x="4888" y="206955"/>
                  </a:lnTo>
                  <a:lnTo>
                    <a:pt x="2346" y="209359"/>
                  </a:lnTo>
                  <a:lnTo>
                    <a:pt x="0" y="211783"/>
                  </a:lnTo>
                  <a:lnTo>
                    <a:pt x="0" y="260966"/>
                  </a:lnTo>
                  <a:lnTo>
                    <a:pt x="2346" y="263390"/>
                  </a:lnTo>
                  <a:lnTo>
                    <a:pt x="12122" y="263390"/>
                  </a:lnTo>
                  <a:lnTo>
                    <a:pt x="14077" y="260966"/>
                  </a:lnTo>
                  <a:lnTo>
                    <a:pt x="14077" y="211783"/>
                  </a:lnTo>
                  <a:lnTo>
                    <a:pt x="12122" y="209359"/>
                  </a:lnTo>
                  <a:lnTo>
                    <a:pt x="9580" y="206955"/>
                  </a:lnTo>
                  <a:close/>
                </a:path>
              </a:pathLst>
            </a:custGeom>
            <a:solidFill>
              <a:srgbClr val="000000"/>
            </a:solidFill>
          </p:spPr>
          <p:txBody>
            <a:bodyPr wrap="square" lIns="0" tIns="0" rIns="0" bIns="0" rtlCol="0"/>
            <a:lstStyle/>
            <a:p/>
          </p:txBody>
        </p:sp>
        <p:sp>
          <p:nvSpPr>
            <p:cNvPr id="44" name="object 44" descr=""/>
            <p:cNvSpPr/>
            <p:nvPr/>
          </p:nvSpPr>
          <p:spPr>
            <a:xfrm>
              <a:off x="7698989" y="3599509"/>
              <a:ext cx="14604" cy="265430"/>
            </a:xfrm>
            <a:custGeom>
              <a:avLst/>
              <a:gdLst/>
              <a:ahLst/>
              <a:cxnLst/>
              <a:rect l="l" t="t" r="r" b="b"/>
              <a:pathLst>
                <a:path w="14604" h="265429">
                  <a:moveTo>
                    <a:pt x="14077" y="7232"/>
                  </a:moveTo>
                  <a:lnTo>
                    <a:pt x="14077" y="51606"/>
                  </a:lnTo>
                  <a:lnTo>
                    <a:pt x="14077" y="54148"/>
                  </a:lnTo>
                  <a:lnTo>
                    <a:pt x="12122" y="56474"/>
                  </a:lnTo>
                  <a:lnTo>
                    <a:pt x="9580" y="58898"/>
                  </a:lnTo>
                  <a:lnTo>
                    <a:pt x="7234" y="58898"/>
                  </a:lnTo>
                  <a:lnTo>
                    <a:pt x="4888" y="58898"/>
                  </a:lnTo>
                  <a:lnTo>
                    <a:pt x="0" y="7232"/>
                  </a:lnTo>
                  <a:lnTo>
                    <a:pt x="0" y="4887"/>
                  </a:lnTo>
                  <a:lnTo>
                    <a:pt x="2346" y="2541"/>
                  </a:lnTo>
                  <a:lnTo>
                    <a:pt x="4888" y="0"/>
                  </a:lnTo>
                  <a:lnTo>
                    <a:pt x="7234" y="0"/>
                  </a:lnTo>
                  <a:lnTo>
                    <a:pt x="9580" y="0"/>
                  </a:lnTo>
                  <a:lnTo>
                    <a:pt x="12122" y="2541"/>
                  </a:lnTo>
                  <a:lnTo>
                    <a:pt x="14077" y="4887"/>
                  </a:lnTo>
                  <a:lnTo>
                    <a:pt x="14077" y="7232"/>
                  </a:lnTo>
                  <a:close/>
                </a:path>
                <a:path w="14604" h="265429">
                  <a:moveTo>
                    <a:pt x="14077" y="110505"/>
                  </a:moveTo>
                  <a:lnTo>
                    <a:pt x="14077" y="155348"/>
                  </a:lnTo>
                  <a:lnTo>
                    <a:pt x="14077" y="157753"/>
                  </a:lnTo>
                  <a:lnTo>
                    <a:pt x="12122" y="159688"/>
                  </a:lnTo>
                  <a:lnTo>
                    <a:pt x="9580" y="162112"/>
                  </a:lnTo>
                  <a:lnTo>
                    <a:pt x="7234" y="162112"/>
                  </a:lnTo>
                  <a:lnTo>
                    <a:pt x="4888" y="162112"/>
                  </a:lnTo>
                  <a:lnTo>
                    <a:pt x="2346" y="159688"/>
                  </a:lnTo>
                  <a:lnTo>
                    <a:pt x="0" y="157753"/>
                  </a:lnTo>
                  <a:lnTo>
                    <a:pt x="0" y="155348"/>
                  </a:lnTo>
                  <a:lnTo>
                    <a:pt x="0" y="110505"/>
                  </a:lnTo>
                  <a:lnTo>
                    <a:pt x="0" y="108081"/>
                  </a:lnTo>
                  <a:lnTo>
                    <a:pt x="2346" y="105676"/>
                  </a:lnTo>
                  <a:lnTo>
                    <a:pt x="4888" y="103741"/>
                  </a:lnTo>
                  <a:lnTo>
                    <a:pt x="7234" y="103741"/>
                  </a:lnTo>
                  <a:lnTo>
                    <a:pt x="9580" y="103741"/>
                  </a:lnTo>
                  <a:lnTo>
                    <a:pt x="12122" y="105676"/>
                  </a:lnTo>
                  <a:lnTo>
                    <a:pt x="14077" y="108081"/>
                  </a:lnTo>
                  <a:lnTo>
                    <a:pt x="14077" y="110505"/>
                  </a:lnTo>
                  <a:close/>
                </a:path>
                <a:path w="14604" h="265429">
                  <a:moveTo>
                    <a:pt x="14077" y="213699"/>
                  </a:moveTo>
                  <a:lnTo>
                    <a:pt x="14077" y="256158"/>
                  </a:lnTo>
                  <a:lnTo>
                    <a:pt x="14077" y="260966"/>
                  </a:lnTo>
                  <a:lnTo>
                    <a:pt x="12122" y="263390"/>
                  </a:lnTo>
                  <a:lnTo>
                    <a:pt x="9580" y="263390"/>
                  </a:lnTo>
                  <a:lnTo>
                    <a:pt x="7234" y="265306"/>
                  </a:lnTo>
                  <a:lnTo>
                    <a:pt x="4888" y="263390"/>
                  </a:lnTo>
                  <a:lnTo>
                    <a:pt x="2346" y="263390"/>
                  </a:lnTo>
                  <a:lnTo>
                    <a:pt x="0" y="260966"/>
                  </a:lnTo>
                  <a:lnTo>
                    <a:pt x="0" y="256158"/>
                  </a:lnTo>
                  <a:lnTo>
                    <a:pt x="0" y="213699"/>
                  </a:lnTo>
                  <a:lnTo>
                    <a:pt x="0" y="211783"/>
                  </a:lnTo>
                  <a:lnTo>
                    <a:pt x="2346" y="209359"/>
                  </a:lnTo>
                  <a:lnTo>
                    <a:pt x="4888" y="206955"/>
                  </a:lnTo>
                  <a:lnTo>
                    <a:pt x="7234" y="206955"/>
                  </a:lnTo>
                  <a:lnTo>
                    <a:pt x="9580" y="206955"/>
                  </a:lnTo>
                  <a:lnTo>
                    <a:pt x="12122" y="209359"/>
                  </a:lnTo>
                  <a:lnTo>
                    <a:pt x="14077" y="211783"/>
                  </a:lnTo>
                  <a:lnTo>
                    <a:pt x="14077" y="213699"/>
                  </a:lnTo>
                  <a:close/>
                </a:path>
              </a:pathLst>
            </a:custGeom>
            <a:ln w="3175">
              <a:solidFill>
                <a:srgbClr val="000000"/>
              </a:solidFill>
            </a:ln>
          </p:spPr>
          <p:txBody>
            <a:bodyPr wrap="square" lIns="0" tIns="0" rIns="0" bIns="0" rtlCol="0"/>
            <a:lstStyle/>
            <a:p/>
          </p:txBody>
        </p:sp>
        <p:sp>
          <p:nvSpPr>
            <p:cNvPr id="45" name="object 45" descr=""/>
            <p:cNvSpPr/>
            <p:nvPr/>
          </p:nvSpPr>
          <p:spPr>
            <a:xfrm>
              <a:off x="3840450" y="3484371"/>
              <a:ext cx="5055870" cy="1363980"/>
            </a:xfrm>
            <a:custGeom>
              <a:avLst/>
              <a:gdLst/>
              <a:ahLst/>
              <a:cxnLst/>
              <a:rect l="l" t="t" r="r" b="b"/>
              <a:pathLst>
                <a:path w="5055870" h="1363979">
                  <a:moveTo>
                    <a:pt x="2611502" y="89139"/>
                  </a:moveTo>
                  <a:lnTo>
                    <a:pt x="2608960" y="84252"/>
                  </a:lnTo>
                  <a:lnTo>
                    <a:pt x="2608960" y="79560"/>
                  </a:lnTo>
                  <a:lnTo>
                    <a:pt x="2606614" y="77019"/>
                  </a:lnTo>
                  <a:lnTo>
                    <a:pt x="2601726" y="72718"/>
                  </a:lnTo>
                  <a:lnTo>
                    <a:pt x="2599380" y="67831"/>
                  </a:lnTo>
                  <a:lnTo>
                    <a:pt x="2594883" y="63140"/>
                  </a:lnTo>
                  <a:lnTo>
                    <a:pt x="2587648" y="60599"/>
                  </a:lnTo>
                  <a:lnTo>
                    <a:pt x="2582760" y="58253"/>
                  </a:lnTo>
                  <a:lnTo>
                    <a:pt x="2576113" y="53952"/>
                  </a:lnTo>
                  <a:lnTo>
                    <a:pt x="2568878" y="51606"/>
                  </a:lnTo>
                  <a:lnTo>
                    <a:pt x="2552259" y="46719"/>
                  </a:lnTo>
                  <a:lnTo>
                    <a:pt x="2533880" y="44374"/>
                  </a:lnTo>
                  <a:lnTo>
                    <a:pt x="2515110" y="44374"/>
                  </a:lnTo>
                  <a:lnTo>
                    <a:pt x="2129932" y="44374"/>
                  </a:lnTo>
                  <a:lnTo>
                    <a:pt x="2111162" y="44374"/>
                  </a:lnTo>
                  <a:lnTo>
                    <a:pt x="2092197" y="39487"/>
                  </a:lnTo>
                  <a:lnTo>
                    <a:pt x="2078119" y="37532"/>
                  </a:lnTo>
                  <a:lnTo>
                    <a:pt x="2068930" y="32645"/>
                  </a:lnTo>
                  <a:lnTo>
                    <a:pt x="2064237" y="30299"/>
                  </a:lnTo>
                  <a:lnTo>
                    <a:pt x="2056807" y="27953"/>
                  </a:lnTo>
                  <a:lnTo>
                    <a:pt x="2052506" y="23066"/>
                  </a:lnTo>
                  <a:lnTo>
                    <a:pt x="2045272" y="21111"/>
                  </a:lnTo>
                  <a:lnTo>
                    <a:pt x="2042925" y="16420"/>
                  </a:lnTo>
                  <a:lnTo>
                    <a:pt x="2038428" y="11533"/>
                  </a:lnTo>
                  <a:lnTo>
                    <a:pt x="2036082" y="6646"/>
                  </a:lnTo>
                  <a:lnTo>
                    <a:pt x="2036082" y="4300"/>
                  </a:lnTo>
                  <a:lnTo>
                    <a:pt x="2036082" y="0"/>
                  </a:lnTo>
                  <a:lnTo>
                    <a:pt x="2033540" y="4300"/>
                  </a:lnTo>
                  <a:lnTo>
                    <a:pt x="2033540" y="6646"/>
                  </a:lnTo>
                  <a:lnTo>
                    <a:pt x="2031194" y="11533"/>
                  </a:lnTo>
                  <a:lnTo>
                    <a:pt x="2026306" y="16420"/>
                  </a:lnTo>
                  <a:lnTo>
                    <a:pt x="2023960" y="21111"/>
                  </a:lnTo>
                  <a:lnTo>
                    <a:pt x="2019658" y="23066"/>
                  </a:lnTo>
                  <a:lnTo>
                    <a:pt x="2012229" y="27953"/>
                  </a:lnTo>
                  <a:lnTo>
                    <a:pt x="2007536" y="30299"/>
                  </a:lnTo>
                  <a:lnTo>
                    <a:pt x="2000693" y="32645"/>
                  </a:lnTo>
                  <a:lnTo>
                    <a:pt x="1993458" y="37532"/>
                  </a:lnTo>
                  <a:lnTo>
                    <a:pt x="1977035" y="39487"/>
                  </a:lnTo>
                  <a:lnTo>
                    <a:pt x="1958656" y="44374"/>
                  </a:lnTo>
                  <a:lnTo>
                    <a:pt x="1939690" y="44374"/>
                  </a:lnTo>
                  <a:lnTo>
                    <a:pt x="1554650" y="44374"/>
                  </a:lnTo>
                  <a:lnTo>
                    <a:pt x="1535762" y="44374"/>
                  </a:lnTo>
                  <a:lnTo>
                    <a:pt x="1516875" y="46719"/>
                  </a:lnTo>
                  <a:lnTo>
                    <a:pt x="1502836" y="51606"/>
                  </a:lnTo>
                  <a:lnTo>
                    <a:pt x="1493627" y="53952"/>
                  </a:lnTo>
                  <a:lnTo>
                    <a:pt x="1488778" y="58253"/>
                  </a:lnTo>
                  <a:lnTo>
                    <a:pt x="1481525" y="60599"/>
                  </a:lnTo>
                  <a:lnTo>
                    <a:pt x="1477164" y="63140"/>
                  </a:lnTo>
                  <a:lnTo>
                    <a:pt x="1469891" y="67831"/>
                  </a:lnTo>
                  <a:lnTo>
                    <a:pt x="1467467" y="72718"/>
                  </a:lnTo>
                  <a:lnTo>
                    <a:pt x="1463106" y="77019"/>
                  </a:lnTo>
                  <a:lnTo>
                    <a:pt x="1460701" y="79560"/>
                  </a:lnTo>
                  <a:lnTo>
                    <a:pt x="1460701" y="84252"/>
                  </a:lnTo>
                  <a:lnTo>
                    <a:pt x="1460701" y="89139"/>
                  </a:lnTo>
                </a:path>
                <a:path w="5055870" h="1363979">
                  <a:moveTo>
                    <a:pt x="3822758" y="89139"/>
                  </a:moveTo>
                  <a:lnTo>
                    <a:pt x="3822758" y="84252"/>
                  </a:lnTo>
                  <a:lnTo>
                    <a:pt x="3820803" y="79560"/>
                  </a:lnTo>
                  <a:lnTo>
                    <a:pt x="3818261" y="77019"/>
                  </a:lnTo>
                  <a:lnTo>
                    <a:pt x="3815914" y="72718"/>
                  </a:lnTo>
                  <a:lnTo>
                    <a:pt x="3811026" y="67831"/>
                  </a:lnTo>
                  <a:lnTo>
                    <a:pt x="3806725" y="63140"/>
                  </a:lnTo>
                  <a:lnTo>
                    <a:pt x="3799491" y="60599"/>
                  </a:lnTo>
                  <a:lnTo>
                    <a:pt x="3794603" y="58253"/>
                  </a:lnTo>
                  <a:lnTo>
                    <a:pt x="3787759" y="53952"/>
                  </a:lnTo>
                  <a:lnTo>
                    <a:pt x="3780525" y="51606"/>
                  </a:lnTo>
                  <a:lnTo>
                    <a:pt x="3764101" y="46719"/>
                  </a:lnTo>
                  <a:lnTo>
                    <a:pt x="3745136" y="44374"/>
                  </a:lnTo>
                  <a:lnTo>
                    <a:pt x="3726757" y="44374"/>
                  </a:lnTo>
                  <a:lnTo>
                    <a:pt x="3343730" y="44374"/>
                  </a:lnTo>
                  <a:lnTo>
                    <a:pt x="3322809" y="44374"/>
                  </a:lnTo>
                  <a:lnTo>
                    <a:pt x="3306385" y="39487"/>
                  </a:lnTo>
                  <a:lnTo>
                    <a:pt x="3289962" y="37532"/>
                  </a:lnTo>
                  <a:lnTo>
                    <a:pt x="3282727" y="32645"/>
                  </a:lnTo>
                  <a:lnTo>
                    <a:pt x="3275884" y="30299"/>
                  </a:lnTo>
                  <a:lnTo>
                    <a:pt x="3268650" y="27953"/>
                  </a:lnTo>
                  <a:lnTo>
                    <a:pt x="3264348" y="23066"/>
                  </a:lnTo>
                  <a:lnTo>
                    <a:pt x="3259460" y="21111"/>
                  </a:lnTo>
                  <a:lnTo>
                    <a:pt x="3254572" y="16420"/>
                  </a:lnTo>
                  <a:lnTo>
                    <a:pt x="3252226" y="11533"/>
                  </a:lnTo>
                  <a:lnTo>
                    <a:pt x="3249684" y="6646"/>
                  </a:lnTo>
                  <a:lnTo>
                    <a:pt x="3247729" y="4300"/>
                  </a:lnTo>
                  <a:lnTo>
                    <a:pt x="3247729" y="0"/>
                  </a:lnTo>
                  <a:lnTo>
                    <a:pt x="3247729" y="4300"/>
                  </a:lnTo>
                  <a:lnTo>
                    <a:pt x="3245383" y="6646"/>
                  </a:lnTo>
                  <a:lnTo>
                    <a:pt x="3243036" y="11533"/>
                  </a:lnTo>
                  <a:lnTo>
                    <a:pt x="3240495" y="16420"/>
                  </a:lnTo>
                  <a:lnTo>
                    <a:pt x="3235607" y="21111"/>
                  </a:lnTo>
                  <a:lnTo>
                    <a:pt x="3231305" y="23066"/>
                  </a:lnTo>
                  <a:lnTo>
                    <a:pt x="3224071" y="27953"/>
                  </a:lnTo>
                  <a:lnTo>
                    <a:pt x="3219183" y="30299"/>
                  </a:lnTo>
                  <a:lnTo>
                    <a:pt x="3212535" y="32645"/>
                  </a:lnTo>
                  <a:lnTo>
                    <a:pt x="3205105" y="37532"/>
                  </a:lnTo>
                  <a:lnTo>
                    <a:pt x="3188681" y="39487"/>
                  </a:lnTo>
                  <a:lnTo>
                    <a:pt x="3170302" y="44374"/>
                  </a:lnTo>
                  <a:lnTo>
                    <a:pt x="3151337" y="44374"/>
                  </a:lnTo>
                  <a:lnTo>
                    <a:pt x="2768310" y="44374"/>
                  </a:lnTo>
                  <a:lnTo>
                    <a:pt x="2747585" y="44374"/>
                  </a:lnTo>
                  <a:lnTo>
                    <a:pt x="2730966" y="46719"/>
                  </a:lnTo>
                  <a:lnTo>
                    <a:pt x="2714542" y="51606"/>
                  </a:lnTo>
                  <a:lnTo>
                    <a:pt x="2707308" y="53952"/>
                  </a:lnTo>
                  <a:lnTo>
                    <a:pt x="2700464" y="58253"/>
                  </a:lnTo>
                  <a:lnTo>
                    <a:pt x="2693230" y="60599"/>
                  </a:lnTo>
                  <a:lnTo>
                    <a:pt x="2688928" y="63140"/>
                  </a:lnTo>
                  <a:lnTo>
                    <a:pt x="2684040" y="67831"/>
                  </a:lnTo>
                  <a:lnTo>
                    <a:pt x="2679152" y="72718"/>
                  </a:lnTo>
                  <a:lnTo>
                    <a:pt x="2676806" y="77019"/>
                  </a:lnTo>
                  <a:lnTo>
                    <a:pt x="2674851" y="79560"/>
                  </a:lnTo>
                  <a:lnTo>
                    <a:pt x="2672505" y="84252"/>
                  </a:lnTo>
                  <a:lnTo>
                    <a:pt x="2672505" y="89139"/>
                  </a:lnTo>
                </a:path>
                <a:path w="5055870" h="1363979">
                  <a:moveTo>
                    <a:pt x="5055716" y="89139"/>
                  </a:moveTo>
                  <a:lnTo>
                    <a:pt x="5055716" y="84252"/>
                  </a:lnTo>
                  <a:lnTo>
                    <a:pt x="5053370" y="79560"/>
                  </a:lnTo>
                  <a:lnTo>
                    <a:pt x="5050828" y="77019"/>
                  </a:lnTo>
                  <a:lnTo>
                    <a:pt x="5048482" y="72718"/>
                  </a:lnTo>
                  <a:lnTo>
                    <a:pt x="5044181" y="67831"/>
                  </a:lnTo>
                  <a:lnTo>
                    <a:pt x="5039293" y="63140"/>
                  </a:lnTo>
                  <a:lnTo>
                    <a:pt x="5032449" y="60599"/>
                  </a:lnTo>
                  <a:lnTo>
                    <a:pt x="5027757" y="58253"/>
                  </a:lnTo>
                  <a:lnTo>
                    <a:pt x="5020327" y="53952"/>
                  </a:lnTo>
                  <a:lnTo>
                    <a:pt x="5013679" y="51606"/>
                  </a:lnTo>
                  <a:lnTo>
                    <a:pt x="4997060" y="46719"/>
                  </a:lnTo>
                  <a:lnTo>
                    <a:pt x="4978290" y="44374"/>
                  </a:lnTo>
                  <a:lnTo>
                    <a:pt x="4959324" y="44374"/>
                  </a:lnTo>
                  <a:lnTo>
                    <a:pt x="4576689" y="44374"/>
                  </a:lnTo>
                  <a:lnTo>
                    <a:pt x="4555377" y="44374"/>
                  </a:lnTo>
                  <a:lnTo>
                    <a:pt x="4538953" y="39487"/>
                  </a:lnTo>
                  <a:lnTo>
                    <a:pt x="4522529" y="37532"/>
                  </a:lnTo>
                  <a:lnTo>
                    <a:pt x="4515686" y="32645"/>
                  </a:lnTo>
                  <a:lnTo>
                    <a:pt x="4508452" y="30299"/>
                  </a:lnTo>
                  <a:lnTo>
                    <a:pt x="4501608" y="27953"/>
                  </a:lnTo>
                  <a:lnTo>
                    <a:pt x="4496916" y="23066"/>
                  </a:lnTo>
                  <a:lnTo>
                    <a:pt x="4492028" y="21111"/>
                  </a:lnTo>
                  <a:lnTo>
                    <a:pt x="4487726" y="16420"/>
                  </a:lnTo>
                  <a:lnTo>
                    <a:pt x="4485185" y="11533"/>
                  </a:lnTo>
                  <a:lnTo>
                    <a:pt x="4482838" y="6646"/>
                  </a:lnTo>
                  <a:lnTo>
                    <a:pt x="4480297" y="4300"/>
                  </a:lnTo>
                  <a:lnTo>
                    <a:pt x="4480297" y="0"/>
                  </a:lnTo>
                  <a:lnTo>
                    <a:pt x="4480297" y="4300"/>
                  </a:lnTo>
                  <a:lnTo>
                    <a:pt x="4477950" y="6646"/>
                  </a:lnTo>
                  <a:lnTo>
                    <a:pt x="4475604" y="11533"/>
                  </a:lnTo>
                  <a:lnTo>
                    <a:pt x="4473649" y="16420"/>
                  </a:lnTo>
                  <a:lnTo>
                    <a:pt x="4468761" y="21111"/>
                  </a:lnTo>
                  <a:lnTo>
                    <a:pt x="4463873" y="23066"/>
                  </a:lnTo>
                  <a:lnTo>
                    <a:pt x="4457225" y="27953"/>
                  </a:lnTo>
                  <a:lnTo>
                    <a:pt x="4452337" y="30299"/>
                  </a:lnTo>
                  <a:lnTo>
                    <a:pt x="4445103" y="32645"/>
                  </a:lnTo>
                  <a:lnTo>
                    <a:pt x="4438259" y="37532"/>
                  </a:lnTo>
                  <a:lnTo>
                    <a:pt x="4421836" y="39487"/>
                  </a:lnTo>
                  <a:lnTo>
                    <a:pt x="4402870" y="44374"/>
                  </a:lnTo>
                  <a:lnTo>
                    <a:pt x="4384100" y="44374"/>
                  </a:lnTo>
                  <a:lnTo>
                    <a:pt x="4001464" y="44374"/>
                  </a:lnTo>
                  <a:lnTo>
                    <a:pt x="3980153" y="44374"/>
                  </a:lnTo>
                  <a:lnTo>
                    <a:pt x="3963533" y="46719"/>
                  </a:lnTo>
                  <a:lnTo>
                    <a:pt x="3947109" y="51606"/>
                  </a:lnTo>
                  <a:lnTo>
                    <a:pt x="3940462" y="53952"/>
                  </a:lnTo>
                  <a:lnTo>
                    <a:pt x="3933032" y="58253"/>
                  </a:lnTo>
                  <a:lnTo>
                    <a:pt x="3926384" y="60599"/>
                  </a:lnTo>
                  <a:lnTo>
                    <a:pt x="3921496" y="63140"/>
                  </a:lnTo>
                  <a:lnTo>
                    <a:pt x="3916608" y="67831"/>
                  </a:lnTo>
                  <a:lnTo>
                    <a:pt x="3912307" y="72718"/>
                  </a:lnTo>
                  <a:lnTo>
                    <a:pt x="3909960" y="77019"/>
                  </a:lnTo>
                  <a:lnTo>
                    <a:pt x="3907419" y="79560"/>
                  </a:lnTo>
                  <a:lnTo>
                    <a:pt x="3905072" y="84252"/>
                  </a:lnTo>
                  <a:lnTo>
                    <a:pt x="3905072" y="89139"/>
                  </a:lnTo>
                </a:path>
                <a:path w="5055870" h="1363979">
                  <a:moveTo>
                    <a:pt x="21311" y="786536"/>
                  </a:moveTo>
                  <a:lnTo>
                    <a:pt x="288648" y="786536"/>
                  </a:lnTo>
                </a:path>
                <a:path w="5055870" h="1363979">
                  <a:moveTo>
                    <a:pt x="0" y="1363830"/>
                  </a:moveTo>
                  <a:lnTo>
                    <a:pt x="267825" y="1363830"/>
                  </a:lnTo>
                </a:path>
              </a:pathLst>
            </a:custGeom>
            <a:ln w="14043">
              <a:solidFill>
                <a:srgbClr val="000000"/>
              </a:solidFill>
            </a:ln>
          </p:spPr>
          <p:txBody>
            <a:bodyPr wrap="square" lIns="0" tIns="0" rIns="0" bIns="0" rtlCol="0"/>
            <a:lstStyle/>
            <a:p/>
          </p:txBody>
        </p:sp>
        <p:sp>
          <p:nvSpPr>
            <p:cNvPr id="46" name="object 46" descr=""/>
            <p:cNvSpPr/>
            <p:nvPr/>
          </p:nvSpPr>
          <p:spPr>
            <a:xfrm>
              <a:off x="4676872" y="3047862"/>
              <a:ext cx="1757045" cy="418465"/>
            </a:xfrm>
            <a:custGeom>
              <a:avLst/>
              <a:gdLst/>
              <a:ahLst/>
              <a:cxnLst/>
              <a:rect l="l" t="t" r="r" b="b"/>
              <a:pathLst>
                <a:path w="1757045" h="418464">
                  <a:moveTo>
                    <a:pt x="1667432" y="23219"/>
                  </a:moveTo>
                  <a:lnTo>
                    <a:pt x="7253" y="399367"/>
                  </a:lnTo>
                  <a:lnTo>
                    <a:pt x="4829" y="399367"/>
                  </a:lnTo>
                  <a:lnTo>
                    <a:pt x="2404" y="401713"/>
                  </a:lnTo>
                  <a:lnTo>
                    <a:pt x="0" y="406600"/>
                  </a:lnTo>
                  <a:lnTo>
                    <a:pt x="0" y="410900"/>
                  </a:lnTo>
                  <a:lnTo>
                    <a:pt x="2404" y="413246"/>
                  </a:lnTo>
                  <a:lnTo>
                    <a:pt x="4829" y="415787"/>
                  </a:lnTo>
                  <a:lnTo>
                    <a:pt x="7253" y="418133"/>
                  </a:lnTo>
                  <a:lnTo>
                    <a:pt x="11613" y="418133"/>
                  </a:lnTo>
                  <a:lnTo>
                    <a:pt x="1672267" y="42191"/>
                  </a:lnTo>
                  <a:lnTo>
                    <a:pt x="1679080" y="30885"/>
                  </a:lnTo>
                  <a:lnTo>
                    <a:pt x="1667432" y="23219"/>
                  </a:lnTo>
                  <a:close/>
                </a:path>
                <a:path w="1757045" h="418464">
                  <a:moveTo>
                    <a:pt x="1745392" y="21111"/>
                  </a:moveTo>
                  <a:lnTo>
                    <a:pt x="1681621" y="21111"/>
                  </a:lnTo>
                  <a:lnTo>
                    <a:pt x="1685923" y="23653"/>
                  </a:lnTo>
                  <a:lnTo>
                    <a:pt x="1688269" y="25998"/>
                  </a:lnTo>
                  <a:lnTo>
                    <a:pt x="1688269" y="35186"/>
                  </a:lnTo>
                  <a:lnTo>
                    <a:pt x="1685923" y="37532"/>
                  </a:lnTo>
                  <a:lnTo>
                    <a:pt x="1681621" y="40073"/>
                  </a:lnTo>
                  <a:lnTo>
                    <a:pt x="1672267" y="42191"/>
                  </a:lnTo>
                  <a:lnTo>
                    <a:pt x="1650924" y="77605"/>
                  </a:lnTo>
                  <a:lnTo>
                    <a:pt x="1745392" y="21111"/>
                  </a:lnTo>
                  <a:close/>
                </a:path>
                <a:path w="1757045" h="418464">
                  <a:moveTo>
                    <a:pt x="1681621" y="21111"/>
                  </a:moveTo>
                  <a:lnTo>
                    <a:pt x="1676733" y="21111"/>
                  </a:lnTo>
                  <a:lnTo>
                    <a:pt x="1667432" y="23219"/>
                  </a:lnTo>
                  <a:lnTo>
                    <a:pt x="1679080" y="30885"/>
                  </a:lnTo>
                  <a:lnTo>
                    <a:pt x="1672267" y="42191"/>
                  </a:lnTo>
                  <a:lnTo>
                    <a:pt x="1681621" y="40073"/>
                  </a:lnTo>
                  <a:lnTo>
                    <a:pt x="1685923" y="37532"/>
                  </a:lnTo>
                  <a:lnTo>
                    <a:pt x="1688269" y="35186"/>
                  </a:lnTo>
                  <a:lnTo>
                    <a:pt x="1688269" y="25998"/>
                  </a:lnTo>
                  <a:lnTo>
                    <a:pt x="1685923" y="23653"/>
                  </a:lnTo>
                  <a:lnTo>
                    <a:pt x="1681621" y="21111"/>
                  </a:lnTo>
                  <a:close/>
                </a:path>
                <a:path w="1757045" h="418464">
                  <a:moveTo>
                    <a:pt x="1632154" y="0"/>
                  </a:moveTo>
                  <a:lnTo>
                    <a:pt x="1667432" y="23219"/>
                  </a:lnTo>
                  <a:lnTo>
                    <a:pt x="1676733" y="21111"/>
                  </a:lnTo>
                  <a:lnTo>
                    <a:pt x="1745392" y="21111"/>
                  </a:lnTo>
                  <a:lnTo>
                    <a:pt x="1756506" y="14465"/>
                  </a:lnTo>
                  <a:lnTo>
                    <a:pt x="1632154" y="0"/>
                  </a:lnTo>
                  <a:close/>
                </a:path>
              </a:pathLst>
            </a:custGeom>
            <a:solidFill>
              <a:srgbClr val="000000"/>
            </a:solidFill>
          </p:spPr>
          <p:txBody>
            <a:bodyPr wrap="square" lIns="0" tIns="0" rIns="0" bIns="0" rtlCol="0"/>
            <a:lstStyle/>
            <a:p/>
          </p:txBody>
        </p:sp>
        <p:sp>
          <p:nvSpPr>
            <p:cNvPr id="47" name="object 47" descr=""/>
            <p:cNvSpPr/>
            <p:nvPr/>
          </p:nvSpPr>
          <p:spPr>
            <a:xfrm>
              <a:off x="4676872" y="3047862"/>
              <a:ext cx="1757045" cy="418465"/>
            </a:xfrm>
            <a:custGeom>
              <a:avLst/>
              <a:gdLst/>
              <a:ahLst/>
              <a:cxnLst/>
              <a:rect l="l" t="t" r="r" b="b"/>
              <a:pathLst>
                <a:path w="1757045" h="418464">
                  <a:moveTo>
                    <a:pt x="7253" y="399367"/>
                  </a:moveTo>
                  <a:lnTo>
                    <a:pt x="1676733" y="21111"/>
                  </a:lnTo>
                  <a:lnTo>
                    <a:pt x="1681621" y="21111"/>
                  </a:lnTo>
                  <a:lnTo>
                    <a:pt x="1685923" y="23653"/>
                  </a:lnTo>
                  <a:lnTo>
                    <a:pt x="1688269" y="25998"/>
                  </a:lnTo>
                  <a:lnTo>
                    <a:pt x="1688269" y="28344"/>
                  </a:lnTo>
                  <a:lnTo>
                    <a:pt x="1688269" y="33231"/>
                  </a:lnTo>
                  <a:lnTo>
                    <a:pt x="1688269" y="35186"/>
                  </a:lnTo>
                  <a:lnTo>
                    <a:pt x="1685923" y="37532"/>
                  </a:lnTo>
                  <a:lnTo>
                    <a:pt x="1681621" y="40073"/>
                  </a:lnTo>
                  <a:lnTo>
                    <a:pt x="11613" y="418133"/>
                  </a:lnTo>
                  <a:lnTo>
                    <a:pt x="7253" y="418133"/>
                  </a:lnTo>
                  <a:lnTo>
                    <a:pt x="4829" y="415787"/>
                  </a:lnTo>
                  <a:lnTo>
                    <a:pt x="2404" y="413246"/>
                  </a:lnTo>
                  <a:lnTo>
                    <a:pt x="0" y="410900"/>
                  </a:lnTo>
                  <a:lnTo>
                    <a:pt x="0" y="406600"/>
                  </a:lnTo>
                  <a:lnTo>
                    <a:pt x="2404" y="401713"/>
                  </a:lnTo>
                  <a:lnTo>
                    <a:pt x="4829" y="399367"/>
                  </a:lnTo>
                  <a:lnTo>
                    <a:pt x="7253" y="399367"/>
                  </a:lnTo>
                  <a:close/>
                </a:path>
                <a:path w="1757045" h="418464">
                  <a:moveTo>
                    <a:pt x="1679080" y="30885"/>
                  </a:moveTo>
                  <a:lnTo>
                    <a:pt x="1632154" y="0"/>
                  </a:lnTo>
                  <a:lnTo>
                    <a:pt x="1756506" y="14465"/>
                  </a:lnTo>
                  <a:lnTo>
                    <a:pt x="1650924" y="77605"/>
                  </a:lnTo>
                  <a:lnTo>
                    <a:pt x="1679080" y="30885"/>
                  </a:lnTo>
                  <a:close/>
                </a:path>
              </a:pathLst>
            </a:custGeom>
            <a:ln w="3175">
              <a:solidFill>
                <a:srgbClr val="000000"/>
              </a:solidFill>
            </a:ln>
          </p:spPr>
          <p:txBody>
            <a:bodyPr wrap="square" lIns="0" tIns="0" rIns="0" bIns="0" rtlCol="0"/>
            <a:lstStyle/>
            <a:p/>
          </p:txBody>
        </p:sp>
        <p:sp>
          <p:nvSpPr>
            <p:cNvPr id="48" name="object 48" descr=""/>
            <p:cNvSpPr/>
            <p:nvPr/>
          </p:nvSpPr>
          <p:spPr>
            <a:xfrm>
              <a:off x="5867343" y="3123122"/>
              <a:ext cx="627380" cy="373380"/>
            </a:xfrm>
            <a:custGeom>
              <a:avLst/>
              <a:gdLst/>
              <a:ahLst/>
              <a:cxnLst/>
              <a:rect l="l" t="t" r="r" b="b"/>
              <a:pathLst>
                <a:path w="627379" h="373379">
                  <a:moveTo>
                    <a:pt x="544723" y="36064"/>
                  </a:moveTo>
                  <a:lnTo>
                    <a:pt x="4888" y="354406"/>
                  </a:lnTo>
                  <a:lnTo>
                    <a:pt x="2346" y="356752"/>
                  </a:lnTo>
                  <a:lnTo>
                    <a:pt x="2346" y="361639"/>
                  </a:lnTo>
                  <a:lnTo>
                    <a:pt x="0" y="363985"/>
                  </a:lnTo>
                  <a:lnTo>
                    <a:pt x="2346" y="368481"/>
                  </a:lnTo>
                  <a:lnTo>
                    <a:pt x="4888" y="370827"/>
                  </a:lnTo>
                  <a:lnTo>
                    <a:pt x="9580" y="373172"/>
                  </a:lnTo>
                  <a:lnTo>
                    <a:pt x="12122" y="373172"/>
                  </a:lnTo>
                  <a:lnTo>
                    <a:pt x="16423" y="370827"/>
                  </a:lnTo>
                  <a:lnTo>
                    <a:pt x="555507" y="51950"/>
                  </a:lnTo>
                  <a:lnTo>
                    <a:pt x="558800" y="39878"/>
                  </a:lnTo>
                  <a:lnTo>
                    <a:pt x="544723" y="36064"/>
                  </a:lnTo>
                  <a:close/>
                </a:path>
                <a:path w="627379" h="373379">
                  <a:moveTo>
                    <a:pt x="601668" y="28344"/>
                  </a:moveTo>
                  <a:lnTo>
                    <a:pt x="561342" y="28344"/>
                  </a:lnTo>
                  <a:lnTo>
                    <a:pt x="566034" y="30299"/>
                  </a:lnTo>
                  <a:lnTo>
                    <a:pt x="568576" y="32645"/>
                  </a:lnTo>
                  <a:lnTo>
                    <a:pt x="570922" y="37532"/>
                  </a:lnTo>
                  <a:lnTo>
                    <a:pt x="568576" y="42419"/>
                  </a:lnTo>
                  <a:lnTo>
                    <a:pt x="568576" y="44765"/>
                  </a:lnTo>
                  <a:lnTo>
                    <a:pt x="563688" y="47110"/>
                  </a:lnTo>
                  <a:lnTo>
                    <a:pt x="555507" y="51950"/>
                  </a:lnTo>
                  <a:lnTo>
                    <a:pt x="544722" y="91485"/>
                  </a:lnTo>
                  <a:lnTo>
                    <a:pt x="601668" y="28344"/>
                  </a:lnTo>
                  <a:close/>
                </a:path>
                <a:path w="627379" h="373379">
                  <a:moveTo>
                    <a:pt x="561342" y="28344"/>
                  </a:moveTo>
                  <a:lnTo>
                    <a:pt x="558800" y="28344"/>
                  </a:lnTo>
                  <a:lnTo>
                    <a:pt x="554498" y="30299"/>
                  </a:lnTo>
                  <a:lnTo>
                    <a:pt x="544723" y="36064"/>
                  </a:lnTo>
                  <a:lnTo>
                    <a:pt x="558800" y="39878"/>
                  </a:lnTo>
                  <a:lnTo>
                    <a:pt x="555507" y="51950"/>
                  </a:lnTo>
                  <a:lnTo>
                    <a:pt x="563688" y="47110"/>
                  </a:lnTo>
                  <a:lnTo>
                    <a:pt x="568576" y="44765"/>
                  </a:lnTo>
                  <a:lnTo>
                    <a:pt x="568576" y="42419"/>
                  </a:lnTo>
                  <a:lnTo>
                    <a:pt x="570922" y="37532"/>
                  </a:lnTo>
                  <a:lnTo>
                    <a:pt x="568576" y="32645"/>
                  </a:lnTo>
                  <a:lnTo>
                    <a:pt x="566034" y="30299"/>
                  </a:lnTo>
                  <a:lnTo>
                    <a:pt x="561342" y="28344"/>
                  </a:lnTo>
                  <a:close/>
                </a:path>
                <a:path w="627379" h="373379">
                  <a:moveTo>
                    <a:pt x="627232" y="0"/>
                  </a:moveTo>
                  <a:lnTo>
                    <a:pt x="507573" y="25998"/>
                  </a:lnTo>
                  <a:lnTo>
                    <a:pt x="544723" y="36064"/>
                  </a:lnTo>
                  <a:lnTo>
                    <a:pt x="554498" y="30299"/>
                  </a:lnTo>
                  <a:lnTo>
                    <a:pt x="558800" y="28344"/>
                  </a:lnTo>
                  <a:lnTo>
                    <a:pt x="601668" y="28344"/>
                  </a:lnTo>
                  <a:lnTo>
                    <a:pt x="627232" y="0"/>
                  </a:lnTo>
                  <a:close/>
                </a:path>
              </a:pathLst>
            </a:custGeom>
            <a:solidFill>
              <a:srgbClr val="000000"/>
            </a:solidFill>
          </p:spPr>
          <p:txBody>
            <a:bodyPr wrap="square" lIns="0" tIns="0" rIns="0" bIns="0" rtlCol="0"/>
            <a:lstStyle/>
            <a:p/>
          </p:txBody>
        </p:sp>
        <p:sp>
          <p:nvSpPr>
            <p:cNvPr id="49" name="object 49" descr=""/>
            <p:cNvSpPr/>
            <p:nvPr/>
          </p:nvSpPr>
          <p:spPr>
            <a:xfrm>
              <a:off x="5867343" y="3123122"/>
              <a:ext cx="627380" cy="373380"/>
            </a:xfrm>
            <a:custGeom>
              <a:avLst/>
              <a:gdLst/>
              <a:ahLst/>
              <a:cxnLst/>
              <a:rect l="l" t="t" r="r" b="b"/>
              <a:pathLst>
                <a:path w="627379" h="373379">
                  <a:moveTo>
                    <a:pt x="4888" y="354406"/>
                  </a:moveTo>
                  <a:lnTo>
                    <a:pt x="554498" y="30299"/>
                  </a:lnTo>
                  <a:lnTo>
                    <a:pt x="558800" y="28344"/>
                  </a:lnTo>
                  <a:lnTo>
                    <a:pt x="561342" y="28344"/>
                  </a:lnTo>
                  <a:lnTo>
                    <a:pt x="566034" y="30299"/>
                  </a:lnTo>
                  <a:lnTo>
                    <a:pt x="568576" y="32645"/>
                  </a:lnTo>
                  <a:lnTo>
                    <a:pt x="570922" y="37532"/>
                  </a:lnTo>
                  <a:lnTo>
                    <a:pt x="568576" y="42419"/>
                  </a:lnTo>
                  <a:lnTo>
                    <a:pt x="568576" y="44765"/>
                  </a:lnTo>
                  <a:lnTo>
                    <a:pt x="563688" y="47110"/>
                  </a:lnTo>
                  <a:lnTo>
                    <a:pt x="16423" y="370827"/>
                  </a:lnTo>
                  <a:lnTo>
                    <a:pt x="12122" y="373172"/>
                  </a:lnTo>
                  <a:lnTo>
                    <a:pt x="9580" y="373172"/>
                  </a:lnTo>
                  <a:lnTo>
                    <a:pt x="4888" y="370827"/>
                  </a:lnTo>
                  <a:lnTo>
                    <a:pt x="2346" y="368481"/>
                  </a:lnTo>
                  <a:lnTo>
                    <a:pt x="0" y="363985"/>
                  </a:lnTo>
                  <a:lnTo>
                    <a:pt x="2346" y="361639"/>
                  </a:lnTo>
                  <a:lnTo>
                    <a:pt x="2346" y="356752"/>
                  </a:lnTo>
                  <a:lnTo>
                    <a:pt x="4888" y="354406"/>
                  </a:lnTo>
                  <a:close/>
                </a:path>
                <a:path w="627379" h="373379">
                  <a:moveTo>
                    <a:pt x="558800" y="39878"/>
                  </a:moveTo>
                  <a:lnTo>
                    <a:pt x="507573" y="25998"/>
                  </a:lnTo>
                  <a:lnTo>
                    <a:pt x="627232" y="0"/>
                  </a:lnTo>
                  <a:lnTo>
                    <a:pt x="544722" y="91485"/>
                  </a:lnTo>
                  <a:lnTo>
                    <a:pt x="558800" y="39878"/>
                  </a:lnTo>
                  <a:close/>
                </a:path>
              </a:pathLst>
            </a:custGeom>
            <a:ln w="3175">
              <a:solidFill>
                <a:srgbClr val="000000"/>
              </a:solidFill>
            </a:ln>
          </p:spPr>
          <p:txBody>
            <a:bodyPr wrap="square" lIns="0" tIns="0" rIns="0" bIns="0" rtlCol="0"/>
            <a:lstStyle/>
            <a:p/>
          </p:txBody>
        </p:sp>
        <p:sp>
          <p:nvSpPr>
            <p:cNvPr id="50" name="object 50" descr=""/>
            <p:cNvSpPr/>
            <p:nvPr/>
          </p:nvSpPr>
          <p:spPr>
            <a:xfrm>
              <a:off x="6515888" y="3123122"/>
              <a:ext cx="584835" cy="373380"/>
            </a:xfrm>
            <a:custGeom>
              <a:avLst/>
              <a:gdLst/>
              <a:ahLst/>
              <a:cxnLst/>
              <a:rect l="l" t="t" r="r" b="b"/>
              <a:pathLst>
                <a:path w="584834" h="373379">
                  <a:moveTo>
                    <a:pt x="77524" y="37275"/>
                  </a:moveTo>
                  <a:lnTo>
                    <a:pt x="65304" y="39878"/>
                  </a:lnTo>
                  <a:lnTo>
                    <a:pt x="68407" y="53742"/>
                  </a:lnTo>
                  <a:lnTo>
                    <a:pt x="570531" y="370827"/>
                  </a:lnTo>
                  <a:lnTo>
                    <a:pt x="572878" y="373172"/>
                  </a:lnTo>
                  <a:lnTo>
                    <a:pt x="577179" y="373172"/>
                  </a:lnTo>
                  <a:lnTo>
                    <a:pt x="579721" y="370827"/>
                  </a:lnTo>
                  <a:lnTo>
                    <a:pt x="582067" y="368481"/>
                  </a:lnTo>
                  <a:lnTo>
                    <a:pt x="584413" y="363985"/>
                  </a:lnTo>
                  <a:lnTo>
                    <a:pt x="584413" y="361639"/>
                  </a:lnTo>
                  <a:lnTo>
                    <a:pt x="582067" y="356752"/>
                  </a:lnTo>
                  <a:lnTo>
                    <a:pt x="579721" y="354406"/>
                  </a:lnTo>
                  <a:lnTo>
                    <a:pt x="77524" y="37275"/>
                  </a:lnTo>
                  <a:close/>
                </a:path>
                <a:path w="584834" h="373379">
                  <a:moveTo>
                    <a:pt x="0" y="0"/>
                  </a:moveTo>
                  <a:lnTo>
                    <a:pt x="77426" y="94026"/>
                  </a:lnTo>
                  <a:lnTo>
                    <a:pt x="68407" y="53742"/>
                  </a:lnTo>
                  <a:lnTo>
                    <a:pt x="61002" y="49065"/>
                  </a:lnTo>
                  <a:lnTo>
                    <a:pt x="58460" y="47110"/>
                  </a:lnTo>
                  <a:lnTo>
                    <a:pt x="56114" y="42419"/>
                  </a:lnTo>
                  <a:lnTo>
                    <a:pt x="56114" y="35186"/>
                  </a:lnTo>
                  <a:lnTo>
                    <a:pt x="61002" y="32645"/>
                  </a:lnTo>
                  <a:lnTo>
                    <a:pt x="63348" y="30299"/>
                  </a:lnTo>
                  <a:lnTo>
                    <a:pt x="110284" y="30299"/>
                  </a:lnTo>
                  <a:lnTo>
                    <a:pt x="119463" y="28344"/>
                  </a:lnTo>
                  <a:lnTo>
                    <a:pt x="0" y="0"/>
                  </a:lnTo>
                  <a:close/>
                </a:path>
                <a:path w="584834" h="373379">
                  <a:moveTo>
                    <a:pt x="67650" y="30299"/>
                  </a:moveTo>
                  <a:lnTo>
                    <a:pt x="63348" y="30299"/>
                  </a:lnTo>
                  <a:lnTo>
                    <a:pt x="61002" y="32645"/>
                  </a:lnTo>
                  <a:lnTo>
                    <a:pt x="56114" y="35186"/>
                  </a:lnTo>
                  <a:lnTo>
                    <a:pt x="56114" y="42419"/>
                  </a:lnTo>
                  <a:lnTo>
                    <a:pt x="58460" y="47110"/>
                  </a:lnTo>
                  <a:lnTo>
                    <a:pt x="61002" y="49065"/>
                  </a:lnTo>
                  <a:lnTo>
                    <a:pt x="68407" y="53742"/>
                  </a:lnTo>
                  <a:lnTo>
                    <a:pt x="65304" y="39878"/>
                  </a:lnTo>
                  <a:lnTo>
                    <a:pt x="77524" y="37275"/>
                  </a:lnTo>
                  <a:lnTo>
                    <a:pt x="70192" y="32645"/>
                  </a:lnTo>
                  <a:lnTo>
                    <a:pt x="67650" y="30299"/>
                  </a:lnTo>
                  <a:close/>
                </a:path>
                <a:path w="584834" h="373379">
                  <a:moveTo>
                    <a:pt x="110284" y="30299"/>
                  </a:moveTo>
                  <a:lnTo>
                    <a:pt x="67650" y="30299"/>
                  </a:lnTo>
                  <a:lnTo>
                    <a:pt x="70192" y="32645"/>
                  </a:lnTo>
                  <a:lnTo>
                    <a:pt x="77524" y="37275"/>
                  </a:lnTo>
                  <a:lnTo>
                    <a:pt x="110284" y="30299"/>
                  </a:lnTo>
                  <a:close/>
                </a:path>
              </a:pathLst>
            </a:custGeom>
            <a:solidFill>
              <a:srgbClr val="000000"/>
            </a:solidFill>
          </p:spPr>
          <p:txBody>
            <a:bodyPr wrap="square" lIns="0" tIns="0" rIns="0" bIns="0" rtlCol="0"/>
            <a:lstStyle/>
            <a:p/>
          </p:txBody>
        </p:sp>
        <p:sp>
          <p:nvSpPr>
            <p:cNvPr id="51" name="object 51" descr=""/>
            <p:cNvSpPr/>
            <p:nvPr/>
          </p:nvSpPr>
          <p:spPr>
            <a:xfrm>
              <a:off x="6515888" y="3123122"/>
              <a:ext cx="584835" cy="373380"/>
            </a:xfrm>
            <a:custGeom>
              <a:avLst/>
              <a:gdLst/>
              <a:ahLst/>
              <a:cxnLst/>
              <a:rect l="l" t="t" r="r" b="b"/>
              <a:pathLst>
                <a:path w="584834" h="373379">
                  <a:moveTo>
                    <a:pt x="570531" y="370827"/>
                  </a:moveTo>
                  <a:lnTo>
                    <a:pt x="61002" y="49065"/>
                  </a:lnTo>
                  <a:lnTo>
                    <a:pt x="56114" y="35186"/>
                  </a:lnTo>
                  <a:lnTo>
                    <a:pt x="61002" y="32645"/>
                  </a:lnTo>
                  <a:lnTo>
                    <a:pt x="63348" y="30299"/>
                  </a:lnTo>
                  <a:lnTo>
                    <a:pt x="67650" y="30299"/>
                  </a:lnTo>
                  <a:lnTo>
                    <a:pt x="70192" y="32645"/>
                  </a:lnTo>
                  <a:lnTo>
                    <a:pt x="579721" y="354406"/>
                  </a:lnTo>
                  <a:lnTo>
                    <a:pt x="582067" y="356752"/>
                  </a:lnTo>
                  <a:lnTo>
                    <a:pt x="584413" y="361639"/>
                  </a:lnTo>
                  <a:lnTo>
                    <a:pt x="584413" y="363985"/>
                  </a:lnTo>
                  <a:lnTo>
                    <a:pt x="582067" y="368481"/>
                  </a:lnTo>
                  <a:lnTo>
                    <a:pt x="579721" y="370827"/>
                  </a:lnTo>
                  <a:lnTo>
                    <a:pt x="577179" y="373172"/>
                  </a:lnTo>
                  <a:lnTo>
                    <a:pt x="572878" y="373172"/>
                  </a:lnTo>
                  <a:lnTo>
                    <a:pt x="570531" y="370827"/>
                  </a:lnTo>
                  <a:close/>
                </a:path>
                <a:path w="584834" h="373379">
                  <a:moveTo>
                    <a:pt x="65304" y="39878"/>
                  </a:moveTo>
                  <a:lnTo>
                    <a:pt x="77426" y="94026"/>
                  </a:lnTo>
                  <a:lnTo>
                    <a:pt x="0" y="0"/>
                  </a:lnTo>
                  <a:lnTo>
                    <a:pt x="119463" y="28344"/>
                  </a:lnTo>
                  <a:lnTo>
                    <a:pt x="65304" y="39878"/>
                  </a:lnTo>
                  <a:close/>
                </a:path>
              </a:pathLst>
            </a:custGeom>
            <a:ln w="3175">
              <a:solidFill>
                <a:srgbClr val="000000"/>
              </a:solidFill>
            </a:ln>
          </p:spPr>
          <p:txBody>
            <a:bodyPr wrap="square" lIns="0" tIns="0" rIns="0" bIns="0" rtlCol="0"/>
            <a:lstStyle/>
            <a:p/>
          </p:txBody>
        </p:sp>
        <p:sp>
          <p:nvSpPr>
            <p:cNvPr id="52" name="object 52" descr=""/>
            <p:cNvSpPr/>
            <p:nvPr/>
          </p:nvSpPr>
          <p:spPr>
            <a:xfrm>
              <a:off x="6536613" y="3047862"/>
              <a:ext cx="1796414" cy="418465"/>
            </a:xfrm>
            <a:custGeom>
              <a:avLst/>
              <a:gdLst/>
              <a:ahLst/>
              <a:cxnLst/>
              <a:rect l="l" t="t" r="r" b="b"/>
              <a:pathLst>
                <a:path w="1796415" h="418464">
                  <a:moveTo>
                    <a:pt x="86787" y="23180"/>
                  </a:moveTo>
                  <a:lnTo>
                    <a:pt x="75080" y="30885"/>
                  </a:lnTo>
                  <a:lnTo>
                    <a:pt x="82418" y="42126"/>
                  </a:lnTo>
                  <a:lnTo>
                    <a:pt x="1784720" y="418133"/>
                  </a:lnTo>
                  <a:lnTo>
                    <a:pt x="1789608" y="418133"/>
                  </a:lnTo>
                  <a:lnTo>
                    <a:pt x="1791954" y="415787"/>
                  </a:lnTo>
                  <a:lnTo>
                    <a:pt x="1794300" y="413246"/>
                  </a:lnTo>
                  <a:lnTo>
                    <a:pt x="1796256" y="410900"/>
                  </a:lnTo>
                  <a:lnTo>
                    <a:pt x="1796256" y="406600"/>
                  </a:lnTo>
                  <a:lnTo>
                    <a:pt x="1794300" y="401713"/>
                  </a:lnTo>
                  <a:lnTo>
                    <a:pt x="1791954" y="399367"/>
                  </a:lnTo>
                  <a:lnTo>
                    <a:pt x="1789608" y="399367"/>
                  </a:lnTo>
                  <a:lnTo>
                    <a:pt x="86787" y="23180"/>
                  </a:lnTo>
                  <a:close/>
                </a:path>
                <a:path w="1796415" h="418464">
                  <a:moveTo>
                    <a:pt x="122005" y="0"/>
                  </a:moveTo>
                  <a:lnTo>
                    <a:pt x="0" y="14465"/>
                  </a:lnTo>
                  <a:lnTo>
                    <a:pt x="105581" y="77605"/>
                  </a:lnTo>
                  <a:lnTo>
                    <a:pt x="82418" y="42126"/>
                  </a:lnTo>
                  <a:lnTo>
                    <a:pt x="73125" y="40073"/>
                  </a:lnTo>
                  <a:lnTo>
                    <a:pt x="70778" y="37532"/>
                  </a:lnTo>
                  <a:lnTo>
                    <a:pt x="68237" y="35186"/>
                  </a:lnTo>
                  <a:lnTo>
                    <a:pt x="65890" y="33231"/>
                  </a:lnTo>
                  <a:lnTo>
                    <a:pt x="65890" y="28344"/>
                  </a:lnTo>
                  <a:lnTo>
                    <a:pt x="68237" y="25998"/>
                  </a:lnTo>
                  <a:lnTo>
                    <a:pt x="70778" y="21111"/>
                  </a:lnTo>
                  <a:lnTo>
                    <a:pt x="89929" y="21111"/>
                  </a:lnTo>
                  <a:lnTo>
                    <a:pt x="122005" y="0"/>
                  </a:lnTo>
                  <a:close/>
                </a:path>
                <a:path w="1796415" h="418464">
                  <a:moveTo>
                    <a:pt x="77426" y="21111"/>
                  </a:moveTo>
                  <a:lnTo>
                    <a:pt x="70778" y="21111"/>
                  </a:lnTo>
                  <a:lnTo>
                    <a:pt x="68237" y="25998"/>
                  </a:lnTo>
                  <a:lnTo>
                    <a:pt x="65890" y="28344"/>
                  </a:lnTo>
                  <a:lnTo>
                    <a:pt x="65890" y="33231"/>
                  </a:lnTo>
                  <a:lnTo>
                    <a:pt x="68237" y="35186"/>
                  </a:lnTo>
                  <a:lnTo>
                    <a:pt x="70778" y="37532"/>
                  </a:lnTo>
                  <a:lnTo>
                    <a:pt x="73125" y="40073"/>
                  </a:lnTo>
                  <a:lnTo>
                    <a:pt x="82418" y="42126"/>
                  </a:lnTo>
                  <a:lnTo>
                    <a:pt x="75080" y="30885"/>
                  </a:lnTo>
                  <a:lnTo>
                    <a:pt x="86787" y="23180"/>
                  </a:lnTo>
                  <a:lnTo>
                    <a:pt x="77426" y="21111"/>
                  </a:lnTo>
                  <a:close/>
                </a:path>
                <a:path w="1796415" h="418464">
                  <a:moveTo>
                    <a:pt x="89929" y="21111"/>
                  </a:moveTo>
                  <a:lnTo>
                    <a:pt x="77426" y="21111"/>
                  </a:lnTo>
                  <a:lnTo>
                    <a:pt x="86787" y="23180"/>
                  </a:lnTo>
                  <a:lnTo>
                    <a:pt x="89929" y="21111"/>
                  </a:lnTo>
                  <a:close/>
                </a:path>
              </a:pathLst>
            </a:custGeom>
            <a:solidFill>
              <a:srgbClr val="000000"/>
            </a:solidFill>
          </p:spPr>
          <p:txBody>
            <a:bodyPr wrap="square" lIns="0" tIns="0" rIns="0" bIns="0" rtlCol="0"/>
            <a:lstStyle/>
            <a:p/>
          </p:txBody>
        </p:sp>
        <p:sp>
          <p:nvSpPr>
            <p:cNvPr id="53" name="object 53" descr=""/>
            <p:cNvSpPr/>
            <p:nvPr/>
          </p:nvSpPr>
          <p:spPr>
            <a:xfrm>
              <a:off x="6536613" y="3047862"/>
              <a:ext cx="1796414" cy="418465"/>
            </a:xfrm>
            <a:custGeom>
              <a:avLst/>
              <a:gdLst/>
              <a:ahLst/>
              <a:cxnLst/>
              <a:rect l="l" t="t" r="r" b="b"/>
              <a:pathLst>
                <a:path w="1796415" h="418464">
                  <a:moveTo>
                    <a:pt x="1784720" y="418133"/>
                  </a:moveTo>
                  <a:lnTo>
                    <a:pt x="73125" y="40073"/>
                  </a:lnTo>
                  <a:lnTo>
                    <a:pt x="70778" y="37532"/>
                  </a:lnTo>
                  <a:lnTo>
                    <a:pt x="68237" y="35186"/>
                  </a:lnTo>
                  <a:lnTo>
                    <a:pt x="65890" y="33231"/>
                  </a:lnTo>
                  <a:lnTo>
                    <a:pt x="65890" y="28344"/>
                  </a:lnTo>
                  <a:lnTo>
                    <a:pt x="68237" y="25998"/>
                  </a:lnTo>
                  <a:lnTo>
                    <a:pt x="70778" y="21111"/>
                  </a:lnTo>
                  <a:lnTo>
                    <a:pt x="73125" y="21111"/>
                  </a:lnTo>
                  <a:lnTo>
                    <a:pt x="77426" y="21111"/>
                  </a:lnTo>
                  <a:lnTo>
                    <a:pt x="1789608" y="399367"/>
                  </a:lnTo>
                  <a:lnTo>
                    <a:pt x="1791954" y="399367"/>
                  </a:lnTo>
                  <a:lnTo>
                    <a:pt x="1794300" y="401713"/>
                  </a:lnTo>
                  <a:lnTo>
                    <a:pt x="1796256" y="406600"/>
                  </a:lnTo>
                  <a:lnTo>
                    <a:pt x="1796256" y="410900"/>
                  </a:lnTo>
                  <a:lnTo>
                    <a:pt x="1794300" y="413246"/>
                  </a:lnTo>
                  <a:lnTo>
                    <a:pt x="1791954" y="415787"/>
                  </a:lnTo>
                  <a:lnTo>
                    <a:pt x="1789608" y="418133"/>
                  </a:lnTo>
                  <a:lnTo>
                    <a:pt x="1784720" y="418133"/>
                  </a:lnTo>
                  <a:close/>
                </a:path>
                <a:path w="1796415" h="418464">
                  <a:moveTo>
                    <a:pt x="75080" y="30885"/>
                  </a:moveTo>
                  <a:lnTo>
                    <a:pt x="105581" y="77605"/>
                  </a:lnTo>
                  <a:lnTo>
                    <a:pt x="0" y="14465"/>
                  </a:lnTo>
                  <a:lnTo>
                    <a:pt x="122005" y="0"/>
                  </a:lnTo>
                  <a:lnTo>
                    <a:pt x="75080" y="30885"/>
                  </a:lnTo>
                  <a:close/>
                </a:path>
              </a:pathLst>
            </a:custGeom>
            <a:ln w="3175">
              <a:solidFill>
                <a:srgbClr val="000000"/>
              </a:solidFill>
            </a:ln>
          </p:spPr>
          <p:txBody>
            <a:bodyPr wrap="square" lIns="0" tIns="0" rIns="0" bIns="0" rtlCol="0"/>
            <a:lstStyle/>
            <a:p/>
          </p:txBody>
        </p:sp>
      </p:grpSp>
      <p:sp>
        <p:nvSpPr>
          <p:cNvPr id="54" name="object 54" descr=""/>
          <p:cNvSpPr txBox="1"/>
          <p:nvPr/>
        </p:nvSpPr>
        <p:spPr>
          <a:xfrm>
            <a:off x="6272082" y="4926322"/>
            <a:ext cx="439420" cy="274320"/>
          </a:xfrm>
          <a:prstGeom prst="rect">
            <a:avLst/>
          </a:prstGeom>
        </p:spPr>
        <p:txBody>
          <a:bodyPr wrap="square" lIns="0" tIns="16510" rIns="0" bIns="0" rtlCol="0" vert="horz">
            <a:spAutoFit/>
          </a:bodyPr>
          <a:lstStyle/>
          <a:p>
            <a:pPr marL="12700">
              <a:lnSpc>
                <a:spcPct val="100000"/>
              </a:lnSpc>
              <a:spcBef>
                <a:spcPts val="130"/>
              </a:spcBef>
            </a:pPr>
            <a:r>
              <a:rPr dirty="0" sz="1600" spc="-25">
                <a:latin typeface="宋体"/>
                <a:cs typeface="宋体"/>
              </a:rPr>
              <a:t>……</a:t>
            </a:r>
            <a:endParaRPr sz="1600">
              <a:latin typeface="宋体"/>
              <a:cs typeface="宋体"/>
            </a:endParaRPr>
          </a:p>
        </p:txBody>
      </p:sp>
      <p:sp>
        <p:nvSpPr>
          <p:cNvPr id="55" name="object 55" descr=""/>
          <p:cNvSpPr txBox="1"/>
          <p:nvPr/>
        </p:nvSpPr>
        <p:spPr>
          <a:xfrm>
            <a:off x="4879975" y="5984544"/>
            <a:ext cx="4334510"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黑体"/>
                <a:cs typeface="黑体"/>
              </a:rPr>
              <a:t>图</a:t>
            </a:r>
            <a:r>
              <a:rPr dirty="0" sz="2400" spc="-20">
                <a:solidFill>
                  <a:srgbClr val="40458B"/>
                </a:solidFill>
                <a:latin typeface="Tahoma"/>
                <a:cs typeface="Tahoma"/>
              </a:rPr>
              <a:t>7.27</a:t>
            </a:r>
            <a:r>
              <a:rPr dirty="0" sz="2400" spc="-135">
                <a:solidFill>
                  <a:srgbClr val="40458B"/>
                </a:solidFill>
                <a:latin typeface="Tahoma"/>
                <a:cs typeface="Tahoma"/>
              </a:rPr>
              <a:t> </a:t>
            </a:r>
            <a:r>
              <a:rPr dirty="0" sz="2400" spc="-5">
                <a:solidFill>
                  <a:srgbClr val="40458B"/>
                </a:solidFill>
                <a:latin typeface="黑体"/>
                <a:cs typeface="黑体"/>
              </a:rPr>
              <a:t>单体</a:t>
            </a:r>
            <a:r>
              <a:rPr dirty="0" sz="2400">
                <a:solidFill>
                  <a:srgbClr val="40458B"/>
                </a:solidFill>
                <a:latin typeface="Tahoma"/>
                <a:cs typeface="Tahoma"/>
              </a:rPr>
              <a:t>m</a:t>
            </a:r>
            <a:r>
              <a:rPr dirty="0" sz="2400">
                <a:solidFill>
                  <a:srgbClr val="40458B"/>
                </a:solidFill>
                <a:latin typeface="黑体"/>
                <a:cs typeface="黑体"/>
              </a:rPr>
              <a:t>字存储器</a:t>
            </a:r>
            <a:r>
              <a:rPr dirty="0" sz="2400" spc="-10">
                <a:solidFill>
                  <a:srgbClr val="40458B"/>
                </a:solidFill>
                <a:latin typeface="黑体"/>
                <a:cs typeface="黑体"/>
              </a:rPr>
              <a:t>（</a:t>
            </a:r>
            <a:r>
              <a:rPr dirty="0" sz="2400" spc="-10">
                <a:solidFill>
                  <a:srgbClr val="40458B"/>
                </a:solidFill>
                <a:latin typeface="Tahoma"/>
                <a:cs typeface="Tahoma"/>
              </a:rPr>
              <a:t>m=4</a:t>
            </a:r>
            <a:r>
              <a:rPr dirty="0" sz="2400" spc="-10">
                <a:solidFill>
                  <a:srgbClr val="40458B"/>
                </a:solidFill>
                <a:latin typeface="黑体"/>
                <a:cs typeface="黑体"/>
              </a:rPr>
              <a:t>）</a:t>
            </a:r>
            <a:endParaRPr sz="2400">
              <a:latin typeface="黑体"/>
              <a:cs typeface="黑体"/>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56714" y="97028"/>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342391" y="3384413"/>
            <a:ext cx="6599555" cy="2075180"/>
          </a:xfrm>
          <a:prstGeom prst="rect">
            <a:avLst/>
          </a:prstGeom>
        </p:spPr>
        <p:txBody>
          <a:bodyPr wrap="square" lIns="0" tIns="159385" rIns="0" bIns="0" rtlCol="0" vert="horz">
            <a:spAutoFit/>
          </a:bodyPr>
          <a:lstStyle/>
          <a:p>
            <a:pPr marL="1099185" indent="-457200">
              <a:lnSpc>
                <a:spcPct val="100000"/>
              </a:lnSpc>
              <a:spcBef>
                <a:spcPts val="1255"/>
              </a:spcBef>
              <a:buSzPct val="89583"/>
              <a:buFont typeface="Wingdings"/>
              <a:buChar char=""/>
              <a:tabLst>
                <a:tab pos="1099185" algn="l"/>
              </a:tabLst>
            </a:pPr>
            <a:r>
              <a:rPr dirty="0" sz="2400" spc="-10">
                <a:solidFill>
                  <a:srgbClr val="40458B"/>
                </a:solidFill>
                <a:latin typeface="黑体"/>
                <a:cs typeface="黑体"/>
              </a:rPr>
              <a:t>单体多字存储器的</a:t>
            </a:r>
            <a:r>
              <a:rPr dirty="0" sz="2400" spc="-10">
                <a:solidFill>
                  <a:srgbClr val="FF5CFF"/>
                </a:solidFill>
                <a:latin typeface="黑体"/>
                <a:cs typeface="黑体"/>
              </a:rPr>
              <a:t>实际带宽</a:t>
            </a:r>
            <a:r>
              <a:rPr dirty="0" sz="2400" spc="-20">
                <a:solidFill>
                  <a:srgbClr val="40458B"/>
                </a:solidFill>
                <a:latin typeface="黑体"/>
                <a:cs typeface="黑体"/>
              </a:rPr>
              <a:t>比最大带宽小</a:t>
            </a:r>
            <a:endParaRPr sz="2400">
              <a:latin typeface="黑体"/>
              <a:cs typeface="黑体"/>
            </a:endParaRPr>
          </a:p>
          <a:p>
            <a:pPr marL="12700">
              <a:lnSpc>
                <a:spcPct val="100000"/>
              </a:lnSpc>
              <a:spcBef>
                <a:spcPts val="1155"/>
              </a:spcBef>
              <a:tabLst>
                <a:tab pos="469265" algn="l"/>
              </a:tabLst>
            </a:pPr>
            <a:r>
              <a:rPr dirty="0" sz="2400" spc="-25">
                <a:solidFill>
                  <a:srgbClr val="40458B"/>
                </a:solidFill>
                <a:latin typeface="Tahoma"/>
                <a:cs typeface="Tahoma"/>
              </a:rPr>
              <a:t>2.</a:t>
            </a:r>
            <a:r>
              <a:rPr dirty="0" sz="2400">
                <a:solidFill>
                  <a:srgbClr val="40458B"/>
                </a:solidFill>
                <a:latin typeface="Tahoma"/>
                <a:cs typeface="Tahoma"/>
              </a:rPr>
              <a:t>	</a:t>
            </a:r>
            <a:r>
              <a:rPr dirty="0" sz="2400" spc="-20">
                <a:solidFill>
                  <a:srgbClr val="E14B04"/>
                </a:solidFill>
                <a:latin typeface="黑体"/>
                <a:cs typeface="黑体"/>
              </a:rPr>
              <a:t>优缺点</a:t>
            </a:r>
            <a:endParaRPr sz="2400">
              <a:latin typeface="黑体"/>
              <a:cs typeface="黑体"/>
            </a:endParaRPr>
          </a:p>
          <a:p>
            <a:pPr marL="1099185" indent="-457200">
              <a:lnSpc>
                <a:spcPct val="100000"/>
              </a:lnSpc>
              <a:spcBef>
                <a:spcPts val="1155"/>
              </a:spcBef>
              <a:buClr>
                <a:srgbClr val="40458B"/>
              </a:buClr>
              <a:buSzPct val="89583"/>
              <a:buFont typeface="Wingdings"/>
              <a:buChar char=""/>
              <a:tabLst>
                <a:tab pos="1099185" algn="l"/>
              </a:tabLst>
            </a:pPr>
            <a:r>
              <a:rPr dirty="0" sz="2400">
                <a:solidFill>
                  <a:srgbClr val="D50092"/>
                </a:solidFill>
                <a:latin typeface="黑体"/>
                <a:cs typeface="黑体"/>
              </a:rPr>
              <a:t>优点</a:t>
            </a:r>
            <a:r>
              <a:rPr dirty="0" sz="2400" spc="-10">
                <a:solidFill>
                  <a:srgbClr val="40458B"/>
                </a:solidFill>
                <a:latin typeface="黑体"/>
                <a:cs typeface="黑体"/>
              </a:rPr>
              <a:t>：实现简单</a:t>
            </a:r>
            <a:endParaRPr sz="2400">
              <a:latin typeface="黑体"/>
              <a:cs typeface="黑体"/>
            </a:endParaRPr>
          </a:p>
          <a:p>
            <a:pPr marL="1099185" indent="-457200">
              <a:lnSpc>
                <a:spcPct val="100000"/>
              </a:lnSpc>
              <a:spcBef>
                <a:spcPts val="1150"/>
              </a:spcBef>
              <a:buClr>
                <a:srgbClr val="40458B"/>
              </a:buClr>
              <a:buSzPct val="89583"/>
              <a:buFont typeface="Wingdings"/>
              <a:buChar char=""/>
              <a:tabLst>
                <a:tab pos="1099185" algn="l"/>
              </a:tabLst>
            </a:pPr>
            <a:r>
              <a:rPr dirty="0" sz="2400" spc="-10">
                <a:solidFill>
                  <a:srgbClr val="D50092"/>
                </a:solidFill>
                <a:latin typeface="黑体"/>
                <a:cs typeface="黑体"/>
              </a:rPr>
              <a:t>缺点</a:t>
            </a:r>
            <a:r>
              <a:rPr dirty="0" sz="2000">
                <a:solidFill>
                  <a:srgbClr val="40458B"/>
                </a:solidFill>
                <a:latin typeface="黑体"/>
                <a:cs typeface="黑体"/>
              </a:rPr>
              <a:t>：</a:t>
            </a:r>
            <a:r>
              <a:rPr dirty="0" sz="2400" spc="-20">
                <a:solidFill>
                  <a:srgbClr val="40458B"/>
                </a:solidFill>
                <a:latin typeface="黑体"/>
                <a:cs typeface="黑体"/>
              </a:rPr>
              <a:t>访存效率不高</a:t>
            </a:r>
            <a:endParaRPr sz="2400">
              <a:latin typeface="黑体"/>
              <a:cs typeface="黑体"/>
            </a:endParaRPr>
          </a:p>
        </p:txBody>
      </p:sp>
      <p:grpSp>
        <p:nvGrpSpPr>
          <p:cNvPr id="11" name="object 11" descr=""/>
          <p:cNvGrpSpPr/>
          <p:nvPr/>
        </p:nvGrpSpPr>
        <p:grpSpPr>
          <a:xfrm>
            <a:off x="6064250" y="2205101"/>
            <a:ext cx="1584325" cy="815975"/>
            <a:chOff x="6064250" y="2205101"/>
            <a:chExt cx="1584325" cy="815975"/>
          </a:xfrm>
        </p:grpSpPr>
        <p:sp>
          <p:nvSpPr>
            <p:cNvPr id="12" name="object 12" descr=""/>
            <p:cNvSpPr/>
            <p:nvPr/>
          </p:nvSpPr>
          <p:spPr>
            <a:xfrm>
              <a:off x="6064250" y="2205101"/>
              <a:ext cx="1584325" cy="815975"/>
            </a:xfrm>
            <a:custGeom>
              <a:avLst/>
              <a:gdLst/>
              <a:ahLst/>
              <a:cxnLst/>
              <a:rect l="l" t="t" r="r" b="b"/>
              <a:pathLst>
                <a:path w="1584325" h="815975">
                  <a:moveTo>
                    <a:pt x="1584325" y="0"/>
                  </a:moveTo>
                  <a:lnTo>
                    <a:pt x="0" y="0"/>
                  </a:lnTo>
                  <a:lnTo>
                    <a:pt x="0" y="815975"/>
                  </a:lnTo>
                  <a:lnTo>
                    <a:pt x="1584325" y="815975"/>
                  </a:lnTo>
                  <a:lnTo>
                    <a:pt x="1584325" y="0"/>
                  </a:lnTo>
                  <a:close/>
                </a:path>
              </a:pathLst>
            </a:custGeom>
            <a:solidFill>
              <a:srgbClr val="EAEAEA"/>
            </a:solidFill>
          </p:spPr>
          <p:txBody>
            <a:bodyPr wrap="square" lIns="0" tIns="0" rIns="0" bIns="0" rtlCol="0"/>
            <a:lstStyle/>
            <a:p/>
          </p:txBody>
        </p:sp>
        <p:sp>
          <p:nvSpPr>
            <p:cNvPr id="13" name="object 13" descr=""/>
            <p:cNvSpPr/>
            <p:nvPr/>
          </p:nvSpPr>
          <p:spPr>
            <a:xfrm>
              <a:off x="7219899" y="2590219"/>
              <a:ext cx="363855" cy="0"/>
            </a:xfrm>
            <a:custGeom>
              <a:avLst/>
              <a:gdLst/>
              <a:ahLst/>
              <a:cxnLst/>
              <a:rect l="l" t="t" r="r" b="b"/>
              <a:pathLst>
                <a:path w="363854" h="0">
                  <a:moveTo>
                    <a:pt x="0" y="0"/>
                  </a:moveTo>
                  <a:lnTo>
                    <a:pt x="363506" y="0"/>
                  </a:lnTo>
                </a:path>
              </a:pathLst>
            </a:custGeom>
            <a:ln w="11770">
              <a:solidFill>
                <a:srgbClr val="000000"/>
              </a:solidFill>
            </a:ln>
          </p:spPr>
          <p:txBody>
            <a:bodyPr wrap="square" lIns="0" tIns="0" rIns="0" bIns="0" rtlCol="0"/>
            <a:lstStyle/>
            <a:p/>
          </p:txBody>
        </p:sp>
      </p:grpSp>
      <p:sp>
        <p:nvSpPr>
          <p:cNvPr id="14" name="object 14" descr=""/>
          <p:cNvSpPr txBox="1"/>
          <p:nvPr/>
        </p:nvSpPr>
        <p:spPr>
          <a:xfrm>
            <a:off x="7372052" y="2778501"/>
            <a:ext cx="154305" cy="228600"/>
          </a:xfrm>
          <a:prstGeom prst="rect">
            <a:avLst/>
          </a:prstGeom>
        </p:spPr>
        <p:txBody>
          <a:bodyPr wrap="square" lIns="0" tIns="16510" rIns="0" bIns="0" rtlCol="0" vert="horz">
            <a:spAutoFit/>
          </a:bodyPr>
          <a:lstStyle/>
          <a:p>
            <a:pPr>
              <a:lnSpc>
                <a:spcPct val="100000"/>
              </a:lnSpc>
              <a:spcBef>
                <a:spcPts val="130"/>
              </a:spcBef>
            </a:pPr>
            <a:r>
              <a:rPr dirty="0" sz="1300" spc="-50" i="1">
                <a:latin typeface="Times New Roman"/>
                <a:cs typeface="Times New Roman"/>
              </a:rPr>
              <a:t>M</a:t>
            </a:r>
            <a:endParaRPr sz="1300">
              <a:latin typeface="Times New Roman"/>
              <a:cs typeface="Times New Roman"/>
            </a:endParaRPr>
          </a:p>
        </p:txBody>
      </p:sp>
      <p:sp>
        <p:nvSpPr>
          <p:cNvPr id="15" name="object 15" descr=""/>
          <p:cNvSpPr txBox="1"/>
          <p:nvPr/>
        </p:nvSpPr>
        <p:spPr>
          <a:xfrm>
            <a:off x="6290405" y="2552807"/>
            <a:ext cx="154305" cy="228600"/>
          </a:xfrm>
          <a:prstGeom prst="rect">
            <a:avLst/>
          </a:prstGeom>
        </p:spPr>
        <p:txBody>
          <a:bodyPr wrap="square" lIns="0" tIns="16510" rIns="0" bIns="0" rtlCol="0" vert="horz">
            <a:spAutoFit/>
          </a:bodyPr>
          <a:lstStyle/>
          <a:p>
            <a:pPr>
              <a:lnSpc>
                <a:spcPct val="100000"/>
              </a:lnSpc>
              <a:spcBef>
                <a:spcPts val="130"/>
              </a:spcBef>
            </a:pPr>
            <a:r>
              <a:rPr dirty="0" sz="1300" spc="-50" i="1">
                <a:latin typeface="Times New Roman"/>
                <a:cs typeface="Times New Roman"/>
              </a:rPr>
              <a:t>M</a:t>
            </a:r>
            <a:endParaRPr sz="1300">
              <a:latin typeface="Times New Roman"/>
              <a:cs typeface="Times New Roman"/>
            </a:endParaRPr>
          </a:p>
        </p:txBody>
      </p:sp>
      <p:sp>
        <p:nvSpPr>
          <p:cNvPr id="16" name="object 16" descr=""/>
          <p:cNvSpPr txBox="1"/>
          <p:nvPr/>
        </p:nvSpPr>
        <p:spPr>
          <a:xfrm>
            <a:off x="7221668" y="2585158"/>
            <a:ext cx="175260" cy="374015"/>
          </a:xfrm>
          <a:prstGeom prst="rect">
            <a:avLst/>
          </a:prstGeom>
        </p:spPr>
        <p:txBody>
          <a:bodyPr wrap="square" lIns="0" tIns="17145" rIns="0" bIns="0" rtlCol="0" vert="horz">
            <a:spAutoFit/>
          </a:bodyPr>
          <a:lstStyle/>
          <a:p>
            <a:pPr>
              <a:lnSpc>
                <a:spcPct val="100000"/>
              </a:lnSpc>
              <a:spcBef>
                <a:spcPts val="135"/>
              </a:spcBef>
            </a:pPr>
            <a:r>
              <a:rPr dirty="0" sz="2250" spc="-50" i="1">
                <a:latin typeface="Times New Roman"/>
                <a:cs typeface="Times New Roman"/>
              </a:rPr>
              <a:t>T</a:t>
            </a:r>
            <a:endParaRPr sz="2250">
              <a:latin typeface="Times New Roman"/>
              <a:cs typeface="Times New Roman"/>
            </a:endParaRPr>
          </a:p>
        </p:txBody>
      </p:sp>
      <p:sp>
        <p:nvSpPr>
          <p:cNvPr id="17" name="object 17" descr=""/>
          <p:cNvSpPr txBox="1"/>
          <p:nvPr/>
        </p:nvSpPr>
        <p:spPr>
          <a:xfrm>
            <a:off x="6091540" y="2359478"/>
            <a:ext cx="1440815" cy="374015"/>
          </a:xfrm>
          <a:prstGeom prst="rect">
            <a:avLst/>
          </a:prstGeom>
        </p:spPr>
        <p:txBody>
          <a:bodyPr wrap="square" lIns="0" tIns="17145" rIns="0" bIns="0" rtlCol="0" vert="horz">
            <a:spAutoFit/>
          </a:bodyPr>
          <a:lstStyle/>
          <a:p>
            <a:pPr marL="25400">
              <a:lnSpc>
                <a:spcPct val="100000"/>
              </a:lnSpc>
              <a:spcBef>
                <a:spcPts val="135"/>
              </a:spcBef>
              <a:tabLst>
                <a:tab pos="461645" algn="l"/>
              </a:tabLst>
            </a:pPr>
            <a:r>
              <a:rPr dirty="0" sz="2250" spc="-50" i="1">
                <a:latin typeface="Times New Roman"/>
                <a:cs typeface="Times New Roman"/>
              </a:rPr>
              <a:t>B</a:t>
            </a:r>
            <a:r>
              <a:rPr dirty="0" sz="2250" i="1">
                <a:latin typeface="Times New Roman"/>
                <a:cs typeface="Times New Roman"/>
              </a:rPr>
              <a:t>	</a:t>
            </a:r>
            <a:r>
              <a:rPr dirty="0" sz="2250">
                <a:latin typeface="Symbol"/>
                <a:cs typeface="Symbol"/>
              </a:rPr>
              <a:t></a:t>
            </a:r>
            <a:r>
              <a:rPr dirty="0" sz="2250" spc="-30">
                <a:latin typeface="Times New Roman"/>
                <a:cs typeface="Times New Roman"/>
              </a:rPr>
              <a:t> </a:t>
            </a:r>
            <a:r>
              <a:rPr dirty="0" sz="2250" i="1">
                <a:latin typeface="Times New Roman"/>
                <a:cs typeface="Times New Roman"/>
              </a:rPr>
              <a:t>m</a:t>
            </a:r>
            <a:r>
              <a:rPr dirty="0" sz="2250" spc="-335" i="1">
                <a:latin typeface="Times New Roman"/>
                <a:cs typeface="Times New Roman"/>
              </a:rPr>
              <a:t> </a:t>
            </a:r>
            <a:r>
              <a:rPr dirty="0" sz="2250">
                <a:latin typeface="Symbol"/>
                <a:cs typeface="Symbol"/>
              </a:rPr>
              <a:t></a:t>
            </a:r>
            <a:r>
              <a:rPr dirty="0" sz="2250" spc="35">
                <a:latin typeface="Times New Roman"/>
                <a:cs typeface="Times New Roman"/>
              </a:rPr>
              <a:t> </a:t>
            </a:r>
            <a:r>
              <a:rPr dirty="0" baseline="35802" sz="3375" spc="-75" i="1">
                <a:latin typeface="Times New Roman"/>
                <a:cs typeface="Times New Roman"/>
              </a:rPr>
              <a:t>W</a:t>
            </a:r>
            <a:endParaRPr baseline="35802" sz="3375">
              <a:latin typeface="Times New Roman"/>
              <a:cs typeface="Times New Roman"/>
            </a:endParaRPr>
          </a:p>
        </p:txBody>
      </p:sp>
      <p:sp>
        <p:nvSpPr>
          <p:cNvPr id="18" name="object 18" descr=""/>
          <p:cNvSpPr txBox="1"/>
          <p:nvPr/>
        </p:nvSpPr>
        <p:spPr>
          <a:xfrm>
            <a:off x="971803" y="702386"/>
            <a:ext cx="10758805" cy="1598930"/>
          </a:xfrm>
          <a:prstGeom prst="rect">
            <a:avLst/>
          </a:prstGeom>
        </p:spPr>
        <p:txBody>
          <a:bodyPr wrap="square" lIns="0" tIns="13335" rIns="0" bIns="0" rtlCol="0" vert="horz">
            <a:spAutoFit/>
          </a:bodyPr>
          <a:lstStyle/>
          <a:p>
            <a:pPr marL="462915">
              <a:lnSpc>
                <a:spcPct val="100000"/>
              </a:lnSpc>
              <a:spcBef>
                <a:spcPts val="105"/>
              </a:spcBef>
            </a:pPr>
            <a:r>
              <a:rPr dirty="0" sz="2600">
                <a:solidFill>
                  <a:srgbClr val="0000CC"/>
                </a:solidFill>
                <a:latin typeface="黑体"/>
                <a:cs typeface="黑体"/>
              </a:rPr>
              <a:t>7.6.1</a:t>
            </a:r>
            <a:r>
              <a:rPr dirty="0" sz="2600" spc="-25">
                <a:solidFill>
                  <a:srgbClr val="0000CC"/>
                </a:solidFill>
                <a:latin typeface="黑体"/>
                <a:cs typeface="黑体"/>
              </a:rPr>
              <a:t> 单体多字存储器</a:t>
            </a:r>
            <a:endParaRPr sz="2600">
              <a:latin typeface="黑体"/>
              <a:cs typeface="黑体"/>
            </a:endParaRPr>
          </a:p>
          <a:p>
            <a:pPr marL="469900" marR="5080" indent="-457200">
              <a:lnSpc>
                <a:spcPct val="120000"/>
              </a:lnSpc>
              <a:spcBef>
                <a:spcPts val="2350"/>
              </a:spcBef>
              <a:buClr>
                <a:srgbClr val="40458B"/>
              </a:buClr>
              <a:buSzPct val="89583"/>
              <a:buFont typeface="Wingdings"/>
              <a:buChar char=""/>
              <a:tabLst>
                <a:tab pos="469900" algn="l"/>
              </a:tabLst>
            </a:pPr>
            <a:r>
              <a:rPr dirty="0" sz="2400">
                <a:solidFill>
                  <a:srgbClr val="FF5CFF"/>
                </a:solidFill>
                <a:latin typeface="黑体"/>
                <a:cs typeface="黑体"/>
              </a:rPr>
              <a:t>性能变化：</a:t>
            </a:r>
            <a:r>
              <a:rPr dirty="0" sz="2400">
                <a:solidFill>
                  <a:srgbClr val="40458B"/>
                </a:solidFill>
                <a:latin typeface="黑体"/>
                <a:cs typeface="黑体"/>
              </a:rPr>
              <a:t>存储器能够每个存储周期读出</a:t>
            </a:r>
            <a:r>
              <a:rPr dirty="0" sz="2400" spc="-20">
                <a:solidFill>
                  <a:srgbClr val="9933FF"/>
                </a:solidFill>
                <a:latin typeface="Times New Roman"/>
                <a:cs typeface="Times New Roman"/>
              </a:rPr>
              <a:t>m</a:t>
            </a:r>
            <a:r>
              <a:rPr dirty="0" sz="2400">
                <a:solidFill>
                  <a:srgbClr val="40458B"/>
                </a:solidFill>
                <a:latin typeface="黑体"/>
                <a:cs typeface="黑体"/>
              </a:rPr>
              <a:t>个</a:t>
            </a:r>
            <a:r>
              <a:rPr dirty="0" sz="2400" spc="-30">
                <a:solidFill>
                  <a:srgbClr val="40458B"/>
                </a:solidFill>
                <a:latin typeface="Times New Roman"/>
                <a:cs typeface="Times New Roman"/>
              </a:rPr>
              <a:t>CPU</a:t>
            </a:r>
            <a:r>
              <a:rPr dirty="0" sz="2400">
                <a:solidFill>
                  <a:srgbClr val="40458B"/>
                </a:solidFill>
                <a:latin typeface="黑体"/>
                <a:cs typeface="黑体"/>
              </a:rPr>
              <a:t>字。因此其</a:t>
            </a:r>
            <a:r>
              <a:rPr dirty="0" sz="2400" spc="-5">
                <a:solidFill>
                  <a:srgbClr val="FF5CFF"/>
                </a:solidFill>
                <a:latin typeface="黑体"/>
                <a:cs typeface="黑体"/>
              </a:rPr>
              <a:t>最大带宽</a:t>
            </a:r>
            <a:r>
              <a:rPr dirty="0" sz="2400" spc="-20">
                <a:solidFill>
                  <a:srgbClr val="40458B"/>
                </a:solidFill>
                <a:latin typeface="黑体"/>
                <a:cs typeface="黑体"/>
              </a:rPr>
              <a:t>提高到</a:t>
            </a:r>
            <a:r>
              <a:rPr dirty="0" sz="2400">
                <a:solidFill>
                  <a:srgbClr val="40458B"/>
                </a:solidFill>
                <a:latin typeface="黑体"/>
                <a:cs typeface="黑体"/>
              </a:rPr>
              <a:t>原来的</a:t>
            </a:r>
            <a:r>
              <a:rPr dirty="0" sz="2400" spc="-20">
                <a:solidFill>
                  <a:srgbClr val="9933FF"/>
                </a:solidFill>
                <a:latin typeface="Times New Roman"/>
                <a:cs typeface="Times New Roman"/>
              </a:rPr>
              <a:t>m</a:t>
            </a:r>
            <a:r>
              <a:rPr dirty="0" sz="2400" spc="-215">
                <a:solidFill>
                  <a:srgbClr val="40458B"/>
                </a:solidFill>
                <a:latin typeface="黑体"/>
                <a:cs typeface="黑体"/>
              </a:rPr>
              <a:t>倍 。</a:t>
            </a:r>
            <a:endParaRPr sz="2400">
              <a:latin typeface="黑体"/>
              <a:cs typeface="黑体"/>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56714" y="24129"/>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467055" y="1066509"/>
            <a:ext cx="11339830" cy="3826510"/>
          </a:xfrm>
          <a:prstGeom prst="rect">
            <a:avLst/>
          </a:prstGeom>
        </p:spPr>
        <p:txBody>
          <a:bodyPr wrap="square" lIns="0" tIns="222885" rIns="0" bIns="0" rtlCol="0" vert="horz">
            <a:spAutoFit/>
          </a:bodyPr>
          <a:lstStyle/>
          <a:p>
            <a:pPr marL="12700">
              <a:lnSpc>
                <a:spcPct val="100000"/>
              </a:lnSpc>
              <a:spcBef>
                <a:spcPts val="1755"/>
              </a:spcBef>
            </a:pPr>
            <a:r>
              <a:rPr dirty="0" sz="2400" spc="-130">
                <a:solidFill>
                  <a:srgbClr val="E14B04"/>
                </a:solidFill>
                <a:latin typeface="黑体"/>
                <a:cs typeface="黑体"/>
              </a:rPr>
              <a:t>原因 ：</a:t>
            </a:r>
            <a:endParaRPr sz="2400">
              <a:latin typeface="黑体"/>
              <a:cs typeface="黑体"/>
            </a:endParaRPr>
          </a:p>
          <a:p>
            <a:pPr marL="1097280" marR="57150" indent="-457834">
              <a:lnSpc>
                <a:spcPct val="140000"/>
              </a:lnSpc>
              <a:spcBef>
                <a:spcPts val="425"/>
              </a:spcBef>
              <a:buClr>
                <a:srgbClr val="4668F5"/>
              </a:buClr>
              <a:buSzPct val="60000"/>
              <a:buFont typeface="Wingdings"/>
              <a:buChar char=""/>
              <a:tabLst>
                <a:tab pos="1097280" algn="l"/>
              </a:tabLst>
            </a:pPr>
            <a:r>
              <a:rPr dirty="0" sz="2000" spc="-10" b="1">
                <a:solidFill>
                  <a:srgbClr val="00AFEF"/>
                </a:solidFill>
                <a:latin typeface="宋体"/>
                <a:cs typeface="宋体"/>
              </a:rPr>
              <a:t>如果一次读取的</a:t>
            </a:r>
            <a:r>
              <a:rPr dirty="0" sz="2000" spc="-10" b="1">
                <a:solidFill>
                  <a:srgbClr val="9933FF"/>
                </a:solidFill>
                <a:latin typeface="Times New Roman"/>
                <a:cs typeface="Times New Roman"/>
              </a:rPr>
              <a:t>m</a:t>
            </a:r>
            <a:r>
              <a:rPr dirty="0" sz="2000" spc="-25" b="1">
                <a:solidFill>
                  <a:srgbClr val="00AFEF"/>
                </a:solidFill>
                <a:latin typeface="宋体"/>
                <a:cs typeface="宋体"/>
              </a:rPr>
              <a:t>个指令字中有分支指令，而且分支成功，那么该分支指令之后的指令是无用的。</a:t>
            </a:r>
            <a:endParaRPr sz="2000">
              <a:latin typeface="宋体"/>
              <a:cs typeface="宋体"/>
            </a:endParaRPr>
          </a:p>
          <a:p>
            <a:pPr marL="1097280" marR="57785" indent="-457834">
              <a:lnSpc>
                <a:spcPct val="140100"/>
              </a:lnSpc>
              <a:spcBef>
                <a:spcPts val="480"/>
              </a:spcBef>
              <a:buClr>
                <a:srgbClr val="4668F5"/>
              </a:buClr>
              <a:buSzPct val="60000"/>
              <a:buFont typeface="Wingdings"/>
              <a:buChar char=""/>
              <a:tabLst>
                <a:tab pos="1097280" algn="l"/>
              </a:tabLst>
            </a:pPr>
            <a:r>
              <a:rPr dirty="0" sz="2000" spc="-10" b="1">
                <a:solidFill>
                  <a:srgbClr val="00AFEF"/>
                </a:solidFill>
                <a:latin typeface="宋体"/>
                <a:cs typeface="宋体"/>
              </a:rPr>
              <a:t>一次取出的</a:t>
            </a:r>
            <a:r>
              <a:rPr dirty="0" sz="2000" spc="-10" b="1">
                <a:solidFill>
                  <a:srgbClr val="9933FF"/>
                </a:solidFill>
                <a:latin typeface="Times New Roman"/>
                <a:cs typeface="Times New Roman"/>
              </a:rPr>
              <a:t>m</a:t>
            </a:r>
            <a:r>
              <a:rPr dirty="0" sz="2000" spc="-25" b="1">
                <a:solidFill>
                  <a:srgbClr val="00AFEF"/>
                </a:solidFill>
                <a:latin typeface="宋体"/>
                <a:cs typeface="宋体"/>
              </a:rPr>
              <a:t>个数据不一定都是有用的。另一方面，当前执行指令所需要的多个操作数也不一定正好都存放在同一个长存储字中。</a:t>
            </a:r>
            <a:endParaRPr sz="2000">
              <a:latin typeface="宋体"/>
              <a:cs typeface="宋体"/>
            </a:endParaRPr>
          </a:p>
          <a:p>
            <a:pPr marL="1097280" indent="-457200">
              <a:lnSpc>
                <a:spcPct val="100000"/>
              </a:lnSpc>
              <a:spcBef>
                <a:spcPts val="1440"/>
              </a:spcBef>
              <a:buClr>
                <a:srgbClr val="4668F5"/>
              </a:buClr>
              <a:buSzPct val="60000"/>
              <a:buFont typeface="Wingdings"/>
              <a:buChar char=""/>
              <a:tabLst>
                <a:tab pos="1097280" algn="l"/>
              </a:tabLst>
            </a:pPr>
            <a:r>
              <a:rPr dirty="0" sz="2000" spc="-15" b="1">
                <a:solidFill>
                  <a:srgbClr val="00AFEF"/>
                </a:solidFill>
                <a:latin typeface="宋体"/>
                <a:cs typeface="宋体"/>
              </a:rPr>
              <a:t>写入有可能变得复杂。</a:t>
            </a:r>
            <a:endParaRPr sz="2000">
              <a:latin typeface="宋体"/>
              <a:cs typeface="宋体"/>
            </a:endParaRPr>
          </a:p>
          <a:p>
            <a:pPr marL="1097280" marR="5080" indent="-457834">
              <a:lnSpc>
                <a:spcPct val="140100"/>
              </a:lnSpc>
              <a:spcBef>
                <a:spcPts val="475"/>
              </a:spcBef>
              <a:buClr>
                <a:srgbClr val="4668F5"/>
              </a:buClr>
              <a:buSzPct val="60000"/>
              <a:buFont typeface="Wingdings"/>
              <a:buChar char=""/>
              <a:tabLst>
                <a:tab pos="1097280" algn="l"/>
              </a:tabLst>
            </a:pPr>
            <a:r>
              <a:rPr dirty="0" sz="2000" spc="-25" b="1">
                <a:solidFill>
                  <a:srgbClr val="00AFEF"/>
                </a:solidFill>
                <a:latin typeface="宋体"/>
                <a:cs typeface="宋体"/>
              </a:rPr>
              <a:t>当要读出的数据字和要写入的数据字处于同一个长存储字内时，读和写的操作就无法在同一</a:t>
            </a:r>
            <a:r>
              <a:rPr dirty="0" sz="2000" spc="-15" b="1">
                <a:solidFill>
                  <a:srgbClr val="00AFEF"/>
                </a:solidFill>
                <a:latin typeface="宋体"/>
                <a:cs typeface="宋体"/>
              </a:rPr>
              <a:t>个存储周期内完成。</a:t>
            </a:r>
            <a:endParaRPr sz="2000">
              <a:latin typeface="宋体"/>
              <a:cs typeface="宋体"/>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139/170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61514" y="97028"/>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629818" y="712470"/>
            <a:ext cx="11475720" cy="3987165"/>
          </a:xfrm>
          <a:prstGeom prst="rect">
            <a:avLst/>
          </a:prstGeom>
        </p:spPr>
        <p:txBody>
          <a:bodyPr wrap="square" lIns="0" tIns="13335" rIns="0" bIns="0" rtlCol="0" vert="horz">
            <a:spAutoFit/>
          </a:bodyPr>
          <a:lstStyle/>
          <a:p>
            <a:pPr marL="1093470">
              <a:lnSpc>
                <a:spcPct val="100000"/>
              </a:lnSpc>
              <a:spcBef>
                <a:spcPts val="105"/>
              </a:spcBef>
            </a:pPr>
            <a:r>
              <a:rPr dirty="0" sz="2600">
                <a:solidFill>
                  <a:srgbClr val="0000CC"/>
                </a:solidFill>
                <a:latin typeface="黑体"/>
                <a:cs typeface="黑体"/>
              </a:rPr>
              <a:t>7.6.2</a:t>
            </a:r>
            <a:r>
              <a:rPr dirty="0" sz="2600" spc="-15">
                <a:solidFill>
                  <a:srgbClr val="0000CC"/>
                </a:solidFill>
                <a:latin typeface="黑体"/>
                <a:cs typeface="黑体"/>
              </a:rPr>
              <a:t> 多体交叉存储器</a:t>
            </a:r>
            <a:endParaRPr sz="2600">
              <a:latin typeface="黑体"/>
              <a:cs typeface="黑体"/>
            </a:endParaRPr>
          </a:p>
          <a:p>
            <a:pPr marL="469900" marR="328930" indent="-457200">
              <a:lnSpc>
                <a:spcPct val="120000"/>
              </a:lnSpc>
              <a:spcBef>
                <a:spcPts val="2270"/>
              </a:spcBef>
              <a:buClr>
                <a:srgbClr val="40458B"/>
              </a:buClr>
              <a:buFont typeface="Tahoma"/>
              <a:buAutoNum type="arabicPeriod"/>
              <a:tabLst>
                <a:tab pos="469900" algn="l"/>
              </a:tabLst>
            </a:pPr>
            <a:r>
              <a:rPr dirty="0" sz="2400">
                <a:solidFill>
                  <a:srgbClr val="FF0000"/>
                </a:solidFill>
                <a:latin typeface="黑体"/>
                <a:cs typeface="黑体"/>
              </a:rPr>
              <a:t>多体交叉存储器：</a:t>
            </a:r>
            <a:r>
              <a:rPr dirty="0" sz="2400" spc="-5">
                <a:solidFill>
                  <a:srgbClr val="E14B04"/>
                </a:solidFill>
                <a:latin typeface="黑体"/>
                <a:cs typeface="黑体"/>
              </a:rPr>
              <a:t>由多个单字存储体构成，每个体都有自己的地址寄存器以及地址译码和读</a:t>
            </a:r>
            <a:r>
              <a:rPr dirty="0" sz="2400" spc="-10">
                <a:solidFill>
                  <a:srgbClr val="E14B04"/>
                </a:solidFill>
                <a:latin typeface="Tahoma"/>
                <a:cs typeface="Tahoma"/>
              </a:rPr>
              <a:t>/</a:t>
            </a:r>
            <a:r>
              <a:rPr dirty="0" sz="2400" spc="-10">
                <a:solidFill>
                  <a:srgbClr val="E14B04"/>
                </a:solidFill>
                <a:latin typeface="黑体"/>
                <a:cs typeface="黑体"/>
              </a:rPr>
              <a:t>写驱动等电路。</a:t>
            </a:r>
            <a:endParaRPr sz="2400">
              <a:latin typeface="黑体"/>
              <a:cs typeface="黑体"/>
            </a:endParaRPr>
          </a:p>
          <a:p>
            <a:pPr marL="469265" indent="-456565">
              <a:lnSpc>
                <a:spcPct val="100000"/>
              </a:lnSpc>
              <a:spcBef>
                <a:spcPts val="1150"/>
              </a:spcBef>
              <a:buClr>
                <a:srgbClr val="40458B"/>
              </a:buClr>
              <a:buFont typeface="Tahoma"/>
              <a:buAutoNum type="arabicPeriod"/>
              <a:tabLst>
                <a:tab pos="469265" algn="l"/>
              </a:tabLst>
            </a:pPr>
            <a:r>
              <a:rPr dirty="0" sz="2400" spc="-10">
                <a:solidFill>
                  <a:srgbClr val="D50092"/>
                </a:solidFill>
                <a:latin typeface="黑体"/>
                <a:cs typeface="黑体"/>
              </a:rPr>
              <a:t>问题：</a:t>
            </a:r>
            <a:r>
              <a:rPr dirty="0" sz="2400" spc="-15">
                <a:solidFill>
                  <a:srgbClr val="E14B04"/>
                </a:solidFill>
                <a:latin typeface="黑体"/>
                <a:cs typeface="黑体"/>
              </a:rPr>
              <a:t>对多体存储器如何进行编址？</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存储器是按顺序线性编址的。如何在二维矩阵和线性地址之间建立对应关系？</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0">
                <a:solidFill>
                  <a:srgbClr val="40458B"/>
                </a:solidFill>
                <a:latin typeface="黑体"/>
                <a:cs typeface="黑体"/>
              </a:rPr>
              <a:t>两种编址方法</a:t>
            </a:r>
            <a:endParaRPr sz="2400">
              <a:latin typeface="黑体"/>
              <a:cs typeface="黑体"/>
            </a:endParaRPr>
          </a:p>
          <a:p>
            <a:pPr lvl="2" marL="1726564" indent="-457200">
              <a:lnSpc>
                <a:spcPct val="100000"/>
              </a:lnSpc>
              <a:spcBef>
                <a:spcPts val="1030"/>
              </a:spcBef>
              <a:buClr>
                <a:srgbClr val="4668F5"/>
              </a:buClr>
              <a:buSzPct val="60000"/>
              <a:buFont typeface="Wingdings"/>
              <a:buChar char=""/>
              <a:tabLst>
                <a:tab pos="1726564" algn="l"/>
              </a:tabLst>
            </a:pPr>
            <a:r>
              <a:rPr dirty="0" sz="2000" spc="-20" b="1">
                <a:solidFill>
                  <a:srgbClr val="00AFEF"/>
                </a:solidFill>
                <a:latin typeface="宋体"/>
                <a:cs typeface="宋体"/>
              </a:rPr>
              <a:t>高位交叉编址</a:t>
            </a:r>
            <a:endParaRPr sz="2000">
              <a:latin typeface="宋体"/>
              <a:cs typeface="宋体"/>
            </a:endParaRPr>
          </a:p>
          <a:p>
            <a:pPr lvl="2" marL="1726564" indent="-457200">
              <a:lnSpc>
                <a:spcPct val="100000"/>
              </a:lnSpc>
              <a:spcBef>
                <a:spcPts val="960"/>
              </a:spcBef>
              <a:buClr>
                <a:srgbClr val="4668F5"/>
              </a:buClr>
              <a:buSzPct val="60000"/>
              <a:buFont typeface="Wingdings"/>
              <a:buChar char=""/>
              <a:tabLst>
                <a:tab pos="1726564" algn="l"/>
              </a:tabLst>
            </a:pPr>
            <a:r>
              <a:rPr dirty="0" sz="2000" spc="-75" b="1">
                <a:solidFill>
                  <a:srgbClr val="00AFEF"/>
                </a:solidFill>
                <a:latin typeface="宋体"/>
                <a:cs typeface="宋体"/>
              </a:rPr>
              <a:t>低位交叉编址 </a:t>
            </a:r>
            <a:r>
              <a:rPr dirty="0" sz="2000" spc="-10" b="1">
                <a:solidFill>
                  <a:srgbClr val="00AFEF"/>
                </a:solidFill>
                <a:latin typeface="宋体"/>
                <a:cs typeface="宋体"/>
              </a:rPr>
              <a:t>（</a:t>
            </a:r>
            <a:r>
              <a:rPr dirty="0" sz="2000" spc="-55" b="1">
                <a:solidFill>
                  <a:srgbClr val="00AFEF"/>
                </a:solidFill>
                <a:latin typeface="宋体"/>
                <a:cs typeface="宋体"/>
              </a:rPr>
              <a:t>有效地解决访问冲突问题 </a:t>
            </a:r>
            <a:r>
              <a:rPr dirty="0" sz="2000" spc="-50" b="1">
                <a:solidFill>
                  <a:srgbClr val="00AFEF"/>
                </a:solidFill>
                <a:latin typeface="宋体"/>
                <a:cs typeface="宋体"/>
              </a:rPr>
              <a:t>）</a:t>
            </a:r>
            <a:endParaRPr sz="2000">
              <a:latin typeface="宋体"/>
              <a:cs typeface="宋体"/>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09166" y="97028"/>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grpSp>
        <p:nvGrpSpPr>
          <p:cNvPr id="10" name="object 10" descr=""/>
          <p:cNvGrpSpPr/>
          <p:nvPr/>
        </p:nvGrpSpPr>
        <p:grpSpPr>
          <a:xfrm>
            <a:off x="5166423" y="2950393"/>
            <a:ext cx="100330" cy="339090"/>
            <a:chOff x="5166423" y="2950393"/>
            <a:chExt cx="100330" cy="339090"/>
          </a:xfrm>
        </p:grpSpPr>
        <p:sp>
          <p:nvSpPr>
            <p:cNvPr id="11" name="object 11" descr=""/>
            <p:cNvSpPr/>
            <p:nvPr/>
          </p:nvSpPr>
          <p:spPr>
            <a:xfrm>
              <a:off x="5169284" y="2953254"/>
              <a:ext cx="94615" cy="333375"/>
            </a:xfrm>
            <a:custGeom>
              <a:avLst/>
              <a:gdLst/>
              <a:ahLst/>
              <a:cxnLst/>
              <a:rect l="l" t="t" r="r" b="b"/>
              <a:pathLst>
                <a:path w="94614" h="333375">
                  <a:moveTo>
                    <a:pt x="44587" y="94719"/>
                  </a:moveTo>
                  <a:lnTo>
                    <a:pt x="33267" y="105980"/>
                  </a:lnTo>
                  <a:lnTo>
                    <a:pt x="33267" y="327358"/>
                  </a:lnTo>
                  <a:lnTo>
                    <a:pt x="38811" y="332903"/>
                  </a:lnTo>
                  <a:lnTo>
                    <a:pt x="55445" y="332903"/>
                  </a:lnTo>
                  <a:lnTo>
                    <a:pt x="55445" y="104370"/>
                  </a:lnTo>
                  <a:lnTo>
                    <a:pt x="44587" y="94719"/>
                  </a:lnTo>
                  <a:close/>
                </a:path>
                <a:path w="94614" h="333375">
                  <a:moveTo>
                    <a:pt x="44587" y="0"/>
                  </a:moveTo>
                  <a:lnTo>
                    <a:pt x="0" y="139075"/>
                  </a:lnTo>
                  <a:lnTo>
                    <a:pt x="33267" y="105980"/>
                  </a:lnTo>
                  <a:lnTo>
                    <a:pt x="33267" y="88943"/>
                  </a:lnTo>
                  <a:lnTo>
                    <a:pt x="38811" y="83399"/>
                  </a:lnTo>
                  <a:lnTo>
                    <a:pt x="74510" y="83399"/>
                  </a:lnTo>
                  <a:lnTo>
                    <a:pt x="44587" y="0"/>
                  </a:lnTo>
                  <a:close/>
                </a:path>
                <a:path w="94614" h="333375">
                  <a:moveTo>
                    <a:pt x="74510" y="83399"/>
                  </a:moveTo>
                  <a:lnTo>
                    <a:pt x="55445" y="83399"/>
                  </a:lnTo>
                  <a:lnTo>
                    <a:pt x="55445" y="104370"/>
                  </a:lnTo>
                  <a:lnTo>
                    <a:pt x="94487" y="139075"/>
                  </a:lnTo>
                  <a:lnTo>
                    <a:pt x="74510" y="83399"/>
                  </a:lnTo>
                  <a:close/>
                </a:path>
                <a:path w="94614" h="333375">
                  <a:moveTo>
                    <a:pt x="55445" y="83399"/>
                  </a:moveTo>
                  <a:lnTo>
                    <a:pt x="38811" y="83399"/>
                  </a:lnTo>
                  <a:lnTo>
                    <a:pt x="33267" y="88943"/>
                  </a:lnTo>
                  <a:lnTo>
                    <a:pt x="33267" y="105980"/>
                  </a:lnTo>
                  <a:lnTo>
                    <a:pt x="44587" y="94719"/>
                  </a:lnTo>
                  <a:lnTo>
                    <a:pt x="55445" y="94719"/>
                  </a:lnTo>
                  <a:lnTo>
                    <a:pt x="55445" y="83399"/>
                  </a:lnTo>
                  <a:close/>
                </a:path>
                <a:path w="94614" h="333375">
                  <a:moveTo>
                    <a:pt x="55445" y="94719"/>
                  </a:moveTo>
                  <a:lnTo>
                    <a:pt x="44587" y="94719"/>
                  </a:lnTo>
                  <a:lnTo>
                    <a:pt x="55445" y="104370"/>
                  </a:lnTo>
                  <a:lnTo>
                    <a:pt x="55445" y="94719"/>
                  </a:lnTo>
                  <a:close/>
                </a:path>
              </a:pathLst>
            </a:custGeom>
            <a:solidFill>
              <a:srgbClr val="000000"/>
            </a:solidFill>
          </p:spPr>
          <p:txBody>
            <a:bodyPr wrap="square" lIns="0" tIns="0" rIns="0" bIns="0" rtlCol="0"/>
            <a:lstStyle/>
            <a:p/>
          </p:txBody>
        </p:sp>
        <p:sp>
          <p:nvSpPr>
            <p:cNvPr id="12" name="object 12" descr=""/>
            <p:cNvSpPr/>
            <p:nvPr/>
          </p:nvSpPr>
          <p:spPr>
            <a:xfrm>
              <a:off x="5169284" y="2953254"/>
              <a:ext cx="94615" cy="333375"/>
            </a:xfrm>
            <a:custGeom>
              <a:avLst/>
              <a:gdLst/>
              <a:ahLst/>
              <a:cxnLst/>
              <a:rect l="l" t="t" r="r" b="b"/>
              <a:pathLst>
                <a:path w="94614" h="333375">
                  <a:moveTo>
                    <a:pt x="33267" y="322044"/>
                  </a:moveTo>
                  <a:lnTo>
                    <a:pt x="33267" y="94719"/>
                  </a:lnTo>
                  <a:lnTo>
                    <a:pt x="33267" y="88943"/>
                  </a:lnTo>
                  <a:lnTo>
                    <a:pt x="38811" y="83399"/>
                  </a:lnTo>
                  <a:lnTo>
                    <a:pt x="44587" y="83399"/>
                  </a:lnTo>
                  <a:lnTo>
                    <a:pt x="49669" y="83399"/>
                  </a:lnTo>
                  <a:lnTo>
                    <a:pt x="55445" y="83399"/>
                  </a:lnTo>
                  <a:lnTo>
                    <a:pt x="55445" y="88943"/>
                  </a:lnTo>
                  <a:lnTo>
                    <a:pt x="55445" y="94719"/>
                  </a:lnTo>
                  <a:lnTo>
                    <a:pt x="55445" y="322044"/>
                  </a:lnTo>
                  <a:lnTo>
                    <a:pt x="55445" y="327358"/>
                  </a:lnTo>
                  <a:lnTo>
                    <a:pt x="55445" y="332902"/>
                  </a:lnTo>
                  <a:lnTo>
                    <a:pt x="49669" y="332902"/>
                  </a:lnTo>
                  <a:lnTo>
                    <a:pt x="44587" y="332902"/>
                  </a:lnTo>
                  <a:lnTo>
                    <a:pt x="38811" y="332902"/>
                  </a:lnTo>
                  <a:lnTo>
                    <a:pt x="33267" y="327358"/>
                  </a:lnTo>
                  <a:lnTo>
                    <a:pt x="33267" y="322044"/>
                  </a:lnTo>
                  <a:close/>
                </a:path>
                <a:path w="94614" h="333375">
                  <a:moveTo>
                    <a:pt x="44587" y="94719"/>
                  </a:moveTo>
                  <a:lnTo>
                    <a:pt x="0" y="139075"/>
                  </a:lnTo>
                  <a:lnTo>
                    <a:pt x="44587" y="0"/>
                  </a:lnTo>
                  <a:lnTo>
                    <a:pt x="94487" y="139075"/>
                  </a:lnTo>
                  <a:lnTo>
                    <a:pt x="44587" y="94719"/>
                  </a:lnTo>
                  <a:close/>
                </a:path>
              </a:pathLst>
            </a:custGeom>
            <a:ln w="5722">
              <a:solidFill>
                <a:srgbClr val="000000"/>
              </a:solidFill>
            </a:ln>
          </p:spPr>
          <p:txBody>
            <a:bodyPr wrap="square" lIns="0" tIns="0" rIns="0" bIns="0" rtlCol="0"/>
            <a:lstStyle/>
            <a:p/>
          </p:txBody>
        </p:sp>
      </p:grpSp>
      <p:grpSp>
        <p:nvGrpSpPr>
          <p:cNvPr id="13" name="object 13" descr=""/>
          <p:cNvGrpSpPr/>
          <p:nvPr/>
        </p:nvGrpSpPr>
        <p:grpSpPr>
          <a:xfrm>
            <a:off x="8398409" y="2950393"/>
            <a:ext cx="94615" cy="339090"/>
            <a:chOff x="8398409" y="2950393"/>
            <a:chExt cx="94615" cy="339090"/>
          </a:xfrm>
        </p:grpSpPr>
        <p:sp>
          <p:nvSpPr>
            <p:cNvPr id="14" name="object 14" descr=""/>
            <p:cNvSpPr/>
            <p:nvPr/>
          </p:nvSpPr>
          <p:spPr>
            <a:xfrm>
              <a:off x="8401271" y="2953254"/>
              <a:ext cx="88900" cy="333375"/>
            </a:xfrm>
            <a:custGeom>
              <a:avLst/>
              <a:gdLst/>
              <a:ahLst/>
              <a:cxnLst/>
              <a:rect l="l" t="t" r="r" b="b"/>
              <a:pathLst>
                <a:path w="88900" h="333375">
                  <a:moveTo>
                    <a:pt x="44125" y="94719"/>
                  </a:moveTo>
                  <a:lnTo>
                    <a:pt x="33267" y="105633"/>
                  </a:lnTo>
                  <a:lnTo>
                    <a:pt x="33267" y="327358"/>
                  </a:lnTo>
                  <a:lnTo>
                    <a:pt x="39042" y="332903"/>
                  </a:lnTo>
                  <a:lnTo>
                    <a:pt x="55445" y="332903"/>
                  </a:lnTo>
                  <a:lnTo>
                    <a:pt x="55445" y="105980"/>
                  </a:lnTo>
                  <a:lnTo>
                    <a:pt x="44125" y="94719"/>
                  </a:lnTo>
                  <a:close/>
                </a:path>
                <a:path w="88900" h="333375">
                  <a:moveTo>
                    <a:pt x="44125" y="0"/>
                  </a:moveTo>
                  <a:lnTo>
                    <a:pt x="0" y="139075"/>
                  </a:lnTo>
                  <a:lnTo>
                    <a:pt x="33267" y="105633"/>
                  </a:lnTo>
                  <a:lnTo>
                    <a:pt x="33267" y="88943"/>
                  </a:lnTo>
                  <a:lnTo>
                    <a:pt x="39042" y="83399"/>
                  </a:lnTo>
                  <a:lnTo>
                    <a:pt x="70862" y="83399"/>
                  </a:lnTo>
                  <a:lnTo>
                    <a:pt x="44125" y="0"/>
                  </a:lnTo>
                  <a:close/>
                </a:path>
                <a:path w="88900" h="333375">
                  <a:moveTo>
                    <a:pt x="70862" y="83399"/>
                  </a:moveTo>
                  <a:lnTo>
                    <a:pt x="55445" y="83399"/>
                  </a:lnTo>
                  <a:lnTo>
                    <a:pt x="55445" y="105980"/>
                  </a:lnTo>
                  <a:lnTo>
                    <a:pt x="88712" y="139075"/>
                  </a:lnTo>
                  <a:lnTo>
                    <a:pt x="70862" y="83399"/>
                  </a:lnTo>
                  <a:close/>
                </a:path>
                <a:path w="88900" h="333375">
                  <a:moveTo>
                    <a:pt x="55445" y="94719"/>
                  </a:moveTo>
                  <a:lnTo>
                    <a:pt x="44125" y="94719"/>
                  </a:lnTo>
                  <a:lnTo>
                    <a:pt x="55445" y="105980"/>
                  </a:lnTo>
                  <a:lnTo>
                    <a:pt x="55445" y="94719"/>
                  </a:lnTo>
                  <a:close/>
                </a:path>
                <a:path w="88900" h="333375">
                  <a:moveTo>
                    <a:pt x="55445" y="83399"/>
                  </a:moveTo>
                  <a:lnTo>
                    <a:pt x="39042" y="83399"/>
                  </a:lnTo>
                  <a:lnTo>
                    <a:pt x="33267" y="88943"/>
                  </a:lnTo>
                  <a:lnTo>
                    <a:pt x="33267" y="105633"/>
                  </a:lnTo>
                  <a:lnTo>
                    <a:pt x="44125" y="94719"/>
                  </a:lnTo>
                  <a:lnTo>
                    <a:pt x="55445" y="94719"/>
                  </a:lnTo>
                  <a:lnTo>
                    <a:pt x="55445" y="83399"/>
                  </a:lnTo>
                  <a:close/>
                </a:path>
              </a:pathLst>
            </a:custGeom>
            <a:solidFill>
              <a:srgbClr val="000000"/>
            </a:solidFill>
          </p:spPr>
          <p:txBody>
            <a:bodyPr wrap="square" lIns="0" tIns="0" rIns="0" bIns="0" rtlCol="0"/>
            <a:lstStyle/>
            <a:p/>
          </p:txBody>
        </p:sp>
        <p:sp>
          <p:nvSpPr>
            <p:cNvPr id="15" name="object 15" descr=""/>
            <p:cNvSpPr/>
            <p:nvPr/>
          </p:nvSpPr>
          <p:spPr>
            <a:xfrm>
              <a:off x="8401271" y="2953254"/>
              <a:ext cx="88900" cy="333375"/>
            </a:xfrm>
            <a:custGeom>
              <a:avLst/>
              <a:gdLst/>
              <a:ahLst/>
              <a:cxnLst/>
              <a:rect l="l" t="t" r="r" b="b"/>
              <a:pathLst>
                <a:path w="88900" h="333375">
                  <a:moveTo>
                    <a:pt x="33267" y="322044"/>
                  </a:moveTo>
                  <a:lnTo>
                    <a:pt x="33267" y="94719"/>
                  </a:lnTo>
                  <a:lnTo>
                    <a:pt x="33267" y="88943"/>
                  </a:lnTo>
                  <a:lnTo>
                    <a:pt x="39042" y="83399"/>
                  </a:lnTo>
                  <a:lnTo>
                    <a:pt x="44125" y="83399"/>
                  </a:lnTo>
                  <a:lnTo>
                    <a:pt x="49900" y="83399"/>
                  </a:lnTo>
                  <a:lnTo>
                    <a:pt x="55445" y="83399"/>
                  </a:lnTo>
                  <a:lnTo>
                    <a:pt x="55445" y="88943"/>
                  </a:lnTo>
                  <a:lnTo>
                    <a:pt x="55445" y="94719"/>
                  </a:lnTo>
                  <a:lnTo>
                    <a:pt x="55445" y="322044"/>
                  </a:lnTo>
                  <a:lnTo>
                    <a:pt x="55445" y="327358"/>
                  </a:lnTo>
                  <a:lnTo>
                    <a:pt x="55445" y="332902"/>
                  </a:lnTo>
                  <a:lnTo>
                    <a:pt x="49900" y="332902"/>
                  </a:lnTo>
                  <a:lnTo>
                    <a:pt x="44125" y="332902"/>
                  </a:lnTo>
                  <a:lnTo>
                    <a:pt x="39042" y="332902"/>
                  </a:lnTo>
                  <a:lnTo>
                    <a:pt x="33267" y="327358"/>
                  </a:lnTo>
                  <a:lnTo>
                    <a:pt x="33267" y="322044"/>
                  </a:lnTo>
                  <a:close/>
                </a:path>
                <a:path w="88900" h="333375">
                  <a:moveTo>
                    <a:pt x="44125" y="94719"/>
                  </a:moveTo>
                  <a:lnTo>
                    <a:pt x="0" y="139075"/>
                  </a:lnTo>
                  <a:lnTo>
                    <a:pt x="44125" y="0"/>
                  </a:lnTo>
                  <a:lnTo>
                    <a:pt x="88712" y="139075"/>
                  </a:lnTo>
                  <a:lnTo>
                    <a:pt x="44125" y="94719"/>
                  </a:lnTo>
                  <a:close/>
                </a:path>
              </a:pathLst>
            </a:custGeom>
            <a:ln w="5722">
              <a:solidFill>
                <a:srgbClr val="000000"/>
              </a:solidFill>
            </a:ln>
          </p:spPr>
          <p:txBody>
            <a:bodyPr wrap="square" lIns="0" tIns="0" rIns="0" bIns="0" rtlCol="0"/>
            <a:lstStyle/>
            <a:p/>
          </p:txBody>
        </p:sp>
      </p:grpSp>
      <p:grpSp>
        <p:nvGrpSpPr>
          <p:cNvPr id="16" name="object 16" descr=""/>
          <p:cNvGrpSpPr/>
          <p:nvPr/>
        </p:nvGrpSpPr>
        <p:grpSpPr>
          <a:xfrm>
            <a:off x="6793274" y="2950393"/>
            <a:ext cx="100330" cy="339090"/>
            <a:chOff x="6793274" y="2950393"/>
            <a:chExt cx="100330" cy="339090"/>
          </a:xfrm>
        </p:grpSpPr>
        <p:sp>
          <p:nvSpPr>
            <p:cNvPr id="17" name="object 17" descr=""/>
            <p:cNvSpPr/>
            <p:nvPr/>
          </p:nvSpPr>
          <p:spPr>
            <a:xfrm>
              <a:off x="6796135" y="2953254"/>
              <a:ext cx="94615" cy="333375"/>
            </a:xfrm>
            <a:custGeom>
              <a:avLst/>
              <a:gdLst/>
              <a:ahLst/>
              <a:cxnLst/>
              <a:rect l="l" t="t" r="r" b="b"/>
              <a:pathLst>
                <a:path w="94615" h="333375">
                  <a:moveTo>
                    <a:pt x="44587" y="94719"/>
                  </a:moveTo>
                  <a:lnTo>
                    <a:pt x="33267" y="105980"/>
                  </a:lnTo>
                  <a:lnTo>
                    <a:pt x="33267" y="327358"/>
                  </a:lnTo>
                  <a:lnTo>
                    <a:pt x="39042" y="332903"/>
                  </a:lnTo>
                  <a:lnTo>
                    <a:pt x="55445" y="332903"/>
                  </a:lnTo>
                  <a:lnTo>
                    <a:pt x="55445" y="104370"/>
                  </a:lnTo>
                  <a:lnTo>
                    <a:pt x="44587" y="94719"/>
                  </a:lnTo>
                  <a:close/>
                </a:path>
                <a:path w="94615" h="333375">
                  <a:moveTo>
                    <a:pt x="44587" y="0"/>
                  </a:moveTo>
                  <a:lnTo>
                    <a:pt x="0" y="139075"/>
                  </a:lnTo>
                  <a:lnTo>
                    <a:pt x="33267" y="105980"/>
                  </a:lnTo>
                  <a:lnTo>
                    <a:pt x="33267" y="88943"/>
                  </a:lnTo>
                  <a:lnTo>
                    <a:pt x="39042" y="83399"/>
                  </a:lnTo>
                  <a:lnTo>
                    <a:pt x="74510" y="83399"/>
                  </a:lnTo>
                  <a:lnTo>
                    <a:pt x="44587" y="0"/>
                  </a:lnTo>
                  <a:close/>
                </a:path>
                <a:path w="94615" h="333375">
                  <a:moveTo>
                    <a:pt x="74510" y="83399"/>
                  </a:moveTo>
                  <a:lnTo>
                    <a:pt x="55445" y="83399"/>
                  </a:lnTo>
                  <a:lnTo>
                    <a:pt x="55445" y="104370"/>
                  </a:lnTo>
                  <a:lnTo>
                    <a:pt x="94487" y="139075"/>
                  </a:lnTo>
                  <a:lnTo>
                    <a:pt x="74510" y="83399"/>
                  </a:lnTo>
                  <a:close/>
                </a:path>
                <a:path w="94615" h="333375">
                  <a:moveTo>
                    <a:pt x="55445" y="83399"/>
                  </a:moveTo>
                  <a:lnTo>
                    <a:pt x="39042" y="83399"/>
                  </a:lnTo>
                  <a:lnTo>
                    <a:pt x="33267" y="88943"/>
                  </a:lnTo>
                  <a:lnTo>
                    <a:pt x="33267" y="105980"/>
                  </a:lnTo>
                  <a:lnTo>
                    <a:pt x="44587" y="94719"/>
                  </a:lnTo>
                  <a:lnTo>
                    <a:pt x="55445" y="94719"/>
                  </a:lnTo>
                  <a:lnTo>
                    <a:pt x="55445" y="83399"/>
                  </a:lnTo>
                  <a:close/>
                </a:path>
                <a:path w="94615" h="333375">
                  <a:moveTo>
                    <a:pt x="55445" y="94719"/>
                  </a:moveTo>
                  <a:lnTo>
                    <a:pt x="44587" y="94719"/>
                  </a:lnTo>
                  <a:lnTo>
                    <a:pt x="55445" y="104370"/>
                  </a:lnTo>
                  <a:lnTo>
                    <a:pt x="55445" y="94719"/>
                  </a:lnTo>
                  <a:close/>
                </a:path>
              </a:pathLst>
            </a:custGeom>
            <a:solidFill>
              <a:srgbClr val="000000"/>
            </a:solidFill>
          </p:spPr>
          <p:txBody>
            <a:bodyPr wrap="square" lIns="0" tIns="0" rIns="0" bIns="0" rtlCol="0"/>
            <a:lstStyle/>
            <a:p/>
          </p:txBody>
        </p:sp>
        <p:sp>
          <p:nvSpPr>
            <p:cNvPr id="18" name="object 18" descr=""/>
            <p:cNvSpPr/>
            <p:nvPr/>
          </p:nvSpPr>
          <p:spPr>
            <a:xfrm>
              <a:off x="6796135" y="2953254"/>
              <a:ext cx="94615" cy="333375"/>
            </a:xfrm>
            <a:custGeom>
              <a:avLst/>
              <a:gdLst/>
              <a:ahLst/>
              <a:cxnLst/>
              <a:rect l="l" t="t" r="r" b="b"/>
              <a:pathLst>
                <a:path w="94615" h="333375">
                  <a:moveTo>
                    <a:pt x="33267" y="322044"/>
                  </a:moveTo>
                  <a:lnTo>
                    <a:pt x="33267" y="94719"/>
                  </a:lnTo>
                  <a:lnTo>
                    <a:pt x="33267" y="88943"/>
                  </a:lnTo>
                  <a:lnTo>
                    <a:pt x="39042" y="83399"/>
                  </a:lnTo>
                  <a:lnTo>
                    <a:pt x="44587" y="83399"/>
                  </a:lnTo>
                  <a:lnTo>
                    <a:pt x="50362" y="83399"/>
                  </a:lnTo>
                  <a:lnTo>
                    <a:pt x="55445" y="83399"/>
                  </a:lnTo>
                  <a:lnTo>
                    <a:pt x="55445" y="88943"/>
                  </a:lnTo>
                  <a:lnTo>
                    <a:pt x="55445" y="94719"/>
                  </a:lnTo>
                  <a:lnTo>
                    <a:pt x="55445" y="322044"/>
                  </a:lnTo>
                  <a:lnTo>
                    <a:pt x="55445" y="327358"/>
                  </a:lnTo>
                  <a:lnTo>
                    <a:pt x="55445" y="332902"/>
                  </a:lnTo>
                  <a:lnTo>
                    <a:pt x="50362" y="332902"/>
                  </a:lnTo>
                  <a:lnTo>
                    <a:pt x="44587" y="332902"/>
                  </a:lnTo>
                  <a:lnTo>
                    <a:pt x="39042" y="332902"/>
                  </a:lnTo>
                  <a:lnTo>
                    <a:pt x="33267" y="327358"/>
                  </a:lnTo>
                  <a:lnTo>
                    <a:pt x="33267" y="322044"/>
                  </a:lnTo>
                  <a:close/>
                </a:path>
                <a:path w="94615" h="333375">
                  <a:moveTo>
                    <a:pt x="44587" y="94719"/>
                  </a:moveTo>
                  <a:lnTo>
                    <a:pt x="0" y="139075"/>
                  </a:lnTo>
                  <a:lnTo>
                    <a:pt x="44587" y="0"/>
                  </a:lnTo>
                  <a:lnTo>
                    <a:pt x="94487" y="139075"/>
                  </a:lnTo>
                  <a:lnTo>
                    <a:pt x="44587" y="94719"/>
                  </a:lnTo>
                  <a:close/>
                </a:path>
              </a:pathLst>
            </a:custGeom>
            <a:ln w="5722">
              <a:solidFill>
                <a:srgbClr val="000000"/>
              </a:solidFill>
            </a:ln>
          </p:spPr>
          <p:txBody>
            <a:bodyPr wrap="square" lIns="0" tIns="0" rIns="0" bIns="0" rtlCol="0"/>
            <a:lstStyle/>
            <a:p/>
          </p:txBody>
        </p:sp>
      </p:grpSp>
      <p:grpSp>
        <p:nvGrpSpPr>
          <p:cNvPr id="19" name="object 19" descr=""/>
          <p:cNvGrpSpPr/>
          <p:nvPr/>
        </p:nvGrpSpPr>
        <p:grpSpPr>
          <a:xfrm>
            <a:off x="3561819" y="2950393"/>
            <a:ext cx="100330" cy="339090"/>
            <a:chOff x="3561819" y="2950393"/>
            <a:chExt cx="100330" cy="339090"/>
          </a:xfrm>
        </p:grpSpPr>
        <p:sp>
          <p:nvSpPr>
            <p:cNvPr id="20" name="object 20" descr=""/>
            <p:cNvSpPr/>
            <p:nvPr/>
          </p:nvSpPr>
          <p:spPr>
            <a:xfrm>
              <a:off x="3564680" y="2953254"/>
              <a:ext cx="94615" cy="333375"/>
            </a:xfrm>
            <a:custGeom>
              <a:avLst/>
              <a:gdLst/>
              <a:ahLst/>
              <a:cxnLst/>
              <a:rect l="l" t="t" r="r" b="b"/>
              <a:pathLst>
                <a:path w="94614" h="333375">
                  <a:moveTo>
                    <a:pt x="44055" y="94719"/>
                  </a:moveTo>
                  <a:lnTo>
                    <a:pt x="33174" y="105674"/>
                  </a:lnTo>
                  <a:lnTo>
                    <a:pt x="33174" y="322044"/>
                  </a:lnTo>
                  <a:lnTo>
                    <a:pt x="38903" y="327358"/>
                  </a:lnTo>
                  <a:lnTo>
                    <a:pt x="38903" y="332903"/>
                  </a:lnTo>
                  <a:lnTo>
                    <a:pt x="55491" y="332903"/>
                  </a:lnTo>
                  <a:lnTo>
                    <a:pt x="55491" y="327358"/>
                  </a:lnTo>
                  <a:lnTo>
                    <a:pt x="60643" y="322044"/>
                  </a:lnTo>
                  <a:lnTo>
                    <a:pt x="60643" y="109328"/>
                  </a:lnTo>
                  <a:lnTo>
                    <a:pt x="44055" y="94719"/>
                  </a:lnTo>
                  <a:close/>
                </a:path>
                <a:path w="94614" h="333375">
                  <a:moveTo>
                    <a:pt x="44055" y="0"/>
                  </a:moveTo>
                  <a:lnTo>
                    <a:pt x="0" y="139075"/>
                  </a:lnTo>
                  <a:lnTo>
                    <a:pt x="33174" y="105674"/>
                  </a:lnTo>
                  <a:lnTo>
                    <a:pt x="33174" y="94719"/>
                  </a:lnTo>
                  <a:lnTo>
                    <a:pt x="38903" y="88943"/>
                  </a:lnTo>
                  <a:lnTo>
                    <a:pt x="38903" y="83399"/>
                  </a:lnTo>
                  <a:lnTo>
                    <a:pt x="74256" y="83399"/>
                  </a:lnTo>
                  <a:lnTo>
                    <a:pt x="44055" y="0"/>
                  </a:lnTo>
                  <a:close/>
                </a:path>
                <a:path w="94614" h="333375">
                  <a:moveTo>
                    <a:pt x="74256" y="83399"/>
                  </a:moveTo>
                  <a:lnTo>
                    <a:pt x="55491" y="83399"/>
                  </a:lnTo>
                  <a:lnTo>
                    <a:pt x="55491" y="88943"/>
                  </a:lnTo>
                  <a:lnTo>
                    <a:pt x="60643" y="94719"/>
                  </a:lnTo>
                  <a:lnTo>
                    <a:pt x="60643" y="109328"/>
                  </a:lnTo>
                  <a:lnTo>
                    <a:pt x="94418" y="139075"/>
                  </a:lnTo>
                  <a:lnTo>
                    <a:pt x="74256" y="83399"/>
                  </a:lnTo>
                  <a:close/>
                </a:path>
                <a:path w="94614" h="333375">
                  <a:moveTo>
                    <a:pt x="60643" y="94719"/>
                  </a:moveTo>
                  <a:lnTo>
                    <a:pt x="44055" y="94719"/>
                  </a:lnTo>
                  <a:lnTo>
                    <a:pt x="60643" y="109328"/>
                  </a:lnTo>
                  <a:lnTo>
                    <a:pt x="60643" y="94719"/>
                  </a:lnTo>
                  <a:close/>
                </a:path>
                <a:path w="94614" h="333375">
                  <a:moveTo>
                    <a:pt x="55491" y="83399"/>
                  </a:moveTo>
                  <a:lnTo>
                    <a:pt x="38903" y="83399"/>
                  </a:lnTo>
                  <a:lnTo>
                    <a:pt x="38903" y="88943"/>
                  </a:lnTo>
                  <a:lnTo>
                    <a:pt x="33174" y="94719"/>
                  </a:lnTo>
                  <a:lnTo>
                    <a:pt x="33174" y="105674"/>
                  </a:lnTo>
                  <a:lnTo>
                    <a:pt x="44055" y="94719"/>
                  </a:lnTo>
                  <a:lnTo>
                    <a:pt x="60643" y="94719"/>
                  </a:lnTo>
                  <a:lnTo>
                    <a:pt x="55491" y="88943"/>
                  </a:lnTo>
                  <a:lnTo>
                    <a:pt x="55491" y="83399"/>
                  </a:lnTo>
                  <a:close/>
                </a:path>
              </a:pathLst>
            </a:custGeom>
            <a:solidFill>
              <a:srgbClr val="000000"/>
            </a:solidFill>
          </p:spPr>
          <p:txBody>
            <a:bodyPr wrap="square" lIns="0" tIns="0" rIns="0" bIns="0" rtlCol="0"/>
            <a:lstStyle/>
            <a:p/>
          </p:txBody>
        </p:sp>
        <p:sp>
          <p:nvSpPr>
            <p:cNvPr id="21" name="object 21" descr=""/>
            <p:cNvSpPr/>
            <p:nvPr/>
          </p:nvSpPr>
          <p:spPr>
            <a:xfrm>
              <a:off x="3564680" y="2953254"/>
              <a:ext cx="94615" cy="333375"/>
            </a:xfrm>
            <a:custGeom>
              <a:avLst/>
              <a:gdLst/>
              <a:ahLst/>
              <a:cxnLst/>
              <a:rect l="l" t="t" r="r" b="b"/>
              <a:pathLst>
                <a:path w="94614" h="333375">
                  <a:moveTo>
                    <a:pt x="33174" y="322044"/>
                  </a:moveTo>
                  <a:lnTo>
                    <a:pt x="33174" y="94719"/>
                  </a:lnTo>
                  <a:lnTo>
                    <a:pt x="38903" y="88943"/>
                  </a:lnTo>
                  <a:lnTo>
                    <a:pt x="38903" y="83399"/>
                  </a:lnTo>
                  <a:lnTo>
                    <a:pt x="44055" y="83399"/>
                  </a:lnTo>
                  <a:lnTo>
                    <a:pt x="49785" y="83399"/>
                  </a:lnTo>
                  <a:lnTo>
                    <a:pt x="55491" y="83399"/>
                  </a:lnTo>
                  <a:lnTo>
                    <a:pt x="55491" y="88943"/>
                  </a:lnTo>
                  <a:lnTo>
                    <a:pt x="60643" y="94719"/>
                  </a:lnTo>
                  <a:lnTo>
                    <a:pt x="60643" y="322044"/>
                  </a:lnTo>
                  <a:lnTo>
                    <a:pt x="55491" y="327358"/>
                  </a:lnTo>
                  <a:lnTo>
                    <a:pt x="55491" y="332902"/>
                  </a:lnTo>
                  <a:lnTo>
                    <a:pt x="49785" y="332902"/>
                  </a:lnTo>
                  <a:lnTo>
                    <a:pt x="44055" y="332902"/>
                  </a:lnTo>
                  <a:lnTo>
                    <a:pt x="38903" y="332902"/>
                  </a:lnTo>
                  <a:lnTo>
                    <a:pt x="38903" y="327358"/>
                  </a:lnTo>
                  <a:lnTo>
                    <a:pt x="33174" y="322044"/>
                  </a:lnTo>
                  <a:close/>
                </a:path>
                <a:path w="94614" h="333375">
                  <a:moveTo>
                    <a:pt x="44055" y="94719"/>
                  </a:moveTo>
                  <a:lnTo>
                    <a:pt x="0" y="139075"/>
                  </a:lnTo>
                  <a:lnTo>
                    <a:pt x="44055" y="0"/>
                  </a:lnTo>
                  <a:lnTo>
                    <a:pt x="94418" y="139075"/>
                  </a:lnTo>
                  <a:lnTo>
                    <a:pt x="44055" y="94719"/>
                  </a:lnTo>
                  <a:close/>
                </a:path>
              </a:pathLst>
            </a:custGeom>
            <a:ln w="5722">
              <a:solidFill>
                <a:srgbClr val="000000"/>
              </a:solidFill>
            </a:ln>
          </p:spPr>
          <p:txBody>
            <a:bodyPr wrap="square" lIns="0" tIns="0" rIns="0" bIns="0" rtlCol="0"/>
            <a:lstStyle/>
            <a:p/>
          </p:txBody>
        </p:sp>
      </p:grpSp>
      <p:sp>
        <p:nvSpPr>
          <p:cNvPr id="22" name="object 22" descr=""/>
          <p:cNvSpPr txBox="1"/>
          <p:nvPr/>
        </p:nvSpPr>
        <p:spPr>
          <a:xfrm>
            <a:off x="4021894" y="1552428"/>
            <a:ext cx="799465" cy="433070"/>
          </a:xfrm>
          <a:prstGeom prst="rect">
            <a:avLst/>
          </a:prstGeom>
          <a:solidFill>
            <a:srgbClr val="FFFF99"/>
          </a:solidFill>
          <a:ln w="16595">
            <a:solidFill>
              <a:srgbClr val="000000"/>
            </a:solidFill>
          </a:ln>
        </p:spPr>
        <p:txBody>
          <a:bodyPr wrap="square" lIns="0" tIns="95250" rIns="0" bIns="0" rtlCol="0" vert="horz">
            <a:spAutoFit/>
          </a:bodyPr>
          <a:lstStyle/>
          <a:p>
            <a:pPr marL="216535">
              <a:lnSpc>
                <a:spcPct val="100000"/>
              </a:lnSpc>
              <a:spcBef>
                <a:spcPts val="750"/>
              </a:spcBef>
            </a:pPr>
            <a:r>
              <a:rPr dirty="0" sz="1650" spc="-25">
                <a:latin typeface="宋体"/>
                <a:cs typeface="宋体"/>
              </a:rPr>
              <a:t>CPU</a:t>
            </a:r>
            <a:endParaRPr sz="1650">
              <a:latin typeface="宋体"/>
              <a:cs typeface="宋体"/>
            </a:endParaRPr>
          </a:p>
        </p:txBody>
      </p:sp>
      <p:grpSp>
        <p:nvGrpSpPr>
          <p:cNvPr id="23" name="object 23" descr=""/>
          <p:cNvGrpSpPr/>
          <p:nvPr/>
        </p:nvGrpSpPr>
        <p:grpSpPr>
          <a:xfrm>
            <a:off x="2747512" y="1365876"/>
            <a:ext cx="1692275" cy="4493895"/>
            <a:chOff x="2747512" y="1365876"/>
            <a:chExt cx="1692275" cy="4493895"/>
          </a:xfrm>
        </p:grpSpPr>
        <p:sp>
          <p:nvSpPr>
            <p:cNvPr id="24" name="object 24" descr=""/>
            <p:cNvSpPr/>
            <p:nvPr/>
          </p:nvSpPr>
          <p:spPr>
            <a:xfrm>
              <a:off x="2756085" y="1374449"/>
              <a:ext cx="1654810" cy="4476750"/>
            </a:xfrm>
            <a:custGeom>
              <a:avLst/>
              <a:gdLst/>
              <a:ahLst/>
              <a:cxnLst/>
              <a:rect l="l" t="t" r="r" b="b"/>
              <a:pathLst>
                <a:path w="1654810" h="4476750">
                  <a:moveTo>
                    <a:pt x="1654363" y="0"/>
                  </a:moveTo>
                  <a:lnTo>
                    <a:pt x="1654363" y="177887"/>
                  </a:lnTo>
                </a:path>
                <a:path w="1654810" h="4476750">
                  <a:moveTo>
                    <a:pt x="0" y="0"/>
                  </a:moveTo>
                  <a:lnTo>
                    <a:pt x="0" y="4476653"/>
                  </a:lnTo>
                </a:path>
                <a:path w="1654810" h="4476750">
                  <a:moveTo>
                    <a:pt x="0" y="0"/>
                  </a:moveTo>
                  <a:lnTo>
                    <a:pt x="1654363" y="0"/>
                  </a:lnTo>
                </a:path>
              </a:pathLst>
            </a:custGeom>
            <a:ln w="16595">
              <a:solidFill>
                <a:srgbClr val="000000"/>
              </a:solidFill>
            </a:ln>
          </p:spPr>
          <p:txBody>
            <a:bodyPr wrap="square" lIns="0" tIns="0" rIns="0" bIns="0" rtlCol="0"/>
            <a:lstStyle/>
            <a:p/>
          </p:txBody>
        </p:sp>
        <p:sp>
          <p:nvSpPr>
            <p:cNvPr id="25" name="object 25" descr=""/>
            <p:cNvSpPr/>
            <p:nvPr/>
          </p:nvSpPr>
          <p:spPr>
            <a:xfrm>
              <a:off x="4341789" y="1988274"/>
              <a:ext cx="94615" cy="466090"/>
            </a:xfrm>
            <a:custGeom>
              <a:avLst/>
              <a:gdLst/>
              <a:ahLst/>
              <a:cxnLst/>
              <a:rect l="l" t="t" r="r" b="b"/>
              <a:pathLst>
                <a:path w="94614" h="466089">
                  <a:moveTo>
                    <a:pt x="0" y="327358"/>
                  </a:moveTo>
                  <a:lnTo>
                    <a:pt x="44633" y="465740"/>
                  </a:lnTo>
                  <a:lnTo>
                    <a:pt x="74554" y="382572"/>
                  </a:lnTo>
                  <a:lnTo>
                    <a:pt x="38903" y="382572"/>
                  </a:lnTo>
                  <a:lnTo>
                    <a:pt x="38903" y="377490"/>
                  </a:lnTo>
                  <a:lnTo>
                    <a:pt x="33174" y="371714"/>
                  </a:lnTo>
                  <a:lnTo>
                    <a:pt x="33174" y="360327"/>
                  </a:lnTo>
                  <a:lnTo>
                    <a:pt x="0" y="327358"/>
                  </a:lnTo>
                  <a:close/>
                </a:path>
                <a:path w="94614" h="466089">
                  <a:moveTo>
                    <a:pt x="61220" y="356936"/>
                  </a:moveTo>
                  <a:lnTo>
                    <a:pt x="44633" y="371714"/>
                  </a:lnTo>
                  <a:lnTo>
                    <a:pt x="33174" y="371714"/>
                  </a:lnTo>
                  <a:lnTo>
                    <a:pt x="38903" y="377490"/>
                  </a:lnTo>
                  <a:lnTo>
                    <a:pt x="38903" y="382572"/>
                  </a:lnTo>
                  <a:lnTo>
                    <a:pt x="55491" y="382572"/>
                  </a:lnTo>
                  <a:lnTo>
                    <a:pt x="55491" y="377490"/>
                  </a:lnTo>
                  <a:lnTo>
                    <a:pt x="61220" y="371714"/>
                  </a:lnTo>
                  <a:lnTo>
                    <a:pt x="44633" y="371714"/>
                  </a:lnTo>
                  <a:lnTo>
                    <a:pt x="33174" y="360327"/>
                  </a:lnTo>
                  <a:lnTo>
                    <a:pt x="61220" y="360327"/>
                  </a:lnTo>
                  <a:lnTo>
                    <a:pt x="61220" y="356936"/>
                  </a:lnTo>
                  <a:close/>
                </a:path>
                <a:path w="94614" h="466089">
                  <a:moveTo>
                    <a:pt x="94418" y="327358"/>
                  </a:moveTo>
                  <a:lnTo>
                    <a:pt x="61220" y="356936"/>
                  </a:lnTo>
                  <a:lnTo>
                    <a:pt x="61220" y="371714"/>
                  </a:lnTo>
                  <a:lnTo>
                    <a:pt x="55491" y="377490"/>
                  </a:lnTo>
                  <a:lnTo>
                    <a:pt x="55491" y="382572"/>
                  </a:lnTo>
                  <a:lnTo>
                    <a:pt x="74554" y="382572"/>
                  </a:lnTo>
                  <a:lnTo>
                    <a:pt x="94418" y="327358"/>
                  </a:lnTo>
                  <a:close/>
                </a:path>
                <a:path w="94614" h="466089">
                  <a:moveTo>
                    <a:pt x="44633" y="88943"/>
                  </a:moveTo>
                  <a:lnTo>
                    <a:pt x="33174" y="101695"/>
                  </a:lnTo>
                  <a:lnTo>
                    <a:pt x="33174" y="360327"/>
                  </a:lnTo>
                  <a:lnTo>
                    <a:pt x="44633" y="371714"/>
                  </a:lnTo>
                  <a:lnTo>
                    <a:pt x="61220" y="356936"/>
                  </a:lnTo>
                  <a:lnTo>
                    <a:pt x="61220" y="105492"/>
                  </a:lnTo>
                  <a:lnTo>
                    <a:pt x="44633" y="88943"/>
                  </a:lnTo>
                  <a:close/>
                </a:path>
                <a:path w="94614" h="466089">
                  <a:moveTo>
                    <a:pt x="44633" y="0"/>
                  </a:moveTo>
                  <a:lnTo>
                    <a:pt x="0" y="138613"/>
                  </a:lnTo>
                  <a:lnTo>
                    <a:pt x="33174" y="101695"/>
                  </a:lnTo>
                  <a:lnTo>
                    <a:pt x="33174" y="88943"/>
                  </a:lnTo>
                  <a:lnTo>
                    <a:pt x="38903" y="88943"/>
                  </a:lnTo>
                  <a:lnTo>
                    <a:pt x="38903" y="83399"/>
                  </a:lnTo>
                  <a:lnTo>
                    <a:pt x="44633" y="83399"/>
                  </a:lnTo>
                  <a:lnTo>
                    <a:pt x="44633" y="77623"/>
                  </a:lnTo>
                  <a:lnTo>
                    <a:pt x="72512" y="77623"/>
                  </a:lnTo>
                  <a:lnTo>
                    <a:pt x="44633" y="0"/>
                  </a:lnTo>
                  <a:close/>
                </a:path>
                <a:path w="94614" h="466089">
                  <a:moveTo>
                    <a:pt x="72512" y="77623"/>
                  </a:moveTo>
                  <a:lnTo>
                    <a:pt x="44633" y="77623"/>
                  </a:lnTo>
                  <a:lnTo>
                    <a:pt x="50362" y="83399"/>
                  </a:lnTo>
                  <a:lnTo>
                    <a:pt x="55491" y="83399"/>
                  </a:lnTo>
                  <a:lnTo>
                    <a:pt x="55491" y="88943"/>
                  </a:lnTo>
                  <a:lnTo>
                    <a:pt x="61220" y="88943"/>
                  </a:lnTo>
                  <a:lnTo>
                    <a:pt x="61220" y="105492"/>
                  </a:lnTo>
                  <a:lnTo>
                    <a:pt x="94418" y="138613"/>
                  </a:lnTo>
                  <a:lnTo>
                    <a:pt x="72512" y="77623"/>
                  </a:lnTo>
                  <a:close/>
                </a:path>
                <a:path w="94614" h="466089">
                  <a:moveTo>
                    <a:pt x="61220" y="88943"/>
                  </a:moveTo>
                  <a:lnTo>
                    <a:pt x="44633" y="88943"/>
                  </a:lnTo>
                  <a:lnTo>
                    <a:pt x="61220" y="105492"/>
                  </a:lnTo>
                  <a:lnTo>
                    <a:pt x="61220" y="88943"/>
                  </a:lnTo>
                  <a:close/>
                </a:path>
                <a:path w="94614" h="466089">
                  <a:moveTo>
                    <a:pt x="44633" y="88943"/>
                  </a:moveTo>
                  <a:lnTo>
                    <a:pt x="33174" y="88943"/>
                  </a:lnTo>
                  <a:lnTo>
                    <a:pt x="33174" y="101695"/>
                  </a:lnTo>
                  <a:lnTo>
                    <a:pt x="44633" y="88943"/>
                  </a:lnTo>
                  <a:close/>
                </a:path>
                <a:path w="94614" h="466089">
                  <a:moveTo>
                    <a:pt x="55491" y="83399"/>
                  </a:moveTo>
                  <a:lnTo>
                    <a:pt x="38903" y="83399"/>
                  </a:lnTo>
                  <a:lnTo>
                    <a:pt x="38903" y="88943"/>
                  </a:lnTo>
                  <a:lnTo>
                    <a:pt x="55491" y="88943"/>
                  </a:lnTo>
                  <a:lnTo>
                    <a:pt x="55491" y="83399"/>
                  </a:lnTo>
                  <a:close/>
                </a:path>
                <a:path w="94614" h="466089">
                  <a:moveTo>
                    <a:pt x="44633" y="77623"/>
                  </a:moveTo>
                  <a:lnTo>
                    <a:pt x="44633" y="83399"/>
                  </a:lnTo>
                  <a:lnTo>
                    <a:pt x="50362" y="83399"/>
                  </a:lnTo>
                  <a:lnTo>
                    <a:pt x="44633" y="77623"/>
                  </a:lnTo>
                  <a:close/>
                </a:path>
              </a:pathLst>
            </a:custGeom>
            <a:solidFill>
              <a:srgbClr val="000000"/>
            </a:solidFill>
          </p:spPr>
          <p:txBody>
            <a:bodyPr wrap="square" lIns="0" tIns="0" rIns="0" bIns="0" rtlCol="0"/>
            <a:lstStyle/>
            <a:p/>
          </p:txBody>
        </p:sp>
        <p:sp>
          <p:nvSpPr>
            <p:cNvPr id="26" name="object 26" descr=""/>
            <p:cNvSpPr/>
            <p:nvPr/>
          </p:nvSpPr>
          <p:spPr>
            <a:xfrm>
              <a:off x="4341789" y="1988275"/>
              <a:ext cx="94615" cy="466090"/>
            </a:xfrm>
            <a:custGeom>
              <a:avLst/>
              <a:gdLst/>
              <a:ahLst/>
              <a:cxnLst/>
              <a:rect l="l" t="t" r="r" b="b"/>
              <a:pathLst>
                <a:path w="94614" h="466089">
                  <a:moveTo>
                    <a:pt x="61220" y="88943"/>
                  </a:moveTo>
                  <a:lnTo>
                    <a:pt x="61220" y="371714"/>
                  </a:lnTo>
                  <a:lnTo>
                    <a:pt x="55491" y="377490"/>
                  </a:lnTo>
                  <a:lnTo>
                    <a:pt x="55491" y="382572"/>
                  </a:lnTo>
                  <a:lnTo>
                    <a:pt x="50362" y="382572"/>
                  </a:lnTo>
                  <a:lnTo>
                    <a:pt x="44633" y="382572"/>
                  </a:lnTo>
                  <a:lnTo>
                    <a:pt x="38903" y="382572"/>
                  </a:lnTo>
                  <a:lnTo>
                    <a:pt x="38903" y="377490"/>
                  </a:lnTo>
                  <a:lnTo>
                    <a:pt x="33174" y="371714"/>
                  </a:lnTo>
                  <a:lnTo>
                    <a:pt x="33174" y="88943"/>
                  </a:lnTo>
                  <a:lnTo>
                    <a:pt x="38903" y="88943"/>
                  </a:lnTo>
                  <a:lnTo>
                    <a:pt x="38903" y="83399"/>
                  </a:lnTo>
                  <a:lnTo>
                    <a:pt x="44633" y="83399"/>
                  </a:lnTo>
                  <a:lnTo>
                    <a:pt x="44633" y="77623"/>
                  </a:lnTo>
                  <a:lnTo>
                    <a:pt x="50362" y="83399"/>
                  </a:lnTo>
                  <a:lnTo>
                    <a:pt x="55491" y="83399"/>
                  </a:lnTo>
                  <a:lnTo>
                    <a:pt x="55491" y="88943"/>
                  </a:lnTo>
                  <a:lnTo>
                    <a:pt x="61220" y="88943"/>
                  </a:lnTo>
                  <a:close/>
                </a:path>
                <a:path w="94614" h="466089">
                  <a:moveTo>
                    <a:pt x="44633" y="88943"/>
                  </a:moveTo>
                  <a:lnTo>
                    <a:pt x="0" y="138613"/>
                  </a:lnTo>
                  <a:lnTo>
                    <a:pt x="44633" y="0"/>
                  </a:lnTo>
                  <a:lnTo>
                    <a:pt x="94418" y="138613"/>
                  </a:lnTo>
                  <a:lnTo>
                    <a:pt x="44633" y="88943"/>
                  </a:lnTo>
                  <a:close/>
                </a:path>
                <a:path w="94614" h="466089">
                  <a:moveTo>
                    <a:pt x="44633" y="371714"/>
                  </a:moveTo>
                  <a:lnTo>
                    <a:pt x="94418" y="327358"/>
                  </a:lnTo>
                  <a:lnTo>
                    <a:pt x="44633" y="465740"/>
                  </a:lnTo>
                  <a:lnTo>
                    <a:pt x="0" y="327358"/>
                  </a:lnTo>
                  <a:lnTo>
                    <a:pt x="44633" y="371714"/>
                  </a:lnTo>
                  <a:close/>
                </a:path>
              </a:pathLst>
            </a:custGeom>
            <a:ln w="5722">
              <a:solidFill>
                <a:srgbClr val="000000"/>
              </a:solidFill>
            </a:ln>
          </p:spPr>
          <p:txBody>
            <a:bodyPr wrap="square" lIns="0" tIns="0" rIns="0" bIns="0" rtlCol="0"/>
            <a:lstStyle/>
            <a:p/>
          </p:txBody>
        </p:sp>
      </p:grpSp>
      <p:sp>
        <p:nvSpPr>
          <p:cNvPr id="27" name="object 27" descr=""/>
          <p:cNvSpPr txBox="1"/>
          <p:nvPr/>
        </p:nvSpPr>
        <p:spPr>
          <a:xfrm>
            <a:off x="7297914" y="1552428"/>
            <a:ext cx="805180" cy="433070"/>
          </a:xfrm>
          <a:prstGeom prst="rect">
            <a:avLst/>
          </a:prstGeom>
          <a:solidFill>
            <a:srgbClr val="FFCCCC"/>
          </a:solidFill>
          <a:ln w="16595">
            <a:solidFill>
              <a:srgbClr val="000000"/>
            </a:solidFill>
          </a:ln>
        </p:spPr>
        <p:txBody>
          <a:bodyPr wrap="square" lIns="0" tIns="95250" rIns="0" bIns="0" rtlCol="0" vert="horz">
            <a:spAutoFit/>
          </a:bodyPr>
          <a:lstStyle/>
          <a:p>
            <a:pPr marL="243840">
              <a:lnSpc>
                <a:spcPct val="100000"/>
              </a:lnSpc>
              <a:spcBef>
                <a:spcPts val="750"/>
              </a:spcBef>
            </a:pPr>
            <a:r>
              <a:rPr dirty="0" sz="1650" spc="-25">
                <a:latin typeface="宋体"/>
                <a:cs typeface="宋体"/>
              </a:rPr>
              <a:t>IOP</a:t>
            </a:r>
            <a:endParaRPr sz="1650">
              <a:latin typeface="宋体"/>
              <a:cs typeface="宋体"/>
            </a:endParaRPr>
          </a:p>
        </p:txBody>
      </p:sp>
      <p:sp>
        <p:nvSpPr>
          <p:cNvPr id="28" name="object 28" descr=""/>
          <p:cNvSpPr/>
          <p:nvPr/>
        </p:nvSpPr>
        <p:spPr>
          <a:xfrm>
            <a:off x="7687184" y="1374449"/>
            <a:ext cx="0" cy="178435"/>
          </a:xfrm>
          <a:custGeom>
            <a:avLst/>
            <a:gdLst/>
            <a:ahLst/>
            <a:cxnLst/>
            <a:rect l="l" t="t" r="r" b="b"/>
            <a:pathLst>
              <a:path w="0" h="178434">
                <a:moveTo>
                  <a:pt x="0" y="0"/>
                </a:moveTo>
                <a:lnTo>
                  <a:pt x="0" y="177887"/>
                </a:lnTo>
              </a:path>
            </a:pathLst>
          </a:custGeom>
          <a:ln w="16595">
            <a:solidFill>
              <a:srgbClr val="000000"/>
            </a:solidFill>
          </a:ln>
        </p:spPr>
        <p:txBody>
          <a:bodyPr wrap="square" lIns="0" tIns="0" rIns="0" bIns="0" rtlCol="0"/>
          <a:lstStyle/>
          <a:p/>
        </p:txBody>
      </p:sp>
      <p:grpSp>
        <p:nvGrpSpPr>
          <p:cNvPr id="29" name="object 29" descr=""/>
          <p:cNvGrpSpPr/>
          <p:nvPr/>
        </p:nvGrpSpPr>
        <p:grpSpPr>
          <a:xfrm>
            <a:off x="7665379" y="1985413"/>
            <a:ext cx="100330" cy="471805"/>
            <a:chOff x="7665379" y="1985413"/>
            <a:chExt cx="100330" cy="471805"/>
          </a:xfrm>
        </p:grpSpPr>
        <p:sp>
          <p:nvSpPr>
            <p:cNvPr id="30" name="object 30" descr=""/>
            <p:cNvSpPr/>
            <p:nvPr/>
          </p:nvSpPr>
          <p:spPr>
            <a:xfrm>
              <a:off x="7668240" y="1988274"/>
              <a:ext cx="94615" cy="466090"/>
            </a:xfrm>
            <a:custGeom>
              <a:avLst/>
              <a:gdLst/>
              <a:ahLst/>
              <a:cxnLst/>
              <a:rect l="l" t="t" r="r" b="b"/>
              <a:pathLst>
                <a:path w="94615" h="466089">
                  <a:moveTo>
                    <a:pt x="0" y="327358"/>
                  </a:moveTo>
                  <a:lnTo>
                    <a:pt x="49900" y="465740"/>
                  </a:lnTo>
                  <a:lnTo>
                    <a:pt x="76697" y="382572"/>
                  </a:lnTo>
                  <a:lnTo>
                    <a:pt x="39042" y="382572"/>
                  </a:lnTo>
                  <a:lnTo>
                    <a:pt x="39042" y="362063"/>
                  </a:lnTo>
                  <a:lnTo>
                    <a:pt x="0" y="327358"/>
                  </a:lnTo>
                  <a:close/>
                </a:path>
                <a:path w="94615" h="466089">
                  <a:moveTo>
                    <a:pt x="39042" y="362063"/>
                  </a:moveTo>
                  <a:lnTo>
                    <a:pt x="39042" y="382572"/>
                  </a:lnTo>
                  <a:lnTo>
                    <a:pt x="55445" y="382572"/>
                  </a:lnTo>
                  <a:lnTo>
                    <a:pt x="60758" y="377490"/>
                  </a:lnTo>
                  <a:lnTo>
                    <a:pt x="60758" y="371714"/>
                  </a:lnTo>
                  <a:lnTo>
                    <a:pt x="49900" y="371714"/>
                  </a:lnTo>
                  <a:lnTo>
                    <a:pt x="39042" y="362063"/>
                  </a:lnTo>
                  <a:close/>
                </a:path>
                <a:path w="94615" h="466089">
                  <a:moveTo>
                    <a:pt x="94487" y="327358"/>
                  </a:moveTo>
                  <a:lnTo>
                    <a:pt x="60758" y="360912"/>
                  </a:lnTo>
                  <a:lnTo>
                    <a:pt x="60758" y="377490"/>
                  </a:lnTo>
                  <a:lnTo>
                    <a:pt x="55445" y="382572"/>
                  </a:lnTo>
                  <a:lnTo>
                    <a:pt x="76697" y="382572"/>
                  </a:lnTo>
                  <a:lnTo>
                    <a:pt x="94487" y="327358"/>
                  </a:lnTo>
                  <a:close/>
                </a:path>
                <a:path w="94615" h="466089">
                  <a:moveTo>
                    <a:pt x="49900" y="88943"/>
                  </a:moveTo>
                  <a:lnTo>
                    <a:pt x="39042" y="99751"/>
                  </a:lnTo>
                  <a:lnTo>
                    <a:pt x="39042" y="362063"/>
                  </a:lnTo>
                  <a:lnTo>
                    <a:pt x="49900" y="371714"/>
                  </a:lnTo>
                  <a:lnTo>
                    <a:pt x="60758" y="360912"/>
                  </a:lnTo>
                  <a:lnTo>
                    <a:pt x="60758" y="101039"/>
                  </a:lnTo>
                  <a:lnTo>
                    <a:pt x="49900" y="88943"/>
                  </a:lnTo>
                  <a:close/>
                </a:path>
                <a:path w="94615" h="466089">
                  <a:moveTo>
                    <a:pt x="60758" y="360912"/>
                  </a:moveTo>
                  <a:lnTo>
                    <a:pt x="49900" y="371714"/>
                  </a:lnTo>
                  <a:lnTo>
                    <a:pt x="60758" y="371714"/>
                  </a:lnTo>
                  <a:lnTo>
                    <a:pt x="60758" y="360912"/>
                  </a:lnTo>
                  <a:close/>
                </a:path>
                <a:path w="94615" h="466089">
                  <a:moveTo>
                    <a:pt x="49900" y="0"/>
                  </a:moveTo>
                  <a:lnTo>
                    <a:pt x="0" y="138613"/>
                  </a:lnTo>
                  <a:lnTo>
                    <a:pt x="39042" y="99751"/>
                  </a:lnTo>
                  <a:lnTo>
                    <a:pt x="39042" y="83399"/>
                  </a:lnTo>
                  <a:lnTo>
                    <a:pt x="44125" y="83399"/>
                  </a:lnTo>
                  <a:lnTo>
                    <a:pt x="49900" y="77623"/>
                  </a:lnTo>
                  <a:lnTo>
                    <a:pt x="74869" y="77623"/>
                  </a:lnTo>
                  <a:lnTo>
                    <a:pt x="49900" y="0"/>
                  </a:lnTo>
                  <a:close/>
                </a:path>
                <a:path w="94615" h="466089">
                  <a:moveTo>
                    <a:pt x="74869" y="77623"/>
                  </a:moveTo>
                  <a:lnTo>
                    <a:pt x="49900" y="77623"/>
                  </a:lnTo>
                  <a:lnTo>
                    <a:pt x="60758" y="88943"/>
                  </a:lnTo>
                  <a:lnTo>
                    <a:pt x="60758" y="101039"/>
                  </a:lnTo>
                  <a:lnTo>
                    <a:pt x="94487" y="138613"/>
                  </a:lnTo>
                  <a:lnTo>
                    <a:pt x="74869" y="77623"/>
                  </a:lnTo>
                  <a:close/>
                </a:path>
                <a:path w="94615" h="466089">
                  <a:moveTo>
                    <a:pt x="60758" y="88943"/>
                  </a:moveTo>
                  <a:lnTo>
                    <a:pt x="49900" y="88943"/>
                  </a:lnTo>
                  <a:lnTo>
                    <a:pt x="60758" y="101039"/>
                  </a:lnTo>
                  <a:lnTo>
                    <a:pt x="60758" y="88943"/>
                  </a:lnTo>
                  <a:close/>
                </a:path>
                <a:path w="94615" h="466089">
                  <a:moveTo>
                    <a:pt x="49900" y="77623"/>
                  </a:moveTo>
                  <a:lnTo>
                    <a:pt x="44125" y="83399"/>
                  </a:lnTo>
                  <a:lnTo>
                    <a:pt x="39042" y="83399"/>
                  </a:lnTo>
                  <a:lnTo>
                    <a:pt x="39042" y="99751"/>
                  </a:lnTo>
                  <a:lnTo>
                    <a:pt x="49900" y="88943"/>
                  </a:lnTo>
                  <a:lnTo>
                    <a:pt x="60758" y="88943"/>
                  </a:lnTo>
                  <a:lnTo>
                    <a:pt x="49900" y="77623"/>
                  </a:lnTo>
                  <a:close/>
                </a:path>
              </a:pathLst>
            </a:custGeom>
            <a:solidFill>
              <a:srgbClr val="000000"/>
            </a:solidFill>
          </p:spPr>
          <p:txBody>
            <a:bodyPr wrap="square" lIns="0" tIns="0" rIns="0" bIns="0" rtlCol="0"/>
            <a:lstStyle/>
            <a:p/>
          </p:txBody>
        </p:sp>
        <p:sp>
          <p:nvSpPr>
            <p:cNvPr id="31" name="object 31" descr=""/>
            <p:cNvSpPr/>
            <p:nvPr/>
          </p:nvSpPr>
          <p:spPr>
            <a:xfrm>
              <a:off x="7668240" y="1988275"/>
              <a:ext cx="94615" cy="466090"/>
            </a:xfrm>
            <a:custGeom>
              <a:avLst/>
              <a:gdLst/>
              <a:ahLst/>
              <a:cxnLst/>
              <a:rect l="l" t="t" r="r" b="b"/>
              <a:pathLst>
                <a:path w="94615" h="466089">
                  <a:moveTo>
                    <a:pt x="60758" y="88943"/>
                  </a:moveTo>
                  <a:lnTo>
                    <a:pt x="60758" y="371714"/>
                  </a:lnTo>
                  <a:lnTo>
                    <a:pt x="60758" y="377490"/>
                  </a:lnTo>
                  <a:lnTo>
                    <a:pt x="55445" y="382572"/>
                  </a:lnTo>
                  <a:lnTo>
                    <a:pt x="49900" y="382572"/>
                  </a:lnTo>
                  <a:lnTo>
                    <a:pt x="44125" y="382572"/>
                  </a:lnTo>
                  <a:lnTo>
                    <a:pt x="39042" y="382572"/>
                  </a:lnTo>
                  <a:lnTo>
                    <a:pt x="39042" y="377490"/>
                  </a:lnTo>
                  <a:lnTo>
                    <a:pt x="39042" y="371714"/>
                  </a:lnTo>
                  <a:lnTo>
                    <a:pt x="39042" y="88943"/>
                  </a:lnTo>
                  <a:lnTo>
                    <a:pt x="39042" y="83399"/>
                  </a:lnTo>
                  <a:lnTo>
                    <a:pt x="44125" y="83399"/>
                  </a:lnTo>
                  <a:lnTo>
                    <a:pt x="49900" y="77623"/>
                  </a:lnTo>
                  <a:lnTo>
                    <a:pt x="55445" y="83399"/>
                  </a:lnTo>
                  <a:lnTo>
                    <a:pt x="60758" y="88943"/>
                  </a:lnTo>
                  <a:close/>
                </a:path>
                <a:path w="94615" h="466089">
                  <a:moveTo>
                    <a:pt x="49900" y="88943"/>
                  </a:moveTo>
                  <a:lnTo>
                    <a:pt x="0" y="138613"/>
                  </a:lnTo>
                  <a:lnTo>
                    <a:pt x="49900" y="0"/>
                  </a:lnTo>
                  <a:lnTo>
                    <a:pt x="94487" y="138613"/>
                  </a:lnTo>
                  <a:lnTo>
                    <a:pt x="49900" y="88943"/>
                  </a:lnTo>
                  <a:close/>
                </a:path>
                <a:path w="94615" h="466089">
                  <a:moveTo>
                    <a:pt x="49900" y="371714"/>
                  </a:moveTo>
                  <a:lnTo>
                    <a:pt x="94487" y="327358"/>
                  </a:lnTo>
                  <a:lnTo>
                    <a:pt x="49900" y="465740"/>
                  </a:lnTo>
                  <a:lnTo>
                    <a:pt x="0" y="327358"/>
                  </a:lnTo>
                  <a:lnTo>
                    <a:pt x="49900" y="371714"/>
                  </a:lnTo>
                  <a:close/>
                </a:path>
              </a:pathLst>
            </a:custGeom>
            <a:ln w="5722">
              <a:solidFill>
                <a:srgbClr val="000000"/>
              </a:solidFill>
            </a:ln>
          </p:spPr>
          <p:txBody>
            <a:bodyPr wrap="square" lIns="0" tIns="0" rIns="0" bIns="0" rtlCol="0"/>
            <a:lstStyle/>
            <a:p/>
          </p:txBody>
        </p:sp>
      </p:grpSp>
      <p:sp>
        <p:nvSpPr>
          <p:cNvPr id="32" name="object 32" descr=""/>
          <p:cNvSpPr txBox="1"/>
          <p:nvPr/>
        </p:nvSpPr>
        <p:spPr>
          <a:xfrm>
            <a:off x="2950071" y="2450712"/>
            <a:ext cx="6197600" cy="499745"/>
          </a:xfrm>
          <a:prstGeom prst="rect">
            <a:avLst/>
          </a:prstGeom>
          <a:solidFill>
            <a:srgbClr val="CCCCFF"/>
          </a:solidFill>
          <a:ln w="16595">
            <a:solidFill>
              <a:srgbClr val="000000"/>
            </a:solidFill>
          </a:ln>
        </p:spPr>
        <p:txBody>
          <a:bodyPr wrap="square" lIns="0" tIns="128905" rIns="0" bIns="0" rtlCol="0" vert="horz">
            <a:spAutoFit/>
          </a:bodyPr>
          <a:lstStyle/>
          <a:p>
            <a:pPr algn="ctr" marR="46990">
              <a:lnSpc>
                <a:spcPct val="100000"/>
              </a:lnSpc>
              <a:spcBef>
                <a:spcPts val="1015"/>
              </a:spcBef>
            </a:pPr>
            <a:r>
              <a:rPr dirty="0" sz="1650" spc="-15">
                <a:latin typeface="宋体"/>
                <a:cs typeface="宋体"/>
              </a:rPr>
              <a:t>总线控制</a:t>
            </a:r>
            <a:endParaRPr sz="1650">
              <a:latin typeface="宋体"/>
              <a:cs typeface="宋体"/>
            </a:endParaRPr>
          </a:p>
        </p:txBody>
      </p:sp>
      <p:sp>
        <p:nvSpPr>
          <p:cNvPr id="33" name="object 33" descr=""/>
          <p:cNvSpPr txBox="1"/>
          <p:nvPr/>
        </p:nvSpPr>
        <p:spPr>
          <a:xfrm>
            <a:off x="3050219" y="3271973"/>
            <a:ext cx="1116330" cy="715645"/>
          </a:xfrm>
          <a:prstGeom prst="rect">
            <a:avLst/>
          </a:prstGeom>
          <a:solidFill>
            <a:srgbClr val="CCFFFF"/>
          </a:solidFill>
          <a:ln w="16595">
            <a:solidFill>
              <a:srgbClr val="000000"/>
            </a:solidFill>
          </a:ln>
        </p:spPr>
        <p:txBody>
          <a:bodyPr wrap="square" lIns="0" tIns="100330" rIns="0" bIns="0" rtlCol="0" vert="horz">
            <a:spAutoFit/>
          </a:bodyPr>
          <a:lstStyle/>
          <a:p>
            <a:pPr>
              <a:lnSpc>
                <a:spcPct val="100000"/>
              </a:lnSpc>
              <a:spcBef>
                <a:spcPts val="790"/>
              </a:spcBef>
            </a:pPr>
            <a:endParaRPr sz="800">
              <a:latin typeface="Times New Roman"/>
              <a:cs typeface="Times New Roman"/>
            </a:endParaRPr>
          </a:p>
          <a:p>
            <a:pPr algn="ctr" marL="64135">
              <a:lnSpc>
                <a:spcPct val="100000"/>
              </a:lnSpc>
            </a:pPr>
            <a:r>
              <a:rPr dirty="0" baseline="3367" sz="2475" spc="-37">
                <a:solidFill>
                  <a:srgbClr val="0000FF"/>
                </a:solidFill>
                <a:latin typeface="宋体"/>
                <a:cs typeface="宋体"/>
              </a:rPr>
              <a:t>M</a:t>
            </a:r>
            <a:r>
              <a:rPr dirty="0" sz="800" spc="-25">
                <a:solidFill>
                  <a:srgbClr val="0000FF"/>
                </a:solidFill>
                <a:latin typeface="宋体"/>
                <a:cs typeface="宋体"/>
              </a:rPr>
              <a:t>0</a:t>
            </a:r>
            <a:endParaRPr sz="800">
              <a:latin typeface="宋体"/>
              <a:cs typeface="宋体"/>
            </a:endParaRPr>
          </a:p>
        </p:txBody>
      </p:sp>
      <p:sp>
        <p:nvSpPr>
          <p:cNvPr id="34" name="object 34" descr=""/>
          <p:cNvSpPr txBox="1"/>
          <p:nvPr/>
        </p:nvSpPr>
        <p:spPr>
          <a:xfrm>
            <a:off x="4654800" y="3271973"/>
            <a:ext cx="1116965" cy="715645"/>
          </a:xfrm>
          <a:prstGeom prst="rect">
            <a:avLst/>
          </a:prstGeom>
          <a:solidFill>
            <a:srgbClr val="CCFFFF"/>
          </a:solidFill>
          <a:ln w="16595">
            <a:solidFill>
              <a:srgbClr val="000000"/>
            </a:solidFill>
          </a:ln>
        </p:spPr>
        <p:txBody>
          <a:bodyPr wrap="square" lIns="0" tIns="100330" rIns="0" bIns="0" rtlCol="0" vert="horz">
            <a:spAutoFit/>
          </a:bodyPr>
          <a:lstStyle/>
          <a:p>
            <a:pPr>
              <a:lnSpc>
                <a:spcPct val="100000"/>
              </a:lnSpc>
              <a:spcBef>
                <a:spcPts val="790"/>
              </a:spcBef>
            </a:pPr>
            <a:endParaRPr sz="800">
              <a:latin typeface="Times New Roman"/>
              <a:cs typeface="Times New Roman"/>
            </a:endParaRPr>
          </a:p>
          <a:p>
            <a:pPr algn="ctr" marL="8255">
              <a:lnSpc>
                <a:spcPct val="100000"/>
              </a:lnSpc>
            </a:pPr>
            <a:r>
              <a:rPr dirty="0" baseline="3367" sz="2475" spc="-37">
                <a:solidFill>
                  <a:srgbClr val="0000FF"/>
                </a:solidFill>
                <a:latin typeface="宋体"/>
                <a:cs typeface="宋体"/>
              </a:rPr>
              <a:t>M</a:t>
            </a:r>
            <a:r>
              <a:rPr dirty="0" sz="800" spc="-25">
                <a:solidFill>
                  <a:srgbClr val="0000FF"/>
                </a:solidFill>
                <a:latin typeface="宋体"/>
                <a:cs typeface="宋体"/>
              </a:rPr>
              <a:t>1</a:t>
            </a:r>
            <a:endParaRPr sz="800">
              <a:latin typeface="宋体"/>
              <a:cs typeface="宋体"/>
            </a:endParaRPr>
          </a:p>
        </p:txBody>
      </p:sp>
      <p:sp>
        <p:nvSpPr>
          <p:cNvPr id="35" name="object 35" descr=""/>
          <p:cNvSpPr txBox="1"/>
          <p:nvPr/>
        </p:nvSpPr>
        <p:spPr>
          <a:xfrm>
            <a:off x="6282344" y="3271973"/>
            <a:ext cx="1116330" cy="715645"/>
          </a:xfrm>
          <a:prstGeom prst="rect">
            <a:avLst/>
          </a:prstGeom>
          <a:solidFill>
            <a:srgbClr val="CCFFFF"/>
          </a:solidFill>
          <a:ln w="16595">
            <a:solidFill>
              <a:srgbClr val="000000"/>
            </a:solidFill>
          </a:ln>
        </p:spPr>
        <p:txBody>
          <a:bodyPr wrap="square" lIns="0" tIns="100330" rIns="0" bIns="0" rtlCol="0" vert="horz">
            <a:spAutoFit/>
          </a:bodyPr>
          <a:lstStyle/>
          <a:p>
            <a:pPr>
              <a:lnSpc>
                <a:spcPct val="100000"/>
              </a:lnSpc>
              <a:spcBef>
                <a:spcPts val="790"/>
              </a:spcBef>
            </a:pPr>
            <a:endParaRPr sz="800">
              <a:latin typeface="Times New Roman"/>
              <a:cs typeface="Times New Roman"/>
            </a:endParaRPr>
          </a:p>
          <a:p>
            <a:pPr algn="ctr" marL="52705">
              <a:lnSpc>
                <a:spcPct val="100000"/>
              </a:lnSpc>
            </a:pPr>
            <a:r>
              <a:rPr dirty="0" baseline="3367" sz="2475" spc="-37">
                <a:solidFill>
                  <a:srgbClr val="0000FF"/>
                </a:solidFill>
                <a:latin typeface="宋体"/>
                <a:cs typeface="宋体"/>
              </a:rPr>
              <a:t>M</a:t>
            </a:r>
            <a:r>
              <a:rPr dirty="0" sz="800" spc="-25">
                <a:solidFill>
                  <a:srgbClr val="0000FF"/>
                </a:solidFill>
                <a:latin typeface="宋体"/>
                <a:cs typeface="宋体"/>
              </a:rPr>
              <a:t>2</a:t>
            </a:r>
            <a:endParaRPr sz="800">
              <a:latin typeface="宋体"/>
              <a:cs typeface="宋体"/>
            </a:endParaRPr>
          </a:p>
        </p:txBody>
      </p:sp>
      <p:sp>
        <p:nvSpPr>
          <p:cNvPr id="36" name="object 36" descr=""/>
          <p:cNvSpPr txBox="1"/>
          <p:nvPr/>
        </p:nvSpPr>
        <p:spPr>
          <a:xfrm>
            <a:off x="7881242" y="3271973"/>
            <a:ext cx="1122045" cy="715645"/>
          </a:xfrm>
          <a:prstGeom prst="rect">
            <a:avLst/>
          </a:prstGeom>
          <a:solidFill>
            <a:srgbClr val="CCFFFF"/>
          </a:solidFill>
          <a:ln w="16595">
            <a:solidFill>
              <a:srgbClr val="000000"/>
            </a:solidFill>
          </a:ln>
        </p:spPr>
        <p:txBody>
          <a:bodyPr wrap="square" lIns="0" tIns="100330" rIns="0" bIns="0" rtlCol="0" vert="horz">
            <a:spAutoFit/>
          </a:bodyPr>
          <a:lstStyle/>
          <a:p>
            <a:pPr>
              <a:lnSpc>
                <a:spcPct val="100000"/>
              </a:lnSpc>
              <a:spcBef>
                <a:spcPts val="790"/>
              </a:spcBef>
            </a:pPr>
            <a:endParaRPr sz="800">
              <a:latin typeface="Times New Roman"/>
              <a:cs typeface="Times New Roman"/>
            </a:endParaRPr>
          </a:p>
          <a:p>
            <a:pPr algn="ctr" marL="113664">
              <a:lnSpc>
                <a:spcPct val="100000"/>
              </a:lnSpc>
            </a:pPr>
            <a:r>
              <a:rPr dirty="0" baseline="3367" sz="2475" spc="-37">
                <a:solidFill>
                  <a:srgbClr val="0000FF"/>
                </a:solidFill>
                <a:latin typeface="宋体"/>
                <a:cs typeface="宋体"/>
              </a:rPr>
              <a:t>M</a:t>
            </a:r>
            <a:r>
              <a:rPr dirty="0" sz="800" spc="-25">
                <a:solidFill>
                  <a:srgbClr val="0000FF"/>
                </a:solidFill>
                <a:latin typeface="宋体"/>
                <a:cs typeface="宋体"/>
              </a:rPr>
              <a:t>3</a:t>
            </a:r>
            <a:endParaRPr sz="800">
              <a:latin typeface="宋体"/>
              <a:cs typeface="宋体"/>
            </a:endParaRPr>
          </a:p>
        </p:txBody>
      </p:sp>
      <p:grpSp>
        <p:nvGrpSpPr>
          <p:cNvPr id="37" name="object 37" descr=""/>
          <p:cNvGrpSpPr/>
          <p:nvPr/>
        </p:nvGrpSpPr>
        <p:grpSpPr>
          <a:xfrm>
            <a:off x="3150611" y="3987531"/>
            <a:ext cx="95250" cy="345440"/>
            <a:chOff x="3150611" y="3987531"/>
            <a:chExt cx="95250" cy="345440"/>
          </a:xfrm>
        </p:grpSpPr>
        <p:sp>
          <p:nvSpPr>
            <p:cNvPr id="38" name="object 38" descr=""/>
            <p:cNvSpPr/>
            <p:nvPr/>
          </p:nvSpPr>
          <p:spPr>
            <a:xfrm>
              <a:off x="3153786" y="3990705"/>
              <a:ext cx="88900" cy="339090"/>
            </a:xfrm>
            <a:custGeom>
              <a:avLst/>
              <a:gdLst/>
              <a:ahLst/>
              <a:cxnLst/>
              <a:rect l="l" t="t" r="r" b="b"/>
              <a:pathLst>
                <a:path w="88900" h="339089">
                  <a:moveTo>
                    <a:pt x="44078" y="94603"/>
                  </a:moveTo>
                  <a:lnTo>
                    <a:pt x="33197" y="105439"/>
                  </a:lnTo>
                  <a:lnTo>
                    <a:pt x="33197" y="327150"/>
                  </a:lnTo>
                  <a:lnTo>
                    <a:pt x="38927" y="332856"/>
                  </a:lnTo>
                  <a:lnTo>
                    <a:pt x="44078" y="338563"/>
                  </a:lnTo>
                  <a:lnTo>
                    <a:pt x="49785" y="332856"/>
                  </a:lnTo>
                  <a:lnTo>
                    <a:pt x="55514" y="332856"/>
                  </a:lnTo>
                  <a:lnTo>
                    <a:pt x="55514" y="105849"/>
                  </a:lnTo>
                  <a:lnTo>
                    <a:pt x="44078" y="94603"/>
                  </a:lnTo>
                  <a:close/>
                </a:path>
                <a:path w="88900" h="339089">
                  <a:moveTo>
                    <a:pt x="44078" y="0"/>
                  </a:moveTo>
                  <a:lnTo>
                    <a:pt x="0" y="138497"/>
                  </a:lnTo>
                  <a:lnTo>
                    <a:pt x="33197" y="105439"/>
                  </a:lnTo>
                  <a:lnTo>
                    <a:pt x="33197" y="88920"/>
                  </a:lnTo>
                  <a:lnTo>
                    <a:pt x="38927" y="88920"/>
                  </a:lnTo>
                  <a:lnTo>
                    <a:pt x="38927" y="83214"/>
                  </a:lnTo>
                  <a:lnTo>
                    <a:pt x="70896" y="83214"/>
                  </a:lnTo>
                  <a:lnTo>
                    <a:pt x="44078" y="0"/>
                  </a:lnTo>
                  <a:close/>
                </a:path>
                <a:path w="88900" h="339089">
                  <a:moveTo>
                    <a:pt x="70896" y="83214"/>
                  </a:moveTo>
                  <a:lnTo>
                    <a:pt x="49785" y="83214"/>
                  </a:lnTo>
                  <a:lnTo>
                    <a:pt x="55514" y="88920"/>
                  </a:lnTo>
                  <a:lnTo>
                    <a:pt x="55514" y="105849"/>
                  </a:lnTo>
                  <a:lnTo>
                    <a:pt x="88712" y="138497"/>
                  </a:lnTo>
                  <a:lnTo>
                    <a:pt x="70896" y="83214"/>
                  </a:lnTo>
                  <a:close/>
                </a:path>
                <a:path w="88900" h="339089">
                  <a:moveTo>
                    <a:pt x="55514" y="94603"/>
                  </a:moveTo>
                  <a:lnTo>
                    <a:pt x="44078" y="94603"/>
                  </a:lnTo>
                  <a:lnTo>
                    <a:pt x="55514" y="105849"/>
                  </a:lnTo>
                  <a:lnTo>
                    <a:pt x="55514" y="94603"/>
                  </a:lnTo>
                  <a:close/>
                </a:path>
                <a:path w="88900" h="339089">
                  <a:moveTo>
                    <a:pt x="49785" y="83214"/>
                  </a:moveTo>
                  <a:lnTo>
                    <a:pt x="38927" y="83214"/>
                  </a:lnTo>
                  <a:lnTo>
                    <a:pt x="38927" y="88920"/>
                  </a:lnTo>
                  <a:lnTo>
                    <a:pt x="33197" y="88920"/>
                  </a:lnTo>
                  <a:lnTo>
                    <a:pt x="33197" y="105439"/>
                  </a:lnTo>
                  <a:lnTo>
                    <a:pt x="44078" y="94603"/>
                  </a:lnTo>
                  <a:lnTo>
                    <a:pt x="55514" y="94603"/>
                  </a:lnTo>
                  <a:lnTo>
                    <a:pt x="55514" y="88920"/>
                  </a:lnTo>
                  <a:lnTo>
                    <a:pt x="49785" y="83214"/>
                  </a:lnTo>
                  <a:close/>
                </a:path>
              </a:pathLst>
            </a:custGeom>
            <a:solidFill>
              <a:srgbClr val="000000"/>
            </a:solidFill>
          </p:spPr>
          <p:txBody>
            <a:bodyPr wrap="square" lIns="0" tIns="0" rIns="0" bIns="0" rtlCol="0"/>
            <a:lstStyle/>
            <a:p/>
          </p:txBody>
        </p:sp>
        <p:sp>
          <p:nvSpPr>
            <p:cNvPr id="39" name="object 39" descr=""/>
            <p:cNvSpPr/>
            <p:nvPr/>
          </p:nvSpPr>
          <p:spPr>
            <a:xfrm>
              <a:off x="3153786" y="3990706"/>
              <a:ext cx="88900" cy="339090"/>
            </a:xfrm>
            <a:custGeom>
              <a:avLst/>
              <a:gdLst/>
              <a:ahLst/>
              <a:cxnLst/>
              <a:rect l="l" t="t" r="r" b="b"/>
              <a:pathLst>
                <a:path w="88900" h="339089">
                  <a:moveTo>
                    <a:pt x="33197" y="327150"/>
                  </a:moveTo>
                  <a:lnTo>
                    <a:pt x="33197" y="94603"/>
                  </a:lnTo>
                  <a:lnTo>
                    <a:pt x="33197" y="88920"/>
                  </a:lnTo>
                  <a:lnTo>
                    <a:pt x="38927" y="88920"/>
                  </a:lnTo>
                  <a:lnTo>
                    <a:pt x="38927" y="83214"/>
                  </a:lnTo>
                  <a:lnTo>
                    <a:pt x="44078" y="83214"/>
                  </a:lnTo>
                  <a:lnTo>
                    <a:pt x="49785" y="83214"/>
                  </a:lnTo>
                  <a:lnTo>
                    <a:pt x="55514" y="88920"/>
                  </a:lnTo>
                  <a:lnTo>
                    <a:pt x="55514" y="94603"/>
                  </a:lnTo>
                  <a:lnTo>
                    <a:pt x="55514" y="327150"/>
                  </a:lnTo>
                  <a:lnTo>
                    <a:pt x="55514" y="332856"/>
                  </a:lnTo>
                  <a:lnTo>
                    <a:pt x="49785" y="332856"/>
                  </a:lnTo>
                  <a:lnTo>
                    <a:pt x="44078" y="338563"/>
                  </a:lnTo>
                  <a:lnTo>
                    <a:pt x="38927" y="332856"/>
                  </a:lnTo>
                  <a:lnTo>
                    <a:pt x="33197" y="327150"/>
                  </a:lnTo>
                  <a:close/>
                </a:path>
                <a:path w="88900" h="339089">
                  <a:moveTo>
                    <a:pt x="44078" y="94603"/>
                  </a:moveTo>
                  <a:lnTo>
                    <a:pt x="0" y="138497"/>
                  </a:lnTo>
                  <a:lnTo>
                    <a:pt x="44078" y="0"/>
                  </a:lnTo>
                  <a:lnTo>
                    <a:pt x="88712" y="138497"/>
                  </a:lnTo>
                  <a:lnTo>
                    <a:pt x="44078" y="94603"/>
                  </a:lnTo>
                  <a:close/>
                </a:path>
              </a:pathLst>
            </a:custGeom>
            <a:ln w="5722">
              <a:solidFill>
                <a:srgbClr val="000000"/>
              </a:solidFill>
            </a:ln>
          </p:spPr>
          <p:txBody>
            <a:bodyPr wrap="square" lIns="0" tIns="0" rIns="0" bIns="0" rtlCol="0"/>
            <a:lstStyle/>
            <a:p/>
          </p:txBody>
        </p:sp>
      </p:grpSp>
      <p:sp>
        <p:nvSpPr>
          <p:cNvPr id="40" name="object 40" descr=""/>
          <p:cNvSpPr txBox="1"/>
          <p:nvPr/>
        </p:nvSpPr>
        <p:spPr>
          <a:xfrm>
            <a:off x="2978117" y="4314437"/>
            <a:ext cx="1288415" cy="355600"/>
          </a:xfrm>
          <a:prstGeom prst="rect">
            <a:avLst/>
          </a:prstGeom>
          <a:solidFill>
            <a:srgbClr val="FFFFCC"/>
          </a:solidFill>
          <a:ln w="16595">
            <a:solidFill>
              <a:srgbClr val="000000"/>
            </a:solidFill>
          </a:ln>
        </p:spPr>
        <p:txBody>
          <a:bodyPr wrap="square" lIns="0" tIns="67945" rIns="0" bIns="0" rtlCol="0" vert="horz">
            <a:spAutoFit/>
          </a:bodyPr>
          <a:lstStyle/>
          <a:p>
            <a:pPr marL="71755">
              <a:lnSpc>
                <a:spcPct val="100000"/>
              </a:lnSpc>
              <a:spcBef>
                <a:spcPts val="535"/>
              </a:spcBef>
            </a:pPr>
            <a:r>
              <a:rPr dirty="0" baseline="3367" sz="2475" spc="-112">
                <a:solidFill>
                  <a:srgbClr val="0000FF"/>
                </a:solidFill>
                <a:latin typeface="宋体"/>
                <a:cs typeface="宋体"/>
              </a:rPr>
              <a:t>地址寄存器 </a:t>
            </a:r>
            <a:r>
              <a:rPr dirty="0" sz="800" spc="-50">
                <a:solidFill>
                  <a:srgbClr val="0000FF"/>
                </a:solidFill>
                <a:latin typeface="宋体"/>
                <a:cs typeface="宋体"/>
              </a:rPr>
              <a:t>0</a:t>
            </a:r>
            <a:endParaRPr sz="800">
              <a:latin typeface="宋体"/>
              <a:cs typeface="宋体"/>
            </a:endParaRPr>
          </a:p>
        </p:txBody>
      </p:sp>
      <p:grpSp>
        <p:nvGrpSpPr>
          <p:cNvPr id="41" name="object 41" descr=""/>
          <p:cNvGrpSpPr/>
          <p:nvPr/>
        </p:nvGrpSpPr>
        <p:grpSpPr>
          <a:xfrm>
            <a:off x="3561505" y="3987531"/>
            <a:ext cx="461645" cy="1127125"/>
            <a:chOff x="3561505" y="3987531"/>
            <a:chExt cx="461645" cy="1127125"/>
          </a:xfrm>
        </p:grpSpPr>
        <p:sp>
          <p:nvSpPr>
            <p:cNvPr id="42" name="object 42" descr=""/>
            <p:cNvSpPr/>
            <p:nvPr/>
          </p:nvSpPr>
          <p:spPr>
            <a:xfrm>
              <a:off x="3930918" y="3990706"/>
              <a:ext cx="88900" cy="339090"/>
            </a:xfrm>
            <a:custGeom>
              <a:avLst/>
              <a:gdLst/>
              <a:ahLst/>
              <a:cxnLst/>
              <a:rect l="l" t="t" r="r" b="b"/>
              <a:pathLst>
                <a:path w="88900" h="339089">
                  <a:moveTo>
                    <a:pt x="44633" y="94603"/>
                  </a:moveTo>
                  <a:lnTo>
                    <a:pt x="33174" y="105872"/>
                  </a:lnTo>
                  <a:lnTo>
                    <a:pt x="33174" y="327150"/>
                  </a:lnTo>
                  <a:lnTo>
                    <a:pt x="44633" y="338563"/>
                  </a:lnTo>
                  <a:lnTo>
                    <a:pt x="49785" y="332856"/>
                  </a:lnTo>
                  <a:lnTo>
                    <a:pt x="55491" y="332856"/>
                  </a:lnTo>
                  <a:lnTo>
                    <a:pt x="55491" y="105421"/>
                  </a:lnTo>
                  <a:lnTo>
                    <a:pt x="44633" y="94603"/>
                  </a:lnTo>
                  <a:close/>
                </a:path>
                <a:path w="88900" h="339089">
                  <a:moveTo>
                    <a:pt x="44633" y="0"/>
                  </a:moveTo>
                  <a:lnTo>
                    <a:pt x="0" y="138497"/>
                  </a:lnTo>
                  <a:lnTo>
                    <a:pt x="33174" y="105872"/>
                  </a:lnTo>
                  <a:lnTo>
                    <a:pt x="33174" y="88920"/>
                  </a:lnTo>
                  <a:lnTo>
                    <a:pt x="38903" y="88920"/>
                  </a:lnTo>
                  <a:lnTo>
                    <a:pt x="38903" y="83214"/>
                  </a:lnTo>
                  <a:lnTo>
                    <a:pt x="71103" y="83214"/>
                  </a:lnTo>
                  <a:lnTo>
                    <a:pt x="44633" y="0"/>
                  </a:lnTo>
                  <a:close/>
                </a:path>
                <a:path w="88900" h="339089">
                  <a:moveTo>
                    <a:pt x="71103" y="83214"/>
                  </a:moveTo>
                  <a:lnTo>
                    <a:pt x="49785" y="83214"/>
                  </a:lnTo>
                  <a:lnTo>
                    <a:pt x="55491" y="88920"/>
                  </a:lnTo>
                  <a:lnTo>
                    <a:pt x="55491" y="105421"/>
                  </a:lnTo>
                  <a:lnTo>
                    <a:pt x="88689" y="138497"/>
                  </a:lnTo>
                  <a:lnTo>
                    <a:pt x="71103" y="83214"/>
                  </a:lnTo>
                  <a:close/>
                </a:path>
                <a:path w="88900" h="339089">
                  <a:moveTo>
                    <a:pt x="49785" y="83214"/>
                  </a:moveTo>
                  <a:lnTo>
                    <a:pt x="38903" y="83214"/>
                  </a:lnTo>
                  <a:lnTo>
                    <a:pt x="38903" y="88920"/>
                  </a:lnTo>
                  <a:lnTo>
                    <a:pt x="33174" y="88920"/>
                  </a:lnTo>
                  <a:lnTo>
                    <a:pt x="33174" y="105872"/>
                  </a:lnTo>
                  <a:lnTo>
                    <a:pt x="44633" y="94603"/>
                  </a:lnTo>
                  <a:lnTo>
                    <a:pt x="55491" y="94603"/>
                  </a:lnTo>
                  <a:lnTo>
                    <a:pt x="55491" y="88920"/>
                  </a:lnTo>
                  <a:lnTo>
                    <a:pt x="49785" y="83214"/>
                  </a:lnTo>
                  <a:close/>
                </a:path>
                <a:path w="88900" h="339089">
                  <a:moveTo>
                    <a:pt x="55491" y="94603"/>
                  </a:moveTo>
                  <a:lnTo>
                    <a:pt x="44633" y="94603"/>
                  </a:lnTo>
                  <a:lnTo>
                    <a:pt x="55491" y="105421"/>
                  </a:lnTo>
                  <a:lnTo>
                    <a:pt x="55491" y="94603"/>
                  </a:lnTo>
                  <a:close/>
                </a:path>
              </a:pathLst>
            </a:custGeom>
            <a:solidFill>
              <a:srgbClr val="000000"/>
            </a:solidFill>
          </p:spPr>
          <p:txBody>
            <a:bodyPr wrap="square" lIns="0" tIns="0" rIns="0" bIns="0" rtlCol="0"/>
            <a:lstStyle/>
            <a:p/>
          </p:txBody>
        </p:sp>
        <p:sp>
          <p:nvSpPr>
            <p:cNvPr id="43" name="object 43" descr=""/>
            <p:cNvSpPr/>
            <p:nvPr/>
          </p:nvSpPr>
          <p:spPr>
            <a:xfrm>
              <a:off x="3930918" y="3990706"/>
              <a:ext cx="88900" cy="339090"/>
            </a:xfrm>
            <a:custGeom>
              <a:avLst/>
              <a:gdLst/>
              <a:ahLst/>
              <a:cxnLst/>
              <a:rect l="l" t="t" r="r" b="b"/>
              <a:pathLst>
                <a:path w="88900" h="339089">
                  <a:moveTo>
                    <a:pt x="33174" y="327150"/>
                  </a:moveTo>
                  <a:lnTo>
                    <a:pt x="33174" y="94603"/>
                  </a:lnTo>
                  <a:lnTo>
                    <a:pt x="33174" y="88920"/>
                  </a:lnTo>
                  <a:lnTo>
                    <a:pt x="38903" y="88920"/>
                  </a:lnTo>
                  <a:lnTo>
                    <a:pt x="38903" y="83214"/>
                  </a:lnTo>
                  <a:lnTo>
                    <a:pt x="44633" y="83214"/>
                  </a:lnTo>
                  <a:lnTo>
                    <a:pt x="49785" y="83214"/>
                  </a:lnTo>
                  <a:lnTo>
                    <a:pt x="55491" y="88920"/>
                  </a:lnTo>
                  <a:lnTo>
                    <a:pt x="55491" y="94603"/>
                  </a:lnTo>
                  <a:lnTo>
                    <a:pt x="55491" y="327150"/>
                  </a:lnTo>
                  <a:lnTo>
                    <a:pt x="55491" y="332856"/>
                  </a:lnTo>
                  <a:lnTo>
                    <a:pt x="49785" y="332856"/>
                  </a:lnTo>
                  <a:lnTo>
                    <a:pt x="44633" y="338563"/>
                  </a:lnTo>
                  <a:lnTo>
                    <a:pt x="38903" y="332856"/>
                  </a:lnTo>
                  <a:lnTo>
                    <a:pt x="33174" y="327150"/>
                  </a:lnTo>
                  <a:close/>
                </a:path>
                <a:path w="88900" h="339089">
                  <a:moveTo>
                    <a:pt x="44633" y="94603"/>
                  </a:moveTo>
                  <a:lnTo>
                    <a:pt x="0" y="138497"/>
                  </a:lnTo>
                  <a:lnTo>
                    <a:pt x="44633" y="0"/>
                  </a:lnTo>
                  <a:lnTo>
                    <a:pt x="88689" y="138497"/>
                  </a:lnTo>
                  <a:lnTo>
                    <a:pt x="44633" y="94603"/>
                  </a:lnTo>
                  <a:close/>
                </a:path>
              </a:pathLst>
            </a:custGeom>
            <a:ln w="5722">
              <a:solidFill>
                <a:srgbClr val="000000"/>
              </a:solidFill>
            </a:ln>
          </p:spPr>
          <p:txBody>
            <a:bodyPr wrap="square" lIns="0" tIns="0" rIns="0" bIns="0" rtlCol="0"/>
            <a:lstStyle/>
            <a:p/>
          </p:txBody>
        </p:sp>
        <p:sp>
          <p:nvSpPr>
            <p:cNvPr id="44" name="object 44" descr=""/>
            <p:cNvSpPr/>
            <p:nvPr/>
          </p:nvSpPr>
          <p:spPr>
            <a:xfrm>
              <a:off x="3564680" y="4672961"/>
              <a:ext cx="94615" cy="438784"/>
            </a:xfrm>
            <a:custGeom>
              <a:avLst/>
              <a:gdLst/>
              <a:ahLst/>
              <a:cxnLst/>
              <a:rect l="l" t="t" r="r" b="b"/>
              <a:pathLst>
                <a:path w="94614" h="438785">
                  <a:moveTo>
                    <a:pt x="44055" y="88920"/>
                  </a:moveTo>
                  <a:lnTo>
                    <a:pt x="33174" y="101165"/>
                  </a:lnTo>
                  <a:lnTo>
                    <a:pt x="33174" y="427483"/>
                  </a:lnTo>
                  <a:lnTo>
                    <a:pt x="38903" y="432612"/>
                  </a:lnTo>
                  <a:lnTo>
                    <a:pt x="38903" y="438318"/>
                  </a:lnTo>
                  <a:lnTo>
                    <a:pt x="55491" y="438318"/>
                  </a:lnTo>
                  <a:lnTo>
                    <a:pt x="55491" y="432612"/>
                  </a:lnTo>
                  <a:lnTo>
                    <a:pt x="60643" y="427483"/>
                  </a:lnTo>
                  <a:lnTo>
                    <a:pt x="60643" y="105249"/>
                  </a:lnTo>
                  <a:lnTo>
                    <a:pt x="44055" y="88920"/>
                  </a:lnTo>
                  <a:close/>
                </a:path>
                <a:path w="94614" h="438785">
                  <a:moveTo>
                    <a:pt x="44055" y="0"/>
                  </a:moveTo>
                  <a:lnTo>
                    <a:pt x="0" y="138497"/>
                  </a:lnTo>
                  <a:lnTo>
                    <a:pt x="33174" y="101165"/>
                  </a:lnTo>
                  <a:lnTo>
                    <a:pt x="33174" y="88920"/>
                  </a:lnTo>
                  <a:lnTo>
                    <a:pt x="38903" y="83214"/>
                  </a:lnTo>
                  <a:lnTo>
                    <a:pt x="44055" y="77507"/>
                  </a:lnTo>
                  <a:lnTo>
                    <a:pt x="72240" y="77507"/>
                  </a:lnTo>
                  <a:lnTo>
                    <a:pt x="44055" y="0"/>
                  </a:lnTo>
                  <a:close/>
                </a:path>
                <a:path w="94614" h="438785">
                  <a:moveTo>
                    <a:pt x="72240" y="77507"/>
                  </a:moveTo>
                  <a:lnTo>
                    <a:pt x="49785" y="77507"/>
                  </a:lnTo>
                  <a:lnTo>
                    <a:pt x="55491" y="83214"/>
                  </a:lnTo>
                  <a:lnTo>
                    <a:pt x="60643" y="88920"/>
                  </a:lnTo>
                  <a:lnTo>
                    <a:pt x="60643" y="105249"/>
                  </a:lnTo>
                  <a:lnTo>
                    <a:pt x="94418" y="138497"/>
                  </a:lnTo>
                  <a:lnTo>
                    <a:pt x="72240" y="77507"/>
                  </a:lnTo>
                  <a:close/>
                </a:path>
                <a:path w="94614" h="438785">
                  <a:moveTo>
                    <a:pt x="60643" y="88920"/>
                  </a:moveTo>
                  <a:lnTo>
                    <a:pt x="44055" y="88920"/>
                  </a:lnTo>
                  <a:lnTo>
                    <a:pt x="60643" y="105249"/>
                  </a:lnTo>
                  <a:lnTo>
                    <a:pt x="60643" y="88920"/>
                  </a:lnTo>
                  <a:close/>
                </a:path>
                <a:path w="94614" h="438785">
                  <a:moveTo>
                    <a:pt x="49785" y="77507"/>
                  </a:moveTo>
                  <a:lnTo>
                    <a:pt x="44055" y="77507"/>
                  </a:lnTo>
                  <a:lnTo>
                    <a:pt x="38903" y="83214"/>
                  </a:lnTo>
                  <a:lnTo>
                    <a:pt x="33174" y="88920"/>
                  </a:lnTo>
                  <a:lnTo>
                    <a:pt x="33174" y="101165"/>
                  </a:lnTo>
                  <a:lnTo>
                    <a:pt x="44055" y="88920"/>
                  </a:lnTo>
                  <a:lnTo>
                    <a:pt x="60643" y="88920"/>
                  </a:lnTo>
                  <a:lnTo>
                    <a:pt x="55491" y="83214"/>
                  </a:lnTo>
                  <a:lnTo>
                    <a:pt x="49785" y="77507"/>
                  </a:lnTo>
                  <a:close/>
                </a:path>
              </a:pathLst>
            </a:custGeom>
            <a:solidFill>
              <a:srgbClr val="000000"/>
            </a:solidFill>
          </p:spPr>
          <p:txBody>
            <a:bodyPr wrap="square" lIns="0" tIns="0" rIns="0" bIns="0" rtlCol="0"/>
            <a:lstStyle/>
            <a:p/>
          </p:txBody>
        </p:sp>
        <p:sp>
          <p:nvSpPr>
            <p:cNvPr id="45" name="object 45" descr=""/>
            <p:cNvSpPr/>
            <p:nvPr/>
          </p:nvSpPr>
          <p:spPr>
            <a:xfrm>
              <a:off x="3564680" y="4672961"/>
              <a:ext cx="94615" cy="438784"/>
            </a:xfrm>
            <a:custGeom>
              <a:avLst/>
              <a:gdLst/>
              <a:ahLst/>
              <a:cxnLst/>
              <a:rect l="l" t="t" r="r" b="b"/>
              <a:pathLst>
                <a:path w="94614" h="438785">
                  <a:moveTo>
                    <a:pt x="33174" y="427483"/>
                  </a:moveTo>
                  <a:lnTo>
                    <a:pt x="33174" y="88920"/>
                  </a:lnTo>
                  <a:lnTo>
                    <a:pt x="38903" y="83214"/>
                  </a:lnTo>
                  <a:lnTo>
                    <a:pt x="44055" y="77507"/>
                  </a:lnTo>
                  <a:lnTo>
                    <a:pt x="49785" y="77507"/>
                  </a:lnTo>
                  <a:lnTo>
                    <a:pt x="55491" y="83214"/>
                  </a:lnTo>
                  <a:lnTo>
                    <a:pt x="60643" y="88920"/>
                  </a:lnTo>
                  <a:lnTo>
                    <a:pt x="60643" y="427483"/>
                  </a:lnTo>
                  <a:lnTo>
                    <a:pt x="55491" y="432612"/>
                  </a:lnTo>
                  <a:lnTo>
                    <a:pt x="55491" y="438318"/>
                  </a:lnTo>
                  <a:lnTo>
                    <a:pt x="49785" y="438318"/>
                  </a:lnTo>
                  <a:lnTo>
                    <a:pt x="44055" y="438318"/>
                  </a:lnTo>
                  <a:lnTo>
                    <a:pt x="38903" y="438318"/>
                  </a:lnTo>
                  <a:lnTo>
                    <a:pt x="38903" y="432612"/>
                  </a:lnTo>
                  <a:lnTo>
                    <a:pt x="33174" y="427483"/>
                  </a:lnTo>
                  <a:close/>
                </a:path>
                <a:path w="94614" h="438785">
                  <a:moveTo>
                    <a:pt x="44055" y="88920"/>
                  </a:moveTo>
                  <a:lnTo>
                    <a:pt x="0" y="138497"/>
                  </a:lnTo>
                  <a:lnTo>
                    <a:pt x="44055" y="0"/>
                  </a:lnTo>
                  <a:lnTo>
                    <a:pt x="94418" y="138497"/>
                  </a:lnTo>
                  <a:lnTo>
                    <a:pt x="44055" y="88920"/>
                  </a:lnTo>
                  <a:close/>
                </a:path>
              </a:pathLst>
            </a:custGeom>
            <a:ln w="5722">
              <a:solidFill>
                <a:srgbClr val="000000"/>
              </a:solidFill>
            </a:ln>
          </p:spPr>
          <p:txBody>
            <a:bodyPr wrap="square" lIns="0" tIns="0" rIns="0" bIns="0" rtlCol="0"/>
            <a:lstStyle/>
            <a:p/>
          </p:txBody>
        </p:sp>
      </p:grpSp>
      <p:sp>
        <p:nvSpPr>
          <p:cNvPr id="46" name="object 46" descr=""/>
          <p:cNvSpPr txBox="1"/>
          <p:nvPr/>
        </p:nvSpPr>
        <p:spPr>
          <a:xfrm>
            <a:off x="3448390" y="3979300"/>
            <a:ext cx="270510" cy="319405"/>
          </a:xfrm>
          <a:prstGeom prst="rect">
            <a:avLst/>
          </a:prstGeom>
        </p:spPr>
        <p:txBody>
          <a:bodyPr wrap="square" lIns="0" tIns="15875" rIns="0" bIns="0" rtlCol="0" vert="horz">
            <a:spAutoFit/>
          </a:bodyPr>
          <a:lstStyle/>
          <a:p>
            <a:pPr marL="12700">
              <a:lnSpc>
                <a:spcPct val="100000"/>
              </a:lnSpc>
              <a:spcBef>
                <a:spcPts val="125"/>
              </a:spcBef>
            </a:pPr>
            <a:r>
              <a:rPr dirty="0" sz="1900" spc="-50">
                <a:latin typeface="宋体"/>
                <a:cs typeface="宋体"/>
              </a:rPr>
              <a:t>…</a:t>
            </a:r>
            <a:endParaRPr sz="1900">
              <a:latin typeface="宋体"/>
              <a:cs typeface="宋体"/>
            </a:endParaRPr>
          </a:p>
        </p:txBody>
      </p:sp>
      <p:grpSp>
        <p:nvGrpSpPr>
          <p:cNvPr id="47" name="object 47" descr=""/>
          <p:cNvGrpSpPr/>
          <p:nvPr/>
        </p:nvGrpSpPr>
        <p:grpSpPr>
          <a:xfrm>
            <a:off x="4777845" y="3987844"/>
            <a:ext cx="100330" cy="344805"/>
            <a:chOff x="4777845" y="3987844"/>
            <a:chExt cx="100330" cy="344805"/>
          </a:xfrm>
        </p:grpSpPr>
        <p:sp>
          <p:nvSpPr>
            <p:cNvPr id="48" name="object 48" descr=""/>
            <p:cNvSpPr/>
            <p:nvPr/>
          </p:nvSpPr>
          <p:spPr>
            <a:xfrm>
              <a:off x="4780706" y="3990706"/>
              <a:ext cx="94615" cy="339090"/>
            </a:xfrm>
            <a:custGeom>
              <a:avLst/>
              <a:gdLst/>
              <a:ahLst/>
              <a:cxnLst/>
              <a:rect l="l" t="t" r="r" b="b"/>
              <a:pathLst>
                <a:path w="94614" h="339089">
                  <a:moveTo>
                    <a:pt x="44055" y="94603"/>
                  </a:moveTo>
                  <a:lnTo>
                    <a:pt x="33174" y="105444"/>
                  </a:lnTo>
                  <a:lnTo>
                    <a:pt x="33174" y="327150"/>
                  </a:lnTo>
                  <a:lnTo>
                    <a:pt x="38903" y="332856"/>
                  </a:lnTo>
                  <a:lnTo>
                    <a:pt x="44055" y="338563"/>
                  </a:lnTo>
                  <a:lnTo>
                    <a:pt x="49785" y="332856"/>
                  </a:lnTo>
                  <a:lnTo>
                    <a:pt x="55491" y="332856"/>
                  </a:lnTo>
                  <a:lnTo>
                    <a:pt x="55491" y="104570"/>
                  </a:lnTo>
                  <a:lnTo>
                    <a:pt x="44055" y="94603"/>
                  </a:lnTo>
                  <a:close/>
                </a:path>
                <a:path w="94614" h="339089">
                  <a:moveTo>
                    <a:pt x="44055" y="0"/>
                  </a:moveTo>
                  <a:lnTo>
                    <a:pt x="0" y="138497"/>
                  </a:lnTo>
                  <a:lnTo>
                    <a:pt x="33174" y="105444"/>
                  </a:lnTo>
                  <a:lnTo>
                    <a:pt x="33174" y="88920"/>
                  </a:lnTo>
                  <a:lnTo>
                    <a:pt x="38903" y="88920"/>
                  </a:lnTo>
                  <a:lnTo>
                    <a:pt x="38903" y="83214"/>
                  </a:lnTo>
                  <a:lnTo>
                    <a:pt x="74315" y="83214"/>
                  </a:lnTo>
                  <a:lnTo>
                    <a:pt x="44055" y="0"/>
                  </a:lnTo>
                  <a:close/>
                </a:path>
                <a:path w="94614" h="339089">
                  <a:moveTo>
                    <a:pt x="74315" y="83214"/>
                  </a:moveTo>
                  <a:lnTo>
                    <a:pt x="49785" y="83214"/>
                  </a:lnTo>
                  <a:lnTo>
                    <a:pt x="55491" y="88920"/>
                  </a:lnTo>
                  <a:lnTo>
                    <a:pt x="55491" y="104570"/>
                  </a:lnTo>
                  <a:lnTo>
                    <a:pt x="94418" y="138497"/>
                  </a:lnTo>
                  <a:lnTo>
                    <a:pt x="74315" y="83214"/>
                  </a:lnTo>
                  <a:close/>
                </a:path>
                <a:path w="94614" h="339089">
                  <a:moveTo>
                    <a:pt x="49785" y="83214"/>
                  </a:moveTo>
                  <a:lnTo>
                    <a:pt x="38903" y="83214"/>
                  </a:lnTo>
                  <a:lnTo>
                    <a:pt x="38903" y="88920"/>
                  </a:lnTo>
                  <a:lnTo>
                    <a:pt x="33174" y="88920"/>
                  </a:lnTo>
                  <a:lnTo>
                    <a:pt x="33174" y="105444"/>
                  </a:lnTo>
                  <a:lnTo>
                    <a:pt x="44055" y="94603"/>
                  </a:lnTo>
                  <a:lnTo>
                    <a:pt x="55491" y="94603"/>
                  </a:lnTo>
                  <a:lnTo>
                    <a:pt x="55491" y="88920"/>
                  </a:lnTo>
                  <a:lnTo>
                    <a:pt x="49785" y="83214"/>
                  </a:lnTo>
                  <a:close/>
                </a:path>
                <a:path w="94614" h="339089">
                  <a:moveTo>
                    <a:pt x="55491" y="94603"/>
                  </a:moveTo>
                  <a:lnTo>
                    <a:pt x="44055" y="94603"/>
                  </a:lnTo>
                  <a:lnTo>
                    <a:pt x="55491" y="104570"/>
                  </a:lnTo>
                  <a:lnTo>
                    <a:pt x="55491" y="94603"/>
                  </a:lnTo>
                  <a:close/>
                </a:path>
              </a:pathLst>
            </a:custGeom>
            <a:solidFill>
              <a:srgbClr val="000000"/>
            </a:solidFill>
          </p:spPr>
          <p:txBody>
            <a:bodyPr wrap="square" lIns="0" tIns="0" rIns="0" bIns="0" rtlCol="0"/>
            <a:lstStyle/>
            <a:p/>
          </p:txBody>
        </p:sp>
        <p:sp>
          <p:nvSpPr>
            <p:cNvPr id="49" name="object 49" descr=""/>
            <p:cNvSpPr/>
            <p:nvPr/>
          </p:nvSpPr>
          <p:spPr>
            <a:xfrm>
              <a:off x="4780706" y="3990706"/>
              <a:ext cx="94615" cy="339090"/>
            </a:xfrm>
            <a:custGeom>
              <a:avLst/>
              <a:gdLst/>
              <a:ahLst/>
              <a:cxnLst/>
              <a:rect l="l" t="t" r="r" b="b"/>
              <a:pathLst>
                <a:path w="94614" h="339089">
                  <a:moveTo>
                    <a:pt x="33174" y="327150"/>
                  </a:moveTo>
                  <a:lnTo>
                    <a:pt x="33174" y="94603"/>
                  </a:lnTo>
                  <a:lnTo>
                    <a:pt x="33174" y="88920"/>
                  </a:lnTo>
                  <a:lnTo>
                    <a:pt x="38903" y="88920"/>
                  </a:lnTo>
                  <a:lnTo>
                    <a:pt x="38903" y="83214"/>
                  </a:lnTo>
                  <a:lnTo>
                    <a:pt x="44055" y="83214"/>
                  </a:lnTo>
                  <a:lnTo>
                    <a:pt x="49785" y="83214"/>
                  </a:lnTo>
                  <a:lnTo>
                    <a:pt x="55491" y="88920"/>
                  </a:lnTo>
                  <a:lnTo>
                    <a:pt x="55491" y="94603"/>
                  </a:lnTo>
                  <a:lnTo>
                    <a:pt x="55491" y="327150"/>
                  </a:lnTo>
                  <a:lnTo>
                    <a:pt x="55491" y="332856"/>
                  </a:lnTo>
                  <a:lnTo>
                    <a:pt x="49785" y="332856"/>
                  </a:lnTo>
                  <a:lnTo>
                    <a:pt x="44055" y="338563"/>
                  </a:lnTo>
                  <a:lnTo>
                    <a:pt x="38903" y="332856"/>
                  </a:lnTo>
                  <a:lnTo>
                    <a:pt x="33174" y="327150"/>
                  </a:lnTo>
                  <a:close/>
                </a:path>
                <a:path w="94614" h="339089">
                  <a:moveTo>
                    <a:pt x="44055" y="94603"/>
                  </a:moveTo>
                  <a:lnTo>
                    <a:pt x="0" y="138497"/>
                  </a:lnTo>
                  <a:lnTo>
                    <a:pt x="44055" y="0"/>
                  </a:lnTo>
                  <a:lnTo>
                    <a:pt x="94418" y="138497"/>
                  </a:lnTo>
                  <a:lnTo>
                    <a:pt x="44055" y="94603"/>
                  </a:lnTo>
                  <a:close/>
                </a:path>
              </a:pathLst>
            </a:custGeom>
            <a:ln w="5722">
              <a:solidFill>
                <a:srgbClr val="000000"/>
              </a:solidFill>
            </a:ln>
          </p:spPr>
          <p:txBody>
            <a:bodyPr wrap="square" lIns="0" tIns="0" rIns="0" bIns="0" rtlCol="0"/>
            <a:lstStyle/>
            <a:p/>
          </p:txBody>
        </p:sp>
      </p:grpSp>
      <p:grpSp>
        <p:nvGrpSpPr>
          <p:cNvPr id="50" name="object 50" descr=""/>
          <p:cNvGrpSpPr/>
          <p:nvPr/>
        </p:nvGrpSpPr>
        <p:grpSpPr>
          <a:xfrm>
            <a:off x="5555000" y="3987844"/>
            <a:ext cx="100330" cy="344805"/>
            <a:chOff x="5555000" y="3987844"/>
            <a:chExt cx="100330" cy="344805"/>
          </a:xfrm>
        </p:grpSpPr>
        <p:sp>
          <p:nvSpPr>
            <p:cNvPr id="51" name="object 51" descr=""/>
            <p:cNvSpPr/>
            <p:nvPr/>
          </p:nvSpPr>
          <p:spPr>
            <a:xfrm>
              <a:off x="5557862" y="3990706"/>
              <a:ext cx="94615" cy="339090"/>
            </a:xfrm>
            <a:custGeom>
              <a:avLst/>
              <a:gdLst/>
              <a:ahLst/>
              <a:cxnLst/>
              <a:rect l="l" t="t" r="r" b="b"/>
              <a:pathLst>
                <a:path w="94614" h="339089">
                  <a:moveTo>
                    <a:pt x="44587" y="94603"/>
                  </a:moveTo>
                  <a:lnTo>
                    <a:pt x="33729" y="105292"/>
                  </a:lnTo>
                  <a:lnTo>
                    <a:pt x="33729" y="327150"/>
                  </a:lnTo>
                  <a:lnTo>
                    <a:pt x="38811" y="332856"/>
                  </a:lnTo>
                  <a:lnTo>
                    <a:pt x="44587" y="338563"/>
                  </a:lnTo>
                  <a:lnTo>
                    <a:pt x="50362" y="332856"/>
                  </a:lnTo>
                  <a:lnTo>
                    <a:pt x="55445" y="332856"/>
                  </a:lnTo>
                  <a:lnTo>
                    <a:pt x="55445" y="104199"/>
                  </a:lnTo>
                  <a:lnTo>
                    <a:pt x="44587" y="94603"/>
                  </a:lnTo>
                  <a:close/>
                </a:path>
                <a:path w="94614" h="339089">
                  <a:moveTo>
                    <a:pt x="44587" y="0"/>
                  </a:moveTo>
                  <a:lnTo>
                    <a:pt x="0" y="138497"/>
                  </a:lnTo>
                  <a:lnTo>
                    <a:pt x="33729" y="105292"/>
                  </a:lnTo>
                  <a:lnTo>
                    <a:pt x="33729" y="88920"/>
                  </a:lnTo>
                  <a:lnTo>
                    <a:pt x="38811" y="88920"/>
                  </a:lnTo>
                  <a:lnTo>
                    <a:pt x="38811" y="83214"/>
                  </a:lnTo>
                  <a:lnTo>
                    <a:pt x="74430" y="83214"/>
                  </a:lnTo>
                  <a:lnTo>
                    <a:pt x="44587" y="0"/>
                  </a:lnTo>
                  <a:close/>
                </a:path>
                <a:path w="94614" h="339089">
                  <a:moveTo>
                    <a:pt x="74430" y="83214"/>
                  </a:moveTo>
                  <a:lnTo>
                    <a:pt x="50362" y="83214"/>
                  </a:lnTo>
                  <a:lnTo>
                    <a:pt x="55445" y="88920"/>
                  </a:lnTo>
                  <a:lnTo>
                    <a:pt x="55445" y="104199"/>
                  </a:lnTo>
                  <a:lnTo>
                    <a:pt x="94256" y="138497"/>
                  </a:lnTo>
                  <a:lnTo>
                    <a:pt x="74430" y="83214"/>
                  </a:lnTo>
                  <a:close/>
                </a:path>
                <a:path w="94614" h="339089">
                  <a:moveTo>
                    <a:pt x="50362" y="83214"/>
                  </a:moveTo>
                  <a:lnTo>
                    <a:pt x="38811" y="83214"/>
                  </a:lnTo>
                  <a:lnTo>
                    <a:pt x="38811" y="88920"/>
                  </a:lnTo>
                  <a:lnTo>
                    <a:pt x="33729" y="88920"/>
                  </a:lnTo>
                  <a:lnTo>
                    <a:pt x="33729" y="105292"/>
                  </a:lnTo>
                  <a:lnTo>
                    <a:pt x="44587" y="94603"/>
                  </a:lnTo>
                  <a:lnTo>
                    <a:pt x="55445" y="94603"/>
                  </a:lnTo>
                  <a:lnTo>
                    <a:pt x="55445" y="88920"/>
                  </a:lnTo>
                  <a:lnTo>
                    <a:pt x="50362" y="83214"/>
                  </a:lnTo>
                  <a:close/>
                </a:path>
                <a:path w="94614" h="339089">
                  <a:moveTo>
                    <a:pt x="55445" y="94603"/>
                  </a:moveTo>
                  <a:lnTo>
                    <a:pt x="44587" y="94603"/>
                  </a:lnTo>
                  <a:lnTo>
                    <a:pt x="55445" y="104199"/>
                  </a:lnTo>
                  <a:lnTo>
                    <a:pt x="55445" y="94603"/>
                  </a:lnTo>
                  <a:close/>
                </a:path>
              </a:pathLst>
            </a:custGeom>
            <a:solidFill>
              <a:srgbClr val="000000"/>
            </a:solidFill>
          </p:spPr>
          <p:txBody>
            <a:bodyPr wrap="square" lIns="0" tIns="0" rIns="0" bIns="0" rtlCol="0"/>
            <a:lstStyle/>
            <a:p/>
          </p:txBody>
        </p:sp>
        <p:sp>
          <p:nvSpPr>
            <p:cNvPr id="52" name="object 52" descr=""/>
            <p:cNvSpPr/>
            <p:nvPr/>
          </p:nvSpPr>
          <p:spPr>
            <a:xfrm>
              <a:off x="5557862" y="3990706"/>
              <a:ext cx="94615" cy="339090"/>
            </a:xfrm>
            <a:custGeom>
              <a:avLst/>
              <a:gdLst/>
              <a:ahLst/>
              <a:cxnLst/>
              <a:rect l="l" t="t" r="r" b="b"/>
              <a:pathLst>
                <a:path w="94614" h="339089">
                  <a:moveTo>
                    <a:pt x="33729" y="327150"/>
                  </a:moveTo>
                  <a:lnTo>
                    <a:pt x="33729" y="94603"/>
                  </a:lnTo>
                  <a:lnTo>
                    <a:pt x="33729" y="88920"/>
                  </a:lnTo>
                  <a:lnTo>
                    <a:pt x="38811" y="88920"/>
                  </a:lnTo>
                  <a:lnTo>
                    <a:pt x="38811" y="83214"/>
                  </a:lnTo>
                  <a:lnTo>
                    <a:pt x="44587" y="83214"/>
                  </a:lnTo>
                  <a:lnTo>
                    <a:pt x="50362" y="83214"/>
                  </a:lnTo>
                  <a:lnTo>
                    <a:pt x="55445" y="88920"/>
                  </a:lnTo>
                  <a:lnTo>
                    <a:pt x="55445" y="94603"/>
                  </a:lnTo>
                  <a:lnTo>
                    <a:pt x="55445" y="327150"/>
                  </a:lnTo>
                  <a:lnTo>
                    <a:pt x="55445" y="332856"/>
                  </a:lnTo>
                  <a:lnTo>
                    <a:pt x="50362" y="332856"/>
                  </a:lnTo>
                  <a:lnTo>
                    <a:pt x="44587" y="338563"/>
                  </a:lnTo>
                  <a:lnTo>
                    <a:pt x="38811" y="332856"/>
                  </a:lnTo>
                  <a:lnTo>
                    <a:pt x="33729" y="327150"/>
                  </a:lnTo>
                  <a:close/>
                </a:path>
                <a:path w="94614" h="339089">
                  <a:moveTo>
                    <a:pt x="44587" y="94603"/>
                  </a:moveTo>
                  <a:lnTo>
                    <a:pt x="0" y="138497"/>
                  </a:lnTo>
                  <a:lnTo>
                    <a:pt x="44587" y="0"/>
                  </a:lnTo>
                  <a:lnTo>
                    <a:pt x="94256" y="138497"/>
                  </a:lnTo>
                  <a:lnTo>
                    <a:pt x="44587" y="94603"/>
                  </a:lnTo>
                  <a:close/>
                </a:path>
              </a:pathLst>
            </a:custGeom>
            <a:ln w="5722">
              <a:solidFill>
                <a:srgbClr val="000000"/>
              </a:solidFill>
            </a:ln>
          </p:spPr>
          <p:txBody>
            <a:bodyPr wrap="square" lIns="0" tIns="0" rIns="0" bIns="0" rtlCol="0"/>
            <a:lstStyle/>
            <a:p/>
          </p:txBody>
        </p:sp>
      </p:grpSp>
      <p:sp>
        <p:nvSpPr>
          <p:cNvPr id="53" name="object 53" descr=""/>
          <p:cNvSpPr txBox="1"/>
          <p:nvPr/>
        </p:nvSpPr>
        <p:spPr>
          <a:xfrm>
            <a:off x="5075265" y="3979300"/>
            <a:ext cx="270510" cy="319405"/>
          </a:xfrm>
          <a:prstGeom prst="rect">
            <a:avLst/>
          </a:prstGeom>
        </p:spPr>
        <p:txBody>
          <a:bodyPr wrap="square" lIns="0" tIns="15875" rIns="0" bIns="0" rtlCol="0" vert="horz">
            <a:spAutoFit/>
          </a:bodyPr>
          <a:lstStyle/>
          <a:p>
            <a:pPr marL="12700">
              <a:lnSpc>
                <a:spcPct val="100000"/>
              </a:lnSpc>
              <a:spcBef>
                <a:spcPts val="125"/>
              </a:spcBef>
            </a:pPr>
            <a:r>
              <a:rPr dirty="0" sz="1900" spc="-50">
                <a:latin typeface="宋体"/>
                <a:cs typeface="宋体"/>
              </a:rPr>
              <a:t>…</a:t>
            </a:r>
            <a:endParaRPr sz="1900">
              <a:latin typeface="宋体"/>
              <a:cs typeface="宋体"/>
            </a:endParaRPr>
          </a:p>
        </p:txBody>
      </p:sp>
      <p:grpSp>
        <p:nvGrpSpPr>
          <p:cNvPr id="54" name="object 54" descr=""/>
          <p:cNvGrpSpPr/>
          <p:nvPr/>
        </p:nvGrpSpPr>
        <p:grpSpPr>
          <a:xfrm>
            <a:off x="6404697" y="3987844"/>
            <a:ext cx="100330" cy="344805"/>
            <a:chOff x="6404697" y="3987844"/>
            <a:chExt cx="100330" cy="344805"/>
          </a:xfrm>
        </p:grpSpPr>
        <p:sp>
          <p:nvSpPr>
            <p:cNvPr id="55" name="object 55" descr=""/>
            <p:cNvSpPr/>
            <p:nvPr/>
          </p:nvSpPr>
          <p:spPr>
            <a:xfrm>
              <a:off x="6407558" y="3990706"/>
              <a:ext cx="94615" cy="339090"/>
            </a:xfrm>
            <a:custGeom>
              <a:avLst/>
              <a:gdLst/>
              <a:ahLst/>
              <a:cxnLst/>
              <a:rect l="l" t="t" r="r" b="b"/>
              <a:pathLst>
                <a:path w="94614" h="339089">
                  <a:moveTo>
                    <a:pt x="44587" y="94603"/>
                  </a:moveTo>
                  <a:lnTo>
                    <a:pt x="33267" y="105747"/>
                  </a:lnTo>
                  <a:lnTo>
                    <a:pt x="33267" y="327150"/>
                  </a:lnTo>
                  <a:lnTo>
                    <a:pt x="39042" y="332856"/>
                  </a:lnTo>
                  <a:lnTo>
                    <a:pt x="44587" y="338563"/>
                  </a:lnTo>
                  <a:lnTo>
                    <a:pt x="49900" y="332856"/>
                  </a:lnTo>
                  <a:lnTo>
                    <a:pt x="55445" y="332856"/>
                  </a:lnTo>
                  <a:lnTo>
                    <a:pt x="55445" y="104154"/>
                  </a:lnTo>
                  <a:lnTo>
                    <a:pt x="44587" y="94603"/>
                  </a:lnTo>
                  <a:close/>
                </a:path>
                <a:path w="94614" h="339089">
                  <a:moveTo>
                    <a:pt x="44587" y="0"/>
                  </a:moveTo>
                  <a:lnTo>
                    <a:pt x="0" y="138497"/>
                  </a:lnTo>
                  <a:lnTo>
                    <a:pt x="33267" y="105747"/>
                  </a:lnTo>
                  <a:lnTo>
                    <a:pt x="33267" y="88920"/>
                  </a:lnTo>
                  <a:lnTo>
                    <a:pt x="39042" y="88920"/>
                  </a:lnTo>
                  <a:lnTo>
                    <a:pt x="39042" y="83214"/>
                  </a:lnTo>
                  <a:lnTo>
                    <a:pt x="74569" y="83214"/>
                  </a:lnTo>
                  <a:lnTo>
                    <a:pt x="44587" y="0"/>
                  </a:lnTo>
                  <a:close/>
                </a:path>
                <a:path w="94614" h="339089">
                  <a:moveTo>
                    <a:pt x="74569" y="83214"/>
                  </a:moveTo>
                  <a:lnTo>
                    <a:pt x="49900" y="83214"/>
                  </a:lnTo>
                  <a:lnTo>
                    <a:pt x="55445" y="88920"/>
                  </a:lnTo>
                  <a:lnTo>
                    <a:pt x="55445" y="104154"/>
                  </a:lnTo>
                  <a:lnTo>
                    <a:pt x="94487" y="138497"/>
                  </a:lnTo>
                  <a:lnTo>
                    <a:pt x="74569" y="83214"/>
                  </a:lnTo>
                  <a:close/>
                </a:path>
                <a:path w="94614" h="339089">
                  <a:moveTo>
                    <a:pt x="49900" y="83214"/>
                  </a:moveTo>
                  <a:lnTo>
                    <a:pt x="39042" y="83214"/>
                  </a:lnTo>
                  <a:lnTo>
                    <a:pt x="39042" y="88920"/>
                  </a:lnTo>
                  <a:lnTo>
                    <a:pt x="33267" y="88920"/>
                  </a:lnTo>
                  <a:lnTo>
                    <a:pt x="33267" y="105747"/>
                  </a:lnTo>
                  <a:lnTo>
                    <a:pt x="44587" y="94603"/>
                  </a:lnTo>
                  <a:lnTo>
                    <a:pt x="55445" y="94603"/>
                  </a:lnTo>
                  <a:lnTo>
                    <a:pt x="55445" y="88920"/>
                  </a:lnTo>
                  <a:lnTo>
                    <a:pt x="49900" y="83214"/>
                  </a:lnTo>
                  <a:close/>
                </a:path>
                <a:path w="94614" h="339089">
                  <a:moveTo>
                    <a:pt x="55445" y="94603"/>
                  </a:moveTo>
                  <a:lnTo>
                    <a:pt x="44587" y="94603"/>
                  </a:lnTo>
                  <a:lnTo>
                    <a:pt x="55445" y="104154"/>
                  </a:lnTo>
                  <a:lnTo>
                    <a:pt x="55445" y="94603"/>
                  </a:lnTo>
                  <a:close/>
                </a:path>
              </a:pathLst>
            </a:custGeom>
            <a:solidFill>
              <a:srgbClr val="000000"/>
            </a:solidFill>
          </p:spPr>
          <p:txBody>
            <a:bodyPr wrap="square" lIns="0" tIns="0" rIns="0" bIns="0" rtlCol="0"/>
            <a:lstStyle/>
            <a:p/>
          </p:txBody>
        </p:sp>
        <p:sp>
          <p:nvSpPr>
            <p:cNvPr id="56" name="object 56" descr=""/>
            <p:cNvSpPr/>
            <p:nvPr/>
          </p:nvSpPr>
          <p:spPr>
            <a:xfrm>
              <a:off x="6407558" y="3990706"/>
              <a:ext cx="94615" cy="339090"/>
            </a:xfrm>
            <a:custGeom>
              <a:avLst/>
              <a:gdLst/>
              <a:ahLst/>
              <a:cxnLst/>
              <a:rect l="l" t="t" r="r" b="b"/>
              <a:pathLst>
                <a:path w="94614" h="339089">
                  <a:moveTo>
                    <a:pt x="33267" y="327150"/>
                  </a:moveTo>
                  <a:lnTo>
                    <a:pt x="33267" y="94603"/>
                  </a:lnTo>
                  <a:lnTo>
                    <a:pt x="33267" y="88920"/>
                  </a:lnTo>
                  <a:lnTo>
                    <a:pt x="39042" y="88920"/>
                  </a:lnTo>
                  <a:lnTo>
                    <a:pt x="39042" y="83214"/>
                  </a:lnTo>
                  <a:lnTo>
                    <a:pt x="44587" y="83214"/>
                  </a:lnTo>
                  <a:lnTo>
                    <a:pt x="49900" y="83214"/>
                  </a:lnTo>
                  <a:lnTo>
                    <a:pt x="55445" y="88920"/>
                  </a:lnTo>
                  <a:lnTo>
                    <a:pt x="55445" y="94603"/>
                  </a:lnTo>
                  <a:lnTo>
                    <a:pt x="55445" y="327150"/>
                  </a:lnTo>
                  <a:lnTo>
                    <a:pt x="55445" y="332856"/>
                  </a:lnTo>
                  <a:lnTo>
                    <a:pt x="49900" y="332856"/>
                  </a:lnTo>
                  <a:lnTo>
                    <a:pt x="44587" y="338563"/>
                  </a:lnTo>
                  <a:lnTo>
                    <a:pt x="39042" y="332856"/>
                  </a:lnTo>
                  <a:lnTo>
                    <a:pt x="33267" y="327150"/>
                  </a:lnTo>
                  <a:close/>
                </a:path>
                <a:path w="94614" h="339089">
                  <a:moveTo>
                    <a:pt x="44587" y="94603"/>
                  </a:moveTo>
                  <a:lnTo>
                    <a:pt x="0" y="138497"/>
                  </a:lnTo>
                  <a:lnTo>
                    <a:pt x="44587" y="0"/>
                  </a:lnTo>
                  <a:lnTo>
                    <a:pt x="94487" y="138497"/>
                  </a:lnTo>
                  <a:lnTo>
                    <a:pt x="44587" y="94603"/>
                  </a:lnTo>
                  <a:close/>
                </a:path>
              </a:pathLst>
            </a:custGeom>
            <a:ln w="5722">
              <a:solidFill>
                <a:srgbClr val="000000"/>
              </a:solidFill>
            </a:ln>
          </p:spPr>
          <p:txBody>
            <a:bodyPr wrap="square" lIns="0" tIns="0" rIns="0" bIns="0" rtlCol="0"/>
            <a:lstStyle/>
            <a:p/>
          </p:txBody>
        </p:sp>
      </p:grpSp>
      <p:grpSp>
        <p:nvGrpSpPr>
          <p:cNvPr id="57" name="object 57" descr=""/>
          <p:cNvGrpSpPr/>
          <p:nvPr/>
        </p:nvGrpSpPr>
        <p:grpSpPr>
          <a:xfrm>
            <a:off x="7182314" y="3987844"/>
            <a:ext cx="100330" cy="344805"/>
            <a:chOff x="7182314" y="3987844"/>
            <a:chExt cx="100330" cy="344805"/>
          </a:xfrm>
        </p:grpSpPr>
        <p:sp>
          <p:nvSpPr>
            <p:cNvPr id="58" name="object 58" descr=""/>
            <p:cNvSpPr/>
            <p:nvPr/>
          </p:nvSpPr>
          <p:spPr>
            <a:xfrm>
              <a:off x="7185175" y="3990706"/>
              <a:ext cx="94615" cy="339090"/>
            </a:xfrm>
            <a:custGeom>
              <a:avLst/>
              <a:gdLst/>
              <a:ahLst/>
              <a:cxnLst/>
              <a:rect l="l" t="t" r="r" b="b"/>
              <a:pathLst>
                <a:path w="94615" h="339089">
                  <a:moveTo>
                    <a:pt x="44125" y="94603"/>
                  </a:moveTo>
                  <a:lnTo>
                    <a:pt x="33267" y="105404"/>
                  </a:lnTo>
                  <a:lnTo>
                    <a:pt x="33267" y="327150"/>
                  </a:lnTo>
                  <a:lnTo>
                    <a:pt x="38349" y="332856"/>
                  </a:lnTo>
                  <a:lnTo>
                    <a:pt x="44125" y="338563"/>
                  </a:lnTo>
                  <a:lnTo>
                    <a:pt x="49900" y="332856"/>
                  </a:lnTo>
                  <a:lnTo>
                    <a:pt x="55676" y="332856"/>
                  </a:lnTo>
                  <a:lnTo>
                    <a:pt x="55676" y="104764"/>
                  </a:lnTo>
                  <a:lnTo>
                    <a:pt x="44125" y="94603"/>
                  </a:lnTo>
                  <a:close/>
                </a:path>
                <a:path w="94615" h="339089">
                  <a:moveTo>
                    <a:pt x="44125" y="0"/>
                  </a:moveTo>
                  <a:lnTo>
                    <a:pt x="0" y="138497"/>
                  </a:lnTo>
                  <a:lnTo>
                    <a:pt x="33267" y="105404"/>
                  </a:lnTo>
                  <a:lnTo>
                    <a:pt x="33267" y="88920"/>
                  </a:lnTo>
                  <a:lnTo>
                    <a:pt x="38349" y="88920"/>
                  </a:lnTo>
                  <a:lnTo>
                    <a:pt x="38349" y="83214"/>
                  </a:lnTo>
                  <a:lnTo>
                    <a:pt x="74107" y="83214"/>
                  </a:lnTo>
                  <a:lnTo>
                    <a:pt x="44125" y="0"/>
                  </a:lnTo>
                  <a:close/>
                </a:path>
                <a:path w="94615" h="339089">
                  <a:moveTo>
                    <a:pt x="74107" y="83214"/>
                  </a:moveTo>
                  <a:lnTo>
                    <a:pt x="49900" y="83214"/>
                  </a:lnTo>
                  <a:lnTo>
                    <a:pt x="55676" y="88920"/>
                  </a:lnTo>
                  <a:lnTo>
                    <a:pt x="55676" y="104764"/>
                  </a:lnTo>
                  <a:lnTo>
                    <a:pt x="94025" y="138497"/>
                  </a:lnTo>
                  <a:lnTo>
                    <a:pt x="74107" y="83214"/>
                  </a:lnTo>
                  <a:close/>
                </a:path>
                <a:path w="94615" h="339089">
                  <a:moveTo>
                    <a:pt x="49900" y="83214"/>
                  </a:moveTo>
                  <a:lnTo>
                    <a:pt x="38349" y="83214"/>
                  </a:lnTo>
                  <a:lnTo>
                    <a:pt x="38349" y="88920"/>
                  </a:lnTo>
                  <a:lnTo>
                    <a:pt x="33267" y="88920"/>
                  </a:lnTo>
                  <a:lnTo>
                    <a:pt x="33267" y="105404"/>
                  </a:lnTo>
                  <a:lnTo>
                    <a:pt x="44125" y="94603"/>
                  </a:lnTo>
                  <a:lnTo>
                    <a:pt x="55676" y="94603"/>
                  </a:lnTo>
                  <a:lnTo>
                    <a:pt x="55676" y="88920"/>
                  </a:lnTo>
                  <a:lnTo>
                    <a:pt x="49900" y="83214"/>
                  </a:lnTo>
                  <a:close/>
                </a:path>
                <a:path w="94615" h="339089">
                  <a:moveTo>
                    <a:pt x="55676" y="94603"/>
                  </a:moveTo>
                  <a:lnTo>
                    <a:pt x="44125" y="94603"/>
                  </a:lnTo>
                  <a:lnTo>
                    <a:pt x="55676" y="104764"/>
                  </a:lnTo>
                  <a:lnTo>
                    <a:pt x="55676" y="94603"/>
                  </a:lnTo>
                  <a:close/>
                </a:path>
              </a:pathLst>
            </a:custGeom>
            <a:solidFill>
              <a:srgbClr val="000000"/>
            </a:solidFill>
          </p:spPr>
          <p:txBody>
            <a:bodyPr wrap="square" lIns="0" tIns="0" rIns="0" bIns="0" rtlCol="0"/>
            <a:lstStyle/>
            <a:p/>
          </p:txBody>
        </p:sp>
        <p:sp>
          <p:nvSpPr>
            <p:cNvPr id="59" name="object 59" descr=""/>
            <p:cNvSpPr/>
            <p:nvPr/>
          </p:nvSpPr>
          <p:spPr>
            <a:xfrm>
              <a:off x="7185175" y="3990706"/>
              <a:ext cx="94615" cy="339090"/>
            </a:xfrm>
            <a:custGeom>
              <a:avLst/>
              <a:gdLst/>
              <a:ahLst/>
              <a:cxnLst/>
              <a:rect l="l" t="t" r="r" b="b"/>
              <a:pathLst>
                <a:path w="94615" h="339089">
                  <a:moveTo>
                    <a:pt x="33267" y="327150"/>
                  </a:moveTo>
                  <a:lnTo>
                    <a:pt x="33267" y="94603"/>
                  </a:lnTo>
                  <a:lnTo>
                    <a:pt x="33267" y="88920"/>
                  </a:lnTo>
                  <a:lnTo>
                    <a:pt x="38349" y="88920"/>
                  </a:lnTo>
                  <a:lnTo>
                    <a:pt x="38349" y="83214"/>
                  </a:lnTo>
                  <a:lnTo>
                    <a:pt x="44125" y="83214"/>
                  </a:lnTo>
                  <a:lnTo>
                    <a:pt x="49900" y="83214"/>
                  </a:lnTo>
                  <a:lnTo>
                    <a:pt x="55676" y="88920"/>
                  </a:lnTo>
                  <a:lnTo>
                    <a:pt x="55676" y="94603"/>
                  </a:lnTo>
                  <a:lnTo>
                    <a:pt x="55676" y="327150"/>
                  </a:lnTo>
                  <a:lnTo>
                    <a:pt x="55676" y="332856"/>
                  </a:lnTo>
                  <a:lnTo>
                    <a:pt x="49900" y="332856"/>
                  </a:lnTo>
                  <a:lnTo>
                    <a:pt x="44125" y="338563"/>
                  </a:lnTo>
                  <a:lnTo>
                    <a:pt x="38349" y="332856"/>
                  </a:lnTo>
                  <a:lnTo>
                    <a:pt x="33267" y="327150"/>
                  </a:lnTo>
                  <a:close/>
                </a:path>
                <a:path w="94615" h="339089">
                  <a:moveTo>
                    <a:pt x="44125" y="94603"/>
                  </a:moveTo>
                  <a:lnTo>
                    <a:pt x="0" y="138497"/>
                  </a:lnTo>
                  <a:lnTo>
                    <a:pt x="44125" y="0"/>
                  </a:lnTo>
                  <a:lnTo>
                    <a:pt x="94025" y="138497"/>
                  </a:lnTo>
                  <a:lnTo>
                    <a:pt x="44125" y="94603"/>
                  </a:lnTo>
                  <a:close/>
                </a:path>
              </a:pathLst>
            </a:custGeom>
            <a:ln w="5722">
              <a:solidFill>
                <a:srgbClr val="000000"/>
              </a:solidFill>
            </a:ln>
          </p:spPr>
          <p:txBody>
            <a:bodyPr wrap="square" lIns="0" tIns="0" rIns="0" bIns="0" rtlCol="0"/>
            <a:lstStyle/>
            <a:p/>
          </p:txBody>
        </p:sp>
      </p:grpSp>
      <p:sp>
        <p:nvSpPr>
          <p:cNvPr id="60" name="object 60" descr=""/>
          <p:cNvSpPr txBox="1"/>
          <p:nvPr/>
        </p:nvSpPr>
        <p:spPr>
          <a:xfrm>
            <a:off x="6702116" y="3979300"/>
            <a:ext cx="270510" cy="319405"/>
          </a:xfrm>
          <a:prstGeom prst="rect">
            <a:avLst/>
          </a:prstGeom>
        </p:spPr>
        <p:txBody>
          <a:bodyPr wrap="square" lIns="0" tIns="15875" rIns="0" bIns="0" rtlCol="0" vert="horz">
            <a:spAutoFit/>
          </a:bodyPr>
          <a:lstStyle/>
          <a:p>
            <a:pPr marL="12700">
              <a:lnSpc>
                <a:spcPct val="100000"/>
              </a:lnSpc>
              <a:spcBef>
                <a:spcPts val="125"/>
              </a:spcBef>
            </a:pPr>
            <a:r>
              <a:rPr dirty="0" sz="1900" spc="-50">
                <a:latin typeface="宋体"/>
                <a:cs typeface="宋体"/>
              </a:rPr>
              <a:t>…</a:t>
            </a:r>
            <a:endParaRPr sz="1900">
              <a:latin typeface="宋体"/>
              <a:cs typeface="宋体"/>
            </a:endParaRPr>
          </a:p>
        </p:txBody>
      </p:sp>
      <p:sp>
        <p:nvSpPr>
          <p:cNvPr id="61" name="object 61" descr=""/>
          <p:cNvSpPr txBox="1"/>
          <p:nvPr/>
        </p:nvSpPr>
        <p:spPr>
          <a:xfrm>
            <a:off x="4605015" y="4314437"/>
            <a:ext cx="1288415" cy="355600"/>
          </a:xfrm>
          <a:prstGeom prst="rect">
            <a:avLst/>
          </a:prstGeom>
          <a:solidFill>
            <a:srgbClr val="FFFFCC"/>
          </a:solidFill>
          <a:ln w="16595">
            <a:solidFill>
              <a:srgbClr val="000000"/>
            </a:solidFill>
          </a:ln>
        </p:spPr>
        <p:txBody>
          <a:bodyPr wrap="square" lIns="0" tIns="67945" rIns="0" bIns="0" rtlCol="0" vert="horz">
            <a:spAutoFit/>
          </a:bodyPr>
          <a:lstStyle/>
          <a:p>
            <a:pPr marL="71755">
              <a:lnSpc>
                <a:spcPct val="100000"/>
              </a:lnSpc>
              <a:spcBef>
                <a:spcPts val="535"/>
              </a:spcBef>
            </a:pPr>
            <a:r>
              <a:rPr dirty="0" baseline="3367" sz="2475" spc="-112">
                <a:solidFill>
                  <a:srgbClr val="0000FF"/>
                </a:solidFill>
                <a:latin typeface="宋体"/>
                <a:cs typeface="宋体"/>
              </a:rPr>
              <a:t>地址寄存器 </a:t>
            </a:r>
            <a:r>
              <a:rPr dirty="0" sz="800" spc="-50">
                <a:solidFill>
                  <a:srgbClr val="0000FF"/>
                </a:solidFill>
                <a:latin typeface="宋体"/>
                <a:cs typeface="宋体"/>
              </a:rPr>
              <a:t>1</a:t>
            </a:r>
            <a:endParaRPr sz="800">
              <a:latin typeface="宋体"/>
              <a:cs typeface="宋体"/>
            </a:endParaRPr>
          </a:p>
        </p:txBody>
      </p:sp>
      <p:sp>
        <p:nvSpPr>
          <p:cNvPr id="62" name="object 62" descr=""/>
          <p:cNvSpPr txBox="1"/>
          <p:nvPr/>
        </p:nvSpPr>
        <p:spPr>
          <a:xfrm>
            <a:off x="6209572" y="4314437"/>
            <a:ext cx="1310640" cy="355600"/>
          </a:xfrm>
          <a:prstGeom prst="rect">
            <a:avLst/>
          </a:prstGeom>
          <a:solidFill>
            <a:srgbClr val="FFFFCC"/>
          </a:solidFill>
          <a:ln w="16595">
            <a:solidFill>
              <a:srgbClr val="000000"/>
            </a:solidFill>
          </a:ln>
        </p:spPr>
        <p:txBody>
          <a:bodyPr wrap="square" lIns="0" tIns="67945" rIns="0" bIns="0" rtlCol="0" vert="horz">
            <a:spAutoFit/>
          </a:bodyPr>
          <a:lstStyle/>
          <a:p>
            <a:pPr marL="93980">
              <a:lnSpc>
                <a:spcPct val="100000"/>
              </a:lnSpc>
              <a:spcBef>
                <a:spcPts val="535"/>
              </a:spcBef>
            </a:pPr>
            <a:r>
              <a:rPr dirty="0" baseline="3367" sz="2475" spc="-112">
                <a:solidFill>
                  <a:srgbClr val="0000FF"/>
                </a:solidFill>
                <a:latin typeface="宋体"/>
                <a:cs typeface="宋体"/>
              </a:rPr>
              <a:t>地址寄存器 </a:t>
            </a:r>
            <a:r>
              <a:rPr dirty="0" sz="800" spc="-50">
                <a:solidFill>
                  <a:srgbClr val="0000FF"/>
                </a:solidFill>
                <a:latin typeface="宋体"/>
                <a:cs typeface="宋体"/>
              </a:rPr>
              <a:t>2</a:t>
            </a:r>
            <a:endParaRPr sz="800">
              <a:latin typeface="宋体"/>
              <a:cs typeface="宋体"/>
            </a:endParaRPr>
          </a:p>
        </p:txBody>
      </p:sp>
      <p:grpSp>
        <p:nvGrpSpPr>
          <p:cNvPr id="63" name="object 63" descr=""/>
          <p:cNvGrpSpPr/>
          <p:nvPr/>
        </p:nvGrpSpPr>
        <p:grpSpPr>
          <a:xfrm>
            <a:off x="8009370" y="3987844"/>
            <a:ext cx="95250" cy="344805"/>
            <a:chOff x="8009370" y="3987844"/>
            <a:chExt cx="95250" cy="344805"/>
          </a:xfrm>
        </p:grpSpPr>
        <p:sp>
          <p:nvSpPr>
            <p:cNvPr id="64" name="object 64" descr=""/>
            <p:cNvSpPr/>
            <p:nvPr/>
          </p:nvSpPr>
          <p:spPr>
            <a:xfrm>
              <a:off x="8012231" y="3990706"/>
              <a:ext cx="89535" cy="339090"/>
            </a:xfrm>
            <a:custGeom>
              <a:avLst/>
              <a:gdLst/>
              <a:ahLst/>
              <a:cxnLst/>
              <a:rect l="l" t="t" r="r" b="b"/>
              <a:pathLst>
                <a:path w="89534" h="339089">
                  <a:moveTo>
                    <a:pt x="44587" y="94603"/>
                  </a:moveTo>
                  <a:lnTo>
                    <a:pt x="33729" y="105292"/>
                  </a:lnTo>
                  <a:lnTo>
                    <a:pt x="33729" y="327150"/>
                  </a:lnTo>
                  <a:lnTo>
                    <a:pt x="38811" y="332856"/>
                  </a:lnTo>
                  <a:lnTo>
                    <a:pt x="44587" y="338563"/>
                  </a:lnTo>
                  <a:lnTo>
                    <a:pt x="50362" y="332856"/>
                  </a:lnTo>
                  <a:lnTo>
                    <a:pt x="55445" y="332856"/>
                  </a:lnTo>
                  <a:lnTo>
                    <a:pt x="55445" y="105292"/>
                  </a:lnTo>
                  <a:lnTo>
                    <a:pt x="44587" y="94603"/>
                  </a:lnTo>
                  <a:close/>
                </a:path>
                <a:path w="89534" h="339089">
                  <a:moveTo>
                    <a:pt x="44587" y="0"/>
                  </a:moveTo>
                  <a:lnTo>
                    <a:pt x="0" y="138497"/>
                  </a:lnTo>
                  <a:lnTo>
                    <a:pt x="33729" y="105292"/>
                  </a:lnTo>
                  <a:lnTo>
                    <a:pt x="33729" y="88920"/>
                  </a:lnTo>
                  <a:lnTo>
                    <a:pt x="38811" y="88920"/>
                  </a:lnTo>
                  <a:lnTo>
                    <a:pt x="38811" y="83214"/>
                  </a:lnTo>
                  <a:lnTo>
                    <a:pt x="71376" y="83214"/>
                  </a:lnTo>
                  <a:lnTo>
                    <a:pt x="44587" y="0"/>
                  </a:lnTo>
                  <a:close/>
                </a:path>
                <a:path w="89534" h="339089">
                  <a:moveTo>
                    <a:pt x="71376" y="83214"/>
                  </a:moveTo>
                  <a:lnTo>
                    <a:pt x="50362" y="83214"/>
                  </a:lnTo>
                  <a:lnTo>
                    <a:pt x="55445" y="88920"/>
                  </a:lnTo>
                  <a:lnTo>
                    <a:pt x="55445" y="105292"/>
                  </a:lnTo>
                  <a:lnTo>
                    <a:pt x="89174" y="138497"/>
                  </a:lnTo>
                  <a:lnTo>
                    <a:pt x="71376" y="83214"/>
                  </a:lnTo>
                  <a:close/>
                </a:path>
                <a:path w="89534" h="339089">
                  <a:moveTo>
                    <a:pt x="50362" y="83214"/>
                  </a:moveTo>
                  <a:lnTo>
                    <a:pt x="38811" y="83214"/>
                  </a:lnTo>
                  <a:lnTo>
                    <a:pt x="38811" y="88920"/>
                  </a:lnTo>
                  <a:lnTo>
                    <a:pt x="33729" y="88920"/>
                  </a:lnTo>
                  <a:lnTo>
                    <a:pt x="33729" y="105292"/>
                  </a:lnTo>
                  <a:lnTo>
                    <a:pt x="44587" y="94603"/>
                  </a:lnTo>
                  <a:lnTo>
                    <a:pt x="55445" y="94603"/>
                  </a:lnTo>
                  <a:lnTo>
                    <a:pt x="55445" y="88920"/>
                  </a:lnTo>
                  <a:lnTo>
                    <a:pt x="50362" y="83214"/>
                  </a:lnTo>
                  <a:close/>
                </a:path>
                <a:path w="89534" h="339089">
                  <a:moveTo>
                    <a:pt x="55445" y="94603"/>
                  </a:moveTo>
                  <a:lnTo>
                    <a:pt x="44587" y="94603"/>
                  </a:lnTo>
                  <a:lnTo>
                    <a:pt x="55445" y="105292"/>
                  </a:lnTo>
                  <a:lnTo>
                    <a:pt x="55445" y="94603"/>
                  </a:lnTo>
                  <a:close/>
                </a:path>
              </a:pathLst>
            </a:custGeom>
            <a:solidFill>
              <a:srgbClr val="000000"/>
            </a:solidFill>
          </p:spPr>
          <p:txBody>
            <a:bodyPr wrap="square" lIns="0" tIns="0" rIns="0" bIns="0" rtlCol="0"/>
            <a:lstStyle/>
            <a:p/>
          </p:txBody>
        </p:sp>
        <p:sp>
          <p:nvSpPr>
            <p:cNvPr id="65" name="object 65" descr=""/>
            <p:cNvSpPr/>
            <p:nvPr/>
          </p:nvSpPr>
          <p:spPr>
            <a:xfrm>
              <a:off x="8012231" y="3990706"/>
              <a:ext cx="89535" cy="339090"/>
            </a:xfrm>
            <a:custGeom>
              <a:avLst/>
              <a:gdLst/>
              <a:ahLst/>
              <a:cxnLst/>
              <a:rect l="l" t="t" r="r" b="b"/>
              <a:pathLst>
                <a:path w="89534" h="339089">
                  <a:moveTo>
                    <a:pt x="33729" y="327150"/>
                  </a:moveTo>
                  <a:lnTo>
                    <a:pt x="33729" y="94603"/>
                  </a:lnTo>
                  <a:lnTo>
                    <a:pt x="33729" y="88920"/>
                  </a:lnTo>
                  <a:lnTo>
                    <a:pt x="38811" y="88920"/>
                  </a:lnTo>
                  <a:lnTo>
                    <a:pt x="38811" y="83214"/>
                  </a:lnTo>
                  <a:lnTo>
                    <a:pt x="44587" y="83214"/>
                  </a:lnTo>
                  <a:lnTo>
                    <a:pt x="50362" y="83214"/>
                  </a:lnTo>
                  <a:lnTo>
                    <a:pt x="55445" y="88920"/>
                  </a:lnTo>
                  <a:lnTo>
                    <a:pt x="55445" y="94603"/>
                  </a:lnTo>
                  <a:lnTo>
                    <a:pt x="55445" y="327150"/>
                  </a:lnTo>
                  <a:lnTo>
                    <a:pt x="55445" y="332856"/>
                  </a:lnTo>
                  <a:lnTo>
                    <a:pt x="50362" y="332856"/>
                  </a:lnTo>
                  <a:lnTo>
                    <a:pt x="44587" y="338563"/>
                  </a:lnTo>
                  <a:lnTo>
                    <a:pt x="38811" y="332856"/>
                  </a:lnTo>
                  <a:lnTo>
                    <a:pt x="33729" y="327150"/>
                  </a:lnTo>
                  <a:close/>
                </a:path>
                <a:path w="89534" h="339089">
                  <a:moveTo>
                    <a:pt x="44587" y="94603"/>
                  </a:moveTo>
                  <a:lnTo>
                    <a:pt x="0" y="138497"/>
                  </a:lnTo>
                  <a:lnTo>
                    <a:pt x="44587" y="0"/>
                  </a:lnTo>
                  <a:lnTo>
                    <a:pt x="89174" y="138497"/>
                  </a:lnTo>
                  <a:lnTo>
                    <a:pt x="44587" y="94603"/>
                  </a:lnTo>
                  <a:close/>
                </a:path>
              </a:pathLst>
            </a:custGeom>
            <a:ln w="5722">
              <a:solidFill>
                <a:srgbClr val="000000"/>
              </a:solidFill>
            </a:ln>
          </p:spPr>
          <p:txBody>
            <a:bodyPr wrap="square" lIns="0" tIns="0" rIns="0" bIns="0" rtlCol="0"/>
            <a:lstStyle/>
            <a:p/>
          </p:txBody>
        </p:sp>
      </p:grpSp>
      <p:grpSp>
        <p:nvGrpSpPr>
          <p:cNvPr id="66" name="object 66" descr=""/>
          <p:cNvGrpSpPr/>
          <p:nvPr/>
        </p:nvGrpSpPr>
        <p:grpSpPr>
          <a:xfrm>
            <a:off x="8786987" y="3987844"/>
            <a:ext cx="94615" cy="344805"/>
            <a:chOff x="8786987" y="3987844"/>
            <a:chExt cx="94615" cy="344805"/>
          </a:xfrm>
        </p:grpSpPr>
        <p:sp>
          <p:nvSpPr>
            <p:cNvPr id="67" name="object 67" descr=""/>
            <p:cNvSpPr/>
            <p:nvPr/>
          </p:nvSpPr>
          <p:spPr>
            <a:xfrm>
              <a:off x="8789849" y="3990706"/>
              <a:ext cx="88900" cy="339090"/>
            </a:xfrm>
            <a:custGeom>
              <a:avLst/>
              <a:gdLst/>
              <a:ahLst/>
              <a:cxnLst/>
              <a:rect l="l" t="t" r="r" b="b"/>
              <a:pathLst>
                <a:path w="88900" h="339089">
                  <a:moveTo>
                    <a:pt x="44587" y="94603"/>
                  </a:moveTo>
                  <a:lnTo>
                    <a:pt x="33267" y="105747"/>
                  </a:lnTo>
                  <a:lnTo>
                    <a:pt x="33267" y="327150"/>
                  </a:lnTo>
                  <a:lnTo>
                    <a:pt x="38811" y="332856"/>
                  </a:lnTo>
                  <a:lnTo>
                    <a:pt x="44587" y="338563"/>
                  </a:lnTo>
                  <a:lnTo>
                    <a:pt x="49900" y="332856"/>
                  </a:lnTo>
                  <a:lnTo>
                    <a:pt x="55445" y="332856"/>
                  </a:lnTo>
                  <a:lnTo>
                    <a:pt x="55445" y="105404"/>
                  </a:lnTo>
                  <a:lnTo>
                    <a:pt x="44587" y="94603"/>
                  </a:lnTo>
                  <a:close/>
                </a:path>
                <a:path w="88900" h="339089">
                  <a:moveTo>
                    <a:pt x="44587" y="0"/>
                  </a:moveTo>
                  <a:lnTo>
                    <a:pt x="0" y="138497"/>
                  </a:lnTo>
                  <a:lnTo>
                    <a:pt x="33267" y="105747"/>
                  </a:lnTo>
                  <a:lnTo>
                    <a:pt x="33267" y="88920"/>
                  </a:lnTo>
                  <a:lnTo>
                    <a:pt x="38811" y="88920"/>
                  </a:lnTo>
                  <a:lnTo>
                    <a:pt x="38811" y="83214"/>
                  </a:lnTo>
                  <a:lnTo>
                    <a:pt x="71098" y="83214"/>
                  </a:lnTo>
                  <a:lnTo>
                    <a:pt x="44587" y="0"/>
                  </a:lnTo>
                  <a:close/>
                </a:path>
                <a:path w="88900" h="339089">
                  <a:moveTo>
                    <a:pt x="71098" y="83214"/>
                  </a:moveTo>
                  <a:lnTo>
                    <a:pt x="49900" y="83214"/>
                  </a:lnTo>
                  <a:lnTo>
                    <a:pt x="55445" y="88920"/>
                  </a:lnTo>
                  <a:lnTo>
                    <a:pt x="55445" y="105404"/>
                  </a:lnTo>
                  <a:lnTo>
                    <a:pt x="88712" y="138497"/>
                  </a:lnTo>
                  <a:lnTo>
                    <a:pt x="71098" y="83214"/>
                  </a:lnTo>
                  <a:close/>
                </a:path>
                <a:path w="88900" h="339089">
                  <a:moveTo>
                    <a:pt x="49900" y="83214"/>
                  </a:moveTo>
                  <a:lnTo>
                    <a:pt x="38811" y="83214"/>
                  </a:lnTo>
                  <a:lnTo>
                    <a:pt x="38811" y="88920"/>
                  </a:lnTo>
                  <a:lnTo>
                    <a:pt x="33267" y="88920"/>
                  </a:lnTo>
                  <a:lnTo>
                    <a:pt x="33267" y="105747"/>
                  </a:lnTo>
                  <a:lnTo>
                    <a:pt x="44587" y="94603"/>
                  </a:lnTo>
                  <a:lnTo>
                    <a:pt x="55445" y="94603"/>
                  </a:lnTo>
                  <a:lnTo>
                    <a:pt x="55445" y="88920"/>
                  </a:lnTo>
                  <a:lnTo>
                    <a:pt x="49900" y="83214"/>
                  </a:lnTo>
                  <a:close/>
                </a:path>
                <a:path w="88900" h="339089">
                  <a:moveTo>
                    <a:pt x="55445" y="94603"/>
                  </a:moveTo>
                  <a:lnTo>
                    <a:pt x="44587" y="94603"/>
                  </a:lnTo>
                  <a:lnTo>
                    <a:pt x="55445" y="105404"/>
                  </a:lnTo>
                  <a:lnTo>
                    <a:pt x="55445" y="94603"/>
                  </a:lnTo>
                  <a:close/>
                </a:path>
              </a:pathLst>
            </a:custGeom>
            <a:solidFill>
              <a:srgbClr val="000000"/>
            </a:solidFill>
          </p:spPr>
          <p:txBody>
            <a:bodyPr wrap="square" lIns="0" tIns="0" rIns="0" bIns="0" rtlCol="0"/>
            <a:lstStyle/>
            <a:p/>
          </p:txBody>
        </p:sp>
        <p:sp>
          <p:nvSpPr>
            <p:cNvPr id="68" name="object 68" descr=""/>
            <p:cNvSpPr/>
            <p:nvPr/>
          </p:nvSpPr>
          <p:spPr>
            <a:xfrm>
              <a:off x="8789848" y="3990706"/>
              <a:ext cx="88900" cy="339090"/>
            </a:xfrm>
            <a:custGeom>
              <a:avLst/>
              <a:gdLst/>
              <a:ahLst/>
              <a:cxnLst/>
              <a:rect l="l" t="t" r="r" b="b"/>
              <a:pathLst>
                <a:path w="88900" h="339089">
                  <a:moveTo>
                    <a:pt x="33267" y="327150"/>
                  </a:moveTo>
                  <a:lnTo>
                    <a:pt x="33267" y="94603"/>
                  </a:lnTo>
                  <a:lnTo>
                    <a:pt x="33267" y="88920"/>
                  </a:lnTo>
                  <a:lnTo>
                    <a:pt x="38811" y="88920"/>
                  </a:lnTo>
                  <a:lnTo>
                    <a:pt x="38811" y="83214"/>
                  </a:lnTo>
                  <a:lnTo>
                    <a:pt x="44587" y="83214"/>
                  </a:lnTo>
                  <a:lnTo>
                    <a:pt x="49900" y="83214"/>
                  </a:lnTo>
                  <a:lnTo>
                    <a:pt x="55445" y="88920"/>
                  </a:lnTo>
                  <a:lnTo>
                    <a:pt x="55445" y="94603"/>
                  </a:lnTo>
                  <a:lnTo>
                    <a:pt x="55445" y="327150"/>
                  </a:lnTo>
                  <a:lnTo>
                    <a:pt x="55445" y="332856"/>
                  </a:lnTo>
                  <a:lnTo>
                    <a:pt x="49900" y="332856"/>
                  </a:lnTo>
                  <a:lnTo>
                    <a:pt x="44587" y="338563"/>
                  </a:lnTo>
                  <a:lnTo>
                    <a:pt x="38811" y="332856"/>
                  </a:lnTo>
                  <a:lnTo>
                    <a:pt x="33267" y="327150"/>
                  </a:lnTo>
                  <a:close/>
                </a:path>
                <a:path w="88900" h="339089">
                  <a:moveTo>
                    <a:pt x="44587" y="94603"/>
                  </a:moveTo>
                  <a:lnTo>
                    <a:pt x="0" y="138497"/>
                  </a:lnTo>
                  <a:lnTo>
                    <a:pt x="44587" y="0"/>
                  </a:lnTo>
                  <a:lnTo>
                    <a:pt x="88712" y="138497"/>
                  </a:lnTo>
                  <a:lnTo>
                    <a:pt x="44587" y="94603"/>
                  </a:lnTo>
                  <a:close/>
                </a:path>
              </a:pathLst>
            </a:custGeom>
            <a:ln w="5722">
              <a:solidFill>
                <a:srgbClr val="000000"/>
              </a:solidFill>
            </a:ln>
          </p:spPr>
          <p:txBody>
            <a:bodyPr wrap="square" lIns="0" tIns="0" rIns="0" bIns="0" rtlCol="0"/>
            <a:lstStyle/>
            <a:p/>
          </p:txBody>
        </p:sp>
      </p:grpSp>
      <p:sp>
        <p:nvSpPr>
          <p:cNvPr id="69" name="object 69" descr=""/>
          <p:cNvSpPr txBox="1"/>
          <p:nvPr/>
        </p:nvSpPr>
        <p:spPr>
          <a:xfrm>
            <a:off x="8307251" y="3979300"/>
            <a:ext cx="270510" cy="319405"/>
          </a:xfrm>
          <a:prstGeom prst="rect">
            <a:avLst/>
          </a:prstGeom>
        </p:spPr>
        <p:txBody>
          <a:bodyPr wrap="square" lIns="0" tIns="15875" rIns="0" bIns="0" rtlCol="0" vert="horz">
            <a:spAutoFit/>
          </a:bodyPr>
          <a:lstStyle/>
          <a:p>
            <a:pPr marL="12700">
              <a:lnSpc>
                <a:spcPct val="100000"/>
              </a:lnSpc>
              <a:spcBef>
                <a:spcPts val="125"/>
              </a:spcBef>
            </a:pPr>
            <a:r>
              <a:rPr dirty="0" sz="1900" spc="-50">
                <a:latin typeface="宋体"/>
                <a:cs typeface="宋体"/>
              </a:rPr>
              <a:t>…</a:t>
            </a:r>
            <a:endParaRPr sz="1900">
              <a:latin typeface="宋体"/>
              <a:cs typeface="宋体"/>
            </a:endParaRPr>
          </a:p>
        </p:txBody>
      </p:sp>
      <p:sp>
        <p:nvSpPr>
          <p:cNvPr id="70" name="object 70" descr=""/>
          <p:cNvSpPr txBox="1"/>
          <p:nvPr/>
        </p:nvSpPr>
        <p:spPr>
          <a:xfrm>
            <a:off x="7837117" y="4314437"/>
            <a:ext cx="1288415" cy="355600"/>
          </a:xfrm>
          <a:prstGeom prst="rect">
            <a:avLst/>
          </a:prstGeom>
          <a:solidFill>
            <a:srgbClr val="FFFFCC"/>
          </a:solidFill>
          <a:ln w="16595">
            <a:solidFill>
              <a:srgbClr val="000000"/>
            </a:solidFill>
          </a:ln>
        </p:spPr>
        <p:txBody>
          <a:bodyPr wrap="square" lIns="0" tIns="67945" rIns="0" bIns="0" rtlCol="0" vert="horz">
            <a:spAutoFit/>
          </a:bodyPr>
          <a:lstStyle/>
          <a:p>
            <a:pPr marL="71755">
              <a:lnSpc>
                <a:spcPct val="100000"/>
              </a:lnSpc>
              <a:spcBef>
                <a:spcPts val="535"/>
              </a:spcBef>
            </a:pPr>
            <a:r>
              <a:rPr dirty="0" baseline="3367" sz="2475" spc="-112">
                <a:solidFill>
                  <a:srgbClr val="0000FF"/>
                </a:solidFill>
                <a:latin typeface="宋体"/>
                <a:cs typeface="宋体"/>
              </a:rPr>
              <a:t>地址寄存器 </a:t>
            </a:r>
            <a:r>
              <a:rPr dirty="0" sz="800" spc="-50">
                <a:solidFill>
                  <a:srgbClr val="0000FF"/>
                </a:solidFill>
                <a:latin typeface="宋体"/>
                <a:cs typeface="宋体"/>
              </a:rPr>
              <a:t>3</a:t>
            </a:r>
            <a:endParaRPr sz="800">
              <a:latin typeface="宋体"/>
              <a:cs typeface="宋体"/>
            </a:endParaRPr>
          </a:p>
        </p:txBody>
      </p:sp>
      <p:grpSp>
        <p:nvGrpSpPr>
          <p:cNvPr id="71" name="object 71" descr=""/>
          <p:cNvGrpSpPr/>
          <p:nvPr/>
        </p:nvGrpSpPr>
        <p:grpSpPr>
          <a:xfrm>
            <a:off x="5188601" y="4670099"/>
            <a:ext cx="100330" cy="450215"/>
            <a:chOff x="5188601" y="4670099"/>
            <a:chExt cx="100330" cy="450215"/>
          </a:xfrm>
        </p:grpSpPr>
        <p:sp>
          <p:nvSpPr>
            <p:cNvPr id="72" name="object 72" descr=""/>
            <p:cNvSpPr/>
            <p:nvPr/>
          </p:nvSpPr>
          <p:spPr>
            <a:xfrm>
              <a:off x="5191462" y="4672960"/>
              <a:ext cx="94615" cy="444500"/>
            </a:xfrm>
            <a:custGeom>
              <a:avLst/>
              <a:gdLst/>
              <a:ahLst/>
              <a:cxnLst/>
              <a:rect l="l" t="t" r="r" b="b"/>
              <a:pathLst>
                <a:path w="94614" h="444500">
                  <a:moveTo>
                    <a:pt x="55676" y="432612"/>
                  </a:moveTo>
                  <a:lnTo>
                    <a:pt x="39042" y="432612"/>
                  </a:lnTo>
                  <a:lnTo>
                    <a:pt x="39042" y="438318"/>
                  </a:lnTo>
                  <a:lnTo>
                    <a:pt x="44818" y="444001"/>
                  </a:lnTo>
                  <a:lnTo>
                    <a:pt x="49900" y="444001"/>
                  </a:lnTo>
                  <a:lnTo>
                    <a:pt x="55676" y="438318"/>
                  </a:lnTo>
                  <a:lnTo>
                    <a:pt x="55676" y="432612"/>
                  </a:lnTo>
                  <a:close/>
                </a:path>
                <a:path w="94614" h="444500">
                  <a:moveTo>
                    <a:pt x="49900" y="94626"/>
                  </a:moveTo>
                  <a:lnTo>
                    <a:pt x="33267" y="109250"/>
                  </a:lnTo>
                  <a:lnTo>
                    <a:pt x="33267" y="432612"/>
                  </a:lnTo>
                  <a:lnTo>
                    <a:pt x="61451" y="432612"/>
                  </a:lnTo>
                  <a:lnTo>
                    <a:pt x="61451" y="105992"/>
                  </a:lnTo>
                  <a:lnTo>
                    <a:pt x="49900" y="94626"/>
                  </a:lnTo>
                  <a:close/>
                </a:path>
                <a:path w="94614" h="444500">
                  <a:moveTo>
                    <a:pt x="49900" y="0"/>
                  </a:moveTo>
                  <a:lnTo>
                    <a:pt x="0" y="138497"/>
                  </a:lnTo>
                  <a:lnTo>
                    <a:pt x="33267" y="109250"/>
                  </a:lnTo>
                  <a:lnTo>
                    <a:pt x="33267" y="94626"/>
                  </a:lnTo>
                  <a:lnTo>
                    <a:pt x="39042" y="88920"/>
                  </a:lnTo>
                  <a:lnTo>
                    <a:pt x="39042" y="83214"/>
                  </a:lnTo>
                  <a:lnTo>
                    <a:pt x="76690" y="83214"/>
                  </a:lnTo>
                  <a:lnTo>
                    <a:pt x="49900" y="0"/>
                  </a:lnTo>
                  <a:close/>
                </a:path>
                <a:path w="94614" h="444500">
                  <a:moveTo>
                    <a:pt x="76690" y="83214"/>
                  </a:moveTo>
                  <a:lnTo>
                    <a:pt x="55676" y="83214"/>
                  </a:lnTo>
                  <a:lnTo>
                    <a:pt x="55676" y="88920"/>
                  </a:lnTo>
                  <a:lnTo>
                    <a:pt x="61451" y="94626"/>
                  </a:lnTo>
                  <a:lnTo>
                    <a:pt x="61451" y="105992"/>
                  </a:lnTo>
                  <a:lnTo>
                    <a:pt x="94487" y="138497"/>
                  </a:lnTo>
                  <a:lnTo>
                    <a:pt x="76690" y="83214"/>
                  </a:lnTo>
                  <a:close/>
                </a:path>
                <a:path w="94614" h="444500">
                  <a:moveTo>
                    <a:pt x="55676" y="83214"/>
                  </a:moveTo>
                  <a:lnTo>
                    <a:pt x="39042" y="83214"/>
                  </a:lnTo>
                  <a:lnTo>
                    <a:pt x="39042" y="88920"/>
                  </a:lnTo>
                  <a:lnTo>
                    <a:pt x="33267" y="94626"/>
                  </a:lnTo>
                  <a:lnTo>
                    <a:pt x="33267" y="109250"/>
                  </a:lnTo>
                  <a:lnTo>
                    <a:pt x="49900" y="94626"/>
                  </a:lnTo>
                  <a:lnTo>
                    <a:pt x="61451" y="94626"/>
                  </a:lnTo>
                  <a:lnTo>
                    <a:pt x="55676" y="88920"/>
                  </a:lnTo>
                  <a:lnTo>
                    <a:pt x="55676" y="83214"/>
                  </a:lnTo>
                  <a:close/>
                </a:path>
                <a:path w="94614" h="444500">
                  <a:moveTo>
                    <a:pt x="61451" y="94626"/>
                  </a:moveTo>
                  <a:lnTo>
                    <a:pt x="49900" y="94626"/>
                  </a:lnTo>
                  <a:lnTo>
                    <a:pt x="61451" y="105992"/>
                  </a:lnTo>
                  <a:lnTo>
                    <a:pt x="61451" y="94626"/>
                  </a:lnTo>
                  <a:close/>
                </a:path>
              </a:pathLst>
            </a:custGeom>
            <a:solidFill>
              <a:srgbClr val="000000"/>
            </a:solidFill>
          </p:spPr>
          <p:txBody>
            <a:bodyPr wrap="square" lIns="0" tIns="0" rIns="0" bIns="0" rtlCol="0"/>
            <a:lstStyle/>
            <a:p/>
          </p:txBody>
        </p:sp>
        <p:sp>
          <p:nvSpPr>
            <p:cNvPr id="73" name="object 73" descr=""/>
            <p:cNvSpPr/>
            <p:nvPr/>
          </p:nvSpPr>
          <p:spPr>
            <a:xfrm>
              <a:off x="5191462" y="4672961"/>
              <a:ext cx="94615" cy="444500"/>
            </a:xfrm>
            <a:custGeom>
              <a:avLst/>
              <a:gdLst/>
              <a:ahLst/>
              <a:cxnLst/>
              <a:rect l="l" t="t" r="r" b="b"/>
              <a:pathLst>
                <a:path w="94614" h="444500">
                  <a:moveTo>
                    <a:pt x="33267" y="432612"/>
                  </a:moveTo>
                  <a:lnTo>
                    <a:pt x="33267" y="94626"/>
                  </a:lnTo>
                  <a:lnTo>
                    <a:pt x="39042" y="88920"/>
                  </a:lnTo>
                  <a:lnTo>
                    <a:pt x="39042" y="83214"/>
                  </a:lnTo>
                  <a:lnTo>
                    <a:pt x="44818" y="83214"/>
                  </a:lnTo>
                  <a:lnTo>
                    <a:pt x="49900" y="83214"/>
                  </a:lnTo>
                  <a:lnTo>
                    <a:pt x="55676" y="83214"/>
                  </a:lnTo>
                  <a:lnTo>
                    <a:pt x="55676" y="88920"/>
                  </a:lnTo>
                  <a:lnTo>
                    <a:pt x="61451" y="94626"/>
                  </a:lnTo>
                  <a:lnTo>
                    <a:pt x="61451" y="432612"/>
                  </a:lnTo>
                  <a:lnTo>
                    <a:pt x="55676" y="432612"/>
                  </a:lnTo>
                  <a:lnTo>
                    <a:pt x="55676" y="438318"/>
                  </a:lnTo>
                  <a:lnTo>
                    <a:pt x="49900" y="444001"/>
                  </a:lnTo>
                  <a:lnTo>
                    <a:pt x="44818" y="444001"/>
                  </a:lnTo>
                  <a:lnTo>
                    <a:pt x="39042" y="438318"/>
                  </a:lnTo>
                  <a:lnTo>
                    <a:pt x="39042" y="432612"/>
                  </a:lnTo>
                  <a:lnTo>
                    <a:pt x="33267" y="432612"/>
                  </a:lnTo>
                  <a:close/>
                </a:path>
                <a:path w="94614" h="444500">
                  <a:moveTo>
                    <a:pt x="49900" y="94626"/>
                  </a:moveTo>
                  <a:lnTo>
                    <a:pt x="0" y="138497"/>
                  </a:lnTo>
                  <a:lnTo>
                    <a:pt x="49900" y="0"/>
                  </a:lnTo>
                  <a:lnTo>
                    <a:pt x="94487" y="138497"/>
                  </a:lnTo>
                  <a:lnTo>
                    <a:pt x="49900" y="94626"/>
                  </a:lnTo>
                  <a:close/>
                </a:path>
              </a:pathLst>
            </a:custGeom>
            <a:ln w="5722">
              <a:solidFill>
                <a:srgbClr val="000000"/>
              </a:solidFill>
            </a:ln>
          </p:spPr>
          <p:txBody>
            <a:bodyPr wrap="square" lIns="0" tIns="0" rIns="0" bIns="0" rtlCol="0"/>
            <a:lstStyle/>
            <a:p/>
          </p:txBody>
        </p:sp>
      </p:grpSp>
      <p:grpSp>
        <p:nvGrpSpPr>
          <p:cNvPr id="74" name="object 74" descr=""/>
          <p:cNvGrpSpPr/>
          <p:nvPr/>
        </p:nvGrpSpPr>
        <p:grpSpPr>
          <a:xfrm>
            <a:off x="6815683" y="4670099"/>
            <a:ext cx="100330" cy="450215"/>
            <a:chOff x="6815683" y="4670099"/>
            <a:chExt cx="100330" cy="450215"/>
          </a:xfrm>
        </p:grpSpPr>
        <p:sp>
          <p:nvSpPr>
            <p:cNvPr id="75" name="object 75" descr=""/>
            <p:cNvSpPr/>
            <p:nvPr/>
          </p:nvSpPr>
          <p:spPr>
            <a:xfrm>
              <a:off x="6818545" y="4672960"/>
              <a:ext cx="94615" cy="444500"/>
            </a:xfrm>
            <a:custGeom>
              <a:avLst/>
              <a:gdLst/>
              <a:ahLst/>
              <a:cxnLst/>
              <a:rect l="l" t="t" r="r" b="b"/>
              <a:pathLst>
                <a:path w="94615" h="444500">
                  <a:moveTo>
                    <a:pt x="49669" y="94626"/>
                  </a:moveTo>
                  <a:lnTo>
                    <a:pt x="38811" y="104217"/>
                  </a:lnTo>
                  <a:lnTo>
                    <a:pt x="38811" y="438318"/>
                  </a:lnTo>
                  <a:lnTo>
                    <a:pt x="44587" y="444001"/>
                  </a:lnTo>
                  <a:lnTo>
                    <a:pt x="49669" y="444001"/>
                  </a:lnTo>
                  <a:lnTo>
                    <a:pt x="61220" y="432612"/>
                  </a:lnTo>
                  <a:lnTo>
                    <a:pt x="61220" y="105992"/>
                  </a:lnTo>
                  <a:lnTo>
                    <a:pt x="49669" y="94626"/>
                  </a:lnTo>
                  <a:close/>
                </a:path>
                <a:path w="94615" h="444500">
                  <a:moveTo>
                    <a:pt x="49669" y="0"/>
                  </a:moveTo>
                  <a:lnTo>
                    <a:pt x="0" y="138497"/>
                  </a:lnTo>
                  <a:lnTo>
                    <a:pt x="38811" y="104217"/>
                  </a:lnTo>
                  <a:lnTo>
                    <a:pt x="38811" y="83214"/>
                  </a:lnTo>
                  <a:lnTo>
                    <a:pt x="76459" y="83214"/>
                  </a:lnTo>
                  <a:lnTo>
                    <a:pt x="49669" y="0"/>
                  </a:lnTo>
                  <a:close/>
                </a:path>
                <a:path w="94615" h="444500">
                  <a:moveTo>
                    <a:pt x="76459" y="83214"/>
                  </a:moveTo>
                  <a:lnTo>
                    <a:pt x="55445" y="83214"/>
                  </a:lnTo>
                  <a:lnTo>
                    <a:pt x="61220" y="88920"/>
                  </a:lnTo>
                  <a:lnTo>
                    <a:pt x="61220" y="105992"/>
                  </a:lnTo>
                  <a:lnTo>
                    <a:pt x="94256" y="138497"/>
                  </a:lnTo>
                  <a:lnTo>
                    <a:pt x="76459" y="83214"/>
                  </a:lnTo>
                  <a:close/>
                </a:path>
                <a:path w="94615" h="444500">
                  <a:moveTo>
                    <a:pt x="61220" y="94626"/>
                  </a:moveTo>
                  <a:lnTo>
                    <a:pt x="49669" y="94626"/>
                  </a:lnTo>
                  <a:lnTo>
                    <a:pt x="61220" y="105992"/>
                  </a:lnTo>
                  <a:lnTo>
                    <a:pt x="61220" y="94626"/>
                  </a:lnTo>
                  <a:close/>
                </a:path>
                <a:path w="94615" h="444500">
                  <a:moveTo>
                    <a:pt x="55445" y="83214"/>
                  </a:moveTo>
                  <a:lnTo>
                    <a:pt x="38811" y="83214"/>
                  </a:lnTo>
                  <a:lnTo>
                    <a:pt x="38811" y="104217"/>
                  </a:lnTo>
                  <a:lnTo>
                    <a:pt x="49669" y="94626"/>
                  </a:lnTo>
                  <a:lnTo>
                    <a:pt x="61220" y="94626"/>
                  </a:lnTo>
                  <a:lnTo>
                    <a:pt x="61220" y="88920"/>
                  </a:lnTo>
                  <a:lnTo>
                    <a:pt x="55445" y="83214"/>
                  </a:lnTo>
                  <a:close/>
                </a:path>
              </a:pathLst>
            </a:custGeom>
            <a:solidFill>
              <a:srgbClr val="000000"/>
            </a:solidFill>
          </p:spPr>
          <p:txBody>
            <a:bodyPr wrap="square" lIns="0" tIns="0" rIns="0" bIns="0" rtlCol="0"/>
            <a:lstStyle/>
            <a:p/>
          </p:txBody>
        </p:sp>
        <p:sp>
          <p:nvSpPr>
            <p:cNvPr id="76" name="object 76" descr=""/>
            <p:cNvSpPr/>
            <p:nvPr/>
          </p:nvSpPr>
          <p:spPr>
            <a:xfrm>
              <a:off x="6818545" y="4672961"/>
              <a:ext cx="94615" cy="444500"/>
            </a:xfrm>
            <a:custGeom>
              <a:avLst/>
              <a:gdLst/>
              <a:ahLst/>
              <a:cxnLst/>
              <a:rect l="l" t="t" r="r" b="b"/>
              <a:pathLst>
                <a:path w="94615" h="444500">
                  <a:moveTo>
                    <a:pt x="38811" y="432612"/>
                  </a:moveTo>
                  <a:lnTo>
                    <a:pt x="38811" y="94626"/>
                  </a:lnTo>
                  <a:lnTo>
                    <a:pt x="38811" y="88920"/>
                  </a:lnTo>
                  <a:lnTo>
                    <a:pt x="38811" y="83214"/>
                  </a:lnTo>
                  <a:lnTo>
                    <a:pt x="44587" y="83214"/>
                  </a:lnTo>
                  <a:lnTo>
                    <a:pt x="49669" y="83214"/>
                  </a:lnTo>
                  <a:lnTo>
                    <a:pt x="55445" y="83214"/>
                  </a:lnTo>
                  <a:lnTo>
                    <a:pt x="61220" y="88920"/>
                  </a:lnTo>
                  <a:lnTo>
                    <a:pt x="61220" y="94626"/>
                  </a:lnTo>
                  <a:lnTo>
                    <a:pt x="61220" y="432612"/>
                  </a:lnTo>
                  <a:lnTo>
                    <a:pt x="55445" y="438318"/>
                  </a:lnTo>
                  <a:lnTo>
                    <a:pt x="49669" y="444001"/>
                  </a:lnTo>
                  <a:lnTo>
                    <a:pt x="44587" y="444001"/>
                  </a:lnTo>
                  <a:lnTo>
                    <a:pt x="38811" y="438318"/>
                  </a:lnTo>
                  <a:lnTo>
                    <a:pt x="38811" y="432612"/>
                  </a:lnTo>
                  <a:close/>
                </a:path>
                <a:path w="94615" h="444500">
                  <a:moveTo>
                    <a:pt x="49669" y="94626"/>
                  </a:moveTo>
                  <a:lnTo>
                    <a:pt x="0" y="138497"/>
                  </a:lnTo>
                  <a:lnTo>
                    <a:pt x="49669" y="0"/>
                  </a:lnTo>
                  <a:lnTo>
                    <a:pt x="94256" y="138497"/>
                  </a:lnTo>
                  <a:lnTo>
                    <a:pt x="49669" y="94626"/>
                  </a:lnTo>
                  <a:close/>
                </a:path>
              </a:pathLst>
            </a:custGeom>
            <a:ln w="5722">
              <a:solidFill>
                <a:srgbClr val="000000"/>
              </a:solidFill>
            </a:ln>
          </p:spPr>
          <p:txBody>
            <a:bodyPr wrap="square" lIns="0" tIns="0" rIns="0" bIns="0" rtlCol="0"/>
            <a:lstStyle/>
            <a:p/>
          </p:txBody>
        </p:sp>
      </p:grpSp>
      <p:grpSp>
        <p:nvGrpSpPr>
          <p:cNvPr id="77" name="object 77" descr=""/>
          <p:cNvGrpSpPr/>
          <p:nvPr/>
        </p:nvGrpSpPr>
        <p:grpSpPr>
          <a:xfrm>
            <a:off x="8420126" y="4670099"/>
            <a:ext cx="100330" cy="450215"/>
            <a:chOff x="8420126" y="4670099"/>
            <a:chExt cx="100330" cy="450215"/>
          </a:xfrm>
        </p:grpSpPr>
        <p:sp>
          <p:nvSpPr>
            <p:cNvPr id="78" name="object 78" descr=""/>
            <p:cNvSpPr/>
            <p:nvPr/>
          </p:nvSpPr>
          <p:spPr>
            <a:xfrm>
              <a:off x="8422987" y="4672960"/>
              <a:ext cx="94615" cy="444500"/>
            </a:xfrm>
            <a:custGeom>
              <a:avLst/>
              <a:gdLst/>
              <a:ahLst/>
              <a:cxnLst/>
              <a:rect l="l" t="t" r="r" b="b"/>
              <a:pathLst>
                <a:path w="94615" h="444500">
                  <a:moveTo>
                    <a:pt x="55676" y="432612"/>
                  </a:moveTo>
                  <a:lnTo>
                    <a:pt x="39042" y="432612"/>
                  </a:lnTo>
                  <a:lnTo>
                    <a:pt x="39042" y="438318"/>
                  </a:lnTo>
                  <a:lnTo>
                    <a:pt x="44587" y="444001"/>
                  </a:lnTo>
                  <a:lnTo>
                    <a:pt x="50362" y="444001"/>
                  </a:lnTo>
                  <a:lnTo>
                    <a:pt x="55676" y="438318"/>
                  </a:lnTo>
                  <a:lnTo>
                    <a:pt x="55676" y="432612"/>
                  </a:lnTo>
                  <a:close/>
                </a:path>
                <a:path w="94615" h="444500">
                  <a:moveTo>
                    <a:pt x="44587" y="94626"/>
                  </a:moveTo>
                  <a:lnTo>
                    <a:pt x="33729" y="105310"/>
                  </a:lnTo>
                  <a:lnTo>
                    <a:pt x="33729" y="432612"/>
                  </a:lnTo>
                  <a:lnTo>
                    <a:pt x="61220" y="432612"/>
                  </a:lnTo>
                  <a:lnTo>
                    <a:pt x="61220" y="109250"/>
                  </a:lnTo>
                  <a:lnTo>
                    <a:pt x="44587" y="94626"/>
                  </a:lnTo>
                  <a:close/>
                </a:path>
                <a:path w="94615" h="444500">
                  <a:moveTo>
                    <a:pt x="44587" y="0"/>
                  </a:moveTo>
                  <a:lnTo>
                    <a:pt x="0" y="138497"/>
                  </a:lnTo>
                  <a:lnTo>
                    <a:pt x="33729" y="105310"/>
                  </a:lnTo>
                  <a:lnTo>
                    <a:pt x="33729" y="94626"/>
                  </a:lnTo>
                  <a:lnTo>
                    <a:pt x="39042" y="88920"/>
                  </a:lnTo>
                  <a:lnTo>
                    <a:pt x="39042" y="83214"/>
                  </a:lnTo>
                  <a:lnTo>
                    <a:pt x="74569" y="83214"/>
                  </a:lnTo>
                  <a:lnTo>
                    <a:pt x="44587" y="0"/>
                  </a:lnTo>
                  <a:close/>
                </a:path>
                <a:path w="94615" h="444500">
                  <a:moveTo>
                    <a:pt x="74569" y="83214"/>
                  </a:moveTo>
                  <a:lnTo>
                    <a:pt x="55676" y="83214"/>
                  </a:lnTo>
                  <a:lnTo>
                    <a:pt x="55676" y="88920"/>
                  </a:lnTo>
                  <a:lnTo>
                    <a:pt x="61220" y="94626"/>
                  </a:lnTo>
                  <a:lnTo>
                    <a:pt x="61220" y="109250"/>
                  </a:lnTo>
                  <a:lnTo>
                    <a:pt x="94487" y="138497"/>
                  </a:lnTo>
                  <a:lnTo>
                    <a:pt x="74569" y="83214"/>
                  </a:lnTo>
                  <a:close/>
                </a:path>
                <a:path w="94615" h="444500">
                  <a:moveTo>
                    <a:pt x="61220" y="94626"/>
                  </a:moveTo>
                  <a:lnTo>
                    <a:pt x="44587" y="94626"/>
                  </a:lnTo>
                  <a:lnTo>
                    <a:pt x="61220" y="109250"/>
                  </a:lnTo>
                  <a:lnTo>
                    <a:pt x="61220" y="94626"/>
                  </a:lnTo>
                  <a:close/>
                </a:path>
                <a:path w="94615" h="444500">
                  <a:moveTo>
                    <a:pt x="55676" y="83214"/>
                  </a:moveTo>
                  <a:lnTo>
                    <a:pt x="39042" y="83214"/>
                  </a:lnTo>
                  <a:lnTo>
                    <a:pt x="39042" y="88920"/>
                  </a:lnTo>
                  <a:lnTo>
                    <a:pt x="33729" y="94626"/>
                  </a:lnTo>
                  <a:lnTo>
                    <a:pt x="33729" y="105310"/>
                  </a:lnTo>
                  <a:lnTo>
                    <a:pt x="44587" y="94626"/>
                  </a:lnTo>
                  <a:lnTo>
                    <a:pt x="61220" y="94626"/>
                  </a:lnTo>
                  <a:lnTo>
                    <a:pt x="55676" y="88920"/>
                  </a:lnTo>
                  <a:lnTo>
                    <a:pt x="55676" y="83214"/>
                  </a:lnTo>
                  <a:close/>
                </a:path>
              </a:pathLst>
            </a:custGeom>
            <a:solidFill>
              <a:srgbClr val="000000"/>
            </a:solidFill>
          </p:spPr>
          <p:txBody>
            <a:bodyPr wrap="square" lIns="0" tIns="0" rIns="0" bIns="0" rtlCol="0"/>
            <a:lstStyle/>
            <a:p/>
          </p:txBody>
        </p:sp>
        <p:sp>
          <p:nvSpPr>
            <p:cNvPr id="79" name="object 79" descr=""/>
            <p:cNvSpPr/>
            <p:nvPr/>
          </p:nvSpPr>
          <p:spPr>
            <a:xfrm>
              <a:off x="8422987" y="4672961"/>
              <a:ext cx="94615" cy="444500"/>
            </a:xfrm>
            <a:custGeom>
              <a:avLst/>
              <a:gdLst/>
              <a:ahLst/>
              <a:cxnLst/>
              <a:rect l="l" t="t" r="r" b="b"/>
              <a:pathLst>
                <a:path w="94615" h="444500">
                  <a:moveTo>
                    <a:pt x="33729" y="432612"/>
                  </a:moveTo>
                  <a:lnTo>
                    <a:pt x="33729" y="94626"/>
                  </a:lnTo>
                  <a:lnTo>
                    <a:pt x="39042" y="88920"/>
                  </a:lnTo>
                  <a:lnTo>
                    <a:pt x="39042" y="83214"/>
                  </a:lnTo>
                  <a:lnTo>
                    <a:pt x="44587" y="83214"/>
                  </a:lnTo>
                  <a:lnTo>
                    <a:pt x="50362" y="83214"/>
                  </a:lnTo>
                  <a:lnTo>
                    <a:pt x="55676" y="83214"/>
                  </a:lnTo>
                  <a:lnTo>
                    <a:pt x="55676" y="88920"/>
                  </a:lnTo>
                  <a:lnTo>
                    <a:pt x="61220" y="94626"/>
                  </a:lnTo>
                  <a:lnTo>
                    <a:pt x="61220" y="432612"/>
                  </a:lnTo>
                  <a:lnTo>
                    <a:pt x="55676" y="432612"/>
                  </a:lnTo>
                  <a:lnTo>
                    <a:pt x="55676" y="438318"/>
                  </a:lnTo>
                  <a:lnTo>
                    <a:pt x="50362" y="444001"/>
                  </a:lnTo>
                  <a:lnTo>
                    <a:pt x="44587" y="444001"/>
                  </a:lnTo>
                  <a:lnTo>
                    <a:pt x="39042" y="438318"/>
                  </a:lnTo>
                  <a:lnTo>
                    <a:pt x="39042" y="432612"/>
                  </a:lnTo>
                  <a:lnTo>
                    <a:pt x="33729" y="432612"/>
                  </a:lnTo>
                  <a:close/>
                </a:path>
                <a:path w="94615" h="444500">
                  <a:moveTo>
                    <a:pt x="44587" y="94626"/>
                  </a:moveTo>
                  <a:lnTo>
                    <a:pt x="0" y="138497"/>
                  </a:lnTo>
                  <a:lnTo>
                    <a:pt x="44587" y="0"/>
                  </a:lnTo>
                  <a:lnTo>
                    <a:pt x="94487" y="138497"/>
                  </a:lnTo>
                  <a:lnTo>
                    <a:pt x="44587" y="94626"/>
                  </a:lnTo>
                  <a:close/>
                </a:path>
              </a:pathLst>
            </a:custGeom>
            <a:ln w="5722">
              <a:solidFill>
                <a:srgbClr val="000000"/>
              </a:solidFill>
            </a:ln>
          </p:spPr>
          <p:txBody>
            <a:bodyPr wrap="square" lIns="0" tIns="0" rIns="0" bIns="0" rtlCol="0"/>
            <a:lstStyle/>
            <a:p/>
          </p:txBody>
        </p:sp>
      </p:grpSp>
      <p:sp>
        <p:nvSpPr>
          <p:cNvPr id="80" name="object 80" descr=""/>
          <p:cNvSpPr txBox="1"/>
          <p:nvPr/>
        </p:nvSpPr>
        <p:spPr>
          <a:xfrm>
            <a:off x="2950071" y="5102154"/>
            <a:ext cx="6197600" cy="466725"/>
          </a:xfrm>
          <a:prstGeom prst="rect">
            <a:avLst/>
          </a:prstGeom>
          <a:solidFill>
            <a:srgbClr val="FFCCFF"/>
          </a:solidFill>
          <a:ln w="16595">
            <a:solidFill>
              <a:srgbClr val="000000"/>
            </a:solidFill>
          </a:ln>
        </p:spPr>
        <p:txBody>
          <a:bodyPr wrap="square" lIns="0" tIns="128905" rIns="0" bIns="0" rtlCol="0" vert="horz">
            <a:spAutoFit/>
          </a:bodyPr>
          <a:lstStyle/>
          <a:p>
            <a:pPr algn="ctr" marL="18415">
              <a:lnSpc>
                <a:spcPct val="100000"/>
              </a:lnSpc>
              <a:spcBef>
                <a:spcPts val="1015"/>
              </a:spcBef>
            </a:pPr>
            <a:r>
              <a:rPr dirty="0" sz="1650" spc="-25">
                <a:latin typeface="宋体"/>
                <a:cs typeface="宋体"/>
              </a:rPr>
              <a:t>主存控制部件</a:t>
            </a:r>
            <a:endParaRPr sz="1650">
              <a:latin typeface="宋体"/>
              <a:cs typeface="宋体"/>
            </a:endParaRPr>
          </a:p>
        </p:txBody>
      </p:sp>
      <p:grpSp>
        <p:nvGrpSpPr>
          <p:cNvPr id="81" name="object 81" descr=""/>
          <p:cNvGrpSpPr/>
          <p:nvPr/>
        </p:nvGrpSpPr>
        <p:grpSpPr>
          <a:xfrm>
            <a:off x="2756085" y="5568960"/>
            <a:ext cx="1633220" cy="300355"/>
            <a:chOff x="2756085" y="5568960"/>
            <a:chExt cx="1633220" cy="300355"/>
          </a:xfrm>
        </p:grpSpPr>
        <p:sp>
          <p:nvSpPr>
            <p:cNvPr id="82" name="object 82" descr=""/>
            <p:cNvSpPr/>
            <p:nvPr/>
          </p:nvSpPr>
          <p:spPr>
            <a:xfrm>
              <a:off x="2756085" y="5851102"/>
              <a:ext cx="1582420" cy="0"/>
            </a:xfrm>
            <a:custGeom>
              <a:avLst/>
              <a:gdLst/>
              <a:ahLst/>
              <a:cxnLst/>
              <a:rect l="l" t="t" r="r" b="b"/>
              <a:pathLst>
                <a:path w="1582420" h="0">
                  <a:moveTo>
                    <a:pt x="0" y="0"/>
                  </a:moveTo>
                  <a:lnTo>
                    <a:pt x="1582261" y="0"/>
                  </a:lnTo>
                </a:path>
              </a:pathLst>
            </a:custGeom>
            <a:ln w="16595">
              <a:solidFill>
                <a:srgbClr val="000000"/>
              </a:solidFill>
            </a:ln>
          </p:spPr>
          <p:txBody>
            <a:bodyPr wrap="square" lIns="0" tIns="0" rIns="0" bIns="0" rtlCol="0"/>
            <a:lstStyle/>
            <a:p/>
          </p:txBody>
        </p:sp>
        <p:sp>
          <p:nvSpPr>
            <p:cNvPr id="83" name="object 83" descr=""/>
            <p:cNvSpPr/>
            <p:nvPr/>
          </p:nvSpPr>
          <p:spPr>
            <a:xfrm>
              <a:off x="4292004" y="5571822"/>
              <a:ext cx="94615" cy="294640"/>
            </a:xfrm>
            <a:custGeom>
              <a:avLst/>
              <a:gdLst/>
              <a:ahLst/>
              <a:cxnLst/>
              <a:rect l="l" t="t" r="r" b="b"/>
              <a:pathLst>
                <a:path w="94614" h="294639">
                  <a:moveTo>
                    <a:pt x="49785" y="88342"/>
                  </a:moveTo>
                  <a:lnTo>
                    <a:pt x="38903" y="99304"/>
                  </a:lnTo>
                  <a:lnTo>
                    <a:pt x="38903" y="294100"/>
                  </a:lnTo>
                  <a:lnTo>
                    <a:pt x="55491" y="294100"/>
                  </a:lnTo>
                  <a:lnTo>
                    <a:pt x="61220" y="288401"/>
                  </a:lnTo>
                  <a:lnTo>
                    <a:pt x="61220" y="101193"/>
                  </a:lnTo>
                  <a:lnTo>
                    <a:pt x="49785" y="88342"/>
                  </a:lnTo>
                  <a:close/>
                </a:path>
                <a:path w="94614" h="294639">
                  <a:moveTo>
                    <a:pt x="49785" y="0"/>
                  </a:moveTo>
                  <a:lnTo>
                    <a:pt x="0" y="138497"/>
                  </a:lnTo>
                  <a:lnTo>
                    <a:pt x="38903" y="99304"/>
                  </a:lnTo>
                  <a:lnTo>
                    <a:pt x="38903" y="83214"/>
                  </a:lnTo>
                  <a:lnTo>
                    <a:pt x="44633" y="77507"/>
                  </a:lnTo>
                  <a:lnTo>
                    <a:pt x="74763" y="77507"/>
                  </a:lnTo>
                  <a:lnTo>
                    <a:pt x="49785" y="0"/>
                  </a:lnTo>
                  <a:close/>
                </a:path>
                <a:path w="94614" h="294639">
                  <a:moveTo>
                    <a:pt x="74763" y="77507"/>
                  </a:moveTo>
                  <a:lnTo>
                    <a:pt x="49785" y="77507"/>
                  </a:lnTo>
                  <a:lnTo>
                    <a:pt x="55491" y="83214"/>
                  </a:lnTo>
                  <a:lnTo>
                    <a:pt x="61220" y="83214"/>
                  </a:lnTo>
                  <a:lnTo>
                    <a:pt x="61220" y="101193"/>
                  </a:lnTo>
                  <a:lnTo>
                    <a:pt x="94418" y="138497"/>
                  </a:lnTo>
                  <a:lnTo>
                    <a:pt x="74763" y="77507"/>
                  </a:lnTo>
                  <a:close/>
                </a:path>
                <a:path w="94614" h="294639">
                  <a:moveTo>
                    <a:pt x="61220" y="88342"/>
                  </a:moveTo>
                  <a:lnTo>
                    <a:pt x="49785" y="88342"/>
                  </a:lnTo>
                  <a:lnTo>
                    <a:pt x="61220" y="101193"/>
                  </a:lnTo>
                  <a:lnTo>
                    <a:pt x="61220" y="88342"/>
                  </a:lnTo>
                  <a:close/>
                </a:path>
                <a:path w="94614" h="294639">
                  <a:moveTo>
                    <a:pt x="49785" y="77507"/>
                  </a:moveTo>
                  <a:lnTo>
                    <a:pt x="44633" y="77507"/>
                  </a:lnTo>
                  <a:lnTo>
                    <a:pt x="38903" y="83214"/>
                  </a:lnTo>
                  <a:lnTo>
                    <a:pt x="38903" y="99304"/>
                  </a:lnTo>
                  <a:lnTo>
                    <a:pt x="49785" y="88342"/>
                  </a:lnTo>
                  <a:lnTo>
                    <a:pt x="61220" y="88342"/>
                  </a:lnTo>
                  <a:lnTo>
                    <a:pt x="61220" y="83214"/>
                  </a:lnTo>
                  <a:lnTo>
                    <a:pt x="55491" y="83214"/>
                  </a:lnTo>
                  <a:lnTo>
                    <a:pt x="49785" y="77507"/>
                  </a:lnTo>
                  <a:close/>
                </a:path>
              </a:pathLst>
            </a:custGeom>
            <a:solidFill>
              <a:srgbClr val="000000"/>
            </a:solidFill>
          </p:spPr>
          <p:txBody>
            <a:bodyPr wrap="square" lIns="0" tIns="0" rIns="0" bIns="0" rtlCol="0"/>
            <a:lstStyle/>
            <a:p/>
          </p:txBody>
        </p:sp>
        <p:pic>
          <p:nvPicPr>
            <p:cNvPr id="84" name="object 84" descr=""/>
            <p:cNvPicPr/>
            <p:nvPr/>
          </p:nvPicPr>
          <p:blipFill>
            <a:blip r:embed="rId3" cstate="print"/>
            <a:stretch>
              <a:fillRect/>
            </a:stretch>
          </p:blipFill>
          <p:spPr>
            <a:xfrm>
              <a:off x="4289143" y="5568960"/>
              <a:ext cx="100140" cy="299822"/>
            </a:xfrm>
            <a:prstGeom prst="rect">
              <a:avLst/>
            </a:prstGeom>
          </p:spPr>
        </p:pic>
      </p:grpSp>
      <p:grpSp>
        <p:nvGrpSpPr>
          <p:cNvPr id="85" name="object 85" descr=""/>
          <p:cNvGrpSpPr/>
          <p:nvPr/>
        </p:nvGrpSpPr>
        <p:grpSpPr>
          <a:xfrm>
            <a:off x="9136753" y="5307905"/>
            <a:ext cx="322580" cy="22860"/>
            <a:chOff x="9136753" y="5307905"/>
            <a:chExt cx="322580" cy="22860"/>
          </a:xfrm>
        </p:grpSpPr>
        <p:sp>
          <p:nvSpPr>
            <p:cNvPr id="86" name="object 86" descr=""/>
            <p:cNvSpPr/>
            <p:nvPr/>
          </p:nvSpPr>
          <p:spPr>
            <a:xfrm>
              <a:off x="9139615" y="5310767"/>
              <a:ext cx="316865" cy="17145"/>
            </a:xfrm>
            <a:custGeom>
              <a:avLst/>
              <a:gdLst/>
              <a:ahLst/>
              <a:cxnLst/>
              <a:rect l="l" t="t" r="r" b="b"/>
              <a:pathLst>
                <a:path w="316865" h="17145">
                  <a:moveTo>
                    <a:pt x="66765" y="0"/>
                  </a:moveTo>
                  <a:lnTo>
                    <a:pt x="5544" y="0"/>
                  </a:lnTo>
                  <a:lnTo>
                    <a:pt x="0" y="5706"/>
                  </a:lnTo>
                  <a:lnTo>
                    <a:pt x="0" y="11389"/>
                  </a:lnTo>
                  <a:lnTo>
                    <a:pt x="5544" y="17095"/>
                  </a:lnTo>
                  <a:lnTo>
                    <a:pt x="66765" y="17095"/>
                  </a:lnTo>
                  <a:lnTo>
                    <a:pt x="72078" y="11389"/>
                  </a:lnTo>
                  <a:lnTo>
                    <a:pt x="72078" y="5706"/>
                  </a:lnTo>
                  <a:lnTo>
                    <a:pt x="66765" y="0"/>
                  </a:lnTo>
                  <a:close/>
                </a:path>
                <a:path w="316865" h="17145">
                  <a:moveTo>
                    <a:pt x="188744" y="0"/>
                  </a:moveTo>
                  <a:lnTo>
                    <a:pt x="127523" y="0"/>
                  </a:lnTo>
                  <a:lnTo>
                    <a:pt x="122441" y="5706"/>
                  </a:lnTo>
                  <a:lnTo>
                    <a:pt x="122441" y="11389"/>
                  </a:lnTo>
                  <a:lnTo>
                    <a:pt x="127523" y="17095"/>
                  </a:lnTo>
                  <a:lnTo>
                    <a:pt x="188744" y="17095"/>
                  </a:lnTo>
                  <a:lnTo>
                    <a:pt x="194519" y="11389"/>
                  </a:lnTo>
                  <a:lnTo>
                    <a:pt x="194519" y="5706"/>
                  </a:lnTo>
                  <a:lnTo>
                    <a:pt x="188744" y="0"/>
                  </a:lnTo>
                  <a:close/>
                </a:path>
                <a:path w="316865" h="17145">
                  <a:moveTo>
                    <a:pt x="311185" y="0"/>
                  </a:moveTo>
                  <a:lnTo>
                    <a:pt x="249964" y="0"/>
                  </a:lnTo>
                  <a:lnTo>
                    <a:pt x="244189" y="5706"/>
                  </a:lnTo>
                  <a:lnTo>
                    <a:pt x="244189" y="11389"/>
                  </a:lnTo>
                  <a:lnTo>
                    <a:pt x="249964" y="17095"/>
                  </a:lnTo>
                  <a:lnTo>
                    <a:pt x="311185" y="17095"/>
                  </a:lnTo>
                  <a:lnTo>
                    <a:pt x="311185" y="11389"/>
                  </a:lnTo>
                  <a:lnTo>
                    <a:pt x="316268" y="5706"/>
                  </a:lnTo>
                  <a:lnTo>
                    <a:pt x="311185" y="5706"/>
                  </a:lnTo>
                  <a:lnTo>
                    <a:pt x="311185" y="0"/>
                  </a:lnTo>
                  <a:close/>
                </a:path>
              </a:pathLst>
            </a:custGeom>
            <a:solidFill>
              <a:srgbClr val="000000"/>
            </a:solidFill>
          </p:spPr>
          <p:txBody>
            <a:bodyPr wrap="square" lIns="0" tIns="0" rIns="0" bIns="0" rtlCol="0"/>
            <a:lstStyle/>
            <a:p/>
          </p:txBody>
        </p:sp>
        <p:sp>
          <p:nvSpPr>
            <p:cNvPr id="87" name="object 87" descr=""/>
            <p:cNvSpPr/>
            <p:nvPr/>
          </p:nvSpPr>
          <p:spPr>
            <a:xfrm>
              <a:off x="9139615" y="5310767"/>
              <a:ext cx="316865" cy="17145"/>
            </a:xfrm>
            <a:custGeom>
              <a:avLst/>
              <a:gdLst/>
              <a:ahLst/>
              <a:cxnLst/>
              <a:rect l="l" t="t" r="r" b="b"/>
              <a:pathLst>
                <a:path w="316865" h="17145">
                  <a:moveTo>
                    <a:pt x="11320" y="0"/>
                  </a:moveTo>
                  <a:lnTo>
                    <a:pt x="61220" y="0"/>
                  </a:lnTo>
                  <a:lnTo>
                    <a:pt x="66765" y="0"/>
                  </a:lnTo>
                  <a:lnTo>
                    <a:pt x="72078" y="5706"/>
                  </a:lnTo>
                  <a:lnTo>
                    <a:pt x="72078" y="11389"/>
                  </a:lnTo>
                  <a:lnTo>
                    <a:pt x="66765" y="17095"/>
                  </a:lnTo>
                  <a:lnTo>
                    <a:pt x="61220" y="17095"/>
                  </a:lnTo>
                  <a:lnTo>
                    <a:pt x="11320" y="17095"/>
                  </a:lnTo>
                  <a:lnTo>
                    <a:pt x="5544" y="17095"/>
                  </a:lnTo>
                  <a:lnTo>
                    <a:pt x="0" y="11389"/>
                  </a:lnTo>
                  <a:lnTo>
                    <a:pt x="0" y="5706"/>
                  </a:lnTo>
                  <a:lnTo>
                    <a:pt x="5544" y="0"/>
                  </a:lnTo>
                  <a:lnTo>
                    <a:pt x="11320" y="0"/>
                  </a:lnTo>
                  <a:close/>
                </a:path>
                <a:path w="316865" h="17145">
                  <a:moveTo>
                    <a:pt x="133299" y="0"/>
                  </a:moveTo>
                  <a:lnTo>
                    <a:pt x="182968" y="0"/>
                  </a:lnTo>
                  <a:lnTo>
                    <a:pt x="188744" y="0"/>
                  </a:lnTo>
                  <a:lnTo>
                    <a:pt x="194519" y="5706"/>
                  </a:lnTo>
                  <a:lnTo>
                    <a:pt x="194519" y="11389"/>
                  </a:lnTo>
                  <a:lnTo>
                    <a:pt x="188744" y="17095"/>
                  </a:lnTo>
                  <a:lnTo>
                    <a:pt x="182968" y="17095"/>
                  </a:lnTo>
                  <a:lnTo>
                    <a:pt x="133299" y="17095"/>
                  </a:lnTo>
                  <a:lnTo>
                    <a:pt x="127523" y="17095"/>
                  </a:lnTo>
                  <a:lnTo>
                    <a:pt x="122441" y="11389"/>
                  </a:lnTo>
                  <a:lnTo>
                    <a:pt x="122441" y="5706"/>
                  </a:lnTo>
                  <a:lnTo>
                    <a:pt x="127523" y="0"/>
                  </a:lnTo>
                  <a:lnTo>
                    <a:pt x="133299" y="0"/>
                  </a:lnTo>
                  <a:close/>
                </a:path>
                <a:path w="316865" h="17145">
                  <a:moveTo>
                    <a:pt x="255740" y="0"/>
                  </a:moveTo>
                  <a:lnTo>
                    <a:pt x="305410" y="0"/>
                  </a:lnTo>
                  <a:lnTo>
                    <a:pt x="311185" y="0"/>
                  </a:lnTo>
                  <a:lnTo>
                    <a:pt x="311185" y="5706"/>
                  </a:lnTo>
                  <a:lnTo>
                    <a:pt x="316268" y="5706"/>
                  </a:lnTo>
                  <a:lnTo>
                    <a:pt x="311185" y="11389"/>
                  </a:lnTo>
                  <a:lnTo>
                    <a:pt x="311185" y="17095"/>
                  </a:lnTo>
                  <a:lnTo>
                    <a:pt x="305410" y="17095"/>
                  </a:lnTo>
                  <a:lnTo>
                    <a:pt x="255740" y="17095"/>
                  </a:lnTo>
                  <a:lnTo>
                    <a:pt x="249964" y="17095"/>
                  </a:lnTo>
                  <a:lnTo>
                    <a:pt x="244189" y="11389"/>
                  </a:lnTo>
                  <a:lnTo>
                    <a:pt x="244189" y="5706"/>
                  </a:lnTo>
                  <a:lnTo>
                    <a:pt x="249964" y="0"/>
                  </a:lnTo>
                  <a:lnTo>
                    <a:pt x="255740" y="0"/>
                  </a:lnTo>
                  <a:close/>
                </a:path>
              </a:pathLst>
            </a:custGeom>
            <a:ln w="5722">
              <a:solidFill>
                <a:srgbClr val="000000"/>
              </a:solidFill>
            </a:ln>
          </p:spPr>
          <p:txBody>
            <a:bodyPr wrap="square" lIns="0" tIns="0" rIns="0" bIns="0" rtlCol="0"/>
            <a:lstStyle/>
            <a:p/>
          </p:txBody>
        </p:sp>
      </p:grpSp>
      <p:grpSp>
        <p:nvGrpSpPr>
          <p:cNvPr id="88" name="object 88" descr=""/>
          <p:cNvGrpSpPr/>
          <p:nvPr/>
        </p:nvGrpSpPr>
        <p:grpSpPr>
          <a:xfrm>
            <a:off x="9142298" y="2690031"/>
            <a:ext cx="383540" cy="2640965"/>
            <a:chOff x="9142298" y="2690031"/>
            <a:chExt cx="383540" cy="2640965"/>
          </a:xfrm>
        </p:grpSpPr>
        <p:sp>
          <p:nvSpPr>
            <p:cNvPr id="89" name="object 89" descr=""/>
            <p:cNvSpPr/>
            <p:nvPr/>
          </p:nvSpPr>
          <p:spPr>
            <a:xfrm>
              <a:off x="9506246" y="2731704"/>
              <a:ext cx="17145" cy="2596515"/>
            </a:xfrm>
            <a:custGeom>
              <a:avLst/>
              <a:gdLst/>
              <a:ahLst/>
              <a:cxnLst/>
              <a:rect l="l" t="t" r="r" b="b"/>
              <a:pathLst>
                <a:path w="17145" h="2596515">
                  <a:moveTo>
                    <a:pt x="16633" y="2529462"/>
                  </a:moveTo>
                  <a:lnTo>
                    <a:pt x="0" y="2529462"/>
                  </a:lnTo>
                  <a:lnTo>
                    <a:pt x="0" y="2596158"/>
                  </a:lnTo>
                  <a:lnTo>
                    <a:pt x="16633" y="2596158"/>
                  </a:lnTo>
                  <a:lnTo>
                    <a:pt x="16633" y="2529462"/>
                  </a:lnTo>
                  <a:close/>
                </a:path>
                <a:path w="17145" h="2596515">
                  <a:moveTo>
                    <a:pt x="10858" y="2523779"/>
                  </a:moveTo>
                  <a:lnTo>
                    <a:pt x="5313" y="2529462"/>
                  </a:lnTo>
                  <a:lnTo>
                    <a:pt x="10858" y="2529462"/>
                  </a:lnTo>
                  <a:lnTo>
                    <a:pt x="10858" y="2523779"/>
                  </a:lnTo>
                  <a:close/>
                </a:path>
                <a:path w="17145" h="2596515">
                  <a:moveTo>
                    <a:pt x="16633" y="2407505"/>
                  </a:moveTo>
                  <a:lnTo>
                    <a:pt x="0" y="2407505"/>
                  </a:lnTo>
                  <a:lnTo>
                    <a:pt x="0" y="2473624"/>
                  </a:lnTo>
                  <a:lnTo>
                    <a:pt x="16633" y="2473624"/>
                  </a:lnTo>
                  <a:lnTo>
                    <a:pt x="16633" y="2407505"/>
                  </a:lnTo>
                  <a:close/>
                </a:path>
                <a:path w="17145" h="2596515">
                  <a:moveTo>
                    <a:pt x="16633" y="2285525"/>
                  </a:moveTo>
                  <a:lnTo>
                    <a:pt x="0" y="2285525"/>
                  </a:lnTo>
                  <a:lnTo>
                    <a:pt x="0" y="2351644"/>
                  </a:lnTo>
                  <a:lnTo>
                    <a:pt x="16633" y="2351644"/>
                  </a:lnTo>
                  <a:lnTo>
                    <a:pt x="16633" y="2285525"/>
                  </a:lnTo>
                  <a:close/>
                </a:path>
                <a:path w="17145" h="2596515">
                  <a:moveTo>
                    <a:pt x="16633" y="2162968"/>
                  </a:moveTo>
                  <a:lnTo>
                    <a:pt x="0" y="2162968"/>
                  </a:lnTo>
                  <a:lnTo>
                    <a:pt x="0" y="2229664"/>
                  </a:lnTo>
                  <a:lnTo>
                    <a:pt x="16633" y="2229664"/>
                  </a:lnTo>
                  <a:lnTo>
                    <a:pt x="16633" y="2162968"/>
                  </a:lnTo>
                  <a:close/>
                </a:path>
                <a:path w="17145" h="2596515">
                  <a:moveTo>
                    <a:pt x="16633" y="2041011"/>
                  </a:moveTo>
                  <a:lnTo>
                    <a:pt x="0" y="2041011"/>
                  </a:lnTo>
                  <a:lnTo>
                    <a:pt x="0" y="2107684"/>
                  </a:lnTo>
                  <a:lnTo>
                    <a:pt x="16633" y="2107684"/>
                  </a:lnTo>
                  <a:lnTo>
                    <a:pt x="16633" y="2041011"/>
                  </a:lnTo>
                  <a:close/>
                </a:path>
                <a:path w="17145" h="2596515">
                  <a:moveTo>
                    <a:pt x="10858" y="1985705"/>
                  </a:moveTo>
                  <a:lnTo>
                    <a:pt x="5313" y="1985705"/>
                  </a:lnTo>
                  <a:lnTo>
                    <a:pt x="10858" y="1991411"/>
                  </a:lnTo>
                  <a:lnTo>
                    <a:pt x="10858" y="1985705"/>
                  </a:lnTo>
                  <a:close/>
                </a:path>
                <a:path w="17145" h="2596515">
                  <a:moveTo>
                    <a:pt x="10858" y="1919032"/>
                  </a:moveTo>
                  <a:lnTo>
                    <a:pt x="5313" y="1919032"/>
                  </a:lnTo>
                  <a:lnTo>
                    <a:pt x="0" y="1924738"/>
                  </a:lnTo>
                  <a:lnTo>
                    <a:pt x="0" y="1985705"/>
                  </a:lnTo>
                  <a:lnTo>
                    <a:pt x="16633" y="1985705"/>
                  </a:lnTo>
                  <a:lnTo>
                    <a:pt x="16633" y="1924738"/>
                  </a:lnTo>
                  <a:lnTo>
                    <a:pt x="10858" y="1919032"/>
                  </a:lnTo>
                  <a:close/>
                </a:path>
                <a:path w="17145" h="2596515">
                  <a:moveTo>
                    <a:pt x="10858" y="1797052"/>
                  </a:moveTo>
                  <a:lnTo>
                    <a:pt x="5313" y="1797052"/>
                  </a:lnTo>
                  <a:lnTo>
                    <a:pt x="0" y="1802758"/>
                  </a:lnTo>
                  <a:lnTo>
                    <a:pt x="0" y="1863748"/>
                  </a:lnTo>
                  <a:lnTo>
                    <a:pt x="5313" y="1869431"/>
                  </a:lnTo>
                  <a:lnTo>
                    <a:pt x="10858" y="1869431"/>
                  </a:lnTo>
                  <a:lnTo>
                    <a:pt x="16633" y="1863748"/>
                  </a:lnTo>
                  <a:lnTo>
                    <a:pt x="16633" y="1802758"/>
                  </a:lnTo>
                  <a:lnTo>
                    <a:pt x="10858" y="1797052"/>
                  </a:lnTo>
                  <a:close/>
                </a:path>
                <a:path w="17145" h="2596515">
                  <a:moveTo>
                    <a:pt x="10858" y="1675072"/>
                  </a:moveTo>
                  <a:lnTo>
                    <a:pt x="5313" y="1675072"/>
                  </a:lnTo>
                  <a:lnTo>
                    <a:pt x="0" y="1680778"/>
                  </a:lnTo>
                  <a:lnTo>
                    <a:pt x="0" y="1741768"/>
                  </a:lnTo>
                  <a:lnTo>
                    <a:pt x="5313" y="1747475"/>
                  </a:lnTo>
                  <a:lnTo>
                    <a:pt x="10858" y="1747475"/>
                  </a:lnTo>
                  <a:lnTo>
                    <a:pt x="16633" y="1741768"/>
                  </a:lnTo>
                  <a:lnTo>
                    <a:pt x="16633" y="1680778"/>
                  </a:lnTo>
                  <a:lnTo>
                    <a:pt x="10858" y="1675072"/>
                  </a:lnTo>
                  <a:close/>
                </a:path>
                <a:path w="17145" h="2596515">
                  <a:moveTo>
                    <a:pt x="16633" y="1558799"/>
                  </a:moveTo>
                  <a:lnTo>
                    <a:pt x="0" y="1558799"/>
                  </a:lnTo>
                  <a:lnTo>
                    <a:pt x="0" y="1624917"/>
                  </a:lnTo>
                  <a:lnTo>
                    <a:pt x="16633" y="1624917"/>
                  </a:lnTo>
                  <a:lnTo>
                    <a:pt x="16633" y="1558799"/>
                  </a:lnTo>
                  <a:close/>
                </a:path>
                <a:path w="17145" h="2596515">
                  <a:moveTo>
                    <a:pt x="10858" y="1553116"/>
                  </a:moveTo>
                  <a:lnTo>
                    <a:pt x="5313" y="1558799"/>
                  </a:lnTo>
                  <a:lnTo>
                    <a:pt x="10858" y="1558799"/>
                  </a:lnTo>
                  <a:lnTo>
                    <a:pt x="10858" y="1553116"/>
                  </a:lnTo>
                  <a:close/>
                </a:path>
                <a:path w="17145" h="2596515">
                  <a:moveTo>
                    <a:pt x="16633" y="1436819"/>
                  </a:moveTo>
                  <a:lnTo>
                    <a:pt x="0" y="1436819"/>
                  </a:lnTo>
                  <a:lnTo>
                    <a:pt x="0" y="1502938"/>
                  </a:lnTo>
                  <a:lnTo>
                    <a:pt x="16633" y="1502938"/>
                  </a:lnTo>
                  <a:lnTo>
                    <a:pt x="16633" y="1436819"/>
                  </a:lnTo>
                  <a:close/>
                </a:path>
                <a:path w="17145" h="2596515">
                  <a:moveTo>
                    <a:pt x="16633" y="1314285"/>
                  </a:moveTo>
                  <a:lnTo>
                    <a:pt x="0" y="1314285"/>
                  </a:lnTo>
                  <a:lnTo>
                    <a:pt x="0" y="1380981"/>
                  </a:lnTo>
                  <a:lnTo>
                    <a:pt x="16633" y="1380981"/>
                  </a:lnTo>
                  <a:lnTo>
                    <a:pt x="16633" y="1314285"/>
                  </a:lnTo>
                  <a:close/>
                </a:path>
                <a:path w="17145" h="2596515">
                  <a:moveTo>
                    <a:pt x="16633" y="1192305"/>
                  </a:moveTo>
                  <a:lnTo>
                    <a:pt x="0" y="1192305"/>
                  </a:lnTo>
                  <a:lnTo>
                    <a:pt x="0" y="1259001"/>
                  </a:lnTo>
                  <a:lnTo>
                    <a:pt x="16633" y="1259001"/>
                  </a:lnTo>
                  <a:lnTo>
                    <a:pt x="16633" y="1192305"/>
                  </a:lnTo>
                  <a:close/>
                </a:path>
                <a:path w="17145" h="2596515">
                  <a:moveTo>
                    <a:pt x="16633" y="1070325"/>
                  </a:moveTo>
                  <a:lnTo>
                    <a:pt x="0" y="1070325"/>
                  </a:lnTo>
                  <a:lnTo>
                    <a:pt x="0" y="1137022"/>
                  </a:lnTo>
                  <a:lnTo>
                    <a:pt x="16633" y="1137022"/>
                  </a:lnTo>
                  <a:lnTo>
                    <a:pt x="16633" y="1070325"/>
                  </a:lnTo>
                  <a:close/>
                </a:path>
                <a:path w="17145" h="2596515">
                  <a:moveTo>
                    <a:pt x="10858" y="1015042"/>
                  </a:moveTo>
                  <a:lnTo>
                    <a:pt x="5313" y="1015042"/>
                  </a:lnTo>
                  <a:lnTo>
                    <a:pt x="10858" y="1020748"/>
                  </a:lnTo>
                  <a:lnTo>
                    <a:pt x="10858" y="1015042"/>
                  </a:lnTo>
                  <a:close/>
                </a:path>
                <a:path w="17145" h="2596515">
                  <a:moveTo>
                    <a:pt x="10858" y="948369"/>
                  </a:moveTo>
                  <a:lnTo>
                    <a:pt x="5313" y="948369"/>
                  </a:lnTo>
                  <a:lnTo>
                    <a:pt x="0" y="954052"/>
                  </a:lnTo>
                  <a:lnTo>
                    <a:pt x="0" y="1015042"/>
                  </a:lnTo>
                  <a:lnTo>
                    <a:pt x="16633" y="1015042"/>
                  </a:lnTo>
                  <a:lnTo>
                    <a:pt x="16633" y="954052"/>
                  </a:lnTo>
                  <a:lnTo>
                    <a:pt x="10858" y="948369"/>
                  </a:lnTo>
                  <a:close/>
                </a:path>
                <a:path w="17145" h="2596515">
                  <a:moveTo>
                    <a:pt x="10858" y="826366"/>
                  </a:moveTo>
                  <a:lnTo>
                    <a:pt x="5313" y="826366"/>
                  </a:lnTo>
                  <a:lnTo>
                    <a:pt x="0" y="832142"/>
                  </a:lnTo>
                  <a:lnTo>
                    <a:pt x="0" y="893062"/>
                  </a:lnTo>
                  <a:lnTo>
                    <a:pt x="5313" y="898768"/>
                  </a:lnTo>
                  <a:lnTo>
                    <a:pt x="10858" y="898768"/>
                  </a:lnTo>
                  <a:lnTo>
                    <a:pt x="16633" y="893062"/>
                  </a:lnTo>
                  <a:lnTo>
                    <a:pt x="16633" y="832142"/>
                  </a:lnTo>
                  <a:lnTo>
                    <a:pt x="10858" y="826366"/>
                  </a:lnTo>
                  <a:close/>
                </a:path>
                <a:path w="17145" h="2596515">
                  <a:moveTo>
                    <a:pt x="10858" y="704386"/>
                  </a:moveTo>
                  <a:lnTo>
                    <a:pt x="5313" y="704386"/>
                  </a:lnTo>
                  <a:lnTo>
                    <a:pt x="0" y="710162"/>
                  </a:lnTo>
                  <a:lnTo>
                    <a:pt x="0" y="771152"/>
                  </a:lnTo>
                  <a:lnTo>
                    <a:pt x="5313" y="776234"/>
                  </a:lnTo>
                  <a:lnTo>
                    <a:pt x="10858" y="776234"/>
                  </a:lnTo>
                  <a:lnTo>
                    <a:pt x="16633" y="771152"/>
                  </a:lnTo>
                  <a:lnTo>
                    <a:pt x="16633" y="710162"/>
                  </a:lnTo>
                  <a:lnTo>
                    <a:pt x="10858" y="704386"/>
                  </a:lnTo>
                  <a:close/>
                </a:path>
                <a:path w="17145" h="2596515">
                  <a:moveTo>
                    <a:pt x="16633" y="588182"/>
                  </a:moveTo>
                  <a:lnTo>
                    <a:pt x="0" y="588182"/>
                  </a:lnTo>
                  <a:lnTo>
                    <a:pt x="0" y="654254"/>
                  </a:lnTo>
                  <a:lnTo>
                    <a:pt x="16633" y="654254"/>
                  </a:lnTo>
                  <a:lnTo>
                    <a:pt x="16633" y="588182"/>
                  </a:lnTo>
                  <a:close/>
                </a:path>
                <a:path w="17145" h="2596515">
                  <a:moveTo>
                    <a:pt x="10858" y="582406"/>
                  </a:moveTo>
                  <a:lnTo>
                    <a:pt x="5313" y="588182"/>
                  </a:lnTo>
                  <a:lnTo>
                    <a:pt x="10858" y="588182"/>
                  </a:lnTo>
                  <a:lnTo>
                    <a:pt x="10858" y="582406"/>
                  </a:lnTo>
                  <a:close/>
                </a:path>
                <a:path w="17145" h="2596515">
                  <a:moveTo>
                    <a:pt x="16633" y="465509"/>
                  </a:moveTo>
                  <a:lnTo>
                    <a:pt x="0" y="465509"/>
                  </a:lnTo>
                  <a:lnTo>
                    <a:pt x="0" y="532275"/>
                  </a:lnTo>
                  <a:lnTo>
                    <a:pt x="16633" y="532275"/>
                  </a:lnTo>
                  <a:lnTo>
                    <a:pt x="16633" y="465509"/>
                  </a:lnTo>
                  <a:close/>
                </a:path>
                <a:path w="17145" h="2596515">
                  <a:moveTo>
                    <a:pt x="16633" y="343530"/>
                  </a:moveTo>
                  <a:lnTo>
                    <a:pt x="0" y="343530"/>
                  </a:lnTo>
                  <a:lnTo>
                    <a:pt x="0" y="410295"/>
                  </a:lnTo>
                  <a:lnTo>
                    <a:pt x="16633" y="410295"/>
                  </a:lnTo>
                  <a:lnTo>
                    <a:pt x="16633" y="343530"/>
                  </a:lnTo>
                  <a:close/>
                </a:path>
                <a:path w="17145" h="2596515">
                  <a:moveTo>
                    <a:pt x="16633" y="221550"/>
                  </a:moveTo>
                  <a:lnTo>
                    <a:pt x="0" y="221550"/>
                  </a:lnTo>
                  <a:lnTo>
                    <a:pt x="0" y="288315"/>
                  </a:lnTo>
                  <a:lnTo>
                    <a:pt x="16633" y="288315"/>
                  </a:lnTo>
                  <a:lnTo>
                    <a:pt x="16633" y="221550"/>
                  </a:lnTo>
                  <a:close/>
                </a:path>
                <a:path w="17145" h="2596515">
                  <a:moveTo>
                    <a:pt x="16633" y="99570"/>
                  </a:moveTo>
                  <a:lnTo>
                    <a:pt x="0" y="99570"/>
                  </a:lnTo>
                  <a:lnTo>
                    <a:pt x="0" y="166335"/>
                  </a:lnTo>
                  <a:lnTo>
                    <a:pt x="16633" y="166335"/>
                  </a:lnTo>
                  <a:lnTo>
                    <a:pt x="16633" y="99570"/>
                  </a:lnTo>
                  <a:close/>
                </a:path>
                <a:path w="17145" h="2596515">
                  <a:moveTo>
                    <a:pt x="10857" y="44356"/>
                  </a:moveTo>
                  <a:lnTo>
                    <a:pt x="5313" y="44356"/>
                  </a:lnTo>
                  <a:lnTo>
                    <a:pt x="10857" y="50131"/>
                  </a:lnTo>
                  <a:lnTo>
                    <a:pt x="10857" y="44356"/>
                  </a:lnTo>
                  <a:close/>
                </a:path>
                <a:path w="17145" h="2596515">
                  <a:moveTo>
                    <a:pt x="16633" y="0"/>
                  </a:moveTo>
                  <a:lnTo>
                    <a:pt x="0" y="0"/>
                  </a:lnTo>
                  <a:lnTo>
                    <a:pt x="0" y="44356"/>
                  </a:lnTo>
                  <a:lnTo>
                    <a:pt x="16633" y="44356"/>
                  </a:lnTo>
                  <a:lnTo>
                    <a:pt x="16633" y="0"/>
                  </a:lnTo>
                  <a:close/>
                </a:path>
              </a:pathLst>
            </a:custGeom>
            <a:solidFill>
              <a:srgbClr val="000000"/>
            </a:solidFill>
          </p:spPr>
          <p:txBody>
            <a:bodyPr wrap="square" lIns="0" tIns="0" rIns="0" bIns="0" rtlCol="0"/>
            <a:lstStyle/>
            <a:p/>
          </p:txBody>
        </p:sp>
        <p:sp>
          <p:nvSpPr>
            <p:cNvPr id="90" name="object 90" descr=""/>
            <p:cNvSpPr/>
            <p:nvPr/>
          </p:nvSpPr>
          <p:spPr>
            <a:xfrm>
              <a:off x="9506245" y="2731704"/>
              <a:ext cx="17145" cy="2596515"/>
            </a:xfrm>
            <a:custGeom>
              <a:avLst/>
              <a:gdLst/>
              <a:ahLst/>
              <a:cxnLst/>
              <a:rect l="l" t="t" r="r" b="b"/>
              <a:pathLst>
                <a:path w="17145" h="2596515">
                  <a:moveTo>
                    <a:pt x="0" y="2584768"/>
                  </a:moveTo>
                  <a:lnTo>
                    <a:pt x="0" y="2534613"/>
                  </a:lnTo>
                  <a:lnTo>
                    <a:pt x="0" y="2529462"/>
                  </a:lnTo>
                  <a:lnTo>
                    <a:pt x="5313" y="2529462"/>
                  </a:lnTo>
                  <a:lnTo>
                    <a:pt x="10858" y="2523778"/>
                  </a:lnTo>
                  <a:lnTo>
                    <a:pt x="10858" y="2529462"/>
                  </a:lnTo>
                  <a:lnTo>
                    <a:pt x="16633" y="2529462"/>
                  </a:lnTo>
                  <a:lnTo>
                    <a:pt x="16633" y="2534613"/>
                  </a:lnTo>
                  <a:lnTo>
                    <a:pt x="16633" y="2584768"/>
                  </a:lnTo>
                  <a:lnTo>
                    <a:pt x="16633" y="2590451"/>
                  </a:lnTo>
                  <a:lnTo>
                    <a:pt x="16633" y="2596158"/>
                  </a:lnTo>
                  <a:lnTo>
                    <a:pt x="10858" y="2596158"/>
                  </a:lnTo>
                  <a:lnTo>
                    <a:pt x="5313" y="2596158"/>
                  </a:lnTo>
                  <a:lnTo>
                    <a:pt x="0" y="2596158"/>
                  </a:lnTo>
                  <a:lnTo>
                    <a:pt x="0" y="2590451"/>
                  </a:lnTo>
                  <a:lnTo>
                    <a:pt x="0" y="2584768"/>
                  </a:lnTo>
                  <a:close/>
                </a:path>
                <a:path w="17145" h="2596515">
                  <a:moveTo>
                    <a:pt x="0" y="2468495"/>
                  </a:moveTo>
                  <a:lnTo>
                    <a:pt x="0" y="2412634"/>
                  </a:lnTo>
                  <a:lnTo>
                    <a:pt x="0" y="2407505"/>
                  </a:lnTo>
                  <a:lnTo>
                    <a:pt x="5313" y="2407505"/>
                  </a:lnTo>
                  <a:lnTo>
                    <a:pt x="10858" y="2407505"/>
                  </a:lnTo>
                  <a:lnTo>
                    <a:pt x="16633" y="2407505"/>
                  </a:lnTo>
                  <a:lnTo>
                    <a:pt x="16633" y="2412634"/>
                  </a:lnTo>
                  <a:lnTo>
                    <a:pt x="16633" y="2468495"/>
                  </a:lnTo>
                  <a:lnTo>
                    <a:pt x="16633" y="2473624"/>
                  </a:lnTo>
                  <a:lnTo>
                    <a:pt x="10858" y="2473624"/>
                  </a:lnTo>
                  <a:lnTo>
                    <a:pt x="5313" y="2473624"/>
                  </a:lnTo>
                  <a:lnTo>
                    <a:pt x="0" y="2473624"/>
                  </a:lnTo>
                  <a:lnTo>
                    <a:pt x="0" y="2468495"/>
                  </a:lnTo>
                  <a:close/>
                </a:path>
                <a:path w="17145" h="2596515">
                  <a:moveTo>
                    <a:pt x="0" y="2346515"/>
                  </a:moveTo>
                  <a:lnTo>
                    <a:pt x="0" y="2290654"/>
                  </a:lnTo>
                  <a:lnTo>
                    <a:pt x="0" y="2285525"/>
                  </a:lnTo>
                  <a:lnTo>
                    <a:pt x="5313" y="2285525"/>
                  </a:lnTo>
                  <a:lnTo>
                    <a:pt x="10858" y="2285525"/>
                  </a:lnTo>
                  <a:lnTo>
                    <a:pt x="16633" y="2285525"/>
                  </a:lnTo>
                  <a:lnTo>
                    <a:pt x="16633" y="2290654"/>
                  </a:lnTo>
                  <a:lnTo>
                    <a:pt x="16633" y="2346515"/>
                  </a:lnTo>
                  <a:lnTo>
                    <a:pt x="16633" y="2351644"/>
                  </a:lnTo>
                  <a:lnTo>
                    <a:pt x="10858" y="2351644"/>
                  </a:lnTo>
                  <a:lnTo>
                    <a:pt x="5313" y="2351644"/>
                  </a:lnTo>
                  <a:lnTo>
                    <a:pt x="0" y="2351644"/>
                  </a:lnTo>
                  <a:lnTo>
                    <a:pt x="0" y="2346515"/>
                  </a:lnTo>
                  <a:close/>
                </a:path>
                <a:path w="17145" h="2596515">
                  <a:moveTo>
                    <a:pt x="0" y="2224535"/>
                  </a:moveTo>
                  <a:lnTo>
                    <a:pt x="0" y="2168674"/>
                  </a:lnTo>
                  <a:lnTo>
                    <a:pt x="0" y="2162968"/>
                  </a:lnTo>
                  <a:lnTo>
                    <a:pt x="5313" y="2162968"/>
                  </a:lnTo>
                  <a:lnTo>
                    <a:pt x="10858" y="2162968"/>
                  </a:lnTo>
                  <a:lnTo>
                    <a:pt x="16633" y="2162968"/>
                  </a:lnTo>
                  <a:lnTo>
                    <a:pt x="16633" y="2168674"/>
                  </a:lnTo>
                  <a:lnTo>
                    <a:pt x="16633" y="2224535"/>
                  </a:lnTo>
                  <a:lnTo>
                    <a:pt x="16633" y="2229664"/>
                  </a:lnTo>
                  <a:lnTo>
                    <a:pt x="10858" y="2229664"/>
                  </a:lnTo>
                  <a:lnTo>
                    <a:pt x="5313" y="2229664"/>
                  </a:lnTo>
                  <a:lnTo>
                    <a:pt x="0" y="2229664"/>
                  </a:lnTo>
                  <a:lnTo>
                    <a:pt x="0" y="2224535"/>
                  </a:lnTo>
                  <a:close/>
                </a:path>
                <a:path w="17145" h="2596515">
                  <a:moveTo>
                    <a:pt x="0" y="2102001"/>
                  </a:moveTo>
                  <a:lnTo>
                    <a:pt x="0" y="2052401"/>
                  </a:lnTo>
                  <a:lnTo>
                    <a:pt x="0" y="2046695"/>
                  </a:lnTo>
                  <a:lnTo>
                    <a:pt x="0" y="2041011"/>
                  </a:lnTo>
                  <a:lnTo>
                    <a:pt x="5313" y="2041011"/>
                  </a:lnTo>
                  <a:lnTo>
                    <a:pt x="10858" y="2041011"/>
                  </a:lnTo>
                  <a:lnTo>
                    <a:pt x="16633" y="2041011"/>
                  </a:lnTo>
                  <a:lnTo>
                    <a:pt x="16633" y="2046695"/>
                  </a:lnTo>
                  <a:lnTo>
                    <a:pt x="16633" y="2052401"/>
                  </a:lnTo>
                  <a:lnTo>
                    <a:pt x="16633" y="2102001"/>
                  </a:lnTo>
                  <a:lnTo>
                    <a:pt x="16633" y="2107684"/>
                  </a:lnTo>
                  <a:lnTo>
                    <a:pt x="10858" y="2107684"/>
                  </a:lnTo>
                  <a:lnTo>
                    <a:pt x="5313" y="2107684"/>
                  </a:lnTo>
                  <a:lnTo>
                    <a:pt x="0" y="2107684"/>
                  </a:lnTo>
                  <a:lnTo>
                    <a:pt x="0" y="2102001"/>
                  </a:lnTo>
                  <a:close/>
                </a:path>
                <a:path w="17145" h="2596515">
                  <a:moveTo>
                    <a:pt x="0" y="1980022"/>
                  </a:moveTo>
                  <a:lnTo>
                    <a:pt x="0" y="1930421"/>
                  </a:lnTo>
                  <a:lnTo>
                    <a:pt x="0" y="1924738"/>
                  </a:lnTo>
                  <a:lnTo>
                    <a:pt x="5313" y="1919032"/>
                  </a:lnTo>
                  <a:lnTo>
                    <a:pt x="10858" y="1919032"/>
                  </a:lnTo>
                  <a:lnTo>
                    <a:pt x="16633" y="1924738"/>
                  </a:lnTo>
                  <a:lnTo>
                    <a:pt x="16633" y="1930421"/>
                  </a:lnTo>
                  <a:lnTo>
                    <a:pt x="16633" y="1980022"/>
                  </a:lnTo>
                  <a:lnTo>
                    <a:pt x="16633" y="1985705"/>
                  </a:lnTo>
                  <a:lnTo>
                    <a:pt x="10858" y="1985705"/>
                  </a:lnTo>
                  <a:lnTo>
                    <a:pt x="10858" y="1991411"/>
                  </a:lnTo>
                  <a:lnTo>
                    <a:pt x="5313" y="1985705"/>
                  </a:lnTo>
                  <a:lnTo>
                    <a:pt x="0" y="1985705"/>
                  </a:lnTo>
                  <a:lnTo>
                    <a:pt x="0" y="1980022"/>
                  </a:lnTo>
                  <a:close/>
                </a:path>
                <a:path w="17145" h="2596515">
                  <a:moveTo>
                    <a:pt x="0" y="1858042"/>
                  </a:moveTo>
                  <a:lnTo>
                    <a:pt x="0" y="1808464"/>
                  </a:lnTo>
                  <a:lnTo>
                    <a:pt x="0" y="1802758"/>
                  </a:lnTo>
                  <a:lnTo>
                    <a:pt x="5313" y="1797052"/>
                  </a:lnTo>
                  <a:lnTo>
                    <a:pt x="10858" y="1797052"/>
                  </a:lnTo>
                  <a:lnTo>
                    <a:pt x="16633" y="1802758"/>
                  </a:lnTo>
                  <a:lnTo>
                    <a:pt x="16633" y="1808464"/>
                  </a:lnTo>
                  <a:lnTo>
                    <a:pt x="16633" y="1858042"/>
                  </a:lnTo>
                  <a:lnTo>
                    <a:pt x="16633" y="1863748"/>
                  </a:lnTo>
                  <a:lnTo>
                    <a:pt x="10858" y="1869431"/>
                  </a:lnTo>
                  <a:lnTo>
                    <a:pt x="5313" y="1869431"/>
                  </a:lnTo>
                  <a:lnTo>
                    <a:pt x="0" y="1863748"/>
                  </a:lnTo>
                  <a:lnTo>
                    <a:pt x="0" y="1858042"/>
                  </a:lnTo>
                  <a:close/>
                </a:path>
                <a:path w="17145" h="2596515">
                  <a:moveTo>
                    <a:pt x="0" y="1736062"/>
                  </a:moveTo>
                  <a:lnTo>
                    <a:pt x="0" y="1686485"/>
                  </a:lnTo>
                  <a:lnTo>
                    <a:pt x="0" y="1680778"/>
                  </a:lnTo>
                  <a:lnTo>
                    <a:pt x="5313" y="1675072"/>
                  </a:lnTo>
                  <a:lnTo>
                    <a:pt x="10858" y="1675072"/>
                  </a:lnTo>
                  <a:lnTo>
                    <a:pt x="16633" y="1680778"/>
                  </a:lnTo>
                  <a:lnTo>
                    <a:pt x="16633" y="1686485"/>
                  </a:lnTo>
                  <a:lnTo>
                    <a:pt x="16633" y="1736062"/>
                  </a:lnTo>
                  <a:lnTo>
                    <a:pt x="16633" y="1741768"/>
                  </a:lnTo>
                  <a:lnTo>
                    <a:pt x="10858" y="1747475"/>
                  </a:lnTo>
                  <a:lnTo>
                    <a:pt x="5313" y="1747475"/>
                  </a:lnTo>
                  <a:lnTo>
                    <a:pt x="0" y="1741768"/>
                  </a:lnTo>
                  <a:lnTo>
                    <a:pt x="0" y="1736062"/>
                  </a:lnTo>
                  <a:close/>
                </a:path>
                <a:path w="17145" h="2596515">
                  <a:moveTo>
                    <a:pt x="0" y="1614082"/>
                  </a:moveTo>
                  <a:lnTo>
                    <a:pt x="0" y="1563927"/>
                  </a:lnTo>
                  <a:lnTo>
                    <a:pt x="0" y="1558799"/>
                  </a:lnTo>
                  <a:lnTo>
                    <a:pt x="5313" y="1558799"/>
                  </a:lnTo>
                  <a:lnTo>
                    <a:pt x="10858" y="1553116"/>
                  </a:lnTo>
                  <a:lnTo>
                    <a:pt x="10858" y="1558799"/>
                  </a:lnTo>
                  <a:lnTo>
                    <a:pt x="16633" y="1558799"/>
                  </a:lnTo>
                  <a:lnTo>
                    <a:pt x="16633" y="1563927"/>
                  </a:lnTo>
                  <a:lnTo>
                    <a:pt x="16633" y="1614082"/>
                  </a:lnTo>
                  <a:lnTo>
                    <a:pt x="16633" y="1619789"/>
                  </a:lnTo>
                  <a:lnTo>
                    <a:pt x="16633" y="1624917"/>
                  </a:lnTo>
                  <a:lnTo>
                    <a:pt x="10858" y="1624917"/>
                  </a:lnTo>
                  <a:lnTo>
                    <a:pt x="5313" y="1624917"/>
                  </a:lnTo>
                  <a:lnTo>
                    <a:pt x="0" y="1624917"/>
                  </a:lnTo>
                  <a:lnTo>
                    <a:pt x="0" y="1619789"/>
                  </a:lnTo>
                  <a:lnTo>
                    <a:pt x="0" y="1614082"/>
                  </a:lnTo>
                  <a:close/>
                </a:path>
                <a:path w="17145" h="2596515">
                  <a:moveTo>
                    <a:pt x="0" y="1497809"/>
                  </a:moveTo>
                  <a:lnTo>
                    <a:pt x="0" y="1441948"/>
                  </a:lnTo>
                  <a:lnTo>
                    <a:pt x="0" y="1436819"/>
                  </a:lnTo>
                  <a:lnTo>
                    <a:pt x="5313" y="1436819"/>
                  </a:lnTo>
                  <a:lnTo>
                    <a:pt x="10858" y="1436819"/>
                  </a:lnTo>
                  <a:lnTo>
                    <a:pt x="16633" y="1436819"/>
                  </a:lnTo>
                  <a:lnTo>
                    <a:pt x="16633" y="1441948"/>
                  </a:lnTo>
                  <a:lnTo>
                    <a:pt x="16633" y="1497809"/>
                  </a:lnTo>
                  <a:lnTo>
                    <a:pt x="16633" y="1502938"/>
                  </a:lnTo>
                  <a:lnTo>
                    <a:pt x="10858" y="1502938"/>
                  </a:lnTo>
                  <a:lnTo>
                    <a:pt x="5313" y="1502938"/>
                  </a:lnTo>
                  <a:lnTo>
                    <a:pt x="0" y="1502938"/>
                  </a:lnTo>
                  <a:lnTo>
                    <a:pt x="0" y="1497809"/>
                  </a:lnTo>
                  <a:close/>
                </a:path>
                <a:path w="17145" h="2596515">
                  <a:moveTo>
                    <a:pt x="0" y="1375852"/>
                  </a:moveTo>
                  <a:lnTo>
                    <a:pt x="0" y="1319991"/>
                  </a:lnTo>
                  <a:lnTo>
                    <a:pt x="0" y="1314285"/>
                  </a:lnTo>
                  <a:lnTo>
                    <a:pt x="5313" y="1314285"/>
                  </a:lnTo>
                  <a:lnTo>
                    <a:pt x="10858" y="1314285"/>
                  </a:lnTo>
                  <a:lnTo>
                    <a:pt x="16633" y="1314285"/>
                  </a:lnTo>
                  <a:lnTo>
                    <a:pt x="16633" y="1319991"/>
                  </a:lnTo>
                  <a:lnTo>
                    <a:pt x="16633" y="1375852"/>
                  </a:lnTo>
                  <a:lnTo>
                    <a:pt x="16633" y="1380981"/>
                  </a:lnTo>
                  <a:lnTo>
                    <a:pt x="10858" y="1380981"/>
                  </a:lnTo>
                  <a:lnTo>
                    <a:pt x="5313" y="1380981"/>
                  </a:lnTo>
                  <a:lnTo>
                    <a:pt x="0" y="1380981"/>
                  </a:lnTo>
                  <a:lnTo>
                    <a:pt x="0" y="1375852"/>
                  </a:lnTo>
                  <a:close/>
                </a:path>
                <a:path w="17145" h="2596515">
                  <a:moveTo>
                    <a:pt x="0" y="1253295"/>
                  </a:moveTo>
                  <a:lnTo>
                    <a:pt x="0" y="1198011"/>
                  </a:lnTo>
                  <a:lnTo>
                    <a:pt x="0" y="1192305"/>
                  </a:lnTo>
                  <a:lnTo>
                    <a:pt x="5313" y="1192305"/>
                  </a:lnTo>
                  <a:lnTo>
                    <a:pt x="10858" y="1192305"/>
                  </a:lnTo>
                  <a:lnTo>
                    <a:pt x="16633" y="1192305"/>
                  </a:lnTo>
                  <a:lnTo>
                    <a:pt x="16633" y="1198011"/>
                  </a:lnTo>
                  <a:lnTo>
                    <a:pt x="16633" y="1253295"/>
                  </a:lnTo>
                  <a:lnTo>
                    <a:pt x="16633" y="1259001"/>
                  </a:lnTo>
                  <a:lnTo>
                    <a:pt x="10858" y="1259001"/>
                  </a:lnTo>
                  <a:lnTo>
                    <a:pt x="5313" y="1259001"/>
                  </a:lnTo>
                  <a:lnTo>
                    <a:pt x="0" y="1259001"/>
                  </a:lnTo>
                  <a:lnTo>
                    <a:pt x="0" y="1253295"/>
                  </a:lnTo>
                  <a:close/>
                </a:path>
                <a:path w="17145" h="2596515">
                  <a:moveTo>
                    <a:pt x="0" y="1131315"/>
                  </a:moveTo>
                  <a:lnTo>
                    <a:pt x="0" y="1081738"/>
                  </a:lnTo>
                  <a:lnTo>
                    <a:pt x="0" y="1076032"/>
                  </a:lnTo>
                  <a:lnTo>
                    <a:pt x="0" y="1070325"/>
                  </a:lnTo>
                  <a:lnTo>
                    <a:pt x="5313" y="1070325"/>
                  </a:lnTo>
                  <a:lnTo>
                    <a:pt x="10858" y="1070325"/>
                  </a:lnTo>
                  <a:lnTo>
                    <a:pt x="16633" y="1070325"/>
                  </a:lnTo>
                  <a:lnTo>
                    <a:pt x="16633" y="1076032"/>
                  </a:lnTo>
                  <a:lnTo>
                    <a:pt x="16633" y="1081738"/>
                  </a:lnTo>
                  <a:lnTo>
                    <a:pt x="16633" y="1131315"/>
                  </a:lnTo>
                  <a:lnTo>
                    <a:pt x="16633" y="1137021"/>
                  </a:lnTo>
                  <a:lnTo>
                    <a:pt x="10858" y="1137021"/>
                  </a:lnTo>
                  <a:lnTo>
                    <a:pt x="5313" y="1137021"/>
                  </a:lnTo>
                  <a:lnTo>
                    <a:pt x="0" y="1137021"/>
                  </a:lnTo>
                  <a:lnTo>
                    <a:pt x="0" y="1131315"/>
                  </a:lnTo>
                  <a:close/>
                </a:path>
                <a:path w="17145" h="2596515">
                  <a:moveTo>
                    <a:pt x="0" y="1009336"/>
                  </a:moveTo>
                  <a:lnTo>
                    <a:pt x="0" y="959758"/>
                  </a:lnTo>
                  <a:lnTo>
                    <a:pt x="0" y="954052"/>
                  </a:lnTo>
                  <a:lnTo>
                    <a:pt x="5313" y="948369"/>
                  </a:lnTo>
                  <a:lnTo>
                    <a:pt x="10858" y="948369"/>
                  </a:lnTo>
                  <a:lnTo>
                    <a:pt x="16633" y="954052"/>
                  </a:lnTo>
                  <a:lnTo>
                    <a:pt x="16633" y="959758"/>
                  </a:lnTo>
                  <a:lnTo>
                    <a:pt x="16633" y="1009336"/>
                  </a:lnTo>
                  <a:lnTo>
                    <a:pt x="16633" y="1015042"/>
                  </a:lnTo>
                  <a:lnTo>
                    <a:pt x="10858" y="1015042"/>
                  </a:lnTo>
                  <a:lnTo>
                    <a:pt x="10858" y="1020748"/>
                  </a:lnTo>
                  <a:lnTo>
                    <a:pt x="5313" y="1015042"/>
                  </a:lnTo>
                  <a:lnTo>
                    <a:pt x="0" y="1015042"/>
                  </a:lnTo>
                  <a:lnTo>
                    <a:pt x="0" y="1009336"/>
                  </a:lnTo>
                  <a:close/>
                </a:path>
                <a:path w="17145" h="2596515">
                  <a:moveTo>
                    <a:pt x="0" y="887356"/>
                  </a:moveTo>
                  <a:lnTo>
                    <a:pt x="0" y="837686"/>
                  </a:lnTo>
                  <a:lnTo>
                    <a:pt x="0" y="832141"/>
                  </a:lnTo>
                  <a:lnTo>
                    <a:pt x="5313" y="826366"/>
                  </a:lnTo>
                  <a:lnTo>
                    <a:pt x="10858" y="826366"/>
                  </a:lnTo>
                  <a:lnTo>
                    <a:pt x="16633" y="832141"/>
                  </a:lnTo>
                  <a:lnTo>
                    <a:pt x="16633" y="837686"/>
                  </a:lnTo>
                  <a:lnTo>
                    <a:pt x="16633" y="887356"/>
                  </a:lnTo>
                  <a:lnTo>
                    <a:pt x="16633" y="893062"/>
                  </a:lnTo>
                  <a:lnTo>
                    <a:pt x="10858" y="898768"/>
                  </a:lnTo>
                  <a:lnTo>
                    <a:pt x="5313" y="898768"/>
                  </a:lnTo>
                  <a:lnTo>
                    <a:pt x="0" y="893062"/>
                  </a:lnTo>
                  <a:lnTo>
                    <a:pt x="0" y="887356"/>
                  </a:lnTo>
                  <a:close/>
                </a:path>
                <a:path w="17145" h="2596515">
                  <a:moveTo>
                    <a:pt x="0" y="765376"/>
                  </a:moveTo>
                  <a:lnTo>
                    <a:pt x="0" y="715244"/>
                  </a:lnTo>
                  <a:lnTo>
                    <a:pt x="0" y="710162"/>
                  </a:lnTo>
                  <a:lnTo>
                    <a:pt x="5313" y="704386"/>
                  </a:lnTo>
                  <a:lnTo>
                    <a:pt x="10858" y="704386"/>
                  </a:lnTo>
                  <a:lnTo>
                    <a:pt x="16633" y="710162"/>
                  </a:lnTo>
                  <a:lnTo>
                    <a:pt x="16633" y="715244"/>
                  </a:lnTo>
                  <a:lnTo>
                    <a:pt x="16633" y="765376"/>
                  </a:lnTo>
                  <a:lnTo>
                    <a:pt x="16633" y="771152"/>
                  </a:lnTo>
                  <a:lnTo>
                    <a:pt x="10858" y="776234"/>
                  </a:lnTo>
                  <a:lnTo>
                    <a:pt x="5313" y="776234"/>
                  </a:lnTo>
                  <a:lnTo>
                    <a:pt x="0" y="771152"/>
                  </a:lnTo>
                  <a:lnTo>
                    <a:pt x="0" y="765376"/>
                  </a:lnTo>
                  <a:close/>
                </a:path>
                <a:path w="17145" h="2596515">
                  <a:moveTo>
                    <a:pt x="0" y="643396"/>
                  </a:moveTo>
                  <a:lnTo>
                    <a:pt x="0" y="593265"/>
                  </a:lnTo>
                  <a:lnTo>
                    <a:pt x="0" y="588182"/>
                  </a:lnTo>
                  <a:lnTo>
                    <a:pt x="5313" y="588182"/>
                  </a:lnTo>
                  <a:lnTo>
                    <a:pt x="10858" y="582406"/>
                  </a:lnTo>
                  <a:lnTo>
                    <a:pt x="10858" y="588182"/>
                  </a:lnTo>
                  <a:lnTo>
                    <a:pt x="16633" y="588182"/>
                  </a:lnTo>
                  <a:lnTo>
                    <a:pt x="16633" y="593265"/>
                  </a:lnTo>
                  <a:lnTo>
                    <a:pt x="16633" y="643396"/>
                  </a:lnTo>
                  <a:lnTo>
                    <a:pt x="16633" y="649172"/>
                  </a:lnTo>
                  <a:lnTo>
                    <a:pt x="16633" y="654254"/>
                  </a:lnTo>
                  <a:lnTo>
                    <a:pt x="10858" y="654254"/>
                  </a:lnTo>
                  <a:lnTo>
                    <a:pt x="5313" y="654254"/>
                  </a:lnTo>
                  <a:lnTo>
                    <a:pt x="0" y="654254"/>
                  </a:lnTo>
                  <a:lnTo>
                    <a:pt x="0" y="649172"/>
                  </a:lnTo>
                  <a:lnTo>
                    <a:pt x="0" y="643396"/>
                  </a:lnTo>
                  <a:close/>
                </a:path>
                <a:path w="17145" h="2596515">
                  <a:moveTo>
                    <a:pt x="0" y="527192"/>
                  </a:moveTo>
                  <a:lnTo>
                    <a:pt x="0" y="471285"/>
                  </a:lnTo>
                  <a:lnTo>
                    <a:pt x="0" y="465509"/>
                  </a:lnTo>
                  <a:lnTo>
                    <a:pt x="5313" y="465509"/>
                  </a:lnTo>
                  <a:lnTo>
                    <a:pt x="10858" y="465509"/>
                  </a:lnTo>
                  <a:lnTo>
                    <a:pt x="16633" y="465509"/>
                  </a:lnTo>
                  <a:lnTo>
                    <a:pt x="16633" y="471285"/>
                  </a:lnTo>
                  <a:lnTo>
                    <a:pt x="16633" y="527192"/>
                  </a:lnTo>
                  <a:lnTo>
                    <a:pt x="16633" y="532275"/>
                  </a:lnTo>
                  <a:lnTo>
                    <a:pt x="10858" y="532275"/>
                  </a:lnTo>
                  <a:lnTo>
                    <a:pt x="5313" y="532275"/>
                  </a:lnTo>
                  <a:lnTo>
                    <a:pt x="0" y="532275"/>
                  </a:lnTo>
                  <a:lnTo>
                    <a:pt x="0" y="527192"/>
                  </a:lnTo>
                  <a:close/>
                </a:path>
                <a:path w="17145" h="2596515">
                  <a:moveTo>
                    <a:pt x="0" y="404519"/>
                  </a:moveTo>
                  <a:lnTo>
                    <a:pt x="0" y="349305"/>
                  </a:lnTo>
                  <a:lnTo>
                    <a:pt x="0" y="343530"/>
                  </a:lnTo>
                  <a:lnTo>
                    <a:pt x="5313" y="343530"/>
                  </a:lnTo>
                  <a:lnTo>
                    <a:pt x="10858" y="343530"/>
                  </a:lnTo>
                  <a:lnTo>
                    <a:pt x="16633" y="343530"/>
                  </a:lnTo>
                  <a:lnTo>
                    <a:pt x="16633" y="349305"/>
                  </a:lnTo>
                  <a:lnTo>
                    <a:pt x="16633" y="404519"/>
                  </a:lnTo>
                  <a:lnTo>
                    <a:pt x="16633" y="410295"/>
                  </a:lnTo>
                  <a:lnTo>
                    <a:pt x="10858" y="410295"/>
                  </a:lnTo>
                  <a:lnTo>
                    <a:pt x="5313" y="410295"/>
                  </a:lnTo>
                  <a:lnTo>
                    <a:pt x="0" y="410295"/>
                  </a:lnTo>
                  <a:lnTo>
                    <a:pt x="0" y="404519"/>
                  </a:lnTo>
                  <a:close/>
                </a:path>
                <a:path w="17145" h="2596515">
                  <a:moveTo>
                    <a:pt x="0" y="282540"/>
                  </a:moveTo>
                  <a:lnTo>
                    <a:pt x="0" y="227325"/>
                  </a:lnTo>
                  <a:lnTo>
                    <a:pt x="0" y="221550"/>
                  </a:lnTo>
                  <a:lnTo>
                    <a:pt x="5313" y="221550"/>
                  </a:lnTo>
                  <a:lnTo>
                    <a:pt x="10858" y="221550"/>
                  </a:lnTo>
                  <a:lnTo>
                    <a:pt x="16633" y="221550"/>
                  </a:lnTo>
                  <a:lnTo>
                    <a:pt x="16633" y="227325"/>
                  </a:lnTo>
                  <a:lnTo>
                    <a:pt x="16633" y="282540"/>
                  </a:lnTo>
                  <a:lnTo>
                    <a:pt x="16633" y="288315"/>
                  </a:lnTo>
                  <a:lnTo>
                    <a:pt x="10858" y="288315"/>
                  </a:lnTo>
                  <a:lnTo>
                    <a:pt x="5313" y="288315"/>
                  </a:lnTo>
                  <a:lnTo>
                    <a:pt x="0" y="288315"/>
                  </a:lnTo>
                  <a:lnTo>
                    <a:pt x="0" y="282540"/>
                  </a:lnTo>
                  <a:close/>
                </a:path>
                <a:path w="17145" h="2596515">
                  <a:moveTo>
                    <a:pt x="0" y="160560"/>
                  </a:moveTo>
                  <a:lnTo>
                    <a:pt x="0" y="111121"/>
                  </a:lnTo>
                  <a:lnTo>
                    <a:pt x="0" y="105346"/>
                  </a:lnTo>
                  <a:lnTo>
                    <a:pt x="0" y="99570"/>
                  </a:lnTo>
                  <a:lnTo>
                    <a:pt x="5313" y="99570"/>
                  </a:lnTo>
                  <a:lnTo>
                    <a:pt x="10858" y="99570"/>
                  </a:lnTo>
                  <a:lnTo>
                    <a:pt x="16633" y="99570"/>
                  </a:lnTo>
                  <a:lnTo>
                    <a:pt x="16633" y="105346"/>
                  </a:lnTo>
                  <a:lnTo>
                    <a:pt x="16633" y="111121"/>
                  </a:lnTo>
                  <a:lnTo>
                    <a:pt x="16633" y="160560"/>
                  </a:lnTo>
                  <a:lnTo>
                    <a:pt x="16633" y="166335"/>
                  </a:lnTo>
                  <a:lnTo>
                    <a:pt x="10858" y="166335"/>
                  </a:lnTo>
                  <a:lnTo>
                    <a:pt x="5313" y="166335"/>
                  </a:lnTo>
                  <a:lnTo>
                    <a:pt x="0" y="166335"/>
                  </a:lnTo>
                  <a:lnTo>
                    <a:pt x="0" y="160560"/>
                  </a:lnTo>
                  <a:close/>
                </a:path>
                <a:path w="17145" h="2596515">
                  <a:moveTo>
                    <a:pt x="0" y="38580"/>
                  </a:moveTo>
                  <a:lnTo>
                    <a:pt x="0" y="5544"/>
                  </a:lnTo>
                  <a:lnTo>
                    <a:pt x="0" y="0"/>
                  </a:lnTo>
                  <a:lnTo>
                    <a:pt x="5313" y="0"/>
                  </a:lnTo>
                  <a:lnTo>
                    <a:pt x="10857" y="0"/>
                  </a:lnTo>
                  <a:lnTo>
                    <a:pt x="16633" y="0"/>
                  </a:lnTo>
                  <a:lnTo>
                    <a:pt x="16633" y="5544"/>
                  </a:lnTo>
                  <a:lnTo>
                    <a:pt x="16633" y="38580"/>
                  </a:lnTo>
                  <a:lnTo>
                    <a:pt x="16633" y="44356"/>
                  </a:lnTo>
                  <a:lnTo>
                    <a:pt x="10857" y="44356"/>
                  </a:lnTo>
                  <a:lnTo>
                    <a:pt x="10857" y="50131"/>
                  </a:lnTo>
                  <a:lnTo>
                    <a:pt x="5313" y="44356"/>
                  </a:lnTo>
                  <a:lnTo>
                    <a:pt x="0" y="44356"/>
                  </a:lnTo>
                  <a:lnTo>
                    <a:pt x="0" y="38580"/>
                  </a:lnTo>
                  <a:close/>
                </a:path>
              </a:pathLst>
            </a:custGeom>
            <a:ln w="5722">
              <a:solidFill>
                <a:srgbClr val="000000"/>
              </a:solidFill>
            </a:ln>
          </p:spPr>
          <p:txBody>
            <a:bodyPr wrap="square" lIns="0" tIns="0" rIns="0" bIns="0" rtlCol="0"/>
            <a:lstStyle/>
            <a:p/>
          </p:txBody>
        </p:sp>
        <p:sp>
          <p:nvSpPr>
            <p:cNvPr id="91" name="object 91" descr=""/>
            <p:cNvSpPr/>
            <p:nvPr/>
          </p:nvSpPr>
          <p:spPr>
            <a:xfrm>
              <a:off x="9145159" y="2692892"/>
              <a:ext cx="355600" cy="94615"/>
            </a:xfrm>
            <a:custGeom>
              <a:avLst/>
              <a:gdLst/>
              <a:ahLst/>
              <a:cxnLst/>
              <a:rect l="l" t="t" r="r" b="b"/>
              <a:pathLst>
                <a:path w="355600" h="94614">
                  <a:moveTo>
                    <a:pt x="344452" y="33036"/>
                  </a:moveTo>
                  <a:lnTo>
                    <a:pt x="271911" y="33036"/>
                  </a:lnTo>
                  <a:lnTo>
                    <a:pt x="266829" y="38811"/>
                  </a:lnTo>
                  <a:lnTo>
                    <a:pt x="261053" y="44356"/>
                  </a:lnTo>
                  <a:lnTo>
                    <a:pt x="261053" y="49669"/>
                  </a:lnTo>
                  <a:lnTo>
                    <a:pt x="266829" y="55214"/>
                  </a:lnTo>
                  <a:lnTo>
                    <a:pt x="271911" y="60989"/>
                  </a:lnTo>
                  <a:lnTo>
                    <a:pt x="344452" y="60989"/>
                  </a:lnTo>
                  <a:lnTo>
                    <a:pt x="344452" y="55214"/>
                  </a:lnTo>
                  <a:lnTo>
                    <a:pt x="349766" y="55214"/>
                  </a:lnTo>
                  <a:lnTo>
                    <a:pt x="349766" y="49669"/>
                  </a:lnTo>
                  <a:lnTo>
                    <a:pt x="355541" y="44356"/>
                  </a:lnTo>
                  <a:lnTo>
                    <a:pt x="349766" y="44356"/>
                  </a:lnTo>
                  <a:lnTo>
                    <a:pt x="349766" y="38811"/>
                  </a:lnTo>
                  <a:lnTo>
                    <a:pt x="344452" y="38811"/>
                  </a:lnTo>
                  <a:lnTo>
                    <a:pt x="344452" y="33036"/>
                  </a:lnTo>
                  <a:close/>
                </a:path>
                <a:path w="355600" h="94614">
                  <a:moveTo>
                    <a:pt x="139074" y="0"/>
                  </a:moveTo>
                  <a:lnTo>
                    <a:pt x="0" y="44356"/>
                  </a:lnTo>
                  <a:lnTo>
                    <a:pt x="139074" y="94026"/>
                  </a:lnTo>
                  <a:lnTo>
                    <a:pt x="104234" y="55214"/>
                  </a:lnTo>
                  <a:lnTo>
                    <a:pt x="100263" y="55214"/>
                  </a:lnTo>
                  <a:lnTo>
                    <a:pt x="100263" y="50790"/>
                  </a:lnTo>
                  <a:lnTo>
                    <a:pt x="94487" y="44356"/>
                  </a:lnTo>
                  <a:lnTo>
                    <a:pt x="139074" y="0"/>
                  </a:lnTo>
                  <a:close/>
                </a:path>
                <a:path w="355600" h="94614">
                  <a:moveTo>
                    <a:pt x="183199" y="55214"/>
                  </a:moveTo>
                  <a:lnTo>
                    <a:pt x="105345" y="55214"/>
                  </a:lnTo>
                  <a:lnTo>
                    <a:pt x="111121" y="60989"/>
                  </a:lnTo>
                  <a:lnTo>
                    <a:pt x="177424" y="60989"/>
                  </a:lnTo>
                  <a:lnTo>
                    <a:pt x="183199" y="55214"/>
                  </a:lnTo>
                  <a:close/>
                </a:path>
                <a:path w="355600" h="94614">
                  <a:moveTo>
                    <a:pt x="100263" y="50790"/>
                  </a:moveTo>
                  <a:lnTo>
                    <a:pt x="100263" y="55214"/>
                  </a:lnTo>
                  <a:lnTo>
                    <a:pt x="104234" y="55214"/>
                  </a:lnTo>
                  <a:lnTo>
                    <a:pt x="100263" y="50790"/>
                  </a:lnTo>
                  <a:close/>
                </a:path>
                <a:path w="355600" h="94614">
                  <a:moveTo>
                    <a:pt x="188975" y="38811"/>
                  </a:moveTo>
                  <a:lnTo>
                    <a:pt x="100163" y="38811"/>
                  </a:lnTo>
                  <a:lnTo>
                    <a:pt x="100263" y="50790"/>
                  </a:lnTo>
                  <a:lnTo>
                    <a:pt x="104234" y="55214"/>
                  </a:lnTo>
                  <a:lnTo>
                    <a:pt x="188975" y="55214"/>
                  </a:lnTo>
                  <a:lnTo>
                    <a:pt x="188975" y="38811"/>
                  </a:lnTo>
                  <a:close/>
                </a:path>
                <a:path w="355600" h="94614">
                  <a:moveTo>
                    <a:pt x="177424" y="33036"/>
                  </a:moveTo>
                  <a:lnTo>
                    <a:pt x="111121" y="33036"/>
                  </a:lnTo>
                  <a:lnTo>
                    <a:pt x="105345" y="38811"/>
                  </a:lnTo>
                  <a:lnTo>
                    <a:pt x="183199" y="38811"/>
                  </a:lnTo>
                  <a:lnTo>
                    <a:pt x="177424" y="33036"/>
                  </a:lnTo>
                  <a:close/>
                </a:path>
              </a:pathLst>
            </a:custGeom>
            <a:solidFill>
              <a:srgbClr val="000000"/>
            </a:solidFill>
          </p:spPr>
          <p:txBody>
            <a:bodyPr wrap="square" lIns="0" tIns="0" rIns="0" bIns="0" rtlCol="0"/>
            <a:lstStyle/>
            <a:p/>
          </p:txBody>
        </p:sp>
        <p:sp>
          <p:nvSpPr>
            <p:cNvPr id="92" name="object 92" descr=""/>
            <p:cNvSpPr/>
            <p:nvPr/>
          </p:nvSpPr>
          <p:spPr>
            <a:xfrm>
              <a:off x="9406213" y="2725929"/>
              <a:ext cx="94615" cy="28575"/>
            </a:xfrm>
            <a:custGeom>
              <a:avLst/>
              <a:gdLst/>
              <a:ahLst/>
              <a:cxnLst/>
              <a:rect l="l" t="t" r="r" b="b"/>
              <a:pathLst>
                <a:path w="94615" h="28575">
                  <a:moveTo>
                    <a:pt x="83398" y="27953"/>
                  </a:moveTo>
                  <a:lnTo>
                    <a:pt x="10857" y="27953"/>
                  </a:lnTo>
                  <a:lnTo>
                    <a:pt x="5775" y="22178"/>
                  </a:lnTo>
                  <a:lnTo>
                    <a:pt x="0" y="16633"/>
                  </a:lnTo>
                  <a:lnTo>
                    <a:pt x="0" y="11320"/>
                  </a:lnTo>
                  <a:lnTo>
                    <a:pt x="5775" y="5775"/>
                  </a:lnTo>
                  <a:lnTo>
                    <a:pt x="10857" y="0"/>
                  </a:lnTo>
                  <a:lnTo>
                    <a:pt x="83398" y="0"/>
                  </a:lnTo>
                  <a:lnTo>
                    <a:pt x="83398" y="5775"/>
                  </a:lnTo>
                  <a:lnTo>
                    <a:pt x="88712" y="5775"/>
                  </a:lnTo>
                  <a:lnTo>
                    <a:pt x="88712" y="11320"/>
                  </a:lnTo>
                  <a:lnTo>
                    <a:pt x="94487" y="11320"/>
                  </a:lnTo>
                  <a:lnTo>
                    <a:pt x="88712" y="16633"/>
                  </a:lnTo>
                  <a:lnTo>
                    <a:pt x="88712" y="22178"/>
                  </a:lnTo>
                  <a:lnTo>
                    <a:pt x="83398" y="22178"/>
                  </a:lnTo>
                  <a:lnTo>
                    <a:pt x="83398" y="27953"/>
                  </a:lnTo>
                  <a:close/>
                </a:path>
              </a:pathLst>
            </a:custGeom>
            <a:ln w="5722">
              <a:solidFill>
                <a:srgbClr val="000000"/>
              </a:solidFill>
            </a:ln>
          </p:spPr>
          <p:txBody>
            <a:bodyPr wrap="square" lIns="0" tIns="0" rIns="0" bIns="0" rtlCol="0"/>
            <a:lstStyle/>
            <a:p/>
          </p:txBody>
        </p:sp>
        <p:pic>
          <p:nvPicPr>
            <p:cNvPr id="93" name="object 93" descr=""/>
            <p:cNvPicPr/>
            <p:nvPr/>
          </p:nvPicPr>
          <p:blipFill>
            <a:blip r:embed="rId4" cstate="print"/>
            <a:stretch>
              <a:fillRect/>
            </a:stretch>
          </p:blipFill>
          <p:spPr>
            <a:xfrm>
              <a:off x="9142298" y="2690031"/>
              <a:ext cx="194697" cy="99748"/>
            </a:xfrm>
            <a:prstGeom prst="rect">
              <a:avLst/>
            </a:prstGeom>
          </p:spPr>
        </p:pic>
      </p:grpSp>
      <p:grpSp>
        <p:nvGrpSpPr>
          <p:cNvPr id="94" name="object 94" descr=""/>
          <p:cNvGrpSpPr/>
          <p:nvPr/>
        </p:nvGrpSpPr>
        <p:grpSpPr>
          <a:xfrm>
            <a:off x="7687184" y="1366151"/>
            <a:ext cx="2073910" cy="4502785"/>
            <a:chOff x="7687184" y="1366151"/>
            <a:chExt cx="2073910" cy="4502785"/>
          </a:xfrm>
        </p:grpSpPr>
        <p:sp>
          <p:nvSpPr>
            <p:cNvPr id="95" name="object 95" descr=""/>
            <p:cNvSpPr/>
            <p:nvPr/>
          </p:nvSpPr>
          <p:spPr>
            <a:xfrm>
              <a:off x="7890252" y="5571822"/>
              <a:ext cx="94615" cy="294640"/>
            </a:xfrm>
            <a:custGeom>
              <a:avLst/>
              <a:gdLst/>
              <a:ahLst/>
              <a:cxnLst/>
              <a:rect l="l" t="t" r="r" b="b"/>
              <a:pathLst>
                <a:path w="94615" h="294639">
                  <a:moveTo>
                    <a:pt x="44587" y="88342"/>
                  </a:moveTo>
                  <a:lnTo>
                    <a:pt x="33267" y="101076"/>
                  </a:lnTo>
                  <a:lnTo>
                    <a:pt x="33267" y="288401"/>
                  </a:lnTo>
                  <a:lnTo>
                    <a:pt x="39042" y="294100"/>
                  </a:lnTo>
                  <a:lnTo>
                    <a:pt x="55445" y="294100"/>
                  </a:lnTo>
                  <a:lnTo>
                    <a:pt x="55445" y="99256"/>
                  </a:lnTo>
                  <a:lnTo>
                    <a:pt x="44587" y="88342"/>
                  </a:lnTo>
                  <a:close/>
                </a:path>
                <a:path w="94615" h="294639">
                  <a:moveTo>
                    <a:pt x="44587" y="0"/>
                  </a:moveTo>
                  <a:lnTo>
                    <a:pt x="0" y="138497"/>
                  </a:lnTo>
                  <a:lnTo>
                    <a:pt x="33267" y="101076"/>
                  </a:lnTo>
                  <a:lnTo>
                    <a:pt x="33267" y="83214"/>
                  </a:lnTo>
                  <a:lnTo>
                    <a:pt x="39042" y="83214"/>
                  </a:lnTo>
                  <a:lnTo>
                    <a:pt x="39042" y="77507"/>
                  </a:lnTo>
                  <a:lnTo>
                    <a:pt x="72513" y="77507"/>
                  </a:lnTo>
                  <a:lnTo>
                    <a:pt x="44587" y="0"/>
                  </a:lnTo>
                  <a:close/>
                </a:path>
                <a:path w="94615" h="294639">
                  <a:moveTo>
                    <a:pt x="72513" y="77507"/>
                  </a:moveTo>
                  <a:lnTo>
                    <a:pt x="49900" y="77507"/>
                  </a:lnTo>
                  <a:lnTo>
                    <a:pt x="55445" y="83214"/>
                  </a:lnTo>
                  <a:lnTo>
                    <a:pt x="55445" y="99256"/>
                  </a:lnTo>
                  <a:lnTo>
                    <a:pt x="94487" y="138497"/>
                  </a:lnTo>
                  <a:lnTo>
                    <a:pt x="72513" y="77507"/>
                  </a:lnTo>
                  <a:close/>
                </a:path>
                <a:path w="94615" h="294639">
                  <a:moveTo>
                    <a:pt x="49900" y="77507"/>
                  </a:moveTo>
                  <a:lnTo>
                    <a:pt x="39042" y="77507"/>
                  </a:lnTo>
                  <a:lnTo>
                    <a:pt x="39042" y="83214"/>
                  </a:lnTo>
                  <a:lnTo>
                    <a:pt x="33267" y="83214"/>
                  </a:lnTo>
                  <a:lnTo>
                    <a:pt x="33267" y="101076"/>
                  </a:lnTo>
                  <a:lnTo>
                    <a:pt x="44587" y="88342"/>
                  </a:lnTo>
                  <a:lnTo>
                    <a:pt x="55445" y="88342"/>
                  </a:lnTo>
                  <a:lnTo>
                    <a:pt x="55445" y="83214"/>
                  </a:lnTo>
                  <a:lnTo>
                    <a:pt x="49900" y="77507"/>
                  </a:lnTo>
                  <a:close/>
                </a:path>
                <a:path w="94615" h="294639">
                  <a:moveTo>
                    <a:pt x="55445" y="88342"/>
                  </a:moveTo>
                  <a:lnTo>
                    <a:pt x="44587" y="88342"/>
                  </a:lnTo>
                  <a:lnTo>
                    <a:pt x="55445" y="99256"/>
                  </a:lnTo>
                  <a:lnTo>
                    <a:pt x="55445" y="88342"/>
                  </a:lnTo>
                  <a:close/>
                </a:path>
              </a:pathLst>
            </a:custGeom>
            <a:solidFill>
              <a:srgbClr val="000000"/>
            </a:solidFill>
          </p:spPr>
          <p:txBody>
            <a:bodyPr wrap="square" lIns="0" tIns="0" rIns="0" bIns="0" rtlCol="0"/>
            <a:lstStyle/>
            <a:p/>
          </p:txBody>
        </p:sp>
        <p:pic>
          <p:nvPicPr>
            <p:cNvPr id="96" name="object 96" descr=""/>
            <p:cNvPicPr/>
            <p:nvPr/>
          </p:nvPicPr>
          <p:blipFill>
            <a:blip r:embed="rId5" cstate="print"/>
            <a:stretch>
              <a:fillRect/>
            </a:stretch>
          </p:blipFill>
          <p:spPr>
            <a:xfrm>
              <a:off x="7887390" y="5568961"/>
              <a:ext cx="100210" cy="299822"/>
            </a:xfrm>
            <a:prstGeom prst="rect">
              <a:avLst/>
            </a:prstGeom>
          </p:spPr>
        </p:pic>
        <p:sp>
          <p:nvSpPr>
            <p:cNvPr id="97" name="object 97" descr=""/>
            <p:cNvSpPr/>
            <p:nvPr/>
          </p:nvSpPr>
          <p:spPr>
            <a:xfrm>
              <a:off x="7687184" y="1374449"/>
              <a:ext cx="2065655" cy="4476750"/>
            </a:xfrm>
            <a:custGeom>
              <a:avLst/>
              <a:gdLst/>
              <a:ahLst/>
              <a:cxnLst/>
              <a:rect l="l" t="t" r="r" b="b"/>
              <a:pathLst>
                <a:path w="2065654" h="4476750">
                  <a:moveTo>
                    <a:pt x="0" y="0"/>
                  </a:moveTo>
                  <a:lnTo>
                    <a:pt x="2065098" y="0"/>
                  </a:lnTo>
                </a:path>
                <a:path w="2065654" h="4476750">
                  <a:moveTo>
                    <a:pt x="2065098" y="0"/>
                  </a:moveTo>
                  <a:lnTo>
                    <a:pt x="2065098" y="4476653"/>
                  </a:lnTo>
                </a:path>
                <a:path w="2065654" h="4476750">
                  <a:moveTo>
                    <a:pt x="244420" y="4476653"/>
                  </a:moveTo>
                  <a:lnTo>
                    <a:pt x="2065098" y="4476653"/>
                  </a:lnTo>
                </a:path>
              </a:pathLst>
            </a:custGeom>
            <a:ln w="16595">
              <a:solidFill>
                <a:srgbClr val="000000"/>
              </a:solidFill>
            </a:ln>
          </p:spPr>
          <p:txBody>
            <a:bodyPr wrap="square" lIns="0" tIns="0" rIns="0" bIns="0" rtlCol="0"/>
            <a:lstStyle/>
            <a:p/>
          </p:txBody>
        </p:sp>
      </p:grpSp>
      <p:sp>
        <p:nvSpPr>
          <p:cNvPr id="98" name="object 98" descr=""/>
          <p:cNvSpPr txBox="1"/>
          <p:nvPr/>
        </p:nvSpPr>
        <p:spPr>
          <a:xfrm>
            <a:off x="4806822" y="6084823"/>
            <a:ext cx="281114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40458B"/>
                </a:solidFill>
                <a:latin typeface="宋体"/>
                <a:cs typeface="宋体"/>
              </a:rPr>
              <a:t>多体（</a:t>
            </a:r>
            <a:r>
              <a:rPr dirty="0" sz="2000" spc="-10" b="1">
                <a:solidFill>
                  <a:srgbClr val="40458B"/>
                </a:solidFill>
                <a:latin typeface="Times New Roman"/>
                <a:cs typeface="Times New Roman"/>
              </a:rPr>
              <a:t>m=4</a:t>
            </a:r>
            <a:r>
              <a:rPr dirty="0" sz="2000" spc="-10" b="1">
                <a:solidFill>
                  <a:srgbClr val="40458B"/>
                </a:solidFill>
                <a:latin typeface="宋体"/>
                <a:cs typeface="宋体"/>
              </a:rPr>
              <a:t>）</a:t>
            </a:r>
            <a:r>
              <a:rPr dirty="0" sz="2000" spc="-25" b="1">
                <a:solidFill>
                  <a:srgbClr val="40458B"/>
                </a:solidFill>
                <a:latin typeface="宋体"/>
                <a:cs typeface="宋体"/>
              </a:rPr>
              <a:t>交叉存储器</a:t>
            </a:r>
            <a:endParaRPr sz="2000">
              <a:latin typeface="宋体"/>
              <a:cs typeface="宋体"/>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01114" y="24129"/>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677265" y="1274435"/>
            <a:ext cx="6826250" cy="1997710"/>
          </a:xfrm>
          <a:prstGeom prst="rect">
            <a:avLst/>
          </a:prstGeom>
        </p:spPr>
        <p:txBody>
          <a:bodyPr wrap="square" lIns="0" tIns="159385" rIns="0" bIns="0" rtlCol="0" vert="horz">
            <a:spAutoFit/>
          </a:bodyPr>
          <a:lstStyle/>
          <a:p>
            <a:pPr marL="494665" indent="-456565">
              <a:lnSpc>
                <a:spcPct val="100000"/>
              </a:lnSpc>
              <a:spcBef>
                <a:spcPts val="1255"/>
              </a:spcBef>
              <a:buClr>
                <a:srgbClr val="40458B"/>
              </a:buClr>
              <a:buFont typeface="Tahoma"/>
              <a:buAutoNum type="arabicPeriod" startAt="3"/>
              <a:tabLst>
                <a:tab pos="494665" algn="l"/>
              </a:tabLst>
            </a:pPr>
            <a:r>
              <a:rPr dirty="0" sz="2400" spc="-10">
                <a:solidFill>
                  <a:srgbClr val="E14B04"/>
                </a:solidFill>
                <a:latin typeface="黑体"/>
                <a:cs typeface="黑体"/>
              </a:rPr>
              <a:t>高位交叉编址</a:t>
            </a:r>
            <a:endParaRPr sz="2400">
              <a:latin typeface="黑体"/>
              <a:cs typeface="黑体"/>
            </a:endParaRPr>
          </a:p>
          <a:p>
            <a:pPr lvl="1" marL="1124585" indent="-457200">
              <a:lnSpc>
                <a:spcPct val="100000"/>
              </a:lnSpc>
              <a:spcBef>
                <a:spcPts val="1155"/>
              </a:spcBef>
              <a:buSzPct val="89583"/>
              <a:buFont typeface="Wingdings"/>
              <a:buChar char=""/>
              <a:tabLst>
                <a:tab pos="1124585" algn="l"/>
              </a:tabLst>
            </a:pPr>
            <a:r>
              <a:rPr dirty="0" sz="2400" spc="-5">
                <a:solidFill>
                  <a:srgbClr val="40458B"/>
                </a:solidFill>
                <a:latin typeface="黑体"/>
                <a:cs typeface="黑体"/>
              </a:rPr>
              <a:t>对存储单元矩阵按列优先的方式进行编址</a:t>
            </a:r>
            <a:endParaRPr sz="2400">
              <a:latin typeface="黑体"/>
              <a:cs typeface="黑体"/>
            </a:endParaRPr>
          </a:p>
          <a:p>
            <a:pPr lvl="1" marL="1124585" indent="-457200">
              <a:lnSpc>
                <a:spcPct val="100000"/>
              </a:lnSpc>
              <a:spcBef>
                <a:spcPts val="1150"/>
              </a:spcBef>
              <a:buClr>
                <a:srgbClr val="40458B"/>
              </a:buClr>
              <a:buSzPct val="89583"/>
              <a:buFont typeface="Wingdings"/>
              <a:buChar char=""/>
              <a:tabLst>
                <a:tab pos="1124585" algn="l"/>
              </a:tabLst>
            </a:pPr>
            <a:r>
              <a:rPr dirty="0" sz="2400">
                <a:solidFill>
                  <a:srgbClr val="D50092"/>
                </a:solidFill>
                <a:latin typeface="黑体"/>
                <a:cs typeface="黑体"/>
              </a:rPr>
              <a:t>特点：</a:t>
            </a:r>
            <a:r>
              <a:rPr dirty="0" sz="2400">
                <a:solidFill>
                  <a:srgbClr val="40458B"/>
                </a:solidFill>
                <a:latin typeface="黑体"/>
                <a:cs typeface="黑体"/>
              </a:rPr>
              <a:t>同一个体中的高</a:t>
            </a:r>
            <a:r>
              <a:rPr dirty="0" sz="2400" spc="-10">
                <a:solidFill>
                  <a:srgbClr val="9933FF"/>
                </a:solidFill>
                <a:latin typeface="Tahoma"/>
                <a:cs typeface="Tahoma"/>
              </a:rPr>
              <a:t>log</a:t>
            </a:r>
            <a:r>
              <a:rPr dirty="0" baseline="-20833" sz="2400" spc="-15">
                <a:solidFill>
                  <a:srgbClr val="9933FF"/>
                </a:solidFill>
                <a:latin typeface="Tahoma"/>
                <a:cs typeface="Tahoma"/>
              </a:rPr>
              <a:t>2</a:t>
            </a:r>
            <a:r>
              <a:rPr dirty="0" sz="2400" spc="-10">
                <a:solidFill>
                  <a:srgbClr val="9933FF"/>
                </a:solidFill>
                <a:latin typeface="Tahoma"/>
                <a:cs typeface="Tahoma"/>
              </a:rPr>
              <a:t>m</a:t>
            </a:r>
            <a:r>
              <a:rPr dirty="0" sz="2400" spc="-10">
                <a:solidFill>
                  <a:srgbClr val="40458B"/>
                </a:solidFill>
                <a:latin typeface="黑体"/>
                <a:cs typeface="黑体"/>
              </a:rPr>
              <a:t>位都是相同的</a:t>
            </a:r>
            <a:endParaRPr sz="2400">
              <a:latin typeface="黑体"/>
              <a:cs typeface="黑体"/>
            </a:endParaRPr>
          </a:p>
          <a:p>
            <a:pPr marL="4130675">
              <a:lnSpc>
                <a:spcPct val="100000"/>
              </a:lnSpc>
              <a:spcBef>
                <a:spcPts val="1025"/>
              </a:spcBef>
            </a:pPr>
            <a:r>
              <a:rPr dirty="0" sz="2000" spc="-15" b="1">
                <a:latin typeface="宋体"/>
                <a:cs typeface="宋体"/>
              </a:rPr>
              <a:t>（体号</a:t>
            </a:r>
            <a:r>
              <a:rPr dirty="0" sz="2000" spc="-50" b="1">
                <a:latin typeface="宋体"/>
                <a:cs typeface="宋体"/>
              </a:rPr>
              <a:t>）</a:t>
            </a:r>
            <a:endParaRPr sz="2000">
              <a:latin typeface="宋体"/>
              <a:cs typeface="宋体"/>
            </a:endParaRPr>
          </a:p>
        </p:txBody>
      </p:sp>
      <p:sp>
        <p:nvSpPr>
          <p:cNvPr id="11" name="object 11" descr=""/>
          <p:cNvSpPr txBox="1"/>
          <p:nvPr/>
        </p:nvSpPr>
        <p:spPr>
          <a:xfrm>
            <a:off x="2312985" y="3671492"/>
            <a:ext cx="896619" cy="621665"/>
          </a:xfrm>
          <a:prstGeom prst="rect">
            <a:avLst/>
          </a:prstGeom>
        </p:spPr>
        <p:txBody>
          <a:bodyPr wrap="square" lIns="0" tIns="50800" rIns="0" bIns="0" rtlCol="0" vert="horz">
            <a:spAutoFit/>
          </a:bodyPr>
          <a:lstStyle/>
          <a:p>
            <a:pPr marL="12700">
              <a:lnSpc>
                <a:spcPct val="100000"/>
              </a:lnSpc>
              <a:spcBef>
                <a:spcPts val="400"/>
              </a:spcBef>
            </a:pPr>
            <a:r>
              <a:rPr dirty="0" sz="1700" spc="-10">
                <a:solidFill>
                  <a:srgbClr val="FF6600"/>
                </a:solidFill>
                <a:latin typeface="宋体"/>
                <a:cs typeface="宋体"/>
              </a:rPr>
              <a:t>0..0</a:t>
            </a:r>
            <a:r>
              <a:rPr dirty="0" sz="1700" spc="-10">
                <a:latin typeface="宋体"/>
                <a:cs typeface="宋体"/>
              </a:rPr>
              <a:t>0..0</a:t>
            </a:r>
            <a:endParaRPr sz="1700">
              <a:latin typeface="宋体"/>
              <a:cs typeface="宋体"/>
            </a:endParaRPr>
          </a:p>
          <a:p>
            <a:pPr marL="12700">
              <a:lnSpc>
                <a:spcPct val="100000"/>
              </a:lnSpc>
              <a:spcBef>
                <a:spcPts val="305"/>
              </a:spcBef>
            </a:pPr>
            <a:r>
              <a:rPr dirty="0" sz="1700" spc="-10">
                <a:solidFill>
                  <a:srgbClr val="FF6600"/>
                </a:solidFill>
                <a:latin typeface="宋体"/>
                <a:cs typeface="宋体"/>
              </a:rPr>
              <a:t>0..0</a:t>
            </a:r>
            <a:r>
              <a:rPr dirty="0" sz="1700" spc="-10">
                <a:latin typeface="宋体"/>
                <a:cs typeface="宋体"/>
              </a:rPr>
              <a:t>0..1</a:t>
            </a:r>
            <a:endParaRPr sz="1700">
              <a:latin typeface="宋体"/>
              <a:cs typeface="宋体"/>
            </a:endParaRPr>
          </a:p>
        </p:txBody>
      </p:sp>
      <p:graphicFrame>
        <p:nvGraphicFramePr>
          <p:cNvPr id="12" name="object 12" descr=""/>
          <p:cNvGraphicFramePr>
            <a:graphicFrameLocks noGrp="1"/>
          </p:cNvGraphicFramePr>
          <p:nvPr/>
        </p:nvGraphicFramePr>
        <p:xfrm>
          <a:off x="3273249" y="3690019"/>
          <a:ext cx="895350" cy="1920875"/>
        </p:xfrm>
        <a:graphic>
          <a:graphicData uri="http://schemas.openxmlformats.org/drawingml/2006/table">
            <a:tbl>
              <a:tblPr firstRow="1" bandRow="1">
                <a:tableStyleId>{2D5ABB26-0587-4C30-8999-92F81FD0307C}</a:tableStyleId>
              </a:tblPr>
              <a:tblGrid>
                <a:gridCol w="801370"/>
              </a:tblGrid>
              <a:tr h="29718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91465">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1035050">
                <a:tc>
                  <a:txBody>
                    <a:bodyPr/>
                    <a:lstStyle/>
                    <a:p>
                      <a:pPr>
                        <a:lnSpc>
                          <a:spcPct val="100000"/>
                        </a:lnSpc>
                        <a:spcBef>
                          <a:spcPts val="535"/>
                        </a:spcBef>
                      </a:pPr>
                      <a:endParaRPr sz="1950">
                        <a:latin typeface="Times New Roman"/>
                        <a:cs typeface="Times New Roman"/>
                      </a:endParaRPr>
                    </a:p>
                    <a:p>
                      <a:pPr marL="290195">
                        <a:lnSpc>
                          <a:spcPct val="100000"/>
                        </a:lnSpc>
                      </a:pPr>
                      <a:r>
                        <a:rPr dirty="0" sz="1950" spc="-50">
                          <a:latin typeface="宋体"/>
                          <a:cs typeface="宋体"/>
                        </a:rPr>
                        <a:t>…</a:t>
                      </a:r>
                      <a:endParaRPr sz="1950">
                        <a:latin typeface="宋体"/>
                        <a:cs typeface="宋体"/>
                      </a:endParaRPr>
                    </a:p>
                  </a:txBody>
                  <a:tcPr marL="0" marR="0" marB="0" marT="679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9718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13" name="object 13" descr=""/>
          <p:cNvSpPr txBox="1"/>
          <p:nvPr/>
        </p:nvSpPr>
        <p:spPr>
          <a:xfrm>
            <a:off x="3263195" y="5658901"/>
            <a:ext cx="839469" cy="287655"/>
          </a:xfrm>
          <a:prstGeom prst="rect">
            <a:avLst/>
          </a:prstGeom>
        </p:spPr>
        <p:txBody>
          <a:bodyPr wrap="square" lIns="0" tIns="15240" rIns="0" bIns="0" rtlCol="0" vert="horz">
            <a:spAutoFit/>
          </a:bodyPr>
          <a:lstStyle/>
          <a:p>
            <a:pPr marL="12700">
              <a:lnSpc>
                <a:spcPct val="100000"/>
              </a:lnSpc>
              <a:spcBef>
                <a:spcPts val="120"/>
              </a:spcBef>
            </a:pPr>
            <a:r>
              <a:rPr dirty="0" sz="1700" spc="-110">
                <a:solidFill>
                  <a:srgbClr val="0000FF"/>
                </a:solidFill>
                <a:latin typeface="宋体"/>
                <a:cs typeface="宋体"/>
              </a:rPr>
              <a:t>存储体 </a:t>
            </a:r>
            <a:r>
              <a:rPr dirty="0" sz="1700" spc="-50">
                <a:solidFill>
                  <a:srgbClr val="0000FF"/>
                </a:solidFill>
                <a:latin typeface="宋体"/>
                <a:cs typeface="宋体"/>
              </a:rPr>
              <a:t>0</a:t>
            </a:r>
            <a:endParaRPr sz="1700">
              <a:latin typeface="宋体"/>
              <a:cs typeface="宋体"/>
            </a:endParaRPr>
          </a:p>
        </p:txBody>
      </p:sp>
      <p:sp>
        <p:nvSpPr>
          <p:cNvPr id="14" name="object 14" descr=""/>
          <p:cNvSpPr txBox="1"/>
          <p:nvPr/>
        </p:nvSpPr>
        <p:spPr>
          <a:xfrm>
            <a:off x="2312985" y="5332855"/>
            <a:ext cx="896619" cy="287655"/>
          </a:xfrm>
          <a:prstGeom prst="rect">
            <a:avLst/>
          </a:prstGeom>
        </p:spPr>
        <p:txBody>
          <a:bodyPr wrap="square" lIns="0" tIns="15240" rIns="0" bIns="0" rtlCol="0" vert="horz">
            <a:spAutoFit/>
          </a:bodyPr>
          <a:lstStyle/>
          <a:p>
            <a:pPr marL="12700">
              <a:lnSpc>
                <a:spcPct val="100000"/>
              </a:lnSpc>
              <a:spcBef>
                <a:spcPts val="120"/>
              </a:spcBef>
            </a:pPr>
            <a:r>
              <a:rPr dirty="0" sz="1700" spc="-10">
                <a:solidFill>
                  <a:srgbClr val="FF6600"/>
                </a:solidFill>
                <a:latin typeface="宋体"/>
                <a:cs typeface="宋体"/>
              </a:rPr>
              <a:t>0..0</a:t>
            </a:r>
            <a:r>
              <a:rPr dirty="0" sz="1700" spc="-10">
                <a:latin typeface="宋体"/>
                <a:cs typeface="宋体"/>
              </a:rPr>
              <a:t>F..F</a:t>
            </a:r>
            <a:endParaRPr sz="1700">
              <a:latin typeface="宋体"/>
              <a:cs typeface="宋体"/>
            </a:endParaRPr>
          </a:p>
        </p:txBody>
      </p:sp>
      <p:sp>
        <p:nvSpPr>
          <p:cNvPr id="15" name="object 15" descr=""/>
          <p:cNvSpPr txBox="1"/>
          <p:nvPr/>
        </p:nvSpPr>
        <p:spPr>
          <a:xfrm>
            <a:off x="2637885" y="4623142"/>
            <a:ext cx="278765" cy="328930"/>
          </a:xfrm>
          <a:prstGeom prst="rect">
            <a:avLst/>
          </a:prstGeom>
        </p:spPr>
        <p:txBody>
          <a:bodyPr wrap="square" lIns="0" tIns="17145" rIns="0" bIns="0" rtlCol="0" vert="horz">
            <a:spAutoFit/>
          </a:bodyPr>
          <a:lstStyle/>
          <a:p>
            <a:pPr marL="12700">
              <a:lnSpc>
                <a:spcPct val="100000"/>
              </a:lnSpc>
              <a:spcBef>
                <a:spcPts val="135"/>
              </a:spcBef>
            </a:pPr>
            <a:r>
              <a:rPr dirty="0" sz="1950" spc="-50">
                <a:latin typeface="宋体"/>
                <a:cs typeface="宋体"/>
              </a:rPr>
              <a:t>…</a:t>
            </a:r>
            <a:endParaRPr sz="1950">
              <a:latin typeface="宋体"/>
              <a:cs typeface="宋体"/>
            </a:endParaRPr>
          </a:p>
        </p:txBody>
      </p:sp>
      <p:sp>
        <p:nvSpPr>
          <p:cNvPr id="16" name="object 16" descr=""/>
          <p:cNvSpPr txBox="1"/>
          <p:nvPr/>
        </p:nvSpPr>
        <p:spPr>
          <a:xfrm>
            <a:off x="4866690" y="3671492"/>
            <a:ext cx="896619" cy="621665"/>
          </a:xfrm>
          <a:prstGeom prst="rect">
            <a:avLst/>
          </a:prstGeom>
        </p:spPr>
        <p:txBody>
          <a:bodyPr wrap="square" lIns="0" tIns="50800" rIns="0" bIns="0" rtlCol="0" vert="horz">
            <a:spAutoFit/>
          </a:bodyPr>
          <a:lstStyle/>
          <a:p>
            <a:pPr marL="12700">
              <a:lnSpc>
                <a:spcPct val="100000"/>
              </a:lnSpc>
              <a:spcBef>
                <a:spcPts val="400"/>
              </a:spcBef>
            </a:pPr>
            <a:r>
              <a:rPr dirty="0" sz="1700" spc="-10">
                <a:solidFill>
                  <a:srgbClr val="FF6600"/>
                </a:solidFill>
                <a:latin typeface="宋体"/>
                <a:cs typeface="宋体"/>
              </a:rPr>
              <a:t>0..1</a:t>
            </a:r>
            <a:r>
              <a:rPr dirty="0" sz="1700" spc="-10">
                <a:latin typeface="宋体"/>
                <a:cs typeface="宋体"/>
              </a:rPr>
              <a:t>0..0</a:t>
            </a:r>
            <a:endParaRPr sz="1700">
              <a:latin typeface="宋体"/>
              <a:cs typeface="宋体"/>
            </a:endParaRPr>
          </a:p>
          <a:p>
            <a:pPr marL="12700">
              <a:lnSpc>
                <a:spcPct val="100000"/>
              </a:lnSpc>
              <a:spcBef>
                <a:spcPts val="305"/>
              </a:spcBef>
            </a:pPr>
            <a:r>
              <a:rPr dirty="0" sz="1700" spc="-10">
                <a:solidFill>
                  <a:srgbClr val="FF6600"/>
                </a:solidFill>
                <a:latin typeface="宋体"/>
                <a:cs typeface="宋体"/>
              </a:rPr>
              <a:t>0..1</a:t>
            </a:r>
            <a:r>
              <a:rPr dirty="0" sz="1700" spc="-10">
                <a:latin typeface="宋体"/>
                <a:cs typeface="宋体"/>
              </a:rPr>
              <a:t>0..1</a:t>
            </a:r>
            <a:endParaRPr sz="1700">
              <a:latin typeface="宋体"/>
              <a:cs typeface="宋体"/>
            </a:endParaRPr>
          </a:p>
        </p:txBody>
      </p:sp>
      <p:graphicFrame>
        <p:nvGraphicFramePr>
          <p:cNvPr id="17" name="object 17" descr=""/>
          <p:cNvGraphicFramePr>
            <a:graphicFrameLocks noGrp="1"/>
          </p:cNvGraphicFramePr>
          <p:nvPr/>
        </p:nvGraphicFramePr>
        <p:xfrm>
          <a:off x="5827005" y="3690019"/>
          <a:ext cx="895350" cy="1920875"/>
        </p:xfrm>
        <a:graphic>
          <a:graphicData uri="http://schemas.openxmlformats.org/drawingml/2006/table">
            <a:tbl>
              <a:tblPr firstRow="1" bandRow="1">
                <a:tableStyleId>{2D5ABB26-0587-4C30-8999-92F81FD0307C}</a:tableStyleId>
              </a:tblPr>
              <a:tblGrid>
                <a:gridCol w="801370"/>
              </a:tblGrid>
              <a:tr h="29718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91465">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1035050">
                <a:tc>
                  <a:txBody>
                    <a:bodyPr/>
                    <a:lstStyle/>
                    <a:p>
                      <a:pPr>
                        <a:lnSpc>
                          <a:spcPct val="100000"/>
                        </a:lnSpc>
                        <a:spcBef>
                          <a:spcPts val="535"/>
                        </a:spcBef>
                      </a:pPr>
                      <a:endParaRPr sz="1950">
                        <a:latin typeface="Times New Roman"/>
                        <a:cs typeface="Times New Roman"/>
                      </a:endParaRPr>
                    </a:p>
                    <a:p>
                      <a:pPr marL="296545">
                        <a:lnSpc>
                          <a:spcPct val="100000"/>
                        </a:lnSpc>
                      </a:pPr>
                      <a:r>
                        <a:rPr dirty="0" sz="1950" spc="-50">
                          <a:latin typeface="宋体"/>
                          <a:cs typeface="宋体"/>
                        </a:rPr>
                        <a:t>…</a:t>
                      </a:r>
                      <a:endParaRPr sz="1950">
                        <a:latin typeface="宋体"/>
                        <a:cs typeface="宋体"/>
                      </a:endParaRPr>
                    </a:p>
                  </a:txBody>
                  <a:tcPr marL="0" marR="0" marB="0" marT="679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9718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18" name="object 18" descr=""/>
          <p:cNvSpPr txBox="1"/>
          <p:nvPr/>
        </p:nvSpPr>
        <p:spPr>
          <a:xfrm>
            <a:off x="5822860" y="5658901"/>
            <a:ext cx="839469" cy="287655"/>
          </a:xfrm>
          <a:prstGeom prst="rect">
            <a:avLst/>
          </a:prstGeom>
        </p:spPr>
        <p:txBody>
          <a:bodyPr wrap="square" lIns="0" tIns="15240" rIns="0" bIns="0" rtlCol="0" vert="horz">
            <a:spAutoFit/>
          </a:bodyPr>
          <a:lstStyle/>
          <a:p>
            <a:pPr marL="12700">
              <a:lnSpc>
                <a:spcPct val="100000"/>
              </a:lnSpc>
              <a:spcBef>
                <a:spcPts val="120"/>
              </a:spcBef>
            </a:pPr>
            <a:r>
              <a:rPr dirty="0" sz="1700" spc="-110">
                <a:solidFill>
                  <a:srgbClr val="0000FF"/>
                </a:solidFill>
                <a:latin typeface="宋体"/>
                <a:cs typeface="宋体"/>
              </a:rPr>
              <a:t>存储体 </a:t>
            </a:r>
            <a:r>
              <a:rPr dirty="0" sz="1700" spc="-50">
                <a:solidFill>
                  <a:srgbClr val="0000FF"/>
                </a:solidFill>
                <a:latin typeface="宋体"/>
                <a:cs typeface="宋体"/>
              </a:rPr>
              <a:t>1</a:t>
            </a:r>
            <a:endParaRPr sz="1700">
              <a:latin typeface="宋体"/>
              <a:cs typeface="宋体"/>
            </a:endParaRPr>
          </a:p>
        </p:txBody>
      </p:sp>
      <p:sp>
        <p:nvSpPr>
          <p:cNvPr id="19" name="object 19" descr=""/>
          <p:cNvSpPr txBox="1"/>
          <p:nvPr/>
        </p:nvSpPr>
        <p:spPr>
          <a:xfrm>
            <a:off x="4866690" y="5332855"/>
            <a:ext cx="896619" cy="287655"/>
          </a:xfrm>
          <a:prstGeom prst="rect">
            <a:avLst/>
          </a:prstGeom>
        </p:spPr>
        <p:txBody>
          <a:bodyPr wrap="square" lIns="0" tIns="15240" rIns="0" bIns="0" rtlCol="0" vert="horz">
            <a:spAutoFit/>
          </a:bodyPr>
          <a:lstStyle/>
          <a:p>
            <a:pPr marL="12700">
              <a:lnSpc>
                <a:spcPct val="100000"/>
              </a:lnSpc>
              <a:spcBef>
                <a:spcPts val="120"/>
              </a:spcBef>
            </a:pPr>
            <a:r>
              <a:rPr dirty="0" sz="1700" spc="-10">
                <a:solidFill>
                  <a:srgbClr val="FF6600"/>
                </a:solidFill>
                <a:latin typeface="宋体"/>
                <a:cs typeface="宋体"/>
              </a:rPr>
              <a:t>0..1</a:t>
            </a:r>
            <a:r>
              <a:rPr dirty="0" sz="1700" spc="-10">
                <a:latin typeface="宋体"/>
                <a:cs typeface="宋体"/>
              </a:rPr>
              <a:t>F..F</a:t>
            </a:r>
            <a:endParaRPr sz="1700">
              <a:latin typeface="宋体"/>
              <a:cs typeface="宋体"/>
            </a:endParaRPr>
          </a:p>
        </p:txBody>
      </p:sp>
      <p:sp>
        <p:nvSpPr>
          <p:cNvPr id="20" name="object 20" descr=""/>
          <p:cNvSpPr txBox="1"/>
          <p:nvPr/>
        </p:nvSpPr>
        <p:spPr>
          <a:xfrm>
            <a:off x="5191688" y="4623142"/>
            <a:ext cx="278765" cy="328930"/>
          </a:xfrm>
          <a:prstGeom prst="rect">
            <a:avLst/>
          </a:prstGeom>
        </p:spPr>
        <p:txBody>
          <a:bodyPr wrap="square" lIns="0" tIns="17145" rIns="0" bIns="0" rtlCol="0" vert="horz">
            <a:spAutoFit/>
          </a:bodyPr>
          <a:lstStyle/>
          <a:p>
            <a:pPr marL="12700">
              <a:lnSpc>
                <a:spcPct val="100000"/>
              </a:lnSpc>
              <a:spcBef>
                <a:spcPts val="135"/>
              </a:spcBef>
            </a:pPr>
            <a:r>
              <a:rPr dirty="0" sz="1950" spc="-50">
                <a:latin typeface="宋体"/>
                <a:cs typeface="宋体"/>
              </a:rPr>
              <a:t>…</a:t>
            </a:r>
            <a:endParaRPr sz="1950">
              <a:latin typeface="宋体"/>
              <a:cs typeface="宋体"/>
            </a:endParaRPr>
          </a:p>
        </p:txBody>
      </p:sp>
      <p:sp>
        <p:nvSpPr>
          <p:cNvPr id="21" name="object 21" descr=""/>
          <p:cNvSpPr txBox="1"/>
          <p:nvPr/>
        </p:nvSpPr>
        <p:spPr>
          <a:xfrm>
            <a:off x="8027314" y="3671492"/>
            <a:ext cx="896619" cy="621665"/>
          </a:xfrm>
          <a:prstGeom prst="rect">
            <a:avLst/>
          </a:prstGeom>
        </p:spPr>
        <p:txBody>
          <a:bodyPr wrap="square" lIns="0" tIns="50800" rIns="0" bIns="0" rtlCol="0" vert="horz">
            <a:spAutoFit/>
          </a:bodyPr>
          <a:lstStyle/>
          <a:p>
            <a:pPr marL="12700">
              <a:lnSpc>
                <a:spcPct val="100000"/>
              </a:lnSpc>
              <a:spcBef>
                <a:spcPts val="400"/>
              </a:spcBef>
            </a:pPr>
            <a:r>
              <a:rPr dirty="0" sz="1700" spc="-10">
                <a:solidFill>
                  <a:srgbClr val="FF6600"/>
                </a:solidFill>
                <a:latin typeface="宋体"/>
                <a:cs typeface="宋体"/>
              </a:rPr>
              <a:t>F..F</a:t>
            </a:r>
            <a:r>
              <a:rPr dirty="0" sz="1700" spc="-10">
                <a:latin typeface="宋体"/>
                <a:cs typeface="宋体"/>
              </a:rPr>
              <a:t>0..0</a:t>
            </a:r>
            <a:endParaRPr sz="1700">
              <a:latin typeface="宋体"/>
              <a:cs typeface="宋体"/>
            </a:endParaRPr>
          </a:p>
          <a:p>
            <a:pPr marL="12700">
              <a:lnSpc>
                <a:spcPct val="100000"/>
              </a:lnSpc>
              <a:spcBef>
                <a:spcPts val="305"/>
              </a:spcBef>
            </a:pPr>
            <a:r>
              <a:rPr dirty="0" sz="1700" spc="-10">
                <a:solidFill>
                  <a:srgbClr val="FF6600"/>
                </a:solidFill>
                <a:latin typeface="宋体"/>
                <a:cs typeface="宋体"/>
              </a:rPr>
              <a:t>F..F</a:t>
            </a:r>
            <a:r>
              <a:rPr dirty="0" sz="1700" spc="-10">
                <a:latin typeface="宋体"/>
                <a:cs typeface="宋体"/>
              </a:rPr>
              <a:t>0..1</a:t>
            </a:r>
            <a:endParaRPr sz="1700">
              <a:latin typeface="宋体"/>
              <a:cs typeface="宋体"/>
            </a:endParaRPr>
          </a:p>
        </p:txBody>
      </p:sp>
      <p:graphicFrame>
        <p:nvGraphicFramePr>
          <p:cNvPr id="22" name="object 22" descr=""/>
          <p:cNvGraphicFramePr>
            <a:graphicFrameLocks noGrp="1"/>
          </p:cNvGraphicFramePr>
          <p:nvPr/>
        </p:nvGraphicFramePr>
        <p:xfrm>
          <a:off x="8982148" y="3690019"/>
          <a:ext cx="895350" cy="1920875"/>
        </p:xfrm>
        <a:graphic>
          <a:graphicData uri="http://schemas.openxmlformats.org/drawingml/2006/table">
            <a:tbl>
              <a:tblPr firstRow="1" bandRow="1">
                <a:tableStyleId>{2D5ABB26-0587-4C30-8999-92F81FD0307C}</a:tableStyleId>
              </a:tblPr>
              <a:tblGrid>
                <a:gridCol w="801370"/>
              </a:tblGrid>
              <a:tr h="29718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91465">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1035050">
                <a:tc>
                  <a:txBody>
                    <a:bodyPr/>
                    <a:lstStyle/>
                    <a:p>
                      <a:pPr>
                        <a:lnSpc>
                          <a:spcPct val="100000"/>
                        </a:lnSpc>
                        <a:spcBef>
                          <a:spcPts val="535"/>
                        </a:spcBef>
                      </a:pPr>
                      <a:endParaRPr sz="1950">
                        <a:latin typeface="Times New Roman"/>
                        <a:cs typeface="Times New Roman"/>
                      </a:endParaRPr>
                    </a:p>
                    <a:p>
                      <a:pPr marL="295910">
                        <a:lnSpc>
                          <a:spcPct val="100000"/>
                        </a:lnSpc>
                      </a:pPr>
                      <a:r>
                        <a:rPr dirty="0" sz="1950" spc="-50">
                          <a:latin typeface="宋体"/>
                          <a:cs typeface="宋体"/>
                        </a:rPr>
                        <a:t>…</a:t>
                      </a:r>
                      <a:endParaRPr sz="1950">
                        <a:latin typeface="宋体"/>
                        <a:cs typeface="宋体"/>
                      </a:endParaRPr>
                    </a:p>
                  </a:txBody>
                  <a:tcPr marL="0" marR="0" marB="0" marT="6794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97180">
                <a:tc>
                  <a:txBody>
                    <a:bodyPr/>
                    <a:lstStyle/>
                    <a:p>
                      <a:pPr>
                        <a:lnSpc>
                          <a:spcPct val="100000"/>
                        </a:lnSpc>
                      </a:pPr>
                      <a:endParaRPr sz="18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23" name="object 23" descr=""/>
          <p:cNvSpPr txBox="1"/>
          <p:nvPr/>
        </p:nvSpPr>
        <p:spPr>
          <a:xfrm>
            <a:off x="8903664" y="5664765"/>
            <a:ext cx="1057275" cy="287655"/>
          </a:xfrm>
          <a:prstGeom prst="rect">
            <a:avLst/>
          </a:prstGeom>
        </p:spPr>
        <p:txBody>
          <a:bodyPr wrap="square" lIns="0" tIns="15240" rIns="0" bIns="0" rtlCol="0" vert="horz">
            <a:spAutoFit/>
          </a:bodyPr>
          <a:lstStyle/>
          <a:p>
            <a:pPr marL="12700">
              <a:lnSpc>
                <a:spcPct val="100000"/>
              </a:lnSpc>
              <a:spcBef>
                <a:spcPts val="120"/>
              </a:spcBef>
            </a:pPr>
            <a:r>
              <a:rPr dirty="0" sz="1700" spc="-110">
                <a:solidFill>
                  <a:srgbClr val="0000FF"/>
                </a:solidFill>
                <a:latin typeface="宋体"/>
                <a:cs typeface="宋体"/>
              </a:rPr>
              <a:t>存储体 </a:t>
            </a:r>
            <a:r>
              <a:rPr dirty="0" sz="1700">
                <a:solidFill>
                  <a:srgbClr val="0000FF"/>
                </a:solidFill>
                <a:latin typeface="宋体"/>
                <a:cs typeface="宋体"/>
              </a:rPr>
              <a:t>m-</a:t>
            </a:r>
            <a:r>
              <a:rPr dirty="0" sz="1700" spc="-50">
                <a:solidFill>
                  <a:srgbClr val="0000FF"/>
                </a:solidFill>
                <a:latin typeface="宋体"/>
                <a:cs typeface="宋体"/>
              </a:rPr>
              <a:t>1</a:t>
            </a:r>
            <a:endParaRPr sz="1700">
              <a:latin typeface="宋体"/>
              <a:cs typeface="宋体"/>
            </a:endParaRPr>
          </a:p>
        </p:txBody>
      </p:sp>
      <p:sp>
        <p:nvSpPr>
          <p:cNvPr id="24" name="object 24" descr=""/>
          <p:cNvSpPr txBox="1"/>
          <p:nvPr/>
        </p:nvSpPr>
        <p:spPr>
          <a:xfrm>
            <a:off x="8027314" y="5332855"/>
            <a:ext cx="896619" cy="287655"/>
          </a:xfrm>
          <a:prstGeom prst="rect">
            <a:avLst/>
          </a:prstGeom>
        </p:spPr>
        <p:txBody>
          <a:bodyPr wrap="square" lIns="0" tIns="15240" rIns="0" bIns="0" rtlCol="0" vert="horz">
            <a:spAutoFit/>
          </a:bodyPr>
          <a:lstStyle/>
          <a:p>
            <a:pPr marL="12700">
              <a:lnSpc>
                <a:spcPct val="100000"/>
              </a:lnSpc>
              <a:spcBef>
                <a:spcPts val="120"/>
              </a:spcBef>
            </a:pPr>
            <a:r>
              <a:rPr dirty="0" sz="1700" spc="-10">
                <a:solidFill>
                  <a:srgbClr val="FF6600"/>
                </a:solidFill>
                <a:latin typeface="宋体"/>
                <a:cs typeface="宋体"/>
              </a:rPr>
              <a:t>F..F</a:t>
            </a:r>
            <a:r>
              <a:rPr dirty="0" sz="1700" spc="-10">
                <a:latin typeface="宋体"/>
                <a:cs typeface="宋体"/>
              </a:rPr>
              <a:t>F..F</a:t>
            </a:r>
            <a:endParaRPr sz="1700">
              <a:latin typeface="宋体"/>
              <a:cs typeface="宋体"/>
            </a:endParaRPr>
          </a:p>
        </p:txBody>
      </p:sp>
      <p:sp>
        <p:nvSpPr>
          <p:cNvPr id="25" name="object 25" descr=""/>
          <p:cNvSpPr txBox="1"/>
          <p:nvPr/>
        </p:nvSpPr>
        <p:spPr>
          <a:xfrm>
            <a:off x="8346831" y="4623142"/>
            <a:ext cx="278765" cy="328930"/>
          </a:xfrm>
          <a:prstGeom prst="rect">
            <a:avLst/>
          </a:prstGeom>
        </p:spPr>
        <p:txBody>
          <a:bodyPr wrap="square" lIns="0" tIns="17145" rIns="0" bIns="0" rtlCol="0" vert="horz">
            <a:spAutoFit/>
          </a:bodyPr>
          <a:lstStyle/>
          <a:p>
            <a:pPr marL="12700">
              <a:lnSpc>
                <a:spcPct val="100000"/>
              </a:lnSpc>
              <a:spcBef>
                <a:spcPts val="135"/>
              </a:spcBef>
            </a:pPr>
            <a:r>
              <a:rPr dirty="0" sz="1950" spc="-50">
                <a:latin typeface="宋体"/>
                <a:cs typeface="宋体"/>
              </a:rPr>
              <a:t>…</a:t>
            </a:r>
            <a:endParaRPr sz="1950">
              <a:latin typeface="宋体"/>
              <a:cs typeface="宋体"/>
            </a:endParaRPr>
          </a:p>
        </p:txBody>
      </p:sp>
      <p:sp>
        <p:nvSpPr>
          <p:cNvPr id="26" name="object 26" descr=""/>
          <p:cNvSpPr txBox="1"/>
          <p:nvPr/>
        </p:nvSpPr>
        <p:spPr>
          <a:xfrm>
            <a:off x="6996806" y="4491797"/>
            <a:ext cx="529590" cy="328930"/>
          </a:xfrm>
          <a:prstGeom prst="rect">
            <a:avLst/>
          </a:prstGeom>
        </p:spPr>
        <p:txBody>
          <a:bodyPr wrap="square" lIns="0" tIns="17145" rIns="0" bIns="0" rtlCol="0" vert="horz">
            <a:spAutoFit/>
          </a:bodyPr>
          <a:lstStyle/>
          <a:p>
            <a:pPr marL="12700">
              <a:lnSpc>
                <a:spcPct val="100000"/>
              </a:lnSpc>
              <a:spcBef>
                <a:spcPts val="135"/>
              </a:spcBef>
            </a:pPr>
            <a:r>
              <a:rPr dirty="0" sz="1950" spc="-25">
                <a:latin typeface="宋体"/>
                <a:cs typeface="宋体"/>
              </a:rPr>
              <a:t>……</a:t>
            </a:r>
            <a:endParaRPr sz="1950">
              <a:latin typeface="宋体"/>
              <a:cs typeface="宋体"/>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p:nvPr/>
        </p:nvSpPr>
        <p:spPr>
          <a:xfrm>
            <a:off x="4987680" y="5265509"/>
            <a:ext cx="255270" cy="0"/>
          </a:xfrm>
          <a:custGeom>
            <a:avLst/>
            <a:gdLst/>
            <a:ahLst/>
            <a:cxnLst/>
            <a:rect l="l" t="t" r="r" b="b"/>
            <a:pathLst>
              <a:path w="255270" h="0">
                <a:moveTo>
                  <a:pt x="0" y="0"/>
                </a:moveTo>
                <a:lnTo>
                  <a:pt x="254972" y="0"/>
                </a:lnTo>
              </a:path>
            </a:pathLst>
          </a:custGeom>
          <a:ln w="13464">
            <a:solidFill>
              <a:srgbClr val="000000"/>
            </a:solidFill>
          </a:ln>
        </p:spPr>
        <p:txBody>
          <a:bodyPr wrap="square" lIns="0" tIns="0" rIns="0" bIns="0" rtlCol="0"/>
          <a:lstStyle/>
          <a:p/>
        </p:txBody>
      </p:sp>
      <p:sp>
        <p:nvSpPr>
          <p:cNvPr id="10" name="object 10" descr=""/>
          <p:cNvSpPr txBox="1"/>
          <p:nvPr/>
        </p:nvSpPr>
        <p:spPr>
          <a:xfrm>
            <a:off x="1233805" y="1337874"/>
            <a:ext cx="10324465" cy="4222115"/>
          </a:xfrm>
          <a:prstGeom prst="rect">
            <a:avLst/>
          </a:prstGeom>
        </p:spPr>
        <p:txBody>
          <a:bodyPr wrap="square" lIns="0" tIns="167640" rIns="0" bIns="0" rtlCol="0" vert="horz">
            <a:spAutoFit/>
          </a:bodyPr>
          <a:lstStyle/>
          <a:p>
            <a:pPr marL="494665" indent="-456565">
              <a:lnSpc>
                <a:spcPct val="100000"/>
              </a:lnSpc>
              <a:spcBef>
                <a:spcPts val="1320"/>
              </a:spcBef>
              <a:buSzPct val="89583"/>
              <a:buFont typeface="Wingdings"/>
              <a:buChar char=""/>
              <a:tabLst>
                <a:tab pos="494665" algn="l"/>
              </a:tabLst>
            </a:pPr>
            <a:r>
              <a:rPr dirty="0" sz="2400">
                <a:solidFill>
                  <a:srgbClr val="40458B"/>
                </a:solidFill>
                <a:latin typeface="黑体"/>
                <a:cs typeface="黑体"/>
              </a:rPr>
              <a:t>处于第</a:t>
            </a:r>
            <a:r>
              <a:rPr dirty="0" sz="2400">
                <a:solidFill>
                  <a:srgbClr val="9933FF"/>
                </a:solidFill>
                <a:latin typeface="Times New Roman"/>
                <a:cs typeface="Times New Roman"/>
              </a:rPr>
              <a:t>i</a:t>
            </a:r>
            <a:r>
              <a:rPr dirty="0" sz="2400">
                <a:solidFill>
                  <a:srgbClr val="40458B"/>
                </a:solidFill>
                <a:latin typeface="黑体"/>
                <a:cs typeface="黑体"/>
              </a:rPr>
              <a:t>行第</a:t>
            </a:r>
            <a:r>
              <a:rPr dirty="0" sz="2400">
                <a:solidFill>
                  <a:srgbClr val="9933FF"/>
                </a:solidFill>
                <a:latin typeface="Times New Roman"/>
                <a:cs typeface="Times New Roman"/>
              </a:rPr>
              <a:t>j</a:t>
            </a:r>
            <a:r>
              <a:rPr dirty="0" sz="2400">
                <a:solidFill>
                  <a:srgbClr val="40458B"/>
                </a:solidFill>
                <a:latin typeface="黑体"/>
                <a:cs typeface="黑体"/>
              </a:rPr>
              <a:t>列的单元，即体号为</a:t>
            </a:r>
            <a:r>
              <a:rPr dirty="0" sz="2400">
                <a:solidFill>
                  <a:srgbClr val="9933FF"/>
                </a:solidFill>
                <a:latin typeface="Times New Roman"/>
                <a:cs typeface="Times New Roman"/>
              </a:rPr>
              <a:t>j</a:t>
            </a:r>
            <a:r>
              <a:rPr dirty="0" sz="2400">
                <a:solidFill>
                  <a:srgbClr val="40458B"/>
                </a:solidFill>
                <a:latin typeface="黑体"/>
                <a:cs typeface="黑体"/>
              </a:rPr>
              <a:t>、体内地址为</a:t>
            </a:r>
            <a:r>
              <a:rPr dirty="0" sz="2400">
                <a:solidFill>
                  <a:srgbClr val="9933FF"/>
                </a:solidFill>
                <a:latin typeface="Times New Roman"/>
                <a:cs typeface="Times New Roman"/>
              </a:rPr>
              <a:t>i</a:t>
            </a:r>
            <a:r>
              <a:rPr dirty="0" sz="2400" spc="-5">
                <a:solidFill>
                  <a:srgbClr val="40458B"/>
                </a:solidFill>
                <a:latin typeface="黑体"/>
                <a:cs typeface="黑体"/>
              </a:rPr>
              <a:t>的单元，其线性地址为：</a:t>
            </a:r>
            <a:endParaRPr sz="2400">
              <a:latin typeface="黑体"/>
              <a:cs typeface="黑体"/>
            </a:endParaRPr>
          </a:p>
          <a:p>
            <a:pPr marL="1873250">
              <a:lnSpc>
                <a:spcPct val="100000"/>
              </a:lnSpc>
              <a:spcBef>
                <a:spcPts val="1025"/>
              </a:spcBef>
            </a:pPr>
            <a:r>
              <a:rPr dirty="0" sz="2000" spc="-10" b="1">
                <a:solidFill>
                  <a:srgbClr val="D50092"/>
                </a:solidFill>
                <a:latin typeface="Times New Roman"/>
                <a:cs typeface="Times New Roman"/>
              </a:rPr>
              <a:t>A</a:t>
            </a:r>
            <a:r>
              <a:rPr dirty="0" sz="2000" spc="-10" b="1">
                <a:solidFill>
                  <a:srgbClr val="D50092"/>
                </a:solidFill>
                <a:latin typeface="宋体"/>
                <a:cs typeface="宋体"/>
              </a:rPr>
              <a:t>＝</a:t>
            </a:r>
            <a:r>
              <a:rPr dirty="0" sz="2000" spc="-10" b="1">
                <a:solidFill>
                  <a:srgbClr val="D50092"/>
                </a:solidFill>
                <a:latin typeface="Times New Roman"/>
                <a:cs typeface="Times New Roman"/>
              </a:rPr>
              <a:t>j</a:t>
            </a:r>
            <a:r>
              <a:rPr dirty="0" sz="2000" spc="-10" b="1">
                <a:solidFill>
                  <a:srgbClr val="D50092"/>
                </a:solidFill>
                <a:latin typeface="宋体"/>
                <a:cs typeface="宋体"/>
              </a:rPr>
              <a:t>×</a:t>
            </a:r>
            <a:r>
              <a:rPr dirty="0" sz="2000" spc="-10" b="1">
                <a:solidFill>
                  <a:srgbClr val="D50092"/>
                </a:solidFill>
                <a:latin typeface="Times New Roman"/>
                <a:cs typeface="Times New Roman"/>
              </a:rPr>
              <a:t>n</a:t>
            </a:r>
            <a:r>
              <a:rPr dirty="0" sz="2000" spc="-10" b="1">
                <a:solidFill>
                  <a:srgbClr val="D50092"/>
                </a:solidFill>
                <a:latin typeface="宋体"/>
                <a:cs typeface="宋体"/>
              </a:rPr>
              <a:t>＋</a:t>
            </a:r>
            <a:r>
              <a:rPr dirty="0" sz="2000" spc="-10" b="1">
                <a:solidFill>
                  <a:srgbClr val="D50092"/>
                </a:solidFill>
                <a:latin typeface="Times New Roman"/>
                <a:cs typeface="Times New Roman"/>
              </a:rPr>
              <a:t>i</a:t>
            </a:r>
            <a:endParaRPr sz="2000">
              <a:latin typeface="Times New Roman"/>
              <a:cs typeface="Times New Roman"/>
            </a:endParaRPr>
          </a:p>
          <a:p>
            <a:pPr marL="665480">
              <a:lnSpc>
                <a:spcPct val="100000"/>
              </a:lnSpc>
              <a:spcBef>
                <a:spcPts val="960"/>
              </a:spcBef>
            </a:pPr>
            <a:r>
              <a:rPr dirty="0" sz="2000" spc="-15" b="1">
                <a:latin typeface="宋体"/>
                <a:cs typeface="宋体"/>
              </a:rPr>
              <a:t>其中：</a:t>
            </a:r>
            <a:r>
              <a:rPr dirty="0" sz="2000" spc="-10" b="1">
                <a:latin typeface="Times New Roman"/>
                <a:cs typeface="Times New Roman"/>
              </a:rPr>
              <a:t>j</a:t>
            </a:r>
            <a:r>
              <a:rPr dirty="0" sz="2000" spc="-10" b="1">
                <a:latin typeface="宋体"/>
                <a:cs typeface="宋体"/>
              </a:rPr>
              <a:t>＝０，</a:t>
            </a:r>
            <a:r>
              <a:rPr dirty="0" sz="2000" spc="-10" b="1">
                <a:latin typeface="Times New Roman"/>
                <a:cs typeface="Times New Roman"/>
              </a:rPr>
              <a:t>1</a:t>
            </a: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10" b="1">
                <a:latin typeface="Times New Roman"/>
                <a:cs typeface="Times New Roman"/>
              </a:rPr>
              <a:t>…</a:t>
            </a:r>
            <a:r>
              <a:rPr dirty="0" sz="2000" spc="-10" b="1">
                <a:latin typeface="宋体"/>
                <a:cs typeface="宋体"/>
              </a:rPr>
              <a:t>，</a:t>
            </a:r>
            <a:r>
              <a:rPr dirty="0" sz="2000" spc="-10" b="1">
                <a:latin typeface="Times New Roman"/>
                <a:cs typeface="Times New Roman"/>
              </a:rPr>
              <a:t>m</a:t>
            </a:r>
            <a:r>
              <a:rPr dirty="0" sz="2000" spc="-10" b="1">
                <a:latin typeface="宋体"/>
                <a:cs typeface="宋体"/>
              </a:rPr>
              <a:t>－</a:t>
            </a:r>
            <a:r>
              <a:rPr dirty="0" sz="2000" spc="-10" b="1">
                <a:latin typeface="Times New Roman"/>
                <a:cs typeface="Times New Roman"/>
              </a:rPr>
              <a:t>1</a:t>
            </a:r>
            <a:endParaRPr sz="2000">
              <a:latin typeface="Times New Roman"/>
              <a:cs typeface="Times New Roman"/>
            </a:endParaRPr>
          </a:p>
          <a:p>
            <a:pPr marL="1427480">
              <a:lnSpc>
                <a:spcPct val="100000"/>
              </a:lnSpc>
              <a:spcBef>
                <a:spcPts val="960"/>
              </a:spcBef>
            </a:pPr>
            <a:r>
              <a:rPr dirty="0" sz="2000" spc="-10" b="1">
                <a:latin typeface="Times New Roman"/>
                <a:cs typeface="Times New Roman"/>
              </a:rPr>
              <a:t>i</a:t>
            </a:r>
            <a:r>
              <a:rPr dirty="0" sz="2000" spc="-10" b="1">
                <a:latin typeface="宋体"/>
                <a:cs typeface="宋体"/>
              </a:rPr>
              <a:t>＝０，</a:t>
            </a:r>
            <a:r>
              <a:rPr dirty="0" sz="2000" spc="-10" b="1">
                <a:latin typeface="Times New Roman"/>
                <a:cs typeface="Times New Roman"/>
              </a:rPr>
              <a:t>1</a:t>
            </a: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10" b="1">
                <a:latin typeface="Times New Roman"/>
                <a:cs typeface="Times New Roman"/>
              </a:rPr>
              <a:t>…</a:t>
            </a:r>
            <a:r>
              <a:rPr dirty="0" sz="2000" spc="-10" b="1">
                <a:latin typeface="宋体"/>
                <a:cs typeface="宋体"/>
              </a:rPr>
              <a:t>，</a:t>
            </a:r>
            <a:r>
              <a:rPr dirty="0" sz="2000" spc="-10" b="1">
                <a:latin typeface="Times New Roman"/>
                <a:cs typeface="Times New Roman"/>
              </a:rPr>
              <a:t>n</a:t>
            </a:r>
            <a:r>
              <a:rPr dirty="0" sz="2000" spc="-10" b="1">
                <a:latin typeface="宋体"/>
                <a:cs typeface="宋体"/>
              </a:rPr>
              <a:t>－</a:t>
            </a:r>
            <a:r>
              <a:rPr dirty="0" sz="2000" spc="-10" b="1">
                <a:latin typeface="Times New Roman"/>
                <a:cs typeface="Times New Roman"/>
              </a:rPr>
              <a:t>1</a:t>
            </a:r>
            <a:endParaRPr sz="2000">
              <a:latin typeface="Times New Roman"/>
              <a:cs typeface="Times New Roman"/>
            </a:endParaRPr>
          </a:p>
          <a:p>
            <a:pPr marL="494665" indent="-456565">
              <a:lnSpc>
                <a:spcPct val="100000"/>
              </a:lnSpc>
              <a:spcBef>
                <a:spcPts val="1090"/>
              </a:spcBef>
              <a:buSzPct val="89583"/>
              <a:buFont typeface="Wingdings"/>
              <a:buChar char=""/>
              <a:tabLst>
                <a:tab pos="494665" algn="l"/>
              </a:tabLst>
            </a:pPr>
            <a:r>
              <a:rPr dirty="0" sz="2400">
                <a:solidFill>
                  <a:srgbClr val="40458B"/>
                </a:solidFill>
                <a:latin typeface="黑体"/>
                <a:cs typeface="黑体"/>
              </a:rPr>
              <a:t>一个单元的线性地址为</a:t>
            </a:r>
            <a:r>
              <a:rPr dirty="0" sz="2400" spc="-20">
                <a:solidFill>
                  <a:srgbClr val="9933FF"/>
                </a:solidFill>
                <a:latin typeface="Times New Roman"/>
                <a:cs typeface="Times New Roman"/>
              </a:rPr>
              <a:t>A</a:t>
            </a:r>
            <a:r>
              <a:rPr dirty="0" sz="2400" spc="-10">
                <a:solidFill>
                  <a:srgbClr val="40458B"/>
                </a:solidFill>
                <a:latin typeface="黑体"/>
                <a:cs typeface="黑体"/>
              </a:rPr>
              <a:t>，则其体号</a:t>
            </a:r>
            <a:r>
              <a:rPr dirty="0" sz="2400">
                <a:solidFill>
                  <a:srgbClr val="9933FF"/>
                </a:solidFill>
                <a:latin typeface="Times New Roman"/>
                <a:cs typeface="Times New Roman"/>
              </a:rPr>
              <a:t>j</a:t>
            </a:r>
            <a:r>
              <a:rPr dirty="0" sz="2400">
                <a:solidFill>
                  <a:srgbClr val="40458B"/>
                </a:solidFill>
                <a:latin typeface="黑体"/>
                <a:cs typeface="黑体"/>
              </a:rPr>
              <a:t>和体内地址</a:t>
            </a:r>
            <a:r>
              <a:rPr dirty="0" sz="2400">
                <a:solidFill>
                  <a:srgbClr val="9933FF"/>
                </a:solidFill>
                <a:latin typeface="Times New Roman"/>
                <a:cs typeface="Times New Roman"/>
              </a:rPr>
              <a:t>i</a:t>
            </a:r>
            <a:r>
              <a:rPr dirty="0" sz="2400" spc="-25">
                <a:solidFill>
                  <a:srgbClr val="40458B"/>
                </a:solidFill>
                <a:latin typeface="黑体"/>
                <a:cs typeface="黑体"/>
              </a:rPr>
              <a:t>为：</a:t>
            </a:r>
            <a:endParaRPr sz="2400">
              <a:latin typeface="黑体"/>
              <a:cs typeface="黑体"/>
            </a:endParaRPr>
          </a:p>
          <a:p>
            <a:pPr>
              <a:lnSpc>
                <a:spcPct val="100000"/>
              </a:lnSpc>
              <a:spcBef>
                <a:spcPts val="1935"/>
              </a:spcBef>
            </a:pPr>
            <a:endParaRPr sz="2400">
              <a:latin typeface="黑体"/>
              <a:cs typeface="黑体"/>
            </a:endParaRPr>
          </a:p>
          <a:p>
            <a:pPr algn="ctr" marR="1185545">
              <a:lnSpc>
                <a:spcPct val="100000"/>
              </a:lnSpc>
              <a:spcBef>
                <a:spcPts val="5"/>
              </a:spcBef>
            </a:pPr>
            <a:r>
              <a:rPr dirty="0" sz="2000" b="1">
                <a:latin typeface="Times New Roman"/>
                <a:cs typeface="Times New Roman"/>
              </a:rPr>
              <a:t>i</a:t>
            </a:r>
            <a:r>
              <a:rPr dirty="0" sz="2000" spc="-15" b="1">
                <a:latin typeface="Times New Roman"/>
                <a:cs typeface="Times New Roman"/>
              </a:rPr>
              <a:t> </a:t>
            </a:r>
            <a:r>
              <a:rPr dirty="0" sz="2000" b="1">
                <a:latin typeface="宋体"/>
                <a:cs typeface="宋体"/>
              </a:rPr>
              <a:t>＝</a:t>
            </a:r>
            <a:r>
              <a:rPr dirty="0" sz="2000" b="1">
                <a:latin typeface="Times New Roman"/>
                <a:cs typeface="Times New Roman"/>
              </a:rPr>
              <a:t>A</a:t>
            </a:r>
            <a:r>
              <a:rPr dirty="0" sz="2000" spc="-5" b="1">
                <a:latin typeface="Times New Roman"/>
                <a:cs typeface="Times New Roman"/>
              </a:rPr>
              <a:t> </a:t>
            </a:r>
            <a:r>
              <a:rPr dirty="0" sz="2000" b="1">
                <a:latin typeface="Times New Roman"/>
                <a:cs typeface="Times New Roman"/>
              </a:rPr>
              <a:t>mod</a:t>
            </a:r>
            <a:r>
              <a:rPr dirty="0" sz="2000" spc="-25" b="1">
                <a:latin typeface="Times New Roman"/>
                <a:cs typeface="Times New Roman"/>
              </a:rPr>
              <a:t> </a:t>
            </a:r>
            <a:r>
              <a:rPr dirty="0" sz="2000" spc="-50" b="1">
                <a:latin typeface="Times New Roman"/>
                <a:cs typeface="Times New Roman"/>
              </a:rPr>
              <a:t>n</a:t>
            </a:r>
            <a:endParaRPr sz="2000">
              <a:latin typeface="Times New Roman"/>
              <a:cs typeface="Times New Roman"/>
            </a:endParaRPr>
          </a:p>
          <a:p>
            <a:pPr algn="r" marR="6159500">
              <a:lnSpc>
                <a:spcPts val="2810"/>
              </a:lnSpc>
              <a:spcBef>
                <a:spcPts val="1745"/>
              </a:spcBef>
            </a:pPr>
            <a:r>
              <a:rPr dirty="0" baseline="-30982" sz="3900" i="1">
                <a:latin typeface="Times New Roman"/>
                <a:cs typeface="Times New Roman"/>
              </a:rPr>
              <a:t>j</a:t>
            </a:r>
            <a:r>
              <a:rPr dirty="0" baseline="-30982" sz="3900" spc="52" i="1">
                <a:latin typeface="Times New Roman"/>
                <a:cs typeface="Times New Roman"/>
              </a:rPr>
              <a:t> </a:t>
            </a:r>
            <a:r>
              <a:rPr dirty="0" baseline="-30982" sz="3900">
                <a:latin typeface="Symbol"/>
                <a:cs typeface="Symbol"/>
              </a:rPr>
              <a:t></a:t>
            </a:r>
            <a:r>
              <a:rPr dirty="0" baseline="-30982" sz="3900" spc="-30">
                <a:latin typeface="Times New Roman"/>
                <a:cs typeface="Times New Roman"/>
              </a:rPr>
              <a:t> </a:t>
            </a:r>
            <a:r>
              <a:rPr dirty="0" sz="2600">
                <a:latin typeface="Symbol"/>
                <a:cs typeface="Symbol"/>
              </a:rPr>
              <a:t></a:t>
            </a:r>
            <a:r>
              <a:rPr dirty="0" sz="2600" spc="-190">
                <a:latin typeface="Times New Roman"/>
                <a:cs typeface="Times New Roman"/>
              </a:rPr>
              <a:t> </a:t>
            </a:r>
            <a:r>
              <a:rPr dirty="0" baseline="4273" sz="3900" spc="112" i="1">
                <a:latin typeface="Times New Roman"/>
                <a:cs typeface="Times New Roman"/>
              </a:rPr>
              <a:t>A</a:t>
            </a:r>
            <a:r>
              <a:rPr dirty="0" sz="2600" spc="75">
                <a:latin typeface="Symbol"/>
                <a:cs typeface="Symbol"/>
              </a:rPr>
              <a:t></a:t>
            </a:r>
            <a:endParaRPr sz="2600">
              <a:latin typeface="Symbol"/>
              <a:cs typeface="Symbol"/>
            </a:endParaRPr>
          </a:p>
          <a:p>
            <a:pPr algn="r" marR="6159500">
              <a:lnSpc>
                <a:spcPts val="2810"/>
              </a:lnSpc>
            </a:pPr>
            <a:r>
              <a:rPr dirty="0" sz="2600" spc="-505">
                <a:latin typeface="Symbol"/>
                <a:cs typeface="Symbol"/>
              </a:rPr>
              <a:t></a:t>
            </a:r>
            <a:r>
              <a:rPr dirty="0" baseline="-27777" sz="3900" spc="-757">
                <a:latin typeface="Symbol"/>
                <a:cs typeface="Symbol"/>
              </a:rPr>
              <a:t></a:t>
            </a:r>
            <a:r>
              <a:rPr dirty="0" baseline="-27777" sz="3900" spc="-284">
                <a:latin typeface="Times New Roman"/>
                <a:cs typeface="Times New Roman"/>
              </a:rPr>
              <a:t> </a:t>
            </a:r>
            <a:r>
              <a:rPr dirty="0" baseline="-21367" sz="3900" i="1">
                <a:latin typeface="Times New Roman"/>
                <a:cs typeface="Times New Roman"/>
              </a:rPr>
              <a:t>n</a:t>
            </a:r>
            <a:r>
              <a:rPr dirty="0" baseline="-21367" sz="3900" spc="-247" i="1">
                <a:latin typeface="Times New Roman"/>
                <a:cs typeface="Times New Roman"/>
              </a:rPr>
              <a:t> </a:t>
            </a:r>
            <a:r>
              <a:rPr dirty="0" sz="2600" spc="-530">
                <a:latin typeface="Symbol"/>
                <a:cs typeface="Symbol"/>
              </a:rPr>
              <a:t></a:t>
            </a:r>
            <a:r>
              <a:rPr dirty="0" baseline="-27777" sz="3900" spc="-794">
                <a:latin typeface="Symbol"/>
                <a:cs typeface="Symbol"/>
              </a:rPr>
              <a:t></a:t>
            </a:r>
            <a:endParaRPr baseline="-27777" sz="3900">
              <a:latin typeface="Symbol"/>
              <a:cs typeface="Symbol"/>
            </a:endParaRPr>
          </a:p>
        </p:txBody>
      </p:sp>
      <p:sp>
        <p:nvSpPr>
          <p:cNvPr id="11" name="object 11"/>
          <p:cNvSpPr txBox="1">
            <a:spLocks noGrp="1"/>
          </p:cNvSpPr>
          <p:nvPr>
            <p:ph type="title"/>
          </p:nvPr>
        </p:nvSpPr>
        <p:spPr>
          <a:xfrm>
            <a:off x="1884426" y="51054"/>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143/170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52628" rIns="0" bIns="0" rtlCol="0" vert="horz">
            <a:spAutoFit/>
          </a:bodyPr>
          <a:lstStyle/>
          <a:p>
            <a:pPr marL="12700">
              <a:lnSpc>
                <a:spcPct val="100000"/>
              </a:lnSpc>
              <a:spcBef>
                <a:spcPts val="95"/>
              </a:spcBef>
              <a:tabLst>
                <a:tab pos="10648315" algn="l"/>
              </a:tabLst>
            </a:pPr>
            <a:r>
              <a:rPr dirty="0" spc="-105"/>
              <a:t> </a:t>
            </a:r>
            <a:r>
              <a:rPr dirty="0"/>
              <a:t>7.6</a:t>
            </a:r>
            <a:r>
              <a:rPr dirty="0" spc="-5"/>
              <a:t> </a:t>
            </a:r>
            <a:r>
              <a:rPr dirty="0" spc="-35"/>
              <a:t>并行</a:t>
            </a:r>
            <a:r>
              <a:rPr dirty="0" spc="-30"/>
              <a:t>主</a:t>
            </a:r>
            <a:r>
              <a:rPr dirty="0" spc="-35"/>
              <a:t>存系</a:t>
            </a:r>
            <a:r>
              <a:rPr dirty="0" spc="-50"/>
              <a:t>统</a:t>
            </a:r>
            <a:r>
              <a:rPr dirty="0"/>
              <a:t>	</a:t>
            </a:r>
          </a:p>
        </p:txBody>
      </p:sp>
      <p:sp>
        <p:nvSpPr>
          <p:cNvPr id="9" name="object 9" descr=""/>
          <p:cNvSpPr txBox="1"/>
          <p:nvPr/>
        </p:nvSpPr>
        <p:spPr>
          <a:xfrm>
            <a:off x="1017727" y="1183385"/>
            <a:ext cx="10934700" cy="391160"/>
          </a:xfrm>
          <a:prstGeom prst="rect">
            <a:avLst/>
          </a:prstGeom>
        </p:spPr>
        <p:txBody>
          <a:bodyPr wrap="square" lIns="0" tIns="12700" rIns="0" bIns="0" rtlCol="0" vert="horz">
            <a:spAutoFit/>
          </a:bodyPr>
          <a:lstStyle/>
          <a:p>
            <a:pPr marL="495300" indent="-457200">
              <a:lnSpc>
                <a:spcPct val="100000"/>
              </a:lnSpc>
              <a:spcBef>
                <a:spcPts val="100"/>
              </a:spcBef>
              <a:buSzPct val="89583"/>
              <a:buFont typeface="Wingdings"/>
              <a:buChar char=""/>
              <a:tabLst>
                <a:tab pos="495300" algn="l"/>
              </a:tabLst>
            </a:pPr>
            <a:r>
              <a:rPr dirty="0" sz="2400">
                <a:solidFill>
                  <a:srgbClr val="40458B"/>
                </a:solidFill>
                <a:latin typeface="黑体"/>
                <a:cs typeface="黑体"/>
              </a:rPr>
              <a:t>把</a:t>
            </a:r>
            <a:r>
              <a:rPr dirty="0" sz="2400" spc="-35">
                <a:solidFill>
                  <a:srgbClr val="9933FF"/>
                </a:solidFill>
                <a:latin typeface="Times New Roman"/>
                <a:cs typeface="Times New Roman"/>
              </a:rPr>
              <a:t>A</a:t>
            </a:r>
            <a:r>
              <a:rPr dirty="0" sz="2400">
                <a:solidFill>
                  <a:srgbClr val="40458B"/>
                </a:solidFill>
                <a:latin typeface="黑体"/>
                <a:cs typeface="黑体"/>
              </a:rPr>
              <a:t>表示为二进制数，则其高</a:t>
            </a:r>
            <a:r>
              <a:rPr dirty="0" sz="2400" spc="-10">
                <a:solidFill>
                  <a:srgbClr val="9933FF"/>
                </a:solidFill>
                <a:latin typeface="Times New Roman"/>
                <a:cs typeface="Times New Roman"/>
              </a:rPr>
              <a:t>log</a:t>
            </a:r>
            <a:r>
              <a:rPr dirty="0" baseline="-20833" sz="2400" spc="-15">
                <a:solidFill>
                  <a:srgbClr val="9933FF"/>
                </a:solidFill>
                <a:latin typeface="Times New Roman"/>
                <a:cs typeface="Times New Roman"/>
              </a:rPr>
              <a:t>2</a:t>
            </a:r>
            <a:r>
              <a:rPr dirty="0" sz="2400" spc="-10">
                <a:solidFill>
                  <a:srgbClr val="9933FF"/>
                </a:solidFill>
                <a:latin typeface="Times New Roman"/>
                <a:cs typeface="Times New Roman"/>
              </a:rPr>
              <a:t>m</a:t>
            </a:r>
            <a:r>
              <a:rPr dirty="0" sz="2400" spc="-5">
                <a:solidFill>
                  <a:srgbClr val="40458B"/>
                </a:solidFill>
                <a:latin typeface="黑体"/>
                <a:cs typeface="黑体"/>
              </a:rPr>
              <a:t>位就是体号，而剩下的部分就是体内地址。</a:t>
            </a:r>
            <a:endParaRPr sz="2400">
              <a:latin typeface="黑体"/>
              <a:cs typeface="黑体"/>
            </a:endParaRPr>
          </a:p>
        </p:txBody>
      </p:sp>
      <p:sp>
        <p:nvSpPr>
          <p:cNvPr id="10" name="object 10" descr=""/>
          <p:cNvSpPr txBox="1"/>
          <p:nvPr/>
        </p:nvSpPr>
        <p:spPr>
          <a:xfrm>
            <a:off x="413715" y="3266643"/>
            <a:ext cx="2311400" cy="391795"/>
          </a:xfrm>
          <a:prstGeom prst="rect">
            <a:avLst/>
          </a:prstGeom>
        </p:spPr>
        <p:txBody>
          <a:bodyPr wrap="square" lIns="0" tIns="12700" rIns="0" bIns="0" rtlCol="0" vert="horz">
            <a:spAutoFit/>
          </a:bodyPr>
          <a:lstStyle/>
          <a:p>
            <a:pPr marL="12700">
              <a:lnSpc>
                <a:spcPct val="100000"/>
              </a:lnSpc>
              <a:spcBef>
                <a:spcPts val="100"/>
              </a:spcBef>
              <a:tabLst>
                <a:tab pos="469265" algn="l"/>
              </a:tabLst>
            </a:pPr>
            <a:r>
              <a:rPr dirty="0" sz="2400" spc="-25">
                <a:solidFill>
                  <a:srgbClr val="40458B"/>
                </a:solidFill>
                <a:latin typeface="Tahoma"/>
                <a:cs typeface="Tahoma"/>
              </a:rPr>
              <a:t>4.</a:t>
            </a:r>
            <a:r>
              <a:rPr dirty="0" sz="2400">
                <a:solidFill>
                  <a:srgbClr val="40458B"/>
                </a:solidFill>
                <a:latin typeface="Tahoma"/>
                <a:cs typeface="Tahoma"/>
              </a:rPr>
              <a:t>	</a:t>
            </a:r>
            <a:r>
              <a:rPr dirty="0" sz="2400" spc="-20">
                <a:solidFill>
                  <a:srgbClr val="E14B04"/>
                </a:solidFill>
                <a:latin typeface="黑体"/>
                <a:cs typeface="黑体"/>
              </a:rPr>
              <a:t>低位交叉编址</a:t>
            </a:r>
            <a:endParaRPr sz="2400">
              <a:latin typeface="黑体"/>
              <a:cs typeface="黑体"/>
            </a:endParaRPr>
          </a:p>
        </p:txBody>
      </p:sp>
      <p:sp>
        <p:nvSpPr>
          <p:cNvPr id="11" name="object 11" descr=""/>
          <p:cNvSpPr txBox="1"/>
          <p:nvPr/>
        </p:nvSpPr>
        <p:spPr>
          <a:xfrm>
            <a:off x="1017727" y="3725925"/>
            <a:ext cx="6137910" cy="1485265"/>
          </a:xfrm>
          <a:prstGeom prst="rect">
            <a:avLst/>
          </a:prstGeom>
        </p:spPr>
        <p:txBody>
          <a:bodyPr wrap="square" lIns="0" tIns="158750" rIns="0" bIns="0" rtlCol="0" vert="horz">
            <a:spAutoFit/>
          </a:bodyPr>
          <a:lstStyle/>
          <a:p>
            <a:pPr marL="495300" indent="-457200">
              <a:lnSpc>
                <a:spcPct val="100000"/>
              </a:lnSpc>
              <a:spcBef>
                <a:spcPts val="1250"/>
              </a:spcBef>
              <a:buSzPct val="89583"/>
              <a:buFont typeface="Wingdings"/>
              <a:buChar char=""/>
              <a:tabLst>
                <a:tab pos="495300" algn="l"/>
              </a:tabLst>
            </a:pPr>
            <a:r>
              <a:rPr dirty="0" sz="2400" spc="-5">
                <a:solidFill>
                  <a:srgbClr val="40458B"/>
                </a:solidFill>
                <a:latin typeface="黑体"/>
                <a:cs typeface="黑体"/>
              </a:rPr>
              <a:t>对存储单元矩阵按行优先进行编址</a:t>
            </a:r>
            <a:endParaRPr sz="2400">
              <a:latin typeface="黑体"/>
              <a:cs typeface="黑体"/>
            </a:endParaRPr>
          </a:p>
          <a:p>
            <a:pPr marL="495300" indent="-457200">
              <a:lnSpc>
                <a:spcPct val="100000"/>
              </a:lnSpc>
              <a:spcBef>
                <a:spcPts val="1155"/>
              </a:spcBef>
              <a:buClr>
                <a:srgbClr val="40458B"/>
              </a:buClr>
              <a:buSzPct val="89583"/>
              <a:buFont typeface="Wingdings"/>
              <a:buChar char=""/>
              <a:tabLst>
                <a:tab pos="495300" algn="l"/>
              </a:tabLst>
            </a:pPr>
            <a:r>
              <a:rPr dirty="0" sz="2400">
                <a:solidFill>
                  <a:srgbClr val="D50092"/>
                </a:solidFill>
                <a:latin typeface="黑体"/>
                <a:cs typeface="黑体"/>
              </a:rPr>
              <a:t>特点：</a:t>
            </a:r>
            <a:r>
              <a:rPr dirty="0" sz="2400">
                <a:solidFill>
                  <a:srgbClr val="40458B"/>
                </a:solidFill>
                <a:latin typeface="黑体"/>
                <a:cs typeface="黑体"/>
              </a:rPr>
              <a:t>同一个体中的低</a:t>
            </a:r>
            <a:r>
              <a:rPr dirty="0" sz="2400" spc="-10">
                <a:solidFill>
                  <a:srgbClr val="9933FF"/>
                </a:solidFill>
                <a:latin typeface="Times New Roman"/>
                <a:cs typeface="Times New Roman"/>
              </a:rPr>
              <a:t>log</a:t>
            </a:r>
            <a:r>
              <a:rPr dirty="0" baseline="-20833" sz="2400" spc="-15">
                <a:solidFill>
                  <a:srgbClr val="9933FF"/>
                </a:solidFill>
                <a:latin typeface="Times New Roman"/>
                <a:cs typeface="Times New Roman"/>
              </a:rPr>
              <a:t>2</a:t>
            </a:r>
            <a:r>
              <a:rPr dirty="0" sz="2400" spc="-10">
                <a:solidFill>
                  <a:srgbClr val="9933FF"/>
                </a:solidFill>
                <a:latin typeface="Times New Roman"/>
                <a:cs typeface="Times New Roman"/>
              </a:rPr>
              <a:t>m</a:t>
            </a:r>
            <a:r>
              <a:rPr dirty="0" sz="2400" spc="-10">
                <a:solidFill>
                  <a:srgbClr val="40458B"/>
                </a:solidFill>
                <a:latin typeface="黑体"/>
                <a:cs typeface="黑体"/>
              </a:rPr>
              <a:t>位都是相同的</a:t>
            </a:r>
            <a:endParaRPr sz="2400">
              <a:latin typeface="黑体"/>
              <a:cs typeface="黑体"/>
            </a:endParaRPr>
          </a:p>
          <a:p>
            <a:pPr marL="3426460">
              <a:lnSpc>
                <a:spcPct val="100000"/>
              </a:lnSpc>
              <a:spcBef>
                <a:spcPts val="1025"/>
              </a:spcBef>
            </a:pPr>
            <a:r>
              <a:rPr dirty="0" sz="2000" spc="-10" b="1">
                <a:latin typeface="宋体"/>
                <a:cs typeface="宋体"/>
              </a:rPr>
              <a:t>（</a:t>
            </a:r>
            <a:r>
              <a:rPr dirty="0" sz="2000" spc="-150" b="1">
                <a:latin typeface="宋体"/>
                <a:cs typeface="宋体"/>
              </a:rPr>
              <a:t>体号 </a:t>
            </a:r>
            <a:r>
              <a:rPr dirty="0" sz="2000" spc="-50" b="1">
                <a:latin typeface="宋体"/>
                <a:cs typeface="宋体"/>
              </a:rPr>
              <a:t>）</a:t>
            </a:r>
            <a:endParaRPr sz="2000">
              <a:latin typeface="宋体"/>
              <a:cs typeface="宋体"/>
            </a:endParaRPr>
          </a:p>
        </p:txBody>
      </p:sp>
      <p:sp>
        <p:nvSpPr>
          <p:cNvPr id="12" name="object 12" descr=""/>
          <p:cNvSpPr txBox="1"/>
          <p:nvPr/>
        </p:nvSpPr>
        <p:spPr>
          <a:xfrm>
            <a:off x="4036246" y="2691262"/>
            <a:ext cx="935355" cy="256540"/>
          </a:xfrm>
          <a:prstGeom prst="rect">
            <a:avLst/>
          </a:prstGeom>
        </p:spPr>
        <p:txBody>
          <a:bodyPr wrap="square" lIns="0" tIns="14604" rIns="0" bIns="0" rtlCol="0" vert="horz">
            <a:spAutoFit/>
          </a:bodyPr>
          <a:lstStyle/>
          <a:p>
            <a:pPr marL="12700">
              <a:lnSpc>
                <a:spcPct val="100000"/>
              </a:lnSpc>
              <a:spcBef>
                <a:spcPts val="114"/>
              </a:spcBef>
            </a:pPr>
            <a:r>
              <a:rPr dirty="0" sz="1500" spc="-85">
                <a:solidFill>
                  <a:srgbClr val="0000FF"/>
                </a:solidFill>
                <a:latin typeface="宋体"/>
                <a:cs typeface="宋体"/>
              </a:rPr>
              <a:t>线性地址 </a:t>
            </a:r>
            <a:r>
              <a:rPr dirty="0" sz="1500" spc="-50">
                <a:solidFill>
                  <a:srgbClr val="0000FF"/>
                </a:solidFill>
                <a:latin typeface="宋体"/>
                <a:cs typeface="宋体"/>
              </a:rPr>
              <a:t>A</a:t>
            </a:r>
            <a:endParaRPr sz="1500">
              <a:latin typeface="宋体"/>
              <a:cs typeface="宋体"/>
            </a:endParaRPr>
          </a:p>
        </p:txBody>
      </p:sp>
      <p:sp>
        <p:nvSpPr>
          <p:cNvPr id="13" name="object 13" descr=""/>
          <p:cNvSpPr txBox="1"/>
          <p:nvPr/>
        </p:nvSpPr>
        <p:spPr>
          <a:xfrm>
            <a:off x="5067918" y="2553117"/>
            <a:ext cx="1236980" cy="489584"/>
          </a:xfrm>
          <a:prstGeom prst="rect">
            <a:avLst/>
          </a:prstGeom>
          <a:solidFill>
            <a:srgbClr val="CCFFFF"/>
          </a:solidFill>
          <a:ln w="15084">
            <a:solidFill>
              <a:srgbClr val="000000"/>
            </a:solidFill>
          </a:ln>
        </p:spPr>
        <p:txBody>
          <a:bodyPr wrap="square" lIns="0" tIns="152400" rIns="0" bIns="0" rtlCol="0" vert="horz">
            <a:spAutoFit/>
          </a:bodyPr>
          <a:lstStyle/>
          <a:p>
            <a:pPr algn="ctr" marR="6350">
              <a:lnSpc>
                <a:spcPct val="100000"/>
              </a:lnSpc>
              <a:spcBef>
                <a:spcPts val="1200"/>
              </a:spcBef>
            </a:pPr>
            <a:r>
              <a:rPr dirty="0" sz="1500" spc="-30">
                <a:solidFill>
                  <a:srgbClr val="993300"/>
                </a:solidFill>
                <a:latin typeface="宋体"/>
                <a:cs typeface="宋体"/>
              </a:rPr>
              <a:t>体号</a:t>
            </a:r>
            <a:endParaRPr sz="1500">
              <a:latin typeface="宋体"/>
              <a:cs typeface="宋体"/>
            </a:endParaRPr>
          </a:p>
        </p:txBody>
      </p:sp>
      <p:sp>
        <p:nvSpPr>
          <p:cNvPr id="14" name="object 14" descr=""/>
          <p:cNvSpPr txBox="1"/>
          <p:nvPr/>
        </p:nvSpPr>
        <p:spPr>
          <a:xfrm>
            <a:off x="6304399" y="2553117"/>
            <a:ext cx="1675764" cy="489584"/>
          </a:xfrm>
          <a:prstGeom prst="rect">
            <a:avLst/>
          </a:prstGeom>
          <a:solidFill>
            <a:srgbClr val="FFCCFF"/>
          </a:solidFill>
          <a:ln w="14966">
            <a:solidFill>
              <a:srgbClr val="000000"/>
            </a:solidFill>
          </a:ln>
        </p:spPr>
        <p:txBody>
          <a:bodyPr wrap="square" lIns="0" tIns="152400" rIns="0" bIns="0" rtlCol="0" vert="horz">
            <a:spAutoFit/>
          </a:bodyPr>
          <a:lstStyle/>
          <a:p>
            <a:pPr marL="524510">
              <a:lnSpc>
                <a:spcPct val="100000"/>
              </a:lnSpc>
              <a:spcBef>
                <a:spcPts val="1200"/>
              </a:spcBef>
            </a:pPr>
            <a:r>
              <a:rPr dirty="0" sz="1500" spc="-20">
                <a:solidFill>
                  <a:srgbClr val="993300"/>
                </a:solidFill>
                <a:latin typeface="宋体"/>
                <a:cs typeface="宋体"/>
              </a:rPr>
              <a:t>体内地址</a:t>
            </a:r>
            <a:endParaRPr sz="1500">
              <a:latin typeface="宋体"/>
              <a:cs typeface="宋体"/>
            </a:endParaRPr>
          </a:p>
        </p:txBody>
      </p:sp>
      <p:sp>
        <p:nvSpPr>
          <p:cNvPr id="15" name="object 15" descr=""/>
          <p:cNvSpPr/>
          <p:nvPr/>
        </p:nvSpPr>
        <p:spPr>
          <a:xfrm>
            <a:off x="5067918" y="3077824"/>
            <a:ext cx="1236980" cy="151765"/>
          </a:xfrm>
          <a:custGeom>
            <a:avLst/>
            <a:gdLst/>
            <a:ahLst/>
            <a:cxnLst/>
            <a:rect l="l" t="t" r="r" b="b"/>
            <a:pathLst>
              <a:path w="1236979" h="151764">
                <a:moveTo>
                  <a:pt x="0" y="0"/>
                </a:moveTo>
                <a:lnTo>
                  <a:pt x="0" y="14893"/>
                </a:lnTo>
                <a:lnTo>
                  <a:pt x="5207" y="30328"/>
                </a:lnTo>
                <a:lnTo>
                  <a:pt x="15098" y="40597"/>
                </a:lnTo>
                <a:lnTo>
                  <a:pt x="30700" y="55491"/>
                </a:lnTo>
                <a:lnTo>
                  <a:pt x="45777" y="60636"/>
                </a:lnTo>
                <a:lnTo>
                  <a:pt x="60854" y="70405"/>
                </a:lnTo>
                <a:lnTo>
                  <a:pt x="81139" y="75550"/>
                </a:lnTo>
                <a:lnTo>
                  <a:pt x="100920" y="75550"/>
                </a:lnTo>
                <a:lnTo>
                  <a:pt x="514957" y="75550"/>
                </a:lnTo>
                <a:lnTo>
                  <a:pt x="535242" y="75550"/>
                </a:lnTo>
                <a:lnTo>
                  <a:pt x="555527" y="80674"/>
                </a:lnTo>
                <a:lnTo>
                  <a:pt x="570604" y="90964"/>
                </a:lnTo>
                <a:lnTo>
                  <a:pt x="585702" y="100733"/>
                </a:lnTo>
                <a:lnTo>
                  <a:pt x="600780" y="111002"/>
                </a:lnTo>
                <a:lnTo>
                  <a:pt x="610670" y="121272"/>
                </a:lnTo>
                <a:lnTo>
                  <a:pt x="615857" y="136186"/>
                </a:lnTo>
                <a:lnTo>
                  <a:pt x="615857" y="151600"/>
                </a:lnTo>
                <a:lnTo>
                  <a:pt x="621065" y="136186"/>
                </a:lnTo>
                <a:lnTo>
                  <a:pt x="625747" y="121272"/>
                </a:lnTo>
                <a:lnTo>
                  <a:pt x="636142" y="111002"/>
                </a:lnTo>
                <a:lnTo>
                  <a:pt x="646032" y="100733"/>
                </a:lnTo>
                <a:lnTo>
                  <a:pt x="661110" y="90964"/>
                </a:lnTo>
                <a:lnTo>
                  <a:pt x="681395" y="80674"/>
                </a:lnTo>
                <a:lnTo>
                  <a:pt x="701680" y="75550"/>
                </a:lnTo>
                <a:lnTo>
                  <a:pt x="721965" y="75550"/>
                </a:lnTo>
                <a:lnTo>
                  <a:pt x="1135476" y="75550"/>
                </a:lnTo>
                <a:lnTo>
                  <a:pt x="1155845" y="75550"/>
                </a:lnTo>
                <a:lnTo>
                  <a:pt x="1170964" y="70405"/>
                </a:lnTo>
                <a:lnTo>
                  <a:pt x="1191123" y="60636"/>
                </a:lnTo>
                <a:lnTo>
                  <a:pt x="1206243" y="55491"/>
                </a:lnTo>
                <a:lnTo>
                  <a:pt x="1216112" y="40597"/>
                </a:lnTo>
                <a:lnTo>
                  <a:pt x="1226612" y="30328"/>
                </a:lnTo>
                <a:lnTo>
                  <a:pt x="1236481" y="14893"/>
                </a:lnTo>
                <a:lnTo>
                  <a:pt x="1236481" y="0"/>
                </a:lnTo>
              </a:path>
            </a:pathLst>
          </a:custGeom>
          <a:ln w="14964">
            <a:solidFill>
              <a:srgbClr val="000000"/>
            </a:solidFill>
          </a:ln>
        </p:spPr>
        <p:txBody>
          <a:bodyPr wrap="square" lIns="0" tIns="0" rIns="0" bIns="0" rtlCol="0"/>
          <a:lstStyle/>
          <a:p/>
        </p:txBody>
      </p:sp>
      <p:sp>
        <p:nvSpPr>
          <p:cNvPr id="16" name="object 16" descr=""/>
          <p:cNvSpPr txBox="1"/>
          <p:nvPr/>
        </p:nvSpPr>
        <p:spPr>
          <a:xfrm>
            <a:off x="5378317" y="3175365"/>
            <a:ext cx="780415" cy="256540"/>
          </a:xfrm>
          <a:prstGeom prst="rect">
            <a:avLst/>
          </a:prstGeom>
        </p:spPr>
        <p:txBody>
          <a:bodyPr wrap="square" lIns="0" tIns="14604" rIns="0" bIns="0" rtlCol="0" vert="horz">
            <a:spAutoFit/>
          </a:bodyPr>
          <a:lstStyle/>
          <a:p>
            <a:pPr marL="38100">
              <a:lnSpc>
                <a:spcPct val="100000"/>
              </a:lnSpc>
              <a:spcBef>
                <a:spcPts val="114"/>
              </a:spcBef>
            </a:pPr>
            <a:r>
              <a:rPr dirty="0" sz="1500" b="1">
                <a:solidFill>
                  <a:srgbClr val="0000FF"/>
                </a:solidFill>
                <a:latin typeface="Times New Roman"/>
                <a:cs typeface="Times New Roman"/>
              </a:rPr>
              <a:t>log</a:t>
            </a:r>
            <a:r>
              <a:rPr dirty="0" baseline="-13888" sz="1500" b="1">
                <a:solidFill>
                  <a:srgbClr val="0000FF"/>
                </a:solidFill>
                <a:latin typeface="Times New Roman"/>
                <a:cs typeface="Times New Roman"/>
              </a:rPr>
              <a:t>2</a:t>
            </a:r>
            <a:r>
              <a:rPr dirty="0" sz="1500" b="1">
                <a:solidFill>
                  <a:srgbClr val="0000FF"/>
                </a:solidFill>
                <a:latin typeface="Times New Roman"/>
                <a:cs typeface="Times New Roman"/>
              </a:rPr>
              <a:t>m</a:t>
            </a:r>
            <a:r>
              <a:rPr dirty="0" sz="1500" spc="-65" b="1">
                <a:solidFill>
                  <a:srgbClr val="0000FF"/>
                </a:solidFill>
                <a:latin typeface="Times New Roman"/>
                <a:cs typeface="Times New Roman"/>
              </a:rPr>
              <a:t> </a:t>
            </a:r>
            <a:r>
              <a:rPr dirty="0" sz="1500" spc="-50">
                <a:solidFill>
                  <a:srgbClr val="0000FF"/>
                </a:solidFill>
                <a:latin typeface="宋体"/>
                <a:cs typeface="宋体"/>
              </a:rPr>
              <a:t>位</a:t>
            </a:r>
            <a:endParaRPr sz="1500">
              <a:latin typeface="宋体"/>
              <a:cs typeface="宋体"/>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09166" y="97028"/>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2669105" y="1634425"/>
            <a:ext cx="809625" cy="565150"/>
          </a:xfrm>
          <a:prstGeom prst="rect">
            <a:avLst/>
          </a:prstGeom>
        </p:spPr>
        <p:txBody>
          <a:bodyPr wrap="square" lIns="0" tIns="45720" rIns="0" bIns="0" rtlCol="0" vert="horz">
            <a:spAutoFit/>
          </a:bodyPr>
          <a:lstStyle/>
          <a:p>
            <a:pPr marL="12700">
              <a:lnSpc>
                <a:spcPct val="100000"/>
              </a:lnSpc>
              <a:spcBef>
                <a:spcPts val="360"/>
              </a:spcBef>
            </a:pPr>
            <a:r>
              <a:rPr dirty="0" sz="1550" spc="-10">
                <a:latin typeface="宋体"/>
                <a:cs typeface="宋体"/>
              </a:rPr>
              <a:t>0..0</a:t>
            </a:r>
            <a:r>
              <a:rPr dirty="0" sz="1550" spc="-10">
                <a:solidFill>
                  <a:srgbClr val="FF6600"/>
                </a:solidFill>
                <a:latin typeface="宋体"/>
                <a:cs typeface="宋体"/>
              </a:rPr>
              <a:t>0..0</a:t>
            </a:r>
            <a:endParaRPr sz="1550">
              <a:latin typeface="宋体"/>
              <a:cs typeface="宋体"/>
            </a:endParaRPr>
          </a:p>
          <a:p>
            <a:pPr marL="12700">
              <a:lnSpc>
                <a:spcPct val="100000"/>
              </a:lnSpc>
              <a:spcBef>
                <a:spcPts val="265"/>
              </a:spcBef>
            </a:pPr>
            <a:r>
              <a:rPr dirty="0" sz="1550" spc="-10">
                <a:latin typeface="宋体"/>
                <a:cs typeface="宋体"/>
              </a:rPr>
              <a:t>0..1</a:t>
            </a:r>
            <a:r>
              <a:rPr dirty="0" sz="1550" spc="-10">
                <a:solidFill>
                  <a:srgbClr val="FF6600"/>
                </a:solidFill>
                <a:latin typeface="宋体"/>
                <a:cs typeface="宋体"/>
              </a:rPr>
              <a:t>0..0</a:t>
            </a:r>
            <a:endParaRPr sz="1550">
              <a:latin typeface="宋体"/>
              <a:cs typeface="宋体"/>
            </a:endParaRPr>
          </a:p>
        </p:txBody>
      </p:sp>
      <p:graphicFrame>
        <p:nvGraphicFramePr>
          <p:cNvPr id="11" name="object 11" descr=""/>
          <p:cNvGraphicFramePr>
            <a:graphicFrameLocks noGrp="1"/>
          </p:cNvGraphicFramePr>
          <p:nvPr/>
        </p:nvGraphicFramePr>
        <p:xfrm>
          <a:off x="3540743" y="1652396"/>
          <a:ext cx="818515" cy="1740534"/>
        </p:xfrm>
        <a:graphic>
          <a:graphicData uri="http://schemas.openxmlformats.org/drawingml/2006/table">
            <a:tbl>
              <a:tblPr firstRow="1" bandRow="1">
                <a:tableStyleId>{2D5ABB26-0587-4C30-8999-92F81FD0307C}</a:tableStyleId>
              </a:tblPr>
              <a:tblGrid>
                <a:gridCol w="726440"/>
              </a:tblGrid>
              <a:tr h="26924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416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937894">
                <a:tc>
                  <a:txBody>
                    <a:bodyPr/>
                    <a:lstStyle/>
                    <a:p>
                      <a:pPr>
                        <a:lnSpc>
                          <a:spcPct val="100000"/>
                        </a:lnSpc>
                        <a:spcBef>
                          <a:spcPts val="409"/>
                        </a:spcBef>
                      </a:pPr>
                      <a:endParaRPr sz="1800">
                        <a:latin typeface="Times New Roman"/>
                        <a:cs typeface="Times New Roman"/>
                      </a:endParaRPr>
                    </a:p>
                    <a:p>
                      <a:pPr marL="262890">
                        <a:lnSpc>
                          <a:spcPct val="100000"/>
                        </a:lnSpc>
                      </a:pPr>
                      <a:r>
                        <a:rPr dirty="0" sz="1800" spc="-50">
                          <a:latin typeface="宋体"/>
                          <a:cs typeface="宋体"/>
                        </a:rPr>
                        <a:t>…</a:t>
                      </a:r>
                      <a:endParaRPr sz="1800">
                        <a:latin typeface="宋体"/>
                        <a:cs typeface="宋体"/>
                      </a:endParaRPr>
                    </a:p>
                  </a:txBody>
                  <a:tcPr marL="0" marR="0" marB="0" marT="5206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924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12" name="object 12" descr=""/>
          <p:cNvSpPr txBox="1"/>
          <p:nvPr/>
        </p:nvSpPr>
        <p:spPr>
          <a:xfrm>
            <a:off x="2963617" y="2496376"/>
            <a:ext cx="255270" cy="300355"/>
          </a:xfrm>
          <a:prstGeom prst="rect">
            <a:avLst/>
          </a:prstGeom>
        </p:spPr>
        <p:txBody>
          <a:bodyPr wrap="square" lIns="0" tIns="12700" rIns="0" bIns="0" rtlCol="0" vert="horz">
            <a:spAutoFit/>
          </a:bodyPr>
          <a:lstStyle/>
          <a:p>
            <a:pPr marL="12700">
              <a:lnSpc>
                <a:spcPct val="100000"/>
              </a:lnSpc>
              <a:spcBef>
                <a:spcPts val="100"/>
              </a:spcBef>
            </a:pPr>
            <a:r>
              <a:rPr dirty="0" sz="1800" spc="-50">
                <a:latin typeface="宋体"/>
                <a:cs typeface="宋体"/>
              </a:rPr>
              <a:t>…</a:t>
            </a:r>
            <a:endParaRPr sz="1800">
              <a:latin typeface="宋体"/>
              <a:cs typeface="宋体"/>
            </a:endParaRPr>
          </a:p>
        </p:txBody>
      </p:sp>
      <p:sp>
        <p:nvSpPr>
          <p:cNvPr id="13" name="object 13" descr=""/>
          <p:cNvSpPr txBox="1"/>
          <p:nvPr/>
        </p:nvSpPr>
        <p:spPr>
          <a:xfrm>
            <a:off x="4983958" y="1634425"/>
            <a:ext cx="809625" cy="565150"/>
          </a:xfrm>
          <a:prstGeom prst="rect">
            <a:avLst/>
          </a:prstGeom>
        </p:spPr>
        <p:txBody>
          <a:bodyPr wrap="square" lIns="0" tIns="45720" rIns="0" bIns="0" rtlCol="0" vert="horz">
            <a:spAutoFit/>
          </a:bodyPr>
          <a:lstStyle/>
          <a:p>
            <a:pPr marL="12700">
              <a:lnSpc>
                <a:spcPct val="100000"/>
              </a:lnSpc>
              <a:spcBef>
                <a:spcPts val="360"/>
              </a:spcBef>
            </a:pPr>
            <a:r>
              <a:rPr dirty="0" sz="1550" spc="-10">
                <a:latin typeface="宋体"/>
                <a:cs typeface="宋体"/>
              </a:rPr>
              <a:t>0..0</a:t>
            </a:r>
            <a:r>
              <a:rPr dirty="0" sz="1550" spc="-10">
                <a:solidFill>
                  <a:srgbClr val="FF6600"/>
                </a:solidFill>
                <a:latin typeface="宋体"/>
                <a:cs typeface="宋体"/>
              </a:rPr>
              <a:t>0..1</a:t>
            </a:r>
            <a:endParaRPr sz="1550">
              <a:latin typeface="宋体"/>
              <a:cs typeface="宋体"/>
            </a:endParaRPr>
          </a:p>
          <a:p>
            <a:pPr marL="12700">
              <a:lnSpc>
                <a:spcPct val="100000"/>
              </a:lnSpc>
              <a:spcBef>
                <a:spcPts val="265"/>
              </a:spcBef>
            </a:pPr>
            <a:r>
              <a:rPr dirty="0" sz="1550" spc="-10">
                <a:latin typeface="宋体"/>
                <a:cs typeface="宋体"/>
              </a:rPr>
              <a:t>0..1</a:t>
            </a:r>
            <a:r>
              <a:rPr dirty="0" sz="1550" spc="-10">
                <a:solidFill>
                  <a:srgbClr val="FF6600"/>
                </a:solidFill>
                <a:latin typeface="宋体"/>
                <a:cs typeface="宋体"/>
              </a:rPr>
              <a:t>0..1</a:t>
            </a:r>
            <a:endParaRPr sz="1550">
              <a:latin typeface="宋体"/>
              <a:cs typeface="宋体"/>
            </a:endParaRPr>
          </a:p>
        </p:txBody>
      </p:sp>
      <p:graphicFrame>
        <p:nvGraphicFramePr>
          <p:cNvPr id="14" name="object 14" descr=""/>
          <p:cNvGraphicFramePr>
            <a:graphicFrameLocks noGrp="1"/>
          </p:cNvGraphicFramePr>
          <p:nvPr/>
        </p:nvGraphicFramePr>
        <p:xfrm>
          <a:off x="5855642" y="1652396"/>
          <a:ext cx="818515" cy="1740534"/>
        </p:xfrm>
        <a:graphic>
          <a:graphicData uri="http://schemas.openxmlformats.org/drawingml/2006/table">
            <a:tbl>
              <a:tblPr firstRow="1" bandRow="1">
                <a:tableStyleId>{2D5ABB26-0587-4C30-8999-92F81FD0307C}</a:tableStyleId>
              </a:tblPr>
              <a:tblGrid>
                <a:gridCol w="726440"/>
              </a:tblGrid>
              <a:tr h="26924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416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937894">
                <a:tc>
                  <a:txBody>
                    <a:bodyPr/>
                    <a:lstStyle/>
                    <a:p>
                      <a:pPr>
                        <a:lnSpc>
                          <a:spcPct val="100000"/>
                        </a:lnSpc>
                        <a:spcBef>
                          <a:spcPts val="409"/>
                        </a:spcBef>
                      </a:pPr>
                      <a:endParaRPr sz="1800">
                        <a:latin typeface="Times New Roman"/>
                        <a:cs typeface="Times New Roman"/>
                      </a:endParaRPr>
                    </a:p>
                    <a:p>
                      <a:pPr marL="268605">
                        <a:lnSpc>
                          <a:spcPct val="100000"/>
                        </a:lnSpc>
                      </a:pPr>
                      <a:r>
                        <a:rPr dirty="0" sz="1800" spc="-50">
                          <a:latin typeface="宋体"/>
                          <a:cs typeface="宋体"/>
                        </a:rPr>
                        <a:t>…</a:t>
                      </a:r>
                      <a:endParaRPr sz="1800">
                        <a:latin typeface="宋体"/>
                        <a:cs typeface="宋体"/>
                      </a:endParaRPr>
                    </a:p>
                  </a:txBody>
                  <a:tcPr marL="0" marR="0" marB="0" marT="5206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924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15" name="object 15" descr=""/>
          <p:cNvSpPr txBox="1"/>
          <p:nvPr/>
        </p:nvSpPr>
        <p:spPr>
          <a:xfrm>
            <a:off x="5278558" y="2496376"/>
            <a:ext cx="255270" cy="300355"/>
          </a:xfrm>
          <a:prstGeom prst="rect">
            <a:avLst/>
          </a:prstGeom>
        </p:spPr>
        <p:txBody>
          <a:bodyPr wrap="square" lIns="0" tIns="12700" rIns="0" bIns="0" rtlCol="0" vert="horz">
            <a:spAutoFit/>
          </a:bodyPr>
          <a:lstStyle/>
          <a:p>
            <a:pPr marL="12700">
              <a:lnSpc>
                <a:spcPct val="100000"/>
              </a:lnSpc>
              <a:spcBef>
                <a:spcPts val="100"/>
              </a:spcBef>
            </a:pPr>
            <a:r>
              <a:rPr dirty="0" sz="1800" spc="-50">
                <a:latin typeface="宋体"/>
                <a:cs typeface="宋体"/>
              </a:rPr>
              <a:t>…</a:t>
            </a:r>
            <a:endParaRPr sz="1800">
              <a:latin typeface="宋体"/>
              <a:cs typeface="宋体"/>
            </a:endParaRPr>
          </a:p>
        </p:txBody>
      </p:sp>
      <p:sp>
        <p:nvSpPr>
          <p:cNvPr id="16" name="object 16" descr=""/>
          <p:cNvSpPr txBox="1"/>
          <p:nvPr/>
        </p:nvSpPr>
        <p:spPr>
          <a:xfrm>
            <a:off x="7848964" y="1634425"/>
            <a:ext cx="810260" cy="565150"/>
          </a:xfrm>
          <a:prstGeom prst="rect">
            <a:avLst/>
          </a:prstGeom>
        </p:spPr>
        <p:txBody>
          <a:bodyPr wrap="square" lIns="0" tIns="45720" rIns="0" bIns="0" rtlCol="0" vert="horz">
            <a:spAutoFit/>
          </a:bodyPr>
          <a:lstStyle/>
          <a:p>
            <a:pPr marL="12700">
              <a:lnSpc>
                <a:spcPct val="100000"/>
              </a:lnSpc>
              <a:spcBef>
                <a:spcPts val="360"/>
              </a:spcBef>
            </a:pPr>
            <a:r>
              <a:rPr dirty="0" sz="1550" spc="-10">
                <a:latin typeface="宋体"/>
                <a:cs typeface="宋体"/>
              </a:rPr>
              <a:t>0..0</a:t>
            </a:r>
            <a:r>
              <a:rPr dirty="0" sz="1550" spc="-10">
                <a:solidFill>
                  <a:srgbClr val="FF6600"/>
                </a:solidFill>
                <a:latin typeface="宋体"/>
                <a:cs typeface="宋体"/>
              </a:rPr>
              <a:t>F..F</a:t>
            </a:r>
            <a:endParaRPr sz="1550">
              <a:latin typeface="宋体"/>
              <a:cs typeface="宋体"/>
            </a:endParaRPr>
          </a:p>
          <a:p>
            <a:pPr marL="12700">
              <a:lnSpc>
                <a:spcPct val="100000"/>
              </a:lnSpc>
              <a:spcBef>
                <a:spcPts val="265"/>
              </a:spcBef>
            </a:pPr>
            <a:r>
              <a:rPr dirty="0" sz="1550" spc="-10">
                <a:latin typeface="宋体"/>
                <a:cs typeface="宋体"/>
              </a:rPr>
              <a:t>0..1</a:t>
            </a:r>
            <a:r>
              <a:rPr dirty="0" sz="1550" spc="-10">
                <a:solidFill>
                  <a:srgbClr val="FF6600"/>
                </a:solidFill>
                <a:latin typeface="宋体"/>
                <a:cs typeface="宋体"/>
              </a:rPr>
              <a:t>F..F</a:t>
            </a:r>
            <a:endParaRPr sz="1550">
              <a:latin typeface="宋体"/>
              <a:cs typeface="宋体"/>
            </a:endParaRPr>
          </a:p>
        </p:txBody>
      </p:sp>
      <p:graphicFrame>
        <p:nvGraphicFramePr>
          <p:cNvPr id="17" name="object 17" descr=""/>
          <p:cNvGraphicFramePr>
            <a:graphicFrameLocks noGrp="1"/>
          </p:cNvGraphicFramePr>
          <p:nvPr/>
        </p:nvGraphicFramePr>
        <p:xfrm>
          <a:off x="8715680" y="1652396"/>
          <a:ext cx="818515" cy="1740534"/>
        </p:xfrm>
        <a:graphic>
          <a:graphicData uri="http://schemas.openxmlformats.org/drawingml/2006/table">
            <a:tbl>
              <a:tblPr firstRow="1" bandRow="1">
                <a:tableStyleId>{2D5ABB26-0587-4C30-8999-92F81FD0307C}</a:tableStyleId>
              </a:tblPr>
              <a:tblGrid>
                <a:gridCol w="726440"/>
              </a:tblGrid>
              <a:tr h="26924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416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937894">
                <a:tc>
                  <a:txBody>
                    <a:bodyPr/>
                    <a:lstStyle/>
                    <a:p>
                      <a:pPr>
                        <a:lnSpc>
                          <a:spcPct val="100000"/>
                        </a:lnSpc>
                        <a:spcBef>
                          <a:spcPts val="409"/>
                        </a:spcBef>
                      </a:pPr>
                      <a:endParaRPr sz="1800">
                        <a:latin typeface="Times New Roman"/>
                        <a:cs typeface="Times New Roman"/>
                      </a:endParaRPr>
                    </a:p>
                    <a:p>
                      <a:pPr marL="267970">
                        <a:lnSpc>
                          <a:spcPct val="100000"/>
                        </a:lnSpc>
                      </a:pPr>
                      <a:r>
                        <a:rPr dirty="0" sz="1800" spc="-50">
                          <a:latin typeface="宋体"/>
                          <a:cs typeface="宋体"/>
                        </a:rPr>
                        <a:t>…</a:t>
                      </a:r>
                      <a:endParaRPr sz="1800">
                        <a:latin typeface="宋体"/>
                        <a:cs typeface="宋体"/>
                      </a:endParaRPr>
                    </a:p>
                  </a:txBody>
                  <a:tcPr marL="0" marR="0" marB="0" marT="52069">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r h="269240">
                <a:tc>
                  <a:txBody>
                    <a:bodyPr/>
                    <a:lstStyle/>
                    <a:p>
                      <a:pPr>
                        <a:lnSpc>
                          <a:spcPct val="100000"/>
                        </a:lnSpc>
                      </a:pPr>
                      <a:endParaRPr sz="1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FFFF"/>
                    </a:solidFill>
                  </a:tcPr>
                </a:tc>
              </a:tr>
            </a:tbl>
          </a:graphicData>
        </a:graphic>
      </p:graphicFrame>
      <p:sp>
        <p:nvSpPr>
          <p:cNvPr id="18" name="object 18" descr=""/>
          <p:cNvSpPr txBox="1"/>
          <p:nvPr/>
        </p:nvSpPr>
        <p:spPr>
          <a:xfrm>
            <a:off x="971803" y="3075977"/>
            <a:ext cx="10273665" cy="2451735"/>
          </a:xfrm>
          <a:prstGeom prst="rect">
            <a:avLst/>
          </a:prstGeom>
        </p:spPr>
        <p:txBody>
          <a:bodyPr wrap="square" lIns="0" tIns="76835" rIns="0" bIns="0" rtlCol="0" vert="horz">
            <a:spAutoFit/>
          </a:bodyPr>
          <a:lstStyle/>
          <a:p>
            <a:pPr marL="1709420">
              <a:lnSpc>
                <a:spcPct val="100000"/>
              </a:lnSpc>
              <a:spcBef>
                <a:spcPts val="605"/>
              </a:spcBef>
              <a:tabLst>
                <a:tab pos="4024629" algn="l"/>
                <a:tab pos="6889750" algn="l"/>
              </a:tabLst>
            </a:pPr>
            <a:r>
              <a:rPr dirty="0" sz="1550" spc="-10">
                <a:latin typeface="宋体"/>
                <a:cs typeface="宋体"/>
              </a:rPr>
              <a:t>F..F</a:t>
            </a:r>
            <a:r>
              <a:rPr dirty="0" sz="1550" spc="-10">
                <a:solidFill>
                  <a:srgbClr val="FF6600"/>
                </a:solidFill>
                <a:latin typeface="宋体"/>
                <a:cs typeface="宋体"/>
              </a:rPr>
              <a:t>0..0</a:t>
            </a:r>
            <a:r>
              <a:rPr dirty="0" sz="1550">
                <a:solidFill>
                  <a:srgbClr val="FF6600"/>
                </a:solidFill>
                <a:latin typeface="宋体"/>
                <a:cs typeface="宋体"/>
              </a:rPr>
              <a:t>	</a:t>
            </a:r>
            <a:r>
              <a:rPr dirty="0" sz="1550" spc="-10">
                <a:latin typeface="宋体"/>
                <a:cs typeface="宋体"/>
              </a:rPr>
              <a:t>F..F</a:t>
            </a:r>
            <a:r>
              <a:rPr dirty="0" sz="1550" spc="-10">
                <a:solidFill>
                  <a:srgbClr val="FF6600"/>
                </a:solidFill>
                <a:latin typeface="宋体"/>
                <a:cs typeface="宋体"/>
              </a:rPr>
              <a:t>0..1</a:t>
            </a:r>
            <a:r>
              <a:rPr dirty="0" sz="1550">
                <a:solidFill>
                  <a:srgbClr val="FF6600"/>
                </a:solidFill>
                <a:latin typeface="宋体"/>
                <a:cs typeface="宋体"/>
              </a:rPr>
              <a:t>	</a:t>
            </a:r>
            <a:r>
              <a:rPr dirty="0" sz="1550" spc="-10">
                <a:latin typeface="宋体"/>
                <a:cs typeface="宋体"/>
              </a:rPr>
              <a:t>F..F</a:t>
            </a:r>
            <a:r>
              <a:rPr dirty="0" sz="1550" spc="-10">
                <a:solidFill>
                  <a:srgbClr val="FF6600"/>
                </a:solidFill>
                <a:latin typeface="宋体"/>
                <a:cs typeface="宋体"/>
              </a:rPr>
              <a:t>F..F</a:t>
            </a:r>
            <a:endParaRPr sz="1550">
              <a:latin typeface="宋体"/>
              <a:cs typeface="宋体"/>
            </a:endParaRPr>
          </a:p>
          <a:p>
            <a:pPr marL="2571115">
              <a:lnSpc>
                <a:spcPct val="100000"/>
              </a:lnSpc>
              <a:spcBef>
                <a:spcPts val="505"/>
              </a:spcBef>
              <a:tabLst>
                <a:tab pos="4891405" algn="l"/>
                <a:tab pos="7684134" algn="l"/>
              </a:tabLst>
            </a:pPr>
            <a:r>
              <a:rPr dirty="0" baseline="1792" sz="2325" spc="-15">
                <a:solidFill>
                  <a:srgbClr val="0000FF"/>
                </a:solidFill>
                <a:latin typeface="宋体"/>
                <a:cs typeface="宋体"/>
              </a:rPr>
              <a:t>存储</a:t>
            </a:r>
            <a:r>
              <a:rPr dirty="0" baseline="1792" sz="2325">
                <a:solidFill>
                  <a:srgbClr val="0000FF"/>
                </a:solidFill>
                <a:latin typeface="宋体"/>
                <a:cs typeface="宋体"/>
              </a:rPr>
              <a:t>体</a:t>
            </a:r>
            <a:r>
              <a:rPr dirty="0" baseline="1792" sz="2325" spc="-637">
                <a:solidFill>
                  <a:srgbClr val="0000FF"/>
                </a:solidFill>
                <a:latin typeface="宋体"/>
                <a:cs typeface="宋体"/>
              </a:rPr>
              <a:t> </a:t>
            </a:r>
            <a:r>
              <a:rPr dirty="0" baseline="1792" sz="2325" spc="-75">
                <a:solidFill>
                  <a:srgbClr val="0000FF"/>
                </a:solidFill>
                <a:latin typeface="宋体"/>
                <a:cs typeface="宋体"/>
              </a:rPr>
              <a:t>0</a:t>
            </a:r>
            <a:r>
              <a:rPr dirty="0" baseline="1792" sz="2325">
                <a:solidFill>
                  <a:srgbClr val="0000FF"/>
                </a:solidFill>
                <a:latin typeface="宋体"/>
                <a:cs typeface="宋体"/>
              </a:rPr>
              <a:t>	</a:t>
            </a:r>
            <a:r>
              <a:rPr dirty="0" baseline="1792" sz="2325" spc="-15">
                <a:solidFill>
                  <a:srgbClr val="0000FF"/>
                </a:solidFill>
                <a:latin typeface="宋体"/>
                <a:cs typeface="宋体"/>
              </a:rPr>
              <a:t>存储</a:t>
            </a:r>
            <a:r>
              <a:rPr dirty="0" baseline="1792" sz="2325">
                <a:solidFill>
                  <a:srgbClr val="0000FF"/>
                </a:solidFill>
                <a:latin typeface="宋体"/>
                <a:cs typeface="宋体"/>
              </a:rPr>
              <a:t>体</a:t>
            </a:r>
            <a:r>
              <a:rPr dirty="0" baseline="1792" sz="2325" spc="-637">
                <a:solidFill>
                  <a:srgbClr val="0000FF"/>
                </a:solidFill>
                <a:latin typeface="宋体"/>
                <a:cs typeface="宋体"/>
              </a:rPr>
              <a:t> </a:t>
            </a:r>
            <a:r>
              <a:rPr dirty="0" baseline="1792" sz="2325" spc="-75">
                <a:solidFill>
                  <a:srgbClr val="0000FF"/>
                </a:solidFill>
                <a:latin typeface="宋体"/>
                <a:cs typeface="宋体"/>
              </a:rPr>
              <a:t>1</a:t>
            </a:r>
            <a:r>
              <a:rPr dirty="0" baseline="1792" sz="2325">
                <a:solidFill>
                  <a:srgbClr val="0000FF"/>
                </a:solidFill>
                <a:latin typeface="宋体"/>
                <a:cs typeface="宋体"/>
              </a:rPr>
              <a:t>	</a:t>
            </a:r>
            <a:r>
              <a:rPr dirty="0" sz="1550" spc="-10">
                <a:solidFill>
                  <a:srgbClr val="0000FF"/>
                </a:solidFill>
                <a:latin typeface="宋体"/>
                <a:cs typeface="宋体"/>
              </a:rPr>
              <a:t>存储</a:t>
            </a:r>
            <a:r>
              <a:rPr dirty="0" sz="1550">
                <a:solidFill>
                  <a:srgbClr val="0000FF"/>
                </a:solidFill>
                <a:latin typeface="宋体"/>
                <a:cs typeface="宋体"/>
              </a:rPr>
              <a:t>体</a:t>
            </a:r>
            <a:r>
              <a:rPr dirty="0" sz="1550" spc="-430">
                <a:solidFill>
                  <a:srgbClr val="0000FF"/>
                </a:solidFill>
                <a:latin typeface="宋体"/>
                <a:cs typeface="宋体"/>
              </a:rPr>
              <a:t> </a:t>
            </a:r>
            <a:r>
              <a:rPr dirty="0" sz="1550" spc="-10">
                <a:solidFill>
                  <a:srgbClr val="0000FF"/>
                </a:solidFill>
                <a:latin typeface="宋体"/>
                <a:cs typeface="宋体"/>
              </a:rPr>
              <a:t>m-</a:t>
            </a:r>
            <a:r>
              <a:rPr dirty="0" sz="1550" spc="-50">
                <a:solidFill>
                  <a:srgbClr val="0000FF"/>
                </a:solidFill>
                <a:latin typeface="宋体"/>
                <a:cs typeface="宋体"/>
              </a:rPr>
              <a:t>1</a:t>
            </a:r>
            <a:endParaRPr sz="1550">
              <a:latin typeface="宋体"/>
              <a:cs typeface="宋体"/>
            </a:endParaRPr>
          </a:p>
          <a:p>
            <a:pPr marL="469265" indent="-456565">
              <a:lnSpc>
                <a:spcPct val="100000"/>
              </a:lnSpc>
              <a:spcBef>
                <a:spcPts val="1345"/>
              </a:spcBef>
              <a:buSzPct val="89583"/>
              <a:buFont typeface="Wingdings"/>
              <a:buChar char=""/>
              <a:tabLst>
                <a:tab pos="469265" algn="l"/>
              </a:tabLst>
            </a:pPr>
            <a:r>
              <a:rPr dirty="0" sz="2400" spc="-10">
                <a:solidFill>
                  <a:srgbClr val="40458B"/>
                </a:solidFill>
                <a:latin typeface="黑体"/>
                <a:cs typeface="黑体"/>
              </a:rPr>
              <a:t>处于第</a:t>
            </a:r>
            <a:r>
              <a:rPr dirty="0" sz="2400">
                <a:solidFill>
                  <a:srgbClr val="9933FF"/>
                </a:solidFill>
                <a:latin typeface="Times New Roman"/>
                <a:cs typeface="Times New Roman"/>
              </a:rPr>
              <a:t>i</a:t>
            </a:r>
            <a:r>
              <a:rPr dirty="0" sz="2400" spc="-10">
                <a:solidFill>
                  <a:srgbClr val="40458B"/>
                </a:solidFill>
                <a:latin typeface="黑体"/>
                <a:cs typeface="黑体"/>
              </a:rPr>
              <a:t>行第</a:t>
            </a:r>
            <a:r>
              <a:rPr dirty="0" sz="2400">
                <a:solidFill>
                  <a:srgbClr val="9933FF"/>
                </a:solidFill>
                <a:latin typeface="Times New Roman"/>
                <a:cs typeface="Times New Roman"/>
              </a:rPr>
              <a:t>j</a:t>
            </a:r>
            <a:r>
              <a:rPr dirty="0" sz="2400" spc="-10">
                <a:solidFill>
                  <a:srgbClr val="40458B"/>
                </a:solidFill>
                <a:latin typeface="黑体"/>
                <a:cs typeface="黑体"/>
              </a:rPr>
              <a:t>列的单元，即体号为</a:t>
            </a:r>
            <a:r>
              <a:rPr dirty="0" sz="2400">
                <a:solidFill>
                  <a:srgbClr val="9933FF"/>
                </a:solidFill>
                <a:latin typeface="Times New Roman"/>
                <a:cs typeface="Times New Roman"/>
              </a:rPr>
              <a:t>j</a:t>
            </a:r>
            <a:r>
              <a:rPr dirty="0" sz="2400" spc="-10">
                <a:solidFill>
                  <a:srgbClr val="40458B"/>
                </a:solidFill>
                <a:latin typeface="黑体"/>
                <a:cs typeface="黑体"/>
              </a:rPr>
              <a:t>、体内地址为</a:t>
            </a:r>
            <a:r>
              <a:rPr dirty="0" sz="2400">
                <a:solidFill>
                  <a:srgbClr val="9933FF"/>
                </a:solidFill>
                <a:latin typeface="Times New Roman"/>
                <a:cs typeface="Times New Roman"/>
              </a:rPr>
              <a:t>i</a:t>
            </a:r>
            <a:r>
              <a:rPr dirty="0" sz="2400" spc="-15">
                <a:solidFill>
                  <a:srgbClr val="40458B"/>
                </a:solidFill>
                <a:latin typeface="黑体"/>
                <a:cs typeface="黑体"/>
              </a:rPr>
              <a:t>的单元，其线性地址为：</a:t>
            </a:r>
            <a:endParaRPr sz="2400">
              <a:latin typeface="黑体"/>
              <a:cs typeface="黑体"/>
            </a:endParaRPr>
          </a:p>
          <a:p>
            <a:pPr marL="1642110">
              <a:lnSpc>
                <a:spcPct val="100000"/>
              </a:lnSpc>
              <a:spcBef>
                <a:spcPts val="1025"/>
              </a:spcBef>
            </a:pPr>
            <a:r>
              <a:rPr dirty="0" sz="2000" spc="-10" b="1">
                <a:solidFill>
                  <a:srgbClr val="D50092"/>
                </a:solidFill>
                <a:latin typeface="Times New Roman"/>
                <a:cs typeface="Times New Roman"/>
              </a:rPr>
              <a:t>A</a:t>
            </a:r>
            <a:r>
              <a:rPr dirty="0" sz="2000" spc="-10" b="1">
                <a:solidFill>
                  <a:srgbClr val="D50092"/>
                </a:solidFill>
                <a:latin typeface="宋体"/>
                <a:cs typeface="宋体"/>
              </a:rPr>
              <a:t>＝</a:t>
            </a:r>
            <a:r>
              <a:rPr dirty="0" sz="2000" spc="-10" b="1">
                <a:solidFill>
                  <a:srgbClr val="D50092"/>
                </a:solidFill>
                <a:latin typeface="Times New Roman"/>
                <a:cs typeface="Times New Roman"/>
              </a:rPr>
              <a:t>i</a:t>
            </a:r>
            <a:r>
              <a:rPr dirty="0" sz="2000" spc="-10" b="1">
                <a:solidFill>
                  <a:srgbClr val="D50092"/>
                </a:solidFill>
                <a:latin typeface="宋体"/>
                <a:cs typeface="宋体"/>
              </a:rPr>
              <a:t>×</a:t>
            </a:r>
            <a:r>
              <a:rPr dirty="0" sz="2000" spc="-10" b="1">
                <a:solidFill>
                  <a:srgbClr val="D50092"/>
                </a:solidFill>
                <a:latin typeface="Times New Roman"/>
                <a:cs typeface="Times New Roman"/>
              </a:rPr>
              <a:t>m</a:t>
            </a:r>
            <a:r>
              <a:rPr dirty="0" sz="2000" spc="-10" b="1">
                <a:solidFill>
                  <a:srgbClr val="D50092"/>
                </a:solidFill>
                <a:latin typeface="宋体"/>
                <a:cs typeface="宋体"/>
              </a:rPr>
              <a:t>＋</a:t>
            </a:r>
            <a:r>
              <a:rPr dirty="0" sz="2000" spc="-10" b="1">
                <a:solidFill>
                  <a:srgbClr val="D50092"/>
                </a:solidFill>
                <a:latin typeface="Times New Roman"/>
                <a:cs typeface="Times New Roman"/>
              </a:rPr>
              <a:t>j</a:t>
            </a:r>
            <a:endParaRPr sz="2000">
              <a:latin typeface="Times New Roman"/>
              <a:cs typeface="Times New Roman"/>
            </a:endParaRPr>
          </a:p>
          <a:p>
            <a:pPr marL="640080">
              <a:lnSpc>
                <a:spcPct val="100000"/>
              </a:lnSpc>
              <a:spcBef>
                <a:spcPts val="960"/>
              </a:spcBef>
            </a:pPr>
            <a:r>
              <a:rPr dirty="0" sz="2000" spc="-10" b="1">
                <a:latin typeface="宋体"/>
                <a:cs typeface="宋体"/>
              </a:rPr>
              <a:t>其中：</a:t>
            </a:r>
            <a:r>
              <a:rPr dirty="0" sz="2000" spc="-10" b="1">
                <a:latin typeface="Times New Roman"/>
                <a:cs typeface="Times New Roman"/>
              </a:rPr>
              <a:t>i</a:t>
            </a:r>
            <a:r>
              <a:rPr dirty="0" sz="2000" spc="-10" b="1">
                <a:latin typeface="宋体"/>
                <a:cs typeface="宋体"/>
              </a:rPr>
              <a:t>＝０，</a:t>
            </a:r>
            <a:r>
              <a:rPr dirty="0" sz="2000" spc="-10" b="1">
                <a:latin typeface="Times New Roman"/>
                <a:cs typeface="Times New Roman"/>
              </a:rPr>
              <a:t>1</a:t>
            </a: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10" b="1">
                <a:latin typeface="Times New Roman"/>
                <a:cs typeface="Times New Roman"/>
              </a:rPr>
              <a:t>…</a:t>
            </a:r>
            <a:r>
              <a:rPr dirty="0" sz="2000" spc="-10" b="1">
                <a:latin typeface="宋体"/>
                <a:cs typeface="宋体"/>
              </a:rPr>
              <a:t>，</a:t>
            </a:r>
            <a:r>
              <a:rPr dirty="0" sz="2000" spc="-10" b="1">
                <a:latin typeface="Times New Roman"/>
                <a:cs typeface="Times New Roman"/>
              </a:rPr>
              <a:t>n</a:t>
            </a:r>
            <a:r>
              <a:rPr dirty="0" sz="2000" spc="-10" b="1">
                <a:latin typeface="宋体"/>
                <a:cs typeface="宋体"/>
              </a:rPr>
              <a:t>－</a:t>
            </a:r>
            <a:r>
              <a:rPr dirty="0" sz="2000" spc="-10" b="1">
                <a:latin typeface="Times New Roman"/>
                <a:cs typeface="Times New Roman"/>
              </a:rPr>
              <a:t>1</a:t>
            </a:r>
            <a:endParaRPr sz="2000">
              <a:latin typeface="Times New Roman"/>
              <a:cs typeface="Times New Roman"/>
            </a:endParaRPr>
          </a:p>
          <a:p>
            <a:pPr marL="1402715">
              <a:lnSpc>
                <a:spcPct val="100000"/>
              </a:lnSpc>
              <a:spcBef>
                <a:spcPts val="960"/>
              </a:spcBef>
            </a:pPr>
            <a:r>
              <a:rPr dirty="0" sz="2000" spc="-10" b="1">
                <a:latin typeface="Times New Roman"/>
                <a:cs typeface="Times New Roman"/>
              </a:rPr>
              <a:t>j</a:t>
            </a:r>
            <a:r>
              <a:rPr dirty="0" sz="2000" spc="-10" b="1">
                <a:latin typeface="宋体"/>
                <a:cs typeface="宋体"/>
              </a:rPr>
              <a:t>＝０，</a:t>
            </a:r>
            <a:r>
              <a:rPr dirty="0" sz="2000" spc="-10" b="1">
                <a:latin typeface="Times New Roman"/>
                <a:cs typeface="Times New Roman"/>
              </a:rPr>
              <a:t>1</a:t>
            </a:r>
            <a:r>
              <a:rPr dirty="0" sz="2000" spc="-10" b="1">
                <a:latin typeface="宋体"/>
                <a:cs typeface="宋体"/>
              </a:rPr>
              <a:t>，</a:t>
            </a:r>
            <a:r>
              <a:rPr dirty="0" sz="2000" spc="-10" b="1">
                <a:latin typeface="Times New Roman"/>
                <a:cs typeface="Times New Roman"/>
              </a:rPr>
              <a:t>2</a:t>
            </a:r>
            <a:r>
              <a:rPr dirty="0" sz="2000" spc="-10" b="1">
                <a:latin typeface="宋体"/>
                <a:cs typeface="宋体"/>
              </a:rPr>
              <a:t>，</a:t>
            </a:r>
            <a:r>
              <a:rPr dirty="0" sz="2000" spc="-10" b="1">
                <a:latin typeface="Times New Roman"/>
                <a:cs typeface="Times New Roman"/>
              </a:rPr>
              <a:t>…</a:t>
            </a:r>
            <a:r>
              <a:rPr dirty="0" sz="2000" spc="-10" b="1">
                <a:latin typeface="宋体"/>
                <a:cs typeface="宋体"/>
              </a:rPr>
              <a:t>，</a:t>
            </a:r>
            <a:r>
              <a:rPr dirty="0" sz="2000" spc="-10" b="1">
                <a:latin typeface="Times New Roman"/>
                <a:cs typeface="Times New Roman"/>
              </a:rPr>
              <a:t>m</a:t>
            </a:r>
            <a:r>
              <a:rPr dirty="0" sz="2000" spc="-10" b="1">
                <a:latin typeface="宋体"/>
                <a:cs typeface="宋体"/>
              </a:rPr>
              <a:t>－</a:t>
            </a:r>
            <a:r>
              <a:rPr dirty="0" sz="2000" spc="-10" b="1">
                <a:latin typeface="Times New Roman"/>
                <a:cs typeface="Times New Roman"/>
              </a:rPr>
              <a:t>1</a:t>
            </a:r>
            <a:endParaRPr sz="2000">
              <a:latin typeface="Times New Roman"/>
              <a:cs typeface="Times New Roman"/>
            </a:endParaRPr>
          </a:p>
        </p:txBody>
      </p:sp>
      <p:sp>
        <p:nvSpPr>
          <p:cNvPr id="19" name="object 19" descr=""/>
          <p:cNvSpPr txBox="1"/>
          <p:nvPr/>
        </p:nvSpPr>
        <p:spPr>
          <a:xfrm>
            <a:off x="8138597" y="2496376"/>
            <a:ext cx="255270" cy="300355"/>
          </a:xfrm>
          <a:prstGeom prst="rect">
            <a:avLst/>
          </a:prstGeom>
        </p:spPr>
        <p:txBody>
          <a:bodyPr wrap="square" lIns="0" tIns="12700" rIns="0" bIns="0" rtlCol="0" vert="horz">
            <a:spAutoFit/>
          </a:bodyPr>
          <a:lstStyle/>
          <a:p>
            <a:pPr marL="12700">
              <a:lnSpc>
                <a:spcPct val="100000"/>
              </a:lnSpc>
              <a:spcBef>
                <a:spcPts val="100"/>
              </a:spcBef>
            </a:pPr>
            <a:r>
              <a:rPr dirty="0" sz="1800" spc="-50">
                <a:latin typeface="宋体"/>
                <a:cs typeface="宋体"/>
              </a:rPr>
              <a:t>…</a:t>
            </a:r>
            <a:endParaRPr sz="1800">
              <a:latin typeface="宋体"/>
              <a:cs typeface="宋体"/>
            </a:endParaRPr>
          </a:p>
        </p:txBody>
      </p:sp>
      <p:sp>
        <p:nvSpPr>
          <p:cNvPr id="20" name="object 20" descr=""/>
          <p:cNvSpPr txBox="1"/>
          <p:nvPr/>
        </p:nvSpPr>
        <p:spPr>
          <a:xfrm>
            <a:off x="6914841" y="2377410"/>
            <a:ext cx="482600" cy="300355"/>
          </a:xfrm>
          <a:prstGeom prst="rect">
            <a:avLst/>
          </a:prstGeom>
        </p:spPr>
        <p:txBody>
          <a:bodyPr wrap="square" lIns="0" tIns="12700" rIns="0" bIns="0" rtlCol="0" vert="horz">
            <a:spAutoFit/>
          </a:bodyPr>
          <a:lstStyle/>
          <a:p>
            <a:pPr marL="12700">
              <a:lnSpc>
                <a:spcPct val="100000"/>
              </a:lnSpc>
              <a:spcBef>
                <a:spcPts val="100"/>
              </a:spcBef>
            </a:pPr>
            <a:r>
              <a:rPr dirty="0" sz="1800" spc="-25">
                <a:latin typeface="宋体"/>
                <a:cs typeface="宋体"/>
              </a:rPr>
              <a:t>……</a:t>
            </a:r>
            <a:endParaRPr sz="1800">
              <a:latin typeface="宋体"/>
              <a:cs typeface="宋体"/>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56714" y="76022"/>
            <a:ext cx="2869565"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p:nvPr/>
        </p:nvSpPr>
        <p:spPr>
          <a:xfrm>
            <a:off x="5263322" y="2593028"/>
            <a:ext cx="273050" cy="0"/>
          </a:xfrm>
          <a:custGeom>
            <a:avLst/>
            <a:gdLst/>
            <a:ahLst/>
            <a:cxnLst/>
            <a:rect l="l" t="t" r="r" b="b"/>
            <a:pathLst>
              <a:path w="273050" h="0">
                <a:moveTo>
                  <a:pt x="0" y="0"/>
                </a:moveTo>
                <a:lnTo>
                  <a:pt x="272552" y="0"/>
                </a:lnTo>
              </a:path>
            </a:pathLst>
          </a:custGeom>
          <a:ln w="13236">
            <a:solidFill>
              <a:srgbClr val="000000"/>
            </a:solidFill>
          </a:ln>
        </p:spPr>
        <p:txBody>
          <a:bodyPr wrap="square" lIns="0" tIns="0" rIns="0" bIns="0" rtlCol="0"/>
          <a:lstStyle/>
          <a:p/>
        </p:txBody>
      </p:sp>
      <p:sp>
        <p:nvSpPr>
          <p:cNvPr id="11" name="object 11" descr=""/>
          <p:cNvSpPr txBox="1">
            <a:spLocks noGrp="1"/>
          </p:cNvSpPr>
          <p:nvPr>
            <p:ph type="body" idx="1"/>
          </p:nvPr>
        </p:nvSpPr>
        <p:spPr>
          <a:prstGeom prst="rect"/>
        </p:spPr>
        <p:txBody>
          <a:bodyPr wrap="square" lIns="0" tIns="193040" rIns="0" bIns="0" rtlCol="0" vert="horz">
            <a:spAutoFit/>
          </a:bodyPr>
          <a:lstStyle/>
          <a:p>
            <a:pPr marL="507365" indent="-456565">
              <a:lnSpc>
                <a:spcPct val="100000"/>
              </a:lnSpc>
              <a:spcBef>
                <a:spcPts val="1520"/>
              </a:spcBef>
              <a:buSzPct val="89583"/>
              <a:buFont typeface="Wingdings"/>
              <a:buChar char=""/>
              <a:tabLst>
                <a:tab pos="507365" algn="l"/>
              </a:tabLst>
            </a:pPr>
            <a:r>
              <a:rPr dirty="0"/>
              <a:t>一个单元的线性地址为</a:t>
            </a:r>
            <a:r>
              <a:rPr dirty="0" spc="-20">
                <a:solidFill>
                  <a:srgbClr val="9933FF"/>
                </a:solidFill>
                <a:latin typeface="Times New Roman"/>
                <a:cs typeface="Times New Roman"/>
              </a:rPr>
              <a:t>A</a:t>
            </a:r>
            <a:r>
              <a:rPr dirty="0" spc="-10"/>
              <a:t>，则其体号</a:t>
            </a:r>
            <a:r>
              <a:rPr dirty="0">
                <a:solidFill>
                  <a:srgbClr val="9933FF"/>
                </a:solidFill>
                <a:latin typeface="Times New Roman"/>
                <a:cs typeface="Times New Roman"/>
              </a:rPr>
              <a:t>j</a:t>
            </a:r>
            <a:r>
              <a:rPr dirty="0"/>
              <a:t>和体内地址</a:t>
            </a:r>
            <a:r>
              <a:rPr dirty="0">
                <a:solidFill>
                  <a:srgbClr val="9933FF"/>
                </a:solidFill>
                <a:latin typeface="Times New Roman"/>
                <a:cs typeface="Times New Roman"/>
              </a:rPr>
              <a:t>i</a:t>
            </a:r>
            <a:r>
              <a:rPr dirty="0" spc="-25"/>
              <a:t>为：</a:t>
            </a:r>
          </a:p>
          <a:p>
            <a:pPr marL="3421379">
              <a:lnSpc>
                <a:spcPct val="100000"/>
              </a:lnSpc>
              <a:spcBef>
                <a:spcPts val="1530"/>
              </a:spcBef>
            </a:pPr>
            <a:r>
              <a:rPr dirty="0" baseline="-52287" sz="3825" i="1">
                <a:solidFill>
                  <a:srgbClr val="000000"/>
                </a:solidFill>
                <a:latin typeface="Times New Roman"/>
                <a:cs typeface="Times New Roman"/>
              </a:rPr>
              <a:t>i</a:t>
            </a:r>
            <a:r>
              <a:rPr dirty="0" baseline="-52287" sz="3825" spc="-7" i="1">
                <a:solidFill>
                  <a:srgbClr val="000000"/>
                </a:solidFill>
                <a:latin typeface="Times New Roman"/>
                <a:cs typeface="Times New Roman"/>
              </a:rPr>
              <a:t> </a:t>
            </a:r>
            <a:r>
              <a:rPr dirty="0" baseline="-52287" sz="3825">
                <a:solidFill>
                  <a:srgbClr val="000000"/>
                </a:solidFill>
                <a:latin typeface="Symbol"/>
                <a:cs typeface="Symbol"/>
              </a:rPr>
              <a:t></a:t>
            </a:r>
            <a:r>
              <a:rPr dirty="0" baseline="-52287" sz="3825" spc="-22">
                <a:solidFill>
                  <a:srgbClr val="000000"/>
                </a:solidFill>
                <a:latin typeface="Times New Roman"/>
                <a:cs typeface="Times New Roman"/>
              </a:rPr>
              <a:t> </a:t>
            </a:r>
            <a:r>
              <a:rPr dirty="0" baseline="-21786" sz="3825">
                <a:solidFill>
                  <a:srgbClr val="000000"/>
                </a:solidFill>
                <a:latin typeface="Symbol"/>
                <a:cs typeface="Symbol"/>
              </a:rPr>
              <a:t></a:t>
            </a:r>
            <a:r>
              <a:rPr dirty="0" baseline="-21786" sz="3825" spc="-142">
                <a:solidFill>
                  <a:srgbClr val="000000"/>
                </a:solidFill>
                <a:latin typeface="Times New Roman"/>
                <a:cs typeface="Times New Roman"/>
              </a:rPr>
              <a:t> </a:t>
            </a:r>
            <a:r>
              <a:rPr dirty="0" baseline="-17429" sz="3825" spc="-869" i="1">
                <a:solidFill>
                  <a:srgbClr val="000000"/>
                </a:solidFill>
                <a:latin typeface="Times New Roman"/>
                <a:cs typeface="Times New Roman"/>
              </a:rPr>
              <a:t>A</a:t>
            </a:r>
            <a:r>
              <a:rPr dirty="0" sz="2000" spc="-580">
                <a:solidFill>
                  <a:srgbClr val="000000"/>
                </a:solidFill>
                <a:latin typeface="Times New Roman"/>
                <a:cs typeface="Times New Roman"/>
              </a:rPr>
              <a:t>j</a:t>
            </a:r>
            <a:r>
              <a:rPr dirty="0" sz="2000" spc="-580">
                <a:solidFill>
                  <a:srgbClr val="000000"/>
                </a:solidFill>
              </a:rPr>
              <a:t>＝</a:t>
            </a:r>
            <a:r>
              <a:rPr dirty="0" baseline="-21786" sz="3825" spc="-869">
                <a:solidFill>
                  <a:srgbClr val="000000"/>
                </a:solidFill>
                <a:latin typeface="Symbol"/>
                <a:cs typeface="Symbol"/>
              </a:rPr>
              <a:t></a:t>
            </a:r>
            <a:r>
              <a:rPr dirty="0" baseline="-21786" sz="3825" spc="30">
                <a:solidFill>
                  <a:srgbClr val="000000"/>
                </a:solidFill>
                <a:latin typeface="Times New Roman"/>
                <a:cs typeface="Times New Roman"/>
              </a:rPr>
              <a:t> </a:t>
            </a:r>
            <a:r>
              <a:rPr dirty="0" sz="2000">
                <a:solidFill>
                  <a:srgbClr val="000000"/>
                </a:solidFill>
                <a:latin typeface="Times New Roman"/>
                <a:cs typeface="Times New Roman"/>
              </a:rPr>
              <a:t>A</a:t>
            </a:r>
            <a:r>
              <a:rPr dirty="0" sz="2000" spc="-40">
                <a:solidFill>
                  <a:srgbClr val="000000"/>
                </a:solidFill>
                <a:latin typeface="Times New Roman"/>
                <a:cs typeface="Times New Roman"/>
              </a:rPr>
              <a:t> </a:t>
            </a:r>
            <a:r>
              <a:rPr dirty="0" sz="2000">
                <a:solidFill>
                  <a:srgbClr val="000000"/>
                </a:solidFill>
                <a:latin typeface="Times New Roman"/>
                <a:cs typeface="Times New Roman"/>
              </a:rPr>
              <a:t>mod</a:t>
            </a:r>
            <a:r>
              <a:rPr dirty="0" sz="2000" spc="-5">
                <a:solidFill>
                  <a:srgbClr val="000000"/>
                </a:solidFill>
                <a:latin typeface="Times New Roman"/>
                <a:cs typeface="Times New Roman"/>
              </a:rPr>
              <a:t> </a:t>
            </a:r>
            <a:r>
              <a:rPr dirty="0" sz="2000" spc="-50">
                <a:solidFill>
                  <a:srgbClr val="000000"/>
                </a:solidFill>
                <a:latin typeface="Times New Roman"/>
                <a:cs typeface="Times New Roman"/>
              </a:rPr>
              <a:t>m</a:t>
            </a:r>
            <a:endParaRPr sz="2000">
              <a:latin typeface="Times New Roman"/>
              <a:cs typeface="Times New Roman"/>
            </a:endParaRPr>
          </a:p>
          <a:p>
            <a:pPr algn="ctr" marR="2687320">
              <a:lnSpc>
                <a:spcPct val="100000"/>
              </a:lnSpc>
              <a:spcBef>
                <a:spcPts val="380"/>
              </a:spcBef>
            </a:pPr>
            <a:r>
              <a:rPr dirty="0" sz="2550" spc="-495">
                <a:solidFill>
                  <a:srgbClr val="000000"/>
                </a:solidFill>
                <a:latin typeface="Symbol"/>
                <a:cs typeface="Symbol"/>
              </a:rPr>
              <a:t></a:t>
            </a:r>
            <a:r>
              <a:rPr dirty="0" baseline="-28322" sz="3825" spc="-742">
                <a:solidFill>
                  <a:srgbClr val="000000"/>
                </a:solidFill>
                <a:latin typeface="Symbol"/>
                <a:cs typeface="Symbol"/>
              </a:rPr>
              <a:t></a:t>
            </a:r>
            <a:r>
              <a:rPr dirty="0" baseline="-28322" sz="3825" spc="-562">
                <a:solidFill>
                  <a:srgbClr val="000000"/>
                </a:solidFill>
                <a:latin typeface="Times New Roman"/>
                <a:cs typeface="Times New Roman"/>
              </a:rPr>
              <a:t> </a:t>
            </a:r>
            <a:r>
              <a:rPr dirty="0" baseline="-20697" sz="3825" i="1">
                <a:solidFill>
                  <a:srgbClr val="000000"/>
                </a:solidFill>
                <a:latin typeface="Times New Roman"/>
                <a:cs typeface="Times New Roman"/>
              </a:rPr>
              <a:t>m</a:t>
            </a:r>
            <a:r>
              <a:rPr dirty="0" baseline="-20697" sz="3825" spc="-525" i="1">
                <a:solidFill>
                  <a:srgbClr val="000000"/>
                </a:solidFill>
                <a:latin typeface="Times New Roman"/>
                <a:cs typeface="Times New Roman"/>
              </a:rPr>
              <a:t> </a:t>
            </a:r>
            <a:r>
              <a:rPr dirty="0" sz="2550" spc="-520">
                <a:solidFill>
                  <a:srgbClr val="000000"/>
                </a:solidFill>
                <a:latin typeface="Symbol"/>
                <a:cs typeface="Symbol"/>
              </a:rPr>
              <a:t></a:t>
            </a:r>
            <a:r>
              <a:rPr dirty="0" baseline="-28322" sz="3825" spc="-780">
                <a:solidFill>
                  <a:srgbClr val="000000"/>
                </a:solidFill>
                <a:latin typeface="Symbol"/>
                <a:cs typeface="Symbol"/>
              </a:rPr>
              <a:t></a:t>
            </a:r>
            <a:endParaRPr baseline="-28322" sz="3825">
              <a:latin typeface="Symbol"/>
              <a:cs typeface="Symbol"/>
            </a:endParaRPr>
          </a:p>
          <a:p>
            <a:pPr marL="507365" indent="-456565">
              <a:lnSpc>
                <a:spcPct val="100000"/>
              </a:lnSpc>
              <a:spcBef>
                <a:spcPts val="1714"/>
              </a:spcBef>
              <a:buSzPct val="89583"/>
              <a:buFont typeface="Wingdings"/>
              <a:buChar char=""/>
              <a:tabLst>
                <a:tab pos="507365" algn="l"/>
              </a:tabLst>
            </a:pPr>
            <a:r>
              <a:rPr dirty="0"/>
              <a:t>把</a:t>
            </a:r>
            <a:r>
              <a:rPr dirty="0" spc="-35">
                <a:solidFill>
                  <a:srgbClr val="9933FF"/>
                </a:solidFill>
                <a:latin typeface="Times New Roman"/>
                <a:cs typeface="Times New Roman"/>
              </a:rPr>
              <a:t>A</a:t>
            </a:r>
            <a:r>
              <a:rPr dirty="0"/>
              <a:t>表示为二进制数，则其低</a:t>
            </a:r>
            <a:r>
              <a:rPr dirty="0" spc="-10">
                <a:solidFill>
                  <a:srgbClr val="9933FF"/>
                </a:solidFill>
                <a:latin typeface="Times New Roman"/>
                <a:cs typeface="Times New Roman"/>
              </a:rPr>
              <a:t>log</a:t>
            </a:r>
            <a:r>
              <a:rPr dirty="0" baseline="-20833" sz="2400" spc="-15">
                <a:solidFill>
                  <a:srgbClr val="9933FF"/>
                </a:solidFill>
                <a:latin typeface="Times New Roman"/>
                <a:cs typeface="Times New Roman"/>
              </a:rPr>
              <a:t>2</a:t>
            </a:r>
            <a:r>
              <a:rPr dirty="0" sz="2400" spc="-10">
                <a:solidFill>
                  <a:srgbClr val="9933FF"/>
                </a:solidFill>
                <a:latin typeface="Times New Roman"/>
                <a:cs typeface="Times New Roman"/>
              </a:rPr>
              <a:t>m</a:t>
            </a:r>
            <a:r>
              <a:rPr dirty="0" sz="2400" spc="-5"/>
              <a:t>位就是体号，而剩下的部分就是体内地址。</a:t>
            </a:r>
            <a:endParaRPr sz="2400">
              <a:latin typeface="Times New Roman"/>
              <a:cs typeface="Times New Roman"/>
            </a:endParaRPr>
          </a:p>
        </p:txBody>
      </p:sp>
      <p:sp>
        <p:nvSpPr>
          <p:cNvPr id="12" name="object 12" descr=""/>
          <p:cNvSpPr txBox="1"/>
          <p:nvPr/>
        </p:nvSpPr>
        <p:spPr>
          <a:xfrm>
            <a:off x="3747837" y="4786538"/>
            <a:ext cx="944244" cy="257810"/>
          </a:xfrm>
          <a:prstGeom prst="rect">
            <a:avLst/>
          </a:prstGeom>
        </p:spPr>
        <p:txBody>
          <a:bodyPr wrap="square" lIns="0" tIns="15240" rIns="0" bIns="0" rtlCol="0" vert="horz">
            <a:spAutoFit/>
          </a:bodyPr>
          <a:lstStyle/>
          <a:p>
            <a:pPr marL="12700">
              <a:lnSpc>
                <a:spcPct val="100000"/>
              </a:lnSpc>
              <a:spcBef>
                <a:spcPts val="120"/>
              </a:spcBef>
            </a:pPr>
            <a:r>
              <a:rPr dirty="0" sz="1500" spc="-65">
                <a:solidFill>
                  <a:srgbClr val="0000FF"/>
                </a:solidFill>
                <a:latin typeface="宋体"/>
                <a:cs typeface="宋体"/>
              </a:rPr>
              <a:t>线性地址 </a:t>
            </a:r>
            <a:r>
              <a:rPr dirty="0" sz="1500" spc="-50">
                <a:solidFill>
                  <a:srgbClr val="0000FF"/>
                </a:solidFill>
                <a:latin typeface="宋体"/>
                <a:cs typeface="宋体"/>
              </a:rPr>
              <a:t>A</a:t>
            </a:r>
            <a:endParaRPr sz="1500">
              <a:latin typeface="宋体"/>
              <a:cs typeface="宋体"/>
            </a:endParaRPr>
          </a:p>
        </p:txBody>
      </p:sp>
      <p:sp>
        <p:nvSpPr>
          <p:cNvPr id="13" name="object 13" descr=""/>
          <p:cNvSpPr txBox="1"/>
          <p:nvPr/>
        </p:nvSpPr>
        <p:spPr>
          <a:xfrm>
            <a:off x="6483710" y="4646667"/>
            <a:ext cx="1282065" cy="497840"/>
          </a:xfrm>
          <a:prstGeom prst="rect">
            <a:avLst/>
          </a:prstGeom>
          <a:solidFill>
            <a:srgbClr val="CCFFFF"/>
          </a:solidFill>
          <a:ln w="15938">
            <a:solidFill>
              <a:srgbClr val="000000"/>
            </a:solidFill>
          </a:ln>
        </p:spPr>
        <p:txBody>
          <a:bodyPr wrap="square" lIns="0" tIns="154940" rIns="0" bIns="0" rtlCol="0" vert="horz">
            <a:spAutoFit/>
          </a:bodyPr>
          <a:lstStyle/>
          <a:p>
            <a:pPr marL="470534">
              <a:lnSpc>
                <a:spcPct val="100000"/>
              </a:lnSpc>
              <a:spcBef>
                <a:spcPts val="1220"/>
              </a:spcBef>
            </a:pPr>
            <a:r>
              <a:rPr dirty="0" sz="1500" spc="-25">
                <a:solidFill>
                  <a:srgbClr val="993300"/>
                </a:solidFill>
                <a:latin typeface="宋体"/>
                <a:cs typeface="宋体"/>
              </a:rPr>
              <a:t>体号</a:t>
            </a:r>
            <a:endParaRPr sz="1500">
              <a:latin typeface="宋体"/>
              <a:cs typeface="宋体"/>
            </a:endParaRPr>
          </a:p>
        </p:txBody>
      </p:sp>
      <p:sp>
        <p:nvSpPr>
          <p:cNvPr id="14" name="object 14" descr=""/>
          <p:cNvSpPr txBox="1"/>
          <p:nvPr/>
        </p:nvSpPr>
        <p:spPr>
          <a:xfrm>
            <a:off x="4797495" y="4646667"/>
            <a:ext cx="1686560" cy="497840"/>
          </a:xfrm>
          <a:prstGeom prst="rect">
            <a:avLst/>
          </a:prstGeom>
          <a:solidFill>
            <a:srgbClr val="FFCCFF"/>
          </a:solidFill>
          <a:ln w="15921">
            <a:solidFill>
              <a:srgbClr val="000000"/>
            </a:solidFill>
          </a:ln>
        </p:spPr>
        <p:txBody>
          <a:bodyPr wrap="square" lIns="0" tIns="154940" rIns="0" bIns="0" rtlCol="0" vert="horz">
            <a:spAutoFit/>
          </a:bodyPr>
          <a:lstStyle/>
          <a:p>
            <a:pPr marL="448309">
              <a:lnSpc>
                <a:spcPct val="100000"/>
              </a:lnSpc>
              <a:spcBef>
                <a:spcPts val="1220"/>
              </a:spcBef>
            </a:pPr>
            <a:r>
              <a:rPr dirty="0" sz="1500" spc="-15">
                <a:solidFill>
                  <a:srgbClr val="993300"/>
                </a:solidFill>
                <a:latin typeface="宋体"/>
                <a:cs typeface="宋体"/>
              </a:rPr>
              <a:t>体内地址</a:t>
            </a:r>
            <a:endParaRPr sz="1500">
              <a:latin typeface="宋体"/>
              <a:cs typeface="宋体"/>
            </a:endParaRPr>
          </a:p>
        </p:txBody>
      </p:sp>
      <p:sp>
        <p:nvSpPr>
          <p:cNvPr id="15" name="object 15" descr=""/>
          <p:cNvSpPr/>
          <p:nvPr/>
        </p:nvSpPr>
        <p:spPr>
          <a:xfrm>
            <a:off x="6483710" y="5177823"/>
            <a:ext cx="1261745" cy="158115"/>
          </a:xfrm>
          <a:custGeom>
            <a:avLst/>
            <a:gdLst/>
            <a:ahLst/>
            <a:cxnLst/>
            <a:rect l="l" t="t" r="r" b="b"/>
            <a:pathLst>
              <a:path w="1261745" h="158114">
                <a:moveTo>
                  <a:pt x="0" y="0"/>
                </a:moveTo>
                <a:lnTo>
                  <a:pt x="30882" y="55628"/>
                </a:lnTo>
                <a:lnTo>
                  <a:pt x="105240" y="78525"/>
                </a:lnTo>
                <a:lnTo>
                  <a:pt x="525344" y="78525"/>
                </a:lnTo>
                <a:lnTo>
                  <a:pt x="566243" y="84741"/>
                </a:lnTo>
                <a:lnTo>
                  <a:pt x="599702" y="101687"/>
                </a:lnTo>
                <a:lnTo>
                  <a:pt x="622292" y="126812"/>
                </a:lnTo>
                <a:lnTo>
                  <a:pt x="630584" y="157565"/>
                </a:lnTo>
                <a:lnTo>
                  <a:pt x="638819" y="126812"/>
                </a:lnTo>
                <a:lnTo>
                  <a:pt x="661332" y="101687"/>
                </a:lnTo>
                <a:lnTo>
                  <a:pt x="694835" y="84741"/>
                </a:lnTo>
                <a:lnTo>
                  <a:pt x="736038" y="78525"/>
                </a:lnTo>
                <a:lnTo>
                  <a:pt x="1156142" y="78525"/>
                </a:lnTo>
                <a:lnTo>
                  <a:pt x="1197041" y="72393"/>
                </a:lnTo>
                <a:lnTo>
                  <a:pt x="1230500" y="55628"/>
                </a:lnTo>
                <a:lnTo>
                  <a:pt x="1253090" y="30681"/>
                </a:lnTo>
                <a:lnTo>
                  <a:pt x="1261382" y="0"/>
                </a:lnTo>
              </a:path>
            </a:pathLst>
          </a:custGeom>
          <a:ln w="15939">
            <a:solidFill>
              <a:srgbClr val="000000"/>
            </a:solidFill>
          </a:ln>
        </p:spPr>
        <p:txBody>
          <a:bodyPr wrap="square" lIns="0" tIns="0" rIns="0" bIns="0" rtlCol="0"/>
          <a:lstStyle/>
          <a:p/>
        </p:txBody>
      </p:sp>
      <p:sp>
        <p:nvSpPr>
          <p:cNvPr id="16" name="object 16" descr=""/>
          <p:cNvSpPr txBox="1"/>
          <p:nvPr/>
        </p:nvSpPr>
        <p:spPr>
          <a:xfrm>
            <a:off x="6803469" y="5282805"/>
            <a:ext cx="785495" cy="257810"/>
          </a:xfrm>
          <a:prstGeom prst="rect">
            <a:avLst/>
          </a:prstGeom>
        </p:spPr>
        <p:txBody>
          <a:bodyPr wrap="square" lIns="0" tIns="15240" rIns="0" bIns="0" rtlCol="0" vert="horz">
            <a:spAutoFit/>
          </a:bodyPr>
          <a:lstStyle/>
          <a:p>
            <a:pPr marL="38100">
              <a:lnSpc>
                <a:spcPct val="100000"/>
              </a:lnSpc>
              <a:spcBef>
                <a:spcPts val="120"/>
              </a:spcBef>
            </a:pPr>
            <a:r>
              <a:rPr dirty="0" sz="1500">
                <a:solidFill>
                  <a:srgbClr val="0000FF"/>
                </a:solidFill>
                <a:latin typeface="Times New Roman"/>
                <a:cs typeface="Times New Roman"/>
              </a:rPr>
              <a:t>l</a:t>
            </a:r>
            <a:r>
              <a:rPr dirty="0" sz="1500" b="1">
                <a:solidFill>
                  <a:srgbClr val="0000FF"/>
                </a:solidFill>
                <a:latin typeface="Times New Roman"/>
                <a:cs typeface="Times New Roman"/>
              </a:rPr>
              <a:t>og</a:t>
            </a:r>
            <a:r>
              <a:rPr dirty="0" baseline="-13888" sz="1500" b="1">
                <a:solidFill>
                  <a:srgbClr val="0000FF"/>
                </a:solidFill>
                <a:latin typeface="Times New Roman"/>
                <a:cs typeface="Times New Roman"/>
              </a:rPr>
              <a:t>2</a:t>
            </a:r>
            <a:r>
              <a:rPr dirty="0" sz="1500" b="1">
                <a:solidFill>
                  <a:srgbClr val="0000FF"/>
                </a:solidFill>
                <a:latin typeface="Times New Roman"/>
                <a:cs typeface="Times New Roman"/>
              </a:rPr>
              <a:t>m</a:t>
            </a:r>
            <a:r>
              <a:rPr dirty="0" sz="1500" spc="5" b="1">
                <a:solidFill>
                  <a:srgbClr val="0000FF"/>
                </a:solidFill>
                <a:latin typeface="Times New Roman"/>
                <a:cs typeface="Times New Roman"/>
              </a:rPr>
              <a:t> </a:t>
            </a:r>
            <a:r>
              <a:rPr dirty="0" sz="1500" spc="-50">
                <a:solidFill>
                  <a:srgbClr val="0000FF"/>
                </a:solidFill>
                <a:latin typeface="宋体"/>
                <a:cs typeface="宋体"/>
              </a:rPr>
              <a:t>位</a:t>
            </a:r>
            <a:endParaRPr sz="1500">
              <a:latin typeface="宋体"/>
              <a:cs typeface="宋体"/>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4214522" y="2034762"/>
            <a:ext cx="4060190" cy="323850"/>
          </a:xfrm>
          <a:prstGeom prst="rect">
            <a:avLst/>
          </a:prstGeom>
          <a:solidFill>
            <a:srgbClr val="FFCCCC"/>
          </a:solidFill>
          <a:ln w="12389">
            <a:solidFill>
              <a:srgbClr val="000000"/>
            </a:solidFill>
          </a:ln>
        </p:spPr>
        <p:txBody>
          <a:bodyPr wrap="square" lIns="0" tIns="69215" rIns="0" bIns="0" rtlCol="0" vert="horz">
            <a:spAutoFit/>
          </a:bodyPr>
          <a:lstStyle/>
          <a:p>
            <a:pPr algn="ctr" marL="20955">
              <a:lnSpc>
                <a:spcPct val="100000"/>
              </a:lnSpc>
              <a:spcBef>
                <a:spcPts val="545"/>
              </a:spcBef>
            </a:pPr>
            <a:r>
              <a:rPr dirty="0" sz="1250" spc="-40" b="1">
                <a:solidFill>
                  <a:srgbClr val="0000FF"/>
                </a:solidFill>
                <a:latin typeface="宋体"/>
                <a:cs typeface="宋体"/>
              </a:rPr>
              <a:t>数据寄存器</a:t>
            </a:r>
            <a:endParaRPr sz="1250">
              <a:latin typeface="宋体"/>
              <a:cs typeface="宋体"/>
            </a:endParaRPr>
          </a:p>
        </p:txBody>
      </p:sp>
      <p:sp>
        <p:nvSpPr>
          <p:cNvPr id="10" name="object 10" descr=""/>
          <p:cNvSpPr txBox="1"/>
          <p:nvPr/>
        </p:nvSpPr>
        <p:spPr>
          <a:xfrm>
            <a:off x="5432271" y="6030642"/>
            <a:ext cx="1746250" cy="215265"/>
          </a:xfrm>
          <a:prstGeom prst="rect">
            <a:avLst/>
          </a:prstGeom>
        </p:spPr>
        <p:txBody>
          <a:bodyPr wrap="square" lIns="0" tIns="12065" rIns="0" bIns="0" rtlCol="0" vert="horz">
            <a:spAutoFit/>
          </a:bodyPr>
          <a:lstStyle/>
          <a:p>
            <a:pPr marL="12700">
              <a:lnSpc>
                <a:spcPct val="100000"/>
              </a:lnSpc>
              <a:spcBef>
                <a:spcPts val="95"/>
              </a:spcBef>
            </a:pPr>
            <a:r>
              <a:rPr dirty="0" sz="1250" spc="-35" b="1">
                <a:solidFill>
                  <a:srgbClr val="0000FF"/>
                </a:solidFill>
                <a:latin typeface="宋体"/>
                <a:cs typeface="宋体"/>
              </a:rPr>
              <a:t>地址寄存器</a:t>
            </a:r>
            <a:r>
              <a:rPr dirty="0" sz="1250" spc="-60" b="1">
                <a:solidFill>
                  <a:srgbClr val="0000FF"/>
                </a:solidFill>
                <a:latin typeface="宋体"/>
                <a:cs typeface="宋体"/>
              </a:rPr>
              <a:t>（</a:t>
            </a:r>
            <a:r>
              <a:rPr dirty="0" sz="1250" spc="-35" b="1">
                <a:solidFill>
                  <a:srgbClr val="0000FF"/>
                </a:solidFill>
                <a:latin typeface="宋体"/>
                <a:cs typeface="宋体"/>
              </a:rPr>
              <a:t>线性地址</a:t>
            </a:r>
            <a:r>
              <a:rPr dirty="0" sz="1250" spc="-50" b="1">
                <a:solidFill>
                  <a:srgbClr val="0000FF"/>
                </a:solidFill>
                <a:latin typeface="宋体"/>
                <a:cs typeface="宋体"/>
              </a:rPr>
              <a:t>）</a:t>
            </a:r>
            <a:endParaRPr sz="1250">
              <a:latin typeface="宋体"/>
              <a:cs typeface="宋体"/>
            </a:endParaRPr>
          </a:p>
        </p:txBody>
      </p:sp>
      <p:grpSp>
        <p:nvGrpSpPr>
          <p:cNvPr id="11" name="object 11" descr=""/>
          <p:cNvGrpSpPr/>
          <p:nvPr/>
        </p:nvGrpSpPr>
        <p:grpSpPr>
          <a:xfrm>
            <a:off x="3949478" y="3208381"/>
            <a:ext cx="248920" cy="2153920"/>
            <a:chOff x="3949478" y="3208381"/>
            <a:chExt cx="248920" cy="2153920"/>
          </a:xfrm>
        </p:grpSpPr>
        <p:sp>
          <p:nvSpPr>
            <p:cNvPr id="12" name="object 12" descr=""/>
            <p:cNvSpPr/>
            <p:nvPr/>
          </p:nvSpPr>
          <p:spPr>
            <a:xfrm>
              <a:off x="3957589" y="3241044"/>
              <a:ext cx="0" cy="2114550"/>
            </a:xfrm>
            <a:custGeom>
              <a:avLst/>
              <a:gdLst/>
              <a:ahLst/>
              <a:cxnLst/>
              <a:rect l="l" t="t" r="r" b="b"/>
              <a:pathLst>
                <a:path w="0" h="2114550">
                  <a:moveTo>
                    <a:pt x="0" y="0"/>
                  </a:moveTo>
                  <a:lnTo>
                    <a:pt x="0" y="2114429"/>
                  </a:lnTo>
                </a:path>
              </a:pathLst>
            </a:custGeom>
            <a:ln w="12377">
              <a:solidFill>
                <a:srgbClr val="000000"/>
              </a:solidFill>
            </a:ln>
          </p:spPr>
          <p:txBody>
            <a:bodyPr wrap="square" lIns="0" tIns="0" rIns="0" bIns="0" rtlCol="0"/>
            <a:lstStyle/>
            <a:p/>
          </p:txBody>
        </p:sp>
        <p:pic>
          <p:nvPicPr>
            <p:cNvPr id="13" name="object 13" descr=""/>
            <p:cNvPicPr/>
            <p:nvPr/>
          </p:nvPicPr>
          <p:blipFill>
            <a:blip r:embed="rId3" cstate="print"/>
            <a:stretch>
              <a:fillRect/>
            </a:stretch>
          </p:blipFill>
          <p:spPr>
            <a:xfrm>
              <a:off x="3949478" y="3208381"/>
              <a:ext cx="248829" cy="70499"/>
            </a:xfrm>
            <a:prstGeom prst="rect">
              <a:avLst/>
            </a:prstGeom>
          </p:spPr>
        </p:pic>
      </p:grpSp>
      <p:sp>
        <p:nvSpPr>
          <p:cNvPr id="14" name="object 14" descr=""/>
          <p:cNvSpPr txBox="1"/>
          <p:nvPr/>
        </p:nvSpPr>
        <p:spPr>
          <a:xfrm>
            <a:off x="4773620" y="5649934"/>
            <a:ext cx="1487805" cy="348615"/>
          </a:xfrm>
          <a:prstGeom prst="rect">
            <a:avLst/>
          </a:prstGeom>
          <a:solidFill>
            <a:srgbClr val="FFCCFF"/>
          </a:solidFill>
          <a:ln w="12377">
            <a:solidFill>
              <a:srgbClr val="000000"/>
            </a:solidFill>
          </a:ln>
        </p:spPr>
        <p:txBody>
          <a:bodyPr wrap="square" lIns="0" tIns="69215" rIns="0" bIns="0" rtlCol="0" vert="horz">
            <a:spAutoFit/>
          </a:bodyPr>
          <a:lstStyle/>
          <a:p>
            <a:pPr marL="181610">
              <a:lnSpc>
                <a:spcPct val="100000"/>
              </a:lnSpc>
              <a:spcBef>
                <a:spcPts val="545"/>
              </a:spcBef>
            </a:pPr>
            <a:r>
              <a:rPr dirty="0" sz="1250" spc="-35" b="1">
                <a:solidFill>
                  <a:srgbClr val="993300"/>
                </a:solidFill>
                <a:latin typeface="宋体"/>
                <a:cs typeface="宋体"/>
              </a:rPr>
              <a:t>体内地址</a:t>
            </a:r>
            <a:r>
              <a:rPr dirty="0" sz="1250" spc="-20" b="1">
                <a:solidFill>
                  <a:srgbClr val="993300"/>
                </a:solidFill>
                <a:latin typeface="宋体"/>
                <a:cs typeface="宋体"/>
              </a:rPr>
              <a:t>（3</a:t>
            </a:r>
            <a:r>
              <a:rPr dirty="0" sz="1250" spc="-160" b="1">
                <a:solidFill>
                  <a:srgbClr val="993300"/>
                </a:solidFill>
                <a:latin typeface="宋体"/>
                <a:cs typeface="宋体"/>
              </a:rPr>
              <a:t> 位</a:t>
            </a:r>
            <a:r>
              <a:rPr dirty="0" sz="1250" spc="-50" b="1">
                <a:solidFill>
                  <a:srgbClr val="993300"/>
                </a:solidFill>
                <a:latin typeface="宋体"/>
                <a:cs typeface="宋体"/>
              </a:rPr>
              <a:t>）</a:t>
            </a:r>
            <a:endParaRPr sz="1250">
              <a:latin typeface="宋体"/>
              <a:cs typeface="宋体"/>
            </a:endParaRPr>
          </a:p>
        </p:txBody>
      </p:sp>
      <p:sp>
        <p:nvSpPr>
          <p:cNvPr id="15" name="object 15" descr=""/>
          <p:cNvSpPr txBox="1"/>
          <p:nvPr/>
        </p:nvSpPr>
        <p:spPr>
          <a:xfrm>
            <a:off x="6261037" y="5649934"/>
            <a:ext cx="1504315" cy="348615"/>
          </a:xfrm>
          <a:prstGeom prst="rect">
            <a:avLst/>
          </a:prstGeom>
          <a:solidFill>
            <a:srgbClr val="CCFFFF"/>
          </a:solidFill>
          <a:ln w="12389">
            <a:solidFill>
              <a:srgbClr val="000000"/>
            </a:solidFill>
          </a:ln>
        </p:spPr>
        <p:txBody>
          <a:bodyPr wrap="square" lIns="0" tIns="69215" rIns="0" bIns="0" rtlCol="0" vert="horz">
            <a:spAutoFit/>
          </a:bodyPr>
          <a:lstStyle/>
          <a:p>
            <a:pPr marL="381000">
              <a:lnSpc>
                <a:spcPct val="100000"/>
              </a:lnSpc>
              <a:spcBef>
                <a:spcPts val="545"/>
              </a:spcBef>
            </a:pPr>
            <a:r>
              <a:rPr dirty="0" sz="1250" spc="-155" b="1">
                <a:solidFill>
                  <a:srgbClr val="993300"/>
                </a:solidFill>
                <a:latin typeface="宋体"/>
                <a:cs typeface="宋体"/>
              </a:rPr>
              <a:t>体号</a:t>
            </a:r>
            <a:r>
              <a:rPr dirty="0" sz="1250" spc="-20" b="1">
                <a:solidFill>
                  <a:srgbClr val="993300"/>
                </a:solidFill>
                <a:latin typeface="宋体"/>
                <a:cs typeface="宋体"/>
              </a:rPr>
              <a:t>（3</a:t>
            </a:r>
            <a:r>
              <a:rPr dirty="0" sz="1250" spc="-185" b="1">
                <a:solidFill>
                  <a:srgbClr val="993300"/>
                </a:solidFill>
                <a:latin typeface="宋体"/>
                <a:cs typeface="宋体"/>
              </a:rPr>
              <a:t> 位</a:t>
            </a:r>
            <a:r>
              <a:rPr dirty="0" sz="1250" spc="-60" b="1">
                <a:solidFill>
                  <a:srgbClr val="993300"/>
                </a:solidFill>
                <a:latin typeface="宋体"/>
                <a:cs typeface="宋体"/>
              </a:rPr>
              <a:t>）</a:t>
            </a:r>
            <a:endParaRPr sz="1250">
              <a:latin typeface="宋体"/>
              <a:cs typeface="宋体"/>
            </a:endParaRPr>
          </a:p>
        </p:txBody>
      </p:sp>
      <p:graphicFrame>
        <p:nvGraphicFramePr>
          <p:cNvPr id="16" name="object 16" descr=""/>
          <p:cNvGraphicFramePr>
            <a:graphicFrameLocks noGrp="1"/>
          </p:cNvGraphicFramePr>
          <p:nvPr/>
        </p:nvGraphicFramePr>
        <p:xfrm>
          <a:off x="4208329" y="2563455"/>
          <a:ext cx="4165600" cy="2568575"/>
        </p:xfrm>
        <a:graphic>
          <a:graphicData uri="http://schemas.openxmlformats.org/drawingml/2006/table">
            <a:tbl>
              <a:tblPr firstRow="1" bandRow="1">
                <a:tableStyleId>{2D5ABB26-0587-4C30-8999-92F81FD0307C}</a:tableStyleId>
              </a:tblPr>
              <a:tblGrid>
                <a:gridCol w="505459"/>
                <a:gridCol w="509904"/>
                <a:gridCol w="505459"/>
                <a:gridCol w="509270"/>
                <a:gridCol w="504825"/>
                <a:gridCol w="509269"/>
                <a:gridCol w="505460"/>
                <a:gridCol w="525779"/>
              </a:tblGrid>
              <a:tr h="323215">
                <a:tc>
                  <a:txBody>
                    <a:bodyPr/>
                    <a:lstStyle/>
                    <a:p>
                      <a:pPr algn="ctr" marL="3810">
                        <a:lnSpc>
                          <a:spcPct val="100000"/>
                        </a:lnSpc>
                        <a:spcBef>
                          <a:spcPts val="545"/>
                        </a:spcBef>
                      </a:pPr>
                      <a:r>
                        <a:rPr dirty="0" sz="1250" spc="-50">
                          <a:latin typeface="宋体"/>
                          <a:cs typeface="宋体"/>
                        </a:rPr>
                        <a:t>0</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50">
                          <a:latin typeface="宋体"/>
                          <a:cs typeface="宋体"/>
                        </a:rPr>
                        <a:t>1</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4445">
                        <a:lnSpc>
                          <a:spcPct val="100000"/>
                        </a:lnSpc>
                        <a:spcBef>
                          <a:spcPts val="545"/>
                        </a:spcBef>
                      </a:pPr>
                      <a:r>
                        <a:rPr dirty="0" sz="1250" spc="-50">
                          <a:latin typeface="宋体"/>
                          <a:cs typeface="宋体"/>
                        </a:rPr>
                        <a:t>2</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50">
                          <a:latin typeface="宋体"/>
                          <a:cs typeface="宋体"/>
                        </a:rPr>
                        <a:t>3</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4445">
                        <a:lnSpc>
                          <a:spcPct val="100000"/>
                        </a:lnSpc>
                        <a:spcBef>
                          <a:spcPts val="545"/>
                        </a:spcBef>
                      </a:pPr>
                      <a:r>
                        <a:rPr dirty="0" sz="1250" spc="-50">
                          <a:latin typeface="宋体"/>
                          <a:cs typeface="宋体"/>
                        </a:rPr>
                        <a:t>4</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50">
                          <a:latin typeface="宋体"/>
                          <a:cs typeface="宋体"/>
                        </a:rPr>
                        <a:t>5</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3810">
                        <a:lnSpc>
                          <a:spcPct val="100000"/>
                        </a:lnSpc>
                        <a:spcBef>
                          <a:spcPts val="545"/>
                        </a:spcBef>
                      </a:pPr>
                      <a:r>
                        <a:rPr dirty="0" sz="1250" spc="-50">
                          <a:latin typeface="宋体"/>
                          <a:cs typeface="宋体"/>
                        </a:rPr>
                        <a:t>6</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24765">
                        <a:lnSpc>
                          <a:spcPct val="100000"/>
                        </a:lnSpc>
                        <a:spcBef>
                          <a:spcPts val="545"/>
                        </a:spcBef>
                      </a:pPr>
                      <a:r>
                        <a:rPr dirty="0" sz="1250" spc="-50">
                          <a:latin typeface="宋体"/>
                          <a:cs typeface="宋体"/>
                        </a:rPr>
                        <a:t>7</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18770">
                <a:tc>
                  <a:txBody>
                    <a:bodyPr/>
                    <a:lstStyle/>
                    <a:p>
                      <a:pPr algn="ctr" marL="3810">
                        <a:lnSpc>
                          <a:spcPct val="100000"/>
                        </a:lnSpc>
                        <a:spcBef>
                          <a:spcPts val="545"/>
                        </a:spcBef>
                      </a:pPr>
                      <a:r>
                        <a:rPr dirty="0" sz="1250" spc="-50">
                          <a:latin typeface="宋体"/>
                          <a:cs typeface="宋体"/>
                        </a:rPr>
                        <a:t>8</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50">
                          <a:latin typeface="宋体"/>
                          <a:cs typeface="宋体"/>
                        </a:rPr>
                        <a:t>9</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10</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11</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5"/>
                        </a:spcBef>
                      </a:pPr>
                      <a:r>
                        <a:rPr dirty="0" sz="1250" spc="-25">
                          <a:latin typeface="宋体"/>
                          <a:cs typeface="宋体"/>
                        </a:rPr>
                        <a:t>12</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5"/>
                        </a:spcBef>
                      </a:pPr>
                      <a:r>
                        <a:rPr dirty="0" sz="1250" spc="-25">
                          <a:latin typeface="宋体"/>
                          <a:cs typeface="宋体"/>
                        </a:rPr>
                        <a:t>13</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14</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25">
                          <a:latin typeface="宋体"/>
                          <a:cs typeface="宋体"/>
                        </a:rPr>
                        <a:t>15</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23215">
                <a:tc>
                  <a:txBody>
                    <a:bodyPr/>
                    <a:lstStyle/>
                    <a:p>
                      <a:pPr algn="ctr" marL="7620">
                        <a:lnSpc>
                          <a:spcPct val="100000"/>
                        </a:lnSpc>
                        <a:spcBef>
                          <a:spcPts val="545"/>
                        </a:spcBef>
                      </a:pPr>
                      <a:r>
                        <a:rPr dirty="0" sz="1250" spc="-25">
                          <a:latin typeface="宋体"/>
                          <a:cs typeface="宋体"/>
                        </a:rPr>
                        <a:t>16</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17</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18</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19</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5"/>
                        </a:spcBef>
                      </a:pPr>
                      <a:r>
                        <a:rPr dirty="0" sz="1250" spc="-25">
                          <a:latin typeface="宋体"/>
                          <a:cs typeface="宋体"/>
                        </a:rPr>
                        <a:t>20</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5"/>
                        </a:spcBef>
                      </a:pPr>
                      <a:r>
                        <a:rPr dirty="0" sz="1250" spc="-25">
                          <a:latin typeface="宋体"/>
                          <a:cs typeface="宋体"/>
                        </a:rPr>
                        <a:t>21</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22</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25">
                          <a:latin typeface="宋体"/>
                          <a:cs typeface="宋体"/>
                        </a:rPr>
                        <a:t>23</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18770">
                <a:tc>
                  <a:txBody>
                    <a:bodyPr/>
                    <a:lstStyle/>
                    <a:p>
                      <a:pPr algn="ctr" marL="7620">
                        <a:lnSpc>
                          <a:spcPct val="100000"/>
                        </a:lnSpc>
                        <a:spcBef>
                          <a:spcPts val="545"/>
                        </a:spcBef>
                      </a:pPr>
                      <a:r>
                        <a:rPr dirty="0" sz="1250" spc="-25">
                          <a:latin typeface="宋体"/>
                          <a:cs typeface="宋体"/>
                        </a:rPr>
                        <a:t>24</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25</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26</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27</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5"/>
                        </a:spcBef>
                      </a:pPr>
                      <a:r>
                        <a:rPr dirty="0" sz="1250" spc="-25">
                          <a:latin typeface="宋体"/>
                          <a:cs typeface="宋体"/>
                        </a:rPr>
                        <a:t>28</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5"/>
                        </a:spcBef>
                      </a:pPr>
                      <a:r>
                        <a:rPr dirty="0" sz="1250" spc="-25">
                          <a:latin typeface="宋体"/>
                          <a:cs typeface="宋体"/>
                        </a:rPr>
                        <a:t>29</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30</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25">
                          <a:latin typeface="宋体"/>
                          <a:cs typeface="宋体"/>
                        </a:rPr>
                        <a:t>31</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23215">
                <a:tc>
                  <a:txBody>
                    <a:bodyPr/>
                    <a:lstStyle/>
                    <a:p>
                      <a:pPr algn="ctr" marL="7620">
                        <a:lnSpc>
                          <a:spcPct val="100000"/>
                        </a:lnSpc>
                        <a:spcBef>
                          <a:spcPts val="545"/>
                        </a:spcBef>
                      </a:pPr>
                      <a:r>
                        <a:rPr dirty="0" sz="1250" spc="-25">
                          <a:latin typeface="宋体"/>
                          <a:cs typeface="宋体"/>
                        </a:rPr>
                        <a:t>32</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33</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34</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35</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5"/>
                        </a:spcBef>
                      </a:pPr>
                      <a:r>
                        <a:rPr dirty="0" sz="1250" spc="-25">
                          <a:latin typeface="宋体"/>
                          <a:cs typeface="宋体"/>
                        </a:rPr>
                        <a:t>36</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5"/>
                        </a:spcBef>
                      </a:pPr>
                      <a:r>
                        <a:rPr dirty="0" sz="1250" spc="-25">
                          <a:latin typeface="宋体"/>
                          <a:cs typeface="宋体"/>
                        </a:rPr>
                        <a:t>37</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38</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25">
                          <a:latin typeface="宋体"/>
                          <a:cs typeface="宋体"/>
                        </a:rPr>
                        <a:t>39</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19405">
                <a:tc>
                  <a:txBody>
                    <a:bodyPr/>
                    <a:lstStyle/>
                    <a:p>
                      <a:pPr algn="ctr" marL="7620">
                        <a:lnSpc>
                          <a:spcPct val="100000"/>
                        </a:lnSpc>
                        <a:spcBef>
                          <a:spcPts val="545"/>
                        </a:spcBef>
                      </a:pPr>
                      <a:r>
                        <a:rPr dirty="0" sz="1250" spc="-25">
                          <a:latin typeface="宋体"/>
                          <a:cs typeface="宋体"/>
                        </a:rPr>
                        <a:t>40</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41</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42</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43</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5"/>
                        </a:spcBef>
                      </a:pPr>
                      <a:r>
                        <a:rPr dirty="0" sz="1250" spc="-25">
                          <a:latin typeface="宋体"/>
                          <a:cs typeface="宋体"/>
                        </a:rPr>
                        <a:t>44</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5"/>
                        </a:spcBef>
                      </a:pPr>
                      <a:r>
                        <a:rPr dirty="0" sz="1250" spc="-25">
                          <a:latin typeface="宋体"/>
                          <a:cs typeface="宋体"/>
                        </a:rPr>
                        <a:t>45</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46</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25">
                          <a:latin typeface="宋体"/>
                          <a:cs typeface="宋体"/>
                        </a:rPr>
                        <a:t>47</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22580">
                <a:tc>
                  <a:txBody>
                    <a:bodyPr/>
                    <a:lstStyle/>
                    <a:p>
                      <a:pPr algn="ctr" marL="7620">
                        <a:lnSpc>
                          <a:spcPct val="100000"/>
                        </a:lnSpc>
                        <a:spcBef>
                          <a:spcPts val="540"/>
                        </a:spcBef>
                      </a:pPr>
                      <a:r>
                        <a:rPr dirty="0" sz="1250" spc="-25">
                          <a:latin typeface="宋体"/>
                          <a:cs typeface="宋体"/>
                        </a:rPr>
                        <a:t>48</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0"/>
                        </a:spcBef>
                      </a:pPr>
                      <a:r>
                        <a:rPr dirty="0" sz="1250" spc="-25">
                          <a:latin typeface="宋体"/>
                          <a:cs typeface="宋体"/>
                        </a:rPr>
                        <a:t>49</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0"/>
                        </a:spcBef>
                      </a:pPr>
                      <a:r>
                        <a:rPr dirty="0" sz="1250" spc="-25">
                          <a:latin typeface="宋体"/>
                          <a:cs typeface="宋体"/>
                        </a:rPr>
                        <a:t>50</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0"/>
                        </a:spcBef>
                      </a:pPr>
                      <a:r>
                        <a:rPr dirty="0" sz="1250" spc="-25">
                          <a:latin typeface="宋体"/>
                          <a:cs typeface="宋体"/>
                        </a:rPr>
                        <a:t>51</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0"/>
                        </a:spcBef>
                      </a:pPr>
                      <a:r>
                        <a:rPr dirty="0" sz="1250" spc="-25">
                          <a:latin typeface="宋体"/>
                          <a:cs typeface="宋体"/>
                        </a:rPr>
                        <a:t>52</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0"/>
                        </a:spcBef>
                      </a:pPr>
                      <a:r>
                        <a:rPr dirty="0" sz="1250" spc="-25">
                          <a:latin typeface="宋体"/>
                          <a:cs typeface="宋体"/>
                        </a:rPr>
                        <a:t>53</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0"/>
                        </a:spcBef>
                      </a:pPr>
                      <a:r>
                        <a:rPr dirty="0" sz="1250" spc="-25">
                          <a:latin typeface="宋体"/>
                          <a:cs typeface="宋体"/>
                        </a:rPr>
                        <a:t>54</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0"/>
                        </a:spcBef>
                      </a:pPr>
                      <a:r>
                        <a:rPr dirty="0" sz="1250" spc="-25">
                          <a:latin typeface="宋体"/>
                          <a:cs typeface="宋体"/>
                        </a:rPr>
                        <a:t>55</a:t>
                      </a:r>
                      <a:endParaRPr sz="1250">
                        <a:latin typeface="宋体"/>
                        <a:cs typeface="宋体"/>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r h="319405">
                <a:tc>
                  <a:txBody>
                    <a:bodyPr/>
                    <a:lstStyle/>
                    <a:p>
                      <a:pPr algn="ctr" marL="7620">
                        <a:lnSpc>
                          <a:spcPct val="100000"/>
                        </a:lnSpc>
                        <a:spcBef>
                          <a:spcPts val="545"/>
                        </a:spcBef>
                      </a:pPr>
                      <a:r>
                        <a:rPr dirty="0" sz="1250" spc="-25">
                          <a:latin typeface="宋体"/>
                          <a:cs typeface="宋体"/>
                        </a:rPr>
                        <a:t>56</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57</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58</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1430">
                        <a:lnSpc>
                          <a:spcPct val="100000"/>
                        </a:lnSpc>
                        <a:spcBef>
                          <a:spcPts val="545"/>
                        </a:spcBef>
                      </a:pPr>
                      <a:r>
                        <a:rPr dirty="0" sz="1250" spc="-25">
                          <a:latin typeface="宋体"/>
                          <a:cs typeface="宋体"/>
                        </a:rPr>
                        <a:t>59</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8255">
                        <a:lnSpc>
                          <a:spcPct val="100000"/>
                        </a:lnSpc>
                        <a:spcBef>
                          <a:spcPts val="545"/>
                        </a:spcBef>
                      </a:pPr>
                      <a:r>
                        <a:rPr dirty="0" sz="1250" spc="-25">
                          <a:latin typeface="宋体"/>
                          <a:cs typeface="宋体"/>
                        </a:rPr>
                        <a:t>60</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L="12065">
                        <a:lnSpc>
                          <a:spcPct val="100000"/>
                        </a:lnSpc>
                        <a:spcBef>
                          <a:spcPts val="545"/>
                        </a:spcBef>
                      </a:pPr>
                      <a:r>
                        <a:rPr dirty="0" sz="1250" spc="-25">
                          <a:latin typeface="宋体"/>
                          <a:cs typeface="宋体"/>
                        </a:rPr>
                        <a:t>61</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marR="17780">
                        <a:lnSpc>
                          <a:spcPct val="100000"/>
                        </a:lnSpc>
                        <a:spcBef>
                          <a:spcPts val="545"/>
                        </a:spcBef>
                      </a:pPr>
                      <a:r>
                        <a:rPr dirty="0" sz="1250" spc="-25">
                          <a:latin typeface="宋体"/>
                          <a:cs typeface="宋体"/>
                        </a:rPr>
                        <a:t>62</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c>
                  <a:txBody>
                    <a:bodyPr/>
                    <a:lstStyle/>
                    <a:p>
                      <a:pPr algn="ctr">
                        <a:lnSpc>
                          <a:spcPct val="100000"/>
                        </a:lnSpc>
                        <a:spcBef>
                          <a:spcPts val="545"/>
                        </a:spcBef>
                      </a:pPr>
                      <a:r>
                        <a:rPr dirty="0" sz="1250" spc="-25">
                          <a:latin typeface="宋体"/>
                          <a:cs typeface="宋体"/>
                        </a:rPr>
                        <a:t>63</a:t>
                      </a:r>
                      <a:endParaRPr sz="1250">
                        <a:latin typeface="宋体"/>
                        <a:cs typeface="宋体"/>
                      </a:endParaRPr>
                    </a:p>
                  </a:txBody>
                  <a:tcPr marL="0" marR="0" marB="0" marT="692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CC"/>
                    </a:solidFill>
                  </a:tcPr>
                </a:tc>
              </a:tr>
            </a:tbl>
          </a:graphicData>
        </a:graphic>
      </p:graphicFrame>
      <p:sp>
        <p:nvSpPr>
          <p:cNvPr id="17" name="object 17" descr=""/>
          <p:cNvSpPr/>
          <p:nvPr/>
        </p:nvSpPr>
        <p:spPr>
          <a:xfrm>
            <a:off x="3957590" y="5355473"/>
            <a:ext cx="1487805" cy="294640"/>
          </a:xfrm>
          <a:custGeom>
            <a:avLst/>
            <a:gdLst/>
            <a:ahLst/>
            <a:cxnLst/>
            <a:rect l="l" t="t" r="r" b="b"/>
            <a:pathLst>
              <a:path w="1487804" h="294639">
                <a:moveTo>
                  <a:pt x="0" y="0"/>
                </a:moveTo>
                <a:lnTo>
                  <a:pt x="1487381" y="0"/>
                </a:lnTo>
              </a:path>
              <a:path w="1487804" h="294639">
                <a:moveTo>
                  <a:pt x="1487381" y="0"/>
                </a:moveTo>
                <a:lnTo>
                  <a:pt x="1487381" y="294460"/>
                </a:lnTo>
              </a:path>
            </a:pathLst>
          </a:custGeom>
          <a:ln w="12383">
            <a:solidFill>
              <a:srgbClr val="000000"/>
            </a:solidFill>
          </a:ln>
        </p:spPr>
        <p:txBody>
          <a:bodyPr wrap="square" lIns="0" tIns="0" rIns="0" bIns="0" rtlCol="0"/>
          <a:lstStyle/>
          <a:p/>
        </p:txBody>
      </p:sp>
      <p:grpSp>
        <p:nvGrpSpPr>
          <p:cNvPr id="18" name="object 18" descr=""/>
          <p:cNvGrpSpPr/>
          <p:nvPr/>
        </p:nvGrpSpPr>
        <p:grpSpPr>
          <a:xfrm>
            <a:off x="6969986" y="5140578"/>
            <a:ext cx="74930" cy="522605"/>
            <a:chOff x="6969986" y="5140578"/>
            <a:chExt cx="74930" cy="522605"/>
          </a:xfrm>
        </p:grpSpPr>
        <p:sp>
          <p:nvSpPr>
            <p:cNvPr id="19" name="object 19" descr=""/>
            <p:cNvSpPr/>
            <p:nvPr/>
          </p:nvSpPr>
          <p:spPr>
            <a:xfrm>
              <a:off x="6972121" y="5142713"/>
              <a:ext cx="70485" cy="518795"/>
            </a:xfrm>
            <a:custGeom>
              <a:avLst/>
              <a:gdLst/>
              <a:ahLst/>
              <a:cxnLst/>
              <a:rect l="l" t="t" r="r" b="b"/>
              <a:pathLst>
                <a:path w="70484" h="518795">
                  <a:moveTo>
                    <a:pt x="33253" y="70213"/>
                  </a:moveTo>
                  <a:lnTo>
                    <a:pt x="24638" y="78814"/>
                  </a:lnTo>
                  <a:lnTo>
                    <a:pt x="24638" y="514033"/>
                  </a:lnTo>
                  <a:lnTo>
                    <a:pt x="28946" y="518293"/>
                  </a:lnTo>
                  <a:lnTo>
                    <a:pt x="41352" y="518293"/>
                  </a:lnTo>
                  <a:lnTo>
                    <a:pt x="41352" y="77470"/>
                  </a:lnTo>
                  <a:lnTo>
                    <a:pt x="33253" y="70213"/>
                  </a:lnTo>
                  <a:close/>
                </a:path>
                <a:path w="70484" h="518795">
                  <a:moveTo>
                    <a:pt x="33253" y="0"/>
                  </a:moveTo>
                  <a:lnTo>
                    <a:pt x="0" y="103413"/>
                  </a:lnTo>
                  <a:lnTo>
                    <a:pt x="24638" y="78814"/>
                  </a:lnTo>
                  <a:lnTo>
                    <a:pt x="24638" y="66384"/>
                  </a:lnTo>
                  <a:lnTo>
                    <a:pt x="28946" y="66384"/>
                  </a:lnTo>
                  <a:lnTo>
                    <a:pt x="28946" y="62124"/>
                  </a:lnTo>
                  <a:lnTo>
                    <a:pt x="55507" y="62124"/>
                  </a:lnTo>
                  <a:lnTo>
                    <a:pt x="33253" y="0"/>
                  </a:lnTo>
                  <a:close/>
                </a:path>
                <a:path w="70484" h="518795">
                  <a:moveTo>
                    <a:pt x="55507" y="62124"/>
                  </a:moveTo>
                  <a:lnTo>
                    <a:pt x="37044" y="62124"/>
                  </a:lnTo>
                  <a:lnTo>
                    <a:pt x="41352" y="66384"/>
                  </a:lnTo>
                  <a:lnTo>
                    <a:pt x="41352" y="77470"/>
                  </a:lnTo>
                  <a:lnTo>
                    <a:pt x="70298" y="103413"/>
                  </a:lnTo>
                  <a:lnTo>
                    <a:pt x="55507" y="62124"/>
                  </a:lnTo>
                  <a:close/>
                </a:path>
                <a:path w="70484" h="518795">
                  <a:moveTo>
                    <a:pt x="37044" y="62124"/>
                  </a:moveTo>
                  <a:lnTo>
                    <a:pt x="28946" y="62124"/>
                  </a:lnTo>
                  <a:lnTo>
                    <a:pt x="28946" y="66384"/>
                  </a:lnTo>
                  <a:lnTo>
                    <a:pt x="24638" y="66384"/>
                  </a:lnTo>
                  <a:lnTo>
                    <a:pt x="24638" y="78814"/>
                  </a:lnTo>
                  <a:lnTo>
                    <a:pt x="33253" y="70213"/>
                  </a:lnTo>
                  <a:lnTo>
                    <a:pt x="41352" y="70213"/>
                  </a:lnTo>
                  <a:lnTo>
                    <a:pt x="41352" y="66384"/>
                  </a:lnTo>
                  <a:lnTo>
                    <a:pt x="37044" y="62124"/>
                  </a:lnTo>
                  <a:close/>
                </a:path>
                <a:path w="70484" h="518795">
                  <a:moveTo>
                    <a:pt x="41352" y="70213"/>
                  </a:moveTo>
                  <a:lnTo>
                    <a:pt x="33253" y="70213"/>
                  </a:lnTo>
                  <a:lnTo>
                    <a:pt x="41352" y="77470"/>
                  </a:lnTo>
                  <a:lnTo>
                    <a:pt x="41352" y="70213"/>
                  </a:lnTo>
                  <a:close/>
                </a:path>
              </a:pathLst>
            </a:custGeom>
            <a:solidFill>
              <a:srgbClr val="000000"/>
            </a:solidFill>
          </p:spPr>
          <p:txBody>
            <a:bodyPr wrap="square" lIns="0" tIns="0" rIns="0" bIns="0" rtlCol="0"/>
            <a:lstStyle/>
            <a:p/>
          </p:txBody>
        </p:sp>
        <p:sp>
          <p:nvSpPr>
            <p:cNvPr id="20" name="object 20" descr=""/>
            <p:cNvSpPr/>
            <p:nvPr/>
          </p:nvSpPr>
          <p:spPr>
            <a:xfrm>
              <a:off x="6972121" y="5142713"/>
              <a:ext cx="70485" cy="518795"/>
            </a:xfrm>
            <a:custGeom>
              <a:avLst/>
              <a:gdLst/>
              <a:ahLst/>
              <a:cxnLst/>
              <a:rect l="l" t="t" r="r" b="b"/>
              <a:pathLst>
                <a:path w="70484" h="518795">
                  <a:moveTo>
                    <a:pt x="24638" y="509773"/>
                  </a:moveTo>
                  <a:lnTo>
                    <a:pt x="24638" y="70213"/>
                  </a:lnTo>
                  <a:lnTo>
                    <a:pt x="24638" y="66384"/>
                  </a:lnTo>
                  <a:lnTo>
                    <a:pt x="28946" y="66384"/>
                  </a:lnTo>
                  <a:lnTo>
                    <a:pt x="28946" y="62124"/>
                  </a:lnTo>
                  <a:lnTo>
                    <a:pt x="33253" y="62124"/>
                  </a:lnTo>
                  <a:lnTo>
                    <a:pt x="37044" y="62124"/>
                  </a:lnTo>
                  <a:lnTo>
                    <a:pt x="41352" y="66384"/>
                  </a:lnTo>
                  <a:lnTo>
                    <a:pt x="41352" y="70213"/>
                  </a:lnTo>
                  <a:lnTo>
                    <a:pt x="41352" y="509773"/>
                  </a:lnTo>
                  <a:lnTo>
                    <a:pt x="41352" y="514033"/>
                  </a:lnTo>
                  <a:lnTo>
                    <a:pt x="41352" y="518293"/>
                  </a:lnTo>
                  <a:lnTo>
                    <a:pt x="37044" y="518293"/>
                  </a:lnTo>
                  <a:lnTo>
                    <a:pt x="33254" y="518293"/>
                  </a:lnTo>
                  <a:lnTo>
                    <a:pt x="28946" y="518293"/>
                  </a:lnTo>
                  <a:lnTo>
                    <a:pt x="24638" y="514033"/>
                  </a:lnTo>
                  <a:lnTo>
                    <a:pt x="24638" y="509773"/>
                  </a:lnTo>
                  <a:close/>
                </a:path>
                <a:path w="70484" h="518795">
                  <a:moveTo>
                    <a:pt x="33253" y="70213"/>
                  </a:moveTo>
                  <a:lnTo>
                    <a:pt x="0" y="103413"/>
                  </a:lnTo>
                  <a:lnTo>
                    <a:pt x="33253" y="0"/>
                  </a:lnTo>
                  <a:lnTo>
                    <a:pt x="70298" y="103413"/>
                  </a:lnTo>
                  <a:lnTo>
                    <a:pt x="33253" y="70213"/>
                  </a:lnTo>
                  <a:close/>
                </a:path>
              </a:pathLst>
            </a:custGeom>
            <a:ln w="4269">
              <a:solidFill>
                <a:srgbClr val="000000"/>
              </a:solidFill>
            </a:ln>
          </p:spPr>
          <p:txBody>
            <a:bodyPr wrap="square" lIns="0" tIns="0" rIns="0" bIns="0" rtlCol="0"/>
            <a:lstStyle/>
            <a:p/>
          </p:txBody>
        </p:sp>
      </p:grpSp>
      <p:pic>
        <p:nvPicPr>
          <p:cNvPr id="21" name="object 21" descr=""/>
          <p:cNvPicPr/>
          <p:nvPr/>
        </p:nvPicPr>
        <p:blipFill>
          <a:blip r:embed="rId4" cstate="print"/>
          <a:stretch>
            <a:fillRect/>
          </a:stretch>
        </p:blipFill>
        <p:spPr>
          <a:xfrm>
            <a:off x="4430054" y="2350510"/>
            <a:ext cx="74688" cy="223824"/>
          </a:xfrm>
          <a:prstGeom prst="rect">
            <a:avLst/>
          </a:prstGeom>
        </p:spPr>
      </p:pic>
      <p:pic>
        <p:nvPicPr>
          <p:cNvPr id="22" name="object 22" descr=""/>
          <p:cNvPicPr/>
          <p:nvPr/>
        </p:nvPicPr>
        <p:blipFill>
          <a:blip r:embed="rId5" cstate="print"/>
          <a:stretch>
            <a:fillRect/>
          </a:stretch>
        </p:blipFill>
        <p:spPr>
          <a:xfrm>
            <a:off x="4939650" y="2350510"/>
            <a:ext cx="74688" cy="223824"/>
          </a:xfrm>
          <a:prstGeom prst="rect">
            <a:avLst/>
          </a:prstGeom>
        </p:spPr>
      </p:pic>
      <p:pic>
        <p:nvPicPr>
          <p:cNvPr id="23" name="object 23" descr=""/>
          <p:cNvPicPr/>
          <p:nvPr/>
        </p:nvPicPr>
        <p:blipFill>
          <a:blip r:embed="rId6" cstate="print"/>
          <a:stretch>
            <a:fillRect/>
          </a:stretch>
        </p:blipFill>
        <p:spPr>
          <a:xfrm>
            <a:off x="5445386" y="2350510"/>
            <a:ext cx="74688" cy="223824"/>
          </a:xfrm>
          <a:prstGeom prst="rect">
            <a:avLst/>
          </a:prstGeom>
        </p:spPr>
      </p:pic>
      <p:pic>
        <p:nvPicPr>
          <p:cNvPr id="24" name="object 24" descr=""/>
          <p:cNvPicPr/>
          <p:nvPr/>
        </p:nvPicPr>
        <p:blipFill>
          <a:blip r:embed="rId7" cstate="print"/>
          <a:stretch>
            <a:fillRect/>
          </a:stretch>
        </p:blipFill>
        <p:spPr>
          <a:xfrm>
            <a:off x="5954965" y="2350510"/>
            <a:ext cx="74740" cy="223824"/>
          </a:xfrm>
          <a:prstGeom prst="rect">
            <a:avLst/>
          </a:prstGeom>
        </p:spPr>
      </p:pic>
      <p:pic>
        <p:nvPicPr>
          <p:cNvPr id="25" name="object 25" descr=""/>
          <p:cNvPicPr/>
          <p:nvPr/>
        </p:nvPicPr>
        <p:blipFill>
          <a:blip r:embed="rId8" cstate="print"/>
          <a:stretch>
            <a:fillRect/>
          </a:stretch>
        </p:blipFill>
        <p:spPr>
          <a:xfrm>
            <a:off x="6460322" y="2350510"/>
            <a:ext cx="74740" cy="223824"/>
          </a:xfrm>
          <a:prstGeom prst="rect">
            <a:avLst/>
          </a:prstGeom>
        </p:spPr>
      </p:pic>
      <p:pic>
        <p:nvPicPr>
          <p:cNvPr id="26" name="object 26" descr=""/>
          <p:cNvPicPr/>
          <p:nvPr/>
        </p:nvPicPr>
        <p:blipFill>
          <a:blip r:embed="rId9" cstate="print"/>
          <a:stretch>
            <a:fillRect/>
          </a:stretch>
        </p:blipFill>
        <p:spPr>
          <a:xfrm>
            <a:off x="6969986" y="2350510"/>
            <a:ext cx="74567" cy="223824"/>
          </a:xfrm>
          <a:prstGeom prst="rect">
            <a:avLst/>
          </a:prstGeom>
        </p:spPr>
      </p:pic>
      <p:pic>
        <p:nvPicPr>
          <p:cNvPr id="27" name="object 27" descr=""/>
          <p:cNvPicPr/>
          <p:nvPr/>
        </p:nvPicPr>
        <p:blipFill>
          <a:blip r:embed="rId10" cstate="print"/>
          <a:stretch>
            <a:fillRect/>
          </a:stretch>
        </p:blipFill>
        <p:spPr>
          <a:xfrm>
            <a:off x="7475171" y="2350510"/>
            <a:ext cx="74740" cy="223824"/>
          </a:xfrm>
          <a:prstGeom prst="rect">
            <a:avLst/>
          </a:prstGeom>
        </p:spPr>
      </p:pic>
      <p:pic>
        <p:nvPicPr>
          <p:cNvPr id="28" name="object 28" descr=""/>
          <p:cNvPicPr/>
          <p:nvPr/>
        </p:nvPicPr>
        <p:blipFill>
          <a:blip r:embed="rId11" cstate="print"/>
          <a:stretch>
            <a:fillRect/>
          </a:stretch>
        </p:blipFill>
        <p:spPr>
          <a:xfrm>
            <a:off x="7984835" y="2350510"/>
            <a:ext cx="74740" cy="223824"/>
          </a:xfrm>
          <a:prstGeom prst="rect">
            <a:avLst/>
          </a:prstGeom>
        </p:spPr>
      </p:pic>
      <p:sp>
        <p:nvSpPr>
          <p:cNvPr id="29" name="object 29" descr=""/>
          <p:cNvSpPr txBox="1"/>
          <p:nvPr/>
        </p:nvSpPr>
        <p:spPr>
          <a:xfrm>
            <a:off x="1187602" y="803770"/>
            <a:ext cx="6750050" cy="949960"/>
          </a:xfrm>
          <a:prstGeom prst="rect">
            <a:avLst/>
          </a:prstGeom>
        </p:spPr>
        <p:txBody>
          <a:bodyPr wrap="square" lIns="0" tIns="174625" rIns="0" bIns="0" rtlCol="0" vert="horz">
            <a:spAutoFit/>
          </a:bodyPr>
          <a:lstStyle/>
          <a:p>
            <a:pPr marL="469900" indent="-457200">
              <a:lnSpc>
                <a:spcPct val="100000"/>
              </a:lnSpc>
              <a:spcBef>
                <a:spcPts val="1375"/>
              </a:spcBef>
              <a:buClr>
                <a:srgbClr val="40458B"/>
              </a:buClr>
              <a:buSzPct val="89583"/>
              <a:buFont typeface="Wingdings"/>
              <a:buChar char=""/>
              <a:tabLst>
                <a:tab pos="469900" algn="l"/>
              </a:tabLst>
            </a:pPr>
            <a:r>
              <a:rPr dirty="0" sz="2400">
                <a:solidFill>
                  <a:srgbClr val="E14B04"/>
                </a:solidFill>
                <a:latin typeface="黑体"/>
                <a:cs typeface="黑体"/>
              </a:rPr>
              <a:t>例：</a:t>
            </a:r>
            <a:r>
              <a:rPr dirty="0" sz="2400" spc="-5">
                <a:solidFill>
                  <a:srgbClr val="40458B"/>
                </a:solidFill>
                <a:latin typeface="黑体"/>
                <a:cs typeface="黑体"/>
              </a:rPr>
              <a:t>采用低位交叉编址的存储器</a:t>
            </a:r>
            <a:endParaRPr sz="2400">
              <a:latin typeface="黑体"/>
              <a:cs typeface="黑体"/>
            </a:endParaRPr>
          </a:p>
          <a:p>
            <a:pPr marL="640715">
              <a:lnSpc>
                <a:spcPct val="100000"/>
              </a:lnSpc>
              <a:spcBef>
                <a:spcPts val="960"/>
              </a:spcBef>
            </a:pPr>
            <a:r>
              <a:rPr dirty="0" sz="1800" spc="-20" b="1">
                <a:latin typeface="宋体"/>
                <a:cs typeface="宋体"/>
              </a:rPr>
              <a:t>由</a:t>
            </a:r>
            <a:r>
              <a:rPr dirty="0" sz="1800" spc="-10" b="1">
                <a:solidFill>
                  <a:srgbClr val="9933FF"/>
                </a:solidFill>
                <a:latin typeface="Times New Roman"/>
                <a:cs typeface="Times New Roman"/>
              </a:rPr>
              <a:t>8</a:t>
            </a:r>
            <a:r>
              <a:rPr dirty="0" sz="1800" spc="-20" b="1">
                <a:latin typeface="宋体"/>
                <a:cs typeface="宋体"/>
              </a:rPr>
              <a:t>个存储体构成、总容量为</a:t>
            </a:r>
            <a:r>
              <a:rPr dirty="0" sz="1800" spc="-10" b="1">
                <a:solidFill>
                  <a:srgbClr val="9933FF"/>
                </a:solidFill>
                <a:latin typeface="Times New Roman"/>
                <a:cs typeface="Times New Roman"/>
              </a:rPr>
              <a:t>64</a:t>
            </a:r>
            <a:r>
              <a:rPr dirty="0" sz="1800" spc="-20" b="1">
                <a:solidFill>
                  <a:srgbClr val="9933FF"/>
                </a:solidFill>
                <a:latin typeface="宋体"/>
                <a:cs typeface="宋体"/>
              </a:rPr>
              <a:t>。</a:t>
            </a:r>
            <a:r>
              <a:rPr dirty="0" sz="1800" spc="-25" b="1">
                <a:latin typeface="宋体"/>
                <a:cs typeface="宋体"/>
              </a:rPr>
              <a:t>格子中的编号为线性地址。</a:t>
            </a:r>
            <a:endParaRPr sz="1800">
              <a:latin typeface="宋体"/>
              <a:cs typeface="宋体"/>
            </a:endParaRPr>
          </a:p>
        </p:txBody>
      </p:sp>
      <p:sp>
        <p:nvSpPr>
          <p:cNvPr id="30" name="object 30"/>
          <p:cNvSpPr txBox="1">
            <a:spLocks noGrp="1"/>
          </p:cNvSpPr>
          <p:nvPr>
            <p:ph type="title"/>
          </p:nvPr>
        </p:nvSpPr>
        <p:spPr>
          <a:xfrm>
            <a:off x="1656714" y="76022"/>
            <a:ext cx="2869565"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p:nvPr/>
        </p:nvSpPr>
        <p:spPr>
          <a:xfrm>
            <a:off x="2855976" y="3406775"/>
            <a:ext cx="6840855" cy="2952750"/>
          </a:xfrm>
          <a:custGeom>
            <a:avLst/>
            <a:gdLst/>
            <a:ahLst/>
            <a:cxnLst/>
            <a:rect l="l" t="t" r="r" b="b"/>
            <a:pathLst>
              <a:path w="6840855" h="2952750">
                <a:moveTo>
                  <a:pt x="6840474" y="0"/>
                </a:moveTo>
                <a:lnTo>
                  <a:pt x="0" y="0"/>
                </a:lnTo>
                <a:lnTo>
                  <a:pt x="0" y="2952750"/>
                </a:lnTo>
                <a:lnTo>
                  <a:pt x="6840474" y="2952750"/>
                </a:lnTo>
                <a:lnTo>
                  <a:pt x="6840474" y="0"/>
                </a:lnTo>
                <a:close/>
              </a:path>
            </a:pathLst>
          </a:custGeom>
          <a:solidFill>
            <a:srgbClr val="CCFFCC"/>
          </a:solidFill>
        </p:spPr>
        <p:txBody>
          <a:bodyPr wrap="square" lIns="0" tIns="0" rIns="0" bIns="0" rtlCol="0"/>
          <a:lstStyle/>
          <a:p/>
        </p:txBody>
      </p:sp>
      <p:sp>
        <p:nvSpPr>
          <p:cNvPr id="10" name="object 10"/>
          <p:cNvSpPr txBox="1">
            <a:spLocks noGrp="1"/>
          </p:cNvSpPr>
          <p:nvPr>
            <p:ph type="title"/>
          </p:nvPr>
        </p:nvSpPr>
        <p:spPr>
          <a:xfrm>
            <a:off x="1872488" y="97028"/>
            <a:ext cx="287020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1" name="object 11" descr=""/>
          <p:cNvSpPr txBox="1"/>
          <p:nvPr/>
        </p:nvSpPr>
        <p:spPr>
          <a:xfrm>
            <a:off x="730605" y="1098652"/>
            <a:ext cx="10652760" cy="4601210"/>
          </a:xfrm>
          <a:prstGeom prst="rect">
            <a:avLst/>
          </a:prstGeom>
        </p:spPr>
        <p:txBody>
          <a:bodyPr wrap="square" lIns="0" tIns="168275" rIns="0" bIns="0" rtlCol="0" vert="horz">
            <a:spAutoFit/>
          </a:bodyPr>
          <a:lstStyle/>
          <a:p>
            <a:pPr marL="494665" indent="-456565">
              <a:lnSpc>
                <a:spcPct val="100000"/>
              </a:lnSpc>
              <a:spcBef>
                <a:spcPts val="1325"/>
              </a:spcBef>
              <a:buSzPct val="89583"/>
              <a:buFont typeface="Wingdings"/>
              <a:buChar char=""/>
              <a:tabLst>
                <a:tab pos="494665" algn="l"/>
              </a:tabLst>
            </a:pPr>
            <a:r>
              <a:rPr dirty="0" sz="2400" spc="-15">
                <a:solidFill>
                  <a:srgbClr val="40458B"/>
                </a:solidFill>
                <a:latin typeface="黑体"/>
                <a:cs typeface="黑体"/>
              </a:rPr>
              <a:t>为了提高主存的带宽，需要多个或所有存储体能并行工作。</a:t>
            </a:r>
            <a:endParaRPr sz="2400">
              <a:latin typeface="黑体"/>
              <a:cs typeface="黑体"/>
            </a:endParaRPr>
          </a:p>
          <a:p>
            <a:pPr lvl="1" marL="1122680" indent="-457200">
              <a:lnSpc>
                <a:spcPct val="100000"/>
              </a:lnSpc>
              <a:spcBef>
                <a:spcPts val="1030"/>
              </a:spcBef>
              <a:buClr>
                <a:srgbClr val="4668F5"/>
              </a:buClr>
              <a:buSzPct val="60000"/>
              <a:buFont typeface="Wingdings"/>
              <a:buChar char=""/>
              <a:tabLst>
                <a:tab pos="1122680" algn="l"/>
              </a:tabLst>
            </a:pPr>
            <a:r>
              <a:rPr dirty="0" sz="2000" spc="-15" b="1">
                <a:latin typeface="宋体"/>
                <a:cs typeface="宋体"/>
              </a:rPr>
              <a:t>在每一个存储周期内，分时启动</a:t>
            </a:r>
            <a:r>
              <a:rPr dirty="0" sz="2000" spc="-15" b="1">
                <a:solidFill>
                  <a:srgbClr val="9933FF"/>
                </a:solidFill>
                <a:latin typeface="Times New Roman"/>
                <a:cs typeface="Times New Roman"/>
              </a:rPr>
              <a:t>m</a:t>
            </a:r>
            <a:r>
              <a:rPr dirty="0" sz="2000" spc="-25" b="1">
                <a:latin typeface="宋体"/>
                <a:cs typeface="宋体"/>
              </a:rPr>
              <a:t>个存储体。</a:t>
            </a:r>
            <a:endParaRPr sz="2000">
              <a:latin typeface="宋体"/>
              <a:cs typeface="宋体"/>
            </a:endParaRPr>
          </a:p>
          <a:p>
            <a:pPr lvl="1" marL="1122680" indent="-457200">
              <a:lnSpc>
                <a:spcPct val="100000"/>
              </a:lnSpc>
              <a:spcBef>
                <a:spcPts val="960"/>
              </a:spcBef>
              <a:buClr>
                <a:srgbClr val="4668F5"/>
              </a:buClr>
              <a:buSzPct val="60000"/>
              <a:buFont typeface="Wingdings"/>
              <a:buChar char=""/>
              <a:tabLst>
                <a:tab pos="1122680" algn="l"/>
              </a:tabLst>
            </a:pPr>
            <a:r>
              <a:rPr dirty="0" sz="2000" spc="-15" b="1">
                <a:latin typeface="宋体"/>
                <a:cs typeface="宋体"/>
              </a:rPr>
              <a:t>如果每个存储体的访问周期是</a:t>
            </a:r>
            <a:r>
              <a:rPr dirty="0" sz="2000" spc="-10" b="1">
                <a:solidFill>
                  <a:srgbClr val="9933FF"/>
                </a:solidFill>
                <a:latin typeface="Times New Roman"/>
                <a:cs typeface="Times New Roman"/>
              </a:rPr>
              <a:t>T</a:t>
            </a:r>
            <a:r>
              <a:rPr dirty="0" baseline="-21367" sz="1950" spc="-15" b="1">
                <a:solidFill>
                  <a:srgbClr val="9933FF"/>
                </a:solidFill>
                <a:latin typeface="Times New Roman"/>
                <a:cs typeface="Times New Roman"/>
              </a:rPr>
              <a:t>M</a:t>
            </a:r>
            <a:r>
              <a:rPr dirty="0" sz="2000" spc="-55" b="1">
                <a:latin typeface="宋体"/>
                <a:cs typeface="宋体"/>
              </a:rPr>
              <a:t>，则各存储体的启动间隔为： </a:t>
            </a:r>
            <a:r>
              <a:rPr dirty="0" sz="2000" b="1">
                <a:solidFill>
                  <a:srgbClr val="9933FF"/>
                </a:solidFill>
                <a:latin typeface="Times New Roman"/>
                <a:cs typeface="Times New Roman"/>
              </a:rPr>
              <a:t>t=T</a:t>
            </a:r>
            <a:r>
              <a:rPr dirty="0" baseline="-21367" sz="1950" b="1">
                <a:solidFill>
                  <a:srgbClr val="9933FF"/>
                </a:solidFill>
                <a:latin typeface="Times New Roman"/>
                <a:cs typeface="Times New Roman"/>
              </a:rPr>
              <a:t>M</a:t>
            </a:r>
            <a:r>
              <a:rPr dirty="0" sz="2000" b="1">
                <a:solidFill>
                  <a:srgbClr val="9933FF"/>
                </a:solidFill>
                <a:latin typeface="Times New Roman"/>
                <a:cs typeface="Times New Roman"/>
              </a:rPr>
              <a:t>/m</a:t>
            </a:r>
            <a:r>
              <a:rPr dirty="0" sz="2000" spc="-50" b="1">
                <a:latin typeface="宋体"/>
                <a:cs typeface="宋体"/>
              </a:rPr>
              <a:t>。</a:t>
            </a:r>
            <a:endParaRPr sz="2000">
              <a:latin typeface="宋体"/>
              <a:cs typeface="宋体"/>
            </a:endParaRPr>
          </a:p>
          <a:p>
            <a:pPr lvl="1" marL="1122680" indent="-457200">
              <a:lnSpc>
                <a:spcPct val="100000"/>
              </a:lnSpc>
              <a:spcBef>
                <a:spcPts val="960"/>
              </a:spcBef>
              <a:buClr>
                <a:srgbClr val="4668F5"/>
              </a:buClr>
              <a:buSzPct val="60000"/>
              <a:buFont typeface="Wingdings"/>
              <a:buChar char=""/>
              <a:tabLst>
                <a:tab pos="1122680" algn="l"/>
              </a:tabLst>
            </a:pPr>
            <a:r>
              <a:rPr dirty="0" sz="2000" spc="-10" b="1">
                <a:latin typeface="宋体"/>
                <a:cs typeface="宋体"/>
              </a:rPr>
              <a:t>增加</a:t>
            </a:r>
            <a:r>
              <a:rPr dirty="0" sz="2000" spc="-10" b="1">
                <a:latin typeface="Times New Roman"/>
                <a:cs typeface="Times New Roman"/>
              </a:rPr>
              <a:t>m</a:t>
            </a:r>
            <a:r>
              <a:rPr dirty="0" sz="2000" spc="-25" b="1">
                <a:latin typeface="宋体"/>
                <a:cs typeface="宋体"/>
              </a:rPr>
              <a:t>的值就能够提高主存储器的带宽。但是，由于存在访问冲突，实际加速比小于</a:t>
            </a:r>
            <a:endParaRPr sz="2000">
              <a:latin typeface="宋体"/>
              <a:cs typeface="宋体"/>
            </a:endParaRPr>
          </a:p>
          <a:p>
            <a:pPr marL="1122680">
              <a:lnSpc>
                <a:spcPct val="100000"/>
              </a:lnSpc>
              <a:spcBef>
                <a:spcPts val="480"/>
              </a:spcBef>
            </a:pPr>
            <a:r>
              <a:rPr dirty="0" sz="2000" spc="-10" b="1">
                <a:latin typeface="Times New Roman"/>
                <a:cs typeface="Times New Roman"/>
              </a:rPr>
              <a:t>m</a:t>
            </a:r>
            <a:r>
              <a:rPr dirty="0" sz="2000" spc="-50" b="1">
                <a:latin typeface="宋体"/>
                <a:cs typeface="宋体"/>
              </a:rPr>
              <a:t>。</a:t>
            </a:r>
            <a:endParaRPr sz="2000">
              <a:latin typeface="宋体"/>
              <a:cs typeface="宋体"/>
            </a:endParaRPr>
          </a:p>
          <a:p>
            <a:pPr algn="just" marL="4267200">
              <a:lnSpc>
                <a:spcPct val="100000"/>
              </a:lnSpc>
              <a:spcBef>
                <a:spcPts val="2515"/>
              </a:spcBef>
              <a:tabLst>
                <a:tab pos="6847205" algn="l"/>
              </a:tabLst>
            </a:pPr>
            <a:r>
              <a:rPr dirty="0" sz="1400" spc="-25" b="1">
                <a:solidFill>
                  <a:srgbClr val="993300"/>
                </a:solidFill>
                <a:latin typeface="宋体"/>
                <a:cs typeface="宋体"/>
              </a:rPr>
              <a:t>主存周</a:t>
            </a:r>
            <a:r>
              <a:rPr dirty="0" sz="1400" spc="-50" b="1">
                <a:solidFill>
                  <a:srgbClr val="993300"/>
                </a:solidFill>
                <a:latin typeface="宋体"/>
                <a:cs typeface="宋体"/>
              </a:rPr>
              <a:t>期</a:t>
            </a:r>
            <a:r>
              <a:rPr dirty="0" sz="1400" b="1">
                <a:solidFill>
                  <a:srgbClr val="993300"/>
                </a:solidFill>
                <a:latin typeface="宋体"/>
                <a:cs typeface="宋体"/>
              </a:rPr>
              <a:t>	</a:t>
            </a:r>
            <a:r>
              <a:rPr dirty="0" sz="1400" spc="-25" b="1">
                <a:solidFill>
                  <a:srgbClr val="993300"/>
                </a:solidFill>
                <a:latin typeface="宋体"/>
                <a:cs typeface="宋体"/>
              </a:rPr>
              <a:t>主存周</a:t>
            </a:r>
            <a:r>
              <a:rPr dirty="0" sz="1400" spc="-50" b="1">
                <a:solidFill>
                  <a:srgbClr val="993300"/>
                </a:solidFill>
                <a:latin typeface="宋体"/>
                <a:cs typeface="宋体"/>
              </a:rPr>
              <a:t>期</a:t>
            </a:r>
            <a:endParaRPr sz="1400">
              <a:latin typeface="宋体"/>
              <a:cs typeface="宋体"/>
            </a:endParaRPr>
          </a:p>
          <a:p>
            <a:pPr algn="just" marL="2503805" marR="7402195" indent="384810">
              <a:lnSpc>
                <a:spcPct val="169400"/>
              </a:lnSpc>
              <a:spcBef>
                <a:spcPts val="475"/>
              </a:spcBef>
            </a:pPr>
            <a:r>
              <a:rPr dirty="0" sz="1400" spc="-20" b="1">
                <a:solidFill>
                  <a:srgbClr val="993300"/>
                </a:solidFill>
                <a:latin typeface="宋体"/>
                <a:cs typeface="宋体"/>
              </a:rPr>
              <a:t>时间</a:t>
            </a:r>
            <a:r>
              <a:rPr dirty="0" baseline="1984" sz="2100" spc="-217" b="1">
                <a:solidFill>
                  <a:srgbClr val="0000FF"/>
                </a:solidFill>
                <a:latin typeface="宋体"/>
                <a:cs typeface="宋体"/>
              </a:rPr>
              <a:t>启动 </a:t>
            </a:r>
            <a:r>
              <a:rPr dirty="0" baseline="1984" sz="2100" spc="-15" b="1">
                <a:solidFill>
                  <a:srgbClr val="0000FF"/>
                </a:solidFill>
                <a:latin typeface="宋体"/>
                <a:cs typeface="宋体"/>
              </a:rPr>
              <a:t>M</a:t>
            </a:r>
            <a:r>
              <a:rPr dirty="0" sz="700" spc="-10" b="1">
                <a:solidFill>
                  <a:srgbClr val="0000FF"/>
                </a:solidFill>
                <a:latin typeface="宋体"/>
                <a:cs typeface="宋体"/>
              </a:rPr>
              <a:t>0</a:t>
            </a:r>
            <a:r>
              <a:rPr dirty="0" sz="700" spc="-195" b="1">
                <a:solidFill>
                  <a:srgbClr val="0000FF"/>
                </a:solidFill>
                <a:latin typeface="宋体"/>
                <a:cs typeface="宋体"/>
              </a:rPr>
              <a:t> </a:t>
            </a:r>
            <a:r>
              <a:rPr dirty="0" baseline="1984" sz="2100" spc="-22" b="1">
                <a:solidFill>
                  <a:srgbClr val="0000FF"/>
                </a:solidFill>
                <a:latin typeface="宋体"/>
                <a:cs typeface="宋体"/>
              </a:rPr>
              <a:t>体</a:t>
            </a:r>
            <a:r>
              <a:rPr dirty="0" baseline="1984" sz="2100" spc="-217" b="1">
                <a:solidFill>
                  <a:srgbClr val="0000FF"/>
                </a:solidFill>
                <a:latin typeface="宋体"/>
                <a:cs typeface="宋体"/>
              </a:rPr>
              <a:t>启动 </a:t>
            </a:r>
            <a:r>
              <a:rPr dirty="0" baseline="1984" sz="2100" spc="-15" b="1">
                <a:solidFill>
                  <a:srgbClr val="0000FF"/>
                </a:solidFill>
                <a:latin typeface="宋体"/>
                <a:cs typeface="宋体"/>
              </a:rPr>
              <a:t>M</a:t>
            </a:r>
            <a:r>
              <a:rPr dirty="0" sz="700" spc="-10" b="1">
                <a:solidFill>
                  <a:srgbClr val="0000FF"/>
                </a:solidFill>
                <a:latin typeface="宋体"/>
                <a:cs typeface="宋体"/>
              </a:rPr>
              <a:t>1</a:t>
            </a:r>
            <a:r>
              <a:rPr dirty="0" sz="700" spc="-195" b="1">
                <a:solidFill>
                  <a:srgbClr val="0000FF"/>
                </a:solidFill>
                <a:latin typeface="宋体"/>
                <a:cs typeface="宋体"/>
              </a:rPr>
              <a:t> </a:t>
            </a:r>
            <a:r>
              <a:rPr dirty="0" baseline="1984" sz="2100" spc="-22" b="1">
                <a:solidFill>
                  <a:srgbClr val="0000FF"/>
                </a:solidFill>
                <a:latin typeface="宋体"/>
                <a:cs typeface="宋体"/>
              </a:rPr>
              <a:t>体</a:t>
            </a:r>
            <a:r>
              <a:rPr dirty="0" baseline="1984" sz="2100" spc="-217" b="1">
                <a:solidFill>
                  <a:srgbClr val="0000FF"/>
                </a:solidFill>
                <a:latin typeface="宋体"/>
                <a:cs typeface="宋体"/>
              </a:rPr>
              <a:t>启动 </a:t>
            </a:r>
            <a:r>
              <a:rPr dirty="0" baseline="1984" sz="2100" spc="-15" b="1">
                <a:solidFill>
                  <a:srgbClr val="0000FF"/>
                </a:solidFill>
                <a:latin typeface="宋体"/>
                <a:cs typeface="宋体"/>
              </a:rPr>
              <a:t>M</a:t>
            </a:r>
            <a:r>
              <a:rPr dirty="0" sz="700" spc="-10" b="1">
                <a:solidFill>
                  <a:srgbClr val="0000FF"/>
                </a:solidFill>
                <a:latin typeface="宋体"/>
                <a:cs typeface="宋体"/>
              </a:rPr>
              <a:t>2</a:t>
            </a:r>
            <a:r>
              <a:rPr dirty="0" sz="700" spc="-195" b="1">
                <a:solidFill>
                  <a:srgbClr val="0000FF"/>
                </a:solidFill>
                <a:latin typeface="宋体"/>
                <a:cs typeface="宋体"/>
              </a:rPr>
              <a:t> </a:t>
            </a:r>
            <a:r>
              <a:rPr dirty="0" baseline="1984" sz="2100" spc="-22" b="1">
                <a:solidFill>
                  <a:srgbClr val="0000FF"/>
                </a:solidFill>
                <a:latin typeface="宋体"/>
                <a:cs typeface="宋体"/>
              </a:rPr>
              <a:t>体</a:t>
            </a:r>
            <a:r>
              <a:rPr dirty="0" baseline="1984" sz="2100" spc="-217" b="1">
                <a:solidFill>
                  <a:srgbClr val="0000FF"/>
                </a:solidFill>
                <a:latin typeface="宋体"/>
                <a:cs typeface="宋体"/>
              </a:rPr>
              <a:t>启动 </a:t>
            </a:r>
            <a:r>
              <a:rPr dirty="0" baseline="1984" sz="2100" spc="-15" b="1">
                <a:solidFill>
                  <a:srgbClr val="0000FF"/>
                </a:solidFill>
                <a:latin typeface="宋体"/>
                <a:cs typeface="宋体"/>
              </a:rPr>
              <a:t>M</a:t>
            </a:r>
            <a:r>
              <a:rPr dirty="0" sz="700" spc="-10" b="1">
                <a:solidFill>
                  <a:srgbClr val="0000FF"/>
                </a:solidFill>
                <a:latin typeface="宋体"/>
                <a:cs typeface="宋体"/>
              </a:rPr>
              <a:t>3</a:t>
            </a:r>
            <a:r>
              <a:rPr dirty="0" sz="700" spc="-195" b="1">
                <a:solidFill>
                  <a:srgbClr val="0000FF"/>
                </a:solidFill>
                <a:latin typeface="宋体"/>
                <a:cs typeface="宋体"/>
              </a:rPr>
              <a:t> </a:t>
            </a:r>
            <a:r>
              <a:rPr dirty="0" baseline="1984" sz="2100" spc="-22" b="1">
                <a:solidFill>
                  <a:srgbClr val="0000FF"/>
                </a:solidFill>
                <a:latin typeface="宋体"/>
                <a:cs typeface="宋体"/>
              </a:rPr>
              <a:t>体</a:t>
            </a:r>
            <a:endParaRPr baseline="1984" sz="2100">
              <a:latin typeface="宋体"/>
              <a:cs typeface="宋体"/>
            </a:endParaRPr>
          </a:p>
        </p:txBody>
      </p:sp>
      <p:grpSp>
        <p:nvGrpSpPr>
          <p:cNvPr id="12" name="object 12" descr=""/>
          <p:cNvGrpSpPr/>
          <p:nvPr/>
        </p:nvGrpSpPr>
        <p:grpSpPr>
          <a:xfrm>
            <a:off x="3986514" y="3852246"/>
            <a:ext cx="5318125" cy="2171065"/>
            <a:chOff x="3986514" y="3852246"/>
            <a:chExt cx="5318125" cy="2171065"/>
          </a:xfrm>
        </p:grpSpPr>
        <p:sp>
          <p:nvSpPr>
            <p:cNvPr id="13" name="object 13" descr=""/>
            <p:cNvSpPr/>
            <p:nvPr/>
          </p:nvSpPr>
          <p:spPr>
            <a:xfrm>
              <a:off x="4028135" y="3859172"/>
              <a:ext cx="2575560" cy="120650"/>
            </a:xfrm>
            <a:custGeom>
              <a:avLst/>
              <a:gdLst/>
              <a:ahLst/>
              <a:cxnLst/>
              <a:rect l="l" t="t" r="r" b="b"/>
              <a:pathLst>
                <a:path w="2575559" h="120650">
                  <a:moveTo>
                    <a:pt x="2575223" y="120329"/>
                  </a:moveTo>
                  <a:lnTo>
                    <a:pt x="2575223" y="115508"/>
                  </a:lnTo>
                  <a:lnTo>
                    <a:pt x="2570974" y="106445"/>
                  </a:lnTo>
                  <a:lnTo>
                    <a:pt x="2566145" y="101817"/>
                  </a:lnTo>
                  <a:lnTo>
                    <a:pt x="2561510" y="96996"/>
                  </a:lnTo>
                  <a:lnTo>
                    <a:pt x="2552432" y="92175"/>
                  </a:lnTo>
                  <a:lnTo>
                    <a:pt x="2538526" y="87932"/>
                  </a:lnTo>
                  <a:lnTo>
                    <a:pt x="2528869" y="83304"/>
                  </a:lnTo>
                  <a:lnTo>
                    <a:pt x="2514963" y="78483"/>
                  </a:lnTo>
                  <a:lnTo>
                    <a:pt x="2496422" y="73663"/>
                  </a:lnTo>
                  <a:lnTo>
                    <a:pt x="2482516" y="69420"/>
                  </a:lnTo>
                  <a:lnTo>
                    <a:pt x="2463782" y="69420"/>
                  </a:lnTo>
                  <a:lnTo>
                    <a:pt x="2445626" y="64599"/>
                  </a:lnTo>
                  <a:lnTo>
                    <a:pt x="2403522" y="59971"/>
                  </a:lnTo>
                  <a:lnTo>
                    <a:pt x="2361997" y="59971"/>
                  </a:lnTo>
                  <a:lnTo>
                    <a:pt x="1503686" y="59971"/>
                  </a:lnTo>
                  <a:lnTo>
                    <a:pt x="1457332" y="59971"/>
                  </a:lnTo>
                  <a:lnTo>
                    <a:pt x="1419863" y="55150"/>
                  </a:lnTo>
                  <a:lnTo>
                    <a:pt x="1401322" y="55150"/>
                  </a:lnTo>
                  <a:lnTo>
                    <a:pt x="1383167" y="50908"/>
                  </a:lnTo>
                  <a:lnTo>
                    <a:pt x="1364432" y="46087"/>
                  </a:lnTo>
                  <a:lnTo>
                    <a:pt x="1350526" y="41266"/>
                  </a:lnTo>
                  <a:lnTo>
                    <a:pt x="1336620" y="37024"/>
                  </a:lnTo>
                  <a:lnTo>
                    <a:pt x="1322907" y="32396"/>
                  </a:lnTo>
                  <a:lnTo>
                    <a:pt x="1313250" y="27575"/>
                  </a:lnTo>
                  <a:lnTo>
                    <a:pt x="1304173" y="22754"/>
                  </a:lnTo>
                  <a:lnTo>
                    <a:pt x="1294516" y="18512"/>
                  </a:lnTo>
                  <a:lnTo>
                    <a:pt x="1290267" y="13691"/>
                  </a:lnTo>
                  <a:lnTo>
                    <a:pt x="1290267" y="9063"/>
                  </a:lnTo>
                  <a:lnTo>
                    <a:pt x="1285438" y="0"/>
                  </a:lnTo>
                  <a:lnTo>
                    <a:pt x="1285438" y="9063"/>
                  </a:lnTo>
                  <a:lnTo>
                    <a:pt x="1280803" y="13691"/>
                  </a:lnTo>
                  <a:lnTo>
                    <a:pt x="1276361" y="18512"/>
                  </a:lnTo>
                  <a:lnTo>
                    <a:pt x="1271532" y="22754"/>
                  </a:lnTo>
                  <a:lnTo>
                    <a:pt x="1262069" y="27575"/>
                  </a:lnTo>
                  <a:lnTo>
                    <a:pt x="1248162" y="32396"/>
                  </a:lnTo>
                  <a:lnTo>
                    <a:pt x="1239085" y="37024"/>
                  </a:lnTo>
                  <a:lnTo>
                    <a:pt x="1225179" y="41266"/>
                  </a:lnTo>
                  <a:lnTo>
                    <a:pt x="1211273" y="46087"/>
                  </a:lnTo>
                  <a:lnTo>
                    <a:pt x="1192732" y="50908"/>
                  </a:lnTo>
                  <a:lnTo>
                    <a:pt x="1173997" y="55150"/>
                  </a:lnTo>
                  <a:lnTo>
                    <a:pt x="1155456" y="55150"/>
                  </a:lnTo>
                  <a:lnTo>
                    <a:pt x="1113757" y="59971"/>
                  </a:lnTo>
                  <a:lnTo>
                    <a:pt x="1072135" y="59971"/>
                  </a:lnTo>
                  <a:lnTo>
                    <a:pt x="213380" y="59971"/>
                  </a:lnTo>
                  <a:lnTo>
                    <a:pt x="171758" y="59971"/>
                  </a:lnTo>
                  <a:lnTo>
                    <a:pt x="130137" y="64599"/>
                  </a:lnTo>
                  <a:lnTo>
                    <a:pt x="111480" y="69420"/>
                  </a:lnTo>
                  <a:lnTo>
                    <a:pt x="92822" y="69420"/>
                  </a:lnTo>
                  <a:lnTo>
                    <a:pt x="74629" y="73663"/>
                  </a:lnTo>
                  <a:lnTo>
                    <a:pt x="60278" y="78483"/>
                  </a:lnTo>
                  <a:lnTo>
                    <a:pt x="46411" y="83304"/>
                  </a:lnTo>
                  <a:lnTo>
                    <a:pt x="32543" y="87932"/>
                  </a:lnTo>
                  <a:lnTo>
                    <a:pt x="23447" y="92175"/>
                  </a:lnTo>
                  <a:lnTo>
                    <a:pt x="13886" y="96996"/>
                  </a:lnTo>
                  <a:lnTo>
                    <a:pt x="9579" y="101817"/>
                  </a:lnTo>
                  <a:lnTo>
                    <a:pt x="0" y="106445"/>
                  </a:lnTo>
                  <a:lnTo>
                    <a:pt x="0" y="115508"/>
                  </a:lnTo>
                  <a:lnTo>
                    <a:pt x="0" y="120329"/>
                  </a:lnTo>
                </a:path>
              </a:pathLst>
            </a:custGeom>
            <a:ln w="13852">
              <a:solidFill>
                <a:srgbClr val="000000"/>
              </a:solidFill>
            </a:ln>
          </p:spPr>
          <p:txBody>
            <a:bodyPr wrap="square" lIns="0" tIns="0" rIns="0" bIns="0" rtlCol="0"/>
            <a:lstStyle/>
            <a:p/>
          </p:txBody>
        </p:sp>
        <p:sp>
          <p:nvSpPr>
            <p:cNvPr id="14" name="object 14" descr=""/>
            <p:cNvSpPr/>
            <p:nvPr/>
          </p:nvSpPr>
          <p:spPr>
            <a:xfrm>
              <a:off x="4021916" y="4033302"/>
              <a:ext cx="13970" cy="1987550"/>
            </a:xfrm>
            <a:custGeom>
              <a:avLst/>
              <a:gdLst/>
              <a:ahLst/>
              <a:cxnLst/>
              <a:rect l="l" t="t" r="r" b="b"/>
              <a:pathLst>
                <a:path w="13970" h="1987550">
                  <a:moveTo>
                    <a:pt x="13886" y="4820"/>
                  </a:moveTo>
                  <a:lnTo>
                    <a:pt x="0" y="4820"/>
                  </a:lnTo>
                  <a:lnTo>
                    <a:pt x="0" y="55729"/>
                  </a:lnTo>
                  <a:lnTo>
                    <a:pt x="9096" y="59971"/>
                  </a:lnTo>
                  <a:lnTo>
                    <a:pt x="13886" y="55729"/>
                  </a:lnTo>
                  <a:lnTo>
                    <a:pt x="13886" y="4820"/>
                  </a:lnTo>
                  <a:close/>
                </a:path>
                <a:path w="13970" h="1987550">
                  <a:moveTo>
                    <a:pt x="9096" y="0"/>
                  </a:moveTo>
                  <a:lnTo>
                    <a:pt x="4789" y="4820"/>
                  </a:lnTo>
                  <a:lnTo>
                    <a:pt x="9096" y="4820"/>
                  </a:lnTo>
                  <a:lnTo>
                    <a:pt x="9096" y="0"/>
                  </a:lnTo>
                  <a:close/>
                </a:path>
                <a:path w="13970" h="1987550">
                  <a:moveTo>
                    <a:pt x="9096" y="101817"/>
                  </a:moveTo>
                  <a:lnTo>
                    <a:pt x="4789" y="101817"/>
                  </a:lnTo>
                  <a:lnTo>
                    <a:pt x="0" y="106445"/>
                  </a:lnTo>
                  <a:lnTo>
                    <a:pt x="0" y="157450"/>
                  </a:lnTo>
                  <a:lnTo>
                    <a:pt x="9096" y="162213"/>
                  </a:lnTo>
                  <a:lnTo>
                    <a:pt x="13886" y="157450"/>
                  </a:lnTo>
                  <a:lnTo>
                    <a:pt x="13886" y="106445"/>
                  </a:lnTo>
                  <a:lnTo>
                    <a:pt x="9096" y="101817"/>
                  </a:lnTo>
                  <a:close/>
                </a:path>
                <a:path w="13970" h="1987550">
                  <a:moveTo>
                    <a:pt x="9096" y="203595"/>
                  </a:moveTo>
                  <a:lnTo>
                    <a:pt x="4789" y="203595"/>
                  </a:lnTo>
                  <a:lnTo>
                    <a:pt x="0" y="208358"/>
                  </a:lnTo>
                  <a:lnTo>
                    <a:pt x="0" y="259267"/>
                  </a:lnTo>
                  <a:lnTo>
                    <a:pt x="9096" y="264010"/>
                  </a:lnTo>
                  <a:lnTo>
                    <a:pt x="13886" y="259267"/>
                  </a:lnTo>
                  <a:lnTo>
                    <a:pt x="13886" y="208358"/>
                  </a:lnTo>
                  <a:lnTo>
                    <a:pt x="9096" y="203595"/>
                  </a:lnTo>
                  <a:close/>
                </a:path>
                <a:path w="13970" h="1987550">
                  <a:moveTo>
                    <a:pt x="13886" y="305875"/>
                  </a:moveTo>
                  <a:lnTo>
                    <a:pt x="0" y="305875"/>
                  </a:lnTo>
                  <a:lnTo>
                    <a:pt x="0" y="361064"/>
                  </a:lnTo>
                  <a:lnTo>
                    <a:pt x="9096" y="365827"/>
                  </a:lnTo>
                  <a:lnTo>
                    <a:pt x="13886" y="361064"/>
                  </a:lnTo>
                  <a:lnTo>
                    <a:pt x="13886" y="305875"/>
                  </a:lnTo>
                  <a:close/>
                </a:path>
                <a:path w="13970" h="1987550">
                  <a:moveTo>
                    <a:pt x="13886" y="407692"/>
                  </a:moveTo>
                  <a:lnTo>
                    <a:pt x="0" y="407692"/>
                  </a:lnTo>
                  <a:lnTo>
                    <a:pt x="0" y="463364"/>
                  </a:lnTo>
                  <a:lnTo>
                    <a:pt x="13886" y="463364"/>
                  </a:lnTo>
                  <a:lnTo>
                    <a:pt x="13886" y="407692"/>
                  </a:lnTo>
                  <a:close/>
                </a:path>
                <a:path w="13970" h="1987550">
                  <a:moveTo>
                    <a:pt x="13886" y="509509"/>
                  </a:moveTo>
                  <a:lnTo>
                    <a:pt x="0" y="509509"/>
                  </a:lnTo>
                  <a:lnTo>
                    <a:pt x="0" y="565181"/>
                  </a:lnTo>
                  <a:lnTo>
                    <a:pt x="13886" y="565181"/>
                  </a:lnTo>
                  <a:lnTo>
                    <a:pt x="13886" y="509509"/>
                  </a:lnTo>
                  <a:close/>
                </a:path>
                <a:path w="13970" h="1987550">
                  <a:moveTo>
                    <a:pt x="13886" y="611326"/>
                  </a:moveTo>
                  <a:lnTo>
                    <a:pt x="0" y="611326"/>
                  </a:lnTo>
                  <a:lnTo>
                    <a:pt x="0" y="666978"/>
                  </a:lnTo>
                  <a:lnTo>
                    <a:pt x="13886" y="666978"/>
                  </a:lnTo>
                  <a:lnTo>
                    <a:pt x="13886" y="611326"/>
                  </a:lnTo>
                  <a:close/>
                </a:path>
                <a:path w="13970" h="1987550">
                  <a:moveTo>
                    <a:pt x="13886" y="713143"/>
                  </a:moveTo>
                  <a:lnTo>
                    <a:pt x="0" y="713143"/>
                  </a:lnTo>
                  <a:lnTo>
                    <a:pt x="0" y="768796"/>
                  </a:lnTo>
                  <a:lnTo>
                    <a:pt x="13886" y="768796"/>
                  </a:lnTo>
                  <a:lnTo>
                    <a:pt x="13886" y="713143"/>
                  </a:lnTo>
                  <a:close/>
                </a:path>
                <a:path w="13970" h="1987550">
                  <a:moveTo>
                    <a:pt x="13886" y="815423"/>
                  </a:moveTo>
                  <a:lnTo>
                    <a:pt x="0" y="815423"/>
                  </a:lnTo>
                  <a:lnTo>
                    <a:pt x="0" y="866332"/>
                  </a:lnTo>
                  <a:lnTo>
                    <a:pt x="9096" y="871095"/>
                  </a:lnTo>
                  <a:lnTo>
                    <a:pt x="13886" y="866332"/>
                  </a:lnTo>
                  <a:lnTo>
                    <a:pt x="13886" y="815423"/>
                  </a:lnTo>
                  <a:close/>
                </a:path>
                <a:path w="13970" h="1987550">
                  <a:moveTo>
                    <a:pt x="9096" y="810660"/>
                  </a:moveTo>
                  <a:lnTo>
                    <a:pt x="4789" y="815423"/>
                  </a:lnTo>
                  <a:lnTo>
                    <a:pt x="9096" y="815423"/>
                  </a:lnTo>
                  <a:lnTo>
                    <a:pt x="9096" y="810660"/>
                  </a:lnTo>
                  <a:close/>
                </a:path>
                <a:path w="13970" h="1987550">
                  <a:moveTo>
                    <a:pt x="9096" y="912477"/>
                  </a:moveTo>
                  <a:lnTo>
                    <a:pt x="4789" y="912477"/>
                  </a:lnTo>
                  <a:lnTo>
                    <a:pt x="0" y="917240"/>
                  </a:lnTo>
                  <a:lnTo>
                    <a:pt x="0" y="968149"/>
                  </a:lnTo>
                  <a:lnTo>
                    <a:pt x="9096" y="972893"/>
                  </a:lnTo>
                  <a:lnTo>
                    <a:pt x="13886" y="968149"/>
                  </a:lnTo>
                  <a:lnTo>
                    <a:pt x="13886" y="917240"/>
                  </a:lnTo>
                  <a:lnTo>
                    <a:pt x="9096" y="912477"/>
                  </a:lnTo>
                  <a:close/>
                </a:path>
                <a:path w="13970" h="1987550">
                  <a:moveTo>
                    <a:pt x="9097" y="1014294"/>
                  </a:moveTo>
                  <a:lnTo>
                    <a:pt x="4789" y="1014294"/>
                  </a:lnTo>
                  <a:lnTo>
                    <a:pt x="0" y="1019057"/>
                  </a:lnTo>
                  <a:lnTo>
                    <a:pt x="0" y="1069966"/>
                  </a:lnTo>
                  <a:lnTo>
                    <a:pt x="9097" y="1074710"/>
                  </a:lnTo>
                  <a:lnTo>
                    <a:pt x="13886" y="1069966"/>
                  </a:lnTo>
                  <a:lnTo>
                    <a:pt x="13886" y="1019057"/>
                  </a:lnTo>
                  <a:lnTo>
                    <a:pt x="9097" y="1014294"/>
                  </a:lnTo>
                  <a:close/>
                </a:path>
                <a:path w="13970" h="1987550">
                  <a:moveTo>
                    <a:pt x="13886" y="1116574"/>
                  </a:moveTo>
                  <a:lnTo>
                    <a:pt x="0" y="1116574"/>
                  </a:lnTo>
                  <a:lnTo>
                    <a:pt x="0" y="1171764"/>
                  </a:lnTo>
                  <a:lnTo>
                    <a:pt x="9097" y="1176527"/>
                  </a:lnTo>
                  <a:lnTo>
                    <a:pt x="13886" y="1171764"/>
                  </a:lnTo>
                  <a:lnTo>
                    <a:pt x="13886" y="1116574"/>
                  </a:lnTo>
                  <a:close/>
                </a:path>
                <a:path w="13970" h="1987550">
                  <a:moveTo>
                    <a:pt x="13886" y="1218391"/>
                  </a:moveTo>
                  <a:lnTo>
                    <a:pt x="0" y="1218391"/>
                  </a:lnTo>
                  <a:lnTo>
                    <a:pt x="0" y="1274063"/>
                  </a:lnTo>
                  <a:lnTo>
                    <a:pt x="13886" y="1274063"/>
                  </a:lnTo>
                  <a:lnTo>
                    <a:pt x="13886" y="1218391"/>
                  </a:lnTo>
                  <a:close/>
                </a:path>
                <a:path w="13970" h="1987550">
                  <a:moveTo>
                    <a:pt x="13886" y="1320208"/>
                  </a:moveTo>
                  <a:lnTo>
                    <a:pt x="0" y="1320208"/>
                  </a:lnTo>
                  <a:lnTo>
                    <a:pt x="0" y="1375880"/>
                  </a:lnTo>
                  <a:lnTo>
                    <a:pt x="13886" y="1375880"/>
                  </a:lnTo>
                  <a:lnTo>
                    <a:pt x="13886" y="1320208"/>
                  </a:lnTo>
                  <a:close/>
                </a:path>
                <a:path w="13970" h="1987550">
                  <a:moveTo>
                    <a:pt x="13886" y="1422025"/>
                  </a:moveTo>
                  <a:lnTo>
                    <a:pt x="0" y="1422025"/>
                  </a:lnTo>
                  <a:lnTo>
                    <a:pt x="0" y="1477678"/>
                  </a:lnTo>
                  <a:lnTo>
                    <a:pt x="13886" y="1477678"/>
                  </a:lnTo>
                  <a:lnTo>
                    <a:pt x="13886" y="1422025"/>
                  </a:lnTo>
                  <a:close/>
                </a:path>
                <a:path w="13970" h="1987550">
                  <a:moveTo>
                    <a:pt x="13886" y="1523842"/>
                  </a:moveTo>
                  <a:lnTo>
                    <a:pt x="0" y="1523842"/>
                  </a:lnTo>
                  <a:lnTo>
                    <a:pt x="0" y="1579495"/>
                  </a:lnTo>
                  <a:lnTo>
                    <a:pt x="13886" y="1579495"/>
                  </a:lnTo>
                  <a:lnTo>
                    <a:pt x="13886" y="1523842"/>
                  </a:lnTo>
                  <a:close/>
                </a:path>
                <a:path w="13970" h="1987550">
                  <a:moveTo>
                    <a:pt x="13886" y="1626122"/>
                  </a:moveTo>
                  <a:lnTo>
                    <a:pt x="0" y="1626122"/>
                  </a:lnTo>
                  <a:lnTo>
                    <a:pt x="0" y="1677031"/>
                  </a:lnTo>
                  <a:lnTo>
                    <a:pt x="9097" y="1681794"/>
                  </a:lnTo>
                  <a:lnTo>
                    <a:pt x="13886" y="1677031"/>
                  </a:lnTo>
                  <a:lnTo>
                    <a:pt x="13886" y="1626122"/>
                  </a:lnTo>
                  <a:close/>
                </a:path>
                <a:path w="13970" h="1987550">
                  <a:moveTo>
                    <a:pt x="9097" y="1621359"/>
                  </a:moveTo>
                  <a:lnTo>
                    <a:pt x="4790" y="1626122"/>
                  </a:lnTo>
                  <a:lnTo>
                    <a:pt x="9097" y="1626122"/>
                  </a:lnTo>
                  <a:lnTo>
                    <a:pt x="9097" y="1621359"/>
                  </a:lnTo>
                  <a:close/>
                </a:path>
                <a:path w="13970" h="1987550">
                  <a:moveTo>
                    <a:pt x="9097" y="1723176"/>
                  </a:moveTo>
                  <a:lnTo>
                    <a:pt x="4790" y="1723176"/>
                  </a:lnTo>
                  <a:lnTo>
                    <a:pt x="0" y="1727939"/>
                  </a:lnTo>
                  <a:lnTo>
                    <a:pt x="0" y="1778848"/>
                  </a:lnTo>
                  <a:lnTo>
                    <a:pt x="9097" y="1783592"/>
                  </a:lnTo>
                  <a:lnTo>
                    <a:pt x="13886" y="1778848"/>
                  </a:lnTo>
                  <a:lnTo>
                    <a:pt x="13886" y="1727939"/>
                  </a:lnTo>
                  <a:lnTo>
                    <a:pt x="9097" y="1723176"/>
                  </a:lnTo>
                  <a:close/>
                </a:path>
                <a:path w="13970" h="1987550">
                  <a:moveTo>
                    <a:pt x="9097" y="1824993"/>
                  </a:moveTo>
                  <a:lnTo>
                    <a:pt x="4790" y="1824993"/>
                  </a:lnTo>
                  <a:lnTo>
                    <a:pt x="0" y="1829757"/>
                  </a:lnTo>
                  <a:lnTo>
                    <a:pt x="0" y="1880646"/>
                  </a:lnTo>
                  <a:lnTo>
                    <a:pt x="9097" y="1885409"/>
                  </a:lnTo>
                  <a:lnTo>
                    <a:pt x="13886" y="1880646"/>
                  </a:lnTo>
                  <a:lnTo>
                    <a:pt x="13886" y="1829757"/>
                  </a:lnTo>
                  <a:lnTo>
                    <a:pt x="9097" y="1824993"/>
                  </a:lnTo>
                  <a:close/>
                </a:path>
                <a:path w="13970" h="1987550">
                  <a:moveTo>
                    <a:pt x="13886" y="1927279"/>
                  </a:moveTo>
                  <a:lnTo>
                    <a:pt x="0" y="1927279"/>
                  </a:lnTo>
                  <a:lnTo>
                    <a:pt x="0" y="1982469"/>
                  </a:lnTo>
                  <a:lnTo>
                    <a:pt x="9097" y="1987226"/>
                  </a:lnTo>
                  <a:lnTo>
                    <a:pt x="13886" y="1982469"/>
                  </a:lnTo>
                  <a:lnTo>
                    <a:pt x="13886" y="1927279"/>
                  </a:lnTo>
                  <a:close/>
                </a:path>
              </a:pathLst>
            </a:custGeom>
            <a:solidFill>
              <a:srgbClr val="000000"/>
            </a:solidFill>
          </p:spPr>
          <p:txBody>
            <a:bodyPr wrap="square" lIns="0" tIns="0" rIns="0" bIns="0" rtlCol="0"/>
            <a:lstStyle/>
            <a:p/>
          </p:txBody>
        </p:sp>
        <p:sp>
          <p:nvSpPr>
            <p:cNvPr id="15" name="object 15" descr=""/>
            <p:cNvSpPr/>
            <p:nvPr/>
          </p:nvSpPr>
          <p:spPr>
            <a:xfrm>
              <a:off x="4021916" y="4033302"/>
              <a:ext cx="13970" cy="1987550"/>
            </a:xfrm>
            <a:custGeom>
              <a:avLst/>
              <a:gdLst/>
              <a:ahLst/>
              <a:cxnLst/>
              <a:rect l="l" t="t" r="r" b="b"/>
              <a:pathLst>
                <a:path w="13970" h="1987550">
                  <a:moveTo>
                    <a:pt x="13886" y="9063"/>
                  </a:moveTo>
                  <a:lnTo>
                    <a:pt x="13886" y="50908"/>
                  </a:lnTo>
                  <a:lnTo>
                    <a:pt x="13886" y="55729"/>
                  </a:lnTo>
                  <a:lnTo>
                    <a:pt x="9096" y="59971"/>
                  </a:lnTo>
                  <a:lnTo>
                    <a:pt x="0" y="55729"/>
                  </a:lnTo>
                  <a:lnTo>
                    <a:pt x="0" y="50908"/>
                  </a:lnTo>
                  <a:lnTo>
                    <a:pt x="0" y="9063"/>
                  </a:lnTo>
                  <a:lnTo>
                    <a:pt x="0" y="4820"/>
                  </a:lnTo>
                  <a:lnTo>
                    <a:pt x="4789" y="4820"/>
                  </a:lnTo>
                  <a:lnTo>
                    <a:pt x="9096" y="0"/>
                  </a:lnTo>
                  <a:lnTo>
                    <a:pt x="9096" y="4820"/>
                  </a:lnTo>
                  <a:lnTo>
                    <a:pt x="13886" y="4820"/>
                  </a:lnTo>
                  <a:lnTo>
                    <a:pt x="13886" y="9063"/>
                  </a:lnTo>
                  <a:close/>
                </a:path>
                <a:path w="13970" h="1987550">
                  <a:moveTo>
                    <a:pt x="13886" y="111266"/>
                  </a:moveTo>
                  <a:lnTo>
                    <a:pt x="13886" y="152687"/>
                  </a:lnTo>
                  <a:lnTo>
                    <a:pt x="13886" y="157450"/>
                  </a:lnTo>
                  <a:lnTo>
                    <a:pt x="9096" y="162213"/>
                  </a:lnTo>
                  <a:lnTo>
                    <a:pt x="0" y="157450"/>
                  </a:lnTo>
                  <a:lnTo>
                    <a:pt x="0" y="152687"/>
                  </a:lnTo>
                  <a:lnTo>
                    <a:pt x="0" y="111266"/>
                  </a:lnTo>
                  <a:lnTo>
                    <a:pt x="0" y="106445"/>
                  </a:lnTo>
                  <a:lnTo>
                    <a:pt x="4789" y="101817"/>
                  </a:lnTo>
                  <a:lnTo>
                    <a:pt x="9096" y="101817"/>
                  </a:lnTo>
                  <a:lnTo>
                    <a:pt x="13886" y="106445"/>
                  </a:lnTo>
                  <a:lnTo>
                    <a:pt x="13886" y="111266"/>
                  </a:lnTo>
                  <a:close/>
                </a:path>
                <a:path w="13970" h="1987550">
                  <a:moveTo>
                    <a:pt x="13886" y="213102"/>
                  </a:moveTo>
                  <a:lnTo>
                    <a:pt x="13886" y="254504"/>
                  </a:lnTo>
                  <a:lnTo>
                    <a:pt x="13886" y="259267"/>
                  </a:lnTo>
                  <a:lnTo>
                    <a:pt x="9096" y="264010"/>
                  </a:lnTo>
                  <a:lnTo>
                    <a:pt x="0" y="259267"/>
                  </a:lnTo>
                  <a:lnTo>
                    <a:pt x="0" y="254504"/>
                  </a:lnTo>
                  <a:lnTo>
                    <a:pt x="0" y="213102"/>
                  </a:lnTo>
                  <a:lnTo>
                    <a:pt x="0" y="208358"/>
                  </a:lnTo>
                  <a:lnTo>
                    <a:pt x="4789" y="203595"/>
                  </a:lnTo>
                  <a:lnTo>
                    <a:pt x="9096" y="203595"/>
                  </a:lnTo>
                  <a:lnTo>
                    <a:pt x="13886" y="208358"/>
                  </a:lnTo>
                  <a:lnTo>
                    <a:pt x="13886" y="213102"/>
                  </a:lnTo>
                  <a:close/>
                </a:path>
                <a:path w="13970" h="1987550">
                  <a:moveTo>
                    <a:pt x="13886" y="314919"/>
                  </a:moveTo>
                  <a:lnTo>
                    <a:pt x="13886" y="356784"/>
                  </a:lnTo>
                  <a:lnTo>
                    <a:pt x="13886" y="361064"/>
                  </a:lnTo>
                  <a:lnTo>
                    <a:pt x="9096" y="365827"/>
                  </a:lnTo>
                  <a:lnTo>
                    <a:pt x="0" y="361064"/>
                  </a:lnTo>
                  <a:lnTo>
                    <a:pt x="0" y="356784"/>
                  </a:lnTo>
                  <a:lnTo>
                    <a:pt x="0" y="314919"/>
                  </a:lnTo>
                  <a:lnTo>
                    <a:pt x="0" y="310156"/>
                  </a:lnTo>
                  <a:lnTo>
                    <a:pt x="0" y="305875"/>
                  </a:lnTo>
                  <a:lnTo>
                    <a:pt x="4789" y="305875"/>
                  </a:lnTo>
                  <a:lnTo>
                    <a:pt x="9096" y="305875"/>
                  </a:lnTo>
                  <a:lnTo>
                    <a:pt x="13886" y="305875"/>
                  </a:lnTo>
                  <a:lnTo>
                    <a:pt x="13886" y="310156"/>
                  </a:lnTo>
                  <a:lnTo>
                    <a:pt x="13886" y="314919"/>
                  </a:lnTo>
                  <a:close/>
                </a:path>
                <a:path w="13970" h="1987550">
                  <a:moveTo>
                    <a:pt x="13886" y="412455"/>
                  </a:moveTo>
                  <a:lnTo>
                    <a:pt x="13886" y="458601"/>
                  </a:lnTo>
                  <a:lnTo>
                    <a:pt x="13886" y="463364"/>
                  </a:lnTo>
                  <a:lnTo>
                    <a:pt x="9096" y="463364"/>
                  </a:lnTo>
                  <a:lnTo>
                    <a:pt x="0" y="463364"/>
                  </a:lnTo>
                  <a:lnTo>
                    <a:pt x="0" y="458601"/>
                  </a:lnTo>
                  <a:lnTo>
                    <a:pt x="0" y="412455"/>
                  </a:lnTo>
                  <a:lnTo>
                    <a:pt x="0" y="407692"/>
                  </a:lnTo>
                  <a:lnTo>
                    <a:pt x="4789" y="407692"/>
                  </a:lnTo>
                  <a:lnTo>
                    <a:pt x="9096" y="407692"/>
                  </a:lnTo>
                  <a:lnTo>
                    <a:pt x="13886" y="407692"/>
                  </a:lnTo>
                  <a:lnTo>
                    <a:pt x="13886" y="412455"/>
                  </a:lnTo>
                  <a:close/>
                </a:path>
                <a:path w="13970" h="1987550">
                  <a:moveTo>
                    <a:pt x="13886" y="514272"/>
                  </a:moveTo>
                  <a:lnTo>
                    <a:pt x="13886" y="560418"/>
                  </a:lnTo>
                  <a:lnTo>
                    <a:pt x="13886" y="565181"/>
                  </a:lnTo>
                  <a:lnTo>
                    <a:pt x="9096" y="565181"/>
                  </a:lnTo>
                  <a:lnTo>
                    <a:pt x="0" y="565181"/>
                  </a:lnTo>
                  <a:lnTo>
                    <a:pt x="0" y="560418"/>
                  </a:lnTo>
                  <a:lnTo>
                    <a:pt x="0" y="514272"/>
                  </a:lnTo>
                  <a:lnTo>
                    <a:pt x="0" y="509509"/>
                  </a:lnTo>
                  <a:lnTo>
                    <a:pt x="4789" y="509509"/>
                  </a:lnTo>
                  <a:lnTo>
                    <a:pt x="9096" y="509509"/>
                  </a:lnTo>
                  <a:lnTo>
                    <a:pt x="13886" y="509509"/>
                  </a:lnTo>
                  <a:lnTo>
                    <a:pt x="13886" y="514272"/>
                  </a:lnTo>
                  <a:close/>
                </a:path>
                <a:path w="13970" h="1987550">
                  <a:moveTo>
                    <a:pt x="13886" y="616089"/>
                  </a:moveTo>
                  <a:lnTo>
                    <a:pt x="13886" y="662235"/>
                  </a:lnTo>
                  <a:lnTo>
                    <a:pt x="13886" y="666978"/>
                  </a:lnTo>
                  <a:lnTo>
                    <a:pt x="9096" y="666978"/>
                  </a:lnTo>
                  <a:lnTo>
                    <a:pt x="0" y="666978"/>
                  </a:lnTo>
                  <a:lnTo>
                    <a:pt x="0" y="662235"/>
                  </a:lnTo>
                  <a:lnTo>
                    <a:pt x="0" y="616089"/>
                  </a:lnTo>
                  <a:lnTo>
                    <a:pt x="0" y="611326"/>
                  </a:lnTo>
                  <a:lnTo>
                    <a:pt x="4789" y="611326"/>
                  </a:lnTo>
                  <a:lnTo>
                    <a:pt x="9096" y="611326"/>
                  </a:lnTo>
                  <a:lnTo>
                    <a:pt x="13886" y="611326"/>
                  </a:lnTo>
                  <a:lnTo>
                    <a:pt x="13886" y="616089"/>
                  </a:lnTo>
                  <a:close/>
                </a:path>
                <a:path w="13970" h="1987550">
                  <a:moveTo>
                    <a:pt x="13886" y="717887"/>
                  </a:moveTo>
                  <a:lnTo>
                    <a:pt x="13886" y="759752"/>
                  </a:lnTo>
                  <a:lnTo>
                    <a:pt x="13886" y="764515"/>
                  </a:lnTo>
                  <a:lnTo>
                    <a:pt x="13886" y="768796"/>
                  </a:lnTo>
                  <a:lnTo>
                    <a:pt x="9096" y="768796"/>
                  </a:lnTo>
                  <a:lnTo>
                    <a:pt x="0" y="768796"/>
                  </a:lnTo>
                  <a:lnTo>
                    <a:pt x="0" y="764515"/>
                  </a:lnTo>
                  <a:lnTo>
                    <a:pt x="0" y="759752"/>
                  </a:lnTo>
                  <a:lnTo>
                    <a:pt x="0" y="717887"/>
                  </a:lnTo>
                  <a:lnTo>
                    <a:pt x="0" y="713143"/>
                  </a:lnTo>
                  <a:lnTo>
                    <a:pt x="4789" y="713143"/>
                  </a:lnTo>
                  <a:lnTo>
                    <a:pt x="9096" y="713143"/>
                  </a:lnTo>
                  <a:lnTo>
                    <a:pt x="13886" y="713143"/>
                  </a:lnTo>
                  <a:lnTo>
                    <a:pt x="13886" y="717887"/>
                  </a:lnTo>
                  <a:close/>
                </a:path>
                <a:path w="13970" h="1987550">
                  <a:moveTo>
                    <a:pt x="13886" y="819704"/>
                  </a:moveTo>
                  <a:lnTo>
                    <a:pt x="13886" y="861569"/>
                  </a:lnTo>
                  <a:lnTo>
                    <a:pt x="13886" y="866332"/>
                  </a:lnTo>
                  <a:lnTo>
                    <a:pt x="9096" y="871095"/>
                  </a:lnTo>
                  <a:lnTo>
                    <a:pt x="0" y="866332"/>
                  </a:lnTo>
                  <a:lnTo>
                    <a:pt x="0" y="861569"/>
                  </a:lnTo>
                  <a:lnTo>
                    <a:pt x="0" y="819704"/>
                  </a:lnTo>
                  <a:lnTo>
                    <a:pt x="0" y="815423"/>
                  </a:lnTo>
                  <a:lnTo>
                    <a:pt x="4789" y="815423"/>
                  </a:lnTo>
                  <a:lnTo>
                    <a:pt x="9096" y="810660"/>
                  </a:lnTo>
                  <a:lnTo>
                    <a:pt x="9096" y="815423"/>
                  </a:lnTo>
                  <a:lnTo>
                    <a:pt x="13886" y="815423"/>
                  </a:lnTo>
                  <a:lnTo>
                    <a:pt x="13886" y="819704"/>
                  </a:lnTo>
                  <a:close/>
                </a:path>
                <a:path w="13970" h="1987550">
                  <a:moveTo>
                    <a:pt x="13886" y="922003"/>
                  </a:moveTo>
                  <a:lnTo>
                    <a:pt x="13886" y="963386"/>
                  </a:lnTo>
                  <a:lnTo>
                    <a:pt x="13886" y="968149"/>
                  </a:lnTo>
                  <a:lnTo>
                    <a:pt x="9096" y="972893"/>
                  </a:lnTo>
                  <a:lnTo>
                    <a:pt x="0" y="968149"/>
                  </a:lnTo>
                  <a:lnTo>
                    <a:pt x="0" y="963386"/>
                  </a:lnTo>
                  <a:lnTo>
                    <a:pt x="0" y="922003"/>
                  </a:lnTo>
                  <a:lnTo>
                    <a:pt x="0" y="917240"/>
                  </a:lnTo>
                  <a:lnTo>
                    <a:pt x="4789" y="912477"/>
                  </a:lnTo>
                  <a:lnTo>
                    <a:pt x="9096" y="912477"/>
                  </a:lnTo>
                  <a:lnTo>
                    <a:pt x="13886" y="917240"/>
                  </a:lnTo>
                  <a:lnTo>
                    <a:pt x="13886" y="922003"/>
                  </a:lnTo>
                  <a:close/>
                </a:path>
                <a:path w="13970" h="1987550">
                  <a:moveTo>
                    <a:pt x="13886" y="1023801"/>
                  </a:moveTo>
                  <a:lnTo>
                    <a:pt x="13886" y="1065203"/>
                  </a:lnTo>
                  <a:lnTo>
                    <a:pt x="13886" y="1069966"/>
                  </a:lnTo>
                  <a:lnTo>
                    <a:pt x="9097" y="1074710"/>
                  </a:lnTo>
                  <a:lnTo>
                    <a:pt x="0" y="1069966"/>
                  </a:lnTo>
                  <a:lnTo>
                    <a:pt x="0" y="1065203"/>
                  </a:lnTo>
                  <a:lnTo>
                    <a:pt x="0" y="1023801"/>
                  </a:lnTo>
                  <a:lnTo>
                    <a:pt x="0" y="1019057"/>
                  </a:lnTo>
                  <a:lnTo>
                    <a:pt x="4789" y="1014294"/>
                  </a:lnTo>
                  <a:lnTo>
                    <a:pt x="9097" y="1014294"/>
                  </a:lnTo>
                  <a:lnTo>
                    <a:pt x="13886" y="1019057"/>
                  </a:lnTo>
                  <a:lnTo>
                    <a:pt x="13886" y="1023801"/>
                  </a:lnTo>
                  <a:close/>
                </a:path>
                <a:path w="13970" h="1987550">
                  <a:moveTo>
                    <a:pt x="13886" y="1125618"/>
                  </a:moveTo>
                  <a:lnTo>
                    <a:pt x="13886" y="1167483"/>
                  </a:lnTo>
                  <a:lnTo>
                    <a:pt x="13886" y="1171764"/>
                  </a:lnTo>
                  <a:lnTo>
                    <a:pt x="9097" y="1176527"/>
                  </a:lnTo>
                  <a:lnTo>
                    <a:pt x="0" y="1171764"/>
                  </a:lnTo>
                  <a:lnTo>
                    <a:pt x="0" y="1167483"/>
                  </a:lnTo>
                  <a:lnTo>
                    <a:pt x="0" y="1125618"/>
                  </a:lnTo>
                  <a:lnTo>
                    <a:pt x="0" y="1120855"/>
                  </a:lnTo>
                  <a:lnTo>
                    <a:pt x="0" y="1116574"/>
                  </a:lnTo>
                  <a:lnTo>
                    <a:pt x="4790" y="1116574"/>
                  </a:lnTo>
                  <a:lnTo>
                    <a:pt x="9097" y="1116574"/>
                  </a:lnTo>
                  <a:lnTo>
                    <a:pt x="13886" y="1116574"/>
                  </a:lnTo>
                  <a:lnTo>
                    <a:pt x="13886" y="1120855"/>
                  </a:lnTo>
                  <a:lnTo>
                    <a:pt x="13886" y="1125618"/>
                  </a:lnTo>
                  <a:close/>
                </a:path>
                <a:path w="13970" h="1987550">
                  <a:moveTo>
                    <a:pt x="13886" y="1223154"/>
                  </a:moveTo>
                  <a:lnTo>
                    <a:pt x="13886" y="1269300"/>
                  </a:lnTo>
                  <a:lnTo>
                    <a:pt x="13886" y="1274063"/>
                  </a:lnTo>
                  <a:lnTo>
                    <a:pt x="9097" y="1274063"/>
                  </a:lnTo>
                  <a:lnTo>
                    <a:pt x="0" y="1274063"/>
                  </a:lnTo>
                  <a:lnTo>
                    <a:pt x="0" y="1269300"/>
                  </a:lnTo>
                  <a:lnTo>
                    <a:pt x="0" y="1223154"/>
                  </a:lnTo>
                  <a:lnTo>
                    <a:pt x="0" y="1218391"/>
                  </a:lnTo>
                  <a:lnTo>
                    <a:pt x="4790" y="1218391"/>
                  </a:lnTo>
                  <a:lnTo>
                    <a:pt x="9097" y="1218391"/>
                  </a:lnTo>
                  <a:lnTo>
                    <a:pt x="13886" y="1218391"/>
                  </a:lnTo>
                  <a:lnTo>
                    <a:pt x="13886" y="1223154"/>
                  </a:lnTo>
                  <a:close/>
                </a:path>
                <a:path w="13970" h="1987550">
                  <a:moveTo>
                    <a:pt x="13886" y="1324971"/>
                  </a:moveTo>
                  <a:lnTo>
                    <a:pt x="13886" y="1371117"/>
                  </a:lnTo>
                  <a:lnTo>
                    <a:pt x="13886" y="1375880"/>
                  </a:lnTo>
                  <a:lnTo>
                    <a:pt x="9097" y="1375880"/>
                  </a:lnTo>
                  <a:lnTo>
                    <a:pt x="0" y="1375880"/>
                  </a:lnTo>
                  <a:lnTo>
                    <a:pt x="0" y="1371117"/>
                  </a:lnTo>
                  <a:lnTo>
                    <a:pt x="0" y="1324971"/>
                  </a:lnTo>
                  <a:lnTo>
                    <a:pt x="0" y="1320208"/>
                  </a:lnTo>
                  <a:lnTo>
                    <a:pt x="4790" y="1320208"/>
                  </a:lnTo>
                  <a:lnTo>
                    <a:pt x="9097" y="1320208"/>
                  </a:lnTo>
                  <a:lnTo>
                    <a:pt x="13886" y="1320208"/>
                  </a:lnTo>
                  <a:lnTo>
                    <a:pt x="13886" y="1324971"/>
                  </a:lnTo>
                  <a:close/>
                </a:path>
                <a:path w="13970" h="1987550">
                  <a:moveTo>
                    <a:pt x="13886" y="1426769"/>
                  </a:moveTo>
                  <a:lnTo>
                    <a:pt x="13886" y="1472934"/>
                  </a:lnTo>
                  <a:lnTo>
                    <a:pt x="13886" y="1477678"/>
                  </a:lnTo>
                  <a:lnTo>
                    <a:pt x="9097" y="1477678"/>
                  </a:lnTo>
                  <a:lnTo>
                    <a:pt x="0" y="1477678"/>
                  </a:lnTo>
                  <a:lnTo>
                    <a:pt x="0" y="1472934"/>
                  </a:lnTo>
                  <a:lnTo>
                    <a:pt x="0" y="1426769"/>
                  </a:lnTo>
                  <a:lnTo>
                    <a:pt x="0" y="1422025"/>
                  </a:lnTo>
                  <a:lnTo>
                    <a:pt x="4790" y="1422025"/>
                  </a:lnTo>
                  <a:lnTo>
                    <a:pt x="9097" y="1422025"/>
                  </a:lnTo>
                  <a:lnTo>
                    <a:pt x="13886" y="1422025"/>
                  </a:lnTo>
                  <a:lnTo>
                    <a:pt x="13886" y="1426769"/>
                  </a:lnTo>
                  <a:close/>
                </a:path>
                <a:path w="13970" h="1987550">
                  <a:moveTo>
                    <a:pt x="13886" y="1528586"/>
                  </a:moveTo>
                  <a:lnTo>
                    <a:pt x="13886" y="1570451"/>
                  </a:lnTo>
                  <a:lnTo>
                    <a:pt x="13886" y="1575214"/>
                  </a:lnTo>
                  <a:lnTo>
                    <a:pt x="13886" y="1579495"/>
                  </a:lnTo>
                  <a:lnTo>
                    <a:pt x="9097" y="1579495"/>
                  </a:lnTo>
                  <a:lnTo>
                    <a:pt x="0" y="1579495"/>
                  </a:lnTo>
                  <a:lnTo>
                    <a:pt x="0" y="1575214"/>
                  </a:lnTo>
                  <a:lnTo>
                    <a:pt x="0" y="1570451"/>
                  </a:lnTo>
                  <a:lnTo>
                    <a:pt x="0" y="1528586"/>
                  </a:lnTo>
                  <a:lnTo>
                    <a:pt x="0" y="1523842"/>
                  </a:lnTo>
                  <a:lnTo>
                    <a:pt x="4790" y="1523842"/>
                  </a:lnTo>
                  <a:lnTo>
                    <a:pt x="9097" y="1523842"/>
                  </a:lnTo>
                  <a:lnTo>
                    <a:pt x="13886" y="1523842"/>
                  </a:lnTo>
                  <a:lnTo>
                    <a:pt x="13886" y="1528586"/>
                  </a:lnTo>
                  <a:close/>
                </a:path>
                <a:path w="13970" h="1987550">
                  <a:moveTo>
                    <a:pt x="13886" y="1630403"/>
                  </a:moveTo>
                  <a:lnTo>
                    <a:pt x="13886" y="1672268"/>
                  </a:lnTo>
                  <a:lnTo>
                    <a:pt x="13886" y="1677031"/>
                  </a:lnTo>
                  <a:lnTo>
                    <a:pt x="9097" y="1681794"/>
                  </a:lnTo>
                  <a:lnTo>
                    <a:pt x="0" y="1677031"/>
                  </a:lnTo>
                  <a:lnTo>
                    <a:pt x="0" y="1672268"/>
                  </a:lnTo>
                  <a:lnTo>
                    <a:pt x="0" y="1630403"/>
                  </a:lnTo>
                  <a:lnTo>
                    <a:pt x="0" y="1626122"/>
                  </a:lnTo>
                  <a:lnTo>
                    <a:pt x="4790" y="1626122"/>
                  </a:lnTo>
                  <a:lnTo>
                    <a:pt x="9097" y="1621359"/>
                  </a:lnTo>
                  <a:lnTo>
                    <a:pt x="9097" y="1626122"/>
                  </a:lnTo>
                  <a:lnTo>
                    <a:pt x="13886" y="1626122"/>
                  </a:lnTo>
                  <a:lnTo>
                    <a:pt x="13886" y="1630403"/>
                  </a:lnTo>
                  <a:close/>
                </a:path>
                <a:path w="13970" h="1987550">
                  <a:moveTo>
                    <a:pt x="13886" y="1732702"/>
                  </a:moveTo>
                  <a:lnTo>
                    <a:pt x="13886" y="1774085"/>
                  </a:lnTo>
                  <a:lnTo>
                    <a:pt x="13886" y="1778848"/>
                  </a:lnTo>
                  <a:lnTo>
                    <a:pt x="9097" y="1783592"/>
                  </a:lnTo>
                  <a:lnTo>
                    <a:pt x="0" y="1778848"/>
                  </a:lnTo>
                  <a:lnTo>
                    <a:pt x="0" y="1774085"/>
                  </a:lnTo>
                  <a:lnTo>
                    <a:pt x="0" y="1732702"/>
                  </a:lnTo>
                  <a:lnTo>
                    <a:pt x="0" y="1727939"/>
                  </a:lnTo>
                  <a:lnTo>
                    <a:pt x="4790" y="1723176"/>
                  </a:lnTo>
                  <a:lnTo>
                    <a:pt x="9097" y="1723176"/>
                  </a:lnTo>
                  <a:lnTo>
                    <a:pt x="13886" y="1727939"/>
                  </a:lnTo>
                  <a:lnTo>
                    <a:pt x="13886" y="1732702"/>
                  </a:lnTo>
                  <a:close/>
                </a:path>
                <a:path w="13970" h="1987550">
                  <a:moveTo>
                    <a:pt x="13886" y="1834500"/>
                  </a:moveTo>
                  <a:lnTo>
                    <a:pt x="13886" y="1876365"/>
                  </a:lnTo>
                  <a:lnTo>
                    <a:pt x="13886" y="1880646"/>
                  </a:lnTo>
                  <a:lnTo>
                    <a:pt x="9097" y="1885409"/>
                  </a:lnTo>
                  <a:lnTo>
                    <a:pt x="0" y="1880646"/>
                  </a:lnTo>
                  <a:lnTo>
                    <a:pt x="0" y="1876365"/>
                  </a:lnTo>
                  <a:lnTo>
                    <a:pt x="0" y="1834500"/>
                  </a:lnTo>
                  <a:lnTo>
                    <a:pt x="0" y="1829756"/>
                  </a:lnTo>
                  <a:lnTo>
                    <a:pt x="4790" y="1824993"/>
                  </a:lnTo>
                  <a:lnTo>
                    <a:pt x="9097" y="1824993"/>
                  </a:lnTo>
                  <a:lnTo>
                    <a:pt x="13886" y="1829756"/>
                  </a:lnTo>
                  <a:lnTo>
                    <a:pt x="13886" y="1834500"/>
                  </a:lnTo>
                  <a:close/>
                </a:path>
                <a:path w="13970" h="1987550">
                  <a:moveTo>
                    <a:pt x="13886" y="1936319"/>
                  </a:moveTo>
                  <a:lnTo>
                    <a:pt x="13886" y="1978186"/>
                  </a:lnTo>
                  <a:lnTo>
                    <a:pt x="13886" y="1982469"/>
                  </a:lnTo>
                  <a:lnTo>
                    <a:pt x="9097" y="1987226"/>
                  </a:lnTo>
                  <a:lnTo>
                    <a:pt x="0" y="1982469"/>
                  </a:lnTo>
                  <a:lnTo>
                    <a:pt x="0" y="1978186"/>
                  </a:lnTo>
                  <a:lnTo>
                    <a:pt x="0" y="1936319"/>
                  </a:lnTo>
                  <a:lnTo>
                    <a:pt x="0" y="1931562"/>
                  </a:lnTo>
                  <a:lnTo>
                    <a:pt x="0" y="1927279"/>
                  </a:lnTo>
                  <a:lnTo>
                    <a:pt x="4790" y="1927279"/>
                  </a:lnTo>
                  <a:lnTo>
                    <a:pt x="9097" y="1927279"/>
                  </a:lnTo>
                  <a:lnTo>
                    <a:pt x="13886" y="1927279"/>
                  </a:lnTo>
                  <a:lnTo>
                    <a:pt x="13886" y="1931562"/>
                  </a:lnTo>
                  <a:lnTo>
                    <a:pt x="13886" y="1936319"/>
                  </a:lnTo>
                  <a:close/>
                </a:path>
              </a:pathLst>
            </a:custGeom>
            <a:ln w="4780">
              <a:solidFill>
                <a:srgbClr val="000000"/>
              </a:solidFill>
            </a:ln>
          </p:spPr>
          <p:txBody>
            <a:bodyPr wrap="square" lIns="0" tIns="0" rIns="0" bIns="0" rtlCol="0"/>
            <a:lstStyle/>
            <a:p/>
          </p:txBody>
        </p:sp>
        <p:sp>
          <p:nvSpPr>
            <p:cNvPr id="16" name="object 16" descr=""/>
            <p:cNvSpPr/>
            <p:nvPr/>
          </p:nvSpPr>
          <p:spPr>
            <a:xfrm>
              <a:off x="4671598" y="4033302"/>
              <a:ext cx="13970" cy="1987550"/>
            </a:xfrm>
            <a:custGeom>
              <a:avLst/>
              <a:gdLst/>
              <a:ahLst/>
              <a:cxnLst/>
              <a:rect l="l" t="t" r="r" b="b"/>
              <a:pathLst>
                <a:path w="13970" h="1987550">
                  <a:moveTo>
                    <a:pt x="13886" y="4820"/>
                  </a:moveTo>
                  <a:lnTo>
                    <a:pt x="0" y="4820"/>
                  </a:lnTo>
                  <a:lnTo>
                    <a:pt x="0" y="55729"/>
                  </a:lnTo>
                  <a:lnTo>
                    <a:pt x="9096" y="59971"/>
                  </a:lnTo>
                  <a:lnTo>
                    <a:pt x="13886" y="55729"/>
                  </a:lnTo>
                  <a:lnTo>
                    <a:pt x="13886" y="4820"/>
                  </a:lnTo>
                  <a:close/>
                </a:path>
                <a:path w="13970" h="1987550">
                  <a:moveTo>
                    <a:pt x="9096" y="0"/>
                  </a:moveTo>
                  <a:lnTo>
                    <a:pt x="4307" y="4820"/>
                  </a:lnTo>
                  <a:lnTo>
                    <a:pt x="9096" y="4820"/>
                  </a:lnTo>
                  <a:lnTo>
                    <a:pt x="9096" y="0"/>
                  </a:lnTo>
                  <a:close/>
                </a:path>
                <a:path w="13970" h="1987550">
                  <a:moveTo>
                    <a:pt x="9096" y="101817"/>
                  </a:moveTo>
                  <a:lnTo>
                    <a:pt x="4307" y="101817"/>
                  </a:lnTo>
                  <a:lnTo>
                    <a:pt x="0" y="106445"/>
                  </a:lnTo>
                  <a:lnTo>
                    <a:pt x="0" y="157450"/>
                  </a:lnTo>
                  <a:lnTo>
                    <a:pt x="9096" y="162213"/>
                  </a:lnTo>
                  <a:lnTo>
                    <a:pt x="13886" y="157450"/>
                  </a:lnTo>
                  <a:lnTo>
                    <a:pt x="13886" y="106445"/>
                  </a:lnTo>
                  <a:lnTo>
                    <a:pt x="9096" y="101817"/>
                  </a:lnTo>
                  <a:close/>
                </a:path>
                <a:path w="13970" h="1987550">
                  <a:moveTo>
                    <a:pt x="9096" y="203595"/>
                  </a:moveTo>
                  <a:lnTo>
                    <a:pt x="4307" y="203595"/>
                  </a:lnTo>
                  <a:lnTo>
                    <a:pt x="0" y="208358"/>
                  </a:lnTo>
                  <a:lnTo>
                    <a:pt x="0" y="259267"/>
                  </a:lnTo>
                  <a:lnTo>
                    <a:pt x="9096" y="264010"/>
                  </a:lnTo>
                  <a:lnTo>
                    <a:pt x="13886" y="259267"/>
                  </a:lnTo>
                  <a:lnTo>
                    <a:pt x="13886" y="208358"/>
                  </a:lnTo>
                  <a:lnTo>
                    <a:pt x="9096" y="203595"/>
                  </a:lnTo>
                  <a:close/>
                </a:path>
                <a:path w="13970" h="1987550">
                  <a:moveTo>
                    <a:pt x="13886" y="305875"/>
                  </a:moveTo>
                  <a:lnTo>
                    <a:pt x="0" y="305875"/>
                  </a:lnTo>
                  <a:lnTo>
                    <a:pt x="0" y="361064"/>
                  </a:lnTo>
                  <a:lnTo>
                    <a:pt x="9096" y="365827"/>
                  </a:lnTo>
                  <a:lnTo>
                    <a:pt x="13886" y="361064"/>
                  </a:lnTo>
                  <a:lnTo>
                    <a:pt x="13886" y="305875"/>
                  </a:lnTo>
                  <a:close/>
                </a:path>
                <a:path w="13970" h="1987550">
                  <a:moveTo>
                    <a:pt x="13886" y="407692"/>
                  </a:moveTo>
                  <a:lnTo>
                    <a:pt x="0" y="407692"/>
                  </a:lnTo>
                  <a:lnTo>
                    <a:pt x="0" y="463364"/>
                  </a:lnTo>
                  <a:lnTo>
                    <a:pt x="13886" y="463364"/>
                  </a:lnTo>
                  <a:lnTo>
                    <a:pt x="13886" y="407692"/>
                  </a:lnTo>
                  <a:close/>
                </a:path>
                <a:path w="13970" h="1987550">
                  <a:moveTo>
                    <a:pt x="13886" y="509509"/>
                  </a:moveTo>
                  <a:lnTo>
                    <a:pt x="0" y="509509"/>
                  </a:lnTo>
                  <a:lnTo>
                    <a:pt x="0" y="565181"/>
                  </a:lnTo>
                  <a:lnTo>
                    <a:pt x="13886" y="565181"/>
                  </a:lnTo>
                  <a:lnTo>
                    <a:pt x="13886" y="509509"/>
                  </a:lnTo>
                  <a:close/>
                </a:path>
                <a:path w="13970" h="1987550">
                  <a:moveTo>
                    <a:pt x="13886" y="611326"/>
                  </a:moveTo>
                  <a:lnTo>
                    <a:pt x="0" y="611326"/>
                  </a:lnTo>
                  <a:lnTo>
                    <a:pt x="0" y="666978"/>
                  </a:lnTo>
                  <a:lnTo>
                    <a:pt x="13886" y="666978"/>
                  </a:lnTo>
                  <a:lnTo>
                    <a:pt x="13886" y="611326"/>
                  </a:lnTo>
                  <a:close/>
                </a:path>
                <a:path w="13970" h="1987550">
                  <a:moveTo>
                    <a:pt x="13886" y="713143"/>
                  </a:moveTo>
                  <a:lnTo>
                    <a:pt x="0" y="713143"/>
                  </a:lnTo>
                  <a:lnTo>
                    <a:pt x="0" y="768796"/>
                  </a:lnTo>
                  <a:lnTo>
                    <a:pt x="13886" y="768796"/>
                  </a:lnTo>
                  <a:lnTo>
                    <a:pt x="13886" y="713143"/>
                  </a:lnTo>
                  <a:close/>
                </a:path>
                <a:path w="13970" h="1987550">
                  <a:moveTo>
                    <a:pt x="13886" y="815423"/>
                  </a:moveTo>
                  <a:lnTo>
                    <a:pt x="0" y="815423"/>
                  </a:lnTo>
                  <a:lnTo>
                    <a:pt x="0" y="866332"/>
                  </a:lnTo>
                  <a:lnTo>
                    <a:pt x="9096" y="871095"/>
                  </a:lnTo>
                  <a:lnTo>
                    <a:pt x="13886" y="866332"/>
                  </a:lnTo>
                  <a:lnTo>
                    <a:pt x="13886" y="815423"/>
                  </a:lnTo>
                  <a:close/>
                </a:path>
                <a:path w="13970" h="1987550">
                  <a:moveTo>
                    <a:pt x="9096" y="810660"/>
                  </a:moveTo>
                  <a:lnTo>
                    <a:pt x="4307" y="815423"/>
                  </a:lnTo>
                  <a:lnTo>
                    <a:pt x="9096" y="815423"/>
                  </a:lnTo>
                  <a:lnTo>
                    <a:pt x="9096" y="810660"/>
                  </a:lnTo>
                  <a:close/>
                </a:path>
                <a:path w="13970" h="1987550">
                  <a:moveTo>
                    <a:pt x="9096" y="912477"/>
                  </a:moveTo>
                  <a:lnTo>
                    <a:pt x="4307" y="912477"/>
                  </a:lnTo>
                  <a:lnTo>
                    <a:pt x="0" y="917240"/>
                  </a:lnTo>
                  <a:lnTo>
                    <a:pt x="0" y="968149"/>
                  </a:lnTo>
                  <a:lnTo>
                    <a:pt x="9096" y="972893"/>
                  </a:lnTo>
                  <a:lnTo>
                    <a:pt x="13886" y="968149"/>
                  </a:lnTo>
                  <a:lnTo>
                    <a:pt x="13886" y="917240"/>
                  </a:lnTo>
                  <a:lnTo>
                    <a:pt x="9096" y="912477"/>
                  </a:lnTo>
                  <a:close/>
                </a:path>
                <a:path w="13970" h="1987550">
                  <a:moveTo>
                    <a:pt x="9097" y="1014294"/>
                  </a:moveTo>
                  <a:lnTo>
                    <a:pt x="4307" y="1014294"/>
                  </a:lnTo>
                  <a:lnTo>
                    <a:pt x="0" y="1019057"/>
                  </a:lnTo>
                  <a:lnTo>
                    <a:pt x="0" y="1069966"/>
                  </a:lnTo>
                  <a:lnTo>
                    <a:pt x="9097" y="1074710"/>
                  </a:lnTo>
                  <a:lnTo>
                    <a:pt x="13886" y="1069966"/>
                  </a:lnTo>
                  <a:lnTo>
                    <a:pt x="13886" y="1019057"/>
                  </a:lnTo>
                  <a:lnTo>
                    <a:pt x="9097" y="1014294"/>
                  </a:lnTo>
                  <a:close/>
                </a:path>
                <a:path w="13970" h="1987550">
                  <a:moveTo>
                    <a:pt x="13886" y="1116574"/>
                  </a:moveTo>
                  <a:lnTo>
                    <a:pt x="0" y="1116574"/>
                  </a:lnTo>
                  <a:lnTo>
                    <a:pt x="0" y="1171764"/>
                  </a:lnTo>
                  <a:lnTo>
                    <a:pt x="9097" y="1176527"/>
                  </a:lnTo>
                  <a:lnTo>
                    <a:pt x="13886" y="1171764"/>
                  </a:lnTo>
                  <a:lnTo>
                    <a:pt x="13886" y="1116574"/>
                  </a:lnTo>
                  <a:close/>
                </a:path>
                <a:path w="13970" h="1987550">
                  <a:moveTo>
                    <a:pt x="13886" y="1218391"/>
                  </a:moveTo>
                  <a:lnTo>
                    <a:pt x="0" y="1218391"/>
                  </a:lnTo>
                  <a:lnTo>
                    <a:pt x="0" y="1274063"/>
                  </a:lnTo>
                  <a:lnTo>
                    <a:pt x="13886" y="1274063"/>
                  </a:lnTo>
                  <a:lnTo>
                    <a:pt x="13886" y="1218391"/>
                  </a:lnTo>
                  <a:close/>
                </a:path>
                <a:path w="13970" h="1987550">
                  <a:moveTo>
                    <a:pt x="13886" y="1320208"/>
                  </a:moveTo>
                  <a:lnTo>
                    <a:pt x="0" y="1320208"/>
                  </a:lnTo>
                  <a:lnTo>
                    <a:pt x="0" y="1375880"/>
                  </a:lnTo>
                  <a:lnTo>
                    <a:pt x="13886" y="1375880"/>
                  </a:lnTo>
                  <a:lnTo>
                    <a:pt x="13886" y="1320208"/>
                  </a:lnTo>
                  <a:close/>
                </a:path>
                <a:path w="13970" h="1987550">
                  <a:moveTo>
                    <a:pt x="13886" y="1422025"/>
                  </a:moveTo>
                  <a:lnTo>
                    <a:pt x="0" y="1422025"/>
                  </a:lnTo>
                  <a:lnTo>
                    <a:pt x="0" y="1477678"/>
                  </a:lnTo>
                  <a:lnTo>
                    <a:pt x="13886" y="1477678"/>
                  </a:lnTo>
                  <a:lnTo>
                    <a:pt x="13886" y="1422025"/>
                  </a:lnTo>
                  <a:close/>
                </a:path>
                <a:path w="13970" h="1987550">
                  <a:moveTo>
                    <a:pt x="13886" y="1523842"/>
                  </a:moveTo>
                  <a:lnTo>
                    <a:pt x="0" y="1523842"/>
                  </a:lnTo>
                  <a:lnTo>
                    <a:pt x="0" y="1579495"/>
                  </a:lnTo>
                  <a:lnTo>
                    <a:pt x="13886" y="1579495"/>
                  </a:lnTo>
                  <a:lnTo>
                    <a:pt x="13886" y="1523842"/>
                  </a:lnTo>
                  <a:close/>
                </a:path>
                <a:path w="13970" h="1987550">
                  <a:moveTo>
                    <a:pt x="13886" y="1626122"/>
                  </a:moveTo>
                  <a:lnTo>
                    <a:pt x="0" y="1626122"/>
                  </a:lnTo>
                  <a:lnTo>
                    <a:pt x="0" y="1677031"/>
                  </a:lnTo>
                  <a:lnTo>
                    <a:pt x="9097" y="1681794"/>
                  </a:lnTo>
                  <a:lnTo>
                    <a:pt x="13886" y="1677031"/>
                  </a:lnTo>
                  <a:lnTo>
                    <a:pt x="13886" y="1626122"/>
                  </a:lnTo>
                  <a:close/>
                </a:path>
                <a:path w="13970" h="1987550">
                  <a:moveTo>
                    <a:pt x="9097" y="1621359"/>
                  </a:moveTo>
                  <a:lnTo>
                    <a:pt x="4307" y="1626122"/>
                  </a:lnTo>
                  <a:lnTo>
                    <a:pt x="9097" y="1626122"/>
                  </a:lnTo>
                  <a:lnTo>
                    <a:pt x="9097" y="1621359"/>
                  </a:lnTo>
                  <a:close/>
                </a:path>
                <a:path w="13970" h="1987550">
                  <a:moveTo>
                    <a:pt x="9097" y="1723176"/>
                  </a:moveTo>
                  <a:lnTo>
                    <a:pt x="4307" y="1723176"/>
                  </a:lnTo>
                  <a:lnTo>
                    <a:pt x="0" y="1727939"/>
                  </a:lnTo>
                  <a:lnTo>
                    <a:pt x="0" y="1778848"/>
                  </a:lnTo>
                  <a:lnTo>
                    <a:pt x="9097" y="1783592"/>
                  </a:lnTo>
                  <a:lnTo>
                    <a:pt x="13886" y="1778848"/>
                  </a:lnTo>
                  <a:lnTo>
                    <a:pt x="13886" y="1727939"/>
                  </a:lnTo>
                  <a:lnTo>
                    <a:pt x="9097" y="1723176"/>
                  </a:lnTo>
                  <a:close/>
                </a:path>
                <a:path w="13970" h="1987550">
                  <a:moveTo>
                    <a:pt x="9097" y="1824993"/>
                  </a:moveTo>
                  <a:lnTo>
                    <a:pt x="4307" y="1824993"/>
                  </a:lnTo>
                  <a:lnTo>
                    <a:pt x="0" y="1829757"/>
                  </a:lnTo>
                  <a:lnTo>
                    <a:pt x="0" y="1880646"/>
                  </a:lnTo>
                  <a:lnTo>
                    <a:pt x="9097" y="1885409"/>
                  </a:lnTo>
                  <a:lnTo>
                    <a:pt x="13886" y="1880646"/>
                  </a:lnTo>
                  <a:lnTo>
                    <a:pt x="13886" y="1829757"/>
                  </a:lnTo>
                  <a:lnTo>
                    <a:pt x="9097" y="1824993"/>
                  </a:lnTo>
                  <a:close/>
                </a:path>
                <a:path w="13970" h="1987550">
                  <a:moveTo>
                    <a:pt x="13886" y="1927279"/>
                  </a:moveTo>
                  <a:lnTo>
                    <a:pt x="0" y="1927279"/>
                  </a:lnTo>
                  <a:lnTo>
                    <a:pt x="0" y="1982469"/>
                  </a:lnTo>
                  <a:lnTo>
                    <a:pt x="9097" y="1987226"/>
                  </a:lnTo>
                  <a:lnTo>
                    <a:pt x="13886" y="1982469"/>
                  </a:lnTo>
                  <a:lnTo>
                    <a:pt x="13886" y="1927279"/>
                  </a:lnTo>
                  <a:close/>
                </a:path>
              </a:pathLst>
            </a:custGeom>
            <a:solidFill>
              <a:srgbClr val="000000"/>
            </a:solidFill>
          </p:spPr>
          <p:txBody>
            <a:bodyPr wrap="square" lIns="0" tIns="0" rIns="0" bIns="0" rtlCol="0"/>
            <a:lstStyle/>
            <a:p/>
          </p:txBody>
        </p:sp>
        <p:sp>
          <p:nvSpPr>
            <p:cNvPr id="17" name="object 17" descr=""/>
            <p:cNvSpPr/>
            <p:nvPr/>
          </p:nvSpPr>
          <p:spPr>
            <a:xfrm>
              <a:off x="4671598" y="4033302"/>
              <a:ext cx="13970" cy="1987550"/>
            </a:xfrm>
            <a:custGeom>
              <a:avLst/>
              <a:gdLst/>
              <a:ahLst/>
              <a:cxnLst/>
              <a:rect l="l" t="t" r="r" b="b"/>
              <a:pathLst>
                <a:path w="13970" h="1987550">
                  <a:moveTo>
                    <a:pt x="13886" y="9063"/>
                  </a:moveTo>
                  <a:lnTo>
                    <a:pt x="13886" y="50908"/>
                  </a:lnTo>
                  <a:lnTo>
                    <a:pt x="13886" y="55729"/>
                  </a:lnTo>
                  <a:lnTo>
                    <a:pt x="9096" y="59971"/>
                  </a:lnTo>
                  <a:lnTo>
                    <a:pt x="0" y="55729"/>
                  </a:lnTo>
                  <a:lnTo>
                    <a:pt x="0" y="50908"/>
                  </a:lnTo>
                  <a:lnTo>
                    <a:pt x="0" y="9063"/>
                  </a:lnTo>
                  <a:lnTo>
                    <a:pt x="0" y="4820"/>
                  </a:lnTo>
                  <a:lnTo>
                    <a:pt x="4307" y="4820"/>
                  </a:lnTo>
                  <a:lnTo>
                    <a:pt x="9096" y="0"/>
                  </a:lnTo>
                  <a:lnTo>
                    <a:pt x="9096" y="4820"/>
                  </a:lnTo>
                  <a:lnTo>
                    <a:pt x="13886" y="4820"/>
                  </a:lnTo>
                  <a:lnTo>
                    <a:pt x="13886" y="9063"/>
                  </a:lnTo>
                  <a:close/>
                </a:path>
                <a:path w="13970" h="1987550">
                  <a:moveTo>
                    <a:pt x="13886" y="111266"/>
                  </a:moveTo>
                  <a:lnTo>
                    <a:pt x="13886" y="152687"/>
                  </a:lnTo>
                  <a:lnTo>
                    <a:pt x="13886" y="157450"/>
                  </a:lnTo>
                  <a:lnTo>
                    <a:pt x="9096" y="162213"/>
                  </a:lnTo>
                  <a:lnTo>
                    <a:pt x="0" y="157450"/>
                  </a:lnTo>
                  <a:lnTo>
                    <a:pt x="0" y="152687"/>
                  </a:lnTo>
                  <a:lnTo>
                    <a:pt x="0" y="111266"/>
                  </a:lnTo>
                  <a:lnTo>
                    <a:pt x="0" y="106445"/>
                  </a:lnTo>
                  <a:lnTo>
                    <a:pt x="4307" y="101817"/>
                  </a:lnTo>
                  <a:lnTo>
                    <a:pt x="9096" y="101817"/>
                  </a:lnTo>
                  <a:lnTo>
                    <a:pt x="13886" y="106445"/>
                  </a:lnTo>
                  <a:lnTo>
                    <a:pt x="13886" y="111266"/>
                  </a:lnTo>
                  <a:close/>
                </a:path>
                <a:path w="13970" h="1987550">
                  <a:moveTo>
                    <a:pt x="13886" y="213102"/>
                  </a:moveTo>
                  <a:lnTo>
                    <a:pt x="13886" y="254504"/>
                  </a:lnTo>
                  <a:lnTo>
                    <a:pt x="13886" y="259267"/>
                  </a:lnTo>
                  <a:lnTo>
                    <a:pt x="9096" y="264010"/>
                  </a:lnTo>
                  <a:lnTo>
                    <a:pt x="0" y="259267"/>
                  </a:lnTo>
                  <a:lnTo>
                    <a:pt x="0" y="254504"/>
                  </a:lnTo>
                  <a:lnTo>
                    <a:pt x="0" y="213102"/>
                  </a:lnTo>
                  <a:lnTo>
                    <a:pt x="0" y="208358"/>
                  </a:lnTo>
                  <a:lnTo>
                    <a:pt x="4307" y="203595"/>
                  </a:lnTo>
                  <a:lnTo>
                    <a:pt x="9096" y="203595"/>
                  </a:lnTo>
                  <a:lnTo>
                    <a:pt x="13886" y="208358"/>
                  </a:lnTo>
                  <a:lnTo>
                    <a:pt x="13886" y="213102"/>
                  </a:lnTo>
                  <a:close/>
                </a:path>
                <a:path w="13970" h="1987550">
                  <a:moveTo>
                    <a:pt x="13886" y="314919"/>
                  </a:moveTo>
                  <a:lnTo>
                    <a:pt x="13886" y="356784"/>
                  </a:lnTo>
                  <a:lnTo>
                    <a:pt x="13886" y="361064"/>
                  </a:lnTo>
                  <a:lnTo>
                    <a:pt x="9096" y="365827"/>
                  </a:lnTo>
                  <a:lnTo>
                    <a:pt x="0" y="361064"/>
                  </a:lnTo>
                  <a:lnTo>
                    <a:pt x="0" y="356784"/>
                  </a:lnTo>
                  <a:lnTo>
                    <a:pt x="0" y="314919"/>
                  </a:lnTo>
                  <a:lnTo>
                    <a:pt x="0" y="310156"/>
                  </a:lnTo>
                  <a:lnTo>
                    <a:pt x="0" y="305875"/>
                  </a:lnTo>
                  <a:lnTo>
                    <a:pt x="4307" y="305875"/>
                  </a:lnTo>
                  <a:lnTo>
                    <a:pt x="9096" y="305875"/>
                  </a:lnTo>
                  <a:lnTo>
                    <a:pt x="13886" y="305875"/>
                  </a:lnTo>
                  <a:lnTo>
                    <a:pt x="13886" y="310156"/>
                  </a:lnTo>
                  <a:lnTo>
                    <a:pt x="13886" y="314919"/>
                  </a:lnTo>
                  <a:close/>
                </a:path>
                <a:path w="13970" h="1987550">
                  <a:moveTo>
                    <a:pt x="13886" y="412455"/>
                  </a:moveTo>
                  <a:lnTo>
                    <a:pt x="13886" y="458601"/>
                  </a:lnTo>
                  <a:lnTo>
                    <a:pt x="13886" y="463364"/>
                  </a:lnTo>
                  <a:lnTo>
                    <a:pt x="9096" y="463364"/>
                  </a:lnTo>
                  <a:lnTo>
                    <a:pt x="0" y="463364"/>
                  </a:lnTo>
                  <a:lnTo>
                    <a:pt x="0" y="458601"/>
                  </a:lnTo>
                  <a:lnTo>
                    <a:pt x="0" y="412455"/>
                  </a:lnTo>
                  <a:lnTo>
                    <a:pt x="0" y="407692"/>
                  </a:lnTo>
                  <a:lnTo>
                    <a:pt x="4307" y="407692"/>
                  </a:lnTo>
                  <a:lnTo>
                    <a:pt x="9096" y="407692"/>
                  </a:lnTo>
                  <a:lnTo>
                    <a:pt x="13886" y="407692"/>
                  </a:lnTo>
                  <a:lnTo>
                    <a:pt x="13886" y="412455"/>
                  </a:lnTo>
                  <a:close/>
                </a:path>
                <a:path w="13970" h="1987550">
                  <a:moveTo>
                    <a:pt x="13886" y="514272"/>
                  </a:moveTo>
                  <a:lnTo>
                    <a:pt x="13886" y="560418"/>
                  </a:lnTo>
                  <a:lnTo>
                    <a:pt x="13886" y="565181"/>
                  </a:lnTo>
                  <a:lnTo>
                    <a:pt x="9096" y="565181"/>
                  </a:lnTo>
                  <a:lnTo>
                    <a:pt x="0" y="565181"/>
                  </a:lnTo>
                  <a:lnTo>
                    <a:pt x="0" y="560418"/>
                  </a:lnTo>
                  <a:lnTo>
                    <a:pt x="0" y="514272"/>
                  </a:lnTo>
                  <a:lnTo>
                    <a:pt x="0" y="509509"/>
                  </a:lnTo>
                  <a:lnTo>
                    <a:pt x="4307" y="509509"/>
                  </a:lnTo>
                  <a:lnTo>
                    <a:pt x="9096" y="509509"/>
                  </a:lnTo>
                  <a:lnTo>
                    <a:pt x="13886" y="509509"/>
                  </a:lnTo>
                  <a:lnTo>
                    <a:pt x="13886" y="514272"/>
                  </a:lnTo>
                  <a:close/>
                </a:path>
                <a:path w="13970" h="1987550">
                  <a:moveTo>
                    <a:pt x="13886" y="616089"/>
                  </a:moveTo>
                  <a:lnTo>
                    <a:pt x="13886" y="662235"/>
                  </a:lnTo>
                  <a:lnTo>
                    <a:pt x="13886" y="666978"/>
                  </a:lnTo>
                  <a:lnTo>
                    <a:pt x="9096" y="666978"/>
                  </a:lnTo>
                  <a:lnTo>
                    <a:pt x="0" y="666978"/>
                  </a:lnTo>
                  <a:lnTo>
                    <a:pt x="0" y="662235"/>
                  </a:lnTo>
                  <a:lnTo>
                    <a:pt x="0" y="616089"/>
                  </a:lnTo>
                  <a:lnTo>
                    <a:pt x="0" y="611326"/>
                  </a:lnTo>
                  <a:lnTo>
                    <a:pt x="4307" y="611326"/>
                  </a:lnTo>
                  <a:lnTo>
                    <a:pt x="9096" y="611326"/>
                  </a:lnTo>
                  <a:lnTo>
                    <a:pt x="13886" y="611326"/>
                  </a:lnTo>
                  <a:lnTo>
                    <a:pt x="13886" y="616089"/>
                  </a:lnTo>
                  <a:close/>
                </a:path>
                <a:path w="13970" h="1987550">
                  <a:moveTo>
                    <a:pt x="13886" y="717887"/>
                  </a:moveTo>
                  <a:lnTo>
                    <a:pt x="13886" y="759752"/>
                  </a:lnTo>
                  <a:lnTo>
                    <a:pt x="13886" y="764515"/>
                  </a:lnTo>
                  <a:lnTo>
                    <a:pt x="13886" y="768796"/>
                  </a:lnTo>
                  <a:lnTo>
                    <a:pt x="9096" y="768796"/>
                  </a:lnTo>
                  <a:lnTo>
                    <a:pt x="0" y="768796"/>
                  </a:lnTo>
                  <a:lnTo>
                    <a:pt x="0" y="764515"/>
                  </a:lnTo>
                  <a:lnTo>
                    <a:pt x="0" y="759752"/>
                  </a:lnTo>
                  <a:lnTo>
                    <a:pt x="0" y="717887"/>
                  </a:lnTo>
                  <a:lnTo>
                    <a:pt x="0" y="713143"/>
                  </a:lnTo>
                  <a:lnTo>
                    <a:pt x="4307" y="713143"/>
                  </a:lnTo>
                  <a:lnTo>
                    <a:pt x="9096" y="713143"/>
                  </a:lnTo>
                  <a:lnTo>
                    <a:pt x="13886" y="713143"/>
                  </a:lnTo>
                  <a:lnTo>
                    <a:pt x="13886" y="717887"/>
                  </a:lnTo>
                  <a:close/>
                </a:path>
                <a:path w="13970" h="1987550">
                  <a:moveTo>
                    <a:pt x="13886" y="819704"/>
                  </a:moveTo>
                  <a:lnTo>
                    <a:pt x="13886" y="861569"/>
                  </a:lnTo>
                  <a:lnTo>
                    <a:pt x="13886" y="866332"/>
                  </a:lnTo>
                  <a:lnTo>
                    <a:pt x="9096" y="871095"/>
                  </a:lnTo>
                  <a:lnTo>
                    <a:pt x="0" y="866332"/>
                  </a:lnTo>
                  <a:lnTo>
                    <a:pt x="0" y="861569"/>
                  </a:lnTo>
                  <a:lnTo>
                    <a:pt x="0" y="819704"/>
                  </a:lnTo>
                  <a:lnTo>
                    <a:pt x="0" y="815423"/>
                  </a:lnTo>
                  <a:lnTo>
                    <a:pt x="4307" y="815423"/>
                  </a:lnTo>
                  <a:lnTo>
                    <a:pt x="9096" y="810660"/>
                  </a:lnTo>
                  <a:lnTo>
                    <a:pt x="9096" y="815423"/>
                  </a:lnTo>
                  <a:lnTo>
                    <a:pt x="13886" y="815423"/>
                  </a:lnTo>
                  <a:lnTo>
                    <a:pt x="13886" y="819704"/>
                  </a:lnTo>
                  <a:close/>
                </a:path>
                <a:path w="13970" h="1987550">
                  <a:moveTo>
                    <a:pt x="13886" y="922003"/>
                  </a:moveTo>
                  <a:lnTo>
                    <a:pt x="13886" y="963386"/>
                  </a:lnTo>
                  <a:lnTo>
                    <a:pt x="13886" y="968149"/>
                  </a:lnTo>
                  <a:lnTo>
                    <a:pt x="9096" y="972893"/>
                  </a:lnTo>
                  <a:lnTo>
                    <a:pt x="0" y="968149"/>
                  </a:lnTo>
                  <a:lnTo>
                    <a:pt x="0" y="963386"/>
                  </a:lnTo>
                  <a:lnTo>
                    <a:pt x="0" y="922003"/>
                  </a:lnTo>
                  <a:lnTo>
                    <a:pt x="0" y="917240"/>
                  </a:lnTo>
                  <a:lnTo>
                    <a:pt x="4307" y="912477"/>
                  </a:lnTo>
                  <a:lnTo>
                    <a:pt x="9096" y="912477"/>
                  </a:lnTo>
                  <a:lnTo>
                    <a:pt x="13886" y="917240"/>
                  </a:lnTo>
                  <a:lnTo>
                    <a:pt x="13886" y="922003"/>
                  </a:lnTo>
                  <a:close/>
                </a:path>
                <a:path w="13970" h="1987550">
                  <a:moveTo>
                    <a:pt x="13886" y="1023801"/>
                  </a:moveTo>
                  <a:lnTo>
                    <a:pt x="13886" y="1065203"/>
                  </a:lnTo>
                  <a:lnTo>
                    <a:pt x="13886" y="1069966"/>
                  </a:lnTo>
                  <a:lnTo>
                    <a:pt x="9097" y="1074710"/>
                  </a:lnTo>
                  <a:lnTo>
                    <a:pt x="0" y="1069966"/>
                  </a:lnTo>
                  <a:lnTo>
                    <a:pt x="0" y="1065203"/>
                  </a:lnTo>
                  <a:lnTo>
                    <a:pt x="0" y="1023801"/>
                  </a:lnTo>
                  <a:lnTo>
                    <a:pt x="0" y="1019057"/>
                  </a:lnTo>
                  <a:lnTo>
                    <a:pt x="4307" y="1014294"/>
                  </a:lnTo>
                  <a:lnTo>
                    <a:pt x="9097" y="1014294"/>
                  </a:lnTo>
                  <a:lnTo>
                    <a:pt x="13886" y="1019057"/>
                  </a:lnTo>
                  <a:lnTo>
                    <a:pt x="13886" y="1023801"/>
                  </a:lnTo>
                  <a:close/>
                </a:path>
                <a:path w="13970" h="1987550">
                  <a:moveTo>
                    <a:pt x="13886" y="1125618"/>
                  </a:moveTo>
                  <a:lnTo>
                    <a:pt x="13886" y="1167483"/>
                  </a:lnTo>
                  <a:lnTo>
                    <a:pt x="13886" y="1171764"/>
                  </a:lnTo>
                  <a:lnTo>
                    <a:pt x="9097" y="1176527"/>
                  </a:lnTo>
                  <a:lnTo>
                    <a:pt x="0" y="1171764"/>
                  </a:lnTo>
                  <a:lnTo>
                    <a:pt x="0" y="1167483"/>
                  </a:lnTo>
                  <a:lnTo>
                    <a:pt x="0" y="1125618"/>
                  </a:lnTo>
                  <a:lnTo>
                    <a:pt x="0" y="1120855"/>
                  </a:lnTo>
                  <a:lnTo>
                    <a:pt x="0" y="1116574"/>
                  </a:lnTo>
                  <a:lnTo>
                    <a:pt x="4307" y="1116574"/>
                  </a:lnTo>
                  <a:lnTo>
                    <a:pt x="9097" y="1116574"/>
                  </a:lnTo>
                  <a:lnTo>
                    <a:pt x="13886" y="1116574"/>
                  </a:lnTo>
                  <a:lnTo>
                    <a:pt x="13886" y="1120855"/>
                  </a:lnTo>
                  <a:lnTo>
                    <a:pt x="13886" y="1125618"/>
                  </a:lnTo>
                  <a:close/>
                </a:path>
                <a:path w="13970" h="1987550">
                  <a:moveTo>
                    <a:pt x="13886" y="1223154"/>
                  </a:moveTo>
                  <a:lnTo>
                    <a:pt x="13886" y="1269300"/>
                  </a:lnTo>
                  <a:lnTo>
                    <a:pt x="13886" y="1274063"/>
                  </a:lnTo>
                  <a:lnTo>
                    <a:pt x="9097" y="1274063"/>
                  </a:lnTo>
                  <a:lnTo>
                    <a:pt x="0" y="1274063"/>
                  </a:lnTo>
                  <a:lnTo>
                    <a:pt x="0" y="1269300"/>
                  </a:lnTo>
                  <a:lnTo>
                    <a:pt x="0" y="1223154"/>
                  </a:lnTo>
                  <a:lnTo>
                    <a:pt x="0" y="1218391"/>
                  </a:lnTo>
                  <a:lnTo>
                    <a:pt x="4307" y="1218391"/>
                  </a:lnTo>
                  <a:lnTo>
                    <a:pt x="9097" y="1218391"/>
                  </a:lnTo>
                  <a:lnTo>
                    <a:pt x="13886" y="1218391"/>
                  </a:lnTo>
                  <a:lnTo>
                    <a:pt x="13886" y="1223154"/>
                  </a:lnTo>
                  <a:close/>
                </a:path>
                <a:path w="13970" h="1987550">
                  <a:moveTo>
                    <a:pt x="13886" y="1324971"/>
                  </a:moveTo>
                  <a:lnTo>
                    <a:pt x="13886" y="1371117"/>
                  </a:lnTo>
                  <a:lnTo>
                    <a:pt x="13886" y="1375880"/>
                  </a:lnTo>
                  <a:lnTo>
                    <a:pt x="9097" y="1375880"/>
                  </a:lnTo>
                  <a:lnTo>
                    <a:pt x="0" y="1375880"/>
                  </a:lnTo>
                  <a:lnTo>
                    <a:pt x="0" y="1371117"/>
                  </a:lnTo>
                  <a:lnTo>
                    <a:pt x="0" y="1324971"/>
                  </a:lnTo>
                  <a:lnTo>
                    <a:pt x="0" y="1320208"/>
                  </a:lnTo>
                  <a:lnTo>
                    <a:pt x="4307" y="1320208"/>
                  </a:lnTo>
                  <a:lnTo>
                    <a:pt x="9097" y="1320208"/>
                  </a:lnTo>
                  <a:lnTo>
                    <a:pt x="13886" y="1320208"/>
                  </a:lnTo>
                  <a:lnTo>
                    <a:pt x="13886" y="1324971"/>
                  </a:lnTo>
                  <a:close/>
                </a:path>
                <a:path w="13970" h="1987550">
                  <a:moveTo>
                    <a:pt x="13886" y="1426769"/>
                  </a:moveTo>
                  <a:lnTo>
                    <a:pt x="13886" y="1472934"/>
                  </a:lnTo>
                  <a:lnTo>
                    <a:pt x="13886" y="1477678"/>
                  </a:lnTo>
                  <a:lnTo>
                    <a:pt x="9097" y="1477678"/>
                  </a:lnTo>
                  <a:lnTo>
                    <a:pt x="0" y="1477678"/>
                  </a:lnTo>
                  <a:lnTo>
                    <a:pt x="0" y="1472934"/>
                  </a:lnTo>
                  <a:lnTo>
                    <a:pt x="0" y="1426769"/>
                  </a:lnTo>
                  <a:lnTo>
                    <a:pt x="0" y="1422025"/>
                  </a:lnTo>
                  <a:lnTo>
                    <a:pt x="4307" y="1422025"/>
                  </a:lnTo>
                  <a:lnTo>
                    <a:pt x="9097" y="1422025"/>
                  </a:lnTo>
                  <a:lnTo>
                    <a:pt x="13886" y="1422025"/>
                  </a:lnTo>
                  <a:lnTo>
                    <a:pt x="13886" y="1426769"/>
                  </a:lnTo>
                  <a:close/>
                </a:path>
                <a:path w="13970" h="1987550">
                  <a:moveTo>
                    <a:pt x="13886" y="1528586"/>
                  </a:moveTo>
                  <a:lnTo>
                    <a:pt x="13886" y="1570451"/>
                  </a:lnTo>
                  <a:lnTo>
                    <a:pt x="13886" y="1575214"/>
                  </a:lnTo>
                  <a:lnTo>
                    <a:pt x="13886" y="1579495"/>
                  </a:lnTo>
                  <a:lnTo>
                    <a:pt x="9097" y="1579495"/>
                  </a:lnTo>
                  <a:lnTo>
                    <a:pt x="0" y="1579495"/>
                  </a:lnTo>
                  <a:lnTo>
                    <a:pt x="0" y="1575214"/>
                  </a:lnTo>
                  <a:lnTo>
                    <a:pt x="0" y="1570451"/>
                  </a:lnTo>
                  <a:lnTo>
                    <a:pt x="0" y="1528586"/>
                  </a:lnTo>
                  <a:lnTo>
                    <a:pt x="0" y="1523842"/>
                  </a:lnTo>
                  <a:lnTo>
                    <a:pt x="4307" y="1523842"/>
                  </a:lnTo>
                  <a:lnTo>
                    <a:pt x="9097" y="1523842"/>
                  </a:lnTo>
                  <a:lnTo>
                    <a:pt x="13886" y="1523842"/>
                  </a:lnTo>
                  <a:lnTo>
                    <a:pt x="13886" y="1528586"/>
                  </a:lnTo>
                  <a:close/>
                </a:path>
                <a:path w="13970" h="1987550">
                  <a:moveTo>
                    <a:pt x="13886" y="1630403"/>
                  </a:moveTo>
                  <a:lnTo>
                    <a:pt x="13886" y="1672268"/>
                  </a:lnTo>
                  <a:lnTo>
                    <a:pt x="13886" y="1677031"/>
                  </a:lnTo>
                  <a:lnTo>
                    <a:pt x="9097" y="1681794"/>
                  </a:lnTo>
                  <a:lnTo>
                    <a:pt x="0" y="1677031"/>
                  </a:lnTo>
                  <a:lnTo>
                    <a:pt x="0" y="1672268"/>
                  </a:lnTo>
                  <a:lnTo>
                    <a:pt x="0" y="1630403"/>
                  </a:lnTo>
                  <a:lnTo>
                    <a:pt x="0" y="1626122"/>
                  </a:lnTo>
                  <a:lnTo>
                    <a:pt x="4307" y="1626122"/>
                  </a:lnTo>
                  <a:lnTo>
                    <a:pt x="9097" y="1621359"/>
                  </a:lnTo>
                  <a:lnTo>
                    <a:pt x="9097" y="1626122"/>
                  </a:lnTo>
                  <a:lnTo>
                    <a:pt x="13886" y="1626122"/>
                  </a:lnTo>
                  <a:lnTo>
                    <a:pt x="13886" y="1630403"/>
                  </a:lnTo>
                  <a:close/>
                </a:path>
                <a:path w="13970" h="1987550">
                  <a:moveTo>
                    <a:pt x="13886" y="1732702"/>
                  </a:moveTo>
                  <a:lnTo>
                    <a:pt x="13886" y="1774085"/>
                  </a:lnTo>
                  <a:lnTo>
                    <a:pt x="13886" y="1778848"/>
                  </a:lnTo>
                  <a:lnTo>
                    <a:pt x="9097" y="1783592"/>
                  </a:lnTo>
                  <a:lnTo>
                    <a:pt x="0" y="1778848"/>
                  </a:lnTo>
                  <a:lnTo>
                    <a:pt x="0" y="1774085"/>
                  </a:lnTo>
                  <a:lnTo>
                    <a:pt x="0" y="1732702"/>
                  </a:lnTo>
                  <a:lnTo>
                    <a:pt x="0" y="1727939"/>
                  </a:lnTo>
                  <a:lnTo>
                    <a:pt x="4307" y="1723176"/>
                  </a:lnTo>
                  <a:lnTo>
                    <a:pt x="9097" y="1723176"/>
                  </a:lnTo>
                  <a:lnTo>
                    <a:pt x="13886" y="1727939"/>
                  </a:lnTo>
                  <a:lnTo>
                    <a:pt x="13886" y="1732702"/>
                  </a:lnTo>
                  <a:close/>
                </a:path>
                <a:path w="13970" h="1987550">
                  <a:moveTo>
                    <a:pt x="13886" y="1834500"/>
                  </a:moveTo>
                  <a:lnTo>
                    <a:pt x="13886" y="1876365"/>
                  </a:lnTo>
                  <a:lnTo>
                    <a:pt x="13886" y="1880646"/>
                  </a:lnTo>
                  <a:lnTo>
                    <a:pt x="9097" y="1885409"/>
                  </a:lnTo>
                  <a:lnTo>
                    <a:pt x="0" y="1880646"/>
                  </a:lnTo>
                  <a:lnTo>
                    <a:pt x="0" y="1876365"/>
                  </a:lnTo>
                  <a:lnTo>
                    <a:pt x="0" y="1834500"/>
                  </a:lnTo>
                  <a:lnTo>
                    <a:pt x="0" y="1829756"/>
                  </a:lnTo>
                  <a:lnTo>
                    <a:pt x="4307" y="1824993"/>
                  </a:lnTo>
                  <a:lnTo>
                    <a:pt x="9097" y="1824993"/>
                  </a:lnTo>
                  <a:lnTo>
                    <a:pt x="13886" y="1829756"/>
                  </a:lnTo>
                  <a:lnTo>
                    <a:pt x="13886" y="1834500"/>
                  </a:lnTo>
                  <a:close/>
                </a:path>
                <a:path w="13970" h="1987550">
                  <a:moveTo>
                    <a:pt x="13886" y="1936319"/>
                  </a:moveTo>
                  <a:lnTo>
                    <a:pt x="13886" y="1978186"/>
                  </a:lnTo>
                  <a:lnTo>
                    <a:pt x="13886" y="1982469"/>
                  </a:lnTo>
                  <a:lnTo>
                    <a:pt x="9097" y="1987226"/>
                  </a:lnTo>
                  <a:lnTo>
                    <a:pt x="0" y="1982469"/>
                  </a:lnTo>
                  <a:lnTo>
                    <a:pt x="0" y="1978186"/>
                  </a:lnTo>
                  <a:lnTo>
                    <a:pt x="0" y="1936319"/>
                  </a:lnTo>
                  <a:lnTo>
                    <a:pt x="0" y="1931562"/>
                  </a:lnTo>
                  <a:lnTo>
                    <a:pt x="0" y="1927279"/>
                  </a:lnTo>
                  <a:lnTo>
                    <a:pt x="4307" y="1927279"/>
                  </a:lnTo>
                  <a:lnTo>
                    <a:pt x="9097" y="1927279"/>
                  </a:lnTo>
                  <a:lnTo>
                    <a:pt x="13886" y="1927279"/>
                  </a:lnTo>
                  <a:lnTo>
                    <a:pt x="13886" y="1931562"/>
                  </a:lnTo>
                  <a:lnTo>
                    <a:pt x="13886" y="1936319"/>
                  </a:lnTo>
                  <a:close/>
                </a:path>
              </a:pathLst>
            </a:custGeom>
            <a:ln w="4780">
              <a:solidFill>
                <a:srgbClr val="000000"/>
              </a:solidFill>
            </a:ln>
          </p:spPr>
          <p:txBody>
            <a:bodyPr wrap="square" lIns="0" tIns="0" rIns="0" bIns="0" rtlCol="0"/>
            <a:lstStyle/>
            <a:p/>
          </p:txBody>
        </p:sp>
        <p:sp>
          <p:nvSpPr>
            <p:cNvPr id="18" name="object 18" descr=""/>
            <p:cNvSpPr/>
            <p:nvPr/>
          </p:nvSpPr>
          <p:spPr>
            <a:xfrm>
              <a:off x="5321300" y="4033302"/>
              <a:ext cx="13970" cy="1987550"/>
            </a:xfrm>
            <a:custGeom>
              <a:avLst/>
              <a:gdLst/>
              <a:ahLst/>
              <a:cxnLst/>
              <a:rect l="l" t="t" r="r" b="b"/>
              <a:pathLst>
                <a:path w="13970" h="1987550">
                  <a:moveTo>
                    <a:pt x="13906" y="4820"/>
                  </a:moveTo>
                  <a:lnTo>
                    <a:pt x="0" y="4820"/>
                  </a:lnTo>
                  <a:lnTo>
                    <a:pt x="0" y="55729"/>
                  </a:lnTo>
                  <a:lnTo>
                    <a:pt x="9077" y="59971"/>
                  </a:lnTo>
                  <a:lnTo>
                    <a:pt x="13906" y="55729"/>
                  </a:lnTo>
                  <a:lnTo>
                    <a:pt x="13906" y="4820"/>
                  </a:lnTo>
                  <a:close/>
                </a:path>
                <a:path w="13970" h="1987550">
                  <a:moveTo>
                    <a:pt x="9077" y="0"/>
                  </a:moveTo>
                  <a:lnTo>
                    <a:pt x="4249" y="4820"/>
                  </a:lnTo>
                  <a:lnTo>
                    <a:pt x="9077" y="4820"/>
                  </a:lnTo>
                  <a:lnTo>
                    <a:pt x="9077" y="0"/>
                  </a:lnTo>
                  <a:close/>
                </a:path>
                <a:path w="13970" h="1987550">
                  <a:moveTo>
                    <a:pt x="9077" y="101817"/>
                  </a:moveTo>
                  <a:lnTo>
                    <a:pt x="4249" y="101817"/>
                  </a:lnTo>
                  <a:lnTo>
                    <a:pt x="0" y="106445"/>
                  </a:lnTo>
                  <a:lnTo>
                    <a:pt x="0" y="157450"/>
                  </a:lnTo>
                  <a:lnTo>
                    <a:pt x="9077" y="162213"/>
                  </a:lnTo>
                  <a:lnTo>
                    <a:pt x="13906" y="157450"/>
                  </a:lnTo>
                  <a:lnTo>
                    <a:pt x="13906" y="106445"/>
                  </a:lnTo>
                  <a:lnTo>
                    <a:pt x="9077" y="101817"/>
                  </a:lnTo>
                  <a:close/>
                </a:path>
                <a:path w="13970" h="1987550">
                  <a:moveTo>
                    <a:pt x="9077" y="203595"/>
                  </a:moveTo>
                  <a:lnTo>
                    <a:pt x="4249" y="203595"/>
                  </a:lnTo>
                  <a:lnTo>
                    <a:pt x="0" y="208358"/>
                  </a:lnTo>
                  <a:lnTo>
                    <a:pt x="0" y="259267"/>
                  </a:lnTo>
                  <a:lnTo>
                    <a:pt x="9077" y="264010"/>
                  </a:lnTo>
                  <a:lnTo>
                    <a:pt x="13906" y="259267"/>
                  </a:lnTo>
                  <a:lnTo>
                    <a:pt x="13906" y="208358"/>
                  </a:lnTo>
                  <a:lnTo>
                    <a:pt x="9077" y="203595"/>
                  </a:lnTo>
                  <a:close/>
                </a:path>
                <a:path w="13970" h="1987550">
                  <a:moveTo>
                    <a:pt x="13906" y="305875"/>
                  </a:moveTo>
                  <a:lnTo>
                    <a:pt x="0" y="305875"/>
                  </a:lnTo>
                  <a:lnTo>
                    <a:pt x="0" y="361064"/>
                  </a:lnTo>
                  <a:lnTo>
                    <a:pt x="9077" y="365827"/>
                  </a:lnTo>
                  <a:lnTo>
                    <a:pt x="13906" y="361064"/>
                  </a:lnTo>
                  <a:lnTo>
                    <a:pt x="13906" y="305875"/>
                  </a:lnTo>
                  <a:close/>
                </a:path>
                <a:path w="13970" h="1987550">
                  <a:moveTo>
                    <a:pt x="13906" y="407692"/>
                  </a:moveTo>
                  <a:lnTo>
                    <a:pt x="0" y="407692"/>
                  </a:lnTo>
                  <a:lnTo>
                    <a:pt x="0" y="463364"/>
                  </a:lnTo>
                  <a:lnTo>
                    <a:pt x="13906" y="463364"/>
                  </a:lnTo>
                  <a:lnTo>
                    <a:pt x="13906" y="407692"/>
                  </a:lnTo>
                  <a:close/>
                </a:path>
                <a:path w="13970" h="1987550">
                  <a:moveTo>
                    <a:pt x="13906" y="509509"/>
                  </a:moveTo>
                  <a:lnTo>
                    <a:pt x="0" y="509509"/>
                  </a:lnTo>
                  <a:lnTo>
                    <a:pt x="0" y="565181"/>
                  </a:lnTo>
                  <a:lnTo>
                    <a:pt x="13906" y="565181"/>
                  </a:lnTo>
                  <a:lnTo>
                    <a:pt x="13906" y="509509"/>
                  </a:lnTo>
                  <a:close/>
                </a:path>
                <a:path w="13970" h="1987550">
                  <a:moveTo>
                    <a:pt x="13906" y="611326"/>
                  </a:moveTo>
                  <a:lnTo>
                    <a:pt x="0" y="611326"/>
                  </a:lnTo>
                  <a:lnTo>
                    <a:pt x="0" y="666978"/>
                  </a:lnTo>
                  <a:lnTo>
                    <a:pt x="13906" y="666978"/>
                  </a:lnTo>
                  <a:lnTo>
                    <a:pt x="13906" y="611326"/>
                  </a:lnTo>
                  <a:close/>
                </a:path>
                <a:path w="13970" h="1987550">
                  <a:moveTo>
                    <a:pt x="13906" y="713143"/>
                  </a:moveTo>
                  <a:lnTo>
                    <a:pt x="0" y="713143"/>
                  </a:lnTo>
                  <a:lnTo>
                    <a:pt x="0" y="768796"/>
                  </a:lnTo>
                  <a:lnTo>
                    <a:pt x="13906" y="768796"/>
                  </a:lnTo>
                  <a:lnTo>
                    <a:pt x="13906" y="713143"/>
                  </a:lnTo>
                  <a:close/>
                </a:path>
                <a:path w="13970" h="1987550">
                  <a:moveTo>
                    <a:pt x="13906" y="815423"/>
                  </a:moveTo>
                  <a:lnTo>
                    <a:pt x="0" y="815423"/>
                  </a:lnTo>
                  <a:lnTo>
                    <a:pt x="0" y="866332"/>
                  </a:lnTo>
                  <a:lnTo>
                    <a:pt x="9077" y="871095"/>
                  </a:lnTo>
                  <a:lnTo>
                    <a:pt x="13906" y="866332"/>
                  </a:lnTo>
                  <a:lnTo>
                    <a:pt x="13906" y="815423"/>
                  </a:lnTo>
                  <a:close/>
                </a:path>
                <a:path w="13970" h="1987550">
                  <a:moveTo>
                    <a:pt x="9077" y="810660"/>
                  </a:moveTo>
                  <a:lnTo>
                    <a:pt x="4249" y="815423"/>
                  </a:lnTo>
                  <a:lnTo>
                    <a:pt x="9077" y="815423"/>
                  </a:lnTo>
                  <a:lnTo>
                    <a:pt x="9077" y="810660"/>
                  </a:lnTo>
                  <a:close/>
                </a:path>
                <a:path w="13970" h="1987550">
                  <a:moveTo>
                    <a:pt x="9077" y="912477"/>
                  </a:moveTo>
                  <a:lnTo>
                    <a:pt x="4249" y="912477"/>
                  </a:lnTo>
                  <a:lnTo>
                    <a:pt x="0" y="917240"/>
                  </a:lnTo>
                  <a:lnTo>
                    <a:pt x="0" y="968149"/>
                  </a:lnTo>
                  <a:lnTo>
                    <a:pt x="9077" y="972893"/>
                  </a:lnTo>
                  <a:lnTo>
                    <a:pt x="13906" y="968149"/>
                  </a:lnTo>
                  <a:lnTo>
                    <a:pt x="13906" y="917240"/>
                  </a:lnTo>
                  <a:lnTo>
                    <a:pt x="9077" y="912477"/>
                  </a:lnTo>
                  <a:close/>
                </a:path>
                <a:path w="13970" h="1987550">
                  <a:moveTo>
                    <a:pt x="9077" y="1014294"/>
                  </a:moveTo>
                  <a:lnTo>
                    <a:pt x="4249" y="1014294"/>
                  </a:lnTo>
                  <a:lnTo>
                    <a:pt x="0" y="1019057"/>
                  </a:lnTo>
                  <a:lnTo>
                    <a:pt x="0" y="1069966"/>
                  </a:lnTo>
                  <a:lnTo>
                    <a:pt x="9077" y="1074710"/>
                  </a:lnTo>
                  <a:lnTo>
                    <a:pt x="13906" y="1069966"/>
                  </a:lnTo>
                  <a:lnTo>
                    <a:pt x="13906" y="1019057"/>
                  </a:lnTo>
                  <a:lnTo>
                    <a:pt x="9077" y="1014294"/>
                  </a:lnTo>
                  <a:close/>
                </a:path>
                <a:path w="13970" h="1987550">
                  <a:moveTo>
                    <a:pt x="13906" y="1116574"/>
                  </a:moveTo>
                  <a:lnTo>
                    <a:pt x="0" y="1116574"/>
                  </a:lnTo>
                  <a:lnTo>
                    <a:pt x="0" y="1171764"/>
                  </a:lnTo>
                  <a:lnTo>
                    <a:pt x="9077" y="1176527"/>
                  </a:lnTo>
                  <a:lnTo>
                    <a:pt x="13906" y="1171764"/>
                  </a:lnTo>
                  <a:lnTo>
                    <a:pt x="13906" y="1116574"/>
                  </a:lnTo>
                  <a:close/>
                </a:path>
                <a:path w="13970" h="1987550">
                  <a:moveTo>
                    <a:pt x="13906" y="1218391"/>
                  </a:moveTo>
                  <a:lnTo>
                    <a:pt x="0" y="1218391"/>
                  </a:lnTo>
                  <a:lnTo>
                    <a:pt x="0" y="1274063"/>
                  </a:lnTo>
                  <a:lnTo>
                    <a:pt x="13906" y="1274063"/>
                  </a:lnTo>
                  <a:lnTo>
                    <a:pt x="13906" y="1218391"/>
                  </a:lnTo>
                  <a:close/>
                </a:path>
                <a:path w="13970" h="1987550">
                  <a:moveTo>
                    <a:pt x="13906" y="1320208"/>
                  </a:moveTo>
                  <a:lnTo>
                    <a:pt x="0" y="1320208"/>
                  </a:lnTo>
                  <a:lnTo>
                    <a:pt x="0" y="1375880"/>
                  </a:lnTo>
                  <a:lnTo>
                    <a:pt x="13906" y="1375880"/>
                  </a:lnTo>
                  <a:lnTo>
                    <a:pt x="13906" y="1320208"/>
                  </a:lnTo>
                  <a:close/>
                </a:path>
                <a:path w="13970" h="1987550">
                  <a:moveTo>
                    <a:pt x="13906" y="1422025"/>
                  </a:moveTo>
                  <a:lnTo>
                    <a:pt x="0" y="1422025"/>
                  </a:lnTo>
                  <a:lnTo>
                    <a:pt x="0" y="1477678"/>
                  </a:lnTo>
                  <a:lnTo>
                    <a:pt x="13906" y="1477678"/>
                  </a:lnTo>
                  <a:lnTo>
                    <a:pt x="13906" y="1422025"/>
                  </a:lnTo>
                  <a:close/>
                </a:path>
                <a:path w="13970" h="1987550">
                  <a:moveTo>
                    <a:pt x="13906" y="1523842"/>
                  </a:moveTo>
                  <a:lnTo>
                    <a:pt x="0" y="1523842"/>
                  </a:lnTo>
                  <a:lnTo>
                    <a:pt x="0" y="1579495"/>
                  </a:lnTo>
                  <a:lnTo>
                    <a:pt x="13906" y="1579495"/>
                  </a:lnTo>
                  <a:lnTo>
                    <a:pt x="13906" y="1523842"/>
                  </a:lnTo>
                  <a:close/>
                </a:path>
                <a:path w="13970" h="1987550">
                  <a:moveTo>
                    <a:pt x="13906" y="1626122"/>
                  </a:moveTo>
                  <a:lnTo>
                    <a:pt x="0" y="1626122"/>
                  </a:lnTo>
                  <a:lnTo>
                    <a:pt x="0" y="1677031"/>
                  </a:lnTo>
                  <a:lnTo>
                    <a:pt x="9077" y="1681794"/>
                  </a:lnTo>
                  <a:lnTo>
                    <a:pt x="13906" y="1677031"/>
                  </a:lnTo>
                  <a:lnTo>
                    <a:pt x="13906" y="1626122"/>
                  </a:lnTo>
                  <a:close/>
                </a:path>
                <a:path w="13970" h="1987550">
                  <a:moveTo>
                    <a:pt x="9077" y="1621359"/>
                  </a:moveTo>
                  <a:lnTo>
                    <a:pt x="4249" y="1626122"/>
                  </a:lnTo>
                  <a:lnTo>
                    <a:pt x="9077" y="1626122"/>
                  </a:lnTo>
                  <a:lnTo>
                    <a:pt x="9077" y="1621359"/>
                  </a:lnTo>
                  <a:close/>
                </a:path>
                <a:path w="13970" h="1987550">
                  <a:moveTo>
                    <a:pt x="9077" y="1723176"/>
                  </a:moveTo>
                  <a:lnTo>
                    <a:pt x="4249" y="1723176"/>
                  </a:lnTo>
                  <a:lnTo>
                    <a:pt x="0" y="1727939"/>
                  </a:lnTo>
                  <a:lnTo>
                    <a:pt x="0" y="1778848"/>
                  </a:lnTo>
                  <a:lnTo>
                    <a:pt x="9077" y="1783592"/>
                  </a:lnTo>
                  <a:lnTo>
                    <a:pt x="13906" y="1778848"/>
                  </a:lnTo>
                  <a:lnTo>
                    <a:pt x="13906" y="1727939"/>
                  </a:lnTo>
                  <a:lnTo>
                    <a:pt x="9077" y="1723176"/>
                  </a:lnTo>
                  <a:close/>
                </a:path>
                <a:path w="13970" h="1987550">
                  <a:moveTo>
                    <a:pt x="9077" y="1824993"/>
                  </a:moveTo>
                  <a:lnTo>
                    <a:pt x="4249" y="1824993"/>
                  </a:lnTo>
                  <a:lnTo>
                    <a:pt x="0" y="1829757"/>
                  </a:lnTo>
                  <a:lnTo>
                    <a:pt x="0" y="1880646"/>
                  </a:lnTo>
                  <a:lnTo>
                    <a:pt x="9077" y="1885409"/>
                  </a:lnTo>
                  <a:lnTo>
                    <a:pt x="13906" y="1880646"/>
                  </a:lnTo>
                  <a:lnTo>
                    <a:pt x="13906" y="1829757"/>
                  </a:lnTo>
                  <a:lnTo>
                    <a:pt x="9077" y="1824993"/>
                  </a:lnTo>
                  <a:close/>
                </a:path>
                <a:path w="13970" h="1987550">
                  <a:moveTo>
                    <a:pt x="13906" y="1927279"/>
                  </a:moveTo>
                  <a:lnTo>
                    <a:pt x="0" y="1927279"/>
                  </a:lnTo>
                  <a:lnTo>
                    <a:pt x="0" y="1982469"/>
                  </a:lnTo>
                  <a:lnTo>
                    <a:pt x="9077" y="1987226"/>
                  </a:lnTo>
                  <a:lnTo>
                    <a:pt x="13906" y="1982469"/>
                  </a:lnTo>
                  <a:lnTo>
                    <a:pt x="13906" y="1927279"/>
                  </a:lnTo>
                  <a:close/>
                </a:path>
              </a:pathLst>
            </a:custGeom>
            <a:solidFill>
              <a:srgbClr val="000000"/>
            </a:solidFill>
          </p:spPr>
          <p:txBody>
            <a:bodyPr wrap="square" lIns="0" tIns="0" rIns="0" bIns="0" rtlCol="0"/>
            <a:lstStyle/>
            <a:p/>
          </p:txBody>
        </p:sp>
        <p:sp>
          <p:nvSpPr>
            <p:cNvPr id="19" name="object 19" descr=""/>
            <p:cNvSpPr/>
            <p:nvPr/>
          </p:nvSpPr>
          <p:spPr>
            <a:xfrm>
              <a:off x="5321300" y="4033302"/>
              <a:ext cx="13970" cy="1987550"/>
            </a:xfrm>
            <a:custGeom>
              <a:avLst/>
              <a:gdLst/>
              <a:ahLst/>
              <a:cxnLst/>
              <a:rect l="l" t="t" r="r" b="b"/>
              <a:pathLst>
                <a:path w="13970" h="1987550">
                  <a:moveTo>
                    <a:pt x="13906" y="9063"/>
                  </a:moveTo>
                  <a:lnTo>
                    <a:pt x="13906" y="50908"/>
                  </a:lnTo>
                  <a:lnTo>
                    <a:pt x="13906" y="55729"/>
                  </a:lnTo>
                  <a:lnTo>
                    <a:pt x="9077" y="59971"/>
                  </a:lnTo>
                  <a:lnTo>
                    <a:pt x="0" y="55729"/>
                  </a:lnTo>
                  <a:lnTo>
                    <a:pt x="0" y="50908"/>
                  </a:lnTo>
                  <a:lnTo>
                    <a:pt x="0" y="9063"/>
                  </a:lnTo>
                  <a:lnTo>
                    <a:pt x="0" y="4820"/>
                  </a:lnTo>
                  <a:lnTo>
                    <a:pt x="4249" y="4820"/>
                  </a:lnTo>
                  <a:lnTo>
                    <a:pt x="9077" y="0"/>
                  </a:lnTo>
                  <a:lnTo>
                    <a:pt x="9077" y="4820"/>
                  </a:lnTo>
                  <a:lnTo>
                    <a:pt x="13906" y="4820"/>
                  </a:lnTo>
                  <a:lnTo>
                    <a:pt x="13906" y="9063"/>
                  </a:lnTo>
                  <a:close/>
                </a:path>
                <a:path w="13970" h="1987550">
                  <a:moveTo>
                    <a:pt x="13906" y="111266"/>
                  </a:moveTo>
                  <a:lnTo>
                    <a:pt x="13906" y="152687"/>
                  </a:lnTo>
                  <a:lnTo>
                    <a:pt x="13906" y="157450"/>
                  </a:lnTo>
                  <a:lnTo>
                    <a:pt x="9077" y="162213"/>
                  </a:lnTo>
                  <a:lnTo>
                    <a:pt x="0" y="157450"/>
                  </a:lnTo>
                  <a:lnTo>
                    <a:pt x="0" y="152687"/>
                  </a:lnTo>
                  <a:lnTo>
                    <a:pt x="0" y="111266"/>
                  </a:lnTo>
                  <a:lnTo>
                    <a:pt x="0" y="106445"/>
                  </a:lnTo>
                  <a:lnTo>
                    <a:pt x="4249" y="101817"/>
                  </a:lnTo>
                  <a:lnTo>
                    <a:pt x="9077" y="101817"/>
                  </a:lnTo>
                  <a:lnTo>
                    <a:pt x="13906" y="106445"/>
                  </a:lnTo>
                  <a:lnTo>
                    <a:pt x="13906" y="111266"/>
                  </a:lnTo>
                  <a:close/>
                </a:path>
                <a:path w="13970" h="1987550">
                  <a:moveTo>
                    <a:pt x="13906" y="213102"/>
                  </a:moveTo>
                  <a:lnTo>
                    <a:pt x="13906" y="254504"/>
                  </a:lnTo>
                  <a:lnTo>
                    <a:pt x="13906" y="259267"/>
                  </a:lnTo>
                  <a:lnTo>
                    <a:pt x="9077" y="264010"/>
                  </a:lnTo>
                  <a:lnTo>
                    <a:pt x="0" y="259267"/>
                  </a:lnTo>
                  <a:lnTo>
                    <a:pt x="0" y="254504"/>
                  </a:lnTo>
                  <a:lnTo>
                    <a:pt x="0" y="213102"/>
                  </a:lnTo>
                  <a:lnTo>
                    <a:pt x="0" y="208358"/>
                  </a:lnTo>
                  <a:lnTo>
                    <a:pt x="4249" y="203595"/>
                  </a:lnTo>
                  <a:lnTo>
                    <a:pt x="9077" y="203595"/>
                  </a:lnTo>
                  <a:lnTo>
                    <a:pt x="13906" y="208358"/>
                  </a:lnTo>
                  <a:lnTo>
                    <a:pt x="13906" y="213102"/>
                  </a:lnTo>
                  <a:close/>
                </a:path>
                <a:path w="13970" h="1987550">
                  <a:moveTo>
                    <a:pt x="13906" y="314919"/>
                  </a:moveTo>
                  <a:lnTo>
                    <a:pt x="13906" y="356784"/>
                  </a:lnTo>
                  <a:lnTo>
                    <a:pt x="13906" y="361064"/>
                  </a:lnTo>
                  <a:lnTo>
                    <a:pt x="9077" y="365827"/>
                  </a:lnTo>
                  <a:lnTo>
                    <a:pt x="0" y="361064"/>
                  </a:lnTo>
                  <a:lnTo>
                    <a:pt x="0" y="356784"/>
                  </a:lnTo>
                  <a:lnTo>
                    <a:pt x="0" y="314919"/>
                  </a:lnTo>
                  <a:lnTo>
                    <a:pt x="0" y="310156"/>
                  </a:lnTo>
                  <a:lnTo>
                    <a:pt x="0" y="305875"/>
                  </a:lnTo>
                  <a:lnTo>
                    <a:pt x="4249" y="305875"/>
                  </a:lnTo>
                  <a:lnTo>
                    <a:pt x="9077" y="305875"/>
                  </a:lnTo>
                  <a:lnTo>
                    <a:pt x="13906" y="305875"/>
                  </a:lnTo>
                  <a:lnTo>
                    <a:pt x="13906" y="310156"/>
                  </a:lnTo>
                  <a:lnTo>
                    <a:pt x="13906" y="314919"/>
                  </a:lnTo>
                  <a:close/>
                </a:path>
                <a:path w="13970" h="1987550">
                  <a:moveTo>
                    <a:pt x="13906" y="412455"/>
                  </a:moveTo>
                  <a:lnTo>
                    <a:pt x="13906" y="458601"/>
                  </a:lnTo>
                  <a:lnTo>
                    <a:pt x="13906" y="463364"/>
                  </a:lnTo>
                  <a:lnTo>
                    <a:pt x="9077" y="463364"/>
                  </a:lnTo>
                  <a:lnTo>
                    <a:pt x="0" y="463364"/>
                  </a:lnTo>
                  <a:lnTo>
                    <a:pt x="0" y="458601"/>
                  </a:lnTo>
                  <a:lnTo>
                    <a:pt x="0" y="412455"/>
                  </a:lnTo>
                  <a:lnTo>
                    <a:pt x="0" y="407692"/>
                  </a:lnTo>
                  <a:lnTo>
                    <a:pt x="4249" y="407692"/>
                  </a:lnTo>
                  <a:lnTo>
                    <a:pt x="9077" y="407692"/>
                  </a:lnTo>
                  <a:lnTo>
                    <a:pt x="13906" y="407692"/>
                  </a:lnTo>
                  <a:lnTo>
                    <a:pt x="13906" y="412455"/>
                  </a:lnTo>
                  <a:close/>
                </a:path>
                <a:path w="13970" h="1987550">
                  <a:moveTo>
                    <a:pt x="13906" y="514272"/>
                  </a:moveTo>
                  <a:lnTo>
                    <a:pt x="13906" y="560418"/>
                  </a:lnTo>
                  <a:lnTo>
                    <a:pt x="13906" y="565181"/>
                  </a:lnTo>
                  <a:lnTo>
                    <a:pt x="9077" y="565181"/>
                  </a:lnTo>
                  <a:lnTo>
                    <a:pt x="0" y="565181"/>
                  </a:lnTo>
                  <a:lnTo>
                    <a:pt x="0" y="560418"/>
                  </a:lnTo>
                  <a:lnTo>
                    <a:pt x="0" y="514272"/>
                  </a:lnTo>
                  <a:lnTo>
                    <a:pt x="0" y="509509"/>
                  </a:lnTo>
                  <a:lnTo>
                    <a:pt x="4249" y="509509"/>
                  </a:lnTo>
                  <a:lnTo>
                    <a:pt x="9077" y="509509"/>
                  </a:lnTo>
                  <a:lnTo>
                    <a:pt x="13906" y="509509"/>
                  </a:lnTo>
                  <a:lnTo>
                    <a:pt x="13906" y="514272"/>
                  </a:lnTo>
                  <a:close/>
                </a:path>
                <a:path w="13970" h="1987550">
                  <a:moveTo>
                    <a:pt x="13906" y="616089"/>
                  </a:moveTo>
                  <a:lnTo>
                    <a:pt x="13906" y="662235"/>
                  </a:lnTo>
                  <a:lnTo>
                    <a:pt x="13906" y="666978"/>
                  </a:lnTo>
                  <a:lnTo>
                    <a:pt x="9077" y="666978"/>
                  </a:lnTo>
                  <a:lnTo>
                    <a:pt x="0" y="666978"/>
                  </a:lnTo>
                  <a:lnTo>
                    <a:pt x="0" y="662235"/>
                  </a:lnTo>
                  <a:lnTo>
                    <a:pt x="0" y="616089"/>
                  </a:lnTo>
                  <a:lnTo>
                    <a:pt x="0" y="611326"/>
                  </a:lnTo>
                  <a:lnTo>
                    <a:pt x="4249" y="611326"/>
                  </a:lnTo>
                  <a:lnTo>
                    <a:pt x="9077" y="611326"/>
                  </a:lnTo>
                  <a:lnTo>
                    <a:pt x="13906" y="611326"/>
                  </a:lnTo>
                  <a:lnTo>
                    <a:pt x="13906" y="616089"/>
                  </a:lnTo>
                  <a:close/>
                </a:path>
                <a:path w="13970" h="1987550">
                  <a:moveTo>
                    <a:pt x="13906" y="717887"/>
                  </a:moveTo>
                  <a:lnTo>
                    <a:pt x="13906" y="759752"/>
                  </a:lnTo>
                  <a:lnTo>
                    <a:pt x="13906" y="764515"/>
                  </a:lnTo>
                  <a:lnTo>
                    <a:pt x="13906" y="768796"/>
                  </a:lnTo>
                  <a:lnTo>
                    <a:pt x="9077" y="768796"/>
                  </a:lnTo>
                  <a:lnTo>
                    <a:pt x="0" y="768796"/>
                  </a:lnTo>
                  <a:lnTo>
                    <a:pt x="0" y="764515"/>
                  </a:lnTo>
                  <a:lnTo>
                    <a:pt x="0" y="759752"/>
                  </a:lnTo>
                  <a:lnTo>
                    <a:pt x="0" y="717887"/>
                  </a:lnTo>
                  <a:lnTo>
                    <a:pt x="0" y="713143"/>
                  </a:lnTo>
                  <a:lnTo>
                    <a:pt x="4249" y="713143"/>
                  </a:lnTo>
                  <a:lnTo>
                    <a:pt x="9077" y="713143"/>
                  </a:lnTo>
                  <a:lnTo>
                    <a:pt x="13906" y="713143"/>
                  </a:lnTo>
                  <a:lnTo>
                    <a:pt x="13906" y="717887"/>
                  </a:lnTo>
                  <a:close/>
                </a:path>
                <a:path w="13970" h="1987550">
                  <a:moveTo>
                    <a:pt x="13906" y="819704"/>
                  </a:moveTo>
                  <a:lnTo>
                    <a:pt x="13906" y="861569"/>
                  </a:lnTo>
                  <a:lnTo>
                    <a:pt x="13906" y="866332"/>
                  </a:lnTo>
                  <a:lnTo>
                    <a:pt x="9077" y="871095"/>
                  </a:lnTo>
                  <a:lnTo>
                    <a:pt x="0" y="866332"/>
                  </a:lnTo>
                  <a:lnTo>
                    <a:pt x="0" y="861569"/>
                  </a:lnTo>
                  <a:lnTo>
                    <a:pt x="0" y="819704"/>
                  </a:lnTo>
                  <a:lnTo>
                    <a:pt x="0" y="815423"/>
                  </a:lnTo>
                  <a:lnTo>
                    <a:pt x="4249" y="815423"/>
                  </a:lnTo>
                  <a:lnTo>
                    <a:pt x="9077" y="810660"/>
                  </a:lnTo>
                  <a:lnTo>
                    <a:pt x="9077" y="815423"/>
                  </a:lnTo>
                  <a:lnTo>
                    <a:pt x="13906" y="815423"/>
                  </a:lnTo>
                  <a:lnTo>
                    <a:pt x="13906" y="819704"/>
                  </a:lnTo>
                  <a:close/>
                </a:path>
                <a:path w="13970" h="1987550">
                  <a:moveTo>
                    <a:pt x="13906" y="922003"/>
                  </a:moveTo>
                  <a:lnTo>
                    <a:pt x="13906" y="963386"/>
                  </a:lnTo>
                  <a:lnTo>
                    <a:pt x="13906" y="968149"/>
                  </a:lnTo>
                  <a:lnTo>
                    <a:pt x="9077" y="972893"/>
                  </a:lnTo>
                  <a:lnTo>
                    <a:pt x="0" y="968149"/>
                  </a:lnTo>
                  <a:lnTo>
                    <a:pt x="0" y="963386"/>
                  </a:lnTo>
                  <a:lnTo>
                    <a:pt x="0" y="922003"/>
                  </a:lnTo>
                  <a:lnTo>
                    <a:pt x="0" y="917240"/>
                  </a:lnTo>
                  <a:lnTo>
                    <a:pt x="4249" y="912477"/>
                  </a:lnTo>
                  <a:lnTo>
                    <a:pt x="9077" y="912477"/>
                  </a:lnTo>
                  <a:lnTo>
                    <a:pt x="13906" y="917240"/>
                  </a:lnTo>
                  <a:lnTo>
                    <a:pt x="13906" y="922003"/>
                  </a:lnTo>
                  <a:close/>
                </a:path>
                <a:path w="13970" h="1987550">
                  <a:moveTo>
                    <a:pt x="13906" y="1023801"/>
                  </a:moveTo>
                  <a:lnTo>
                    <a:pt x="13906" y="1065203"/>
                  </a:lnTo>
                  <a:lnTo>
                    <a:pt x="13906" y="1069966"/>
                  </a:lnTo>
                  <a:lnTo>
                    <a:pt x="9077" y="1074710"/>
                  </a:lnTo>
                  <a:lnTo>
                    <a:pt x="0" y="1069966"/>
                  </a:lnTo>
                  <a:lnTo>
                    <a:pt x="0" y="1065203"/>
                  </a:lnTo>
                  <a:lnTo>
                    <a:pt x="0" y="1023801"/>
                  </a:lnTo>
                  <a:lnTo>
                    <a:pt x="0" y="1019057"/>
                  </a:lnTo>
                  <a:lnTo>
                    <a:pt x="4249" y="1014294"/>
                  </a:lnTo>
                  <a:lnTo>
                    <a:pt x="9077" y="1014294"/>
                  </a:lnTo>
                  <a:lnTo>
                    <a:pt x="13906" y="1019057"/>
                  </a:lnTo>
                  <a:lnTo>
                    <a:pt x="13906" y="1023801"/>
                  </a:lnTo>
                  <a:close/>
                </a:path>
                <a:path w="13970" h="1987550">
                  <a:moveTo>
                    <a:pt x="13906" y="1125618"/>
                  </a:moveTo>
                  <a:lnTo>
                    <a:pt x="13906" y="1167483"/>
                  </a:lnTo>
                  <a:lnTo>
                    <a:pt x="13906" y="1171764"/>
                  </a:lnTo>
                  <a:lnTo>
                    <a:pt x="9077" y="1176527"/>
                  </a:lnTo>
                  <a:lnTo>
                    <a:pt x="0" y="1171764"/>
                  </a:lnTo>
                  <a:lnTo>
                    <a:pt x="0" y="1167483"/>
                  </a:lnTo>
                  <a:lnTo>
                    <a:pt x="0" y="1125618"/>
                  </a:lnTo>
                  <a:lnTo>
                    <a:pt x="0" y="1120855"/>
                  </a:lnTo>
                  <a:lnTo>
                    <a:pt x="0" y="1116574"/>
                  </a:lnTo>
                  <a:lnTo>
                    <a:pt x="4249" y="1116574"/>
                  </a:lnTo>
                  <a:lnTo>
                    <a:pt x="9077" y="1116574"/>
                  </a:lnTo>
                  <a:lnTo>
                    <a:pt x="13906" y="1116574"/>
                  </a:lnTo>
                  <a:lnTo>
                    <a:pt x="13906" y="1120855"/>
                  </a:lnTo>
                  <a:lnTo>
                    <a:pt x="13906" y="1125618"/>
                  </a:lnTo>
                  <a:close/>
                </a:path>
                <a:path w="13970" h="1987550">
                  <a:moveTo>
                    <a:pt x="13906" y="1223154"/>
                  </a:moveTo>
                  <a:lnTo>
                    <a:pt x="13906" y="1269300"/>
                  </a:lnTo>
                  <a:lnTo>
                    <a:pt x="13906" y="1274063"/>
                  </a:lnTo>
                  <a:lnTo>
                    <a:pt x="9077" y="1274063"/>
                  </a:lnTo>
                  <a:lnTo>
                    <a:pt x="0" y="1274063"/>
                  </a:lnTo>
                  <a:lnTo>
                    <a:pt x="0" y="1269300"/>
                  </a:lnTo>
                  <a:lnTo>
                    <a:pt x="0" y="1223154"/>
                  </a:lnTo>
                  <a:lnTo>
                    <a:pt x="0" y="1218391"/>
                  </a:lnTo>
                  <a:lnTo>
                    <a:pt x="4249" y="1218391"/>
                  </a:lnTo>
                  <a:lnTo>
                    <a:pt x="9077" y="1218391"/>
                  </a:lnTo>
                  <a:lnTo>
                    <a:pt x="13906" y="1218391"/>
                  </a:lnTo>
                  <a:lnTo>
                    <a:pt x="13906" y="1223154"/>
                  </a:lnTo>
                  <a:close/>
                </a:path>
                <a:path w="13970" h="1987550">
                  <a:moveTo>
                    <a:pt x="13906" y="1324971"/>
                  </a:moveTo>
                  <a:lnTo>
                    <a:pt x="13906" y="1371117"/>
                  </a:lnTo>
                  <a:lnTo>
                    <a:pt x="13906" y="1375880"/>
                  </a:lnTo>
                  <a:lnTo>
                    <a:pt x="9077" y="1375880"/>
                  </a:lnTo>
                  <a:lnTo>
                    <a:pt x="0" y="1375880"/>
                  </a:lnTo>
                  <a:lnTo>
                    <a:pt x="0" y="1371117"/>
                  </a:lnTo>
                  <a:lnTo>
                    <a:pt x="0" y="1324971"/>
                  </a:lnTo>
                  <a:lnTo>
                    <a:pt x="0" y="1320208"/>
                  </a:lnTo>
                  <a:lnTo>
                    <a:pt x="4249" y="1320208"/>
                  </a:lnTo>
                  <a:lnTo>
                    <a:pt x="9077" y="1320208"/>
                  </a:lnTo>
                  <a:lnTo>
                    <a:pt x="13906" y="1320208"/>
                  </a:lnTo>
                  <a:lnTo>
                    <a:pt x="13906" y="1324971"/>
                  </a:lnTo>
                  <a:close/>
                </a:path>
                <a:path w="13970" h="1987550">
                  <a:moveTo>
                    <a:pt x="13906" y="1426769"/>
                  </a:moveTo>
                  <a:lnTo>
                    <a:pt x="13906" y="1472934"/>
                  </a:lnTo>
                  <a:lnTo>
                    <a:pt x="13906" y="1477678"/>
                  </a:lnTo>
                  <a:lnTo>
                    <a:pt x="9077" y="1477678"/>
                  </a:lnTo>
                  <a:lnTo>
                    <a:pt x="0" y="1477678"/>
                  </a:lnTo>
                  <a:lnTo>
                    <a:pt x="0" y="1472934"/>
                  </a:lnTo>
                  <a:lnTo>
                    <a:pt x="0" y="1426769"/>
                  </a:lnTo>
                  <a:lnTo>
                    <a:pt x="0" y="1422025"/>
                  </a:lnTo>
                  <a:lnTo>
                    <a:pt x="4249" y="1422025"/>
                  </a:lnTo>
                  <a:lnTo>
                    <a:pt x="9077" y="1422025"/>
                  </a:lnTo>
                  <a:lnTo>
                    <a:pt x="13906" y="1422025"/>
                  </a:lnTo>
                  <a:lnTo>
                    <a:pt x="13906" y="1426769"/>
                  </a:lnTo>
                  <a:close/>
                </a:path>
                <a:path w="13970" h="1987550">
                  <a:moveTo>
                    <a:pt x="13906" y="1528586"/>
                  </a:moveTo>
                  <a:lnTo>
                    <a:pt x="13906" y="1570451"/>
                  </a:lnTo>
                  <a:lnTo>
                    <a:pt x="13906" y="1575214"/>
                  </a:lnTo>
                  <a:lnTo>
                    <a:pt x="13906" y="1579495"/>
                  </a:lnTo>
                  <a:lnTo>
                    <a:pt x="9077" y="1579495"/>
                  </a:lnTo>
                  <a:lnTo>
                    <a:pt x="0" y="1579495"/>
                  </a:lnTo>
                  <a:lnTo>
                    <a:pt x="0" y="1575214"/>
                  </a:lnTo>
                  <a:lnTo>
                    <a:pt x="0" y="1570451"/>
                  </a:lnTo>
                  <a:lnTo>
                    <a:pt x="0" y="1528586"/>
                  </a:lnTo>
                  <a:lnTo>
                    <a:pt x="0" y="1523842"/>
                  </a:lnTo>
                  <a:lnTo>
                    <a:pt x="4249" y="1523842"/>
                  </a:lnTo>
                  <a:lnTo>
                    <a:pt x="9077" y="1523842"/>
                  </a:lnTo>
                  <a:lnTo>
                    <a:pt x="13906" y="1523842"/>
                  </a:lnTo>
                  <a:lnTo>
                    <a:pt x="13906" y="1528586"/>
                  </a:lnTo>
                  <a:close/>
                </a:path>
                <a:path w="13970" h="1987550">
                  <a:moveTo>
                    <a:pt x="13906" y="1630403"/>
                  </a:moveTo>
                  <a:lnTo>
                    <a:pt x="13906" y="1672268"/>
                  </a:lnTo>
                  <a:lnTo>
                    <a:pt x="13906" y="1677031"/>
                  </a:lnTo>
                  <a:lnTo>
                    <a:pt x="9077" y="1681794"/>
                  </a:lnTo>
                  <a:lnTo>
                    <a:pt x="0" y="1677031"/>
                  </a:lnTo>
                  <a:lnTo>
                    <a:pt x="0" y="1672268"/>
                  </a:lnTo>
                  <a:lnTo>
                    <a:pt x="0" y="1630403"/>
                  </a:lnTo>
                  <a:lnTo>
                    <a:pt x="0" y="1626122"/>
                  </a:lnTo>
                  <a:lnTo>
                    <a:pt x="4249" y="1626122"/>
                  </a:lnTo>
                  <a:lnTo>
                    <a:pt x="9077" y="1621359"/>
                  </a:lnTo>
                  <a:lnTo>
                    <a:pt x="9077" y="1626122"/>
                  </a:lnTo>
                  <a:lnTo>
                    <a:pt x="13906" y="1626122"/>
                  </a:lnTo>
                  <a:lnTo>
                    <a:pt x="13906" y="1630403"/>
                  </a:lnTo>
                  <a:close/>
                </a:path>
                <a:path w="13970" h="1987550">
                  <a:moveTo>
                    <a:pt x="13906" y="1732702"/>
                  </a:moveTo>
                  <a:lnTo>
                    <a:pt x="13906" y="1774085"/>
                  </a:lnTo>
                  <a:lnTo>
                    <a:pt x="13906" y="1778848"/>
                  </a:lnTo>
                  <a:lnTo>
                    <a:pt x="9077" y="1783592"/>
                  </a:lnTo>
                  <a:lnTo>
                    <a:pt x="0" y="1778848"/>
                  </a:lnTo>
                  <a:lnTo>
                    <a:pt x="0" y="1774085"/>
                  </a:lnTo>
                  <a:lnTo>
                    <a:pt x="0" y="1732702"/>
                  </a:lnTo>
                  <a:lnTo>
                    <a:pt x="0" y="1727939"/>
                  </a:lnTo>
                  <a:lnTo>
                    <a:pt x="4249" y="1723176"/>
                  </a:lnTo>
                  <a:lnTo>
                    <a:pt x="9077" y="1723176"/>
                  </a:lnTo>
                  <a:lnTo>
                    <a:pt x="13906" y="1727939"/>
                  </a:lnTo>
                  <a:lnTo>
                    <a:pt x="13906" y="1732702"/>
                  </a:lnTo>
                  <a:close/>
                </a:path>
                <a:path w="13970" h="1987550">
                  <a:moveTo>
                    <a:pt x="13906" y="1834500"/>
                  </a:moveTo>
                  <a:lnTo>
                    <a:pt x="13906" y="1876365"/>
                  </a:lnTo>
                  <a:lnTo>
                    <a:pt x="13906" y="1880646"/>
                  </a:lnTo>
                  <a:lnTo>
                    <a:pt x="9077" y="1885409"/>
                  </a:lnTo>
                  <a:lnTo>
                    <a:pt x="0" y="1880646"/>
                  </a:lnTo>
                  <a:lnTo>
                    <a:pt x="0" y="1876365"/>
                  </a:lnTo>
                  <a:lnTo>
                    <a:pt x="0" y="1834500"/>
                  </a:lnTo>
                  <a:lnTo>
                    <a:pt x="0" y="1829756"/>
                  </a:lnTo>
                  <a:lnTo>
                    <a:pt x="4249" y="1824993"/>
                  </a:lnTo>
                  <a:lnTo>
                    <a:pt x="9077" y="1824993"/>
                  </a:lnTo>
                  <a:lnTo>
                    <a:pt x="13906" y="1829756"/>
                  </a:lnTo>
                  <a:lnTo>
                    <a:pt x="13906" y="1834500"/>
                  </a:lnTo>
                  <a:close/>
                </a:path>
                <a:path w="13970" h="1987550">
                  <a:moveTo>
                    <a:pt x="13906" y="1936319"/>
                  </a:moveTo>
                  <a:lnTo>
                    <a:pt x="13906" y="1978186"/>
                  </a:lnTo>
                  <a:lnTo>
                    <a:pt x="13906" y="1982469"/>
                  </a:lnTo>
                  <a:lnTo>
                    <a:pt x="9077" y="1987226"/>
                  </a:lnTo>
                  <a:lnTo>
                    <a:pt x="0" y="1982469"/>
                  </a:lnTo>
                  <a:lnTo>
                    <a:pt x="0" y="1978186"/>
                  </a:lnTo>
                  <a:lnTo>
                    <a:pt x="0" y="1936319"/>
                  </a:lnTo>
                  <a:lnTo>
                    <a:pt x="0" y="1931562"/>
                  </a:lnTo>
                  <a:lnTo>
                    <a:pt x="0" y="1927279"/>
                  </a:lnTo>
                  <a:lnTo>
                    <a:pt x="4249" y="1927279"/>
                  </a:lnTo>
                  <a:lnTo>
                    <a:pt x="9077" y="1927279"/>
                  </a:lnTo>
                  <a:lnTo>
                    <a:pt x="13906" y="1927279"/>
                  </a:lnTo>
                  <a:lnTo>
                    <a:pt x="13906" y="1931562"/>
                  </a:lnTo>
                  <a:lnTo>
                    <a:pt x="13906" y="1936319"/>
                  </a:lnTo>
                  <a:close/>
                </a:path>
              </a:pathLst>
            </a:custGeom>
            <a:ln w="4780">
              <a:solidFill>
                <a:srgbClr val="000000"/>
              </a:solidFill>
            </a:ln>
          </p:spPr>
          <p:txBody>
            <a:bodyPr wrap="square" lIns="0" tIns="0" rIns="0" bIns="0" rtlCol="0"/>
            <a:lstStyle/>
            <a:p/>
          </p:txBody>
        </p:sp>
        <p:sp>
          <p:nvSpPr>
            <p:cNvPr id="20" name="object 20" descr=""/>
            <p:cNvSpPr/>
            <p:nvPr/>
          </p:nvSpPr>
          <p:spPr>
            <a:xfrm>
              <a:off x="5970441" y="4033302"/>
              <a:ext cx="14604" cy="1987550"/>
            </a:xfrm>
            <a:custGeom>
              <a:avLst/>
              <a:gdLst/>
              <a:ahLst/>
              <a:cxnLst/>
              <a:rect l="l" t="t" r="r" b="b"/>
              <a:pathLst>
                <a:path w="14604" h="1987550">
                  <a:moveTo>
                    <a:pt x="14485" y="4820"/>
                  </a:moveTo>
                  <a:lnTo>
                    <a:pt x="0" y="4820"/>
                  </a:lnTo>
                  <a:lnTo>
                    <a:pt x="0" y="55729"/>
                  </a:lnTo>
                  <a:lnTo>
                    <a:pt x="9656" y="59971"/>
                  </a:lnTo>
                  <a:lnTo>
                    <a:pt x="14485" y="55729"/>
                  </a:lnTo>
                  <a:lnTo>
                    <a:pt x="14485" y="4820"/>
                  </a:lnTo>
                  <a:close/>
                </a:path>
                <a:path w="14604" h="1987550">
                  <a:moveTo>
                    <a:pt x="9656" y="0"/>
                  </a:moveTo>
                  <a:lnTo>
                    <a:pt x="4828" y="4820"/>
                  </a:lnTo>
                  <a:lnTo>
                    <a:pt x="9656" y="4820"/>
                  </a:lnTo>
                  <a:lnTo>
                    <a:pt x="9656" y="0"/>
                  </a:lnTo>
                  <a:close/>
                </a:path>
                <a:path w="14604" h="1987550">
                  <a:moveTo>
                    <a:pt x="9656" y="101817"/>
                  </a:moveTo>
                  <a:lnTo>
                    <a:pt x="4828" y="101817"/>
                  </a:lnTo>
                  <a:lnTo>
                    <a:pt x="0" y="106445"/>
                  </a:lnTo>
                  <a:lnTo>
                    <a:pt x="0" y="157450"/>
                  </a:lnTo>
                  <a:lnTo>
                    <a:pt x="9656" y="162213"/>
                  </a:lnTo>
                  <a:lnTo>
                    <a:pt x="14485" y="157450"/>
                  </a:lnTo>
                  <a:lnTo>
                    <a:pt x="14485" y="106445"/>
                  </a:lnTo>
                  <a:lnTo>
                    <a:pt x="9656" y="101817"/>
                  </a:lnTo>
                  <a:close/>
                </a:path>
                <a:path w="14604" h="1987550">
                  <a:moveTo>
                    <a:pt x="9656" y="203595"/>
                  </a:moveTo>
                  <a:lnTo>
                    <a:pt x="4828" y="203595"/>
                  </a:lnTo>
                  <a:lnTo>
                    <a:pt x="0" y="208358"/>
                  </a:lnTo>
                  <a:lnTo>
                    <a:pt x="0" y="259267"/>
                  </a:lnTo>
                  <a:lnTo>
                    <a:pt x="9657" y="264010"/>
                  </a:lnTo>
                  <a:lnTo>
                    <a:pt x="14485" y="259267"/>
                  </a:lnTo>
                  <a:lnTo>
                    <a:pt x="14485" y="208358"/>
                  </a:lnTo>
                  <a:lnTo>
                    <a:pt x="9656" y="203595"/>
                  </a:lnTo>
                  <a:close/>
                </a:path>
                <a:path w="14604" h="1987550">
                  <a:moveTo>
                    <a:pt x="14485" y="305875"/>
                  </a:moveTo>
                  <a:lnTo>
                    <a:pt x="0" y="305875"/>
                  </a:lnTo>
                  <a:lnTo>
                    <a:pt x="0" y="361064"/>
                  </a:lnTo>
                  <a:lnTo>
                    <a:pt x="9657" y="365827"/>
                  </a:lnTo>
                  <a:lnTo>
                    <a:pt x="14485" y="361064"/>
                  </a:lnTo>
                  <a:lnTo>
                    <a:pt x="14485" y="305875"/>
                  </a:lnTo>
                  <a:close/>
                </a:path>
                <a:path w="14604" h="1987550">
                  <a:moveTo>
                    <a:pt x="14485" y="407692"/>
                  </a:moveTo>
                  <a:lnTo>
                    <a:pt x="0" y="407692"/>
                  </a:lnTo>
                  <a:lnTo>
                    <a:pt x="0" y="463364"/>
                  </a:lnTo>
                  <a:lnTo>
                    <a:pt x="14485" y="463364"/>
                  </a:lnTo>
                  <a:lnTo>
                    <a:pt x="14485" y="407692"/>
                  </a:lnTo>
                  <a:close/>
                </a:path>
                <a:path w="14604" h="1987550">
                  <a:moveTo>
                    <a:pt x="14485" y="509509"/>
                  </a:moveTo>
                  <a:lnTo>
                    <a:pt x="0" y="509509"/>
                  </a:lnTo>
                  <a:lnTo>
                    <a:pt x="0" y="565181"/>
                  </a:lnTo>
                  <a:lnTo>
                    <a:pt x="14485" y="565181"/>
                  </a:lnTo>
                  <a:lnTo>
                    <a:pt x="14485" y="509509"/>
                  </a:lnTo>
                  <a:close/>
                </a:path>
                <a:path w="14604" h="1987550">
                  <a:moveTo>
                    <a:pt x="14485" y="611326"/>
                  </a:moveTo>
                  <a:lnTo>
                    <a:pt x="0" y="611326"/>
                  </a:lnTo>
                  <a:lnTo>
                    <a:pt x="0" y="666978"/>
                  </a:lnTo>
                  <a:lnTo>
                    <a:pt x="14485" y="666978"/>
                  </a:lnTo>
                  <a:lnTo>
                    <a:pt x="14485" y="611326"/>
                  </a:lnTo>
                  <a:close/>
                </a:path>
                <a:path w="14604" h="1987550">
                  <a:moveTo>
                    <a:pt x="14485" y="713143"/>
                  </a:moveTo>
                  <a:lnTo>
                    <a:pt x="0" y="713143"/>
                  </a:lnTo>
                  <a:lnTo>
                    <a:pt x="0" y="768796"/>
                  </a:lnTo>
                  <a:lnTo>
                    <a:pt x="14485" y="768796"/>
                  </a:lnTo>
                  <a:lnTo>
                    <a:pt x="14485" y="713143"/>
                  </a:lnTo>
                  <a:close/>
                </a:path>
                <a:path w="14604" h="1987550">
                  <a:moveTo>
                    <a:pt x="14485" y="815423"/>
                  </a:moveTo>
                  <a:lnTo>
                    <a:pt x="0" y="815423"/>
                  </a:lnTo>
                  <a:lnTo>
                    <a:pt x="0" y="866332"/>
                  </a:lnTo>
                  <a:lnTo>
                    <a:pt x="9657" y="871095"/>
                  </a:lnTo>
                  <a:lnTo>
                    <a:pt x="14485" y="866332"/>
                  </a:lnTo>
                  <a:lnTo>
                    <a:pt x="14485" y="815423"/>
                  </a:lnTo>
                  <a:close/>
                </a:path>
                <a:path w="14604" h="1987550">
                  <a:moveTo>
                    <a:pt x="9657" y="810660"/>
                  </a:moveTo>
                  <a:lnTo>
                    <a:pt x="4828" y="815423"/>
                  </a:lnTo>
                  <a:lnTo>
                    <a:pt x="9657" y="815423"/>
                  </a:lnTo>
                  <a:lnTo>
                    <a:pt x="9657" y="810660"/>
                  </a:lnTo>
                  <a:close/>
                </a:path>
                <a:path w="14604" h="1987550">
                  <a:moveTo>
                    <a:pt x="9657" y="912477"/>
                  </a:moveTo>
                  <a:lnTo>
                    <a:pt x="4828" y="912477"/>
                  </a:lnTo>
                  <a:lnTo>
                    <a:pt x="0" y="917240"/>
                  </a:lnTo>
                  <a:lnTo>
                    <a:pt x="0" y="968149"/>
                  </a:lnTo>
                  <a:lnTo>
                    <a:pt x="9657" y="972893"/>
                  </a:lnTo>
                  <a:lnTo>
                    <a:pt x="14485" y="968149"/>
                  </a:lnTo>
                  <a:lnTo>
                    <a:pt x="14485" y="917240"/>
                  </a:lnTo>
                  <a:lnTo>
                    <a:pt x="9657" y="912477"/>
                  </a:lnTo>
                  <a:close/>
                </a:path>
                <a:path w="14604" h="1987550">
                  <a:moveTo>
                    <a:pt x="9657" y="1014294"/>
                  </a:moveTo>
                  <a:lnTo>
                    <a:pt x="4828" y="1014294"/>
                  </a:lnTo>
                  <a:lnTo>
                    <a:pt x="0" y="1019057"/>
                  </a:lnTo>
                  <a:lnTo>
                    <a:pt x="0" y="1069966"/>
                  </a:lnTo>
                  <a:lnTo>
                    <a:pt x="9657" y="1074710"/>
                  </a:lnTo>
                  <a:lnTo>
                    <a:pt x="14485" y="1069966"/>
                  </a:lnTo>
                  <a:lnTo>
                    <a:pt x="14485" y="1019057"/>
                  </a:lnTo>
                  <a:lnTo>
                    <a:pt x="9657" y="1014294"/>
                  </a:lnTo>
                  <a:close/>
                </a:path>
                <a:path w="14604" h="1987550">
                  <a:moveTo>
                    <a:pt x="14485" y="1116574"/>
                  </a:moveTo>
                  <a:lnTo>
                    <a:pt x="0" y="1116574"/>
                  </a:lnTo>
                  <a:lnTo>
                    <a:pt x="0" y="1171764"/>
                  </a:lnTo>
                  <a:lnTo>
                    <a:pt x="9657" y="1176527"/>
                  </a:lnTo>
                  <a:lnTo>
                    <a:pt x="14485" y="1171764"/>
                  </a:lnTo>
                  <a:lnTo>
                    <a:pt x="14485" y="1116574"/>
                  </a:lnTo>
                  <a:close/>
                </a:path>
                <a:path w="14604" h="1987550">
                  <a:moveTo>
                    <a:pt x="14485" y="1218391"/>
                  </a:moveTo>
                  <a:lnTo>
                    <a:pt x="0" y="1218391"/>
                  </a:lnTo>
                  <a:lnTo>
                    <a:pt x="0" y="1274063"/>
                  </a:lnTo>
                  <a:lnTo>
                    <a:pt x="14485" y="1274063"/>
                  </a:lnTo>
                  <a:lnTo>
                    <a:pt x="14485" y="1218391"/>
                  </a:lnTo>
                  <a:close/>
                </a:path>
                <a:path w="14604" h="1987550">
                  <a:moveTo>
                    <a:pt x="14485" y="1320208"/>
                  </a:moveTo>
                  <a:lnTo>
                    <a:pt x="0" y="1320208"/>
                  </a:lnTo>
                  <a:lnTo>
                    <a:pt x="0" y="1375880"/>
                  </a:lnTo>
                  <a:lnTo>
                    <a:pt x="14485" y="1375880"/>
                  </a:lnTo>
                  <a:lnTo>
                    <a:pt x="14485" y="1320208"/>
                  </a:lnTo>
                  <a:close/>
                </a:path>
                <a:path w="14604" h="1987550">
                  <a:moveTo>
                    <a:pt x="14485" y="1422025"/>
                  </a:moveTo>
                  <a:lnTo>
                    <a:pt x="0" y="1422025"/>
                  </a:lnTo>
                  <a:lnTo>
                    <a:pt x="0" y="1477678"/>
                  </a:lnTo>
                  <a:lnTo>
                    <a:pt x="14485" y="1477678"/>
                  </a:lnTo>
                  <a:lnTo>
                    <a:pt x="14485" y="1422025"/>
                  </a:lnTo>
                  <a:close/>
                </a:path>
                <a:path w="14604" h="1987550">
                  <a:moveTo>
                    <a:pt x="14485" y="1523842"/>
                  </a:moveTo>
                  <a:lnTo>
                    <a:pt x="0" y="1523842"/>
                  </a:lnTo>
                  <a:lnTo>
                    <a:pt x="0" y="1579495"/>
                  </a:lnTo>
                  <a:lnTo>
                    <a:pt x="14485" y="1579495"/>
                  </a:lnTo>
                  <a:lnTo>
                    <a:pt x="14485" y="1523842"/>
                  </a:lnTo>
                  <a:close/>
                </a:path>
                <a:path w="14604" h="1987550">
                  <a:moveTo>
                    <a:pt x="14485" y="1626122"/>
                  </a:moveTo>
                  <a:lnTo>
                    <a:pt x="0" y="1626122"/>
                  </a:lnTo>
                  <a:lnTo>
                    <a:pt x="0" y="1677031"/>
                  </a:lnTo>
                  <a:lnTo>
                    <a:pt x="9657" y="1681794"/>
                  </a:lnTo>
                  <a:lnTo>
                    <a:pt x="14485" y="1677031"/>
                  </a:lnTo>
                  <a:lnTo>
                    <a:pt x="14485" y="1626122"/>
                  </a:lnTo>
                  <a:close/>
                </a:path>
                <a:path w="14604" h="1987550">
                  <a:moveTo>
                    <a:pt x="9657" y="1621359"/>
                  </a:moveTo>
                  <a:lnTo>
                    <a:pt x="4828" y="1626122"/>
                  </a:lnTo>
                  <a:lnTo>
                    <a:pt x="9657" y="1626122"/>
                  </a:lnTo>
                  <a:lnTo>
                    <a:pt x="9657" y="1621359"/>
                  </a:lnTo>
                  <a:close/>
                </a:path>
                <a:path w="14604" h="1987550">
                  <a:moveTo>
                    <a:pt x="9657" y="1723176"/>
                  </a:moveTo>
                  <a:lnTo>
                    <a:pt x="4828" y="1723176"/>
                  </a:lnTo>
                  <a:lnTo>
                    <a:pt x="0" y="1727939"/>
                  </a:lnTo>
                  <a:lnTo>
                    <a:pt x="0" y="1778848"/>
                  </a:lnTo>
                  <a:lnTo>
                    <a:pt x="9657" y="1783592"/>
                  </a:lnTo>
                  <a:lnTo>
                    <a:pt x="14485" y="1778848"/>
                  </a:lnTo>
                  <a:lnTo>
                    <a:pt x="14485" y="1727939"/>
                  </a:lnTo>
                  <a:lnTo>
                    <a:pt x="9657" y="1723176"/>
                  </a:lnTo>
                  <a:close/>
                </a:path>
                <a:path w="14604" h="1987550">
                  <a:moveTo>
                    <a:pt x="9657" y="1824993"/>
                  </a:moveTo>
                  <a:lnTo>
                    <a:pt x="4828" y="1824993"/>
                  </a:lnTo>
                  <a:lnTo>
                    <a:pt x="0" y="1829757"/>
                  </a:lnTo>
                  <a:lnTo>
                    <a:pt x="0" y="1880646"/>
                  </a:lnTo>
                  <a:lnTo>
                    <a:pt x="9657" y="1885409"/>
                  </a:lnTo>
                  <a:lnTo>
                    <a:pt x="14485" y="1880646"/>
                  </a:lnTo>
                  <a:lnTo>
                    <a:pt x="14485" y="1829757"/>
                  </a:lnTo>
                  <a:lnTo>
                    <a:pt x="9657" y="1824993"/>
                  </a:lnTo>
                  <a:close/>
                </a:path>
                <a:path w="14604" h="1987550">
                  <a:moveTo>
                    <a:pt x="14485" y="1927279"/>
                  </a:moveTo>
                  <a:lnTo>
                    <a:pt x="0" y="1927279"/>
                  </a:lnTo>
                  <a:lnTo>
                    <a:pt x="0" y="1982469"/>
                  </a:lnTo>
                  <a:lnTo>
                    <a:pt x="9657" y="1987226"/>
                  </a:lnTo>
                  <a:lnTo>
                    <a:pt x="14485" y="1982469"/>
                  </a:lnTo>
                  <a:lnTo>
                    <a:pt x="14485" y="1927279"/>
                  </a:lnTo>
                  <a:close/>
                </a:path>
              </a:pathLst>
            </a:custGeom>
            <a:solidFill>
              <a:srgbClr val="000000"/>
            </a:solidFill>
          </p:spPr>
          <p:txBody>
            <a:bodyPr wrap="square" lIns="0" tIns="0" rIns="0" bIns="0" rtlCol="0"/>
            <a:lstStyle/>
            <a:p/>
          </p:txBody>
        </p:sp>
        <p:sp>
          <p:nvSpPr>
            <p:cNvPr id="21" name="object 21" descr=""/>
            <p:cNvSpPr/>
            <p:nvPr/>
          </p:nvSpPr>
          <p:spPr>
            <a:xfrm>
              <a:off x="5970441" y="4033302"/>
              <a:ext cx="14604" cy="1987550"/>
            </a:xfrm>
            <a:custGeom>
              <a:avLst/>
              <a:gdLst/>
              <a:ahLst/>
              <a:cxnLst/>
              <a:rect l="l" t="t" r="r" b="b"/>
              <a:pathLst>
                <a:path w="14604" h="1987550">
                  <a:moveTo>
                    <a:pt x="14485" y="9063"/>
                  </a:moveTo>
                  <a:lnTo>
                    <a:pt x="14485" y="50908"/>
                  </a:lnTo>
                  <a:lnTo>
                    <a:pt x="14485" y="55729"/>
                  </a:lnTo>
                  <a:lnTo>
                    <a:pt x="9656" y="59971"/>
                  </a:lnTo>
                  <a:lnTo>
                    <a:pt x="0" y="55729"/>
                  </a:lnTo>
                  <a:lnTo>
                    <a:pt x="0" y="50908"/>
                  </a:lnTo>
                  <a:lnTo>
                    <a:pt x="0" y="9063"/>
                  </a:lnTo>
                  <a:lnTo>
                    <a:pt x="0" y="4820"/>
                  </a:lnTo>
                  <a:lnTo>
                    <a:pt x="4828" y="4820"/>
                  </a:lnTo>
                  <a:lnTo>
                    <a:pt x="9656" y="0"/>
                  </a:lnTo>
                  <a:lnTo>
                    <a:pt x="9656" y="4820"/>
                  </a:lnTo>
                  <a:lnTo>
                    <a:pt x="14485" y="4820"/>
                  </a:lnTo>
                  <a:lnTo>
                    <a:pt x="14485" y="9063"/>
                  </a:lnTo>
                  <a:close/>
                </a:path>
                <a:path w="14604" h="1987550">
                  <a:moveTo>
                    <a:pt x="14485" y="111266"/>
                  </a:moveTo>
                  <a:lnTo>
                    <a:pt x="14485" y="152687"/>
                  </a:lnTo>
                  <a:lnTo>
                    <a:pt x="14485" y="157450"/>
                  </a:lnTo>
                  <a:lnTo>
                    <a:pt x="9656" y="162213"/>
                  </a:lnTo>
                  <a:lnTo>
                    <a:pt x="0" y="157450"/>
                  </a:lnTo>
                  <a:lnTo>
                    <a:pt x="0" y="152687"/>
                  </a:lnTo>
                  <a:lnTo>
                    <a:pt x="0" y="111266"/>
                  </a:lnTo>
                  <a:lnTo>
                    <a:pt x="0" y="106445"/>
                  </a:lnTo>
                  <a:lnTo>
                    <a:pt x="4828" y="101817"/>
                  </a:lnTo>
                  <a:lnTo>
                    <a:pt x="9656" y="101817"/>
                  </a:lnTo>
                  <a:lnTo>
                    <a:pt x="14485" y="106445"/>
                  </a:lnTo>
                  <a:lnTo>
                    <a:pt x="14485" y="111266"/>
                  </a:lnTo>
                  <a:close/>
                </a:path>
                <a:path w="14604" h="1987550">
                  <a:moveTo>
                    <a:pt x="14485" y="213102"/>
                  </a:moveTo>
                  <a:lnTo>
                    <a:pt x="14485" y="254504"/>
                  </a:lnTo>
                  <a:lnTo>
                    <a:pt x="14485" y="259267"/>
                  </a:lnTo>
                  <a:lnTo>
                    <a:pt x="9657" y="264010"/>
                  </a:lnTo>
                  <a:lnTo>
                    <a:pt x="0" y="259267"/>
                  </a:lnTo>
                  <a:lnTo>
                    <a:pt x="0" y="254504"/>
                  </a:lnTo>
                  <a:lnTo>
                    <a:pt x="0" y="213102"/>
                  </a:lnTo>
                  <a:lnTo>
                    <a:pt x="0" y="208358"/>
                  </a:lnTo>
                  <a:lnTo>
                    <a:pt x="4828" y="203595"/>
                  </a:lnTo>
                  <a:lnTo>
                    <a:pt x="9656" y="203595"/>
                  </a:lnTo>
                  <a:lnTo>
                    <a:pt x="14485" y="208358"/>
                  </a:lnTo>
                  <a:lnTo>
                    <a:pt x="14485" y="213102"/>
                  </a:lnTo>
                  <a:close/>
                </a:path>
                <a:path w="14604" h="1987550">
                  <a:moveTo>
                    <a:pt x="14485" y="314919"/>
                  </a:moveTo>
                  <a:lnTo>
                    <a:pt x="14485" y="356784"/>
                  </a:lnTo>
                  <a:lnTo>
                    <a:pt x="14485" y="361064"/>
                  </a:lnTo>
                  <a:lnTo>
                    <a:pt x="9657" y="365827"/>
                  </a:lnTo>
                  <a:lnTo>
                    <a:pt x="0" y="361064"/>
                  </a:lnTo>
                  <a:lnTo>
                    <a:pt x="0" y="356784"/>
                  </a:lnTo>
                  <a:lnTo>
                    <a:pt x="0" y="314919"/>
                  </a:lnTo>
                  <a:lnTo>
                    <a:pt x="0" y="310156"/>
                  </a:lnTo>
                  <a:lnTo>
                    <a:pt x="0" y="305875"/>
                  </a:lnTo>
                  <a:lnTo>
                    <a:pt x="4828" y="305875"/>
                  </a:lnTo>
                  <a:lnTo>
                    <a:pt x="9657" y="305875"/>
                  </a:lnTo>
                  <a:lnTo>
                    <a:pt x="14485" y="305875"/>
                  </a:lnTo>
                  <a:lnTo>
                    <a:pt x="14485" y="310156"/>
                  </a:lnTo>
                  <a:lnTo>
                    <a:pt x="14485" y="314919"/>
                  </a:lnTo>
                  <a:close/>
                </a:path>
                <a:path w="14604" h="1987550">
                  <a:moveTo>
                    <a:pt x="14485" y="412455"/>
                  </a:moveTo>
                  <a:lnTo>
                    <a:pt x="14485" y="458601"/>
                  </a:lnTo>
                  <a:lnTo>
                    <a:pt x="14485" y="463364"/>
                  </a:lnTo>
                  <a:lnTo>
                    <a:pt x="9657" y="463364"/>
                  </a:lnTo>
                  <a:lnTo>
                    <a:pt x="0" y="463364"/>
                  </a:lnTo>
                  <a:lnTo>
                    <a:pt x="0" y="458601"/>
                  </a:lnTo>
                  <a:lnTo>
                    <a:pt x="0" y="412455"/>
                  </a:lnTo>
                  <a:lnTo>
                    <a:pt x="0" y="407692"/>
                  </a:lnTo>
                  <a:lnTo>
                    <a:pt x="4828" y="407692"/>
                  </a:lnTo>
                  <a:lnTo>
                    <a:pt x="9657" y="407692"/>
                  </a:lnTo>
                  <a:lnTo>
                    <a:pt x="14485" y="407692"/>
                  </a:lnTo>
                  <a:lnTo>
                    <a:pt x="14485" y="412455"/>
                  </a:lnTo>
                  <a:close/>
                </a:path>
                <a:path w="14604" h="1987550">
                  <a:moveTo>
                    <a:pt x="14485" y="514272"/>
                  </a:moveTo>
                  <a:lnTo>
                    <a:pt x="14485" y="560418"/>
                  </a:lnTo>
                  <a:lnTo>
                    <a:pt x="14485" y="565181"/>
                  </a:lnTo>
                  <a:lnTo>
                    <a:pt x="9657" y="565181"/>
                  </a:lnTo>
                  <a:lnTo>
                    <a:pt x="0" y="565181"/>
                  </a:lnTo>
                  <a:lnTo>
                    <a:pt x="0" y="560418"/>
                  </a:lnTo>
                  <a:lnTo>
                    <a:pt x="0" y="514272"/>
                  </a:lnTo>
                  <a:lnTo>
                    <a:pt x="0" y="509509"/>
                  </a:lnTo>
                  <a:lnTo>
                    <a:pt x="4828" y="509509"/>
                  </a:lnTo>
                  <a:lnTo>
                    <a:pt x="9657" y="509509"/>
                  </a:lnTo>
                  <a:lnTo>
                    <a:pt x="14485" y="509509"/>
                  </a:lnTo>
                  <a:lnTo>
                    <a:pt x="14485" y="514272"/>
                  </a:lnTo>
                  <a:close/>
                </a:path>
                <a:path w="14604" h="1987550">
                  <a:moveTo>
                    <a:pt x="14485" y="616089"/>
                  </a:moveTo>
                  <a:lnTo>
                    <a:pt x="14485" y="662235"/>
                  </a:lnTo>
                  <a:lnTo>
                    <a:pt x="14485" y="666978"/>
                  </a:lnTo>
                  <a:lnTo>
                    <a:pt x="9657" y="666978"/>
                  </a:lnTo>
                  <a:lnTo>
                    <a:pt x="0" y="666978"/>
                  </a:lnTo>
                  <a:lnTo>
                    <a:pt x="0" y="662235"/>
                  </a:lnTo>
                  <a:lnTo>
                    <a:pt x="0" y="616089"/>
                  </a:lnTo>
                  <a:lnTo>
                    <a:pt x="0" y="611326"/>
                  </a:lnTo>
                  <a:lnTo>
                    <a:pt x="4828" y="611326"/>
                  </a:lnTo>
                  <a:lnTo>
                    <a:pt x="9657" y="611326"/>
                  </a:lnTo>
                  <a:lnTo>
                    <a:pt x="14485" y="611326"/>
                  </a:lnTo>
                  <a:lnTo>
                    <a:pt x="14485" y="616089"/>
                  </a:lnTo>
                  <a:close/>
                </a:path>
                <a:path w="14604" h="1987550">
                  <a:moveTo>
                    <a:pt x="14485" y="717887"/>
                  </a:moveTo>
                  <a:lnTo>
                    <a:pt x="14485" y="759752"/>
                  </a:lnTo>
                  <a:lnTo>
                    <a:pt x="14485" y="764515"/>
                  </a:lnTo>
                  <a:lnTo>
                    <a:pt x="14485" y="768796"/>
                  </a:lnTo>
                  <a:lnTo>
                    <a:pt x="9657" y="768796"/>
                  </a:lnTo>
                  <a:lnTo>
                    <a:pt x="0" y="768796"/>
                  </a:lnTo>
                  <a:lnTo>
                    <a:pt x="0" y="764515"/>
                  </a:lnTo>
                  <a:lnTo>
                    <a:pt x="0" y="759752"/>
                  </a:lnTo>
                  <a:lnTo>
                    <a:pt x="0" y="717887"/>
                  </a:lnTo>
                  <a:lnTo>
                    <a:pt x="0" y="713143"/>
                  </a:lnTo>
                  <a:lnTo>
                    <a:pt x="4828" y="713143"/>
                  </a:lnTo>
                  <a:lnTo>
                    <a:pt x="9657" y="713143"/>
                  </a:lnTo>
                  <a:lnTo>
                    <a:pt x="14485" y="713143"/>
                  </a:lnTo>
                  <a:lnTo>
                    <a:pt x="14485" y="717887"/>
                  </a:lnTo>
                  <a:close/>
                </a:path>
                <a:path w="14604" h="1987550">
                  <a:moveTo>
                    <a:pt x="14485" y="819704"/>
                  </a:moveTo>
                  <a:lnTo>
                    <a:pt x="14485" y="861569"/>
                  </a:lnTo>
                  <a:lnTo>
                    <a:pt x="14485" y="866332"/>
                  </a:lnTo>
                  <a:lnTo>
                    <a:pt x="9657" y="871095"/>
                  </a:lnTo>
                  <a:lnTo>
                    <a:pt x="0" y="866332"/>
                  </a:lnTo>
                  <a:lnTo>
                    <a:pt x="0" y="861569"/>
                  </a:lnTo>
                  <a:lnTo>
                    <a:pt x="0" y="819704"/>
                  </a:lnTo>
                  <a:lnTo>
                    <a:pt x="0" y="815423"/>
                  </a:lnTo>
                  <a:lnTo>
                    <a:pt x="4828" y="815423"/>
                  </a:lnTo>
                  <a:lnTo>
                    <a:pt x="9657" y="810660"/>
                  </a:lnTo>
                  <a:lnTo>
                    <a:pt x="9657" y="815423"/>
                  </a:lnTo>
                  <a:lnTo>
                    <a:pt x="14485" y="815423"/>
                  </a:lnTo>
                  <a:lnTo>
                    <a:pt x="14485" y="819704"/>
                  </a:lnTo>
                  <a:close/>
                </a:path>
                <a:path w="14604" h="1987550">
                  <a:moveTo>
                    <a:pt x="14485" y="922003"/>
                  </a:moveTo>
                  <a:lnTo>
                    <a:pt x="14485" y="963386"/>
                  </a:lnTo>
                  <a:lnTo>
                    <a:pt x="14485" y="968149"/>
                  </a:lnTo>
                  <a:lnTo>
                    <a:pt x="9657" y="972893"/>
                  </a:lnTo>
                  <a:lnTo>
                    <a:pt x="0" y="968149"/>
                  </a:lnTo>
                  <a:lnTo>
                    <a:pt x="0" y="963386"/>
                  </a:lnTo>
                  <a:lnTo>
                    <a:pt x="0" y="922003"/>
                  </a:lnTo>
                  <a:lnTo>
                    <a:pt x="0" y="917240"/>
                  </a:lnTo>
                  <a:lnTo>
                    <a:pt x="4828" y="912477"/>
                  </a:lnTo>
                  <a:lnTo>
                    <a:pt x="9657" y="912477"/>
                  </a:lnTo>
                  <a:lnTo>
                    <a:pt x="14485" y="917240"/>
                  </a:lnTo>
                  <a:lnTo>
                    <a:pt x="14485" y="922003"/>
                  </a:lnTo>
                  <a:close/>
                </a:path>
                <a:path w="14604" h="1987550">
                  <a:moveTo>
                    <a:pt x="14485" y="1023801"/>
                  </a:moveTo>
                  <a:lnTo>
                    <a:pt x="14485" y="1065203"/>
                  </a:lnTo>
                  <a:lnTo>
                    <a:pt x="14485" y="1069966"/>
                  </a:lnTo>
                  <a:lnTo>
                    <a:pt x="9657" y="1074710"/>
                  </a:lnTo>
                  <a:lnTo>
                    <a:pt x="0" y="1069966"/>
                  </a:lnTo>
                  <a:lnTo>
                    <a:pt x="0" y="1065203"/>
                  </a:lnTo>
                  <a:lnTo>
                    <a:pt x="0" y="1023801"/>
                  </a:lnTo>
                  <a:lnTo>
                    <a:pt x="0" y="1019057"/>
                  </a:lnTo>
                  <a:lnTo>
                    <a:pt x="4828" y="1014294"/>
                  </a:lnTo>
                  <a:lnTo>
                    <a:pt x="9657" y="1014294"/>
                  </a:lnTo>
                  <a:lnTo>
                    <a:pt x="14485" y="1019057"/>
                  </a:lnTo>
                  <a:lnTo>
                    <a:pt x="14485" y="1023801"/>
                  </a:lnTo>
                  <a:close/>
                </a:path>
                <a:path w="14604" h="1987550">
                  <a:moveTo>
                    <a:pt x="14485" y="1125618"/>
                  </a:moveTo>
                  <a:lnTo>
                    <a:pt x="14485" y="1167483"/>
                  </a:lnTo>
                  <a:lnTo>
                    <a:pt x="14485" y="1171764"/>
                  </a:lnTo>
                  <a:lnTo>
                    <a:pt x="9657" y="1176527"/>
                  </a:lnTo>
                  <a:lnTo>
                    <a:pt x="0" y="1171764"/>
                  </a:lnTo>
                  <a:lnTo>
                    <a:pt x="0" y="1167483"/>
                  </a:lnTo>
                  <a:lnTo>
                    <a:pt x="0" y="1125618"/>
                  </a:lnTo>
                  <a:lnTo>
                    <a:pt x="0" y="1120855"/>
                  </a:lnTo>
                  <a:lnTo>
                    <a:pt x="0" y="1116574"/>
                  </a:lnTo>
                  <a:lnTo>
                    <a:pt x="4828" y="1116574"/>
                  </a:lnTo>
                  <a:lnTo>
                    <a:pt x="9657" y="1116574"/>
                  </a:lnTo>
                  <a:lnTo>
                    <a:pt x="14485" y="1116574"/>
                  </a:lnTo>
                  <a:lnTo>
                    <a:pt x="14485" y="1120855"/>
                  </a:lnTo>
                  <a:lnTo>
                    <a:pt x="14485" y="1125618"/>
                  </a:lnTo>
                  <a:close/>
                </a:path>
                <a:path w="14604" h="1987550">
                  <a:moveTo>
                    <a:pt x="14485" y="1223154"/>
                  </a:moveTo>
                  <a:lnTo>
                    <a:pt x="14485" y="1269300"/>
                  </a:lnTo>
                  <a:lnTo>
                    <a:pt x="14485" y="1274063"/>
                  </a:lnTo>
                  <a:lnTo>
                    <a:pt x="9657" y="1274063"/>
                  </a:lnTo>
                  <a:lnTo>
                    <a:pt x="0" y="1274063"/>
                  </a:lnTo>
                  <a:lnTo>
                    <a:pt x="0" y="1269300"/>
                  </a:lnTo>
                  <a:lnTo>
                    <a:pt x="0" y="1223154"/>
                  </a:lnTo>
                  <a:lnTo>
                    <a:pt x="0" y="1218391"/>
                  </a:lnTo>
                  <a:lnTo>
                    <a:pt x="4828" y="1218391"/>
                  </a:lnTo>
                  <a:lnTo>
                    <a:pt x="9657" y="1218391"/>
                  </a:lnTo>
                  <a:lnTo>
                    <a:pt x="14485" y="1218391"/>
                  </a:lnTo>
                  <a:lnTo>
                    <a:pt x="14485" y="1223154"/>
                  </a:lnTo>
                  <a:close/>
                </a:path>
                <a:path w="14604" h="1987550">
                  <a:moveTo>
                    <a:pt x="14485" y="1324971"/>
                  </a:moveTo>
                  <a:lnTo>
                    <a:pt x="14485" y="1371117"/>
                  </a:lnTo>
                  <a:lnTo>
                    <a:pt x="14485" y="1375880"/>
                  </a:lnTo>
                  <a:lnTo>
                    <a:pt x="9657" y="1375880"/>
                  </a:lnTo>
                  <a:lnTo>
                    <a:pt x="0" y="1375880"/>
                  </a:lnTo>
                  <a:lnTo>
                    <a:pt x="0" y="1371117"/>
                  </a:lnTo>
                  <a:lnTo>
                    <a:pt x="0" y="1324971"/>
                  </a:lnTo>
                  <a:lnTo>
                    <a:pt x="0" y="1320208"/>
                  </a:lnTo>
                  <a:lnTo>
                    <a:pt x="4828" y="1320208"/>
                  </a:lnTo>
                  <a:lnTo>
                    <a:pt x="9657" y="1320208"/>
                  </a:lnTo>
                  <a:lnTo>
                    <a:pt x="14485" y="1320208"/>
                  </a:lnTo>
                  <a:lnTo>
                    <a:pt x="14485" y="1324971"/>
                  </a:lnTo>
                  <a:close/>
                </a:path>
                <a:path w="14604" h="1987550">
                  <a:moveTo>
                    <a:pt x="14485" y="1426769"/>
                  </a:moveTo>
                  <a:lnTo>
                    <a:pt x="14485" y="1472934"/>
                  </a:lnTo>
                  <a:lnTo>
                    <a:pt x="14485" y="1477678"/>
                  </a:lnTo>
                  <a:lnTo>
                    <a:pt x="9657" y="1477678"/>
                  </a:lnTo>
                  <a:lnTo>
                    <a:pt x="0" y="1477678"/>
                  </a:lnTo>
                  <a:lnTo>
                    <a:pt x="0" y="1472934"/>
                  </a:lnTo>
                  <a:lnTo>
                    <a:pt x="0" y="1426769"/>
                  </a:lnTo>
                  <a:lnTo>
                    <a:pt x="0" y="1422025"/>
                  </a:lnTo>
                  <a:lnTo>
                    <a:pt x="4828" y="1422025"/>
                  </a:lnTo>
                  <a:lnTo>
                    <a:pt x="9657" y="1422025"/>
                  </a:lnTo>
                  <a:lnTo>
                    <a:pt x="14485" y="1422025"/>
                  </a:lnTo>
                  <a:lnTo>
                    <a:pt x="14485" y="1426769"/>
                  </a:lnTo>
                  <a:close/>
                </a:path>
                <a:path w="14604" h="1987550">
                  <a:moveTo>
                    <a:pt x="14485" y="1528586"/>
                  </a:moveTo>
                  <a:lnTo>
                    <a:pt x="14485" y="1570451"/>
                  </a:lnTo>
                  <a:lnTo>
                    <a:pt x="14485" y="1575214"/>
                  </a:lnTo>
                  <a:lnTo>
                    <a:pt x="14485" y="1579495"/>
                  </a:lnTo>
                  <a:lnTo>
                    <a:pt x="9657" y="1579495"/>
                  </a:lnTo>
                  <a:lnTo>
                    <a:pt x="0" y="1579495"/>
                  </a:lnTo>
                  <a:lnTo>
                    <a:pt x="0" y="1575214"/>
                  </a:lnTo>
                  <a:lnTo>
                    <a:pt x="0" y="1570451"/>
                  </a:lnTo>
                  <a:lnTo>
                    <a:pt x="0" y="1528586"/>
                  </a:lnTo>
                  <a:lnTo>
                    <a:pt x="0" y="1523842"/>
                  </a:lnTo>
                  <a:lnTo>
                    <a:pt x="4828" y="1523842"/>
                  </a:lnTo>
                  <a:lnTo>
                    <a:pt x="9657" y="1523842"/>
                  </a:lnTo>
                  <a:lnTo>
                    <a:pt x="14485" y="1523842"/>
                  </a:lnTo>
                  <a:lnTo>
                    <a:pt x="14485" y="1528586"/>
                  </a:lnTo>
                  <a:close/>
                </a:path>
                <a:path w="14604" h="1987550">
                  <a:moveTo>
                    <a:pt x="14485" y="1630403"/>
                  </a:moveTo>
                  <a:lnTo>
                    <a:pt x="14485" y="1672268"/>
                  </a:lnTo>
                  <a:lnTo>
                    <a:pt x="14485" y="1677031"/>
                  </a:lnTo>
                  <a:lnTo>
                    <a:pt x="9657" y="1681794"/>
                  </a:lnTo>
                  <a:lnTo>
                    <a:pt x="0" y="1677031"/>
                  </a:lnTo>
                  <a:lnTo>
                    <a:pt x="0" y="1672268"/>
                  </a:lnTo>
                  <a:lnTo>
                    <a:pt x="0" y="1630403"/>
                  </a:lnTo>
                  <a:lnTo>
                    <a:pt x="0" y="1626122"/>
                  </a:lnTo>
                  <a:lnTo>
                    <a:pt x="4828" y="1626122"/>
                  </a:lnTo>
                  <a:lnTo>
                    <a:pt x="9657" y="1621359"/>
                  </a:lnTo>
                  <a:lnTo>
                    <a:pt x="9657" y="1626122"/>
                  </a:lnTo>
                  <a:lnTo>
                    <a:pt x="14485" y="1626122"/>
                  </a:lnTo>
                  <a:lnTo>
                    <a:pt x="14485" y="1630403"/>
                  </a:lnTo>
                  <a:close/>
                </a:path>
                <a:path w="14604" h="1987550">
                  <a:moveTo>
                    <a:pt x="14485" y="1732702"/>
                  </a:moveTo>
                  <a:lnTo>
                    <a:pt x="14485" y="1774085"/>
                  </a:lnTo>
                  <a:lnTo>
                    <a:pt x="14485" y="1778848"/>
                  </a:lnTo>
                  <a:lnTo>
                    <a:pt x="9657" y="1783592"/>
                  </a:lnTo>
                  <a:lnTo>
                    <a:pt x="0" y="1778848"/>
                  </a:lnTo>
                  <a:lnTo>
                    <a:pt x="0" y="1774085"/>
                  </a:lnTo>
                  <a:lnTo>
                    <a:pt x="0" y="1732702"/>
                  </a:lnTo>
                  <a:lnTo>
                    <a:pt x="0" y="1727939"/>
                  </a:lnTo>
                  <a:lnTo>
                    <a:pt x="4828" y="1723176"/>
                  </a:lnTo>
                  <a:lnTo>
                    <a:pt x="9657" y="1723176"/>
                  </a:lnTo>
                  <a:lnTo>
                    <a:pt x="14485" y="1727939"/>
                  </a:lnTo>
                  <a:lnTo>
                    <a:pt x="14485" y="1732702"/>
                  </a:lnTo>
                  <a:close/>
                </a:path>
                <a:path w="14604" h="1987550">
                  <a:moveTo>
                    <a:pt x="14485" y="1834500"/>
                  </a:moveTo>
                  <a:lnTo>
                    <a:pt x="14485" y="1876365"/>
                  </a:lnTo>
                  <a:lnTo>
                    <a:pt x="14485" y="1880646"/>
                  </a:lnTo>
                  <a:lnTo>
                    <a:pt x="9657" y="1885409"/>
                  </a:lnTo>
                  <a:lnTo>
                    <a:pt x="0" y="1880646"/>
                  </a:lnTo>
                  <a:lnTo>
                    <a:pt x="0" y="1876365"/>
                  </a:lnTo>
                  <a:lnTo>
                    <a:pt x="0" y="1834500"/>
                  </a:lnTo>
                  <a:lnTo>
                    <a:pt x="0" y="1829756"/>
                  </a:lnTo>
                  <a:lnTo>
                    <a:pt x="4828" y="1824993"/>
                  </a:lnTo>
                  <a:lnTo>
                    <a:pt x="9657" y="1824993"/>
                  </a:lnTo>
                  <a:lnTo>
                    <a:pt x="14485" y="1829756"/>
                  </a:lnTo>
                  <a:lnTo>
                    <a:pt x="14485" y="1834500"/>
                  </a:lnTo>
                  <a:close/>
                </a:path>
                <a:path w="14604" h="1987550">
                  <a:moveTo>
                    <a:pt x="14485" y="1936319"/>
                  </a:moveTo>
                  <a:lnTo>
                    <a:pt x="14485" y="1978186"/>
                  </a:lnTo>
                  <a:lnTo>
                    <a:pt x="14485" y="1982469"/>
                  </a:lnTo>
                  <a:lnTo>
                    <a:pt x="9657" y="1987226"/>
                  </a:lnTo>
                  <a:lnTo>
                    <a:pt x="0" y="1982469"/>
                  </a:lnTo>
                  <a:lnTo>
                    <a:pt x="0" y="1978186"/>
                  </a:lnTo>
                  <a:lnTo>
                    <a:pt x="0" y="1936319"/>
                  </a:lnTo>
                  <a:lnTo>
                    <a:pt x="0" y="1931562"/>
                  </a:lnTo>
                  <a:lnTo>
                    <a:pt x="0" y="1927279"/>
                  </a:lnTo>
                  <a:lnTo>
                    <a:pt x="4828" y="1927279"/>
                  </a:lnTo>
                  <a:lnTo>
                    <a:pt x="9657" y="1927279"/>
                  </a:lnTo>
                  <a:lnTo>
                    <a:pt x="14485" y="1927279"/>
                  </a:lnTo>
                  <a:lnTo>
                    <a:pt x="14485" y="1931562"/>
                  </a:lnTo>
                  <a:lnTo>
                    <a:pt x="14485" y="1936319"/>
                  </a:lnTo>
                  <a:close/>
                </a:path>
              </a:pathLst>
            </a:custGeom>
            <a:ln w="4780">
              <a:solidFill>
                <a:srgbClr val="000000"/>
              </a:solidFill>
            </a:ln>
          </p:spPr>
          <p:txBody>
            <a:bodyPr wrap="square" lIns="0" tIns="0" rIns="0" bIns="0" rtlCol="0"/>
            <a:lstStyle/>
            <a:p/>
          </p:txBody>
        </p:sp>
        <p:sp>
          <p:nvSpPr>
            <p:cNvPr id="22" name="object 22" descr=""/>
            <p:cNvSpPr/>
            <p:nvPr/>
          </p:nvSpPr>
          <p:spPr>
            <a:xfrm>
              <a:off x="6620162" y="4033302"/>
              <a:ext cx="13970" cy="1987550"/>
            </a:xfrm>
            <a:custGeom>
              <a:avLst/>
              <a:gdLst/>
              <a:ahLst/>
              <a:cxnLst/>
              <a:rect l="l" t="t" r="r" b="b"/>
              <a:pathLst>
                <a:path w="13970" h="1987550">
                  <a:moveTo>
                    <a:pt x="13906" y="4820"/>
                  </a:moveTo>
                  <a:lnTo>
                    <a:pt x="0" y="4820"/>
                  </a:lnTo>
                  <a:lnTo>
                    <a:pt x="0" y="55729"/>
                  </a:lnTo>
                  <a:lnTo>
                    <a:pt x="9656" y="59971"/>
                  </a:lnTo>
                  <a:lnTo>
                    <a:pt x="13906" y="55729"/>
                  </a:lnTo>
                  <a:lnTo>
                    <a:pt x="13906" y="4820"/>
                  </a:lnTo>
                  <a:close/>
                </a:path>
                <a:path w="13970" h="1987550">
                  <a:moveTo>
                    <a:pt x="9656" y="0"/>
                  </a:moveTo>
                  <a:lnTo>
                    <a:pt x="4828" y="4820"/>
                  </a:lnTo>
                  <a:lnTo>
                    <a:pt x="9656" y="4820"/>
                  </a:lnTo>
                  <a:lnTo>
                    <a:pt x="9656" y="0"/>
                  </a:lnTo>
                  <a:close/>
                </a:path>
                <a:path w="13970" h="1987550">
                  <a:moveTo>
                    <a:pt x="9656" y="101817"/>
                  </a:moveTo>
                  <a:lnTo>
                    <a:pt x="4828" y="101817"/>
                  </a:lnTo>
                  <a:lnTo>
                    <a:pt x="0" y="106445"/>
                  </a:lnTo>
                  <a:lnTo>
                    <a:pt x="0" y="157450"/>
                  </a:lnTo>
                  <a:lnTo>
                    <a:pt x="9656" y="162213"/>
                  </a:lnTo>
                  <a:lnTo>
                    <a:pt x="13906" y="157450"/>
                  </a:lnTo>
                  <a:lnTo>
                    <a:pt x="13906" y="106445"/>
                  </a:lnTo>
                  <a:lnTo>
                    <a:pt x="9656" y="101817"/>
                  </a:lnTo>
                  <a:close/>
                </a:path>
                <a:path w="13970" h="1987550">
                  <a:moveTo>
                    <a:pt x="9656" y="203595"/>
                  </a:moveTo>
                  <a:lnTo>
                    <a:pt x="4828" y="203595"/>
                  </a:lnTo>
                  <a:lnTo>
                    <a:pt x="0" y="208358"/>
                  </a:lnTo>
                  <a:lnTo>
                    <a:pt x="0" y="259267"/>
                  </a:lnTo>
                  <a:lnTo>
                    <a:pt x="9657" y="264010"/>
                  </a:lnTo>
                  <a:lnTo>
                    <a:pt x="13906" y="259267"/>
                  </a:lnTo>
                  <a:lnTo>
                    <a:pt x="13906" y="208358"/>
                  </a:lnTo>
                  <a:lnTo>
                    <a:pt x="9656" y="203595"/>
                  </a:lnTo>
                  <a:close/>
                </a:path>
                <a:path w="13970" h="1987550">
                  <a:moveTo>
                    <a:pt x="13906" y="305875"/>
                  </a:moveTo>
                  <a:lnTo>
                    <a:pt x="0" y="305875"/>
                  </a:lnTo>
                  <a:lnTo>
                    <a:pt x="0" y="361064"/>
                  </a:lnTo>
                  <a:lnTo>
                    <a:pt x="9657" y="365827"/>
                  </a:lnTo>
                  <a:lnTo>
                    <a:pt x="13906" y="361064"/>
                  </a:lnTo>
                  <a:lnTo>
                    <a:pt x="13906" y="305875"/>
                  </a:lnTo>
                  <a:close/>
                </a:path>
                <a:path w="13970" h="1987550">
                  <a:moveTo>
                    <a:pt x="13906" y="407692"/>
                  </a:moveTo>
                  <a:lnTo>
                    <a:pt x="0" y="407692"/>
                  </a:lnTo>
                  <a:lnTo>
                    <a:pt x="0" y="463364"/>
                  </a:lnTo>
                  <a:lnTo>
                    <a:pt x="13906" y="463364"/>
                  </a:lnTo>
                  <a:lnTo>
                    <a:pt x="13906" y="407692"/>
                  </a:lnTo>
                  <a:close/>
                </a:path>
                <a:path w="13970" h="1987550">
                  <a:moveTo>
                    <a:pt x="13906" y="509509"/>
                  </a:moveTo>
                  <a:lnTo>
                    <a:pt x="0" y="509509"/>
                  </a:lnTo>
                  <a:lnTo>
                    <a:pt x="0" y="565181"/>
                  </a:lnTo>
                  <a:lnTo>
                    <a:pt x="13906" y="565181"/>
                  </a:lnTo>
                  <a:lnTo>
                    <a:pt x="13906" y="509509"/>
                  </a:lnTo>
                  <a:close/>
                </a:path>
                <a:path w="13970" h="1987550">
                  <a:moveTo>
                    <a:pt x="13906" y="611326"/>
                  </a:moveTo>
                  <a:lnTo>
                    <a:pt x="0" y="611326"/>
                  </a:lnTo>
                  <a:lnTo>
                    <a:pt x="0" y="666978"/>
                  </a:lnTo>
                  <a:lnTo>
                    <a:pt x="13906" y="666978"/>
                  </a:lnTo>
                  <a:lnTo>
                    <a:pt x="13906" y="611326"/>
                  </a:lnTo>
                  <a:close/>
                </a:path>
                <a:path w="13970" h="1987550">
                  <a:moveTo>
                    <a:pt x="13906" y="713143"/>
                  </a:moveTo>
                  <a:lnTo>
                    <a:pt x="0" y="713143"/>
                  </a:lnTo>
                  <a:lnTo>
                    <a:pt x="0" y="768796"/>
                  </a:lnTo>
                  <a:lnTo>
                    <a:pt x="13906" y="768796"/>
                  </a:lnTo>
                  <a:lnTo>
                    <a:pt x="13906" y="713143"/>
                  </a:lnTo>
                  <a:close/>
                </a:path>
                <a:path w="13970" h="1987550">
                  <a:moveTo>
                    <a:pt x="13906" y="815423"/>
                  </a:moveTo>
                  <a:lnTo>
                    <a:pt x="0" y="815423"/>
                  </a:lnTo>
                  <a:lnTo>
                    <a:pt x="0" y="866332"/>
                  </a:lnTo>
                  <a:lnTo>
                    <a:pt x="9657" y="871095"/>
                  </a:lnTo>
                  <a:lnTo>
                    <a:pt x="13906" y="866332"/>
                  </a:lnTo>
                  <a:lnTo>
                    <a:pt x="13906" y="815423"/>
                  </a:lnTo>
                  <a:close/>
                </a:path>
                <a:path w="13970" h="1987550">
                  <a:moveTo>
                    <a:pt x="9657" y="810660"/>
                  </a:moveTo>
                  <a:lnTo>
                    <a:pt x="4828" y="815423"/>
                  </a:lnTo>
                  <a:lnTo>
                    <a:pt x="9657" y="815423"/>
                  </a:lnTo>
                  <a:lnTo>
                    <a:pt x="9657" y="810660"/>
                  </a:lnTo>
                  <a:close/>
                </a:path>
                <a:path w="13970" h="1987550">
                  <a:moveTo>
                    <a:pt x="9657" y="912477"/>
                  </a:moveTo>
                  <a:lnTo>
                    <a:pt x="4828" y="912477"/>
                  </a:lnTo>
                  <a:lnTo>
                    <a:pt x="0" y="917240"/>
                  </a:lnTo>
                  <a:lnTo>
                    <a:pt x="0" y="968149"/>
                  </a:lnTo>
                  <a:lnTo>
                    <a:pt x="9657" y="972893"/>
                  </a:lnTo>
                  <a:lnTo>
                    <a:pt x="13906" y="968149"/>
                  </a:lnTo>
                  <a:lnTo>
                    <a:pt x="13906" y="917240"/>
                  </a:lnTo>
                  <a:lnTo>
                    <a:pt x="9657" y="912477"/>
                  </a:lnTo>
                  <a:close/>
                </a:path>
                <a:path w="13970" h="1987550">
                  <a:moveTo>
                    <a:pt x="9657" y="1014294"/>
                  </a:moveTo>
                  <a:lnTo>
                    <a:pt x="4828" y="1014294"/>
                  </a:lnTo>
                  <a:lnTo>
                    <a:pt x="0" y="1019057"/>
                  </a:lnTo>
                  <a:lnTo>
                    <a:pt x="0" y="1069966"/>
                  </a:lnTo>
                  <a:lnTo>
                    <a:pt x="9657" y="1074710"/>
                  </a:lnTo>
                  <a:lnTo>
                    <a:pt x="13906" y="1069966"/>
                  </a:lnTo>
                  <a:lnTo>
                    <a:pt x="13906" y="1019057"/>
                  </a:lnTo>
                  <a:lnTo>
                    <a:pt x="9657" y="1014294"/>
                  </a:lnTo>
                  <a:close/>
                </a:path>
                <a:path w="13970" h="1987550">
                  <a:moveTo>
                    <a:pt x="13906" y="1116574"/>
                  </a:moveTo>
                  <a:lnTo>
                    <a:pt x="0" y="1116574"/>
                  </a:lnTo>
                  <a:lnTo>
                    <a:pt x="0" y="1171764"/>
                  </a:lnTo>
                  <a:lnTo>
                    <a:pt x="9657" y="1176527"/>
                  </a:lnTo>
                  <a:lnTo>
                    <a:pt x="13906" y="1171764"/>
                  </a:lnTo>
                  <a:lnTo>
                    <a:pt x="13906" y="1116574"/>
                  </a:lnTo>
                  <a:close/>
                </a:path>
                <a:path w="13970" h="1987550">
                  <a:moveTo>
                    <a:pt x="13906" y="1218391"/>
                  </a:moveTo>
                  <a:lnTo>
                    <a:pt x="0" y="1218391"/>
                  </a:lnTo>
                  <a:lnTo>
                    <a:pt x="0" y="1274063"/>
                  </a:lnTo>
                  <a:lnTo>
                    <a:pt x="13906" y="1274063"/>
                  </a:lnTo>
                  <a:lnTo>
                    <a:pt x="13906" y="1218391"/>
                  </a:lnTo>
                  <a:close/>
                </a:path>
                <a:path w="13970" h="1987550">
                  <a:moveTo>
                    <a:pt x="13906" y="1320208"/>
                  </a:moveTo>
                  <a:lnTo>
                    <a:pt x="0" y="1320208"/>
                  </a:lnTo>
                  <a:lnTo>
                    <a:pt x="0" y="1375880"/>
                  </a:lnTo>
                  <a:lnTo>
                    <a:pt x="13906" y="1375880"/>
                  </a:lnTo>
                  <a:lnTo>
                    <a:pt x="13906" y="1320208"/>
                  </a:lnTo>
                  <a:close/>
                </a:path>
                <a:path w="13970" h="1987550">
                  <a:moveTo>
                    <a:pt x="13906" y="1422025"/>
                  </a:moveTo>
                  <a:lnTo>
                    <a:pt x="0" y="1422025"/>
                  </a:lnTo>
                  <a:lnTo>
                    <a:pt x="0" y="1477678"/>
                  </a:lnTo>
                  <a:lnTo>
                    <a:pt x="13906" y="1477678"/>
                  </a:lnTo>
                  <a:lnTo>
                    <a:pt x="13906" y="1422025"/>
                  </a:lnTo>
                  <a:close/>
                </a:path>
                <a:path w="13970" h="1987550">
                  <a:moveTo>
                    <a:pt x="13906" y="1523842"/>
                  </a:moveTo>
                  <a:lnTo>
                    <a:pt x="0" y="1523842"/>
                  </a:lnTo>
                  <a:lnTo>
                    <a:pt x="0" y="1579495"/>
                  </a:lnTo>
                  <a:lnTo>
                    <a:pt x="13906" y="1579495"/>
                  </a:lnTo>
                  <a:lnTo>
                    <a:pt x="13906" y="1523842"/>
                  </a:lnTo>
                  <a:close/>
                </a:path>
                <a:path w="13970" h="1987550">
                  <a:moveTo>
                    <a:pt x="13906" y="1626122"/>
                  </a:moveTo>
                  <a:lnTo>
                    <a:pt x="0" y="1626122"/>
                  </a:lnTo>
                  <a:lnTo>
                    <a:pt x="0" y="1677031"/>
                  </a:lnTo>
                  <a:lnTo>
                    <a:pt x="9657" y="1681794"/>
                  </a:lnTo>
                  <a:lnTo>
                    <a:pt x="13906" y="1677031"/>
                  </a:lnTo>
                  <a:lnTo>
                    <a:pt x="13906" y="1626122"/>
                  </a:lnTo>
                  <a:close/>
                </a:path>
                <a:path w="13970" h="1987550">
                  <a:moveTo>
                    <a:pt x="9657" y="1621359"/>
                  </a:moveTo>
                  <a:lnTo>
                    <a:pt x="4828" y="1626122"/>
                  </a:lnTo>
                  <a:lnTo>
                    <a:pt x="9657" y="1626122"/>
                  </a:lnTo>
                  <a:lnTo>
                    <a:pt x="9657" y="1621359"/>
                  </a:lnTo>
                  <a:close/>
                </a:path>
                <a:path w="13970" h="1987550">
                  <a:moveTo>
                    <a:pt x="9657" y="1723176"/>
                  </a:moveTo>
                  <a:lnTo>
                    <a:pt x="4828" y="1723176"/>
                  </a:lnTo>
                  <a:lnTo>
                    <a:pt x="0" y="1727939"/>
                  </a:lnTo>
                  <a:lnTo>
                    <a:pt x="0" y="1778848"/>
                  </a:lnTo>
                  <a:lnTo>
                    <a:pt x="9657" y="1783592"/>
                  </a:lnTo>
                  <a:lnTo>
                    <a:pt x="13906" y="1778848"/>
                  </a:lnTo>
                  <a:lnTo>
                    <a:pt x="13906" y="1727939"/>
                  </a:lnTo>
                  <a:lnTo>
                    <a:pt x="9657" y="1723176"/>
                  </a:lnTo>
                  <a:close/>
                </a:path>
                <a:path w="13970" h="1987550">
                  <a:moveTo>
                    <a:pt x="9657" y="1824993"/>
                  </a:moveTo>
                  <a:lnTo>
                    <a:pt x="4828" y="1824993"/>
                  </a:lnTo>
                  <a:lnTo>
                    <a:pt x="0" y="1829757"/>
                  </a:lnTo>
                  <a:lnTo>
                    <a:pt x="0" y="1880646"/>
                  </a:lnTo>
                  <a:lnTo>
                    <a:pt x="9657" y="1885409"/>
                  </a:lnTo>
                  <a:lnTo>
                    <a:pt x="13906" y="1880646"/>
                  </a:lnTo>
                  <a:lnTo>
                    <a:pt x="13906" y="1829757"/>
                  </a:lnTo>
                  <a:lnTo>
                    <a:pt x="9657" y="1824993"/>
                  </a:lnTo>
                  <a:close/>
                </a:path>
                <a:path w="13970" h="1987550">
                  <a:moveTo>
                    <a:pt x="13906" y="1927279"/>
                  </a:moveTo>
                  <a:lnTo>
                    <a:pt x="0" y="1927279"/>
                  </a:lnTo>
                  <a:lnTo>
                    <a:pt x="0" y="1982469"/>
                  </a:lnTo>
                  <a:lnTo>
                    <a:pt x="9657" y="1987226"/>
                  </a:lnTo>
                  <a:lnTo>
                    <a:pt x="13906" y="1982469"/>
                  </a:lnTo>
                  <a:lnTo>
                    <a:pt x="13906" y="1927279"/>
                  </a:lnTo>
                  <a:close/>
                </a:path>
              </a:pathLst>
            </a:custGeom>
            <a:solidFill>
              <a:srgbClr val="000000"/>
            </a:solidFill>
          </p:spPr>
          <p:txBody>
            <a:bodyPr wrap="square" lIns="0" tIns="0" rIns="0" bIns="0" rtlCol="0"/>
            <a:lstStyle/>
            <a:p/>
          </p:txBody>
        </p:sp>
        <p:sp>
          <p:nvSpPr>
            <p:cNvPr id="23" name="object 23" descr=""/>
            <p:cNvSpPr/>
            <p:nvPr/>
          </p:nvSpPr>
          <p:spPr>
            <a:xfrm>
              <a:off x="6620162" y="4033302"/>
              <a:ext cx="13970" cy="1987550"/>
            </a:xfrm>
            <a:custGeom>
              <a:avLst/>
              <a:gdLst/>
              <a:ahLst/>
              <a:cxnLst/>
              <a:rect l="l" t="t" r="r" b="b"/>
              <a:pathLst>
                <a:path w="13970" h="1987550">
                  <a:moveTo>
                    <a:pt x="13906" y="9063"/>
                  </a:moveTo>
                  <a:lnTo>
                    <a:pt x="13906" y="50908"/>
                  </a:lnTo>
                  <a:lnTo>
                    <a:pt x="13906" y="55729"/>
                  </a:lnTo>
                  <a:lnTo>
                    <a:pt x="9656" y="59971"/>
                  </a:lnTo>
                  <a:lnTo>
                    <a:pt x="0" y="55729"/>
                  </a:lnTo>
                  <a:lnTo>
                    <a:pt x="0" y="50908"/>
                  </a:lnTo>
                  <a:lnTo>
                    <a:pt x="0" y="9063"/>
                  </a:lnTo>
                  <a:lnTo>
                    <a:pt x="0" y="4820"/>
                  </a:lnTo>
                  <a:lnTo>
                    <a:pt x="4828" y="4820"/>
                  </a:lnTo>
                  <a:lnTo>
                    <a:pt x="9656" y="0"/>
                  </a:lnTo>
                  <a:lnTo>
                    <a:pt x="9656" y="4820"/>
                  </a:lnTo>
                  <a:lnTo>
                    <a:pt x="13906" y="4820"/>
                  </a:lnTo>
                  <a:lnTo>
                    <a:pt x="13906" y="9063"/>
                  </a:lnTo>
                  <a:close/>
                </a:path>
                <a:path w="13970" h="1987550">
                  <a:moveTo>
                    <a:pt x="13906" y="111266"/>
                  </a:moveTo>
                  <a:lnTo>
                    <a:pt x="13906" y="152687"/>
                  </a:lnTo>
                  <a:lnTo>
                    <a:pt x="13906" y="157450"/>
                  </a:lnTo>
                  <a:lnTo>
                    <a:pt x="9656" y="162213"/>
                  </a:lnTo>
                  <a:lnTo>
                    <a:pt x="0" y="157450"/>
                  </a:lnTo>
                  <a:lnTo>
                    <a:pt x="0" y="152687"/>
                  </a:lnTo>
                  <a:lnTo>
                    <a:pt x="0" y="111266"/>
                  </a:lnTo>
                  <a:lnTo>
                    <a:pt x="0" y="106445"/>
                  </a:lnTo>
                  <a:lnTo>
                    <a:pt x="4828" y="101817"/>
                  </a:lnTo>
                  <a:lnTo>
                    <a:pt x="9656" y="101817"/>
                  </a:lnTo>
                  <a:lnTo>
                    <a:pt x="13906" y="106445"/>
                  </a:lnTo>
                  <a:lnTo>
                    <a:pt x="13906" y="111266"/>
                  </a:lnTo>
                  <a:close/>
                </a:path>
                <a:path w="13970" h="1987550">
                  <a:moveTo>
                    <a:pt x="13906" y="213102"/>
                  </a:moveTo>
                  <a:lnTo>
                    <a:pt x="13906" y="254504"/>
                  </a:lnTo>
                  <a:lnTo>
                    <a:pt x="13906" y="259267"/>
                  </a:lnTo>
                  <a:lnTo>
                    <a:pt x="9657" y="264010"/>
                  </a:lnTo>
                  <a:lnTo>
                    <a:pt x="0" y="259267"/>
                  </a:lnTo>
                  <a:lnTo>
                    <a:pt x="0" y="254504"/>
                  </a:lnTo>
                  <a:lnTo>
                    <a:pt x="0" y="213102"/>
                  </a:lnTo>
                  <a:lnTo>
                    <a:pt x="0" y="208358"/>
                  </a:lnTo>
                  <a:lnTo>
                    <a:pt x="4828" y="203595"/>
                  </a:lnTo>
                  <a:lnTo>
                    <a:pt x="9656" y="203595"/>
                  </a:lnTo>
                  <a:lnTo>
                    <a:pt x="13906" y="208358"/>
                  </a:lnTo>
                  <a:lnTo>
                    <a:pt x="13906" y="213102"/>
                  </a:lnTo>
                  <a:close/>
                </a:path>
                <a:path w="13970" h="1987550">
                  <a:moveTo>
                    <a:pt x="13906" y="314919"/>
                  </a:moveTo>
                  <a:lnTo>
                    <a:pt x="13906" y="356784"/>
                  </a:lnTo>
                  <a:lnTo>
                    <a:pt x="13906" y="361064"/>
                  </a:lnTo>
                  <a:lnTo>
                    <a:pt x="9657" y="365827"/>
                  </a:lnTo>
                  <a:lnTo>
                    <a:pt x="0" y="361064"/>
                  </a:lnTo>
                  <a:lnTo>
                    <a:pt x="0" y="356784"/>
                  </a:lnTo>
                  <a:lnTo>
                    <a:pt x="0" y="314919"/>
                  </a:lnTo>
                  <a:lnTo>
                    <a:pt x="0" y="310156"/>
                  </a:lnTo>
                  <a:lnTo>
                    <a:pt x="0" y="305875"/>
                  </a:lnTo>
                  <a:lnTo>
                    <a:pt x="4828" y="305875"/>
                  </a:lnTo>
                  <a:lnTo>
                    <a:pt x="9657" y="305875"/>
                  </a:lnTo>
                  <a:lnTo>
                    <a:pt x="13906" y="305875"/>
                  </a:lnTo>
                  <a:lnTo>
                    <a:pt x="13906" y="310156"/>
                  </a:lnTo>
                  <a:lnTo>
                    <a:pt x="13906" y="314919"/>
                  </a:lnTo>
                  <a:close/>
                </a:path>
                <a:path w="13970" h="1987550">
                  <a:moveTo>
                    <a:pt x="13906" y="412455"/>
                  </a:moveTo>
                  <a:lnTo>
                    <a:pt x="13906" y="458601"/>
                  </a:lnTo>
                  <a:lnTo>
                    <a:pt x="13906" y="463364"/>
                  </a:lnTo>
                  <a:lnTo>
                    <a:pt x="9657" y="463364"/>
                  </a:lnTo>
                  <a:lnTo>
                    <a:pt x="0" y="463364"/>
                  </a:lnTo>
                  <a:lnTo>
                    <a:pt x="0" y="458601"/>
                  </a:lnTo>
                  <a:lnTo>
                    <a:pt x="0" y="412455"/>
                  </a:lnTo>
                  <a:lnTo>
                    <a:pt x="0" y="407692"/>
                  </a:lnTo>
                  <a:lnTo>
                    <a:pt x="4828" y="407692"/>
                  </a:lnTo>
                  <a:lnTo>
                    <a:pt x="9657" y="407692"/>
                  </a:lnTo>
                  <a:lnTo>
                    <a:pt x="13906" y="407692"/>
                  </a:lnTo>
                  <a:lnTo>
                    <a:pt x="13906" y="412455"/>
                  </a:lnTo>
                  <a:close/>
                </a:path>
                <a:path w="13970" h="1987550">
                  <a:moveTo>
                    <a:pt x="13906" y="514272"/>
                  </a:moveTo>
                  <a:lnTo>
                    <a:pt x="13906" y="560418"/>
                  </a:lnTo>
                  <a:lnTo>
                    <a:pt x="13906" y="565181"/>
                  </a:lnTo>
                  <a:lnTo>
                    <a:pt x="9657" y="565181"/>
                  </a:lnTo>
                  <a:lnTo>
                    <a:pt x="0" y="565181"/>
                  </a:lnTo>
                  <a:lnTo>
                    <a:pt x="0" y="560418"/>
                  </a:lnTo>
                  <a:lnTo>
                    <a:pt x="0" y="514272"/>
                  </a:lnTo>
                  <a:lnTo>
                    <a:pt x="0" y="509509"/>
                  </a:lnTo>
                  <a:lnTo>
                    <a:pt x="4828" y="509509"/>
                  </a:lnTo>
                  <a:lnTo>
                    <a:pt x="9657" y="509509"/>
                  </a:lnTo>
                  <a:lnTo>
                    <a:pt x="13906" y="509509"/>
                  </a:lnTo>
                  <a:lnTo>
                    <a:pt x="13906" y="514272"/>
                  </a:lnTo>
                  <a:close/>
                </a:path>
                <a:path w="13970" h="1987550">
                  <a:moveTo>
                    <a:pt x="13906" y="616089"/>
                  </a:moveTo>
                  <a:lnTo>
                    <a:pt x="13906" y="662235"/>
                  </a:lnTo>
                  <a:lnTo>
                    <a:pt x="13906" y="666978"/>
                  </a:lnTo>
                  <a:lnTo>
                    <a:pt x="9657" y="666978"/>
                  </a:lnTo>
                  <a:lnTo>
                    <a:pt x="0" y="666978"/>
                  </a:lnTo>
                  <a:lnTo>
                    <a:pt x="0" y="662235"/>
                  </a:lnTo>
                  <a:lnTo>
                    <a:pt x="0" y="616089"/>
                  </a:lnTo>
                  <a:lnTo>
                    <a:pt x="0" y="611326"/>
                  </a:lnTo>
                  <a:lnTo>
                    <a:pt x="4828" y="611326"/>
                  </a:lnTo>
                  <a:lnTo>
                    <a:pt x="9657" y="611326"/>
                  </a:lnTo>
                  <a:lnTo>
                    <a:pt x="13906" y="611326"/>
                  </a:lnTo>
                  <a:lnTo>
                    <a:pt x="13906" y="616089"/>
                  </a:lnTo>
                  <a:close/>
                </a:path>
                <a:path w="13970" h="1987550">
                  <a:moveTo>
                    <a:pt x="13906" y="717887"/>
                  </a:moveTo>
                  <a:lnTo>
                    <a:pt x="13906" y="759752"/>
                  </a:lnTo>
                  <a:lnTo>
                    <a:pt x="13906" y="764515"/>
                  </a:lnTo>
                  <a:lnTo>
                    <a:pt x="13906" y="768796"/>
                  </a:lnTo>
                  <a:lnTo>
                    <a:pt x="9657" y="768796"/>
                  </a:lnTo>
                  <a:lnTo>
                    <a:pt x="0" y="768796"/>
                  </a:lnTo>
                  <a:lnTo>
                    <a:pt x="0" y="764515"/>
                  </a:lnTo>
                  <a:lnTo>
                    <a:pt x="0" y="759752"/>
                  </a:lnTo>
                  <a:lnTo>
                    <a:pt x="0" y="717887"/>
                  </a:lnTo>
                  <a:lnTo>
                    <a:pt x="0" y="713143"/>
                  </a:lnTo>
                  <a:lnTo>
                    <a:pt x="4828" y="713143"/>
                  </a:lnTo>
                  <a:lnTo>
                    <a:pt x="9657" y="713143"/>
                  </a:lnTo>
                  <a:lnTo>
                    <a:pt x="13906" y="713143"/>
                  </a:lnTo>
                  <a:lnTo>
                    <a:pt x="13906" y="717887"/>
                  </a:lnTo>
                  <a:close/>
                </a:path>
                <a:path w="13970" h="1987550">
                  <a:moveTo>
                    <a:pt x="13906" y="819704"/>
                  </a:moveTo>
                  <a:lnTo>
                    <a:pt x="13906" y="861569"/>
                  </a:lnTo>
                  <a:lnTo>
                    <a:pt x="13906" y="866332"/>
                  </a:lnTo>
                  <a:lnTo>
                    <a:pt x="9657" y="871095"/>
                  </a:lnTo>
                  <a:lnTo>
                    <a:pt x="0" y="866332"/>
                  </a:lnTo>
                  <a:lnTo>
                    <a:pt x="0" y="861569"/>
                  </a:lnTo>
                  <a:lnTo>
                    <a:pt x="0" y="819704"/>
                  </a:lnTo>
                  <a:lnTo>
                    <a:pt x="0" y="815423"/>
                  </a:lnTo>
                  <a:lnTo>
                    <a:pt x="4828" y="815423"/>
                  </a:lnTo>
                  <a:lnTo>
                    <a:pt x="9657" y="810660"/>
                  </a:lnTo>
                  <a:lnTo>
                    <a:pt x="9657" y="815423"/>
                  </a:lnTo>
                  <a:lnTo>
                    <a:pt x="13906" y="815423"/>
                  </a:lnTo>
                  <a:lnTo>
                    <a:pt x="13906" y="819704"/>
                  </a:lnTo>
                  <a:close/>
                </a:path>
                <a:path w="13970" h="1987550">
                  <a:moveTo>
                    <a:pt x="13906" y="922003"/>
                  </a:moveTo>
                  <a:lnTo>
                    <a:pt x="13906" y="963386"/>
                  </a:lnTo>
                  <a:lnTo>
                    <a:pt x="13906" y="968149"/>
                  </a:lnTo>
                  <a:lnTo>
                    <a:pt x="9657" y="972893"/>
                  </a:lnTo>
                  <a:lnTo>
                    <a:pt x="0" y="968149"/>
                  </a:lnTo>
                  <a:lnTo>
                    <a:pt x="0" y="963386"/>
                  </a:lnTo>
                  <a:lnTo>
                    <a:pt x="0" y="922003"/>
                  </a:lnTo>
                  <a:lnTo>
                    <a:pt x="0" y="917240"/>
                  </a:lnTo>
                  <a:lnTo>
                    <a:pt x="4828" y="912477"/>
                  </a:lnTo>
                  <a:lnTo>
                    <a:pt x="9657" y="912477"/>
                  </a:lnTo>
                  <a:lnTo>
                    <a:pt x="13906" y="917240"/>
                  </a:lnTo>
                  <a:lnTo>
                    <a:pt x="13906" y="922003"/>
                  </a:lnTo>
                  <a:close/>
                </a:path>
                <a:path w="13970" h="1987550">
                  <a:moveTo>
                    <a:pt x="13906" y="1023801"/>
                  </a:moveTo>
                  <a:lnTo>
                    <a:pt x="13906" y="1065203"/>
                  </a:lnTo>
                  <a:lnTo>
                    <a:pt x="13906" y="1069966"/>
                  </a:lnTo>
                  <a:lnTo>
                    <a:pt x="9657" y="1074710"/>
                  </a:lnTo>
                  <a:lnTo>
                    <a:pt x="0" y="1069966"/>
                  </a:lnTo>
                  <a:lnTo>
                    <a:pt x="0" y="1065203"/>
                  </a:lnTo>
                  <a:lnTo>
                    <a:pt x="0" y="1023801"/>
                  </a:lnTo>
                  <a:lnTo>
                    <a:pt x="0" y="1019057"/>
                  </a:lnTo>
                  <a:lnTo>
                    <a:pt x="4828" y="1014294"/>
                  </a:lnTo>
                  <a:lnTo>
                    <a:pt x="9657" y="1014294"/>
                  </a:lnTo>
                  <a:lnTo>
                    <a:pt x="13906" y="1019057"/>
                  </a:lnTo>
                  <a:lnTo>
                    <a:pt x="13906" y="1023801"/>
                  </a:lnTo>
                  <a:close/>
                </a:path>
                <a:path w="13970" h="1987550">
                  <a:moveTo>
                    <a:pt x="13906" y="1125618"/>
                  </a:moveTo>
                  <a:lnTo>
                    <a:pt x="13906" y="1167483"/>
                  </a:lnTo>
                  <a:lnTo>
                    <a:pt x="13906" y="1171764"/>
                  </a:lnTo>
                  <a:lnTo>
                    <a:pt x="9657" y="1176527"/>
                  </a:lnTo>
                  <a:lnTo>
                    <a:pt x="0" y="1171764"/>
                  </a:lnTo>
                  <a:lnTo>
                    <a:pt x="0" y="1167483"/>
                  </a:lnTo>
                  <a:lnTo>
                    <a:pt x="0" y="1125618"/>
                  </a:lnTo>
                  <a:lnTo>
                    <a:pt x="0" y="1120855"/>
                  </a:lnTo>
                  <a:lnTo>
                    <a:pt x="0" y="1116574"/>
                  </a:lnTo>
                  <a:lnTo>
                    <a:pt x="4828" y="1116574"/>
                  </a:lnTo>
                  <a:lnTo>
                    <a:pt x="9657" y="1116574"/>
                  </a:lnTo>
                  <a:lnTo>
                    <a:pt x="13906" y="1116574"/>
                  </a:lnTo>
                  <a:lnTo>
                    <a:pt x="13906" y="1120855"/>
                  </a:lnTo>
                  <a:lnTo>
                    <a:pt x="13906" y="1125618"/>
                  </a:lnTo>
                  <a:close/>
                </a:path>
                <a:path w="13970" h="1987550">
                  <a:moveTo>
                    <a:pt x="13906" y="1223154"/>
                  </a:moveTo>
                  <a:lnTo>
                    <a:pt x="13906" y="1269300"/>
                  </a:lnTo>
                  <a:lnTo>
                    <a:pt x="13906" y="1274063"/>
                  </a:lnTo>
                  <a:lnTo>
                    <a:pt x="9657" y="1274063"/>
                  </a:lnTo>
                  <a:lnTo>
                    <a:pt x="0" y="1274063"/>
                  </a:lnTo>
                  <a:lnTo>
                    <a:pt x="0" y="1269300"/>
                  </a:lnTo>
                  <a:lnTo>
                    <a:pt x="0" y="1223154"/>
                  </a:lnTo>
                  <a:lnTo>
                    <a:pt x="0" y="1218391"/>
                  </a:lnTo>
                  <a:lnTo>
                    <a:pt x="4828" y="1218391"/>
                  </a:lnTo>
                  <a:lnTo>
                    <a:pt x="9657" y="1218391"/>
                  </a:lnTo>
                  <a:lnTo>
                    <a:pt x="13906" y="1218391"/>
                  </a:lnTo>
                  <a:lnTo>
                    <a:pt x="13906" y="1223154"/>
                  </a:lnTo>
                  <a:close/>
                </a:path>
                <a:path w="13970" h="1987550">
                  <a:moveTo>
                    <a:pt x="13906" y="1324971"/>
                  </a:moveTo>
                  <a:lnTo>
                    <a:pt x="13906" y="1371117"/>
                  </a:lnTo>
                  <a:lnTo>
                    <a:pt x="13906" y="1375880"/>
                  </a:lnTo>
                  <a:lnTo>
                    <a:pt x="9657" y="1375880"/>
                  </a:lnTo>
                  <a:lnTo>
                    <a:pt x="0" y="1375880"/>
                  </a:lnTo>
                  <a:lnTo>
                    <a:pt x="0" y="1371117"/>
                  </a:lnTo>
                  <a:lnTo>
                    <a:pt x="0" y="1324971"/>
                  </a:lnTo>
                  <a:lnTo>
                    <a:pt x="0" y="1320208"/>
                  </a:lnTo>
                  <a:lnTo>
                    <a:pt x="4828" y="1320208"/>
                  </a:lnTo>
                  <a:lnTo>
                    <a:pt x="9657" y="1320208"/>
                  </a:lnTo>
                  <a:lnTo>
                    <a:pt x="13906" y="1320208"/>
                  </a:lnTo>
                  <a:lnTo>
                    <a:pt x="13906" y="1324971"/>
                  </a:lnTo>
                  <a:close/>
                </a:path>
                <a:path w="13970" h="1987550">
                  <a:moveTo>
                    <a:pt x="13906" y="1426769"/>
                  </a:moveTo>
                  <a:lnTo>
                    <a:pt x="13906" y="1472934"/>
                  </a:lnTo>
                  <a:lnTo>
                    <a:pt x="13906" y="1477678"/>
                  </a:lnTo>
                  <a:lnTo>
                    <a:pt x="9657" y="1477678"/>
                  </a:lnTo>
                  <a:lnTo>
                    <a:pt x="0" y="1477678"/>
                  </a:lnTo>
                  <a:lnTo>
                    <a:pt x="0" y="1472934"/>
                  </a:lnTo>
                  <a:lnTo>
                    <a:pt x="0" y="1426769"/>
                  </a:lnTo>
                  <a:lnTo>
                    <a:pt x="0" y="1422025"/>
                  </a:lnTo>
                  <a:lnTo>
                    <a:pt x="4828" y="1422025"/>
                  </a:lnTo>
                  <a:lnTo>
                    <a:pt x="9657" y="1422025"/>
                  </a:lnTo>
                  <a:lnTo>
                    <a:pt x="13906" y="1422025"/>
                  </a:lnTo>
                  <a:lnTo>
                    <a:pt x="13906" y="1426769"/>
                  </a:lnTo>
                  <a:close/>
                </a:path>
                <a:path w="13970" h="1987550">
                  <a:moveTo>
                    <a:pt x="13906" y="1528586"/>
                  </a:moveTo>
                  <a:lnTo>
                    <a:pt x="13906" y="1570451"/>
                  </a:lnTo>
                  <a:lnTo>
                    <a:pt x="13906" y="1575214"/>
                  </a:lnTo>
                  <a:lnTo>
                    <a:pt x="13906" y="1579495"/>
                  </a:lnTo>
                  <a:lnTo>
                    <a:pt x="9657" y="1579495"/>
                  </a:lnTo>
                  <a:lnTo>
                    <a:pt x="0" y="1579495"/>
                  </a:lnTo>
                  <a:lnTo>
                    <a:pt x="0" y="1575214"/>
                  </a:lnTo>
                  <a:lnTo>
                    <a:pt x="0" y="1570451"/>
                  </a:lnTo>
                  <a:lnTo>
                    <a:pt x="0" y="1528586"/>
                  </a:lnTo>
                  <a:lnTo>
                    <a:pt x="0" y="1523842"/>
                  </a:lnTo>
                  <a:lnTo>
                    <a:pt x="4828" y="1523842"/>
                  </a:lnTo>
                  <a:lnTo>
                    <a:pt x="9657" y="1523842"/>
                  </a:lnTo>
                  <a:lnTo>
                    <a:pt x="13906" y="1523842"/>
                  </a:lnTo>
                  <a:lnTo>
                    <a:pt x="13906" y="1528586"/>
                  </a:lnTo>
                  <a:close/>
                </a:path>
                <a:path w="13970" h="1987550">
                  <a:moveTo>
                    <a:pt x="13906" y="1630403"/>
                  </a:moveTo>
                  <a:lnTo>
                    <a:pt x="13906" y="1672268"/>
                  </a:lnTo>
                  <a:lnTo>
                    <a:pt x="13906" y="1677031"/>
                  </a:lnTo>
                  <a:lnTo>
                    <a:pt x="9657" y="1681794"/>
                  </a:lnTo>
                  <a:lnTo>
                    <a:pt x="0" y="1677031"/>
                  </a:lnTo>
                  <a:lnTo>
                    <a:pt x="0" y="1672268"/>
                  </a:lnTo>
                  <a:lnTo>
                    <a:pt x="0" y="1630403"/>
                  </a:lnTo>
                  <a:lnTo>
                    <a:pt x="0" y="1626122"/>
                  </a:lnTo>
                  <a:lnTo>
                    <a:pt x="4828" y="1626122"/>
                  </a:lnTo>
                  <a:lnTo>
                    <a:pt x="9657" y="1621359"/>
                  </a:lnTo>
                  <a:lnTo>
                    <a:pt x="9657" y="1626122"/>
                  </a:lnTo>
                  <a:lnTo>
                    <a:pt x="13906" y="1626122"/>
                  </a:lnTo>
                  <a:lnTo>
                    <a:pt x="13906" y="1630403"/>
                  </a:lnTo>
                  <a:close/>
                </a:path>
                <a:path w="13970" h="1987550">
                  <a:moveTo>
                    <a:pt x="13906" y="1732702"/>
                  </a:moveTo>
                  <a:lnTo>
                    <a:pt x="13906" y="1774085"/>
                  </a:lnTo>
                  <a:lnTo>
                    <a:pt x="13906" y="1778848"/>
                  </a:lnTo>
                  <a:lnTo>
                    <a:pt x="9657" y="1783592"/>
                  </a:lnTo>
                  <a:lnTo>
                    <a:pt x="0" y="1778848"/>
                  </a:lnTo>
                  <a:lnTo>
                    <a:pt x="0" y="1774085"/>
                  </a:lnTo>
                  <a:lnTo>
                    <a:pt x="0" y="1732702"/>
                  </a:lnTo>
                  <a:lnTo>
                    <a:pt x="0" y="1727939"/>
                  </a:lnTo>
                  <a:lnTo>
                    <a:pt x="4828" y="1723176"/>
                  </a:lnTo>
                  <a:lnTo>
                    <a:pt x="9657" y="1723176"/>
                  </a:lnTo>
                  <a:lnTo>
                    <a:pt x="13906" y="1727939"/>
                  </a:lnTo>
                  <a:lnTo>
                    <a:pt x="13906" y="1732702"/>
                  </a:lnTo>
                  <a:close/>
                </a:path>
                <a:path w="13970" h="1987550">
                  <a:moveTo>
                    <a:pt x="13906" y="1834500"/>
                  </a:moveTo>
                  <a:lnTo>
                    <a:pt x="13906" y="1876365"/>
                  </a:lnTo>
                  <a:lnTo>
                    <a:pt x="13906" y="1880646"/>
                  </a:lnTo>
                  <a:lnTo>
                    <a:pt x="9657" y="1885409"/>
                  </a:lnTo>
                  <a:lnTo>
                    <a:pt x="0" y="1880646"/>
                  </a:lnTo>
                  <a:lnTo>
                    <a:pt x="0" y="1876365"/>
                  </a:lnTo>
                  <a:lnTo>
                    <a:pt x="0" y="1834500"/>
                  </a:lnTo>
                  <a:lnTo>
                    <a:pt x="0" y="1829756"/>
                  </a:lnTo>
                  <a:lnTo>
                    <a:pt x="4828" y="1824993"/>
                  </a:lnTo>
                  <a:lnTo>
                    <a:pt x="9657" y="1824993"/>
                  </a:lnTo>
                  <a:lnTo>
                    <a:pt x="13906" y="1829756"/>
                  </a:lnTo>
                  <a:lnTo>
                    <a:pt x="13906" y="1834500"/>
                  </a:lnTo>
                  <a:close/>
                </a:path>
                <a:path w="13970" h="1987550">
                  <a:moveTo>
                    <a:pt x="13906" y="1936319"/>
                  </a:moveTo>
                  <a:lnTo>
                    <a:pt x="13906" y="1978186"/>
                  </a:lnTo>
                  <a:lnTo>
                    <a:pt x="13906" y="1982469"/>
                  </a:lnTo>
                  <a:lnTo>
                    <a:pt x="9657" y="1987226"/>
                  </a:lnTo>
                  <a:lnTo>
                    <a:pt x="0" y="1982469"/>
                  </a:lnTo>
                  <a:lnTo>
                    <a:pt x="0" y="1978186"/>
                  </a:lnTo>
                  <a:lnTo>
                    <a:pt x="0" y="1936319"/>
                  </a:lnTo>
                  <a:lnTo>
                    <a:pt x="0" y="1931562"/>
                  </a:lnTo>
                  <a:lnTo>
                    <a:pt x="0" y="1927279"/>
                  </a:lnTo>
                  <a:lnTo>
                    <a:pt x="4828" y="1927279"/>
                  </a:lnTo>
                  <a:lnTo>
                    <a:pt x="9657" y="1927279"/>
                  </a:lnTo>
                  <a:lnTo>
                    <a:pt x="13906" y="1927279"/>
                  </a:lnTo>
                  <a:lnTo>
                    <a:pt x="13906" y="1931562"/>
                  </a:lnTo>
                  <a:lnTo>
                    <a:pt x="13906" y="1936319"/>
                  </a:lnTo>
                  <a:close/>
                </a:path>
              </a:pathLst>
            </a:custGeom>
            <a:ln w="4780">
              <a:solidFill>
                <a:srgbClr val="000000"/>
              </a:solidFill>
            </a:ln>
          </p:spPr>
          <p:txBody>
            <a:bodyPr wrap="square" lIns="0" tIns="0" rIns="0" bIns="0" rtlCol="0"/>
            <a:lstStyle/>
            <a:p/>
          </p:txBody>
        </p:sp>
        <p:sp>
          <p:nvSpPr>
            <p:cNvPr id="24" name="object 24" descr=""/>
            <p:cNvSpPr/>
            <p:nvPr/>
          </p:nvSpPr>
          <p:spPr>
            <a:xfrm>
              <a:off x="7269883" y="4033302"/>
              <a:ext cx="13970" cy="1987550"/>
            </a:xfrm>
            <a:custGeom>
              <a:avLst/>
              <a:gdLst/>
              <a:ahLst/>
              <a:cxnLst/>
              <a:rect l="l" t="t" r="r" b="b"/>
              <a:pathLst>
                <a:path w="13970" h="1987550">
                  <a:moveTo>
                    <a:pt x="13906" y="4820"/>
                  </a:moveTo>
                  <a:lnTo>
                    <a:pt x="0" y="4820"/>
                  </a:lnTo>
                  <a:lnTo>
                    <a:pt x="0" y="55729"/>
                  </a:lnTo>
                  <a:lnTo>
                    <a:pt x="9463" y="59971"/>
                  </a:lnTo>
                  <a:lnTo>
                    <a:pt x="13906" y="55729"/>
                  </a:lnTo>
                  <a:lnTo>
                    <a:pt x="13906" y="4820"/>
                  </a:lnTo>
                  <a:close/>
                </a:path>
                <a:path w="13970" h="1987550">
                  <a:moveTo>
                    <a:pt x="9463" y="0"/>
                  </a:moveTo>
                  <a:lnTo>
                    <a:pt x="4828" y="4820"/>
                  </a:lnTo>
                  <a:lnTo>
                    <a:pt x="9463" y="4820"/>
                  </a:lnTo>
                  <a:lnTo>
                    <a:pt x="9463" y="0"/>
                  </a:lnTo>
                  <a:close/>
                </a:path>
                <a:path w="13970" h="1987550">
                  <a:moveTo>
                    <a:pt x="9463" y="101817"/>
                  </a:moveTo>
                  <a:lnTo>
                    <a:pt x="4828" y="101817"/>
                  </a:lnTo>
                  <a:lnTo>
                    <a:pt x="0" y="106445"/>
                  </a:lnTo>
                  <a:lnTo>
                    <a:pt x="0" y="157450"/>
                  </a:lnTo>
                  <a:lnTo>
                    <a:pt x="9463" y="162213"/>
                  </a:lnTo>
                  <a:lnTo>
                    <a:pt x="13906" y="157450"/>
                  </a:lnTo>
                  <a:lnTo>
                    <a:pt x="13906" y="106445"/>
                  </a:lnTo>
                  <a:lnTo>
                    <a:pt x="9463" y="101817"/>
                  </a:lnTo>
                  <a:close/>
                </a:path>
                <a:path w="13970" h="1987550">
                  <a:moveTo>
                    <a:pt x="9463" y="203595"/>
                  </a:moveTo>
                  <a:lnTo>
                    <a:pt x="4828" y="203595"/>
                  </a:lnTo>
                  <a:lnTo>
                    <a:pt x="0" y="208358"/>
                  </a:lnTo>
                  <a:lnTo>
                    <a:pt x="0" y="259267"/>
                  </a:lnTo>
                  <a:lnTo>
                    <a:pt x="9463" y="264010"/>
                  </a:lnTo>
                  <a:lnTo>
                    <a:pt x="13906" y="259267"/>
                  </a:lnTo>
                  <a:lnTo>
                    <a:pt x="13906" y="208358"/>
                  </a:lnTo>
                  <a:lnTo>
                    <a:pt x="9463" y="203595"/>
                  </a:lnTo>
                  <a:close/>
                </a:path>
                <a:path w="13970" h="1987550">
                  <a:moveTo>
                    <a:pt x="13906" y="305875"/>
                  </a:moveTo>
                  <a:lnTo>
                    <a:pt x="0" y="305875"/>
                  </a:lnTo>
                  <a:lnTo>
                    <a:pt x="0" y="361064"/>
                  </a:lnTo>
                  <a:lnTo>
                    <a:pt x="9463" y="365827"/>
                  </a:lnTo>
                  <a:lnTo>
                    <a:pt x="13906" y="361064"/>
                  </a:lnTo>
                  <a:lnTo>
                    <a:pt x="13906" y="305875"/>
                  </a:lnTo>
                  <a:close/>
                </a:path>
                <a:path w="13970" h="1987550">
                  <a:moveTo>
                    <a:pt x="13906" y="407692"/>
                  </a:moveTo>
                  <a:lnTo>
                    <a:pt x="0" y="407692"/>
                  </a:lnTo>
                  <a:lnTo>
                    <a:pt x="0" y="463364"/>
                  </a:lnTo>
                  <a:lnTo>
                    <a:pt x="13906" y="463364"/>
                  </a:lnTo>
                  <a:lnTo>
                    <a:pt x="13906" y="407692"/>
                  </a:lnTo>
                  <a:close/>
                </a:path>
                <a:path w="13970" h="1987550">
                  <a:moveTo>
                    <a:pt x="13906" y="509509"/>
                  </a:moveTo>
                  <a:lnTo>
                    <a:pt x="0" y="509509"/>
                  </a:lnTo>
                  <a:lnTo>
                    <a:pt x="0" y="565181"/>
                  </a:lnTo>
                  <a:lnTo>
                    <a:pt x="13906" y="565181"/>
                  </a:lnTo>
                  <a:lnTo>
                    <a:pt x="13906" y="509509"/>
                  </a:lnTo>
                  <a:close/>
                </a:path>
                <a:path w="13970" h="1987550">
                  <a:moveTo>
                    <a:pt x="13906" y="611326"/>
                  </a:moveTo>
                  <a:lnTo>
                    <a:pt x="0" y="611326"/>
                  </a:lnTo>
                  <a:lnTo>
                    <a:pt x="0" y="666978"/>
                  </a:lnTo>
                  <a:lnTo>
                    <a:pt x="13906" y="666978"/>
                  </a:lnTo>
                  <a:lnTo>
                    <a:pt x="13906" y="611326"/>
                  </a:lnTo>
                  <a:close/>
                </a:path>
                <a:path w="13970" h="1987550">
                  <a:moveTo>
                    <a:pt x="13906" y="713143"/>
                  </a:moveTo>
                  <a:lnTo>
                    <a:pt x="0" y="713143"/>
                  </a:lnTo>
                  <a:lnTo>
                    <a:pt x="0" y="768796"/>
                  </a:lnTo>
                  <a:lnTo>
                    <a:pt x="13906" y="768796"/>
                  </a:lnTo>
                  <a:lnTo>
                    <a:pt x="13906" y="713143"/>
                  </a:lnTo>
                  <a:close/>
                </a:path>
                <a:path w="13970" h="1987550">
                  <a:moveTo>
                    <a:pt x="13906" y="815423"/>
                  </a:moveTo>
                  <a:lnTo>
                    <a:pt x="0" y="815423"/>
                  </a:lnTo>
                  <a:lnTo>
                    <a:pt x="0" y="866332"/>
                  </a:lnTo>
                  <a:lnTo>
                    <a:pt x="9463" y="871095"/>
                  </a:lnTo>
                  <a:lnTo>
                    <a:pt x="13906" y="866332"/>
                  </a:lnTo>
                  <a:lnTo>
                    <a:pt x="13906" y="815423"/>
                  </a:lnTo>
                  <a:close/>
                </a:path>
                <a:path w="13970" h="1987550">
                  <a:moveTo>
                    <a:pt x="9463" y="810660"/>
                  </a:moveTo>
                  <a:lnTo>
                    <a:pt x="4828" y="815423"/>
                  </a:lnTo>
                  <a:lnTo>
                    <a:pt x="9463" y="815423"/>
                  </a:lnTo>
                  <a:lnTo>
                    <a:pt x="9463" y="810660"/>
                  </a:lnTo>
                  <a:close/>
                </a:path>
                <a:path w="13970" h="1987550">
                  <a:moveTo>
                    <a:pt x="9463" y="912477"/>
                  </a:moveTo>
                  <a:lnTo>
                    <a:pt x="4828" y="912477"/>
                  </a:lnTo>
                  <a:lnTo>
                    <a:pt x="0" y="917240"/>
                  </a:lnTo>
                  <a:lnTo>
                    <a:pt x="0" y="968149"/>
                  </a:lnTo>
                  <a:lnTo>
                    <a:pt x="9463" y="972893"/>
                  </a:lnTo>
                  <a:lnTo>
                    <a:pt x="13906" y="968149"/>
                  </a:lnTo>
                  <a:lnTo>
                    <a:pt x="13906" y="917240"/>
                  </a:lnTo>
                  <a:lnTo>
                    <a:pt x="9463" y="912477"/>
                  </a:lnTo>
                  <a:close/>
                </a:path>
                <a:path w="13970" h="1987550">
                  <a:moveTo>
                    <a:pt x="9463" y="1014294"/>
                  </a:moveTo>
                  <a:lnTo>
                    <a:pt x="4828" y="1014294"/>
                  </a:lnTo>
                  <a:lnTo>
                    <a:pt x="0" y="1019057"/>
                  </a:lnTo>
                  <a:lnTo>
                    <a:pt x="0" y="1069966"/>
                  </a:lnTo>
                  <a:lnTo>
                    <a:pt x="9463" y="1074710"/>
                  </a:lnTo>
                  <a:lnTo>
                    <a:pt x="13906" y="1069966"/>
                  </a:lnTo>
                  <a:lnTo>
                    <a:pt x="13906" y="1019057"/>
                  </a:lnTo>
                  <a:lnTo>
                    <a:pt x="9463" y="1014294"/>
                  </a:lnTo>
                  <a:close/>
                </a:path>
                <a:path w="13970" h="1987550">
                  <a:moveTo>
                    <a:pt x="13906" y="1116574"/>
                  </a:moveTo>
                  <a:lnTo>
                    <a:pt x="0" y="1116574"/>
                  </a:lnTo>
                  <a:lnTo>
                    <a:pt x="0" y="1171764"/>
                  </a:lnTo>
                  <a:lnTo>
                    <a:pt x="9463" y="1176527"/>
                  </a:lnTo>
                  <a:lnTo>
                    <a:pt x="13906" y="1171764"/>
                  </a:lnTo>
                  <a:lnTo>
                    <a:pt x="13906" y="1116574"/>
                  </a:lnTo>
                  <a:close/>
                </a:path>
                <a:path w="13970" h="1987550">
                  <a:moveTo>
                    <a:pt x="13906" y="1218391"/>
                  </a:moveTo>
                  <a:lnTo>
                    <a:pt x="0" y="1218391"/>
                  </a:lnTo>
                  <a:lnTo>
                    <a:pt x="0" y="1274063"/>
                  </a:lnTo>
                  <a:lnTo>
                    <a:pt x="13906" y="1274063"/>
                  </a:lnTo>
                  <a:lnTo>
                    <a:pt x="13906" y="1218391"/>
                  </a:lnTo>
                  <a:close/>
                </a:path>
                <a:path w="13970" h="1987550">
                  <a:moveTo>
                    <a:pt x="13906" y="1320208"/>
                  </a:moveTo>
                  <a:lnTo>
                    <a:pt x="0" y="1320208"/>
                  </a:lnTo>
                  <a:lnTo>
                    <a:pt x="0" y="1375880"/>
                  </a:lnTo>
                  <a:lnTo>
                    <a:pt x="13906" y="1375880"/>
                  </a:lnTo>
                  <a:lnTo>
                    <a:pt x="13906" y="1320208"/>
                  </a:lnTo>
                  <a:close/>
                </a:path>
                <a:path w="13970" h="1987550">
                  <a:moveTo>
                    <a:pt x="13906" y="1422025"/>
                  </a:moveTo>
                  <a:lnTo>
                    <a:pt x="0" y="1422025"/>
                  </a:lnTo>
                  <a:lnTo>
                    <a:pt x="0" y="1477678"/>
                  </a:lnTo>
                  <a:lnTo>
                    <a:pt x="13906" y="1477678"/>
                  </a:lnTo>
                  <a:lnTo>
                    <a:pt x="13906" y="1422025"/>
                  </a:lnTo>
                  <a:close/>
                </a:path>
                <a:path w="13970" h="1987550">
                  <a:moveTo>
                    <a:pt x="13906" y="1523842"/>
                  </a:moveTo>
                  <a:lnTo>
                    <a:pt x="0" y="1523842"/>
                  </a:lnTo>
                  <a:lnTo>
                    <a:pt x="0" y="1579495"/>
                  </a:lnTo>
                  <a:lnTo>
                    <a:pt x="13906" y="1579495"/>
                  </a:lnTo>
                  <a:lnTo>
                    <a:pt x="13906" y="1523842"/>
                  </a:lnTo>
                  <a:close/>
                </a:path>
                <a:path w="13970" h="1987550">
                  <a:moveTo>
                    <a:pt x="13906" y="1626122"/>
                  </a:moveTo>
                  <a:lnTo>
                    <a:pt x="0" y="1626122"/>
                  </a:lnTo>
                  <a:lnTo>
                    <a:pt x="0" y="1677031"/>
                  </a:lnTo>
                  <a:lnTo>
                    <a:pt x="9464" y="1681794"/>
                  </a:lnTo>
                  <a:lnTo>
                    <a:pt x="13906" y="1677031"/>
                  </a:lnTo>
                  <a:lnTo>
                    <a:pt x="13906" y="1626122"/>
                  </a:lnTo>
                  <a:close/>
                </a:path>
                <a:path w="13970" h="1987550">
                  <a:moveTo>
                    <a:pt x="9464" y="1621359"/>
                  </a:moveTo>
                  <a:lnTo>
                    <a:pt x="4828" y="1626122"/>
                  </a:lnTo>
                  <a:lnTo>
                    <a:pt x="9464" y="1626122"/>
                  </a:lnTo>
                  <a:lnTo>
                    <a:pt x="9464" y="1621359"/>
                  </a:lnTo>
                  <a:close/>
                </a:path>
                <a:path w="13970" h="1987550">
                  <a:moveTo>
                    <a:pt x="9464" y="1723176"/>
                  </a:moveTo>
                  <a:lnTo>
                    <a:pt x="4828" y="1723176"/>
                  </a:lnTo>
                  <a:lnTo>
                    <a:pt x="0" y="1727939"/>
                  </a:lnTo>
                  <a:lnTo>
                    <a:pt x="0" y="1778848"/>
                  </a:lnTo>
                  <a:lnTo>
                    <a:pt x="9464" y="1783592"/>
                  </a:lnTo>
                  <a:lnTo>
                    <a:pt x="13906" y="1778848"/>
                  </a:lnTo>
                  <a:lnTo>
                    <a:pt x="13906" y="1727939"/>
                  </a:lnTo>
                  <a:lnTo>
                    <a:pt x="9464" y="1723176"/>
                  </a:lnTo>
                  <a:close/>
                </a:path>
                <a:path w="13970" h="1987550">
                  <a:moveTo>
                    <a:pt x="9464" y="1824993"/>
                  </a:moveTo>
                  <a:lnTo>
                    <a:pt x="4828" y="1824993"/>
                  </a:lnTo>
                  <a:lnTo>
                    <a:pt x="0" y="1829757"/>
                  </a:lnTo>
                  <a:lnTo>
                    <a:pt x="0" y="1880646"/>
                  </a:lnTo>
                  <a:lnTo>
                    <a:pt x="9464" y="1885409"/>
                  </a:lnTo>
                  <a:lnTo>
                    <a:pt x="13906" y="1880646"/>
                  </a:lnTo>
                  <a:lnTo>
                    <a:pt x="13906" y="1829757"/>
                  </a:lnTo>
                  <a:lnTo>
                    <a:pt x="9464" y="1824993"/>
                  </a:lnTo>
                  <a:close/>
                </a:path>
                <a:path w="13970" h="1987550">
                  <a:moveTo>
                    <a:pt x="13906" y="1927279"/>
                  </a:moveTo>
                  <a:lnTo>
                    <a:pt x="0" y="1927279"/>
                  </a:lnTo>
                  <a:lnTo>
                    <a:pt x="0" y="1982469"/>
                  </a:lnTo>
                  <a:lnTo>
                    <a:pt x="9464" y="1987226"/>
                  </a:lnTo>
                  <a:lnTo>
                    <a:pt x="13906" y="1982469"/>
                  </a:lnTo>
                  <a:lnTo>
                    <a:pt x="13906" y="1927279"/>
                  </a:lnTo>
                  <a:close/>
                </a:path>
              </a:pathLst>
            </a:custGeom>
            <a:solidFill>
              <a:srgbClr val="000000"/>
            </a:solidFill>
          </p:spPr>
          <p:txBody>
            <a:bodyPr wrap="square" lIns="0" tIns="0" rIns="0" bIns="0" rtlCol="0"/>
            <a:lstStyle/>
            <a:p/>
          </p:txBody>
        </p:sp>
        <p:sp>
          <p:nvSpPr>
            <p:cNvPr id="25" name="object 25" descr=""/>
            <p:cNvSpPr/>
            <p:nvPr/>
          </p:nvSpPr>
          <p:spPr>
            <a:xfrm>
              <a:off x="7269883" y="4033302"/>
              <a:ext cx="13970" cy="1987550"/>
            </a:xfrm>
            <a:custGeom>
              <a:avLst/>
              <a:gdLst/>
              <a:ahLst/>
              <a:cxnLst/>
              <a:rect l="l" t="t" r="r" b="b"/>
              <a:pathLst>
                <a:path w="13970" h="1987550">
                  <a:moveTo>
                    <a:pt x="13906" y="9063"/>
                  </a:moveTo>
                  <a:lnTo>
                    <a:pt x="13906" y="50908"/>
                  </a:lnTo>
                  <a:lnTo>
                    <a:pt x="13906" y="55729"/>
                  </a:lnTo>
                  <a:lnTo>
                    <a:pt x="9463" y="59971"/>
                  </a:lnTo>
                  <a:lnTo>
                    <a:pt x="0" y="55729"/>
                  </a:lnTo>
                  <a:lnTo>
                    <a:pt x="0" y="50908"/>
                  </a:lnTo>
                  <a:lnTo>
                    <a:pt x="0" y="9063"/>
                  </a:lnTo>
                  <a:lnTo>
                    <a:pt x="0" y="4820"/>
                  </a:lnTo>
                  <a:lnTo>
                    <a:pt x="4828" y="4820"/>
                  </a:lnTo>
                  <a:lnTo>
                    <a:pt x="9463" y="0"/>
                  </a:lnTo>
                  <a:lnTo>
                    <a:pt x="9463" y="4820"/>
                  </a:lnTo>
                  <a:lnTo>
                    <a:pt x="13906" y="4820"/>
                  </a:lnTo>
                  <a:lnTo>
                    <a:pt x="13906" y="9063"/>
                  </a:lnTo>
                  <a:close/>
                </a:path>
                <a:path w="13970" h="1987550">
                  <a:moveTo>
                    <a:pt x="13906" y="111266"/>
                  </a:moveTo>
                  <a:lnTo>
                    <a:pt x="13906" y="152687"/>
                  </a:lnTo>
                  <a:lnTo>
                    <a:pt x="13906" y="157450"/>
                  </a:lnTo>
                  <a:lnTo>
                    <a:pt x="9463" y="162213"/>
                  </a:lnTo>
                  <a:lnTo>
                    <a:pt x="0" y="157450"/>
                  </a:lnTo>
                  <a:lnTo>
                    <a:pt x="0" y="152687"/>
                  </a:lnTo>
                  <a:lnTo>
                    <a:pt x="0" y="111266"/>
                  </a:lnTo>
                  <a:lnTo>
                    <a:pt x="0" y="106445"/>
                  </a:lnTo>
                  <a:lnTo>
                    <a:pt x="4828" y="101817"/>
                  </a:lnTo>
                  <a:lnTo>
                    <a:pt x="9463" y="101817"/>
                  </a:lnTo>
                  <a:lnTo>
                    <a:pt x="13906" y="106445"/>
                  </a:lnTo>
                  <a:lnTo>
                    <a:pt x="13906" y="111266"/>
                  </a:lnTo>
                  <a:close/>
                </a:path>
                <a:path w="13970" h="1987550">
                  <a:moveTo>
                    <a:pt x="13906" y="213102"/>
                  </a:moveTo>
                  <a:lnTo>
                    <a:pt x="13906" y="254504"/>
                  </a:lnTo>
                  <a:lnTo>
                    <a:pt x="13906" y="259267"/>
                  </a:lnTo>
                  <a:lnTo>
                    <a:pt x="9463" y="264010"/>
                  </a:lnTo>
                  <a:lnTo>
                    <a:pt x="0" y="259267"/>
                  </a:lnTo>
                  <a:lnTo>
                    <a:pt x="0" y="254504"/>
                  </a:lnTo>
                  <a:lnTo>
                    <a:pt x="0" y="213102"/>
                  </a:lnTo>
                  <a:lnTo>
                    <a:pt x="0" y="208358"/>
                  </a:lnTo>
                  <a:lnTo>
                    <a:pt x="4828" y="203595"/>
                  </a:lnTo>
                  <a:lnTo>
                    <a:pt x="9463" y="203595"/>
                  </a:lnTo>
                  <a:lnTo>
                    <a:pt x="13906" y="208358"/>
                  </a:lnTo>
                  <a:lnTo>
                    <a:pt x="13906" y="213102"/>
                  </a:lnTo>
                  <a:close/>
                </a:path>
                <a:path w="13970" h="1987550">
                  <a:moveTo>
                    <a:pt x="13906" y="314919"/>
                  </a:moveTo>
                  <a:lnTo>
                    <a:pt x="13906" y="356784"/>
                  </a:lnTo>
                  <a:lnTo>
                    <a:pt x="13906" y="361064"/>
                  </a:lnTo>
                  <a:lnTo>
                    <a:pt x="9463" y="365827"/>
                  </a:lnTo>
                  <a:lnTo>
                    <a:pt x="0" y="361064"/>
                  </a:lnTo>
                  <a:lnTo>
                    <a:pt x="0" y="356784"/>
                  </a:lnTo>
                  <a:lnTo>
                    <a:pt x="0" y="314919"/>
                  </a:lnTo>
                  <a:lnTo>
                    <a:pt x="0" y="310156"/>
                  </a:lnTo>
                  <a:lnTo>
                    <a:pt x="0" y="305875"/>
                  </a:lnTo>
                  <a:lnTo>
                    <a:pt x="4828" y="305875"/>
                  </a:lnTo>
                  <a:lnTo>
                    <a:pt x="9463" y="305875"/>
                  </a:lnTo>
                  <a:lnTo>
                    <a:pt x="13906" y="305875"/>
                  </a:lnTo>
                  <a:lnTo>
                    <a:pt x="13906" y="310156"/>
                  </a:lnTo>
                  <a:lnTo>
                    <a:pt x="13906" y="314919"/>
                  </a:lnTo>
                  <a:close/>
                </a:path>
                <a:path w="13970" h="1987550">
                  <a:moveTo>
                    <a:pt x="13906" y="412455"/>
                  </a:moveTo>
                  <a:lnTo>
                    <a:pt x="13906" y="458601"/>
                  </a:lnTo>
                  <a:lnTo>
                    <a:pt x="13906" y="463364"/>
                  </a:lnTo>
                  <a:lnTo>
                    <a:pt x="9463" y="463364"/>
                  </a:lnTo>
                  <a:lnTo>
                    <a:pt x="0" y="463364"/>
                  </a:lnTo>
                  <a:lnTo>
                    <a:pt x="0" y="458601"/>
                  </a:lnTo>
                  <a:lnTo>
                    <a:pt x="0" y="412455"/>
                  </a:lnTo>
                  <a:lnTo>
                    <a:pt x="0" y="407692"/>
                  </a:lnTo>
                  <a:lnTo>
                    <a:pt x="4828" y="407692"/>
                  </a:lnTo>
                  <a:lnTo>
                    <a:pt x="9463" y="407692"/>
                  </a:lnTo>
                  <a:lnTo>
                    <a:pt x="13906" y="407692"/>
                  </a:lnTo>
                  <a:lnTo>
                    <a:pt x="13906" y="412455"/>
                  </a:lnTo>
                  <a:close/>
                </a:path>
                <a:path w="13970" h="1987550">
                  <a:moveTo>
                    <a:pt x="13906" y="514272"/>
                  </a:moveTo>
                  <a:lnTo>
                    <a:pt x="13906" y="560418"/>
                  </a:lnTo>
                  <a:lnTo>
                    <a:pt x="13906" y="565181"/>
                  </a:lnTo>
                  <a:lnTo>
                    <a:pt x="9463" y="565181"/>
                  </a:lnTo>
                  <a:lnTo>
                    <a:pt x="0" y="565181"/>
                  </a:lnTo>
                  <a:lnTo>
                    <a:pt x="0" y="560418"/>
                  </a:lnTo>
                  <a:lnTo>
                    <a:pt x="0" y="514272"/>
                  </a:lnTo>
                  <a:lnTo>
                    <a:pt x="0" y="509509"/>
                  </a:lnTo>
                  <a:lnTo>
                    <a:pt x="4828" y="509509"/>
                  </a:lnTo>
                  <a:lnTo>
                    <a:pt x="9463" y="509509"/>
                  </a:lnTo>
                  <a:lnTo>
                    <a:pt x="13906" y="509509"/>
                  </a:lnTo>
                  <a:lnTo>
                    <a:pt x="13906" y="514272"/>
                  </a:lnTo>
                  <a:close/>
                </a:path>
                <a:path w="13970" h="1987550">
                  <a:moveTo>
                    <a:pt x="13906" y="616089"/>
                  </a:moveTo>
                  <a:lnTo>
                    <a:pt x="13906" y="662235"/>
                  </a:lnTo>
                  <a:lnTo>
                    <a:pt x="13906" y="666978"/>
                  </a:lnTo>
                  <a:lnTo>
                    <a:pt x="9463" y="666978"/>
                  </a:lnTo>
                  <a:lnTo>
                    <a:pt x="0" y="666978"/>
                  </a:lnTo>
                  <a:lnTo>
                    <a:pt x="0" y="662235"/>
                  </a:lnTo>
                  <a:lnTo>
                    <a:pt x="0" y="616089"/>
                  </a:lnTo>
                  <a:lnTo>
                    <a:pt x="0" y="611326"/>
                  </a:lnTo>
                  <a:lnTo>
                    <a:pt x="4828" y="611326"/>
                  </a:lnTo>
                  <a:lnTo>
                    <a:pt x="9463" y="611326"/>
                  </a:lnTo>
                  <a:lnTo>
                    <a:pt x="13906" y="611326"/>
                  </a:lnTo>
                  <a:lnTo>
                    <a:pt x="13906" y="616089"/>
                  </a:lnTo>
                  <a:close/>
                </a:path>
                <a:path w="13970" h="1987550">
                  <a:moveTo>
                    <a:pt x="13906" y="717887"/>
                  </a:moveTo>
                  <a:lnTo>
                    <a:pt x="13906" y="759752"/>
                  </a:lnTo>
                  <a:lnTo>
                    <a:pt x="13906" y="764515"/>
                  </a:lnTo>
                  <a:lnTo>
                    <a:pt x="13906" y="768796"/>
                  </a:lnTo>
                  <a:lnTo>
                    <a:pt x="9463" y="768796"/>
                  </a:lnTo>
                  <a:lnTo>
                    <a:pt x="0" y="768796"/>
                  </a:lnTo>
                  <a:lnTo>
                    <a:pt x="0" y="764515"/>
                  </a:lnTo>
                  <a:lnTo>
                    <a:pt x="0" y="759752"/>
                  </a:lnTo>
                  <a:lnTo>
                    <a:pt x="0" y="717887"/>
                  </a:lnTo>
                  <a:lnTo>
                    <a:pt x="0" y="713143"/>
                  </a:lnTo>
                  <a:lnTo>
                    <a:pt x="4828" y="713143"/>
                  </a:lnTo>
                  <a:lnTo>
                    <a:pt x="9463" y="713143"/>
                  </a:lnTo>
                  <a:lnTo>
                    <a:pt x="13906" y="713143"/>
                  </a:lnTo>
                  <a:lnTo>
                    <a:pt x="13906" y="717887"/>
                  </a:lnTo>
                  <a:close/>
                </a:path>
                <a:path w="13970" h="1987550">
                  <a:moveTo>
                    <a:pt x="13906" y="819704"/>
                  </a:moveTo>
                  <a:lnTo>
                    <a:pt x="13906" y="861569"/>
                  </a:lnTo>
                  <a:lnTo>
                    <a:pt x="13906" y="866332"/>
                  </a:lnTo>
                  <a:lnTo>
                    <a:pt x="9463" y="871095"/>
                  </a:lnTo>
                  <a:lnTo>
                    <a:pt x="0" y="866332"/>
                  </a:lnTo>
                  <a:lnTo>
                    <a:pt x="0" y="861569"/>
                  </a:lnTo>
                  <a:lnTo>
                    <a:pt x="0" y="819704"/>
                  </a:lnTo>
                  <a:lnTo>
                    <a:pt x="0" y="815423"/>
                  </a:lnTo>
                  <a:lnTo>
                    <a:pt x="4828" y="815423"/>
                  </a:lnTo>
                  <a:lnTo>
                    <a:pt x="9463" y="810660"/>
                  </a:lnTo>
                  <a:lnTo>
                    <a:pt x="9463" y="815423"/>
                  </a:lnTo>
                  <a:lnTo>
                    <a:pt x="13906" y="815423"/>
                  </a:lnTo>
                  <a:lnTo>
                    <a:pt x="13906" y="819704"/>
                  </a:lnTo>
                  <a:close/>
                </a:path>
                <a:path w="13970" h="1987550">
                  <a:moveTo>
                    <a:pt x="13906" y="922003"/>
                  </a:moveTo>
                  <a:lnTo>
                    <a:pt x="13906" y="963386"/>
                  </a:lnTo>
                  <a:lnTo>
                    <a:pt x="13906" y="968149"/>
                  </a:lnTo>
                  <a:lnTo>
                    <a:pt x="9463" y="972893"/>
                  </a:lnTo>
                  <a:lnTo>
                    <a:pt x="0" y="968149"/>
                  </a:lnTo>
                  <a:lnTo>
                    <a:pt x="0" y="963386"/>
                  </a:lnTo>
                  <a:lnTo>
                    <a:pt x="0" y="922003"/>
                  </a:lnTo>
                  <a:lnTo>
                    <a:pt x="0" y="917240"/>
                  </a:lnTo>
                  <a:lnTo>
                    <a:pt x="4828" y="912477"/>
                  </a:lnTo>
                  <a:lnTo>
                    <a:pt x="9463" y="912477"/>
                  </a:lnTo>
                  <a:lnTo>
                    <a:pt x="13906" y="917240"/>
                  </a:lnTo>
                  <a:lnTo>
                    <a:pt x="13906" y="922003"/>
                  </a:lnTo>
                  <a:close/>
                </a:path>
                <a:path w="13970" h="1987550">
                  <a:moveTo>
                    <a:pt x="13906" y="1023801"/>
                  </a:moveTo>
                  <a:lnTo>
                    <a:pt x="13906" y="1065203"/>
                  </a:lnTo>
                  <a:lnTo>
                    <a:pt x="13906" y="1069966"/>
                  </a:lnTo>
                  <a:lnTo>
                    <a:pt x="9463" y="1074710"/>
                  </a:lnTo>
                  <a:lnTo>
                    <a:pt x="0" y="1069966"/>
                  </a:lnTo>
                  <a:lnTo>
                    <a:pt x="0" y="1065203"/>
                  </a:lnTo>
                  <a:lnTo>
                    <a:pt x="0" y="1023801"/>
                  </a:lnTo>
                  <a:lnTo>
                    <a:pt x="0" y="1019057"/>
                  </a:lnTo>
                  <a:lnTo>
                    <a:pt x="4828" y="1014294"/>
                  </a:lnTo>
                  <a:lnTo>
                    <a:pt x="9463" y="1014294"/>
                  </a:lnTo>
                  <a:lnTo>
                    <a:pt x="13906" y="1019057"/>
                  </a:lnTo>
                  <a:lnTo>
                    <a:pt x="13906" y="1023801"/>
                  </a:lnTo>
                  <a:close/>
                </a:path>
                <a:path w="13970" h="1987550">
                  <a:moveTo>
                    <a:pt x="13906" y="1125618"/>
                  </a:moveTo>
                  <a:lnTo>
                    <a:pt x="13906" y="1167483"/>
                  </a:lnTo>
                  <a:lnTo>
                    <a:pt x="13906" y="1171764"/>
                  </a:lnTo>
                  <a:lnTo>
                    <a:pt x="9463" y="1176527"/>
                  </a:lnTo>
                  <a:lnTo>
                    <a:pt x="0" y="1171764"/>
                  </a:lnTo>
                  <a:lnTo>
                    <a:pt x="0" y="1167483"/>
                  </a:lnTo>
                  <a:lnTo>
                    <a:pt x="0" y="1125618"/>
                  </a:lnTo>
                  <a:lnTo>
                    <a:pt x="0" y="1120855"/>
                  </a:lnTo>
                  <a:lnTo>
                    <a:pt x="0" y="1116574"/>
                  </a:lnTo>
                  <a:lnTo>
                    <a:pt x="4828" y="1116574"/>
                  </a:lnTo>
                  <a:lnTo>
                    <a:pt x="9463" y="1116574"/>
                  </a:lnTo>
                  <a:lnTo>
                    <a:pt x="13906" y="1116574"/>
                  </a:lnTo>
                  <a:lnTo>
                    <a:pt x="13906" y="1120855"/>
                  </a:lnTo>
                  <a:lnTo>
                    <a:pt x="13906" y="1125618"/>
                  </a:lnTo>
                  <a:close/>
                </a:path>
                <a:path w="13970" h="1987550">
                  <a:moveTo>
                    <a:pt x="13906" y="1223154"/>
                  </a:moveTo>
                  <a:lnTo>
                    <a:pt x="13906" y="1269300"/>
                  </a:lnTo>
                  <a:lnTo>
                    <a:pt x="13906" y="1274063"/>
                  </a:lnTo>
                  <a:lnTo>
                    <a:pt x="9464" y="1274063"/>
                  </a:lnTo>
                  <a:lnTo>
                    <a:pt x="0" y="1274063"/>
                  </a:lnTo>
                  <a:lnTo>
                    <a:pt x="0" y="1269300"/>
                  </a:lnTo>
                  <a:lnTo>
                    <a:pt x="0" y="1223154"/>
                  </a:lnTo>
                  <a:lnTo>
                    <a:pt x="0" y="1218391"/>
                  </a:lnTo>
                  <a:lnTo>
                    <a:pt x="4828" y="1218391"/>
                  </a:lnTo>
                  <a:lnTo>
                    <a:pt x="9463" y="1218391"/>
                  </a:lnTo>
                  <a:lnTo>
                    <a:pt x="13906" y="1218391"/>
                  </a:lnTo>
                  <a:lnTo>
                    <a:pt x="13906" y="1223154"/>
                  </a:lnTo>
                  <a:close/>
                </a:path>
                <a:path w="13970" h="1987550">
                  <a:moveTo>
                    <a:pt x="13906" y="1324971"/>
                  </a:moveTo>
                  <a:lnTo>
                    <a:pt x="13906" y="1371117"/>
                  </a:lnTo>
                  <a:lnTo>
                    <a:pt x="13906" y="1375880"/>
                  </a:lnTo>
                  <a:lnTo>
                    <a:pt x="9464" y="1375880"/>
                  </a:lnTo>
                  <a:lnTo>
                    <a:pt x="0" y="1375880"/>
                  </a:lnTo>
                  <a:lnTo>
                    <a:pt x="0" y="1371117"/>
                  </a:lnTo>
                  <a:lnTo>
                    <a:pt x="0" y="1324971"/>
                  </a:lnTo>
                  <a:lnTo>
                    <a:pt x="0" y="1320208"/>
                  </a:lnTo>
                  <a:lnTo>
                    <a:pt x="4828" y="1320208"/>
                  </a:lnTo>
                  <a:lnTo>
                    <a:pt x="9464" y="1320208"/>
                  </a:lnTo>
                  <a:lnTo>
                    <a:pt x="13906" y="1320208"/>
                  </a:lnTo>
                  <a:lnTo>
                    <a:pt x="13906" y="1324971"/>
                  </a:lnTo>
                  <a:close/>
                </a:path>
                <a:path w="13970" h="1987550">
                  <a:moveTo>
                    <a:pt x="13906" y="1426769"/>
                  </a:moveTo>
                  <a:lnTo>
                    <a:pt x="13906" y="1472934"/>
                  </a:lnTo>
                  <a:lnTo>
                    <a:pt x="13906" y="1477678"/>
                  </a:lnTo>
                  <a:lnTo>
                    <a:pt x="9464" y="1477678"/>
                  </a:lnTo>
                  <a:lnTo>
                    <a:pt x="0" y="1477678"/>
                  </a:lnTo>
                  <a:lnTo>
                    <a:pt x="0" y="1472934"/>
                  </a:lnTo>
                  <a:lnTo>
                    <a:pt x="0" y="1426769"/>
                  </a:lnTo>
                  <a:lnTo>
                    <a:pt x="0" y="1422025"/>
                  </a:lnTo>
                  <a:lnTo>
                    <a:pt x="4828" y="1422025"/>
                  </a:lnTo>
                  <a:lnTo>
                    <a:pt x="9464" y="1422025"/>
                  </a:lnTo>
                  <a:lnTo>
                    <a:pt x="13906" y="1422025"/>
                  </a:lnTo>
                  <a:lnTo>
                    <a:pt x="13906" y="1426769"/>
                  </a:lnTo>
                  <a:close/>
                </a:path>
                <a:path w="13970" h="1987550">
                  <a:moveTo>
                    <a:pt x="13906" y="1528586"/>
                  </a:moveTo>
                  <a:lnTo>
                    <a:pt x="13906" y="1570451"/>
                  </a:lnTo>
                  <a:lnTo>
                    <a:pt x="13906" y="1575214"/>
                  </a:lnTo>
                  <a:lnTo>
                    <a:pt x="13906" y="1579495"/>
                  </a:lnTo>
                  <a:lnTo>
                    <a:pt x="9464" y="1579495"/>
                  </a:lnTo>
                  <a:lnTo>
                    <a:pt x="0" y="1579495"/>
                  </a:lnTo>
                  <a:lnTo>
                    <a:pt x="0" y="1575214"/>
                  </a:lnTo>
                  <a:lnTo>
                    <a:pt x="0" y="1570451"/>
                  </a:lnTo>
                  <a:lnTo>
                    <a:pt x="0" y="1528586"/>
                  </a:lnTo>
                  <a:lnTo>
                    <a:pt x="0" y="1523842"/>
                  </a:lnTo>
                  <a:lnTo>
                    <a:pt x="4828" y="1523842"/>
                  </a:lnTo>
                  <a:lnTo>
                    <a:pt x="9464" y="1523842"/>
                  </a:lnTo>
                  <a:lnTo>
                    <a:pt x="13906" y="1523842"/>
                  </a:lnTo>
                  <a:lnTo>
                    <a:pt x="13906" y="1528586"/>
                  </a:lnTo>
                  <a:close/>
                </a:path>
                <a:path w="13970" h="1987550">
                  <a:moveTo>
                    <a:pt x="13906" y="1630403"/>
                  </a:moveTo>
                  <a:lnTo>
                    <a:pt x="13906" y="1672268"/>
                  </a:lnTo>
                  <a:lnTo>
                    <a:pt x="13906" y="1677031"/>
                  </a:lnTo>
                  <a:lnTo>
                    <a:pt x="9464" y="1681794"/>
                  </a:lnTo>
                  <a:lnTo>
                    <a:pt x="0" y="1677031"/>
                  </a:lnTo>
                  <a:lnTo>
                    <a:pt x="0" y="1672268"/>
                  </a:lnTo>
                  <a:lnTo>
                    <a:pt x="0" y="1630403"/>
                  </a:lnTo>
                  <a:lnTo>
                    <a:pt x="0" y="1626122"/>
                  </a:lnTo>
                  <a:lnTo>
                    <a:pt x="4828" y="1626122"/>
                  </a:lnTo>
                  <a:lnTo>
                    <a:pt x="9464" y="1621359"/>
                  </a:lnTo>
                  <a:lnTo>
                    <a:pt x="9464" y="1626122"/>
                  </a:lnTo>
                  <a:lnTo>
                    <a:pt x="13906" y="1626122"/>
                  </a:lnTo>
                  <a:lnTo>
                    <a:pt x="13906" y="1630403"/>
                  </a:lnTo>
                  <a:close/>
                </a:path>
                <a:path w="13970" h="1987550">
                  <a:moveTo>
                    <a:pt x="13906" y="1732702"/>
                  </a:moveTo>
                  <a:lnTo>
                    <a:pt x="13906" y="1774085"/>
                  </a:lnTo>
                  <a:lnTo>
                    <a:pt x="13906" y="1778848"/>
                  </a:lnTo>
                  <a:lnTo>
                    <a:pt x="9464" y="1783592"/>
                  </a:lnTo>
                  <a:lnTo>
                    <a:pt x="0" y="1778848"/>
                  </a:lnTo>
                  <a:lnTo>
                    <a:pt x="0" y="1774085"/>
                  </a:lnTo>
                  <a:lnTo>
                    <a:pt x="0" y="1732702"/>
                  </a:lnTo>
                  <a:lnTo>
                    <a:pt x="0" y="1727939"/>
                  </a:lnTo>
                  <a:lnTo>
                    <a:pt x="4828" y="1723176"/>
                  </a:lnTo>
                  <a:lnTo>
                    <a:pt x="9464" y="1723176"/>
                  </a:lnTo>
                  <a:lnTo>
                    <a:pt x="13906" y="1727939"/>
                  </a:lnTo>
                  <a:lnTo>
                    <a:pt x="13906" y="1732702"/>
                  </a:lnTo>
                  <a:close/>
                </a:path>
                <a:path w="13970" h="1987550">
                  <a:moveTo>
                    <a:pt x="13906" y="1834500"/>
                  </a:moveTo>
                  <a:lnTo>
                    <a:pt x="13906" y="1876365"/>
                  </a:lnTo>
                  <a:lnTo>
                    <a:pt x="13906" y="1880646"/>
                  </a:lnTo>
                  <a:lnTo>
                    <a:pt x="9464" y="1885409"/>
                  </a:lnTo>
                  <a:lnTo>
                    <a:pt x="0" y="1880646"/>
                  </a:lnTo>
                  <a:lnTo>
                    <a:pt x="0" y="1876365"/>
                  </a:lnTo>
                  <a:lnTo>
                    <a:pt x="0" y="1834500"/>
                  </a:lnTo>
                  <a:lnTo>
                    <a:pt x="0" y="1829756"/>
                  </a:lnTo>
                  <a:lnTo>
                    <a:pt x="4828" y="1824993"/>
                  </a:lnTo>
                  <a:lnTo>
                    <a:pt x="9464" y="1824993"/>
                  </a:lnTo>
                  <a:lnTo>
                    <a:pt x="13906" y="1829756"/>
                  </a:lnTo>
                  <a:lnTo>
                    <a:pt x="13906" y="1834500"/>
                  </a:lnTo>
                  <a:close/>
                </a:path>
                <a:path w="13970" h="1987550">
                  <a:moveTo>
                    <a:pt x="13906" y="1936319"/>
                  </a:moveTo>
                  <a:lnTo>
                    <a:pt x="13906" y="1978186"/>
                  </a:lnTo>
                  <a:lnTo>
                    <a:pt x="13906" y="1982469"/>
                  </a:lnTo>
                  <a:lnTo>
                    <a:pt x="9464" y="1987226"/>
                  </a:lnTo>
                  <a:lnTo>
                    <a:pt x="0" y="1982469"/>
                  </a:lnTo>
                  <a:lnTo>
                    <a:pt x="0" y="1978186"/>
                  </a:lnTo>
                  <a:lnTo>
                    <a:pt x="0" y="1936319"/>
                  </a:lnTo>
                  <a:lnTo>
                    <a:pt x="0" y="1931562"/>
                  </a:lnTo>
                  <a:lnTo>
                    <a:pt x="0" y="1927279"/>
                  </a:lnTo>
                  <a:lnTo>
                    <a:pt x="4828" y="1927279"/>
                  </a:lnTo>
                  <a:lnTo>
                    <a:pt x="9464" y="1927279"/>
                  </a:lnTo>
                  <a:lnTo>
                    <a:pt x="13906" y="1927279"/>
                  </a:lnTo>
                  <a:lnTo>
                    <a:pt x="13906" y="1931562"/>
                  </a:lnTo>
                  <a:lnTo>
                    <a:pt x="13906" y="1936319"/>
                  </a:lnTo>
                  <a:close/>
                </a:path>
              </a:pathLst>
            </a:custGeom>
            <a:ln w="4780">
              <a:solidFill>
                <a:srgbClr val="000000"/>
              </a:solidFill>
            </a:ln>
          </p:spPr>
          <p:txBody>
            <a:bodyPr wrap="square" lIns="0" tIns="0" rIns="0" bIns="0" rtlCol="0"/>
            <a:lstStyle/>
            <a:p/>
          </p:txBody>
        </p:sp>
        <p:sp>
          <p:nvSpPr>
            <p:cNvPr id="26" name="object 26" descr=""/>
            <p:cNvSpPr/>
            <p:nvPr/>
          </p:nvSpPr>
          <p:spPr>
            <a:xfrm>
              <a:off x="7919604" y="4033302"/>
              <a:ext cx="13970" cy="1987550"/>
            </a:xfrm>
            <a:custGeom>
              <a:avLst/>
              <a:gdLst/>
              <a:ahLst/>
              <a:cxnLst/>
              <a:rect l="l" t="t" r="r" b="b"/>
              <a:pathLst>
                <a:path w="13970" h="1987550">
                  <a:moveTo>
                    <a:pt x="13906" y="4820"/>
                  </a:moveTo>
                  <a:lnTo>
                    <a:pt x="0" y="4820"/>
                  </a:lnTo>
                  <a:lnTo>
                    <a:pt x="0" y="55729"/>
                  </a:lnTo>
                  <a:lnTo>
                    <a:pt x="9077" y="59971"/>
                  </a:lnTo>
                  <a:lnTo>
                    <a:pt x="13906" y="55729"/>
                  </a:lnTo>
                  <a:lnTo>
                    <a:pt x="13906" y="4820"/>
                  </a:lnTo>
                  <a:close/>
                </a:path>
                <a:path w="13970" h="1987550">
                  <a:moveTo>
                    <a:pt x="9077" y="0"/>
                  </a:moveTo>
                  <a:lnTo>
                    <a:pt x="4635" y="4820"/>
                  </a:lnTo>
                  <a:lnTo>
                    <a:pt x="9077" y="4820"/>
                  </a:lnTo>
                  <a:lnTo>
                    <a:pt x="9077" y="0"/>
                  </a:lnTo>
                  <a:close/>
                </a:path>
                <a:path w="13970" h="1987550">
                  <a:moveTo>
                    <a:pt x="9077" y="101817"/>
                  </a:moveTo>
                  <a:lnTo>
                    <a:pt x="4635" y="101817"/>
                  </a:lnTo>
                  <a:lnTo>
                    <a:pt x="0" y="106445"/>
                  </a:lnTo>
                  <a:lnTo>
                    <a:pt x="0" y="157450"/>
                  </a:lnTo>
                  <a:lnTo>
                    <a:pt x="9077" y="162213"/>
                  </a:lnTo>
                  <a:lnTo>
                    <a:pt x="13906" y="157450"/>
                  </a:lnTo>
                  <a:lnTo>
                    <a:pt x="13906" y="106445"/>
                  </a:lnTo>
                  <a:lnTo>
                    <a:pt x="9077" y="101817"/>
                  </a:lnTo>
                  <a:close/>
                </a:path>
                <a:path w="13970" h="1987550">
                  <a:moveTo>
                    <a:pt x="9077" y="203595"/>
                  </a:moveTo>
                  <a:lnTo>
                    <a:pt x="4635" y="203595"/>
                  </a:lnTo>
                  <a:lnTo>
                    <a:pt x="0" y="208358"/>
                  </a:lnTo>
                  <a:lnTo>
                    <a:pt x="0" y="259267"/>
                  </a:lnTo>
                  <a:lnTo>
                    <a:pt x="9077" y="264010"/>
                  </a:lnTo>
                  <a:lnTo>
                    <a:pt x="13906" y="259267"/>
                  </a:lnTo>
                  <a:lnTo>
                    <a:pt x="13906" y="208358"/>
                  </a:lnTo>
                  <a:lnTo>
                    <a:pt x="9077" y="203595"/>
                  </a:lnTo>
                  <a:close/>
                </a:path>
                <a:path w="13970" h="1987550">
                  <a:moveTo>
                    <a:pt x="13906" y="305875"/>
                  </a:moveTo>
                  <a:lnTo>
                    <a:pt x="0" y="305875"/>
                  </a:lnTo>
                  <a:lnTo>
                    <a:pt x="0" y="361064"/>
                  </a:lnTo>
                  <a:lnTo>
                    <a:pt x="9077" y="365827"/>
                  </a:lnTo>
                  <a:lnTo>
                    <a:pt x="13906" y="361064"/>
                  </a:lnTo>
                  <a:lnTo>
                    <a:pt x="13906" y="305875"/>
                  </a:lnTo>
                  <a:close/>
                </a:path>
                <a:path w="13970" h="1987550">
                  <a:moveTo>
                    <a:pt x="13906" y="407692"/>
                  </a:moveTo>
                  <a:lnTo>
                    <a:pt x="0" y="407692"/>
                  </a:lnTo>
                  <a:lnTo>
                    <a:pt x="0" y="463364"/>
                  </a:lnTo>
                  <a:lnTo>
                    <a:pt x="13906" y="463364"/>
                  </a:lnTo>
                  <a:lnTo>
                    <a:pt x="13906" y="407692"/>
                  </a:lnTo>
                  <a:close/>
                </a:path>
                <a:path w="13970" h="1987550">
                  <a:moveTo>
                    <a:pt x="13906" y="509509"/>
                  </a:moveTo>
                  <a:lnTo>
                    <a:pt x="0" y="509509"/>
                  </a:lnTo>
                  <a:lnTo>
                    <a:pt x="0" y="565181"/>
                  </a:lnTo>
                  <a:lnTo>
                    <a:pt x="13906" y="565181"/>
                  </a:lnTo>
                  <a:lnTo>
                    <a:pt x="13906" y="509509"/>
                  </a:lnTo>
                  <a:close/>
                </a:path>
                <a:path w="13970" h="1987550">
                  <a:moveTo>
                    <a:pt x="13906" y="611326"/>
                  </a:moveTo>
                  <a:lnTo>
                    <a:pt x="0" y="611326"/>
                  </a:lnTo>
                  <a:lnTo>
                    <a:pt x="0" y="666978"/>
                  </a:lnTo>
                  <a:lnTo>
                    <a:pt x="13906" y="666978"/>
                  </a:lnTo>
                  <a:lnTo>
                    <a:pt x="13906" y="611326"/>
                  </a:lnTo>
                  <a:close/>
                </a:path>
                <a:path w="13970" h="1987550">
                  <a:moveTo>
                    <a:pt x="13906" y="713143"/>
                  </a:moveTo>
                  <a:lnTo>
                    <a:pt x="0" y="713143"/>
                  </a:lnTo>
                  <a:lnTo>
                    <a:pt x="0" y="768796"/>
                  </a:lnTo>
                  <a:lnTo>
                    <a:pt x="13906" y="768796"/>
                  </a:lnTo>
                  <a:lnTo>
                    <a:pt x="13906" y="713143"/>
                  </a:lnTo>
                  <a:close/>
                </a:path>
                <a:path w="13970" h="1987550">
                  <a:moveTo>
                    <a:pt x="13906" y="815423"/>
                  </a:moveTo>
                  <a:lnTo>
                    <a:pt x="0" y="815423"/>
                  </a:lnTo>
                  <a:lnTo>
                    <a:pt x="0" y="866332"/>
                  </a:lnTo>
                  <a:lnTo>
                    <a:pt x="9077" y="871095"/>
                  </a:lnTo>
                  <a:lnTo>
                    <a:pt x="13906" y="866332"/>
                  </a:lnTo>
                  <a:lnTo>
                    <a:pt x="13906" y="815423"/>
                  </a:lnTo>
                  <a:close/>
                </a:path>
                <a:path w="13970" h="1987550">
                  <a:moveTo>
                    <a:pt x="9077" y="810660"/>
                  </a:moveTo>
                  <a:lnTo>
                    <a:pt x="4635" y="815423"/>
                  </a:lnTo>
                  <a:lnTo>
                    <a:pt x="9077" y="815423"/>
                  </a:lnTo>
                  <a:lnTo>
                    <a:pt x="9077" y="810660"/>
                  </a:lnTo>
                  <a:close/>
                </a:path>
                <a:path w="13970" h="1987550">
                  <a:moveTo>
                    <a:pt x="9077" y="912477"/>
                  </a:moveTo>
                  <a:lnTo>
                    <a:pt x="4635" y="912477"/>
                  </a:lnTo>
                  <a:lnTo>
                    <a:pt x="0" y="917240"/>
                  </a:lnTo>
                  <a:lnTo>
                    <a:pt x="0" y="968149"/>
                  </a:lnTo>
                  <a:lnTo>
                    <a:pt x="9077" y="972893"/>
                  </a:lnTo>
                  <a:lnTo>
                    <a:pt x="13906" y="968149"/>
                  </a:lnTo>
                  <a:lnTo>
                    <a:pt x="13906" y="917240"/>
                  </a:lnTo>
                  <a:lnTo>
                    <a:pt x="9077" y="912477"/>
                  </a:lnTo>
                  <a:close/>
                </a:path>
                <a:path w="13970" h="1987550">
                  <a:moveTo>
                    <a:pt x="9077" y="1014294"/>
                  </a:moveTo>
                  <a:lnTo>
                    <a:pt x="4635" y="1014294"/>
                  </a:lnTo>
                  <a:lnTo>
                    <a:pt x="0" y="1019057"/>
                  </a:lnTo>
                  <a:lnTo>
                    <a:pt x="0" y="1069966"/>
                  </a:lnTo>
                  <a:lnTo>
                    <a:pt x="9077" y="1074710"/>
                  </a:lnTo>
                  <a:lnTo>
                    <a:pt x="13906" y="1069966"/>
                  </a:lnTo>
                  <a:lnTo>
                    <a:pt x="13906" y="1019057"/>
                  </a:lnTo>
                  <a:lnTo>
                    <a:pt x="9077" y="1014294"/>
                  </a:lnTo>
                  <a:close/>
                </a:path>
                <a:path w="13970" h="1987550">
                  <a:moveTo>
                    <a:pt x="13906" y="1116574"/>
                  </a:moveTo>
                  <a:lnTo>
                    <a:pt x="0" y="1116574"/>
                  </a:lnTo>
                  <a:lnTo>
                    <a:pt x="0" y="1171764"/>
                  </a:lnTo>
                  <a:lnTo>
                    <a:pt x="9077" y="1176527"/>
                  </a:lnTo>
                  <a:lnTo>
                    <a:pt x="13906" y="1171764"/>
                  </a:lnTo>
                  <a:lnTo>
                    <a:pt x="13906" y="1116574"/>
                  </a:lnTo>
                  <a:close/>
                </a:path>
                <a:path w="13970" h="1987550">
                  <a:moveTo>
                    <a:pt x="13906" y="1218391"/>
                  </a:moveTo>
                  <a:lnTo>
                    <a:pt x="0" y="1218391"/>
                  </a:lnTo>
                  <a:lnTo>
                    <a:pt x="0" y="1274063"/>
                  </a:lnTo>
                  <a:lnTo>
                    <a:pt x="13906" y="1274063"/>
                  </a:lnTo>
                  <a:lnTo>
                    <a:pt x="13906" y="1218391"/>
                  </a:lnTo>
                  <a:close/>
                </a:path>
                <a:path w="13970" h="1987550">
                  <a:moveTo>
                    <a:pt x="13906" y="1320208"/>
                  </a:moveTo>
                  <a:lnTo>
                    <a:pt x="0" y="1320208"/>
                  </a:lnTo>
                  <a:lnTo>
                    <a:pt x="0" y="1375880"/>
                  </a:lnTo>
                  <a:lnTo>
                    <a:pt x="13906" y="1375880"/>
                  </a:lnTo>
                  <a:lnTo>
                    <a:pt x="13906" y="1320208"/>
                  </a:lnTo>
                  <a:close/>
                </a:path>
                <a:path w="13970" h="1987550">
                  <a:moveTo>
                    <a:pt x="13906" y="1422025"/>
                  </a:moveTo>
                  <a:lnTo>
                    <a:pt x="0" y="1422025"/>
                  </a:lnTo>
                  <a:lnTo>
                    <a:pt x="0" y="1477678"/>
                  </a:lnTo>
                  <a:lnTo>
                    <a:pt x="13906" y="1477678"/>
                  </a:lnTo>
                  <a:lnTo>
                    <a:pt x="13906" y="1422025"/>
                  </a:lnTo>
                  <a:close/>
                </a:path>
                <a:path w="13970" h="1987550">
                  <a:moveTo>
                    <a:pt x="13906" y="1523842"/>
                  </a:moveTo>
                  <a:lnTo>
                    <a:pt x="0" y="1523842"/>
                  </a:lnTo>
                  <a:lnTo>
                    <a:pt x="0" y="1579495"/>
                  </a:lnTo>
                  <a:lnTo>
                    <a:pt x="13906" y="1579495"/>
                  </a:lnTo>
                  <a:lnTo>
                    <a:pt x="13906" y="1523842"/>
                  </a:lnTo>
                  <a:close/>
                </a:path>
                <a:path w="13970" h="1987550">
                  <a:moveTo>
                    <a:pt x="13906" y="1626122"/>
                  </a:moveTo>
                  <a:lnTo>
                    <a:pt x="0" y="1626122"/>
                  </a:lnTo>
                  <a:lnTo>
                    <a:pt x="0" y="1677031"/>
                  </a:lnTo>
                  <a:lnTo>
                    <a:pt x="9077" y="1681794"/>
                  </a:lnTo>
                  <a:lnTo>
                    <a:pt x="13906" y="1677031"/>
                  </a:lnTo>
                  <a:lnTo>
                    <a:pt x="13906" y="1626122"/>
                  </a:lnTo>
                  <a:close/>
                </a:path>
                <a:path w="13970" h="1987550">
                  <a:moveTo>
                    <a:pt x="9077" y="1621359"/>
                  </a:moveTo>
                  <a:lnTo>
                    <a:pt x="4635" y="1626122"/>
                  </a:lnTo>
                  <a:lnTo>
                    <a:pt x="9077" y="1626122"/>
                  </a:lnTo>
                  <a:lnTo>
                    <a:pt x="9077" y="1621359"/>
                  </a:lnTo>
                  <a:close/>
                </a:path>
                <a:path w="13970" h="1987550">
                  <a:moveTo>
                    <a:pt x="9077" y="1723176"/>
                  </a:moveTo>
                  <a:lnTo>
                    <a:pt x="4635" y="1723176"/>
                  </a:lnTo>
                  <a:lnTo>
                    <a:pt x="0" y="1727939"/>
                  </a:lnTo>
                  <a:lnTo>
                    <a:pt x="0" y="1778848"/>
                  </a:lnTo>
                  <a:lnTo>
                    <a:pt x="9077" y="1783592"/>
                  </a:lnTo>
                  <a:lnTo>
                    <a:pt x="13906" y="1778848"/>
                  </a:lnTo>
                  <a:lnTo>
                    <a:pt x="13906" y="1727939"/>
                  </a:lnTo>
                  <a:lnTo>
                    <a:pt x="9077" y="1723176"/>
                  </a:lnTo>
                  <a:close/>
                </a:path>
                <a:path w="13970" h="1987550">
                  <a:moveTo>
                    <a:pt x="9077" y="1824993"/>
                  </a:moveTo>
                  <a:lnTo>
                    <a:pt x="4635" y="1824993"/>
                  </a:lnTo>
                  <a:lnTo>
                    <a:pt x="0" y="1829757"/>
                  </a:lnTo>
                  <a:lnTo>
                    <a:pt x="0" y="1880646"/>
                  </a:lnTo>
                  <a:lnTo>
                    <a:pt x="9077" y="1885409"/>
                  </a:lnTo>
                  <a:lnTo>
                    <a:pt x="13906" y="1880646"/>
                  </a:lnTo>
                  <a:lnTo>
                    <a:pt x="13906" y="1829757"/>
                  </a:lnTo>
                  <a:lnTo>
                    <a:pt x="9077" y="1824993"/>
                  </a:lnTo>
                  <a:close/>
                </a:path>
                <a:path w="13970" h="1987550">
                  <a:moveTo>
                    <a:pt x="13906" y="1927279"/>
                  </a:moveTo>
                  <a:lnTo>
                    <a:pt x="0" y="1927279"/>
                  </a:lnTo>
                  <a:lnTo>
                    <a:pt x="0" y="1982469"/>
                  </a:lnTo>
                  <a:lnTo>
                    <a:pt x="9077" y="1987226"/>
                  </a:lnTo>
                  <a:lnTo>
                    <a:pt x="13906" y="1982469"/>
                  </a:lnTo>
                  <a:lnTo>
                    <a:pt x="13906" y="1927279"/>
                  </a:lnTo>
                  <a:close/>
                </a:path>
              </a:pathLst>
            </a:custGeom>
            <a:solidFill>
              <a:srgbClr val="000000"/>
            </a:solidFill>
          </p:spPr>
          <p:txBody>
            <a:bodyPr wrap="square" lIns="0" tIns="0" rIns="0" bIns="0" rtlCol="0"/>
            <a:lstStyle/>
            <a:p/>
          </p:txBody>
        </p:sp>
        <p:sp>
          <p:nvSpPr>
            <p:cNvPr id="27" name="object 27" descr=""/>
            <p:cNvSpPr/>
            <p:nvPr/>
          </p:nvSpPr>
          <p:spPr>
            <a:xfrm>
              <a:off x="7919603" y="4033302"/>
              <a:ext cx="13970" cy="1987550"/>
            </a:xfrm>
            <a:custGeom>
              <a:avLst/>
              <a:gdLst/>
              <a:ahLst/>
              <a:cxnLst/>
              <a:rect l="l" t="t" r="r" b="b"/>
              <a:pathLst>
                <a:path w="13970" h="1987550">
                  <a:moveTo>
                    <a:pt x="13906" y="9063"/>
                  </a:moveTo>
                  <a:lnTo>
                    <a:pt x="13906" y="50908"/>
                  </a:lnTo>
                  <a:lnTo>
                    <a:pt x="13906" y="55729"/>
                  </a:lnTo>
                  <a:lnTo>
                    <a:pt x="9077" y="59971"/>
                  </a:lnTo>
                  <a:lnTo>
                    <a:pt x="0" y="55729"/>
                  </a:lnTo>
                  <a:lnTo>
                    <a:pt x="0" y="50908"/>
                  </a:lnTo>
                  <a:lnTo>
                    <a:pt x="0" y="9063"/>
                  </a:lnTo>
                  <a:lnTo>
                    <a:pt x="0" y="4820"/>
                  </a:lnTo>
                  <a:lnTo>
                    <a:pt x="4635" y="4820"/>
                  </a:lnTo>
                  <a:lnTo>
                    <a:pt x="9077" y="0"/>
                  </a:lnTo>
                  <a:lnTo>
                    <a:pt x="9077" y="4820"/>
                  </a:lnTo>
                  <a:lnTo>
                    <a:pt x="13906" y="4820"/>
                  </a:lnTo>
                  <a:lnTo>
                    <a:pt x="13906" y="9063"/>
                  </a:lnTo>
                  <a:close/>
                </a:path>
                <a:path w="13970" h="1987550">
                  <a:moveTo>
                    <a:pt x="13906" y="111266"/>
                  </a:moveTo>
                  <a:lnTo>
                    <a:pt x="13906" y="152687"/>
                  </a:lnTo>
                  <a:lnTo>
                    <a:pt x="13906" y="157450"/>
                  </a:lnTo>
                  <a:lnTo>
                    <a:pt x="9077" y="162213"/>
                  </a:lnTo>
                  <a:lnTo>
                    <a:pt x="0" y="157450"/>
                  </a:lnTo>
                  <a:lnTo>
                    <a:pt x="0" y="152687"/>
                  </a:lnTo>
                  <a:lnTo>
                    <a:pt x="0" y="111266"/>
                  </a:lnTo>
                  <a:lnTo>
                    <a:pt x="0" y="106445"/>
                  </a:lnTo>
                  <a:lnTo>
                    <a:pt x="4635" y="101817"/>
                  </a:lnTo>
                  <a:lnTo>
                    <a:pt x="9077" y="101817"/>
                  </a:lnTo>
                  <a:lnTo>
                    <a:pt x="13906" y="106445"/>
                  </a:lnTo>
                  <a:lnTo>
                    <a:pt x="13906" y="111266"/>
                  </a:lnTo>
                  <a:close/>
                </a:path>
                <a:path w="13970" h="1987550">
                  <a:moveTo>
                    <a:pt x="13906" y="213102"/>
                  </a:moveTo>
                  <a:lnTo>
                    <a:pt x="13906" y="254504"/>
                  </a:lnTo>
                  <a:lnTo>
                    <a:pt x="13906" y="259267"/>
                  </a:lnTo>
                  <a:lnTo>
                    <a:pt x="9077" y="264010"/>
                  </a:lnTo>
                  <a:lnTo>
                    <a:pt x="0" y="259267"/>
                  </a:lnTo>
                  <a:lnTo>
                    <a:pt x="0" y="254504"/>
                  </a:lnTo>
                  <a:lnTo>
                    <a:pt x="0" y="213102"/>
                  </a:lnTo>
                  <a:lnTo>
                    <a:pt x="0" y="208358"/>
                  </a:lnTo>
                  <a:lnTo>
                    <a:pt x="4635" y="203595"/>
                  </a:lnTo>
                  <a:lnTo>
                    <a:pt x="9077" y="203595"/>
                  </a:lnTo>
                  <a:lnTo>
                    <a:pt x="13906" y="208358"/>
                  </a:lnTo>
                  <a:lnTo>
                    <a:pt x="13906" y="213102"/>
                  </a:lnTo>
                  <a:close/>
                </a:path>
                <a:path w="13970" h="1987550">
                  <a:moveTo>
                    <a:pt x="13906" y="314919"/>
                  </a:moveTo>
                  <a:lnTo>
                    <a:pt x="13906" y="356784"/>
                  </a:lnTo>
                  <a:lnTo>
                    <a:pt x="13906" y="361064"/>
                  </a:lnTo>
                  <a:lnTo>
                    <a:pt x="9077" y="365827"/>
                  </a:lnTo>
                  <a:lnTo>
                    <a:pt x="0" y="361064"/>
                  </a:lnTo>
                  <a:lnTo>
                    <a:pt x="0" y="356784"/>
                  </a:lnTo>
                  <a:lnTo>
                    <a:pt x="0" y="314919"/>
                  </a:lnTo>
                  <a:lnTo>
                    <a:pt x="0" y="310156"/>
                  </a:lnTo>
                  <a:lnTo>
                    <a:pt x="0" y="305875"/>
                  </a:lnTo>
                  <a:lnTo>
                    <a:pt x="4635" y="305875"/>
                  </a:lnTo>
                  <a:lnTo>
                    <a:pt x="9077" y="305875"/>
                  </a:lnTo>
                  <a:lnTo>
                    <a:pt x="13906" y="305875"/>
                  </a:lnTo>
                  <a:lnTo>
                    <a:pt x="13906" y="310156"/>
                  </a:lnTo>
                  <a:lnTo>
                    <a:pt x="13906" y="314919"/>
                  </a:lnTo>
                  <a:close/>
                </a:path>
                <a:path w="13970" h="1987550">
                  <a:moveTo>
                    <a:pt x="13906" y="412455"/>
                  </a:moveTo>
                  <a:lnTo>
                    <a:pt x="13906" y="458601"/>
                  </a:lnTo>
                  <a:lnTo>
                    <a:pt x="13906" y="463364"/>
                  </a:lnTo>
                  <a:lnTo>
                    <a:pt x="9077" y="463364"/>
                  </a:lnTo>
                  <a:lnTo>
                    <a:pt x="0" y="463364"/>
                  </a:lnTo>
                  <a:lnTo>
                    <a:pt x="0" y="458601"/>
                  </a:lnTo>
                  <a:lnTo>
                    <a:pt x="0" y="412455"/>
                  </a:lnTo>
                  <a:lnTo>
                    <a:pt x="0" y="407692"/>
                  </a:lnTo>
                  <a:lnTo>
                    <a:pt x="4635" y="407692"/>
                  </a:lnTo>
                  <a:lnTo>
                    <a:pt x="9077" y="407692"/>
                  </a:lnTo>
                  <a:lnTo>
                    <a:pt x="13906" y="407692"/>
                  </a:lnTo>
                  <a:lnTo>
                    <a:pt x="13906" y="412455"/>
                  </a:lnTo>
                  <a:close/>
                </a:path>
                <a:path w="13970" h="1987550">
                  <a:moveTo>
                    <a:pt x="13906" y="514272"/>
                  </a:moveTo>
                  <a:lnTo>
                    <a:pt x="13906" y="560418"/>
                  </a:lnTo>
                  <a:lnTo>
                    <a:pt x="13906" y="565181"/>
                  </a:lnTo>
                  <a:lnTo>
                    <a:pt x="9077" y="565181"/>
                  </a:lnTo>
                  <a:lnTo>
                    <a:pt x="0" y="565181"/>
                  </a:lnTo>
                  <a:lnTo>
                    <a:pt x="0" y="560418"/>
                  </a:lnTo>
                  <a:lnTo>
                    <a:pt x="0" y="514272"/>
                  </a:lnTo>
                  <a:lnTo>
                    <a:pt x="0" y="509509"/>
                  </a:lnTo>
                  <a:lnTo>
                    <a:pt x="4635" y="509509"/>
                  </a:lnTo>
                  <a:lnTo>
                    <a:pt x="9077" y="509509"/>
                  </a:lnTo>
                  <a:lnTo>
                    <a:pt x="13906" y="509509"/>
                  </a:lnTo>
                  <a:lnTo>
                    <a:pt x="13906" y="514272"/>
                  </a:lnTo>
                  <a:close/>
                </a:path>
                <a:path w="13970" h="1987550">
                  <a:moveTo>
                    <a:pt x="13906" y="616089"/>
                  </a:moveTo>
                  <a:lnTo>
                    <a:pt x="13906" y="662235"/>
                  </a:lnTo>
                  <a:lnTo>
                    <a:pt x="13906" y="666978"/>
                  </a:lnTo>
                  <a:lnTo>
                    <a:pt x="9077" y="666978"/>
                  </a:lnTo>
                  <a:lnTo>
                    <a:pt x="0" y="666978"/>
                  </a:lnTo>
                  <a:lnTo>
                    <a:pt x="0" y="662235"/>
                  </a:lnTo>
                  <a:lnTo>
                    <a:pt x="0" y="616089"/>
                  </a:lnTo>
                  <a:lnTo>
                    <a:pt x="0" y="611326"/>
                  </a:lnTo>
                  <a:lnTo>
                    <a:pt x="4635" y="611326"/>
                  </a:lnTo>
                  <a:lnTo>
                    <a:pt x="9077" y="611326"/>
                  </a:lnTo>
                  <a:lnTo>
                    <a:pt x="13906" y="611326"/>
                  </a:lnTo>
                  <a:lnTo>
                    <a:pt x="13906" y="616089"/>
                  </a:lnTo>
                  <a:close/>
                </a:path>
                <a:path w="13970" h="1987550">
                  <a:moveTo>
                    <a:pt x="13906" y="717887"/>
                  </a:moveTo>
                  <a:lnTo>
                    <a:pt x="13906" y="759752"/>
                  </a:lnTo>
                  <a:lnTo>
                    <a:pt x="13906" y="764515"/>
                  </a:lnTo>
                  <a:lnTo>
                    <a:pt x="13906" y="768796"/>
                  </a:lnTo>
                  <a:lnTo>
                    <a:pt x="9077" y="768796"/>
                  </a:lnTo>
                  <a:lnTo>
                    <a:pt x="0" y="768796"/>
                  </a:lnTo>
                  <a:lnTo>
                    <a:pt x="0" y="764515"/>
                  </a:lnTo>
                  <a:lnTo>
                    <a:pt x="0" y="759752"/>
                  </a:lnTo>
                  <a:lnTo>
                    <a:pt x="0" y="717887"/>
                  </a:lnTo>
                  <a:lnTo>
                    <a:pt x="0" y="713143"/>
                  </a:lnTo>
                  <a:lnTo>
                    <a:pt x="4635" y="713143"/>
                  </a:lnTo>
                  <a:lnTo>
                    <a:pt x="9077" y="713143"/>
                  </a:lnTo>
                  <a:lnTo>
                    <a:pt x="13906" y="713143"/>
                  </a:lnTo>
                  <a:lnTo>
                    <a:pt x="13906" y="717887"/>
                  </a:lnTo>
                  <a:close/>
                </a:path>
                <a:path w="13970" h="1987550">
                  <a:moveTo>
                    <a:pt x="13906" y="819704"/>
                  </a:moveTo>
                  <a:lnTo>
                    <a:pt x="13906" y="861569"/>
                  </a:lnTo>
                  <a:lnTo>
                    <a:pt x="13906" y="866332"/>
                  </a:lnTo>
                  <a:lnTo>
                    <a:pt x="9077" y="871095"/>
                  </a:lnTo>
                  <a:lnTo>
                    <a:pt x="0" y="866332"/>
                  </a:lnTo>
                  <a:lnTo>
                    <a:pt x="0" y="861569"/>
                  </a:lnTo>
                  <a:lnTo>
                    <a:pt x="0" y="819704"/>
                  </a:lnTo>
                  <a:lnTo>
                    <a:pt x="0" y="815423"/>
                  </a:lnTo>
                  <a:lnTo>
                    <a:pt x="4635" y="815423"/>
                  </a:lnTo>
                  <a:lnTo>
                    <a:pt x="9077" y="810660"/>
                  </a:lnTo>
                  <a:lnTo>
                    <a:pt x="9077" y="815423"/>
                  </a:lnTo>
                  <a:lnTo>
                    <a:pt x="13906" y="815423"/>
                  </a:lnTo>
                  <a:lnTo>
                    <a:pt x="13906" y="819704"/>
                  </a:lnTo>
                  <a:close/>
                </a:path>
                <a:path w="13970" h="1987550">
                  <a:moveTo>
                    <a:pt x="13906" y="922003"/>
                  </a:moveTo>
                  <a:lnTo>
                    <a:pt x="13906" y="963386"/>
                  </a:lnTo>
                  <a:lnTo>
                    <a:pt x="13906" y="968149"/>
                  </a:lnTo>
                  <a:lnTo>
                    <a:pt x="9077" y="972893"/>
                  </a:lnTo>
                  <a:lnTo>
                    <a:pt x="0" y="968149"/>
                  </a:lnTo>
                  <a:lnTo>
                    <a:pt x="0" y="963386"/>
                  </a:lnTo>
                  <a:lnTo>
                    <a:pt x="0" y="922003"/>
                  </a:lnTo>
                  <a:lnTo>
                    <a:pt x="0" y="917240"/>
                  </a:lnTo>
                  <a:lnTo>
                    <a:pt x="4635" y="912477"/>
                  </a:lnTo>
                  <a:lnTo>
                    <a:pt x="9077" y="912477"/>
                  </a:lnTo>
                  <a:lnTo>
                    <a:pt x="13906" y="917240"/>
                  </a:lnTo>
                  <a:lnTo>
                    <a:pt x="13906" y="922003"/>
                  </a:lnTo>
                  <a:close/>
                </a:path>
                <a:path w="13970" h="1987550">
                  <a:moveTo>
                    <a:pt x="13906" y="1023801"/>
                  </a:moveTo>
                  <a:lnTo>
                    <a:pt x="13906" y="1065203"/>
                  </a:lnTo>
                  <a:lnTo>
                    <a:pt x="13906" y="1069966"/>
                  </a:lnTo>
                  <a:lnTo>
                    <a:pt x="9077" y="1074710"/>
                  </a:lnTo>
                  <a:lnTo>
                    <a:pt x="0" y="1069966"/>
                  </a:lnTo>
                  <a:lnTo>
                    <a:pt x="0" y="1065203"/>
                  </a:lnTo>
                  <a:lnTo>
                    <a:pt x="0" y="1023801"/>
                  </a:lnTo>
                  <a:lnTo>
                    <a:pt x="0" y="1019057"/>
                  </a:lnTo>
                  <a:lnTo>
                    <a:pt x="4635" y="1014294"/>
                  </a:lnTo>
                  <a:lnTo>
                    <a:pt x="9077" y="1014294"/>
                  </a:lnTo>
                  <a:lnTo>
                    <a:pt x="13906" y="1019057"/>
                  </a:lnTo>
                  <a:lnTo>
                    <a:pt x="13906" y="1023801"/>
                  </a:lnTo>
                  <a:close/>
                </a:path>
                <a:path w="13970" h="1987550">
                  <a:moveTo>
                    <a:pt x="13906" y="1125618"/>
                  </a:moveTo>
                  <a:lnTo>
                    <a:pt x="13906" y="1167483"/>
                  </a:lnTo>
                  <a:lnTo>
                    <a:pt x="13906" y="1171764"/>
                  </a:lnTo>
                  <a:lnTo>
                    <a:pt x="9077" y="1176527"/>
                  </a:lnTo>
                  <a:lnTo>
                    <a:pt x="0" y="1171764"/>
                  </a:lnTo>
                  <a:lnTo>
                    <a:pt x="0" y="1167483"/>
                  </a:lnTo>
                  <a:lnTo>
                    <a:pt x="0" y="1125618"/>
                  </a:lnTo>
                  <a:lnTo>
                    <a:pt x="0" y="1120855"/>
                  </a:lnTo>
                  <a:lnTo>
                    <a:pt x="0" y="1116574"/>
                  </a:lnTo>
                  <a:lnTo>
                    <a:pt x="4635" y="1116574"/>
                  </a:lnTo>
                  <a:lnTo>
                    <a:pt x="9077" y="1116574"/>
                  </a:lnTo>
                  <a:lnTo>
                    <a:pt x="13906" y="1116574"/>
                  </a:lnTo>
                  <a:lnTo>
                    <a:pt x="13906" y="1120855"/>
                  </a:lnTo>
                  <a:lnTo>
                    <a:pt x="13906" y="1125618"/>
                  </a:lnTo>
                  <a:close/>
                </a:path>
                <a:path w="13970" h="1987550">
                  <a:moveTo>
                    <a:pt x="13906" y="1223154"/>
                  </a:moveTo>
                  <a:lnTo>
                    <a:pt x="13906" y="1269300"/>
                  </a:lnTo>
                  <a:lnTo>
                    <a:pt x="13906" y="1274063"/>
                  </a:lnTo>
                  <a:lnTo>
                    <a:pt x="9077" y="1274063"/>
                  </a:lnTo>
                  <a:lnTo>
                    <a:pt x="0" y="1274063"/>
                  </a:lnTo>
                  <a:lnTo>
                    <a:pt x="0" y="1269300"/>
                  </a:lnTo>
                  <a:lnTo>
                    <a:pt x="0" y="1223154"/>
                  </a:lnTo>
                  <a:lnTo>
                    <a:pt x="0" y="1218391"/>
                  </a:lnTo>
                  <a:lnTo>
                    <a:pt x="4635" y="1218391"/>
                  </a:lnTo>
                  <a:lnTo>
                    <a:pt x="9077" y="1218391"/>
                  </a:lnTo>
                  <a:lnTo>
                    <a:pt x="13906" y="1218391"/>
                  </a:lnTo>
                  <a:lnTo>
                    <a:pt x="13906" y="1223154"/>
                  </a:lnTo>
                  <a:close/>
                </a:path>
                <a:path w="13970" h="1987550">
                  <a:moveTo>
                    <a:pt x="13906" y="1324971"/>
                  </a:moveTo>
                  <a:lnTo>
                    <a:pt x="13906" y="1371117"/>
                  </a:lnTo>
                  <a:lnTo>
                    <a:pt x="13906" y="1375880"/>
                  </a:lnTo>
                  <a:lnTo>
                    <a:pt x="9077" y="1375880"/>
                  </a:lnTo>
                  <a:lnTo>
                    <a:pt x="0" y="1375880"/>
                  </a:lnTo>
                  <a:lnTo>
                    <a:pt x="0" y="1371117"/>
                  </a:lnTo>
                  <a:lnTo>
                    <a:pt x="0" y="1324971"/>
                  </a:lnTo>
                  <a:lnTo>
                    <a:pt x="0" y="1320208"/>
                  </a:lnTo>
                  <a:lnTo>
                    <a:pt x="4635" y="1320208"/>
                  </a:lnTo>
                  <a:lnTo>
                    <a:pt x="9077" y="1320208"/>
                  </a:lnTo>
                  <a:lnTo>
                    <a:pt x="13906" y="1320208"/>
                  </a:lnTo>
                  <a:lnTo>
                    <a:pt x="13906" y="1324971"/>
                  </a:lnTo>
                  <a:close/>
                </a:path>
                <a:path w="13970" h="1987550">
                  <a:moveTo>
                    <a:pt x="13906" y="1426769"/>
                  </a:moveTo>
                  <a:lnTo>
                    <a:pt x="13906" y="1472934"/>
                  </a:lnTo>
                  <a:lnTo>
                    <a:pt x="13906" y="1477678"/>
                  </a:lnTo>
                  <a:lnTo>
                    <a:pt x="9077" y="1477678"/>
                  </a:lnTo>
                  <a:lnTo>
                    <a:pt x="0" y="1477678"/>
                  </a:lnTo>
                  <a:lnTo>
                    <a:pt x="0" y="1472934"/>
                  </a:lnTo>
                  <a:lnTo>
                    <a:pt x="0" y="1426769"/>
                  </a:lnTo>
                  <a:lnTo>
                    <a:pt x="0" y="1422025"/>
                  </a:lnTo>
                  <a:lnTo>
                    <a:pt x="4635" y="1422025"/>
                  </a:lnTo>
                  <a:lnTo>
                    <a:pt x="9077" y="1422025"/>
                  </a:lnTo>
                  <a:lnTo>
                    <a:pt x="13906" y="1422025"/>
                  </a:lnTo>
                  <a:lnTo>
                    <a:pt x="13906" y="1426769"/>
                  </a:lnTo>
                  <a:close/>
                </a:path>
                <a:path w="13970" h="1987550">
                  <a:moveTo>
                    <a:pt x="13906" y="1528586"/>
                  </a:moveTo>
                  <a:lnTo>
                    <a:pt x="13906" y="1570451"/>
                  </a:lnTo>
                  <a:lnTo>
                    <a:pt x="13906" y="1575214"/>
                  </a:lnTo>
                  <a:lnTo>
                    <a:pt x="13906" y="1579495"/>
                  </a:lnTo>
                  <a:lnTo>
                    <a:pt x="9077" y="1579495"/>
                  </a:lnTo>
                  <a:lnTo>
                    <a:pt x="0" y="1579495"/>
                  </a:lnTo>
                  <a:lnTo>
                    <a:pt x="0" y="1575214"/>
                  </a:lnTo>
                  <a:lnTo>
                    <a:pt x="0" y="1570451"/>
                  </a:lnTo>
                  <a:lnTo>
                    <a:pt x="0" y="1528586"/>
                  </a:lnTo>
                  <a:lnTo>
                    <a:pt x="0" y="1523842"/>
                  </a:lnTo>
                  <a:lnTo>
                    <a:pt x="4635" y="1523842"/>
                  </a:lnTo>
                  <a:lnTo>
                    <a:pt x="9077" y="1523842"/>
                  </a:lnTo>
                  <a:lnTo>
                    <a:pt x="13906" y="1523842"/>
                  </a:lnTo>
                  <a:lnTo>
                    <a:pt x="13906" y="1528586"/>
                  </a:lnTo>
                  <a:close/>
                </a:path>
                <a:path w="13970" h="1987550">
                  <a:moveTo>
                    <a:pt x="13906" y="1630403"/>
                  </a:moveTo>
                  <a:lnTo>
                    <a:pt x="13906" y="1672268"/>
                  </a:lnTo>
                  <a:lnTo>
                    <a:pt x="13906" y="1677031"/>
                  </a:lnTo>
                  <a:lnTo>
                    <a:pt x="9077" y="1681794"/>
                  </a:lnTo>
                  <a:lnTo>
                    <a:pt x="0" y="1677031"/>
                  </a:lnTo>
                  <a:lnTo>
                    <a:pt x="0" y="1672268"/>
                  </a:lnTo>
                  <a:lnTo>
                    <a:pt x="0" y="1630403"/>
                  </a:lnTo>
                  <a:lnTo>
                    <a:pt x="0" y="1626122"/>
                  </a:lnTo>
                  <a:lnTo>
                    <a:pt x="4635" y="1626122"/>
                  </a:lnTo>
                  <a:lnTo>
                    <a:pt x="9077" y="1621359"/>
                  </a:lnTo>
                  <a:lnTo>
                    <a:pt x="9077" y="1626122"/>
                  </a:lnTo>
                  <a:lnTo>
                    <a:pt x="13906" y="1626122"/>
                  </a:lnTo>
                  <a:lnTo>
                    <a:pt x="13906" y="1630403"/>
                  </a:lnTo>
                  <a:close/>
                </a:path>
                <a:path w="13970" h="1987550">
                  <a:moveTo>
                    <a:pt x="13906" y="1732702"/>
                  </a:moveTo>
                  <a:lnTo>
                    <a:pt x="13906" y="1774085"/>
                  </a:lnTo>
                  <a:lnTo>
                    <a:pt x="13906" y="1778848"/>
                  </a:lnTo>
                  <a:lnTo>
                    <a:pt x="9077" y="1783592"/>
                  </a:lnTo>
                  <a:lnTo>
                    <a:pt x="0" y="1778848"/>
                  </a:lnTo>
                  <a:lnTo>
                    <a:pt x="0" y="1774085"/>
                  </a:lnTo>
                  <a:lnTo>
                    <a:pt x="0" y="1732702"/>
                  </a:lnTo>
                  <a:lnTo>
                    <a:pt x="0" y="1727939"/>
                  </a:lnTo>
                  <a:lnTo>
                    <a:pt x="4635" y="1723176"/>
                  </a:lnTo>
                  <a:lnTo>
                    <a:pt x="9077" y="1723176"/>
                  </a:lnTo>
                  <a:lnTo>
                    <a:pt x="13906" y="1727939"/>
                  </a:lnTo>
                  <a:lnTo>
                    <a:pt x="13906" y="1732702"/>
                  </a:lnTo>
                  <a:close/>
                </a:path>
                <a:path w="13970" h="1987550">
                  <a:moveTo>
                    <a:pt x="13906" y="1834500"/>
                  </a:moveTo>
                  <a:lnTo>
                    <a:pt x="13906" y="1876365"/>
                  </a:lnTo>
                  <a:lnTo>
                    <a:pt x="13906" y="1880646"/>
                  </a:lnTo>
                  <a:lnTo>
                    <a:pt x="9077" y="1885409"/>
                  </a:lnTo>
                  <a:lnTo>
                    <a:pt x="0" y="1880646"/>
                  </a:lnTo>
                  <a:lnTo>
                    <a:pt x="0" y="1876365"/>
                  </a:lnTo>
                  <a:lnTo>
                    <a:pt x="0" y="1834500"/>
                  </a:lnTo>
                  <a:lnTo>
                    <a:pt x="0" y="1829756"/>
                  </a:lnTo>
                  <a:lnTo>
                    <a:pt x="4635" y="1824993"/>
                  </a:lnTo>
                  <a:lnTo>
                    <a:pt x="9077" y="1824993"/>
                  </a:lnTo>
                  <a:lnTo>
                    <a:pt x="13906" y="1829756"/>
                  </a:lnTo>
                  <a:lnTo>
                    <a:pt x="13906" y="1834500"/>
                  </a:lnTo>
                  <a:close/>
                </a:path>
                <a:path w="13970" h="1987550">
                  <a:moveTo>
                    <a:pt x="13906" y="1936319"/>
                  </a:moveTo>
                  <a:lnTo>
                    <a:pt x="13906" y="1978186"/>
                  </a:lnTo>
                  <a:lnTo>
                    <a:pt x="13906" y="1982469"/>
                  </a:lnTo>
                  <a:lnTo>
                    <a:pt x="9077" y="1987226"/>
                  </a:lnTo>
                  <a:lnTo>
                    <a:pt x="0" y="1982469"/>
                  </a:lnTo>
                  <a:lnTo>
                    <a:pt x="0" y="1978186"/>
                  </a:lnTo>
                  <a:lnTo>
                    <a:pt x="0" y="1936319"/>
                  </a:lnTo>
                  <a:lnTo>
                    <a:pt x="0" y="1931562"/>
                  </a:lnTo>
                  <a:lnTo>
                    <a:pt x="0" y="1927279"/>
                  </a:lnTo>
                  <a:lnTo>
                    <a:pt x="4635" y="1927279"/>
                  </a:lnTo>
                  <a:lnTo>
                    <a:pt x="9077" y="1927279"/>
                  </a:lnTo>
                  <a:lnTo>
                    <a:pt x="13906" y="1927279"/>
                  </a:lnTo>
                  <a:lnTo>
                    <a:pt x="13906" y="1931562"/>
                  </a:lnTo>
                  <a:lnTo>
                    <a:pt x="13906" y="1936319"/>
                  </a:lnTo>
                  <a:close/>
                </a:path>
              </a:pathLst>
            </a:custGeom>
            <a:ln w="4780">
              <a:solidFill>
                <a:srgbClr val="000000"/>
              </a:solidFill>
            </a:ln>
          </p:spPr>
          <p:txBody>
            <a:bodyPr wrap="square" lIns="0" tIns="0" rIns="0" bIns="0" rtlCol="0"/>
            <a:lstStyle/>
            <a:p/>
          </p:txBody>
        </p:sp>
        <p:sp>
          <p:nvSpPr>
            <p:cNvPr id="28" name="object 28" descr=""/>
            <p:cNvSpPr/>
            <p:nvPr/>
          </p:nvSpPr>
          <p:spPr>
            <a:xfrm>
              <a:off x="8569325" y="4033302"/>
              <a:ext cx="13970" cy="1987550"/>
            </a:xfrm>
            <a:custGeom>
              <a:avLst/>
              <a:gdLst/>
              <a:ahLst/>
              <a:cxnLst/>
              <a:rect l="l" t="t" r="r" b="b"/>
              <a:pathLst>
                <a:path w="13970" h="1987550">
                  <a:moveTo>
                    <a:pt x="13712" y="4820"/>
                  </a:moveTo>
                  <a:lnTo>
                    <a:pt x="0" y="4820"/>
                  </a:lnTo>
                  <a:lnTo>
                    <a:pt x="0" y="55729"/>
                  </a:lnTo>
                  <a:lnTo>
                    <a:pt x="9077" y="59971"/>
                  </a:lnTo>
                  <a:lnTo>
                    <a:pt x="13712" y="55729"/>
                  </a:lnTo>
                  <a:lnTo>
                    <a:pt x="13712" y="4820"/>
                  </a:lnTo>
                  <a:close/>
                </a:path>
                <a:path w="13970" h="1987550">
                  <a:moveTo>
                    <a:pt x="9077" y="0"/>
                  </a:moveTo>
                  <a:lnTo>
                    <a:pt x="4635" y="4820"/>
                  </a:lnTo>
                  <a:lnTo>
                    <a:pt x="9077" y="4820"/>
                  </a:lnTo>
                  <a:lnTo>
                    <a:pt x="9077" y="0"/>
                  </a:lnTo>
                  <a:close/>
                </a:path>
                <a:path w="13970" h="1987550">
                  <a:moveTo>
                    <a:pt x="9077" y="101817"/>
                  </a:moveTo>
                  <a:lnTo>
                    <a:pt x="4635" y="101817"/>
                  </a:lnTo>
                  <a:lnTo>
                    <a:pt x="0" y="106445"/>
                  </a:lnTo>
                  <a:lnTo>
                    <a:pt x="0" y="157450"/>
                  </a:lnTo>
                  <a:lnTo>
                    <a:pt x="9077" y="162213"/>
                  </a:lnTo>
                  <a:lnTo>
                    <a:pt x="13712" y="157450"/>
                  </a:lnTo>
                  <a:lnTo>
                    <a:pt x="13712" y="106445"/>
                  </a:lnTo>
                  <a:lnTo>
                    <a:pt x="9077" y="101817"/>
                  </a:lnTo>
                  <a:close/>
                </a:path>
                <a:path w="13970" h="1987550">
                  <a:moveTo>
                    <a:pt x="9077" y="203595"/>
                  </a:moveTo>
                  <a:lnTo>
                    <a:pt x="4635" y="203595"/>
                  </a:lnTo>
                  <a:lnTo>
                    <a:pt x="0" y="208358"/>
                  </a:lnTo>
                  <a:lnTo>
                    <a:pt x="0" y="259267"/>
                  </a:lnTo>
                  <a:lnTo>
                    <a:pt x="9077" y="264010"/>
                  </a:lnTo>
                  <a:lnTo>
                    <a:pt x="13712" y="259267"/>
                  </a:lnTo>
                  <a:lnTo>
                    <a:pt x="13712" y="208358"/>
                  </a:lnTo>
                  <a:lnTo>
                    <a:pt x="9077" y="203595"/>
                  </a:lnTo>
                  <a:close/>
                </a:path>
                <a:path w="13970" h="1987550">
                  <a:moveTo>
                    <a:pt x="13712" y="305875"/>
                  </a:moveTo>
                  <a:lnTo>
                    <a:pt x="0" y="305875"/>
                  </a:lnTo>
                  <a:lnTo>
                    <a:pt x="0" y="361064"/>
                  </a:lnTo>
                  <a:lnTo>
                    <a:pt x="9077" y="365827"/>
                  </a:lnTo>
                  <a:lnTo>
                    <a:pt x="13712" y="361064"/>
                  </a:lnTo>
                  <a:lnTo>
                    <a:pt x="13712" y="305875"/>
                  </a:lnTo>
                  <a:close/>
                </a:path>
                <a:path w="13970" h="1987550">
                  <a:moveTo>
                    <a:pt x="13712" y="407692"/>
                  </a:moveTo>
                  <a:lnTo>
                    <a:pt x="0" y="407692"/>
                  </a:lnTo>
                  <a:lnTo>
                    <a:pt x="0" y="463364"/>
                  </a:lnTo>
                  <a:lnTo>
                    <a:pt x="13712" y="463364"/>
                  </a:lnTo>
                  <a:lnTo>
                    <a:pt x="13712" y="407692"/>
                  </a:lnTo>
                  <a:close/>
                </a:path>
                <a:path w="13970" h="1987550">
                  <a:moveTo>
                    <a:pt x="13712" y="509509"/>
                  </a:moveTo>
                  <a:lnTo>
                    <a:pt x="0" y="509509"/>
                  </a:lnTo>
                  <a:lnTo>
                    <a:pt x="0" y="565181"/>
                  </a:lnTo>
                  <a:lnTo>
                    <a:pt x="13712" y="565181"/>
                  </a:lnTo>
                  <a:lnTo>
                    <a:pt x="13712" y="509509"/>
                  </a:lnTo>
                  <a:close/>
                </a:path>
                <a:path w="13970" h="1987550">
                  <a:moveTo>
                    <a:pt x="13712" y="611326"/>
                  </a:moveTo>
                  <a:lnTo>
                    <a:pt x="0" y="611326"/>
                  </a:lnTo>
                  <a:lnTo>
                    <a:pt x="0" y="666978"/>
                  </a:lnTo>
                  <a:lnTo>
                    <a:pt x="13712" y="666978"/>
                  </a:lnTo>
                  <a:lnTo>
                    <a:pt x="13712" y="611326"/>
                  </a:lnTo>
                  <a:close/>
                </a:path>
                <a:path w="13970" h="1987550">
                  <a:moveTo>
                    <a:pt x="13712" y="713143"/>
                  </a:moveTo>
                  <a:lnTo>
                    <a:pt x="0" y="713143"/>
                  </a:lnTo>
                  <a:lnTo>
                    <a:pt x="0" y="768796"/>
                  </a:lnTo>
                  <a:lnTo>
                    <a:pt x="13712" y="768796"/>
                  </a:lnTo>
                  <a:lnTo>
                    <a:pt x="13712" y="713143"/>
                  </a:lnTo>
                  <a:close/>
                </a:path>
                <a:path w="13970" h="1987550">
                  <a:moveTo>
                    <a:pt x="13713" y="815423"/>
                  </a:moveTo>
                  <a:lnTo>
                    <a:pt x="0" y="815423"/>
                  </a:lnTo>
                  <a:lnTo>
                    <a:pt x="0" y="866332"/>
                  </a:lnTo>
                  <a:lnTo>
                    <a:pt x="9077" y="871095"/>
                  </a:lnTo>
                  <a:lnTo>
                    <a:pt x="13713" y="866332"/>
                  </a:lnTo>
                  <a:lnTo>
                    <a:pt x="13713" y="815423"/>
                  </a:lnTo>
                  <a:close/>
                </a:path>
                <a:path w="13970" h="1987550">
                  <a:moveTo>
                    <a:pt x="9077" y="810660"/>
                  </a:moveTo>
                  <a:lnTo>
                    <a:pt x="4635" y="815423"/>
                  </a:lnTo>
                  <a:lnTo>
                    <a:pt x="9077" y="815423"/>
                  </a:lnTo>
                  <a:lnTo>
                    <a:pt x="9077" y="810660"/>
                  </a:lnTo>
                  <a:close/>
                </a:path>
                <a:path w="13970" h="1987550">
                  <a:moveTo>
                    <a:pt x="9077" y="912477"/>
                  </a:moveTo>
                  <a:lnTo>
                    <a:pt x="4635" y="912477"/>
                  </a:lnTo>
                  <a:lnTo>
                    <a:pt x="0" y="917240"/>
                  </a:lnTo>
                  <a:lnTo>
                    <a:pt x="0" y="968149"/>
                  </a:lnTo>
                  <a:lnTo>
                    <a:pt x="9077" y="972893"/>
                  </a:lnTo>
                  <a:lnTo>
                    <a:pt x="13713" y="968149"/>
                  </a:lnTo>
                  <a:lnTo>
                    <a:pt x="13713" y="917240"/>
                  </a:lnTo>
                  <a:lnTo>
                    <a:pt x="9077" y="912477"/>
                  </a:lnTo>
                  <a:close/>
                </a:path>
                <a:path w="13970" h="1987550">
                  <a:moveTo>
                    <a:pt x="9077" y="1014294"/>
                  </a:moveTo>
                  <a:lnTo>
                    <a:pt x="4635" y="1014294"/>
                  </a:lnTo>
                  <a:lnTo>
                    <a:pt x="0" y="1019057"/>
                  </a:lnTo>
                  <a:lnTo>
                    <a:pt x="0" y="1069966"/>
                  </a:lnTo>
                  <a:lnTo>
                    <a:pt x="9077" y="1074710"/>
                  </a:lnTo>
                  <a:lnTo>
                    <a:pt x="13713" y="1069966"/>
                  </a:lnTo>
                  <a:lnTo>
                    <a:pt x="13713" y="1019057"/>
                  </a:lnTo>
                  <a:lnTo>
                    <a:pt x="9077" y="1014294"/>
                  </a:lnTo>
                  <a:close/>
                </a:path>
                <a:path w="13970" h="1987550">
                  <a:moveTo>
                    <a:pt x="13713" y="1116574"/>
                  </a:moveTo>
                  <a:lnTo>
                    <a:pt x="0" y="1116574"/>
                  </a:lnTo>
                  <a:lnTo>
                    <a:pt x="0" y="1171764"/>
                  </a:lnTo>
                  <a:lnTo>
                    <a:pt x="9077" y="1176527"/>
                  </a:lnTo>
                  <a:lnTo>
                    <a:pt x="13713" y="1171764"/>
                  </a:lnTo>
                  <a:lnTo>
                    <a:pt x="13713" y="1116574"/>
                  </a:lnTo>
                  <a:close/>
                </a:path>
                <a:path w="13970" h="1987550">
                  <a:moveTo>
                    <a:pt x="13713" y="1218391"/>
                  </a:moveTo>
                  <a:lnTo>
                    <a:pt x="0" y="1218391"/>
                  </a:lnTo>
                  <a:lnTo>
                    <a:pt x="0" y="1274063"/>
                  </a:lnTo>
                  <a:lnTo>
                    <a:pt x="13713" y="1274063"/>
                  </a:lnTo>
                  <a:lnTo>
                    <a:pt x="13713" y="1218391"/>
                  </a:lnTo>
                  <a:close/>
                </a:path>
                <a:path w="13970" h="1987550">
                  <a:moveTo>
                    <a:pt x="13713" y="1320208"/>
                  </a:moveTo>
                  <a:lnTo>
                    <a:pt x="0" y="1320208"/>
                  </a:lnTo>
                  <a:lnTo>
                    <a:pt x="0" y="1375880"/>
                  </a:lnTo>
                  <a:lnTo>
                    <a:pt x="13713" y="1375880"/>
                  </a:lnTo>
                  <a:lnTo>
                    <a:pt x="13713" y="1320208"/>
                  </a:lnTo>
                  <a:close/>
                </a:path>
                <a:path w="13970" h="1987550">
                  <a:moveTo>
                    <a:pt x="13713" y="1422025"/>
                  </a:moveTo>
                  <a:lnTo>
                    <a:pt x="0" y="1422025"/>
                  </a:lnTo>
                  <a:lnTo>
                    <a:pt x="0" y="1477678"/>
                  </a:lnTo>
                  <a:lnTo>
                    <a:pt x="13713" y="1477678"/>
                  </a:lnTo>
                  <a:lnTo>
                    <a:pt x="13713" y="1422025"/>
                  </a:lnTo>
                  <a:close/>
                </a:path>
                <a:path w="13970" h="1987550">
                  <a:moveTo>
                    <a:pt x="13713" y="1523842"/>
                  </a:moveTo>
                  <a:lnTo>
                    <a:pt x="0" y="1523842"/>
                  </a:lnTo>
                  <a:lnTo>
                    <a:pt x="0" y="1579495"/>
                  </a:lnTo>
                  <a:lnTo>
                    <a:pt x="13713" y="1579495"/>
                  </a:lnTo>
                  <a:lnTo>
                    <a:pt x="13713" y="1523842"/>
                  </a:lnTo>
                  <a:close/>
                </a:path>
                <a:path w="13970" h="1987550">
                  <a:moveTo>
                    <a:pt x="13713" y="1626122"/>
                  </a:moveTo>
                  <a:lnTo>
                    <a:pt x="0" y="1626122"/>
                  </a:lnTo>
                  <a:lnTo>
                    <a:pt x="0" y="1677031"/>
                  </a:lnTo>
                  <a:lnTo>
                    <a:pt x="9077" y="1681794"/>
                  </a:lnTo>
                  <a:lnTo>
                    <a:pt x="13713" y="1677031"/>
                  </a:lnTo>
                  <a:lnTo>
                    <a:pt x="13713" y="1626122"/>
                  </a:lnTo>
                  <a:close/>
                </a:path>
                <a:path w="13970" h="1987550">
                  <a:moveTo>
                    <a:pt x="9077" y="1621359"/>
                  </a:moveTo>
                  <a:lnTo>
                    <a:pt x="4635" y="1626122"/>
                  </a:lnTo>
                  <a:lnTo>
                    <a:pt x="9077" y="1626122"/>
                  </a:lnTo>
                  <a:lnTo>
                    <a:pt x="9077" y="1621359"/>
                  </a:lnTo>
                  <a:close/>
                </a:path>
                <a:path w="13970" h="1987550">
                  <a:moveTo>
                    <a:pt x="9077" y="1723176"/>
                  </a:moveTo>
                  <a:lnTo>
                    <a:pt x="4635" y="1723176"/>
                  </a:lnTo>
                  <a:lnTo>
                    <a:pt x="0" y="1727939"/>
                  </a:lnTo>
                  <a:lnTo>
                    <a:pt x="0" y="1778848"/>
                  </a:lnTo>
                  <a:lnTo>
                    <a:pt x="9077" y="1783592"/>
                  </a:lnTo>
                  <a:lnTo>
                    <a:pt x="13713" y="1778848"/>
                  </a:lnTo>
                  <a:lnTo>
                    <a:pt x="13713" y="1727939"/>
                  </a:lnTo>
                  <a:lnTo>
                    <a:pt x="9077" y="1723176"/>
                  </a:lnTo>
                  <a:close/>
                </a:path>
                <a:path w="13970" h="1987550">
                  <a:moveTo>
                    <a:pt x="9077" y="1824993"/>
                  </a:moveTo>
                  <a:lnTo>
                    <a:pt x="4635" y="1824993"/>
                  </a:lnTo>
                  <a:lnTo>
                    <a:pt x="0" y="1829757"/>
                  </a:lnTo>
                  <a:lnTo>
                    <a:pt x="0" y="1880646"/>
                  </a:lnTo>
                  <a:lnTo>
                    <a:pt x="9077" y="1885409"/>
                  </a:lnTo>
                  <a:lnTo>
                    <a:pt x="13713" y="1880646"/>
                  </a:lnTo>
                  <a:lnTo>
                    <a:pt x="13713" y="1829757"/>
                  </a:lnTo>
                  <a:lnTo>
                    <a:pt x="9077" y="1824993"/>
                  </a:lnTo>
                  <a:close/>
                </a:path>
                <a:path w="13970" h="1987550">
                  <a:moveTo>
                    <a:pt x="13713" y="1927279"/>
                  </a:moveTo>
                  <a:lnTo>
                    <a:pt x="0" y="1927279"/>
                  </a:lnTo>
                  <a:lnTo>
                    <a:pt x="0" y="1982469"/>
                  </a:lnTo>
                  <a:lnTo>
                    <a:pt x="9077" y="1987226"/>
                  </a:lnTo>
                  <a:lnTo>
                    <a:pt x="13713" y="1982469"/>
                  </a:lnTo>
                  <a:lnTo>
                    <a:pt x="13713" y="1927279"/>
                  </a:lnTo>
                  <a:close/>
                </a:path>
              </a:pathLst>
            </a:custGeom>
            <a:solidFill>
              <a:srgbClr val="000000"/>
            </a:solidFill>
          </p:spPr>
          <p:txBody>
            <a:bodyPr wrap="square" lIns="0" tIns="0" rIns="0" bIns="0" rtlCol="0"/>
            <a:lstStyle/>
            <a:p/>
          </p:txBody>
        </p:sp>
        <p:sp>
          <p:nvSpPr>
            <p:cNvPr id="29" name="object 29" descr=""/>
            <p:cNvSpPr/>
            <p:nvPr/>
          </p:nvSpPr>
          <p:spPr>
            <a:xfrm>
              <a:off x="8569324" y="4033302"/>
              <a:ext cx="13970" cy="1987550"/>
            </a:xfrm>
            <a:custGeom>
              <a:avLst/>
              <a:gdLst/>
              <a:ahLst/>
              <a:cxnLst/>
              <a:rect l="l" t="t" r="r" b="b"/>
              <a:pathLst>
                <a:path w="13970" h="1987550">
                  <a:moveTo>
                    <a:pt x="13712" y="9063"/>
                  </a:moveTo>
                  <a:lnTo>
                    <a:pt x="13712" y="50908"/>
                  </a:lnTo>
                  <a:lnTo>
                    <a:pt x="13712" y="55729"/>
                  </a:lnTo>
                  <a:lnTo>
                    <a:pt x="9077" y="59971"/>
                  </a:lnTo>
                  <a:lnTo>
                    <a:pt x="0" y="55729"/>
                  </a:lnTo>
                  <a:lnTo>
                    <a:pt x="0" y="50908"/>
                  </a:lnTo>
                  <a:lnTo>
                    <a:pt x="0" y="9063"/>
                  </a:lnTo>
                  <a:lnTo>
                    <a:pt x="0" y="4820"/>
                  </a:lnTo>
                  <a:lnTo>
                    <a:pt x="4635" y="4820"/>
                  </a:lnTo>
                  <a:lnTo>
                    <a:pt x="9077" y="0"/>
                  </a:lnTo>
                  <a:lnTo>
                    <a:pt x="9077" y="4820"/>
                  </a:lnTo>
                  <a:lnTo>
                    <a:pt x="13712" y="4820"/>
                  </a:lnTo>
                  <a:lnTo>
                    <a:pt x="13712" y="9063"/>
                  </a:lnTo>
                  <a:close/>
                </a:path>
                <a:path w="13970" h="1987550">
                  <a:moveTo>
                    <a:pt x="13712" y="111266"/>
                  </a:moveTo>
                  <a:lnTo>
                    <a:pt x="13712" y="152687"/>
                  </a:lnTo>
                  <a:lnTo>
                    <a:pt x="13712" y="157450"/>
                  </a:lnTo>
                  <a:lnTo>
                    <a:pt x="9077" y="162213"/>
                  </a:lnTo>
                  <a:lnTo>
                    <a:pt x="0" y="157450"/>
                  </a:lnTo>
                  <a:lnTo>
                    <a:pt x="0" y="152687"/>
                  </a:lnTo>
                  <a:lnTo>
                    <a:pt x="0" y="111266"/>
                  </a:lnTo>
                  <a:lnTo>
                    <a:pt x="0" y="106445"/>
                  </a:lnTo>
                  <a:lnTo>
                    <a:pt x="4635" y="101817"/>
                  </a:lnTo>
                  <a:lnTo>
                    <a:pt x="9077" y="101817"/>
                  </a:lnTo>
                  <a:lnTo>
                    <a:pt x="13712" y="106445"/>
                  </a:lnTo>
                  <a:lnTo>
                    <a:pt x="13712" y="111266"/>
                  </a:lnTo>
                  <a:close/>
                </a:path>
                <a:path w="13970" h="1987550">
                  <a:moveTo>
                    <a:pt x="13712" y="213102"/>
                  </a:moveTo>
                  <a:lnTo>
                    <a:pt x="13712" y="254504"/>
                  </a:lnTo>
                  <a:lnTo>
                    <a:pt x="13712" y="259267"/>
                  </a:lnTo>
                  <a:lnTo>
                    <a:pt x="9077" y="264010"/>
                  </a:lnTo>
                  <a:lnTo>
                    <a:pt x="0" y="259267"/>
                  </a:lnTo>
                  <a:lnTo>
                    <a:pt x="0" y="254504"/>
                  </a:lnTo>
                  <a:lnTo>
                    <a:pt x="0" y="213102"/>
                  </a:lnTo>
                  <a:lnTo>
                    <a:pt x="0" y="208358"/>
                  </a:lnTo>
                  <a:lnTo>
                    <a:pt x="4635" y="203595"/>
                  </a:lnTo>
                  <a:lnTo>
                    <a:pt x="9077" y="203595"/>
                  </a:lnTo>
                  <a:lnTo>
                    <a:pt x="13712" y="208358"/>
                  </a:lnTo>
                  <a:lnTo>
                    <a:pt x="13712" y="213102"/>
                  </a:lnTo>
                  <a:close/>
                </a:path>
                <a:path w="13970" h="1987550">
                  <a:moveTo>
                    <a:pt x="13712" y="314919"/>
                  </a:moveTo>
                  <a:lnTo>
                    <a:pt x="13712" y="356784"/>
                  </a:lnTo>
                  <a:lnTo>
                    <a:pt x="13712" y="361064"/>
                  </a:lnTo>
                  <a:lnTo>
                    <a:pt x="9077" y="365827"/>
                  </a:lnTo>
                  <a:lnTo>
                    <a:pt x="0" y="361064"/>
                  </a:lnTo>
                  <a:lnTo>
                    <a:pt x="0" y="356784"/>
                  </a:lnTo>
                  <a:lnTo>
                    <a:pt x="0" y="314919"/>
                  </a:lnTo>
                  <a:lnTo>
                    <a:pt x="0" y="310156"/>
                  </a:lnTo>
                  <a:lnTo>
                    <a:pt x="0" y="305875"/>
                  </a:lnTo>
                  <a:lnTo>
                    <a:pt x="4635" y="305875"/>
                  </a:lnTo>
                  <a:lnTo>
                    <a:pt x="9077" y="305875"/>
                  </a:lnTo>
                  <a:lnTo>
                    <a:pt x="13712" y="305875"/>
                  </a:lnTo>
                  <a:lnTo>
                    <a:pt x="13712" y="310156"/>
                  </a:lnTo>
                  <a:lnTo>
                    <a:pt x="13712" y="314919"/>
                  </a:lnTo>
                  <a:close/>
                </a:path>
                <a:path w="13970" h="1987550">
                  <a:moveTo>
                    <a:pt x="13712" y="412455"/>
                  </a:moveTo>
                  <a:lnTo>
                    <a:pt x="13712" y="458601"/>
                  </a:lnTo>
                  <a:lnTo>
                    <a:pt x="13712" y="463364"/>
                  </a:lnTo>
                  <a:lnTo>
                    <a:pt x="9077" y="463364"/>
                  </a:lnTo>
                  <a:lnTo>
                    <a:pt x="0" y="463364"/>
                  </a:lnTo>
                  <a:lnTo>
                    <a:pt x="0" y="458601"/>
                  </a:lnTo>
                  <a:lnTo>
                    <a:pt x="0" y="412455"/>
                  </a:lnTo>
                  <a:lnTo>
                    <a:pt x="0" y="407692"/>
                  </a:lnTo>
                  <a:lnTo>
                    <a:pt x="4635" y="407692"/>
                  </a:lnTo>
                  <a:lnTo>
                    <a:pt x="9077" y="407692"/>
                  </a:lnTo>
                  <a:lnTo>
                    <a:pt x="13712" y="407692"/>
                  </a:lnTo>
                  <a:lnTo>
                    <a:pt x="13712" y="412455"/>
                  </a:lnTo>
                  <a:close/>
                </a:path>
                <a:path w="13970" h="1987550">
                  <a:moveTo>
                    <a:pt x="13712" y="514272"/>
                  </a:moveTo>
                  <a:lnTo>
                    <a:pt x="13712" y="560418"/>
                  </a:lnTo>
                  <a:lnTo>
                    <a:pt x="13712" y="565181"/>
                  </a:lnTo>
                  <a:lnTo>
                    <a:pt x="9077" y="565181"/>
                  </a:lnTo>
                  <a:lnTo>
                    <a:pt x="0" y="565181"/>
                  </a:lnTo>
                  <a:lnTo>
                    <a:pt x="0" y="560418"/>
                  </a:lnTo>
                  <a:lnTo>
                    <a:pt x="0" y="514272"/>
                  </a:lnTo>
                  <a:lnTo>
                    <a:pt x="0" y="509509"/>
                  </a:lnTo>
                  <a:lnTo>
                    <a:pt x="4635" y="509509"/>
                  </a:lnTo>
                  <a:lnTo>
                    <a:pt x="9077" y="509509"/>
                  </a:lnTo>
                  <a:lnTo>
                    <a:pt x="13712" y="509509"/>
                  </a:lnTo>
                  <a:lnTo>
                    <a:pt x="13712" y="514272"/>
                  </a:lnTo>
                  <a:close/>
                </a:path>
                <a:path w="13970" h="1987550">
                  <a:moveTo>
                    <a:pt x="13712" y="616089"/>
                  </a:moveTo>
                  <a:lnTo>
                    <a:pt x="13712" y="662235"/>
                  </a:lnTo>
                  <a:lnTo>
                    <a:pt x="13712" y="666978"/>
                  </a:lnTo>
                  <a:lnTo>
                    <a:pt x="9077" y="666978"/>
                  </a:lnTo>
                  <a:lnTo>
                    <a:pt x="0" y="666978"/>
                  </a:lnTo>
                  <a:lnTo>
                    <a:pt x="0" y="662235"/>
                  </a:lnTo>
                  <a:lnTo>
                    <a:pt x="0" y="616089"/>
                  </a:lnTo>
                  <a:lnTo>
                    <a:pt x="0" y="611326"/>
                  </a:lnTo>
                  <a:lnTo>
                    <a:pt x="4635" y="611326"/>
                  </a:lnTo>
                  <a:lnTo>
                    <a:pt x="9077" y="611326"/>
                  </a:lnTo>
                  <a:lnTo>
                    <a:pt x="13712" y="611326"/>
                  </a:lnTo>
                  <a:lnTo>
                    <a:pt x="13712" y="616089"/>
                  </a:lnTo>
                  <a:close/>
                </a:path>
                <a:path w="13970" h="1987550">
                  <a:moveTo>
                    <a:pt x="13712" y="717887"/>
                  </a:moveTo>
                  <a:lnTo>
                    <a:pt x="13712" y="759752"/>
                  </a:lnTo>
                  <a:lnTo>
                    <a:pt x="13712" y="764515"/>
                  </a:lnTo>
                  <a:lnTo>
                    <a:pt x="13712" y="768796"/>
                  </a:lnTo>
                  <a:lnTo>
                    <a:pt x="9077" y="768796"/>
                  </a:lnTo>
                  <a:lnTo>
                    <a:pt x="0" y="768796"/>
                  </a:lnTo>
                  <a:lnTo>
                    <a:pt x="0" y="764515"/>
                  </a:lnTo>
                  <a:lnTo>
                    <a:pt x="0" y="759752"/>
                  </a:lnTo>
                  <a:lnTo>
                    <a:pt x="0" y="717887"/>
                  </a:lnTo>
                  <a:lnTo>
                    <a:pt x="0" y="713143"/>
                  </a:lnTo>
                  <a:lnTo>
                    <a:pt x="4635" y="713143"/>
                  </a:lnTo>
                  <a:lnTo>
                    <a:pt x="9077" y="713143"/>
                  </a:lnTo>
                  <a:lnTo>
                    <a:pt x="13712" y="713143"/>
                  </a:lnTo>
                  <a:lnTo>
                    <a:pt x="13712" y="717887"/>
                  </a:lnTo>
                  <a:close/>
                </a:path>
                <a:path w="13970" h="1987550">
                  <a:moveTo>
                    <a:pt x="13713" y="819704"/>
                  </a:moveTo>
                  <a:lnTo>
                    <a:pt x="13713" y="861569"/>
                  </a:lnTo>
                  <a:lnTo>
                    <a:pt x="13713" y="866332"/>
                  </a:lnTo>
                  <a:lnTo>
                    <a:pt x="9077" y="871095"/>
                  </a:lnTo>
                  <a:lnTo>
                    <a:pt x="0" y="866332"/>
                  </a:lnTo>
                  <a:lnTo>
                    <a:pt x="0" y="861569"/>
                  </a:lnTo>
                  <a:lnTo>
                    <a:pt x="0" y="819704"/>
                  </a:lnTo>
                  <a:lnTo>
                    <a:pt x="0" y="815423"/>
                  </a:lnTo>
                  <a:lnTo>
                    <a:pt x="4635" y="815423"/>
                  </a:lnTo>
                  <a:lnTo>
                    <a:pt x="9077" y="810660"/>
                  </a:lnTo>
                  <a:lnTo>
                    <a:pt x="9077" y="815423"/>
                  </a:lnTo>
                  <a:lnTo>
                    <a:pt x="13713" y="815423"/>
                  </a:lnTo>
                  <a:lnTo>
                    <a:pt x="13713" y="819704"/>
                  </a:lnTo>
                  <a:close/>
                </a:path>
                <a:path w="13970" h="1987550">
                  <a:moveTo>
                    <a:pt x="13713" y="922003"/>
                  </a:moveTo>
                  <a:lnTo>
                    <a:pt x="13713" y="963386"/>
                  </a:lnTo>
                  <a:lnTo>
                    <a:pt x="13713" y="968149"/>
                  </a:lnTo>
                  <a:lnTo>
                    <a:pt x="9077" y="972893"/>
                  </a:lnTo>
                  <a:lnTo>
                    <a:pt x="0" y="968149"/>
                  </a:lnTo>
                  <a:lnTo>
                    <a:pt x="0" y="963386"/>
                  </a:lnTo>
                  <a:lnTo>
                    <a:pt x="0" y="922003"/>
                  </a:lnTo>
                  <a:lnTo>
                    <a:pt x="0" y="917240"/>
                  </a:lnTo>
                  <a:lnTo>
                    <a:pt x="4635" y="912477"/>
                  </a:lnTo>
                  <a:lnTo>
                    <a:pt x="9077" y="912477"/>
                  </a:lnTo>
                  <a:lnTo>
                    <a:pt x="13713" y="917240"/>
                  </a:lnTo>
                  <a:lnTo>
                    <a:pt x="13713" y="922003"/>
                  </a:lnTo>
                  <a:close/>
                </a:path>
                <a:path w="13970" h="1987550">
                  <a:moveTo>
                    <a:pt x="13713" y="1023801"/>
                  </a:moveTo>
                  <a:lnTo>
                    <a:pt x="13713" y="1065203"/>
                  </a:lnTo>
                  <a:lnTo>
                    <a:pt x="13713" y="1069966"/>
                  </a:lnTo>
                  <a:lnTo>
                    <a:pt x="9077" y="1074710"/>
                  </a:lnTo>
                  <a:lnTo>
                    <a:pt x="0" y="1069966"/>
                  </a:lnTo>
                  <a:lnTo>
                    <a:pt x="0" y="1065203"/>
                  </a:lnTo>
                  <a:lnTo>
                    <a:pt x="0" y="1023801"/>
                  </a:lnTo>
                  <a:lnTo>
                    <a:pt x="0" y="1019057"/>
                  </a:lnTo>
                  <a:lnTo>
                    <a:pt x="4635" y="1014294"/>
                  </a:lnTo>
                  <a:lnTo>
                    <a:pt x="9077" y="1014294"/>
                  </a:lnTo>
                  <a:lnTo>
                    <a:pt x="13713" y="1019057"/>
                  </a:lnTo>
                  <a:lnTo>
                    <a:pt x="13713" y="1023801"/>
                  </a:lnTo>
                  <a:close/>
                </a:path>
                <a:path w="13970" h="1987550">
                  <a:moveTo>
                    <a:pt x="13713" y="1125618"/>
                  </a:moveTo>
                  <a:lnTo>
                    <a:pt x="13713" y="1167483"/>
                  </a:lnTo>
                  <a:lnTo>
                    <a:pt x="13713" y="1171764"/>
                  </a:lnTo>
                  <a:lnTo>
                    <a:pt x="9077" y="1176527"/>
                  </a:lnTo>
                  <a:lnTo>
                    <a:pt x="0" y="1171764"/>
                  </a:lnTo>
                  <a:lnTo>
                    <a:pt x="0" y="1167483"/>
                  </a:lnTo>
                  <a:lnTo>
                    <a:pt x="0" y="1125618"/>
                  </a:lnTo>
                  <a:lnTo>
                    <a:pt x="0" y="1120855"/>
                  </a:lnTo>
                  <a:lnTo>
                    <a:pt x="0" y="1116574"/>
                  </a:lnTo>
                  <a:lnTo>
                    <a:pt x="4635" y="1116574"/>
                  </a:lnTo>
                  <a:lnTo>
                    <a:pt x="9077" y="1116574"/>
                  </a:lnTo>
                  <a:lnTo>
                    <a:pt x="13713" y="1116574"/>
                  </a:lnTo>
                  <a:lnTo>
                    <a:pt x="13713" y="1120855"/>
                  </a:lnTo>
                  <a:lnTo>
                    <a:pt x="13713" y="1125618"/>
                  </a:lnTo>
                  <a:close/>
                </a:path>
                <a:path w="13970" h="1987550">
                  <a:moveTo>
                    <a:pt x="13713" y="1223154"/>
                  </a:moveTo>
                  <a:lnTo>
                    <a:pt x="13713" y="1269300"/>
                  </a:lnTo>
                  <a:lnTo>
                    <a:pt x="13713" y="1274063"/>
                  </a:lnTo>
                  <a:lnTo>
                    <a:pt x="9077" y="1274063"/>
                  </a:lnTo>
                  <a:lnTo>
                    <a:pt x="0" y="1274063"/>
                  </a:lnTo>
                  <a:lnTo>
                    <a:pt x="0" y="1269300"/>
                  </a:lnTo>
                  <a:lnTo>
                    <a:pt x="0" y="1223154"/>
                  </a:lnTo>
                  <a:lnTo>
                    <a:pt x="0" y="1218391"/>
                  </a:lnTo>
                  <a:lnTo>
                    <a:pt x="4635" y="1218391"/>
                  </a:lnTo>
                  <a:lnTo>
                    <a:pt x="9077" y="1218391"/>
                  </a:lnTo>
                  <a:lnTo>
                    <a:pt x="13713" y="1218391"/>
                  </a:lnTo>
                  <a:lnTo>
                    <a:pt x="13713" y="1223154"/>
                  </a:lnTo>
                  <a:close/>
                </a:path>
                <a:path w="13970" h="1987550">
                  <a:moveTo>
                    <a:pt x="13713" y="1324971"/>
                  </a:moveTo>
                  <a:lnTo>
                    <a:pt x="13713" y="1371117"/>
                  </a:lnTo>
                  <a:lnTo>
                    <a:pt x="13713" y="1375880"/>
                  </a:lnTo>
                  <a:lnTo>
                    <a:pt x="9077" y="1375880"/>
                  </a:lnTo>
                  <a:lnTo>
                    <a:pt x="0" y="1375880"/>
                  </a:lnTo>
                  <a:lnTo>
                    <a:pt x="0" y="1371117"/>
                  </a:lnTo>
                  <a:lnTo>
                    <a:pt x="0" y="1324971"/>
                  </a:lnTo>
                  <a:lnTo>
                    <a:pt x="0" y="1320208"/>
                  </a:lnTo>
                  <a:lnTo>
                    <a:pt x="4635" y="1320208"/>
                  </a:lnTo>
                  <a:lnTo>
                    <a:pt x="9077" y="1320208"/>
                  </a:lnTo>
                  <a:lnTo>
                    <a:pt x="13713" y="1320208"/>
                  </a:lnTo>
                  <a:lnTo>
                    <a:pt x="13713" y="1324971"/>
                  </a:lnTo>
                  <a:close/>
                </a:path>
                <a:path w="13970" h="1987550">
                  <a:moveTo>
                    <a:pt x="13713" y="1426769"/>
                  </a:moveTo>
                  <a:lnTo>
                    <a:pt x="13713" y="1472934"/>
                  </a:lnTo>
                  <a:lnTo>
                    <a:pt x="13713" y="1477678"/>
                  </a:lnTo>
                  <a:lnTo>
                    <a:pt x="9077" y="1477678"/>
                  </a:lnTo>
                  <a:lnTo>
                    <a:pt x="0" y="1477678"/>
                  </a:lnTo>
                  <a:lnTo>
                    <a:pt x="0" y="1472934"/>
                  </a:lnTo>
                  <a:lnTo>
                    <a:pt x="0" y="1426769"/>
                  </a:lnTo>
                  <a:lnTo>
                    <a:pt x="0" y="1422025"/>
                  </a:lnTo>
                  <a:lnTo>
                    <a:pt x="4635" y="1422025"/>
                  </a:lnTo>
                  <a:lnTo>
                    <a:pt x="9077" y="1422025"/>
                  </a:lnTo>
                  <a:lnTo>
                    <a:pt x="13713" y="1422025"/>
                  </a:lnTo>
                  <a:lnTo>
                    <a:pt x="13713" y="1426769"/>
                  </a:lnTo>
                  <a:close/>
                </a:path>
                <a:path w="13970" h="1987550">
                  <a:moveTo>
                    <a:pt x="13713" y="1528586"/>
                  </a:moveTo>
                  <a:lnTo>
                    <a:pt x="13713" y="1570451"/>
                  </a:lnTo>
                  <a:lnTo>
                    <a:pt x="13713" y="1575214"/>
                  </a:lnTo>
                  <a:lnTo>
                    <a:pt x="13713" y="1579495"/>
                  </a:lnTo>
                  <a:lnTo>
                    <a:pt x="9077" y="1579495"/>
                  </a:lnTo>
                  <a:lnTo>
                    <a:pt x="0" y="1579495"/>
                  </a:lnTo>
                  <a:lnTo>
                    <a:pt x="0" y="1575214"/>
                  </a:lnTo>
                  <a:lnTo>
                    <a:pt x="0" y="1570451"/>
                  </a:lnTo>
                  <a:lnTo>
                    <a:pt x="0" y="1528586"/>
                  </a:lnTo>
                  <a:lnTo>
                    <a:pt x="0" y="1523842"/>
                  </a:lnTo>
                  <a:lnTo>
                    <a:pt x="4635" y="1523842"/>
                  </a:lnTo>
                  <a:lnTo>
                    <a:pt x="9077" y="1523842"/>
                  </a:lnTo>
                  <a:lnTo>
                    <a:pt x="13713" y="1523842"/>
                  </a:lnTo>
                  <a:lnTo>
                    <a:pt x="13713" y="1528586"/>
                  </a:lnTo>
                  <a:close/>
                </a:path>
                <a:path w="13970" h="1987550">
                  <a:moveTo>
                    <a:pt x="13713" y="1630403"/>
                  </a:moveTo>
                  <a:lnTo>
                    <a:pt x="13713" y="1672268"/>
                  </a:lnTo>
                  <a:lnTo>
                    <a:pt x="13713" y="1677031"/>
                  </a:lnTo>
                  <a:lnTo>
                    <a:pt x="9077" y="1681794"/>
                  </a:lnTo>
                  <a:lnTo>
                    <a:pt x="0" y="1677031"/>
                  </a:lnTo>
                  <a:lnTo>
                    <a:pt x="0" y="1672268"/>
                  </a:lnTo>
                  <a:lnTo>
                    <a:pt x="0" y="1630403"/>
                  </a:lnTo>
                  <a:lnTo>
                    <a:pt x="0" y="1626122"/>
                  </a:lnTo>
                  <a:lnTo>
                    <a:pt x="4635" y="1626122"/>
                  </a:lnTo>
                  <a:lnTo>
                    <a:pt x="9077" y="1621359"/>
                  </a:lnTo>
                  <a:lnTo>
                    <a:pt x="9077" y="1626122"/>
                  </a:lnTo>
                  <a:lnTo>
                    <a:pt x="13713" y="1626122"/>
                  </a:lnTo>
                  <a:lnTo>
                    <a:pt x="13713" y="1630403"/>
                  </a:lnTo>
                  <a:close/>
                </a:path>
                <a:path w="13970" h="1987550">
                  <a:moveTo>
                    <a:pt x="13713" y="1732702"/>
                  </a:moveTo>
                  <a:lnTo>
                    <a:pt x="13713" y="1774085"/>
                  </a:lnTo>
                  <a:lnTo>
                    <a:pt x="13713" y="1778848"/>
                  </a:lnTo>
                  <a:lnTo>
                    <a:pt x="9077" y="1783592"/>
                  </a:lnTo>
                  <a:lnTo>
                    <a:pt x="0" y="1778848"/>
                  </a:lnTo>
                  <a:lnTo>
                    <a:pt x="0" y="1774085"/>
                  </a:lnTo>
                  <a:lnTo>
                    <a:pt x="0" y="1732702"/>
                  </a:lnTo>
                  <a:lnTo>
                    <a:pt x="0" y="1727939"/>
                  </a:lnTo>
                  <a:lnTo>
                    <a:pt x="4635" y="1723176"/>
                  </a:lnTo>
                  <a:lnTo>
                    <a:pt x="9077" y="1723176"/>
                  </a:lnTo>
                  <a:lnTo>
                    <a:pt x="13713" y="1727939"/>
                  </a:lnTo>
                  <a:lnTo>
                    <a:pt x="13713" y="1732702"/>
                  </a:lnTo>
                  <a:close/>
                </a:path>
                <a:path w="13970" h="1987550">
                  <a:moveTo>
                    <a:pt x="13713" y="1834500"/>
                  </a:moveTo>
                  <a:lnTo>
                    <a:pt x="13713" y="1876365"/>
                  </a:lnTo>
                  <a:lnTo>
                    <a:pt x="13713" y="1880646"/>
                  </a:lnTo>
                  <a:lnTo>
                    <a:pt x="9077" y="1885409"/>
                  </a:lnTo>
                  <a:lnTo>
                    <a:pt x="0" y="1880646"/>
                  </a:lnTo>
                  <a:lnTo>
                    <a:pt x="0" y="1876365"/>
                  </a:lnTo>
                  <a:lnTo>
                    <a:pt x="0" y="1834500"/>
                  </a:lnTo>
                  <a:lnTo>
                    <a:pt x="0" y="1829756"/>
                  </a:lnTo>
                  <a:lnTo>
                    <a:pt x="4635" y="1824993"/>
                  </a:lnTo>
                  <a:lnTo>
                    <a:pt x="9077" y="1824993"/>
                  </a:lnTo>
                  <a:lnTo>
                    <a:pt x="13713" y="1829756"/>
                  </a:lnTo>
                  <a:lnTo>
                    <a:pt x="13713" y="1834500"/>
                  </a:lnTo>
                  <a:close/>
                </a:path>
                <a:path w="13970" h="1987550">
                  <a:moveTo>
                    <a:pt x="13713" y="1936319"/>
                  </a:moveTo>
                  <a:lnTo>
                    <a:pt x="13713" y="1978186"/>
                  </a:lnTo>
                  <a:lnTo>
                    <a:pt x="13713" y="1982469"/>
                  </a:lnTo>
                  <a:lnTo>
                    <a:pt x="9077" y="1987226"/>
                  </a:lnTo>
                  <a:lnTo>
                    <a:pt x="0" y="1982469"/>
                  </a:lnTo>
                  <a:lnTo>
                    <a:pt x="0" y="1978186"/>
                  </a:lnTo>
                  <a:lnTo>
                    <a:pt x="0" y="1936319"/>
                  </a:lnTo>
                  <a:lnTo>
                    <a:pt x="0" y="1931562"/>
                  </a:lnTo>
                  <a:lnTo>
                    <a:pt x="0" y="1927279"/>
                  </a:lnTo>
                  <a:lnTo>
                    <a:pt x="4635" y="1927279"/>
                  </a:lnTo>
                  <a:lnTo>
                    <a:pt x="9077" y="1927279"/>
                  </a:lnTo>
                  <a:lnTo>
                    <a:pt x="13713" y="1927279"/>
                  </a:lnTo>
                  <a:lnTo>
                    <a:pt x="13713" y="1931562"/>
                  </a:lnTo>
                  <a:lnTo>
                    <a:pt x="13713" y="1936319"/>
                  </a:lnTo>
                  <a:close/>
                </a:path>
              </a:pathLst>
            </a:custGeom>
            <a:ln w="4780">
              <a:solidFill>
                <a:srgbClr val="000000"/>
              </a:solidFill>
            </a:ln>
          </p:spPr>
          <p:txBody>
            <a:bodyPr wrap="square" lIns="0" tIns="0" rIns="0" bIns="0" rtlCol="0"/>
            <a:lstStyle/>
            <a:p/>
          </p:txBody>
        </p:sp>
        <p:sp>
          <p:nvSpPr>
            <p:cNvPr id="30" name="object 30" descr=""/>
            <p:cNvSpPr/>
            <p:nvPr/>
          </p:nvSpPr>
          <p:spPr>
            <a:xfrm>
              <a:off x="9218852" y="4033302"/>
              <a:ext cx="13970" cy="1987550"/>
            </a:xfrm>
            <a:custGeom>
              <a:avLst/>
              <a:gdLst/>
              <a:ahLst/>
              <a:cxnLst/>
              <a:rect l="l" t="t" r="r" b="b"/>
              <a:pathLst>
                <a:path w="13970" h="1987550">
                  <a:moveTo>
                    <a:pt x="13906" y="4820"/>
                  </a:moveTo>
                  <a:lnTo>
                    <a:pt x="0" y="4820"/>
                  </a:lnTo>
                  <a:lnTo>
                    <a:pt x="0" y="55729"/>
                  </a:lnTo>
                  <a:lnTo>
                    <a:pt x="9077" y="59971"/>
                  </a:lnTo>
                  <a:lnTo>
                    <a:pt x="13906" y="55729"/>
                  </a:lnTo>
                  <a:lnTo>
                    <a:pt x="13906" y="4820"/>
                  </a:lnTo>
                  <a:close/>
                </a:path>
                <a:path w="13970" h="1987550">
                  <a:moveTo>
                    <a:pt x="9077" y="0"/>
                  </a:moveTo>
                  <a:lnTo>
                    <a:pt x="4442" y="4820"/>
                  </a:lnTo>
                  <a:lnTo>
                    <a:pt x="9077" y="4820"/>
                  </a:lnTo>
                  <a:lnTo>
                    <a:pt x="9077" y="0"/>
                  </a:lnTo>
                  <a:close/>
                </a:path>
                <a:path w="13970" h="1987550">
                  <a:moveTo>
                    <a:pt x="9077" y="101817"/>
                  </a:moveTo>
                  <a:lnTo>
                    <a:pt x="4442" y="101817"/>
                  </a:lnTo>
                  <a:lnTo>
                    <a:pt x="0" y="106445"/>
                  </a:lnTo>
                  <a:lnTo>
                    <a:pt x="0" y="157450"/>
                  </a:lnTo>
                  <a:lnTo>
                    <a:pt x="9077" y="162213"/>
                  </a:lnTo>
                  <a:lnTo>
                    <a:pt x="13906" y="157450"/>
                  </a:lnTo>
                  <a:lnTo>
                    <a:pt x="13906" y="106445"/>
                  </a:lnTo>
                  <a:lnTo>
                    <a:pt x="9077" y="101817"/>
                  </a:lnTo>
                  <a:close/>
                </a:path>
                <a:path w="13970" h="1987550">
                  <a:moveTo>
                    <a:pt x="9077" y="203595"/>
                  </a:moveTo>
                  <a:lnTo>
                    <a:pt x="4442" y="203595"/>
                  </a:lnTo>
                  <a:lnTo>
                    <a:pt x="0" y="208358"/>
                  </a:lnTo>
                  <a:lnTo>
                    <a:pt x="0" y="259267"/>
                  </a:lnTo>
                  <a:lnTo>
                    <a:pt x="9077" y="264010"/>
                  </a:lnTo>
                  <a:lnTo>
                    <a:pt x="13906" y="259267"/>
                  </a:lnTo>
                  <a:lnTo>
                    <a:pt x="13906" y="208358"/>
                  </a:lnTo>
                  <a:lnTo>
                    <a:pt x="9077" y="203595"/>
                  </a:lnTo>
                  <a:close/>
                </a:path>
                <a:path w="13970" h="1987550">
                  <a:moveTo>
                    <a:pt x="13906" y="305875"/>
                  </a:moveTo>
                  <a:lnTo>
                    <a:pt x="0" y="305875"/>
                  </a:lnTo>
                  <a:lnTo>
                    <a:pt x="0" y="361064"/>
                  </a:lnTo>
                  <a:lnTo>
                    <a:pt x="9077" y="365827"/>
                  </a:lnTo>
                  <a:lnTo>
                    <a:pt x="13906" y="361064"/>
                  </a:lnTo>
                  <a:lnTo>
                    <a:pt x="13906" y="305875"/>
                  </a:lnTo>
                  <a:close/>
                </a:path>
                <a:path w="13970" h="1987550">
                  <a:moveTo>
                    <a:pt x="13906" y="407692"/>
                  </a:moveTo>
                  <a:lnTo>
                    <a:pt x="0" y="407692"/>
                  </a:lnTo>
                  <a:lnTo>
                    <a:pt x="0" y="463364"/>
                  </a:lnTo>
                  <a:lnTo>
                    <a:pt x="13906" y="463364"/>
                  </a:lnTo>
                  <a:lnTo>
                    <a:pt x="13906" y="407692"/>
                  </a:lnTo>
                  <a:close/>
                </a:path>
                <a:path w="13970" h="1987550">
                  <a:moveTo>
                    <a:pt x="13906" y="509509"/>
                  </a:moveTo>
                  <a:lnTo>
                    <a:pt x="0" y="509509"/>
                  </a:lnTo>
                  <a:lnTo>
                    <a:pt x="0" y="565181"/>
                  </a:lnTo>
                  <a:lnTo>
                    <a:pt x="13906" y="565181"/>
                  </a:lnTo>
                  <a:lnTo>
                    <a:pt x="13906" y="509509"/>
                  </a:lnTo>
                  <a:close/>
                </a:path>
                <a:path w="13970" h="1987550">
                  <a:moveTo>
                    <a:pt x="13906" y="611326"/>
                  </a:moveTo>
                  <a:lnTo>
                    <a:pt x="0" y="611326"/>
                  </a:lnTo>
                  <a:lnTo>
                    <a:pt x="0" y="666978"/>
                  </a:lnTo>
                  <a:lnTo>
                    <a:pt x="13906" y="666978"/>
                  </a:lnTo>
                  <a:lnTo>
                    <a:pt x="13906" y="611326"/>
                  </a:lnTo>
                  <a:close/>
                </a:path>
                <a:path w="13970" h="1987550">
                  <a:moveTo>
                    <a:pt x="13906" y="713143"/>
                  </a:moveTo>
                  <a:lnTo>
                    <a:pt x="0" y="713143"/>
                  </a:lnTo>
                  <a:lnTo>
                    <a:pt x="0" y="768796"/>
                  </a:lnTo>
                  <a:lnTo>
                    <a:pt x="13906" y="768796"/>
                  </a:lnTo>
                  <a:lnTo>
                    <a:pt x="13906" y="713143"/>
                  </a:lnTo>
                  <a:close/>
                </a:path>
                <a:path w="13970" h="1987550">
                  <a:moveTo>
                    <a:pt x="13906" y="815423"/>
                  </a:moveTo>
                  <a:lnTo>
                    <a:pt x="0" y="815423"/>
                  </a:lnTo>
                  <a:lnTo>
                    <a:pt x="0" y="866332"/>
                  </a:lnTo>
                  <a:lnTo>
                    <a:pt x="9077" y="871095"/>
                  </a:lnTo>
                  <a:lnTo>
                    <a:pt x="13906" y="866332"/>
                  </a:lnTo>
                  <a:lnTo>
                    <a:pt x="13906" y="815423"/>
                  </a:lnTo>
                  <a:close/>
                </a:path>
                <a:path w="13970" h="1987550">
                  <a:moveTo>
                    <a:pt x="9077" y="810660"/>
                  </a:moveTo>
                  <a:lnTo>
                    <a:pt x="4442" y="815423"/>
                  </a:lnTo>
                  <a:lnTo>
                    <a:pt x="9077" y="815423"/>
                  </a:lnTo>
                  <a:lnTo>
                    <a:pt x="9077" y="810660"/>
                  </a:lnTo>
                  <a:close/>
                </a:path>
                <a:path w="13970" h="1987550">
                  <a:moveTo>
                    <a:pt x="9077" y="912477"/>
                  </a:moveTo>
                  <a:lnTo>
                    <a:pt x="4442" y="912477"/>
                  </a:lnTo>
                  <a:lnTo>
                    <a:pt x="0" y="917240"/>
                  </a:lnTo>
                  <a:lnTo>
                    <a:pt x="0" y="968149"/>
                  </a:lnTo>
                  <a:lnTo>
                    <a:pt x="9077" y="972893"/>
                  </a:lnTo>
                  <a:lnTo>
                    <a:pt x="13906" y="968149"/>
                  </a:lnTo>
                  <a:lnTo>
                    <a:pt x="13906" y="917240"/>
                  </a:lnTo>
                  <a:lnTo>
                    <a:pt x="9077" y="912477"/>
                  </a:lnTo>
                  <a:close/>
                </a:path>
                <a:path w="13970" h="1987550">
                  <a:moveTo>
                    <a:pt x="9077" y="1014294"/>
                  </a:moveTo>
                  <a:lnTo>
                    <a:pt x="4442" y="1014294"/>
                  </a:lnTo>
                  <a:lnTo>
                    <a:pt x="0" y="1019057"/>
                  </a:lnTo>
                  <a:lnTo>
                    <a:pt x="0" y="1069966"/>
                  </a:lnTo>
                  <a:lnTo>
                    <a:pt x="9077" y="1074710"/>
                  </a:lnTo>
                  <a:lnTo>
                    <a:pt x="13906" y="1069966"/>
                  </a:lnTo>
                  <a:lnTo>
                    <a:pt x="13906" y="1019057"/>
                  </a:lnTo>
                  <a:lnTo>
                    <a:pt x="9077" y="1014294"/>
                  </a:lnTo>
                  <a:close/>
                </a:path>
                <a:path w="13970" h="1987550">
                  <a:moveTo>
                    <a:pt x="13906" y="1116574"/>
                  </a:moveTo>
                  <a:lnTo>
                    <a:pt x="0" y="1116574"/>
                  </a:lnTo>
                  <a:lnTo>
                    <a:pt x="0" y="1171764"/>
                  </a:lnTo>
                  <a:lnTo>
                    <a:pt x="9077" y="1176527"/>
                  </a:lnTo>
                  <a:lnTo>
                    <a:pt x="13906" y="1171764"/>
                  </a:lnTo>
                  <a:lnTo>
                    <a:pt x="13906" y="1116574"/>
                  </a:lnTo>
                  <a:close/>
                </a:path>
                <a:path w="13970" h="1987550">
                  <a:moveTo>
                    <a:pt x="13906" y="1218391"/>
                  </a:moveTo>
                  <a:lnTo>
                    <a:pt x="0" y="1218391"/>
                  </a:lnTo>
                  <a:lnTo>
                    <a:pt x="0" y="1274063"/>
                  </a:lnTo>
                  <a:lnTo>
                    <a:pt x="13906" y="1274063"/>
                  </a:lnTo>
                  <a:lnTo>
                    <a:pt x="13906" y="1218391"/>
                  </a:lnTo>
                  <a:close/>
                </a:path>
                <a:path w="13970" h="1987550">
                  <a:moveTo>
                    <a:pt x="13906" y="1320208"/>
                  </a:moveTo>
                  <a:lnTo>
                    <a:pt x="0" y="1320208"/>
                  </a:lnTo>
                  <a:lnTo>
                    <a:pt x="0" y="1375880"/>
                  </a:lnTo>
                  <a:lnTo>
                    <a:pt x="13906" y="1375880"/>
                  </a:lnTo>
                  <a:lnTo>
                    <a:pt x="13906" y="1320208"/>
                  </a:lnTo>
                  <a:close/>
                </a:path>
                <a:path w="13970" h="1987550">
                  <a:moveTo>
                    <a:pt x="13906" y="1422025"/>
                  </a:moveTo>
                  <a:lnTo>
                    <a:pt x="0" y="1422025"/>
                  </a:lnTo>
                  <a:lnTo>
                    <a:pt x="0" y="1477678"/>
                  </a:lnTo>
                  <a:lnTo>
                    <a:pt x="13906" y="1477678"/>
                  </a:lnTo>
                  <a:lnTo>
                    <a:pt x="13906" y="1422025"/>
                  </a:lnTo>
                  <a:close/>
                </a:path>
                <a:path w="13970" h="1987550">
                  <a:moveTo>
                    <a:pt x="13906" y="1523842"/>
                  </a:moveTo>
                  <a:lnTo>
                    <a:pt x="0" y="1523842"/>
                  </a:lnTo>
                  <a:lnTo>
                    <a:pt x="0" y="1579495"/>
                  </a:lnTo>
                  <a:lnTo>
                    <a:pt x="13906" y="1579495"/>
                  </a:lnTo>
                  <a:lnTo>
                    <a:pt x="13906" y="1523842"/>
                  </a:lnTo>
                  <a:close/>
                </a:path>
                <a:path w="13970" h="1987550">
                  <a:moveTo>
                    <a:pt x="13906" y="1626122"/>
                  </a:moveTo>
                  <a:lnTo>
                    <a:pt x="0" y="1626122"/>
                  </a:lnTo>
                  <a:lnTo>
                    <a:pt x="0" y="1677031"/>
                  </a:lnTo>
                  <a:lnTo>
                    <a:pt x="9077" y="1681794"/>
                  </a:lnTo>
                  <a:lnTo>
                    <a:pt x="13906" y="1677031"/>
                  </a:lnTo>
                  <a:lnTo>
                    <a:pt x="13906" y="1626122"/>
                  </a:lnTo>
                  <a:close/>
                </a:path>
                <a:path w="13970" h="1987550">
                  <a:moveTo>
                    <a:pt x="9077" y="1621359"/>
                  </a:moveTo>
                  <a:lnTo>
                    <a:pt x="4442" y="1626122"/>
                  </a:lnTo>
                  <a:lnTo>
                    <a:pt x="9077" y="1626122"/>
                  </a:lnTo>
                  <a:lnTo>
                    <a:pt x="9077" y="1621359"/>
                  </a:lnTo>
                  <a:close/>
                </a:path>
                <a:path w="13970" h="1987550">
                  <a:moveTo>
                    <a:pt x="9077" y="1723176"/>
                  </a:moveTo>
                  <a:lnTo>
                    <a:pt x="4442" y="1723176"/>
                  </a:lnTo>
                  <a:lnTo>
                    <a:pt x="0" y="1727939"/>
                  </a:lnTo>
                  <a:lnTo>
                    <a:pt x="0" y="1778848"/>
                  </a:lnTo>
                  <a:lnTo>
                    <a:pt x="9077" y="1783592"/>
                  </a:lnTo>
                  <a:lnTo>
                    <a:pt x="13906" y="1778848"/>
                  </a:lnTo>
                  <a:lnTo>
                    <a:pt x="13906" y="1727939"/>
                  </a:lnTo>
                  <a:lnTo>
                    <a:pt x="9077" y="1723176"/>
                  </a:lnTo>
                  <a:close/>
                </a:path>
                <a:path w="13970" h="1987550">
                  <a:moveTo>
                    <a:pt x="9077" y="1824993"/>
                  </a:moveTo>
                  <a:lnTo>
                    <a:pt x="4442" y="1824993"/>
                  </a:lnTo>
                  <a:lnTo>
                    <a:pt x="0" y="1829757"/>
                  </a:lnTo>
                  <a:lnTo>
                    <a:pt x="0" y="1880646"/>
                  </a:lnTo>
                  <a:lnTo>
                    <a:pt x="9077" y="1885409"/>
                  </a:lnTo>
                  <a:lnTo>
                    <a:pt x="13906" y="1880646"/>
                  </a:lnTo>
                  <a:lnTo>
                    <a:pt x="13906" y="1829757"/>
                  </a:lnTo>
                  <a:lnTo>
                    <a:pt x="9077" y="1824993"/>
                  </a:lnTo>
                  <a:close/>
                </a:path>
                <a:path w="13970" h="1987550">
                  <a:moveTo>
                    <a:pt x="13906" y="1927279"/>
                  </a:moveTo>
                  <a:lnTo>
                    <a:pt x="0" y="1927279"/>
                  </a:lnTo>
                  <a:lnTo>
                    <a:pt x="0" y="1982469"/>
                  </a:lnTo>
                  <a:lnTo>
                    <a:pt x="9077" y="1987226"/>
                  </a:lnTo>
                  <a:lnTo>
                    <a:pt x="13906" y="1982469"/>
                  </a:lnTo>
                  <a:lnTo>
                    <a:pt x="13906" y="1927279"/>
                  </a:lnTo>
                  <a:close/>
                </a:path>
              </a:pathLst>
            </a:custGeom>
            <a:solidFill>
              <a:srgbClr val="000000"/>
            </a:solidFill>
          </p:spPr>
          <p:txBody>
            <a:bodyPr wrap="square" lIns="0" tIns="0" rIns="0" bIns="0" rtlCol="0"/>
            <a:lstStyle/>
            <a:p/>
          </p:txBody>
        </p:sp>
        <p:sp>
          <p:nvSpPr>
            <p:cNvPr id="31" name="object 31" descr=""/>
            <p:cNvSpPr/>
            <p:nvPr/>
          </p:nvSpPr>
          <p:spPr>
            <a:xfrm>
              <a:off x="9218852" y="4033302"/>
              <a:ext cx="13970" cy="1987550"/>
            </a:xfrm>
            <a:custGeom>
              <a:avLst/>
              <a:gdLst/>
              <a:ahLst/>
              <a:cxnLst/>
              <a:rect l="l" t="t" r="r" b="b"/>
              <a:pathLst>
                <a:path w="13970" h="1987550">
                  <a:moveTo>
                    <a:pt x="13906" y="9063"/>
                  </a:moveTo>
                  <a:lnTo>
                    <a:pt x="13906" y="50908"/>
                  </a:lnTo>
                  <a:lnTo>
                    <a:pt x="13906" y="55729"/>
                  </a:lnTo>
                  <a:lnTo>
                    <a:pt x="9077" y="59971"/>
                  </a:lnTo>
                  <a:lnTo>
                    <a:pt x="0" y="55729"/>
                  </a:lnTo>
                  <a:lnTo>
                    <a:pt x="0" y="50908"/>
                  </a:lnTo>
                  <a:lnTo>
                    <a:pt x="0" y="9063"/>
                  </a:lnTo>
                  <a:lnTo>
                    <a:pt x="0" y="4820"/>
                  </a:lnTo>
                  <a:lnTo>
                    <a:pt x="4442" y="4820"/>
                  </a:lnTo>
                  <a:lnTo>
                    <a:pt x="9077" y="0"/>
                  </a:lnTo>
                  <a:lnTo>
                    <a:pt x="9077" y="4820"/>
                  </a:lnTo>
                  <a:lnTo>
                    <a:pt x="13906" y="4820"/>
                  </a:lnTo>
                  <a:lnTo>
                    <a:pt x="13906" y="9063"/>
                  </a:lnTo>
                  <a:close/>
                </a:path>
                <a:path w="13970" h="1987550">
                  <a:moveTo>
                    <a:pt x="13906" y="111266"/>
                  </a:moveTo>
                  <a:lnTo>
                    <a:pt x="13906" y="152687"/>
                  </a:lnTo>
                  <a:lnTo>
                    <a:pt x="13906" y="157450"/>
                  </a:lnTo>
                  <a:lnTo>
                    <a:pt x="9077" y="162213"/>
                  </a:lnTo>
                  <a:lnTo>
                    <a:pt x="0" y="157450"/>
                  </a:lnTo>
                  <a:lnTo>
                    <a:pt x="0" y="152687"/>
                  </a:lnTo>
                  <a:lnTo>
                    <a:pt x="0" y="111266"/>
                  </a:lnTo>
                  <a:lnTo>
                    <a:pt x="0" y="106445"/>
                  </a:lnTo>
                  <a:lnTo>
                    <a:pt x="4442" y="101817"/>
                  </a:lnTo>
                  <a:lnTo>
                    <a:pt x="9077" y="101817"/>
                  </a:lnTo>
                  <a:lnTo>
                    <a:pt x="13906" y="106445"/>
                  </a:lnTo>
                  <a:lnTo>
                    <a:pt x="13906" y="111266"/>
                  </a:lnTo>
                  <a:close/>
                </a:path>
                <a:path w="13970" h="1987550">
                  <a:moveTo>
                    <a:pt x="13906" y="213102"/>
                  </a:moveTo>
                  <a:lnTo>
                    <a:pt x="13906" y="254504"/>
                  </a:lnTo>
                  <a:lnTo>
                    <a:pt x="13906" y="259267"/>
                  </a:lnTo>
                  <a:lnTo>
                    <a:pt x="9077" y="264010"/>
                  </a:lnTo>
                  <a:lnTo>
                    <a:pt x="0" y="259267"/>
                  </a:lnTo>
                  <a:lnTo>
                    <a:pt x="0" y="254504"/>
                  </a:lnTo>
                  <a:lnTo>
                    <a:pt x="0" y="213102"/>
                  </a:lnTo>
                  <a:lnTo>
                    <a:pt x="0" y="208358"/>
                  </a:lnTo>
                  <a:lnTo>
                    <a:pt x="4442" y="203595"/>
                  </a:lnTo>
                  <a:lnTo>
                    <a:pt x="9077" y="203595"/>
                  </a:lnTo>
                  <a:lnTo>
                    <a:pt x="13906" y="208358"/>
                  </a:lnTo>
                  <a:lnTo>
                    <a:pt x="13906" y="213102"/>
                  </a:lnTo>
                  <a:close/>
                </a:path>
                <a:path w="13970" h="1987550">
                  <a:moveTo>
                    <a:pt x="13906" y="314919"/>
                  </a:moveTo>
                  <a:lnTo>
                    <a:pt x="13906" y="356784"/>
                  </a:lnTo>
                  <a:lnTo>
                    <a:pt x="13906" y="361064"/>
                  </a:lnTo>
                  <a:lnTo>
                    <a:pt x="9077" y="365827"/>
                  </a:lnTo>
                  <a:lnTo>
                    <a:pt x="0" y="361064"/>
                  </a:lnTo>
                  <a:lnTo>
                    <a:pt x="0" y="356784"/>
                  </a:lnTo>
                  <a:lnTo>
                    <a:pt x="0" y="314919"/>
                  </a:lnTo>
                  <a:lnTo>
                    <a:pt x="0" y="310156"/>
                  </a:lnTo>
                  <a:lnTo>
                    <a:pt x="0" y="305875"/>
                  </a:lnTo>
                  <a:lnTo>
                    <a:pt x="4442" y="305875"/>
                  </a:lnTo>
                  <a:lnTo>
                    <a:pt x="9077" y="305875"/>
                  </a:lnTo>
                  <a:lnTo>
                    <a:pt x="13906" y="305875"/>
                  </a:lnTo>
                  <a:lnTo>
                    <a:pt x="13906" y="310156"/>
                  </a:lnTo>
                  <a:lnTo>
                    <a:pt x="13906" y="314919"/>
                  </a:lnTo>
                  <a:close/>
                </a:path>
                <a:path w="13970" h="1987550">
                  <a:moveTo>
                    <a:pt x="13906" y="412455"/>
                  </a:moveTo>
                  <a:lnTo>
                    <a:pt x="13906" y="458601"/>
                  </a:lnTo>
                  <a:lnTo>
                    <a:pt x="13906" y="463364"/>
                  </a:lnTo>
                  <a:lnTo>
                    <a:pt x="9077" y="463364"/>
                  </a:lnTo>
                  <a:lnTo>
                    <a:pt x="0" y="463364"/>
                  </a:lnTo>
                  <a:lnTo>
                    <a:pt x="0" y="458601"/>
                  </a:lnTo>
                  <a:lnTo>
                    <a:pt x="0" y="412455"/>
                  </a:lnTo>
                  <a:lnTo>
                    <a:pt x="0" y="407692"/>
                  </a:lnTo>
                  <a:lnTo>
                    <a:pt x="4442" y="407692"/>
                  </a:lnTo>
                  <a:lnTo>
                    <a:pt x="9077" y="407692"/>
                  </a:lnTo>
                  <a:lnTo>
                    <a:pt x="13906" y="407692"/>
                  </a:lnTo>
                  <a:lnTo>
                    <a:pt x="13906" y="412455"/>
                  </a:lnTo>
                  <a:close/>
                </a:path>
                <a:path w="13970" h="1987550">
                  <a:moveTo>
                    <a:pt x="13906" y="514272"/>
                  </a:moveTo>
                  <a:lnTo>
                    <a:pt x="13906" y="560418"/>
                  </a:lnTo>
                  <a:lnTo>
                    <a:pt x="13906" y="565181"/>
                  </a:lnTo>
                  <a:lnTo>
                    <a:pt x="9077" y="565181"/>
                  </a:lnTo>
                  <a:lnTo>
                    <a:pt x="0" y="565181"/>
                  </a:lnTo>
                  <a:lnTo>
                    <a:pt x="0" y="560418"/>
                  </a:lnTo>
                  <a:lnTo>
                    <a:pt x="0" y="514272"/>
                  </a:lnTo>
                  <a:lnTo>
                    <a:pt x="0" y="509509"/>
                  </a:lnTo>
                  <a:lnTo>
                    <a:pt x="4442" y="509509"/>
                  </a:lnTo>
                  <a:lnTo>
                    <a:pt x="9077" y="509509"/>
                  </a:lnTo>
                  <a:lnTo>
                    <a:pt x="13906" y="509509"/>
                  </a:lnTo>
                  <a:lnTo>
                    <a:pt x="13906" y="514272"/>
                  </a:lnTo>
                  <a:close/>
                </a:path>
                <a:path w="13970" h="1987550">
                  <a:moveTo>
                    <a:pt x="13906" y="616089"/>
                  </a:moveTo>
                  <a:lnTo>
                    <a:pt x="13906" y="662235"/>
                  </a:lnTo>
                  <a:lnTo>
                    <a:pt x="13906" y="666978"/>
                  </a:lnTo>
                  <a:lnTo>
                    <a:pt x="9077" y="666978"/>
                  </a:lnTo>
                  <a:lnTo>
                    <a:pt x="0" y="666978"/>
                  </a:lnTo>
                  <a:lnTo>
                    <a:pt x="0" y="662235"/>
                  </a:lnTo>
                  <a:lnTo>
                    <a:pt x="0" y="616089"/>
                  </a:lnTo>
                  <a:lnTo>
                    <a:pt x="0" y="611326"/>
                  </a:lnTo>
                  <a:lnTo>
                    <a:pt x="4442" y="611326"/>
                  </a:lnTo>
                  <a:lnTo>
                    <a:pt x="9077" y="611326"/>
                  </a:lnTo>
                  <a:lnTo>
                    <a:pt x="13906" y="611326"/>
                  </a:lnTo>
                  <a:lnTo>
                    <a:pt x="13906" y="616089"/>
                  </a:lnTo>
                  <a:close/>
                </a:path>
                <a:path w="13970" h="1987550">
                  <a:moveTo>
                    <a:pt x="13906" y="717887"/>
                  </a:moveTo>
                  <a:lnTo>
                    <a:pt x="13906" y="759752"/>
                  </a:lnTo>
                  <a:lnTo>
                    <a:pt x="13906" y="764515"/>
                  </a:lnTo>
                  <a:lnTo>
                    <a:pt x="13906" y="768796"/>
                  </a:lnTo>
                  <a:lnTo>
                    <a:pt x="9077" y="768796"/>
                  </a:lnTo>
                  <a:lnTo>
                    <a:pt x="0" y="768796"/>
                  </a:lnTo>
                  <a:lnTo>
                    <a:pt x="0" y="764515"/>
                  </a:lnTo>
                  <a:lnTo>
                    <a:pt x="0" y="759752"/>
                  </a:lnTo>
                  <a:lnTo>
                    <a:pt x="0" y="717887"/>
                  </a:lnTo>
                  <a:lnTo>
                    <a:pt x="0" y="713143"/>
                  </a:lnTo>
                  <a:lnTo>
                    <a:pt x="4442" y="713143"/>
                  </a:lnTo>
                  <a:lnTo>
                    <a:pt x="9077" y="713143"/>
                  </a:lnTo>
                  <a:lnTo>
                    <a:pt x="13906" y="713143"/>
                  </a:lnTo>
                  <a:lnTo>
                    <a:pt x="13906" y="717887"/>
                  </a:lnTo>
                  <a:close/>
                </a:path>
                <a:path w="13970" h="1987550">
                  <a:moveTo>
                    <a:pt x="13906" y="819704"/>
                  </a:moveTo>
                  <a:lnTo>
                    <a:pt x="13906" y="861569"/>
                  </a:lnTo>
                  <a:lnTo>
                    <a:pt x="13906" y="866332"/>
                  </a:lnTo>
                  <a:lnTo>
                    <a:pt x="9077" y="871095"/>
                  </a:lnTo>
                  <a:lnTo>
                    <a:pt x="0" y="866332"/>
                  </a:lnTo>
                  <a:lnTo>
                    <a:pt x="0" y="861569"/>
                  </a:lnTo>
                  <a:lnTo>
                    <a:pt x="0" y="819704"/>
                  </a:lnTo>
                  <a:lnTo>
                    <a:pt x="0" y="815423"/>
                  </a:lnTo>
                  <a:lnTo>
                    <a:pt x="4442" y="815423"/>
                  </a:lnTo>
                  <a:lnTo>
                    <a:pt x="9077" y="810660"/>
                  </a:lnTo>
                  <a:lnTo>
                    <a:pt x="9077" y="815423"/>
                  </a:lnTo>
                  <a:lnTo>
                    <a:pt x="13906" y="815423"/>
                  </a:lnTo>
                  <a:lnTo>
                    <a:pt x="13906" y="819704"/>
                  </a:lnTo>
                  <a:close/>
                </a:path>
                <a:path w="13970" h="1987550">
                  <a:moveTo>
                    <a:pt x="13906" y="922003"/>
                  </a:moveTo>
                  <a:lnTo>
                    <a:pt x="13906" y="963386"/>
                  </a:lnTo>
                  <a:lnTo>
                    <a:pt x="13906" y="968149"/>
                  </a:lnTo>
                  <a:lnTo>
                    <a:pt x="9077" y="972893"/>
                  </a:lnTo>
                  <a:lnTo>
                    <a:pt x="0" y="968149"/>
                  </a:lnTo>
                  <a:lnTo>
                    <a:pt x="0" y="963386"/>
                  </a:lnTo>
                  <a:lnTo>
                    <a:pt x="0" y="922003"/>
                  </a:lnTo>
                  <a:lnTo>
                    <a:pt x="0" y="917240"/>
                  </a:lnTo>
                  <a:lnTo>
                    <a:pt x="4442" y="912477"/>
                  </a:lnTo>
                  <a:lnTo>
                    <a:pt x="9077" y="912477"/>
                  </a:lnTo>
                  <a:lnTo>
                    <a:pt x="13906" y="917240"/>
                  </a:lnTo>
                  <a:lnTo>
                    <a:pt x="13906" y="922003"/>
                  </a:lnTo>
                  <a:close/>
                </a:path>
                <a:path w="13970" h="1987550">
                  <a:moveTo>
                    <a:pt x="13906" y="1023801"/>
                  </a:moveTo>
                  <a:lnTo>
                    <a:pt x="13906" y="1065203"/>
                  </a:lnTo>
                  <a:lnTo>
                    <a:pt x="13906" y="1069966"/>
                  </a:lnTo>
                  <a:lnTo>
                    <a:pt x="9077" y="1074710"/>
                  </a:lnTo>
                  <a:lnTo>
                    <a:pt x="0" y="1069966"/>
                  </a:lnTo>
                  <a:lnTo>
                    <a:pt x="0" y="1065203"/>
                  </a:lnTo>
                  <a:lnTo>
                    <a:pt x="0" y="1023801"/>
                  </a:lnTo>
                  <a:lnTo>
                    <a:pt x="0" y="1019057"/>
                  </a:lnTo>
                  <a:lnTo>
                    <a:pt x="4442" y="1014294"/>
                  </a:lnTo>
                  <a:lnTo>
                    <a:pt x="9077" y="1014294"/>
                  </a:lnTo>
                  <a:lnTo>
                    <a:pt x="13906" y="1019057"/>
                  </a:lnTo>
                  <a:lnTo>
                    <a:pt x="13906" y="1023801"/>
                  </a:lnTo>
                  <a:close/>
                </a:path>
                <a:path w="13970" h="1987550">
                  <a:moveTo>
                    <a:pt x="13906" y="1125618"/>
                  </a:moveTo>
                  <a:lnTo>
                    <a:pt x="13906" y="1167483"/>
                  </a:lnTo>
                  <a:lnTo>
                    <a:pt x="13906" y="1171764"/>
                  </a:lnTo>
                  <a:lnTo>
                    <a:pt x="9077" y="1176527"/>
                  </a:lnTo>
                  <a:lnTo>
                    <a:pt x="0" y="1171764"/>
                  </a:lnTo>
                  <a:lnTo>
                    <a:pt x="0" y="1167483"/>
                  </a:lnTo>
                  <a:lnTo>
                    <a:pt x="0" y="1125618"/>
                  </a:lnTo>
                  <a:lnTo>
                    <a:pt x="0" y="1120855"/>
                  </a:lnTo>
                  <a:lnTo>
                    <a:pt x="0" y="1116574"/>
                  </a:lnTo>
                  <a:lnTo>
                    <a:pt x="4442" y="1116574"/>
                  </a:lnTo>
                  <a:lnTo>
                    <a:pt x="9077" y="1116574"/>
                  </a:lnTo>
                  <a:lnTo>
                    <a:pt x="13906" y="1116574"/>
                  </a:lnTo>
                  <a:lnTo>
                    <a:pt x="13906" y="1120855"/>
                  </a:lnTo>
                  <a:lnTo>
                    <a:pt x="13906" y="1125618"/>
                  </a:lnTo>
                  <a:close/>
                </a:path>
                <a:path w="13970" h="1987550">
                  <a:moveTo>
                    <a:pt x="13906" y="1223154"/>
                  </a:moveTo>
                  <a:lnTo>
                    <a:pt x="13906" y="1269300"/>
                  </a:lnTo>
                  <a:lnTo>
                    <a:pt x="13906" y="1274063"/>
                  </a:lnTo>
                  <a:lnTo>
                    <a:pt x="9077" y="1274063"/>
                  </a:lnTo>
                  <a:lnTo>
                    <a:pt x="0" y="1274063"/>
                  </a:lnTo>
                  <a:lnTo>
                    <a:pt x="0" y="1269300"/>
                  </a:lnTo>
                  <a:lnTo>
                    <a:pt x="0" y="1223154"/>
                  </a:lnTo>
                  <a:lnTo>
                    <a:pt x="0" y="1218391"/>
                  </a:lnTo>
                  <a:lnTo>
                    <a:pt x="4442" y="1218391"/>
                  </a:lnTo>
                  <a:lnTo>
                    <a:pt x="9077" y="1218391"/>
                  </a:lnTo>
                  <a:lnTo>
                    <a:pt x="13906" y="1218391"/>
                  </a:lnTo>
                  <a:lnTo>
                    <a:pt x="13906" y="1223154"/>
                  </a:lnTo>
                  <a:close/>
                </a:path>
                <a:path w="13970" h="1987550">
                  <a:moveTo>
                    <a:pt x="13906" y="1324971"/>
                  </a:moveTo>
                  <a:lnTo>
                    <a:pt x="13906" y="1371117"/>
                  </a:lnTo>
                  <a:lnTo>
                    <a:pt x="13906" y="1375880"/>
                  </a:lnTo>
                  <a:lnTo>
                    <a:pt x="9077" y="1375880"/>
                  </a:lnTo>
                  <a:lnTo>
                    <a:pt x="0" y="1375880"/>
                  </a:lnTo>
                  <a:lnTo>
                    <a:pt x="0" y="1371117"/>
                  </a:lnTo>
                  <a:lnTo>
                    <a:pt x="0" y="1324971"/>
                  </a:lnTo>
                  <a:lnTo>
                    <a:pt x="0" y="1320208"/>
                  </a:lnTo>
                  <a:lnTo>
                    <a:pt x="4442" y="1320208"/>
                  </a:lnTo>
                  <a:lnTo>
                    <a:pt x="9077" y="1320208"/>
                  </a:lnTo>
                  <a:lnTo>
                    <a:pt x="13906" y="1320208"/>
                  </a:lnTo>
                  <a:lnTo>
                    <a:pt x="13906" y="1324971"/>
                  </a:lnTo>
                  <a:close/>
                </a:path>
                <a:path w="13970" h="1987550">
                  <a:moveTo>
                    <a:pt x="13906" y="1426769"/>
                  </a:moveTo>
                  <a:lnTo>
                    <a:pt x="13906" y="1472934"/>
                  </a:lnTo>
                  <a:lnTo>
                    <a:pt x="13906" y="1477678"/>
                  </a:lnTo>
                  <a:lnTo>
                    <a:pt x="9077" y="1477678"/>
                  </a:lnTo>
                  <a:lnTo>
                    <a:pt x="0" y="1477678"/>
                  </a:lnTo>
                  <a:lnTo>
                    <a:pt x="0" y="1472934"/>
                  </a:lnTo>
                  <a:lnTo>
                    <a:pt x="0" y="1426769"/>
                  </a:lnTo>
                  <a:lnTo>
                    <a:pt x="0" y="1422025"/>
                  </a:lnTo>
                  <a:lnTo>
                    <a:pt x="4442" y="1422025"/>
                  </a:lnTo>
                  <a:lnTo>
                    <a:pt x="9077" y="1422025"/>
                  </a:lnTo>
                  <a:lnTo>
                    <a:pt x="13906" y="1422025"/>
                  </a:lnTo>
                  <a:lnTo>
                    <a:pt x="13906" y="1426769"/>
                  </a:lnTo>
                  <a:close/>
                </a:path>
                <a:path w="13970" h="1987550">
                  <a:moveTo>
                    <a:pt x="13906" y="1528586"/>
                  </a:moveTo>
                  <a:lnTo>
                    <a:pt x="13906" y="1570451"/>
                  </a:lnTo>
                  <a:lnTo>
                    <a:pt x="13906" y="1575214"/>
                  </a:lnTo>
                  <a:lnTo>
                    <a:pt x="13906" y="1579495"/>
                  </a:lnTo>
                  <a:lnTo>
                    <a:pt x="9077" y="1579495"/>
                  </a:lnTo>
                  <a:lnTo>
                    <a:pt x="0" y="1579495"/>
                  </a:lnTo>
                  <a:lnTo>
                    <a:pt x="0" y="1575214"/>
                  </a:lnTo>
                  <a:lnTo>
                    <a:pt x="0" y="1570451"/>
                  </a:lnTo>
                  <a:lnTo>
                    <a:pt x="0" y="1528586"/>
                  </a:lnTo>
                  <a:lnTo>
                    <a:pt x="0" y="1523842"/>
                  </a:lnTo>
                  <a:lnTo>
                    <a:pt x="4442" y="1523842"/>
                  </a:lnTo>
                  <a:lnTo>
                    <a:pt x="9077" y="1523842"/>
                  </a:lnTo>
                  <a:lnTo>
                    <a:pt x="13906" y="1523842"/>
                  </a:lnTo>
                  <a:lnTo>
                    <a:pt x="13906" y="1528586"/>
                  </a:lnTo>
                  <a:close/>
                </a:path>
                <a:path w="13970" h="1987550">
                  <a:moveTo>
                    <a:pt x="13906" y="1630403"/>
                  </a:moveTo>
                  <a:lnTo>
                    <a:pt x="13906" y="1672268"/>
                  </a:lnTo>
                  <a:lnTo>
                    <a:pt x="13906" y="1677031"/>
                  </a:lnTo>
                  <a:lnTo>
                    <a:pt x="9077" y="1681794"/>
                  </a:lnTo>
                  <a:lnTo>
                    <a:pt x="0" y="1677031"/>
                  </a:lnTo>
                  <a:lnTo>
                    <a:pt x="0" y="1672268"/>
                  </a:lnTo>
                  <a:lnTo>
                    <a:pt x="0" y="1630403"/>
                  </a:lnTo>
                  <a:lnTo>
                    <a:pt x="0" y="1626122"/>
                  </a:lnTo>
                  <a:lnTo>
                    <a:pt x="4442" y="1626122"/>
                  </a:lnTo>
                  <a:lnTo>
                    <a:pt x="9077" y="1621359"/>
                  </a:lnTo>
                  <a:lnTo>
                    <a:pt x="9077" y="1626122"/>
                  </a:lnTo>
                  <a:lnTo>
                    <a:pt x="13906" y="1626122"/>
                  </a:lnTo>
                  <a:lnTo>
                    <a:pt x="13906" y="1630403"/>
                  </a:lnTo>
                  <a:close/>
                </a:path>
                <a:path w="13970" h="1987550">
                  <a:moveTo>
                    <a:pt x="13906" y="1732702"/>
                  </a:moveTo>
                  <a:lnTo>
                    <a:pt x="13906" y="1774085"/>
                  </a:lnTo>
                  <a:lnTo>
                    <a:pt x="13906" y="1778848"/>
                  </a:lnTo>
                  <a:lnTo>
                    <a:pt x="9077" y="1783592"/>
                  </a:lnTo>
                  <a:lnTo>
                    <a:pt x="0" y="1778848"/>
                  </a:lnTo>
                  <a:lnTo>
                    <a:pt x="0" y="1774085"/>
                  </a:lnTo>
                  <a:lnTo>
                    <a:pt x="0" y="1732702"/>
                  </a:lnTo>
                  <a:lnTo>
                    <a:pt x="0" y="1727939"/>
                  </a:lnTo>
                  <a:lnTo>
                    <a:pt x="4442" y="1723176"/>
                  </a:lnTo>
                  <a:lnTo>
                    <a:pt x="9077" y="1723176"/>
                  </a:lnTo>
                  <a:lnTo>
                    <a:pt x="13906" y="1727939"/>
                  </a:lnTo>
                  <a:lnTo>
                    <a:pt x="13906" y="1732702"/>
                  </a:lnTo>
                  <a:close/>
                </a:path>
                <a:path w="13970" h="1987550">
                  <a:moveTo>
                    <a:pt x="13906" y="1834500"/>
                  </a:moveTo>
                  <a:lnTo>
                    <a:pt x="13906" y="1876365"/>
                  </a:lnTo>
                  <a:lnTo>
                    <a:pt x="13906" y="1880646"/>
                  </a:lnTo>
                  <a:lnTo>
                    <a:pt x="9077" y="1885409"/>
                  </a:lnTo>
                  <a:lnTo>
                    <a:pt x="0" y="1880646"/>
                  </a:lnTo>
                  <a:lnTo>
                    <a:pt x="0" y="1876365"/>
                  </a:lnTo>
                  <a:lnTo>
                    <a:pt x="0" y="1834500"/>
                  </a:lnTo>
                  <a:lnTo>
                    <a:pt x="0" y="1829756"/>
                  </a:lnTo>
                  <a:lnTo>
                    <a:pt x="4442" y="1824993"/>
                  </a:lnTo>
                  <a:lnTo>
                    <a:pt x="9077" y="1824993"/>
                  </a:lnTo>
                  <a:lnTo>
                    <a:pt x="13906" y="1829756"/>
                  </a:lnTo>
                  <a:lnTo>
                    <a:pt x="13906" y="1834500"/>
                  </a:lnTo>
                  <a:close/>
                </a:path>
                <a:path w="13970" h="1987550">
                  <a:moveTo>
                    <a:pt x="13906" y="1936319"/>
                  </a:moveTo>
                  <a:lnTo>
                    <a:pt x="13906" y="1978186"/>
                  </a:lnTo>
                  <a:lnTo>
                    <a:pt x="13906" y="1982469"/>
                  </a:lnTo>
                  <a:lnTo>
                    <a:pt x="9077" y="1987226"/>
                  </a:lnTo>
                  <a:lnTo>
                    <a:pt x="0" y="1982469"/>
                  </a:lnTo>
                  <a:lnTo>
                    <a:pt x="0" y="1978186"/>
                  </a:lnTo>
                  <a:lnTo>
                    <a:pt x="0" y="1936319"/>
                  </a:lnTo>
                  <a:lnTo>
                    <a:pt x="0" y="1931562"/>
                  </a:lnTo>
                  <a:lnTo>
                    <a:pt x="0" y="1927279"/>
                  </a:lnTo>
                  <a:lnTo>
                    <a:pt x="4442" y="1927279"/>
                  </a:lnTo>
                  <a:lnTo>
                    <a:pt x="9077" y="1927279"/>
                  </a:lnTo>
                  <a:lnTo>
                    <a:pt x="13906" y="1927279"/>
                  </a:lnTo>
                  <a:lnTo>
                    <a:pt x="13906" y="1931562"/>
                  </a:lnTo>
                  <a:lnTo>
                    <a:pt x="13906" y="1936319"/>
                  </a:lnTo>
                  <a:close/>
                </a:path>
              </a:pathLst>
            </a:custGeom>
            <a:ln w="4780">
              <a:solidFill>
                <a:srgbClr val="000000"/>
              </a:solidFill>
            </a:ln>
          </p:spPr>
          <p:txBody>
            <a:bodyPr wrap="square" lIns="0" tIns="0" rIns="0" bIns="0" rtlCol="0"/>
            <a:lstStyle/>
            <a:p/>
          </p:txBody>
        </p:sp>
        <p:sp>
          <p:nvSpPr>
            <p:cNvPr id="32" name="object 32" descr=""/>
            <p:cNvSpPr/>
            <p:nvPr/>
          </p:nvSpPr>
          <p:spPr>
            <a:xfrm>
              <a:off x="3986514" y="3859172"/>
              <a:ext cx="5318125" cy="1918335"/>
            </a:xfrm>
            <a:custGeom>
              <a:avLst/>
              <a:gdLst/>
              <a:ahLst/>
              <a:cxnLst/>
              <a:rect l="l" t="t" r="r" b="b"/>
              <a:pathLst>
                <a:path w="5318125" h="1918335">
                  <a:moveTo>
                    <a:pt x="5238711" y="120329"/>
                  </a:moveTo>
                  <a:lnTo>
                    <a:pt x="5233882" y="115508"/>
                  </a:lnTo>
                  <a:lnTo>
                    <a:pt x="5233882" y="106445"/>
                  </a:lnTo>
                  <a:lnTo>
                    <a:pt x="5224805" y="101817"/>
                  </a:lnTo>
                  <a:lnTo>
                    <a:pt x="5219976" y="96996"/>
                  </a:lnTo>
                  <a:lnTo>
                    <a:pt x="5210899" y="92175"/>
                  </a:lnTo>
                  <a:lnTo>
                    <a:pt x="5201242" y="87932"/>
                  </a:lnTo>
                  <a:lnTo>
                    <a:pt x="5187529" y="83304"/>
                  </a:lnTo>
                  <a:lnTo>
                    <a:pt x="5173623" y="78483"/>
                  </a:lnTo>
                  <a:lnTo>
                    <a:pt x="5159717" y="73663"/>
                  </a:lnTo>
                  <a:lnTo>
                    <a:pt x="5140982" y="69420"/>
                  </a:lnTo>
                  <a:lnTo>
                    <a:pt x="5122827" y="69420"/>
                  </a:lnTo>
                  <a:lnTo>
                    <a:pt x="5104286" y="64599"/>
                  </a:lnTo>
                  <a:lnTo>
                    <a:pt x="5062568" y="59971"/>
                  </a:lnTo>
                  <a:lnTo>
                    <a:pt x="5020464" y="59971"/>
                  </a:lnTo>
                  <a:lnTo>
                    <a:pt x="4153075" y="59971"/>
                  </a:lnTo>
                  <a:lnTo>
                    <a:pt x="4110970" y="59971"/>
                  </a:lnTo>
                  <a:lnTo>
                    <a:pt x="4069445" y="55150"/>
                  </a:lnTo>
                  <a:lnTo>
                    <a:pt x="4050711" y="55150"/>
                  </a:lnTo>
                  <a:lnTo>
                    <a:pt x="4031976" y="50908"/>
                  </a:lnTo>
                  <a:lnTo>
                    <a:pt x="4018263" y="46087"/>
                  </a:lnTo>
                  <a:lnTo>
                    <a:pt x="3999529" y="41266"/>
                  </a:lnTo>
                  <a:lnTo>
                    <a:pt x="3985623" y="37024"/>
                  </a:lnTo>
                  <a:lnTo>
                    <a:pt x="3976545" y="32396"/>
                  </a:lnTo>
                  <a:lnTo>
                    <a:pt x="3962639" y="27575"/>
                  </a:lnTo>
                  <a:lnTo>
                    <a:pt x="3953175" y="22754"/>
                  </a:lnTo>
                  <a:lnTo>
                    <a:pt x="3948733" y="18512"/>
                  </a:lnTo>
                  <a:lnTo>
                    <a:pt x="3939269" y="13691"/>
                  </a:lnTo>
                  <a:lnTo>
                    <a:pt x="3939269" y="9063"/>
                  </a:lnTo>
                  <a:lnTo>
                    <a:pt x="3939269" y="0"/>
                  </a:lnTo>
                  <a:lnTo>
                    <a:pt x="3935020" y="9063"/>
                  </a:lnTo>
                  <a:lnTo>
                    <a:pt x="3935020" y="13691"/>
                  </a:lnTo>
                  <a:lnTo>
                    <a:pt x="3925363" y="18512"/>
                  </a:lnTo>
                  <a:lnTo>
                    <a:pt x="3921114" y="22754"/>
                  </a:lnTo>
                  <a:lnTo>
                    <a:pt x="3911457" y="27575"/>
                  </a:lnTo>
                  <a:lnTo>
                    <a:pt x="3902380" y="32396"/>
                  </a:lnTo>
                  <a:lnTo>
                    <a:pt x="3888474" y="37024"/>
                  </a:lnTo>
                  <a:lnTo>
                    <a:pt x="3874761" y="41266"/>
                  </a:lnTo>
                  <a:lnTo>
                    <a:pt x="3860855" y="46087"/>
                  </a:lnTo>
                  <a:lnTo>
                    <a:pt x="3842120" y="50908"/>
                  </a:lnTo>
                  <a:lnTo>
                    <a:pt x="3823386" y="55150"/>
                  </a:lnTo>
                  <a:lnTo>
                    <a:pt x="3804844" y="55150"/>
                  </a:lnTo>
                  <a:lnTo>
                    <a:pt x="3763126" y="59971"/>
                  </a:lnTo>
                  <a:lnTo>
                    <a:pt x="3721601" y="59971"/>
                  </a:lnTo>
                  <a:lnTo>
                    <a:pt x="2853826" y="59971"/>
                  </a:lnTo>
                  <a:lnTo>
                    <a:pt x="2812108" y="59971"/>
                  </a:lnTo>
                  <a:lnTo>
                    <a:pt x="2770004" y="64599"/>
                  </a:lnTo>
                  <a:lnTo>
                    <a:pt x="2751269" y="69420"/>
                  </a:lnTo>
                  <a:lnTo>
                    <a:pt x="2733114" y="69420"/>
                  </a:lnTo>
                  <a:lnTo>
                    <a:pt x="2719208" y="73663"/>
                  </a:lnTo>
                  <a:lnTo>
                    <a:pt x="2700667" y="78483"/>
                  </a:lnTo>
                  <a:lnTo>
                    <a:pt x="2686761" y="83304"/>
                  </a:lnTo>
                  <a:lnTo>
                    <a:pt x="2677297" y="87932"/>
                  </a:lnTo>
                  <a:lnTo>
                    <a:pt x="2663391" y="92175"/>
                  </a:lnTo>
                  <a:lnTo>
                    <a:pt x="2654313" y="96996"/>
                  </a:lnTo>
                  <a:lnTo>
                    <a:pt x="2649485" y="101817"/>
                  </a:lnTo>
                  <a:lnTo>
                    <a:pt x="2640407" y="106445"/>
                  </a:lnTo>
                  <a:lnTo>
                    <a:pt x="2640407" y="115508"/>
                  </a:lnTo>
                  <a:lnTo>
                    <a:pt x="2640407" y="120329"/>
                  </a:lnTo>
                </a:path>
                <a:path w="5318125" h="1918335">
                  <a:moveTo>
                    <a:pt x="41621" y="301208"/>
                  </a:moveTo>
                  <a:lnTo>
                    <a:pt x="5317512" y="301208"/>
                  </a:lnTo>
                </a:path>
                <a:path w="5318125" h="1918335">
                  <a:moveTo>
                    <a:pt x="0" y="657472"/>
                  </a:moveTo>
                  <a:lnTo>
                    <a:pt x="60278" y="657472"/>
                  </a:lnTo>
                </a:path>
                <a:path w="5318125" h="1918335">
                  <a:moveTo>
                    <a:pt x="60278" y="657472"/>
                  </a:moveTo>
                  <a:lnTo>
                    <a:pt x="120557" y="838255"/>
                  </a:lnTo>
                </a:path>
                <a:path w="5318125" h="1918335">
                  <a:moveTo>
                    <a:pt x="120557" y="838255"/>
                  </a:moveTo>
                  <a:lnTo>
                    <a:pt x="204283" y="838255"/>
                  </a:lnTo>
                </a:path>
                <a:path w="5318125" h="1918335">
                  <a:moveTo>
                    <a:pt x="204283" y="838255"/>
                  </a:moveTo>
                  <a:lnTo>
                    <a:pt x="283219" y="657472"/>
                  </a:lnTo>
                </a:path>
                <a:path w="5318125" h="1918335">
                  <a:moveTo>
                    <a:pt x="283219" y="657472"/>
                  </a:moveTo>
                  <a:lnTo>
                    <a:pt x="2640407" y="657472"/>
                  </a:lnTo>
                </a:path>
                <a:path w="5318125" h="1918335">
                  <a:moveTo>
                    <a:pt x="2640407" y="657472"/>
                  </a:moveTo>
                  <a:lnTo>
                    <a:pt x="2719208" y="838255"/>
                  </a:lnTo>
                </a:path>
                <a:path w="5318125" h="1918335">
                  <a:moveTo>
                    <a:pt x="2719208" y="838255"/>
                  </a:moveTo>
                  <a:lnTo>
                    <a:pt x="2802451" y="838255"/>
                  </a:lnTo>
                </a:path>
                <a:path w="5318125" h="1918335">
                  <a:moveTo>
                    <a:pt x="2802451" y="838255"/>
                  </a:moveTo>
                  <a:lnTo>
                    <a:pt x="2881445" y="657472"/>
                  </a:lnTo>
                </a:path>
                <a:path w="5318125" h="1918335">
                  <a:moveTo>
                    <a:pt x="2881445" y="657472"/>
                  </a:moveTo>
                  <a:lnTo>
                    <a:pt x="5317512" y="657472"/>
                  </a:lnTo>
                </a:path>
                <a:path w="5318125" h="1918335">
                  <a:moveTo>
                    <a:pt x="691303" y="1019057"/>
                  </a:moveTo>
                  <a:lnTo>
                    <a:pt x="770259" y="1199840"/>
                  </a:lnTo>
                </a:path>
                <a:path w="5318125" h="1918335">
                  <a:moveTo>
                    <a:pt x="770259" y="1199840"/>
                  </a:moveTo>
                  <a:lnTo>
                    <a:pt x="853965" y="1199840"/>
                  </a:lnTo>
                </a:path>
                <a:path w="5318125" h="1918335">
                  <a:moveTo>
                    <a:pt x="853965" y="1199840"/>
                  </a:moveTo>
                  <a:lnTo>
                    <a:pt x="932901" y="1019057"/>
                  </a:lnTo>
                </a:path>
                <a:path w="5318125" h="1918335">
                  <a:moveTo>
                    <a:pt x="932901" y="1019057"/>
                  </a:moveTo>
                  <a:lnTo>
                    <a:pt x="3290128" y="1019057"/>
                  </a:lnTo>
                </a:path>
                <a:path w="5318125" h="1918335">
                  <a:moveTo>
                    <a:pt x="3290128" y="1019057"/>
                  </a:moveTo>
                  <a:lnTo>
                    <a:pt x="3368543" y="1199840"/>
                  </a:lnTo>
                </a:path>
                <a:path w="5318125" h="1918335">
                  <a:moveTo>
                    <a:pt x="3452172" y="1199840"/>
                  </a:moveTo>
                  <a:lnTo>
                    <a:pt x="3531166" y="1019057"/>
                  </a:lnTo>
                </a:path>
                <a:path w="5318125" h="1918335">
                  <a:moveTo>
                    <a:pt x="3368543" y="1199840"/>
                  </a:moveTo>
                  <a:lnTo>
                    <a:pt x="3452172" y="1199840"/>
                  </a:lnTo>
                </a:path>
                <a:path w="5318125" h="1918335">
                  <a:moveTo>
                    <a:pt x="1340966" y="1375880"/>
                  </a:moveTo>
                  <a:lnTo>
                    <a:pt x="1419960" y="1556181"/>
                  </a:lnTo>
                </a:path>
                <a:path w="5318125" h="1918335">
                  <a:moveTo>
                    <a:pt x="1419960" y="1556181"/>
                  </a:moveTo>
                  <a:lnTo>
                    <a:pt x="1503203" y="1556181"/>
                  </a:lnTo>
                </a:path>
                <a:path w="5318125" h="1918335">
                  <a:moveTo>
                    <a:pt x="1503203" y="1556181"/>
                  </a:moveTo>
                  <a:lnTo>
                    <a:pt x="1582197" y="1375880"/>
                  </a:lnTo>
                </a:path>
                <a:path w="5318125" h="1918335">
                  <a:moveTo>
                    <a:pt x="1582197" y="1375880"/>
                  </a:moveTo>
                  <a:lnTo>
                    <a:pt x="3939270" y="1375880"/>
                  </a:lnTo>
                </a:path>
                <a:path w="5318125" h="1918335">
                  <a:moveTo>
                    <a:pt x="3939270" y="1375880"/>
                  </a:moveTo>
                  <a:lnTo>
                    <a:pt x="4018264" y="1556181"/>
                  </a:lnTo>
                </a:path>
                <a:path w="5318125" h="1918335">
                  <a:moveTo>
                    <a:pt x="4101893" y="1556181"/>
                  </a:moveTo>
                  <a:lnTo>
                    <a:pt x="4180887" y="1375880"/>
                  </a:lnTo>
                </a:path>
                <a:path w="5318125" h="1918335">
                  <a:moveTo>
                    <a:pt x="4018264" y="1556181"/>
                  </a:moveTo>
                  <a:lnTo>
                    <a:pt x="4101893" y="1556181"/>
                  </a:lnTo>
                </a:path>
                <a:path w="5318125" h="1918335">
                  <a:moveTo>
                    <a:pt x="1990687" y="1736983"/>
                  </a:moveTo>
                  <a:lnTo>
                    <a:pt x="2069681" y="1917767"/>
                  </a:lnTo>
                </a:path>
                <a:path w="5318125" h="1918335">
                  <a:moveTo>
                    <a:pt x="2069681" y="1917767"/>
                  </a:moveTo>
                  <a:lnTo>
                    <a:pt x="2152924" y="1917767"/>
                  </a:lnTo>
                </a:path>
                <a:path w="5318125" h="1918335">
                  <a:moveTo>
                    <a:pt x="2152924" y="1917767"/>
                  </a:moveTo>
                  <a:lnTo>
                    <a:pt x="2231725" y="1736983"/>
                  </a:lnTo>
                </a:path>
                <a:path w="5318125" h="1918335">
                  <a:moveTo>
                    <a:pt x="2231725" y="1736983"/>
                  </a:moveTo>
                  <a:lnTo>
                    <a:pt x="4588990" y="1736983"/>
                  </a:lnTo>
                </a:path>
                <a:path w="5318125" h="1918335">
                  <a:moveTo>
                    <a:pt x="4588990" y="1736983"/>
                  </a:moveTo>
                  <a:lnTo>
                    <a:pt x="4667791" y="1917767"/>
                  </a:lnTo>
                </a:path>
                <a:path w="5318125" h="1918335">
                  <a:moveTo>
                    <a:pt x="4751614" y="1917767"/>
                  </a:moveTo>
                  <a:lnTo>
                    <a:pt x="4830608" y="1736983"/>
                  </a:lnTo>
                </a:path>
                <a:path w="5318125" h="1918335">
                  <a:moveTo>
                    <a:pt x="4667791" y="1917767"/>
                  </a:moveTo>
                  <a:lnTo>
                    <a:pt x="4751614" y="1917767"/>
                  </a:lnTo>
                </a:path>
                <a:path w="5318125" h="1918335">
                  <a:moveTo>
                    <a:pt x="18657" y="1019057"/>
                  </a:moveTo>
                  <a:lnTo>
                    <a:pt x="691303" y="1019057"/>
                  </a:lnTo>
                </a:path>
                <a:path w="5318125" h="1918335">
                  <a:moveTo>
                    <a:pt x="41621" y="1375880"/>
                  </a:moveTo>
                  <a:lnTo>
                    <a:pt x="1340966" y="1375880"/>
                  </a:lnTo>
                </a:path>
                <a:path w="5318125" h="1918335">
                  <a:moveTo>
                    <a:pt x="3531166" y="1019057"/>
                  </a:moveTo>
                  <a:lnTo>
                    <a:pt x="5317512" y="1019057"/>
                  </a:lnTo>
                </a:path>
                <a:path w="5318125" h="1918335">
                  <a:moveTo>
                    <a:pt x="4180887" y="1375880"/>
                  </a:moveTo>
                  <a:lnTo>
                    <a:pt x="5317512" y="1375880"/>
                  </a:lnTo>
                </a:path>
                <a:path w="5318125" h="1918335">
                  <a:moveTo>
                    <a:pt x="4830608" y="1736983"/>
                  </a:moveTo>
                  <a:lnTo>
                    <a:pt x="5317512" y="1736983"/>
                  </a:lnTo>
                </a:path>
                <a:path w="5318125" h="1918335">
                  <a:moveTo>
                    <a:pt x="41621" y="1736983"/>
                  </a:moveTo>
                  <a:lnTo>
                    <a:pt x="1990687" y="1736983"/>
                  </a:lnTo>
                </a:path>
              </a:pathLst>
            </a:custGeom>
            <a:ln w="13863">
              <a:solidFill>
                <a:srgbClr val="000000"/>
              </a:solidFill>
            </a:ln>
          </p:spPr>
          <p:txBody>
            <a:bodyPr wrap="square" lIns="0" tIns="0" rIns="0" bIns="0" rtlCol="0"/>
            <a:lstStyle/>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88363" y="97028"/>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232663" y="1468881"/>
            <a:ext cx="11006455" cy="3314065"/>
          </a:xfrm>
          <a:prstGeom prst="rect">
            <a:avLst/>
          </a:prstGeom>
        </p:spPr>
        <p:txBody>
          <a:bodyPr wrap="square" lIns="0" tIns="158750" rIns="0" bIns="0" rtlCol="0" vert="horz">
            <a:spAutoFit/>
          </a:bodyPr>
          <a:lstStyle/>
          <a:p>
            <a:pPr marL="508000" indent="-457200">
              <a:lnSpc>
                <a:spcPct val="100000"/>
              </a:lnSpc>
              <a:spcBef>
                <a:spcPts val="1250"/>
              </a:spcBef>
              <a:buClr>
                <a:srgbClr val="40458B"/>
              </a:buClr>
              <a:buFont typeface="Times New Roman"/>
              <a:buAutoNum type="arabicPeriod" startAt="5"/>
              <a:tabLst>
                <a:tab pos="508000" algn="l"/>
              </a:tabLst>
            </a:pPr>
            <a:r>
              <a:rPr dirty="0" sz="2400" spc="-5">
                <a:solidFill>
                  <a:srgbClr val="E14B04"/>
                </a:solidFill>
                <a:latin typeface="黑体"/>
                <a:cs typeface="黑体"/>
              </a:rPr>
              <a:t>通过一个模型分析并行主存系统的实际带宽</a:t>
            </a:r>
            <a:endParaRPr sz="2400">
              <a:latin typeface="黑体"/>
              <a:cs typeface="黑体"/>
            </a:endParaRPr>
          </a:p>
          <a:p>
            <a:pPr lvl="1" marL="1137285" indent="-457200">
              <a:lnSpc>
                <a:spcPct val="100000"/>
              </a:lnSpc>
              <a:spcBef>
                <a:spcPts val="1155"/>
              </a:spcBef>
              <a:buSzPct val="89583"/>
              <a:buFont typeface="Wingdings"/>
              <a:buChar char=""/>
              <a:tabLst>
                <a:tab pos="1137285" algn="l"/>
              </a:tabLst>
            </a:pPr>
            <a:r>
              <a:rPr dirty="0" sz="2400">
                <a:solidFill>
                  <a:srgbClr val="40458B"/>
                </a:solidFill>
                <a:latin typeface="黑体"/>
                <a:cs typeface="黑体"/>
              </a:rPr>
              <a:t>一个由</a:t>
            </a:r>
            <a:r>
              <a:rPr dirty="0" sz="2400" spc="-20">
                <a:solidFill>
                  <a:srgbClr val="9933FF"/>
                </a:solidFill>
                <a:latin typeface="Times New Roman"/>
                <a:cs typeface="Times New Roman"/>
              </a:rPr>
              <a:t>m</a:t>
            </a:r>
            <a:r>
              <a:rPr dirty="0" sz="2400" spc="-5">
                <a:solidFill>
                  <a:srgbClr val="40458B"/>
                </a:solidFill>
                <a:latin typeface="黑体"/>
                <a:cs typeface="黑体"/>
              </a:rPr>
              <a:t>个独立分体组成的主存系统</a:t>
            </a:r>
            <a:endParaRPr sz="2400">
              <a:latin typeface="黑体"/>
              <a:cs typeface="黑体"/>
            </a:endParaRPr>
          </a:p>
          <a:p>
            <a:pPr lvl="1" marL="1137285" indent="-457200">
              <a:lnSpc>
                <a:spcPct val="100000"/>
              </a:lnSpc>
              <a:spcBef>
                <a:spcPts val="1155"/>
              </a:spcBef>
              <a:buSzPct val="89583"/>
              <a:buFont typeface="Wingdings"/>
              <a:buChar char=""/>
              <a:tabLst>
                <a:tab pos="1137285" algn="l"/>
              </a:tabLst>
            </a:pPr>
            <a:r>
              <a:rPr dirty="0" sz="2400" spc="-30">
                <a:solidFill>
                  <a:srgbClr val="40458B"/>
                </a:solidFill>
                <a:latin typeface="Times New Roman"/>
                <a:cs typeface="Times New Roman"/>
              </a:rPr>
              <a:t>CPU</a:t>
            </a:r>
            <a:r>
              <a:rPr dirty="0" sz="2400">
                <a:solidFill>
                  <a:srgbClr val="40458B"/>
                </a:solidFill>
                <a:latin typeface="黑体"/>
                <a:cs typeface="黑体"/>
              </a:rPr>
              <a:t>发出的一串地址为</a:t>
            </a:r>
            <a:r>
              <a:rPr dirty="0" sz="2400" spc="-10">
                <a:solidFill>
                  <a:srgbClr val="9933FF"/>
                </a:solidFill>
                <a:latin typeface="Times New Roman"/>
                <a:cs typeface="Times New Roman"/>
              </a:rPr>
              <a:t>A</a:t>
            </a:r>
            <a:r>
              <a:rPr dirty="0" baseline="-20833" sz="2400" spc="-15">
                <a:solidFill>
                  <a:srgbClr val="9933FF"/>
                </a:solidFill>
                <a:latin typeface="Times New Roman"/>
                <a:cs typeface="Times New Roman"/>
              </a:rPr>
              <a:t>1</a:t>
            </a:r>
            <a:r>
              <a:rPr dirty="0" sz="2400" spc="-10">
                <a:solidFill>
                  <a:srgbClr val="9933FF"/>
                </a:solidFill>
                <a:latin typeface="黑体"/>
                <a:cs typeface="黑体"/>
              </a:rPr>
              <a:t>，</a:t>
            </a:r>
            <a:r>
              <a:rPr dirty="0" sz="2400" spc="-10">
                <a:solidFill>
                  <a:srgbClr val="9933FF"/>
                </a:solidFill>
                <a:latin typeface="Times New Roman"/>
                <a:cs typeface="Times New Roman"/>
              </a:rPr>
              <a:t>A</a:t>
            </a:r>
            <a:r>
              <a:rPr dirty="0" baseline="-20833" sz="2400" spc="-15">
                <a:solidFill>
                  <a:srgbClr val="9933FF"/>
                </a:solidFill>
                <a:latin typeface="Times New Roman"/>
                <a:cs typeface="Times New Roman"/>
              </a:rPr>
              <a:t>2</a:t>
            </a:r>
            <a:r>
              <a:rPr dirty="0" sz="2400" spc="-10">
                <a:solidFill>
                  <a:srgbClr val="9933FF"/>
                </a:solidFill>
                <a:latin typeface="黑体"/>
                <a:cs typeface="黑体"/>
              </a:rPr>
              <a:t>，</a:t>
            </a:r>
            <a:r>
              <a:rPr dirty="0" sz="2400" spc="-10">
                <a:solidFill>
                  <a:srgbClr val="9933FF"/>
                </a:solidFill>
                <a:latin typeface="Times New Roman"/>
                <a:cs typeface="Times New Roman"/>
              </a:rPr>
              <a:t>…</a:t>
            </a:r>
            <a:r>
              <a:rPr dirty="0" sz="2400" spc="-10">
                <a:solidFill>
                  <a:srgbClr val="9933FF"/>
                </a:solidFill>
                <a:latin typeface="黑体"/>
                <a:cs typeface="黑体"/>
              </a:rPr>
              <a:t>，</a:t>
            </a:r>
            <a:r>
              <a:rPr dirty="0" sz="2400" spc="-10">
                <a:solidFill>
                  <a:srgbClr val="9933FF"/>
                </a:solidFill>
                <a:latin typeface="Times New Roman"/>
                <a:cs typeface="Times New Roman"/>
              </a:rPr>
              <a:t>A</a:t>
            </a:r>
            <a:r>
              <a:rPr dirty="0" baseline="-20833" sz="2400" spc="-15">
                <a:solidFill>
                  <a:srgbClr val="9933FF"/>
                </a:solidFill>
                <a:latin typeface="Times New Roman"/>
                <a:cs typeface="Times New Roman"/>
              </a:rPr>
              <a:t>q</a:t>
            </a:r>
            <a:r>
              <a:rPr dirty="0" sz="2400" spc="-10">
                <a:solidFill>
                  <a:srgbClr val="40458B"/>
                </a:solidFill>
                <a:latin typeface="黑体"/>
                <a:cs typeface="黑体"/>
              </a:rPr>
              <a:t>的访存申请队列</a:t>
            </a:r>
            <a:endParaRPr sz="2400">
              <a:latin typeface="黑体"/>
              <a:cs typeface="黑体"/>
            </a:endParaRPr>
          </a:p>
          <a:p>
            <a:pPr lvl="1" marL="1137285" marR="55880" indent="-457200">
              <a:lnSpc>
                <a:spcPct val="120000"/>
              </a:lnSpc>
              <a:spcBef>
                <a:spcPts val="575"/>
              </a:spcBef>
              <a:buSzPct val="89583"/>
              <a:buFont typeface="Wingdings"/>
              <a:buChar char=""/>
              <a:tabLst>
                <a:tab pos="1137285" algn="l"/>
              </a:tabLst>
            </a:pPr>
            <a:r>
              <a:rPr dirty="0" sz="2400">
                <a:solidFill>
                  <a:srgbClr val="40458B"/>
                </a:solidFill>
                <a:latin typeface="黑体"/>
                <a:cs typeface="黑体"/>
              </a:rPr>
              <a:t>存储控制器扫描这个队列，并截取从头起的</a:t>
            </a:r>
            <a:r>
              <a:rPr dirty="0" sz="2400" spc="-10">
                <a:solidFill>
                  <a:srgbClr val="9933FF"/>
                </a:solidFill>
                <a:latin typeface="Times New Roman"/>
                <a:cs typeface="Times New Roman"/>
              </a:rPr>
              <a:t>A</a:t>
            </a:r>
            <a:r>
              <a:rPr dirty="0" baseline="-20833" sz="2400" spc="-15">
                <a:solidFill>
                  <a:srgbClr val="9933FF"/>
                </a:solidFill>
                <a:latin typeface="Times New Roman"/>
                <a:cs typeface="Times New Roman"/>
              </a:rPr>
              <a:t>1</a:t>
            </a:r>
            <a:r>
              <a:rPr dirty="0" sz="2400" spc="-10">
                <a:solidFill>
                  <a:srgbClr val="9933FF"/>
                </a:solidFill>
                <a:latin typeface="黑体"/>
                <a:cs typeface="黑体"/>
              </a:rPr>
              <a:t>，</a:t>
            </a:r>
            <a:r>
              <a:rPr dirty="0" sz="2400" spc="-10">
                <a:solidFill>
                  <a:srgbClr val="9933FF"/>
                </a:solidFill>
                <a:latin typeface="Times New Roman"/>
                <a:cs typeface="Times New Roman"/>
              </a:rPr>
              <a:t>A</a:t>
            </a:r>
            <a:r>
              <a:rPr dirty="0" baseline="-20833" sz="2400" spc="-15">
                <a:solidFill>
                  <a:srgbClr val="9933FF"/>
                </a:solidFill>
                <a:latin typeface="Times New Roman"/>
                <a:cs typeface="Times New Roman"/>
              </a:rPr>
              <a:t>2</a:t>
            </a:r>
            <a:r>
              <a:rPr dirty="0" sz="2400" spc="-10">
                <a:solidFill>
                  <a:srgbClr val="9933FF"/>
                </a:solidFill>
                <a:latin typeface="黑体"/>
                <a:cs typeface="黑体"/>
              </a:rPr>
              <a:t>，</a:t>
            </a:r>
            <a:r>
              <a:rPr dirty="0" sz="2400" spc="-10">
                <a:solidFill>
                  <a:srgbClr val="9933FF"/>
                </a:solidFill>
                <a:latin typeface="Times New Roman"/>
                <a:cs typeface="Times New Roman"/>
              </a:rPr>
              <a:t>…</a:t>
            </a:r>
            <a:r>
              <a:rPr dirty="0" sz="2400" spc="-10">
                <a:solidFill>
                  <a:srgbClr val="9933FF"/>
                </a:solidFill>
                <a:latin typeface="黑体"/>
                <a:cs typeface="黑体"/>
              </a:rPr>
              <a:t>，</a:t>
            </a:r>
            <a:r>
              <a:rPr dirty="0" sz="2400" spc="-10">
                <a:solidFill>
                  <a:srgbClr val="9933FF"/>
                </a:solidFill>
                <a:latin typeface="Times New Roman"/>
                <a:cs typeface="Times New Roman"/>
              </a:rPr>
              <a:t>A</a:t>
            </a:r>
            <a:r>
              <a:rPr dirty="0" baseline="-20833" sz="2400" spc="-15">
                <a:solidFill>
                  <a:srgbClr val="9933FF"/>
                </a:solidFill>
                <a:latin typeface="Times New Roman"/>
                <a:cs typeface="Times New Roman"/>
              </a:rPr>
              <a:t>k</a:t>
            </a:r>
            <a:r>
              <a:rPr dirty="0" sz="2400" spc="-10">
                <a:solidFill>
                  <a:srgbClr val="40458B"/>
                </a:solidFill>
                <a:latin typeface="黑体"/>
                <a:cs typeface="黑体"/>
              </a:rPr>
              <a:t>序列作为申请</a:t>
            </a:r>
            <a:r>
              <a:rPr dirty="0" sz="2400" spc="-25">
                <a:solidFill>
                  <a:srgbClr val="40458B"/>
                </a:solidFill>
                <a:latin typeface="黑体"/>
                <a:cs typeface="黑体"/>
              </a:rPr>
              <a:t>序列。</a:t>
            </a:r>
            <a:endParaRPr sz="2400">
              <a:latin typeface="黑体"/>
              <a:cs typeface="黑体"/>
            </a:endParaRPr>
          </a:p>
          <a:p>
            <a:pPr lvl="2" marL="1765300" marR="144145" indent="-457200">
              <a:lnSpc>
                <a:spcPct val="120000"/>
              </a:lnSpc>
              <a:spcBef>
                <a:spcPts val="545"/>
              </a:spcBef>
              <a:buClr>
                <a:srgbClr val="4668F5"/>
              </a:buClr>
              <a:buSzPct val="60000"/>
              <a:buFont typeface="Wingdings"/>
              <a:buChar char=""/>
              <a:tabLst>
                <a:tab pos="1765300" algn="l"/>
              </a:tabLst>
            </a:pPr>
            <a:r>
              <a:rPr dirty="0" sz="2000" spc="-10" b="1">
                <a:solidFill>
                  <a:srgbClr val="D50092"/>
                </a:solidFill>
                <a:latin typeface="宋体"/>
                <a:cs typeface="宋体"/>
              </a:rPr>
              <a:t>申请序列</a:t>
            </a:r>
            <a:r>
              <a:rPr dirty="0" sz="2000" spc="-25" b="1">
                <a:solidFill>
                  <a:srgbClr val="00AFEF"/>
                </a:solidFill>
                <a:latin typeface="宋体"/>
                <a:cs typeface="宋体"/>
              </a:rPr>
              <a:t>是满足以下条件的最长序列：</a:t>
            </a:r>
            <a:r>
              <a:rPr dirty="0" sz="2000" spc="-25" b="1">
                <a:solidFill>
                  <a:srgbClr val="9933FF"/>
                </a:solidFill>
                <a:latin typeface="Times New Roman"/>
                <a:cs typeface="Times New Roman"/>
              </a:rPr>
              <a:t>k</a:t>
            </a:r>
            <a:r>
              <a:rPr dirty="0" sz="2000" spc="-25" b="1">
                <a:solidFill>
                  <a:srgbClr val="00AFEF"/>
                </a:solidFill>
                <a:latin typeface="宋体"/>
                <a:cs typeface="宋体"/>
              </a:rPr>
              <a:t>个地址所访问的存储器单元都处在不同的</a:t>
            </a:r>
            <a:r>
              <a:rPr dirty="0" sz="2000" spc="-20" b="1">
                <a:solidFill>
                  <a:srgbClr val="00AFEF"/>
                </a:solidFill>
                <a:latin typeface="宋体"/>
                <a:cs typeface="宋体"/>
              </a:rPr>
              <a:t>分体中。</a:t>
            </a:r>
            <a:endParaRPr sz="2000">
              <a:latin typeface="宋体"/>
              <a:cs typeface="宋体"/>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149/170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695451" y="214376"/>
            <a:ext cx="8552815" cy="2319655"/>
          </a:xfrm>
          <a:prstGeom prst="rect">
            <a:avLst/>
          </a:prstGeom>
        </p:spPr>
        <p:txBody>
          <a:bodyPr wrap="square" lIns="0" tIns="12700" rIns="0" bIns="0" rtlCol="0" vert="horz">
            <a:spAutoFit/>
          </a:bodyPr>
          <a:lstStyle/>
          <a:p>
            <a:pPr marL="2277745">
              <a:lnSpc>
                <a:spcPct val="100000"/>
              </a:lnSpc>
              <a:spcBef>
                <a:spcPts val="100"/>
              </a:spcBef>
            </a:pPr>
            <a:r>
              <a:rPr dirty="0" sz="2000">
                <a:solidFill>
                  <a:srgbClr val="4F55AC"/>
                </a:solidFill>
                <a:latin typeface="黑体"/>
                <a:cs typeface="黑体"/>
              </a:rPr>
              <a:t>7.6</a:t>
            </a:r>
            <a:r>
              <a:rPr dirty="0" sz="2000" spc="-20">
                <a:solidFill>
                  <a:srgbClr val="4F55AC"/>
                </a:solidFill>
                <a:latin typeface="黑体"/>
                <a:cs typeface="黑体"/>
              </a:rPr>
              <a:t> 并行主存系统</a:t>
            </a:r>
            <a:endParaRPr sz="2000">
              <a:latin typeface="黑体"/>
              <a:cs typeface="黑体"/>
            </a:endParaRPr>
          </a:p>
          <a:p>
            <a:pPr>
              <a:lnSpc>
                <a:spcPct val="100000"/>
              </a:lnSpc>
            </a:pPr>
            <a:endParaRPr sz="2000">
              <a:latin typeface="黑体"/>
              <a:cs typeface="黑体"/>
            </a:endParaRPr>
          </a:p>
          <a:p>
            <a:pPr>
              <a:lnSpc>
                <a:spcPct val="100000"/>
              </a:lnSpc>
              <a:spcBef>
                <a:spcPts val="730"/>
              </a:spcBef>
            </a:pPr>
            <a:endParaRPr sz="2000">
              <a:latin typeface="黑体"/>
              <a:cs typeface="黑体"/>
            </a:endParaRPr>
          </a:p>
          <a:p>
            <a:pPr marL="1110615" indent="-457200">
              <a:lnSpc>
                <a:spcPct val="100000"/>
              </a:lnSpc>
              <a:buClr>
                <a:srgbClr val="4668F5"/>
              </a:buClr>
              <a:buSzPct val="60000"/>
              <a:buFont typeface="Wingdings"/>
              <a:buChar char=""/>
              <a:tabLst>
                <a:tab pos="1110615" algn="l"/>
              </a:tabLst>
            </a:pPr>
            <a:r>
              <a:rPr dirty="0" sz="2000" spc="-10" b="1">
                <a:solidFill>
                  <a:srgbClr val="9933FF"/>
                </a:solidFill>
                <a:latin typeface="Times New Roman"/>
                <a:cs typeface="Times New Roman"/>
              </a:rPr>
              <a:t>A</a:t>
            </a:r>
            <a:r>
              <a:rPr dirty="0" baseline="-21367" sz="1950" spc="-15" b="1">
                <a:solidFill>
                  <a:srgbClr val="9933FF"/>
                </a:solidFill>
                <a:latin typeface="Times New Roman"/>
                <a:cs typeface="Times New Roman"/>
              </a:rPr>
              <a:t>1</a:t>
            </a:r>
            <a:r>
              <a:rPr dirty="0" sz="2000" spc="-10" b="1">
                <a:solidFill>
                  <a:srgbClr val="9933FF"/>
                </a:solidFill>
                <a:latin typeface="宋体"/>
                <a:cs typeface="宋体"/>
              </a:rPr>
              <a:t>～</a:t>
            </a:r>
            <a:r>
              <a:rPr dirty="0" sz="2000" spc="-10" b="1">
                <a:solidFill>
                  <a:srgbClr val="9933FF"/>
                </a:solidFill>
                <a:latin typeface="Times New Roman"/>
                <a:cs typeface="Times New Roman"/>
              </a:rPr>
              <a:t>A</a:t>
            </a:r>
            <a:r>
              <a:rPr dirty="0" baseline="-21367" sz="1950" spc="-15" b="1">
                <a:solidFill>
                  <a:srgbClr val="9933FF"/>
                </a:solidFill>
                <a:latin typeface="Times New Roman"/>
                <a:cs typeface="Times New Roman"/>
              </a:rPr>
              <a:t>k</a:t>
            </a:r>
            <a:r>
              <a:rPr dirty="0" sz="2000" spc="-25" b="1">
                <a:solidFill>
                  <a:srgbClr val="00AFEF"/>
                </a:solidFill>
                <a:latin typeface="宋体"/>
                <a:cs typeface="宋体"/>
              </a:rPr>
              <a:t>不一定是顺序地址，只要它们之间不出现分体冲突。</a:t>
            </a:r>
            <a:endParaRPr sz="2000">
              <a:latin typeface="宋体"/>
              <a:cs typeface="宋体"/>
            </a:endParaRPr>
          </a:p>
          <a:p>
            <a:pPr marL="1110615" indent="-457200">
              <a:lnSpc>
                <a:spcPct val="100000"/>
              </a:lnSpc>
              <a:spcBef>
                <a:spcPts val="960"/>
              </a:spcBef>
              <a:buClr>
                <a:srgbClr val="4668F5"/>
              </a:buClr>
              <a:buSzPct val="60000"/>
              <a:buFont typeface="Wingdings"/>
              <a:buChar char=""/>
              <a:tabLst>
                <a:tab pos="1110615" algn="l"/>
              </a:tabLst>
            </a:pPr>
            <a:r>
              <a:rPr dirty="0" sz="2000" b="1">
                <a:solidFill>
                  <a:srgbClr val="9933FF"/>
                </a:solidFill>
                <a:latin typeface="Times New Roman"/>
                <a:cs typeface="Times New Roman"/>
              </a:rPr>
              <a:t>k</a:t>
            </a:r>
            <a:r>
              <a:rPr dirty="0" sz="2000" spc="-15" b="1">
                <a:solidFill>
                  <a:srgbClr val="00AFEF"/>
                </a:solidFill>
                <a:latin typeface="宋体"/>
                <a:cs typeface="宋体"/>
              </a:rPr>
              <a:t>越接近于</a:t>
            </a:r>
            <a:r>
              <a:rPr dirty="0" sz="2000" spc="-10" b="1">
                <a:solidFill>
                  <a:srgbClr val="9933FF"/>
                </a:solidFill>
                <a:latin typeface="Times New Roman"/>
                <a:cs typeface="Times New Roman"/>
              </a:rPr>
              <a:t>m</a:t>
            </a:r>
            <a:r>
              <a:rPr dirty="0" sz="2000" spc="-25" b="1">
                <a:solidFill>
                  <a:srgbClr val="00AFEF"/>
                </a:solidFill>
                <a:latin typeface="宋体"/>
                <a:cs typeface="宋体"/>
              </a:rPr>
              <a:t>，系统的效率就越高。</a:t>
            </a:r>
            <a:endParaRPr sz="2000">
              <a:latin typeface="宋体"/>
              <a:cs typeface="宋体"/>
            </a:endParaRPr>
          </a:p>
          <a:p>
            <a:pPr marL="482600" indent="-457200">
              <a:lnSpc>
                <a:spcPct val="100000"/>
              </a:lnSpc>
              <a:spcBef>
                <a:spcPts val="1095"/>
              </a:spcBef>
              <a:buSzPct val="89583"/>
              <a:buFont typeface="Wingdings"/>
              <a:buChar char=""/>
              <a:tabLst>
                <a:tab pos="482600" algn="l"/>
              </a:tabLst>
            </a:pPr>
            <a:r>
              <a:rPr dirty="0" sz="2400" spc="-10">
                <a:solidFill>
                  <a:srgbClr val="40458B"/>
                </a:solidFill>
                <a:latin typeface="黑体"/>
                <a:cs typeface="黑体"/>
              </a:rPr>
              <a:t>设</a:t>
            </a:r>
            <a:r>
              <a:rPr dirty="0" sz="2400" spc="-10">
                <a:solidFill>
                  <a:srgbClr val="9933FF"/>
                </a:solidFill>
                <a:latin typeface="Times New Roman"/>
                <a:cs typeface="Times New Roman"/>
              </a:rPr>
              <a:t>P(k)</a:t>
            </a:r>
            <a:r>
              <a:rPr dirty="0" sz="2400">
                <a:solidFill>
                  <a:srgbClr val="40458B"/>
                </a:solidFill>
                <a:latin typeface="黑体"/>
                <a:cs typeface="黑体"/>
              </a:rPr>
              <a:t>表示申请序列长度为</a:t>
            </a:r>
            <a:r>
              <a:rPr dirty="0" sz="2400">
                <a:solidFill>
                  <a:srgbClr val="9933FF"/>
                </a:solidFill>
                <a:latin typeface="Times New Roman"/>
                <a:cs typeface="Times New Roman"/>
              </a:rPr>
              <a:t>k</a:t>
            </a:r>
            <a:r>
              <a:rPr dirty="0" sz="2400">
                <a:solidFill>
                  <a:srgbClr val="40458B"/>
                </a:solidFill>
                <a:latin typeface="黑体"/>
                <a:cs typeface="黑体"/>
              </a:rPr>
              <a:t>的概率，用</a:t>
            </a:r>
            <a:r>
              <a:rPr dirty="0" sz="2400" spc="-10">
                <a:solidFill>
                  <a:srgbClr val="9933FF"/>
                </a:solidFill>
                <a:latin typeface="Times New Roman"/>
                <a:cs typeface="Times New Roman"/>
              </a:rPr>
              <a:t>B</a:t>
            </a:r>
            <a:r>
              <a:rPr dirty="0" sz="2400">
                <a:solidFill>
                  <a:srgbClr val="40458B"/>
                </a:solidFill>
                <a:latin typeface="黑体"/>
                <a:cs typeface="黑体"/>
              </a:rPr>
              <a:t>表示</a:t>
            </a:r>
            <a:r>
              <a:rPr dirty="0" sz="2400">
                <a:solidFill>
                  <a:srgbClr val="9933FF"/>
                </a:solidFill>
                <a:latin typeface="Times New Roman"/>
                <a:cs typeface="Times New Roman"/>
              </a:rPr>
              <a:t>k</a:t>
            </a:r>
            <a:r>
              <a:rPr dirty="0" sz="2400" spc="-10">
                <a:solidFill>
                  <a:srgbClr val="40458B"/>
                </a:solidFill>
                <a:latin typeface="黑体"/>
                <a:cs typeface="黑体"/>
              </a:rPr>
              <a:t>的平均值，则</a:t>
            </a:r>
            <a:endParaRPr sz="2400">
              <a:latin typeface="黑体"/>
              <a:cs typeface="黑体"/>
            </a:endParaRPr>
          </a:p>
        </p:txBody>
      </p:sp>
      <p:sp>
        <p:nvSpPr>
          <p:cNvPr id="10" name="object 10" descr=""/>
          <p:cNvSpPr txBox="1"/>
          <p:nvPr/>
        </p:nvSpPr>
        <p:spPr>
          <a:xfrm>
            <a:off x="1336294" y="3662552"/>
            <a:ext cx="2569845" cy="330835"/>
          </a:xfrm>
          <a:prstGeom prst="rect">
            <a:avLst/>
          </a:prstGeom>
        </p:spPr>
        <p:txBody>
          <a:bodyPr wrap="square" lIns="0" tIns="12700" rIns="0" bIns="0" rtlCol="0" vert="horz">
            <a:spAutoFit/>
          </a:bodyPr>
          <a:lstStyle/>
          <a:p>
            <a:pPr marL="12700">
              <a:lnSpc>
                <a:spcPct val="100000"/>
              </a:lnSpc>
              <a:spcBef>
                <a:spcPts val="100"/>
              </a:spcBef>
            </a:pPr>
            <a:r>
              <a:rPr dirty="0" sz="2000" spc="-10" b="1">
                <a:solidFill>
                  <a:srgbClr val="00AFEF"/>
                </a:solidFill>
                <a:latin typeface="宋体"/>
                <a:cs typeface="宋体"/>
              </a:rPr>
              <a:t>其中：</a:t>
            </a:r>
            <a:r>
              <a:rPr dirty="0" sz="2000" spc="-10" b="1">
                <a:solidFill>
                  <a:srgbClr val="9933FF"/>
                </a:solidFill>
                <a:latin typeface="Times New Roman"/>
                <a:cs typeface="Times New Roman"/>
              </a:rPr>
              <a:t>k=1</a:t>
            </a:r>
            <a:r>
              <a:rPr dirty="0" sz="2000" spc="-10" b="1">
                <a:solidFill>
                  <a:srgbClr val="9933FF"/>
                </a:solidFill>
                <a:latin typeface="宋体"/>
                <a:cs typeface="宋体"/>
              </a:rPr>
              <a:t>，</a:t>
            </a:r>
            <a:r>
              <a:rPr dirty="0" sz="2000" spc="-10" b="1">
                <a:solidFill>
                  <a:srgbClr val="9933FF"/>
                </a:solidFill>
                <a:latin typeface="Times New Roman"/>
                <a:cs typeface="Times New Roman"/>
              </a:rPr>
              <a:t>2</a:t>
            </a:r>
            <a:r>
              <a:rPr dirty="0" sz="2000" spc="-10" b="1">
                <a:solidFill>
                  <a:srgbClr val="9933FF"/>
                </a:solidFill>
                <a:latin typeface="宋体"/>
                <a:cs typeface="宋体"/>
              </a:rPr>
              <a:t>，</a:t>
            </a:r>
            <a:r>
              <a:rPr dirty="0" sz="2000" spc="-10" b="1">
                <a:solidFill>
                  <a:srgbClr val="9933FF"/>
                </a:solidFill>
                <a:latin typeface="Times New Roman"/>
                <a:cs typeface="Times New Roman"/>
              </a:rPr>
              <a:t>…</a:t>
            </a:r>
            <a:r>
              <a:rPr dirty="0" sz="2000" spc="-10" b="1">
                <a:solidFill>
                  <a:srgbClr val="9933FF"/>
                </a:solidFill>
                <a:latin typeface="宋体"/>
                <a:cs typeface="宋体"/>
              </a:rPr>
              <a:t>，</a:t>
            </a:r>
            <a:r>
              <a:rPr dirty="0" sz="2000" spc="-10" b="1">
                <a:solidFill>
                  <a:srgbClr val="9933FF"/>
                </a:solidFill>
                <a:latin typeface="Times New Roman"/>
                <a:cs typeface="Times New Roman"/>
              </a:rPr>
              <a:t>m</a:t>
            </a:r>
            <a:endParaRPr sz="2000">
              <a:latin typeface="Times New Roman"/>
              <a:cs typeface="Times New Roman"/>
            </a:endParaRPr>
          </a:p>
        </p:txBody>
      </p:sp>
      <p:sp>
        <p:nvSpPr>
          <p:cNvPr id="11" name="object 11" descr=""/>
          <p:cNvSpPr txBox="1"/>
          <p:nvPr/>
        </p:nvSpPr>
        <p:spPr>
          <a:xfrm>
            <a:off x="1755394" y="4105732"/>
            <a:ext cx="8864600" cy="391795"/>
          </a:xfrm>
          <a:prstGeom prst="rect">
            <a:avLst/>
          </a:prstGeom>
        </p:spPr>
        <p:txBody>
          <a:bodyPr wrap="square" lIns="0" tIns="12700" rIns="0" bIns="0" rtlCol="0" vert="horz">
            <a:spAutoFit/>
          </a:bodyPr>
          <a:lstStyle/>
          <a:p>
            <a:pPr marL="12700">
              <a:lnSpc>
                <a:spcPct val="100000"/>
              </a:lnSpc>
              <a:spcBef>
                <a:spcPts val="100"/>
              </a:spcBef>
            </a:pPr>
            <a:r>
              <a:rPr dirty="0" sz="2400" spc="-15">
                <a:solidFill>
                  <a:srgbClr val="E14B04"/>
                </a:solidFill>
                <a:latin typeface="黑体"/>
                <a:cs typeface="黑体"/>
              </a:rPr>
              <a:t>每个主存周期所能访问到的字数的平均值，正比于主存实际带宽。</a:t>
            </a:r>
            <a:endParaRPr sz="2400">
              <a:latin typeface="黑体"/>
              <a:cs typeface="黑体"/>
            </a:endParaRPr>
          </a:p>
        </p:txBody>
      </p:sp>
      <p:sp>
        <p:nvSpPr>
          <p:cNvPr id="12" name="object 12" descr=""/>
          <p:cNvSpPr/>
          <p:nvPr/>
        </p:nvSpPr>
        <p:spPr>
          <a:xfrm>
            <a:off x="5616575" y="2852737"/>
            <a:ext cx="1800225" cy="992505"/>
          </a:xfrm>
          <a:custGeom>
            <a:avLst/>
            <a:gdLst/>
            <a:ahLst/>
            <a:cxnLst/>
            <a:rect l="l" t="t" r="r" b="b"/>
            <a:pathLst>
              <a:path w="1800225" h="992504">
                <a:moveTo>
                  <a:pt x="1800225" y="0"/>
                </a:moveTo>
                <a:lnTo>
                  <a:pt x="0" y="0"/>
                </a:lnTo>
                <a:lnTo>
                  <a:pt x="0" y="992187"/>
                </a:lnTo>
                <a:lnTo>
                  <a:pt x="1800225" y="992187"/>
                </a:lnTo>
                <a:lnTo>
                  <a:pt x="1800225" y="0"/>
                </a:lnTo>
                <a:close/>
              </a:path>
            </a:pathLst>
          </a:custGeom>
          <a:solidFill>
            <a:srgbClr val="EAEAEA"/>
          </a:solidFill>
        </p:spPr>
        <p:txBody>
          <a:bodyPr wrap="square" lIns="0" tIns="0" rIns="0" bIns="0" rtlCol="0"/>
          <a:lstStyle/>
          <a:p/>
        </p:txBody>
      </p:sp>
      <p:sp>
        <p:nvSpPr>
          <p:cNvPr id="13" name="object 13" descr=""/>
          <p:cNvSpPr txBox="1"/>
          <p:nvPr/>
        </p:nvSpPr>
        <p:spPr>
          <a:xfrm>
            <a:off x="6214645" y="2868014"/>
            <a:ext cx="169545" cy="284480"/>
          </a:xfrm>
          <a:prstGeom prst="rect">
            <a:avLst/>
          </a:prstGeom>
        </p:spPr>
        <p:txBody>
          <a:bodyPr wrap="square" lIns="0" tIns="12065" rIns="0" bIns="0" rtlCol="0" vert="horz">
            <a:spAutoFit/>
          </a:bodyPr>
          <a:lstStyle/>
          <a:p>
            <a:pPr>
              <a:lnSpc>
                <a:spcPct val="100000"/>
              </a:lnSpc>
              <a:spcBef>
                <a:spcPts val="95"/>
              </a:spcBef>
            </a:pPr>
            <a:r>
              <a:rPr dirty="0" sz="1700" spc="-50" i="1">
                <a:latin typeface="Times New Roman"/>
                <a:cs typeface="Times New Roman"/>
              </a:rPr>
              <a:t>m</a:t>
            </a:r>
            <a:endParaRPr sz="1700">
              <a:latin typeface="Times New Roman"/>
              <a:cs typeface="Times New Roman"/>
            </a:endParaRPr>
          </a:p>
        </p:txBody>
      </p:sp>
      <p:sp>
        <p:nvSpPr>
          <p:cNvPr id="14" name="object 14" descr=""/>
          <p:cNvSpPr txBox="1"/>
          <p:nvPr/>
        </p:nvSpPr>
        <p:spPr>
          <a:xfrm>
            <a:off x="5648923" y="2837673"/>
            <a:ext cx="1750695" cy="982980"/>
          </a:xfrm>
          <a:prstGeom prst="rect">
            <a:avLst/>
          </a:prstGeom>
        </p:spPr>
        <p:txBody>
          <a:bodyPr wrap="square" lIns="0" tIns="95885" rIns="0" bIns="0" rtlCol="0" vert="horz">
            <a:spAutoFit/>
          </a:bodyPr>
          <a:lstStyle/>
          <a:p>
            <a:pPr marL="25400">
              <a:lnSpc>
                <a:spcPct val="100000"/>
              </a:lnSpc>
              <a:spcBef>
                <a:spcPts val="755"/>
              </a:spcBef>
            </a:pPr>
            <a:r>
              <a:rPr dirty="0" sz="2100" i="1">
                <a:latin typeface="Times New Roman"/>
                <a:cs typeface="Times New Roman"/>
              </a:rPr>
              <a:t>B</a:t>
            </a:r>
            <a:r>
              <a:rPr dirty="0" sz="2100" spc="30" i="1">
                <a:latin typeface="Times New Roman"/>
                <a:cs typeface="Times New Roman"/>
              </a:rPr>
              <a:t> </a:t>
            </a:r>
            <a:r>
              <a:rPr dirty="0" sz="2100">
                <a:latin typeface="Symbol"/>
                <a:cs typeface="Symbol"/>
              </a:rPr>
              <a:t></a:t>
            </a:r>
            <a:r>
              <a:rPr dirty="0" sz="2100" spc="-25">
                <a:latin typeface="Times New Roman"/>
                <a:cs typeface="Times New Roman"/>
              </a:rPr>
              <a:t> </a:t>
            </a:r>
            <a:r>
              <a:rPr dirty="0" baseline="-10233" sz="5700" spc="262">
                <a:latin typeface="Symbol"/>
                <a:cs typeface="Symbol"/>
              </a:rPr>
              <a:t></a:t>
            </a:r>
            <a:r>
              <a:rPr dirty="0" sz="2100" spc="175" i="1">
                <a:latin typeface="Times New Roman"/>
                <a:cs typeface="Times New Roman"/>
              </a:rPr>
              <a:t>k</a:t>
            </a:r>
            <a:r>
              <a:rPr dirty="0" sz="2100" spc="-65" i="1">
                <a:latin typeface="Times New Roman"/>
                <a:cs typeface="Times New Roman"/>
              </a:rPr>
              <a:t> </a:t>
            </a:r>
            <a:r>
              <a:rPr dirty="0" sz="2100">
                <a:latin typeface="Symbol"/>
                <a:cs typeface="Symbol"/>
              </a:rPr>
              <a:t></a:t>
            </a:r>
            <a:r>
              <a:rPr dirty="0" sz="2100" spc="-125">
                <a:latin typeface="Times New Roman"/>
                <a:cs typeface="Times New Roman"/>
              </a:rPr>
              <a:t> </a:t>
            </a:r>
            <a:r>
              <a:rPr dirty="0" sz="2100" spc="50" i="1">
                <a:latin typeface="Times New Roman"/>
                <a:cs typeface="Times New Roman"/>
              </a:rPr>
              <a:t>P</a:t>
            </a:r>
            <a:r>
              <a:rPr dirty="0" sz="2100" spc="50">
                <a:latin typeface="Times New Roman"/>
                <a:cs typeface="Times New Roman"/>
              </a:rPr>
              <a:t>(</a:t>
            </a:r>
            <a:r>
              <a:rPr dirty="0" sz="2100" spc="50" i="1">
                <a:latin typeface="Times New Roman"/>
                <a:cs typeface="Times New Roman"/>
              </a:rPr>
              <a:t>k</a:t>
            </a:r>
            <a:r>
              <a:rPr dirty="0" sz="2100" spc="50">
                <a:latin typeface="Times New Roman"/>
                <a:cs typeface="Times New Roman"/>
              </a:rPr>
              <a:t>)</a:t>
            </a:r>
            <a:endParaRPr sz="2100">
              <a:latin typeface="Times New Roman"/>
              <a:cs typeface="Times New Roman"/>
            </a:endParaRPr>
          </a:p>
          <a:p>
            <a:pPr marL="486409">
              <a:lnSpc>
                <a:spcPct val="100000"/>
              </a:lnSpc>
              <a:spcBef>
                <a:spcPts val="285"/>
              </a:spcBef>
            </a:pPr>
            <a:r>
              <a:rPr dirty="0" sz="1700" i="1">
                <a:latin typeface="Times New Roman"/>
                <a:cs typeface="Times New Roman"/>
              </a:rPr>
              <a:t>k</a:t>
            </a:r>
            <a:r>
              <a:rPr dirty="0" sz="1700" spc="-229" i="1">
                <a:latin typeface="Times New Roman"/>
                <a:cs typeface="Times New Roman"/>
              </a:rPr>
              <a:t> </a:t>
            </a:r>
            <a:r>
              <a:rPr dirty="0" sz="1700" spc="-25">
                <a:latin typeface="Symbol"/>
                <a:cs typeface="Symbol"/>
              </a:rPr>
              <a:t></a:t>
            </a:r>
            <a:r>
              <a:rPr dirty="0" sz="1700" spc="-25">
                <a:latin typeface="Times New Roman"/>
                <a:cs typeface="Times New Roman"/>
              </a:rPr>
              <a:t>1</a:t>
            </a:r>
            <a:endParaRPr sz="1700">
              <a:latin typeface="Times New Roman"/>
              <a:cs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37157" y="24129"/>
            <a:ext cx="2869565"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598830" y="1213191"/>
            <a:ext cx="10656570" cy="3233420"/>
          </a:xfrm>
          <a:prstGeom prst="rect">
            <a:avLst/>
          </a:prstGeom>
        </p:spPr>
        <p:txBody>
          <a:bodyPr wrap="square" lIns="0" tIns="12065" rIns="0" bIns="0" rtlCol="0" vert="horz">
            <a:spAutoFit/>
          </a:bodyPr>
          <a:lstStyle/>
          <a:p>
            <a:pPr marL="482600" marR="191135" indent="-457200">
              <a:lnSpc>
                <a:spcPct val="110000"/>
              </a:lnSpc>
              <a:spcBef>
                <a:spcPts val="95"/>
              </a:spcBef>
              <a:buSzPct val="89583"/>
              <a:buFont typeface="Wingdings"/>
              <a:buChar char=""/>
              <a:tabLst>
                <a:tab pos="482600" algn="l"/>
              </a:tabLst>
            </a:pPr>
            <a:r>
              <a:rPr dirty="0" sz="2400" spc="-10">
                <a:solidFill>
                  <a:srgbClr val="40458B"/>
                </a:solidFill>
                <a:latin typeface="Times New Roman"/>
                <a:cs typeface="Times New Roman"/>
              </a:rPr>
              <a:t>P(k)</a:t>
            </a:r>
            <a:r>
              <a:rPr dirty="0" sz="2400" spc="-5">
                <a:solidFill>
                  <a:srgbClr val="40458B"/>
                </a:solidFill>
                <a:latin typeface="黑体"/>
                <a:cs typeface="黑体"/>
              </a:rPr>
              <a:t>与具体程序的运行状况密切相关。如果访存申请队列都是指令的话，那</a:t>
            </a:r>
            <a:r>
              <a:rPr dirty="0" sz="2400" spc="-10">
                <a:solidFill>
                  <a:srgbClr val="40458B"/>
                </a:solidFill>
                <a:latin typeface="黑体"/>
                <a:cs typeface="黑体"/>
              </a:rPr>
              <a:t>么影响最大的是转移概率</a:t>
            </a:r>
            <a:r>
              <a:rPr dirty="0" sz="2400" spc="-10">
                <a:solidFill>
                  <a:srgbClr val="40458B"/>
                </a:solidFill>
                <a:latin typeface="Times New Roman"/>
                <a:cs typeface="Times New Roman"/>
              </a:rPr>
              <a:t>λ</a:t>
            </a:r>
            <a:r>
              <a:rPr dirty="0" sz="2400" spc="-50">
                <a:solidFill>
                  <a:srgbClr val="40458B"/>
                </a:solidFill>
                <a:latin typeface="黑体"/>
                <a:cs typeface="黑体"/>
              </a:rPr>
              <a:t>。</a:t>
            </a:r>
            <a:endParaRPr sz="2400">
              <a:latin typeface="黑体"/>
              <a:cs typeface="黑体"/>
            </a:endParaRPr>
          </a:p>
          <a:p>
            <a:pPr marL="481965" indent="-456565">
              <a:lnSpc>
                <a:spcPct val="100000"/>
              </a:lnSpc>
              <a:spcBef>
                <a:spcPts val="870"/>
              </a:spcBef>
              <a:buClr>
                <a:srgbClr val="40458B"/>
              </a:buClr>
              <a:buSzPct val="89583"/>
              <a:buFont typeface="Wingdings"/>
              <a:buChar char=""/>
              <a:tabLst>
                <a:tab pos="481965" algn="l"/>
              </a:tabLst>
            </a:pPr>
            <a:r>
              <a:rPr dirty="0" sz="2400" spc="-5">
                <a:solidFill>
                  <a:srgbClr val="FF0000"/>
                </a:solidFill>
                <a:latin typeface="黑体"/>
                <a:cs typeface="黑体"/>
              </a:rPr>
              <a:t>转移概率</a:t>
            </a:r>
            <a:r>
              <a:rPr dirty="0" sz="2400">
                <a:solidFill>
                  <a:srgbClr val="FF0000"/>
                </a:solidFill>
                <a:latin typeface="Times New Roman"/>
                <a:cs typeface="Times New Roman"/>
              </a:rPr>
              <a:t>λ</a:t>
            </a:r>
            <a:r>
              <a:rPr dirty="0" sz="2400">
                <a:solidFill>
                  <a:srgbClr val="FF0000"/>
                </a:solidFill>
                <a:latin typeface="黑体"/>
                <a:cs typeface="黑体"/>
              </a:rPr>
              <a:t>：</a:t>
            </a:r>
            <a:r>
              <a:rPr dirty="0" sz="2400" spc="-5">
                <a:solidFill>
                  <a:srgbClr val="40458B"/>
                </a:solidFill>
                <a:latin typeface="黑体"/>
                <a:cs typeface="黑体"/>
              </a:rPr>
              <a:t>给定指令的下条指令地址为非顺序地址的概率。</a:t>
            </a:r>
            <a:endParaRPr sz="2400">
              <a:latin typeface="黑体"/>
              <a:cs typeface="黑体"/>
            </a:endParaRPr>
          </a:p>
          <a:p>
            <a:pPr lvl="1" marL="1109980" indent="-457200">
              <a:lnSpc>
                <a:spcPct val="100000"/>
              </a:lnSpc>
              <a:spcBef>
                <a:spcPts val="770"/>
              </a:spcBef>
              <a:buClr>
                <a:srgbClr val="4668F5"/>
              </a:buClr>
              <a:buSzPct val="60000"/>
              <a:buFont typeface="Wingdings"/>
              <a:buChar char=""/>
              <a:tabLst>
                <a:tab pos="1109980" algn="l"/>
              </a:tabLst>
            </a:pPr>
            <a:r>
              <a:rPr dirty="0" sz="2000" spc="-10" b="1">
                <a:solidFill>
                  <a:srgbClr val="00AFEF"/>
                </a:solidFill>
                <a:latin typeface="宋体"/>
                <a:cs typeface="宋体"/>
              </a:rPr>
              <a:t>当</a:t>
            </a:r>
            <a:r>
              <a:rPr dirty="0" sz="2000" spc="-10" b="1">
                <a:solidFill>
                  <a:srgbClr val="9933FF"/>
                </a:solidFill>
                <a:latin typeface="Times New Roman"/>
                <a:cs typeface="Times New Roman"/>
              </a:rPr>
              <a:t>k</a:t>
            </a:r>
            <a:r>
              <a:rPr dirty="0" sz="2000" spc="-10" b="1">
                <a:solidFill>
                  <a:srgbClr val="9933FF"/>
                </a:solidFill>
                <a:latin typeface="宋体"/>
                <a:cs typeface="宋体"/>
              </a:rPr>
              <a:t>＝</a:t>
            </a:r>
            <a:r>
              <a:rPr dirty="0" sz="2000" spc="-10" b="1">
                <a:solidFill>
                  <a:srgbClr val="9933FF"/>
                </a:solidFill>
                <a:latin typeface="Times New Roman"/>
                <a:cs typeface="Times New Roman"/>
              </a:rPr>
              <a:t>1</a:t>
            </a:r>
            <a:r>
              <a:rPr dirty="0" sz="2000" spc="-25" b="1">
                <a:solidFill>
                  <a:srgbClr val="00AFEF"/>
                </a:solidFill>
                <a:latin typeface="宋体"/>
                <a:cs typeface="宋体"/>
              </a:rPr>
              <a:t>时，所表示的情况是：第一条就是转移指令且转移成功。</a:t>
            </a:r>
            <a:endParaRPr sz="2000">
              <a:latin typeface="宋体"/>
              <a:cs typeface="宋体"/>
            </a:endParaRPr>
          </a:p>
          <a:p>
            <a:pPr marL="1922145">
              <a:lnSpc>
                <a:spcPct val="100000"/>
              </a:lnSpc>
              <a:spcBef>
                <a:spcPts val="720"/>
              </a:spcBef>
            </a:pPr>
            <a:r>
              <a:rPr dirty="0" sz="2000" spc="-10" b="1">
                <a:solidFill>
                  <a:srgbClr val="D50092"/>
                </a:solidFill>
                <a:latin typeface="Times New Roman"/>
                <a:cs typeface="Times New Roman"/>
              </a:rPr>
              <a:t>P</a:t>
            </a:r>
            <a:r>
              <a:rPr dirty="0" sz="2000" spc="-10" b="1">
                <a:solidFill>
                  <a:srgbClr val="D50092"/>
                </a:solidFill>
                <a:latin typeface="宋体"/>
                <a:cs typeface="宋体"/>
              </a:rPr>
              <a:t>（</a:t>
            </a:r>
            <a:r>
              <a:rPr dirty="0" sz="2000" spc="-10" b="1">
                <a:solidFill>
                  <a:srgbClr val="D50092"/>
                </a:solidFill>
                <a:latin typeface="Times New Roman"/>
                <a:cs typeface="Times New Roman"/>
              </a:rPr>
              <a:t>1</a:t>
            </a:r>
            <a:r>
              <a:rPr dirty="0" sz="2000" spc="-10" b="1">
                <a:solidFill>
                  <a:srgbClr val="D50092"/>
                </a:solidFill>
                <a:latin typeface="宋体"/>
                <a:cs typeface="宋体"/>
              </a:rPr>
              <a:t>）＝</a:t>
            </a:r>
            <a:r>
              <a:rPr dirty="0" sz="2000" spc="-10" b="1">
                <a:solidFill>
                  <a:srgbClr val="D50092"/>
                </a:solidFill>
                <a:latin typeface="Times New Roman"/>
                <a:cs typeface="Times New Roman"/>
              </a:rPr>
              <a:t>λ</a:t>
            </a:r>
            <a:r>
              <a:rPr dirty="0" sz="2000" spc="-10" b="1">
                <a:solidFill>
                  <a:srgbClr val="D50092"/>
                </a:solidFill>
                <a:latin typeface="宋体"/>
                <a:cs typeface="宋体"/>
              </a:rPr>
              <a:t>＝（</a:t>
            </a:r>
            <a:r>
              <a:rPr dirty="0" sz="2000" spc="-10" b="1">
                <a:solidFill>
                  <a:srgbClr val="D50092"/>
                </a:solidFill>
                <a:latin typeface="Times New Roman"/>
                <a:cs typeface="Times New Roman"/>
              </a:rPr>
              <a:t>1</a:t>
            </a:r>
            <a:r>
              <a:rPr dirty="0" sz="2000" spc="-10" b="1">
                <a:solidFill>
                  <a:srgbClr val="D50092"/>
                </a:solidFill>
                <a:latin typeface="宋体"/>
                <a:cs typeface="宋体"/>
              </a:rPr>
              <a:t>－</a:t>
            </a:r>
            <a:r>
              <a:rPr dirty="0" sz="2000" spc="-10" b="1">
                <a:solidFill>
                  <a:srgbClr val="D50092"/>
                </a:solidFill>
                <a:latin typeface="Times New Roman"/>
                <a:cs typeface="Times New Roman"/>
              </a:rPr>
              <a:t>λ</a:t>
            </a:r>
            <a:r>
              <a:rPr dirty="0" sz="2000" spc="-10" b="1">
                <a:solidFill>
                  <a:srgbClr val="D50092"/>
                </a:solidFill>
                <a:latin typeface="宋体"/>
                <a:cs typeface="宋体"/>
              </a:rPr>
              <a:t>）</a:t>
            </a:r>
            <a:r>
              <a:rPr dirty="0" baseline="25641" sz="1950" spc="-15" b="1">
                <a:solidFill>
                  <a:srgbClr val="D50092"/>
                </a:solidFill>
                <a:latin typeface="Times New Roman"/>
                <a:cs typeface="Times New Roman"/>
              </a:rPr>
              <a:t>0</a:t>
            </a:r>
            <a:r>
              <a:rPr dirty="0" sz="2000" spc="-10" b="1">
                <a:solidFill>
                  <a:srgbClr val="D50092"/>
                </a:solidFill>
                <a:latin typeface="Times New Roman"/>
                <a:cs typeface="Times New Roman"/>
              </a:rPr>
              <a:t>·λ</a:t>
            </a:r>
            <a:endParaRPr sz="2000">
              <a:latin typeface="Times New Roman"/>
              <a:cs typeface="Times New Roman"/>
            </a:endParaRPr>
          </a:p>
          <a:p>
            <a:pPr lvl="1" marL="1109980" marR="68580" indent="-457200">
              <a:lnSpc>
                <a:spcPct val="110000"/>
              </a:lnSpc>
              <a:spcBef>
                <a:spcPts val="480"/>
              </a:spcBef>
              <a:buClr>
                <a:srgbClr val="4668F5"/>
              </a:buClr>
              <a:buSzPct val="60000"/>
              <a:buFont typeface="Wingdings"/>
              <a:buChar char=""/>
              <a:tabLst>
                <a:tab pos="1109980" algn="l"/>
              </a:tabLst>
            </a:pPr>
            <a:r>
              <a:rPr dirty="0" sz="2000" spc="-10" b="1">
                <a:solidFill>
                  <a:srgbClr val="00AFEF"/>
                </a:solidFill>
                <a:latin typeface="宋体"/>
                <a:cs typeface="宋体"/>
              </a:rPr>
              <a:t>当</a:t>
            </a:r>
            <a:r>
              <a:rPr dirty="0" sz="2000" spc="-10" b="1">
                <a:solidFill>
                  <a:srgbClr val="9933FF"/>
                </a:solidFill>
                <a:latin typeface="Times New Roman"/>
                <a:cs typeface="Times New Roman"/>
              </a:rPr>
              <a:t>k</a:t>
            </a:r>
            <a:r>
              <a:rPr dirty="0" sz="2000" spc="-10" b="1">
                <a:solidFill>
                  <a:srgbClr val="9933FF"/>
                </a:solidFill>
                <a:latin typeface="宋体"/>
                <a:cs typeface="宋体"/>
              </a:rPr>
              <a:t>＝</a:t>
            </a:r>
            <a:r>
              <a:rPr dirty="0" sz="2000" spc="-10" b="1">
                <a:solidFill>
                  <a:srgbClr val="9933FF"/>
                </a:solidFill>
                <a:latin typeface="Times New Roman"/>
                <a:cs typeface="Times New Roman"/>
              </a:rPr>
              <a:t>2</a:t>
            </a:r>
            <a:r>
              <a:rPr dirty="0" sz="2000" spc="-20" b="1">
                <a:solidFill>
                  <a:srgbClr val="00AFEF"/>
                </a:solidFill>
                <a:latin typeface="宋体"/>
                <a:cs typeface="宋体"/>
              </a:rPr>
              <a:t>时，所表示的情况是：第一条指令没有转移</a:t>
            </a:r>
            <a:r>
              <a:rPr dirty="0" sz="2000" spc="-10" b="1">
                <a:solidFill>
                  <a:srgbClr val="00AFEF"/>
                </a:solidFill>
                <a:latin typeface="宋体"/>
                <a:cs typeface="宋体"/>
              </a:rPr>
              <a:t>（</a:t>
            </a:r>
            <a:r>
              <a:rPr dirty="0" sz="2000" spc="-15" b="1">
                <a:solidFill>
                  <a:srgbClr val="00AFEF"/>
                </a:solidFill>
                <a:latin typeface="宋体"/>
                <a:cs typeface="宋体"/>
              </a:rPr>
              <a:t>其概率为</a:t>
            </a:r>
            <a:r>
              <a:rPr dirty="0" sz="2000" spc="-10" b="1">
                <a:solidFill>
                  <a:srgbClr val="00AFEF"/>
                </a:solidFill>
                <a:latin typeface="Times New Roman"/>
                <a:cs typeface="Times New Roman"/>
              </a:rPr>
              <a:t>1</a:t>
            </a:r>
            <a:r>
              <a:rPr dirty="0" sz="2000" spc="-10" b="1">
                <a:solidFill>
                  <a:srgbClr val="00AFEF"/>
                </a:solidFill>
                <a:latin typeface="宋体"/>
                <a:cs typeface="宋体"/>
              </a:rPr>
              <a:t>－</a:t>
            </a:r>
            <a:r>
              <a:rPr dirty="0" sz="2000" spc="-10" b="1">
                <a:solidFill>
                  <a:srgbClr val="00AFEF"/>
                </a:solidFill>
                <a:latin typeface="Times New Roman"/>
                <a:cs typeface="Times New Roman"/>
              </a:rPr>
              <a:t>λ</a:t>
            </a:r>
            <a:r>
              <a:rPr dirty="0" sz="2000" spc="-10" b="1">
                <a:solidFill>
                  <a:srgbClr val="00AFEF"/>
                </a:solidFill>
                <a:latin typeface="宋体"/>
                <a:cs typeface="宋体"/>
              </a:rPr>
              <a:t>）</a:t>
            </a:r>
            <a:r>
              <a:rPr dirty="0" sz="2000" spc="-20" b="1">
                <a:solidFill>
                  <a:srgbClr val="00AFEF"/>
                </a:solidFill>
                <a:latin typeface="宋体"/>
                <a:cs typeface="宋体"/>
              </a:rPr>
              <a:t>，第二条是转移</a:t>
            </a:r>
            <a:r>
              <a:rPr dirty="0" sz="2000" spc="-15" b="1">
                <a:solidFill>
                  <a:srgbClr val="00AFEF"/>
                </a:solidFill>
                <a:latin typeface="宋体"/>
                <a:cs typeface="宋体"/>
              </a:rPr>
              <a:t>指令且转移成功。所以有：</a:t>
            </a:r>
            <a:endParaRPr sz="2000">
              <a:latin typeface="宋体"/>
              <a:cs typeface="宋体"/>
            </a:endParaRPr>
          </a:p>
          <a:p>
            <a:pPr marL="1922145">
              <a:lnSpc>
                <a:spcPct val="100000"/>
              </a:lnSpc>
              <a:spcBef>
                <a:spcPts val="720"/>
              </a:spcBef>
            </a:pPr>
            <a:r>
              <a:rPr dirty="0" sz="2000" spc="-10" b="1">
                <a:solidFill>
                  <a:srgbClr val="D50092"/>
                </a:solidFill>
                <a:latin typeface="Times New Roman"/>
                <a:cs typeface="Times New Roman"/>
              </a:rPr>
              <a:t>P</a:t>
            </a:r>
            <a:r>
              <a:rPr dirty="0" sz="2000" spc="-10" b="1">
                <a:solidFill>
                  <a:srgbClr val="D50092"/>
                </a:solidFill>
                <a:latin typeface="宋体"/>
                <a:cs typeface="宋体"/>
              </a:rPr>
              <a:t>（</a:t>
            </a:r>
            <a:r>
              <a:rPr dirty="0" sz="2000" spc="-10" b="1">
                <a:solidFill>
                  <a:srgbClr val="D50092"/>
                </a:solidFill>
                <a:latin typeface="Times New Roman"/>
                <a:cs typeface="Times New Roman"/>
              </a:rPr>
              <a:t>2</a:t>
            </a:r>
            <a:r>
              <a:rPr dirty="0" sz="2000" spc="-10" b="1">
                <a:solidFill>
                  <a:srgbClr val="D50092"/>
                </a:solidFill>
                <a:latin typeface="宋体"/>
                <a:cs typeface="宋体"/>
              </a:rPr>
              <a:t>）＝（</a:t>
            </a:r>
            <a:r>
              <a:rPr dirty="0" sz="2000" spc="-10" b="1">
                <a:solidFill>
                  <a:srgbClr val="D50092"/>
                </a:solidFill>
                <a:latin typeface="Times New Roman"/>
                <a:cs typeface="Times New Roman"/>
              </a:rPr>
              <a:t>1</a:t>
            </a:r>
            <a:r>
              <a:rPr dirty="0" sz="2000" spc="-10" b="1">
                <a:solidFill>
                  <a:srgbClr val="D50092"/>
                </a:solidFill>
                <a:latin typeface="宋体"/>
                <a:cs typeface="宋体"/>
              </a:rPr>
              <a:t>－</a:t>
            </a:r>
            <a:r>
              <a:rPr dirty="0" sz="2000" spc="-10" b="1">
                <a:solidFill>
                  <a:srgbClr val="D50092"/>
                </a:solidFill>
                <a:latin typeface="Times New Roman"/>
                <a:cs typeface="Times New Roman"/>
              </a:rPr>
              <a:t>λ</a:t>
            </a:r>
            <a:r>
              <a:rPr dirty="0" sz="2000" spc="-10" b="1">
                <a:solidFill>
                  <a:srgbClr val="D50092"/>
                </a:solidFill>
                <a:latin typeface="宋体"/>
                <a:cs typeface="宋体"/>
              </a:rPr>
              <a:t>）</a:t>
            </a:r>
            <a:r>
              <a:rPr dirty="0" baseline="25641" sz="1950" spc="-15" b="1">
                <a:solidFill>
                  <a:srgbClr val="D50092"/>
                </a:solidFill>
                <a:latin typeface="Times New Roman"/>
                <a:cs typeface="Times New Roman"/>
              </a:rPr>
              <a:t>1·</a:t>
            </a:r>
            <a:r>
              <a:rPr dirty="0" sz="2000" spc="-10" b="1">
                <a:solidFill>
                  <a:srgbClr val="D50092"/>
                </a:solidFill>
                <a:latin typeface="Times New Roman"/>
                <a:cs typeface="Times New Roman"/>
              </a:rPr>
              <a:t>λ</a:t>
            </a:r>
            <a:endParaRPr sz="2000">
              <a:latin typeface="Times New Roman"/>
              <a:cs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151/170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descr=""/>
          <p:cNvSpPr txBox="1"/>
          <p:nvPr/>
        </p:nvSpPr>
        <p:spPr>
          <a:xfrm>
            <a:off x="1530350" y="104902"/>
            <a:ext cx="10687050" cy="3206115"/>
          </a:xfrm>
          <a:prstGeom prst="rect">
            <a:avLst/>
          </a:prstGeom>
        </p:spPr>
        <p:txBody>
          <a:bodyPr wrap="square" lIns="0" tIns="12065" rIns="0" bIns="0" rtlCol="0" vert="horz">
            <a:spAutoFit/>
          </a:bodyPr>
          <a:lstStyle/>
          <a:p>
            <a:pPr marL="25400">
              <a:lnSpc>
                <a:spcPct val="100000"/>
              </a:lnSpc>
              <a:spcBef>
                <a:spcPts val="95"/>
              </a:spcBef>
              <a:tabLst>
                <a:tab pos="10661015" algn="l"/>
              </a:tabLst>
            </a:pPr>
            <a:r>
              <a:rPr dirty="0" u="heavy" sz="2800" spc="-215">
                <a:solidFill>
                  <a:srgbClr val="4F55AC"/>
                </a:solidFill>
                <a:uFill>
                  <a:solidFill>
                    <a:srgbClr val="2C44A3"/>
                  </a:solidFill>
                </a:uFill>
                <a:latin typeface="黑体"/>
                <a:cs typeface="黑体"/>
              </a:rPr>
              <a:t>  </a:t>
            </a:r>
            <a:r>
              <a:rPr dirty="0" u="heavy" sz="2800">
                <a:solidFill>
                  <a:srgbClr val="4F55AC"/>
                </a:solidFill>
                <a:uFill>
                  <a:solidFill>
                    <a:srgbClr val="2C44A3"/>
                  </a:solidFill>
                </a:uFill>
                <a:latin typeface="黑体"/>
                <a:cs typeface="黑体"/>
              </a:rPr>
              <a:t>7.6</a:t>
            </a:r>
            <a:r>
              <a:rPr dirty="0" u="heavy" sz="2800" spc="-5">
                <a:solidFill>
                  <a:srgbClr val="4F55AC"/>
                </a:solidFill>
                <a:uFill>
                  <a:solidFill>
                    <a:srgbClr val="2C44A3"/>
                  </a:solidFill>
                </a:uFill>
                <a:latin typeface="黑体"/>
                <a:cs typeface="黑体"/>
              </a:rPr>
              <a:t> </a:t>
            </a:r>
            <a:r>
              <a:rPr dirty="0" u="heavy" sz="2800" spc="-35">
                <a:solidFill>
                  <a:srgbClr val="4F55AC"/>
                </a:solidFill>
                <a:uFill>
                  <a:solidFill>
                    <a:srgbClr val="2C44A3"/>
                  </a:solidFill>
                </a:uFill>
                <a:latin typeface="黑体"/>
                <a:cs typeface="黑体"/>
              </a:rPr>
              <a:t>并行</a:t>
            </a:r>
            <a:r>
              <a:rPr dirty="0" u="heavy" sz="2800" spc="-30">
                <a:solidFill>
                  <a:srgbClr val="4F55AC"/>
                </a:solidFill>
                <a:uFill>
                  <a:solidFill>
                    <a:srgbClr val="2C44A3"/>
                  </a:solidFill>
                </a:uFill>
                <a:latin typeface="黑体"/>
                <a:cs typeface="黑体"/>
              </a:rPr>
              <a:t>主</a:t>
            </a:r>
            <a:r>
              <a:rPr dirty="0" u="heavy" sz="2800" spc="-35">
                <a:solidFill>
                  <a:srgbClr val="4F55AC"/>
                </a:solidFill>
                <a:uFill>
                  <a:solidFill>
                    <a:srgbClr val="2C44A3"/>
                  </a:solidFill>
                </a:uFill>
                <a:latin typeface="黑体"/>
                <a:cs typeface="黑体"/>
              </a:rPr>
              <a:t>存系</a:t>
            </a:r>
            <a:r>
              <a:rPr dirty="0" u="heavy" sz="2800" spc="-50">
                <a:solidFill>
                  <a:srgbClr val="4F55AC"/>
                </a:solidFill>
                <a:uFill>
                  <a:solidFill>
                    <a:srgbClr val="2C44A3"/>
                  </a:solidFill>
                </a:uFill>
                <a:latin typeface="黑体"/>
                <a:cs typeface="黑体"/>
              </a:rPr>
              <a:t>统</a:t>
            </a:r>
            <a:r>
              <a:rPr dirty="0" u="heavy" sz="2800">
                <a:solidFill>
                  <a:srgbClr val="4F55AC"/>
                </a:solidFill>
                <a:uFill>
                  <a:solidFill>
                    <a:srgbClr val="2C44A3"/>
                  </a:solidFill>
                </a:uFill>
                <a:latin typeface="黑体"/>
                <a:cs typeface="黑体"/>
              </a:rPr>
              <a:t>	</a:t>
            </a:r>
            <a:endParaRPr sz="2800">
              <a:latin typeface="黑体"/>
              <a:cs typeface="黑体"/>
            </a:endParaRPr>
          </a:p>
          <a:p>
            <a:pPr>
              <a:lnSpc>
                <a:spcPct val="100000"/>
              </a:lnSpc>
              <a:spcBef>
                <a:spcPts val="2200"/>
              </a:spcBef>
            </a:pPr>
            <a:endParaRPr sz="2800">
              <a:latin typeface="黑体"/>
              <a:cs typeface="黑体"/>
            </a:endParaRPr>
          </a:p>
          <a:p>
            <a:pPr marL="826135" indent="-457200">
              <a:lnSpc>
                <a:spcPct val="100000"/>
              </a:lnSpc>
              <a:buClr>
                <a:srgbClr val="4668F5"/>
              </a:buClr>
              <a:buSzPct val="60000"/>
              <a:buFont typeface="Wingdings"/>
              <a:buChar char=""/>
              <a:tabLst>
                <a:tab pos="826135" algn="l"/>
              </a:tabLst>
            </a:pPr>
            <a:r>
              <a:rPr dirty="0" sz="2000" spc="-10" b="1">
                <a:solidFill>
                  <a:srgbClr val="00AFEF"/>
                </a:solidFill>
                <a:latin typeface="宋体"/>
                <a:cs typeface="宋体"/>
              </a:rPr>
              <a:t>同理，</a:t>
            </a:r>
            <a:r>
              <a:rPr dirty="0" sz="2000" spc="-10" b="1">
                <a:solidFill>
                  <a:srgbClr val="D50092"/>
                </a:solidFill>
                <a:latin typeface="Times New Roman"/>
                <a:cs typeface="Times New Roman"/>
              </a:rPr>
              <a:t>P</a:t>
            </a:r>
            <a:r>
              <a:rPr dirty="0" sz="2000" spc="-10" b="1">
                <a:solidFill>
                  <a:srgbClr val="D50092"/>
                </a:solidFill>
                <a:latin typeface="宋体"/>
                <a:cs typeface="宋体"/>
              </a:rPr>
              <a:t>（</a:t>
            </a:r>
            <a:r>
              <a:rPr dirty="0" sz="2000" spc="-10" b="1">
                <a:solidFill>
                  <a:srgbClr val="D50092"/>
                </a:solidFill>
                <a:latin typeface="Times New Roman"/>
                <a:cs typeface="Times New Roman"/>
              </a:rPr>
              <a:t>3</a:t>
            </a:r>
            <a:r>
              <a:rPr dirty="0" sz="2000" spc="-10" b="1">
                <a:solidFill>
                  <a:srgbClr val="D50092"/>
                </a:solidFill>
                <a:latin typeface="宋体"/>
                <a:cs typeface="宋体"/>
              </a:rPr>
              <a:t>）＝（</a:t>
            </a:r>
            <a:r>
              <a:rPr dirty="0" sz="2000" spc="-10" b="1">
                <a:solidFill>
                  <a:srgbClr val="D50092"/>
                </a:solidFill>
                <a:latin typeface="Times New Roman"/>
                <a:cs typeface="Times New Roman"/>
              </a:rPr>
              <a:t>1</a:t>
            </a:r>
            <a:r>
              <a:rPr dirty="0" sz="2000" spc="-10" b="1">
                <a:solidFill>
                  <a:srgbClr val="D50092"/>
                </a:solidFill>
                <a:latin typeface="宋体"/>
                <a:cs typeface="宋体"/>
              </a:rPr>
              <a:t>－</a:t>
            </a:r>
            <a:r>
              <a:rPr dirty="0" sz="2000" spc="-10" b="1">
                <a:solidFill>
                  <a:srgbClr val="D50092"/>
                </a:solidFill>
                <a:latin typeface="Times New Roman"/>
                <a:cs typeface="Times New Roman"/>
              </a:rPr>
              <a:t>λ</a:t>
            </a:r>
            <a:r>
              <a:rPr dirty="0" sz="2000" spc="-10" b="1">
                <a:solidFill>
                  <a:srgbClr val="D50092"/>
                </a:solidFill>
                <a:latin typeface="宋体"/>
                <a:cs typeface="宋体"/>
              </a:rPr>
              <a:t>）</a:t>
            </a:r>
            <a:r>
              <a:rPr dirty="0" baseline="25641" sz="1950" spc="-15" b="1">
                <a:solidFill>
                  <a:srgbClr val="D50092"/>
                </a:solidFill>
                <a:latin typeface="Times New Roman"/>
                <a:cs typeface="Times New Roman"/>
              </a:rPr>
              <a:t>2</a:t>
            </a:r>
            <a:r>
              <a:rPr dirty="0" sz="2000" spc="-10" b="1">
                <a:solidFill>
                  <a:srgbClr val="D50092"/>
                </a:solidFill>
                <a:latin typeface="Times New Roman"/>
                <a:cs typeface="Times New Roman"/>
              </a:rPr>
              <a:t>·λ</a:t>
            </a:r>
            <a:endParaRPr sz="2000">
              <a:latin typeface="Times New Roman"/>
              <a:cs typeface="Times New Roman"/>
            </a:endParaRPr>
          </a:p>
          <a:p>
            <a:pPr marL="826135" indent="-457200">
              <a:lnSpc>
                <a:spcPct val="100000"/>
              </a:lnSpc>
              <a:spcBef>
                <a:spcPts val="960"/>
              </a:spcBef>
              <a:buClr>
                <a:srgbClr val="4668F5"/>
              </a:buClr>
              <a:buSzPct val="60000"/>
              <a:buFont typeface="Wingdings"/>
              <a:buChar char=""/>
              <a:tabLst>
                <a:tab pos="826135" algn="l"/>
              </a:tabLst>
            </a:pPr>
            <a:r>
              <a:rPr dirty="0" sz="2000" spc="-15" b="1">
                <a:solidFill>
                  <a:srgbClr val="00AFEF"/>
                </a:solidFill>
                <a:latin typeface="宋体"/>
                <a:cs typeface="宋体"/>
              </a:rPr>
              <a:t>依此类推，</a:t>
            </a:r>
            <a:r>
              <a:rPr dirty="0" sz="2000" spc="-10" b="1">
                <a:solidFill>
                  <a:srgbClr val="D50092"/>
                </a:solidFill>
                <a:latin typeface="Times New Roman"/>
                <a:cs typeface="Times New Roman"/>
              </a:rPr>
              <a:t>P</a:t>
            </a:r>
            <a:r>
              <a:rPr dirty="0" sz="2000" spc="-10" b="1">
                <a:solidFill>
                  <a:srgbClr val="D50092"/>
                </a:solidFill>
                <a:latin typeface="宋体"/>
                <a:cs typeface="宋体"/>
              </a:rPr>
              <a:t>（</a:t>
            </a:r>
            <a:r>
              <a:rPr dirty="0" sz="2000" spc="-10" b="1">
                <a:solidFill>
                  <a:srgbClr val="D50092"/>
                </a:solidFill>
                <a:latin typeface="Times New Roman"/>
                <a:cs typeface="Times New Roman"/>
              </a:rPr>
              <a:t>k</a:t>
            </a:r>
            <a:r>
              <a:rPr dirty="0" sz="2000" spc="-10" b="1">
                <a:solidFill>
                  <a:srgbClr val="D50092"/>
                </a:solidFill>
                <a:latin typeface="宋体"/>
                <a:cs typeface="宋体"/>
              </a:rPr>
              <a:t>）＝（</a:t>
            </a:r>
            <a:r>
              <a:rPr dirty="0" sz="2000" spc="-10" b="1">
                <a:solidFill>
                  <a:srgbClr val="D50092"/>
                </a:solidFill>
                <a:latin typeface="Times New Roman"/>
                <a:cs typeface="Times New Roman"/>
              </a:rPr>
              <a:t>1</a:t>
            </a:r>
            <a:r>
              <a:rPr dirty="0" sz="2000" spc="-10" b="1">
                <a:solidFill>
                  <a:srgbClr val="D50092"/>
                </a:solidFill>
                <a:latin typeface="宋体"/>
                <a:cs typeface="宋体"/>
              </a:rPr>
              <a:t>－</a:t>
            </a:r>
            <a:r>
              <a:rPr dirty="0" sz="2000" spc="-10" b="1">
                <a:solidFill>
                  <a:srgbClr val="D50092"/>
                </a:solidFill>
                <a:latin typeface="Times New Roman"/>
                <a:cs typeface="Times New Roman"/>
              </a:rPr>
              <a:t>λ</a:t>
            </a:r>
            <a:r>
              <a:rPr dirty="0" sz="2000" spc="-10" b="1">
                <a:solidFill>
                  <a:srgbClr val="D50092"/>
                </a:solidFill>
                <a:latin typeface="宋体"/>
                <a:cs typeface="宋体"/>
              </a:rPr>
              <a:t>）</a:t>
            </a:r>
            <a:r>
              <a:rPr dirty="0" baseline="25641" sz="1950" spc="-15" b="1">
                <a:solidFill>
                  <a:srgbClr val="D50092"/>
                </a:solidFill>
                <a:latin typeface="Times New Roman"/>
                <a:cs typeface="Times New Roman"/>
              </a:rPr>
              <a:t>k</a:t>
            </a:r>
            <a:r>
              <a:rPr dirty="0" baseline="25641" sz="1950" spc="-15" b="1">
                <a:solidFill>
                  <a:srgbClr val="D50092"/>
                </a:solidFill>
                <a:latin typeface="宋体"/>
                <a:cs typeface="宋体"/>
              </a:rPr>
              <a:t>－</a:t>
            </a:r>
            <a:r>
              <a:rPr dirty="0" baseline="25641" sz="1950" spc="-15" b="1">
                <a:solidFill>
                  <a:srgbClr val="D50092"/>
                </a:solidFill>
                <a:latin typeface="Times New Roman"/>
                <a:cs typeface="Times New Roman"/>
              </a:rPr>
              <a:t>1</a:t>
            </a:r>
            <a:r>
              <a:rPr dirty="0" sz="2000" spc="-10" b="1">
                <a:solidFill>
                  <a:srgbClr val="D50092"/>
                </a:solidFill>
                <a:latin typeface="Times New Roman"/>
                <a:cs typeface="Times New Roman"/>
              </a:rPr>
              <a:t>·λ</a:t>
            </a:r>
            <a:endParaRPr sz="2000">
              <a:latin typeface="Times New Roman"/>
              <a:cs typeface="Times New Roman"/>
            </a:endParaRPr>
          </a:p>
          <a:p>
            <a:pPr marL="1448435">
              <a:lnSpc>
                <a:spcPct val="100000"/>
              </a:lnSpc>
              <a:spcBef>
                <a:spcPts val="965"/>
              </a:spcBef>
            </a:pPr>
            <a:r>
              <a:rPr dirty="0" sz="2000" spc="-10" b="1">
                <a:solidFill>
                  <a:srgbClr val="00AFEF"/>
                </a:solidFill>
                <a:latin typeface="宋体"/>
                <a:cs typeface="宋体"/>
              </a:rPr>
              <a:t>其中：</a:t>
            </a:r>
            <a:r>
              <a:rPr dirty="0" sz="2000" spc="-10" b="1">
                <a:solidFill>
                  <a:srgbClr val="9933FF"/>
                </a:solidFill>
                <a:latin typeface="Times New Roman"/>
                <a:cs typeface="Times New Roman"/>
              </a:rPr>
              <a:t>1≤k</a:t>
            </a:r>
            <a:r>
              <a:rPr dirty="0" sz="2000" spc="-10" b="1">
                <a:solidFill>
                  <a:srgbClr val="9933FF"/>
                </a:solidFill>
                <a:latin typeface="宋体"/>
                <a:cs typeface="宋体"/>
              </a:rPr>
              <a:t>＜</a:t>
            </a:r>
            <a:r>
              <a:rPr dirty="0" sz="2000" spc="-10" b="1">
                <a:solidFill>
                  <a:srgbClr val="9933FF"/>
                </a:solidFill>
                <a:latin typeface="Times New Roman"/>
                <a:cs typeface="Times New Roman"/>
              </a:rPr>
              <a:t>m</a:t>
            </a:r>
            <a:endParaRPr sz="2000">
              <a:latin typeface="Times New Roman"/>
              <a:cs typeface="Times New Roman"/>
            </a:endParaRPr>
          </a:p>
          <a:p>
            <a:pPr marL="826135" indent="-457200">
              <a:lnSpc>
                <a:spcPct val="100000"/>
              </a:lnSpc>
              <a:spcBef>
                <a:spcPts val="955"/>
              </a:spcBef>
              <a:buClr>
                <a:srgbClr val="4668F5"/>
              </a:buClr>
              <a:buSzPct val="60000"/>
              <a:buFont typeface="Wingdings"/>
              <a:buChar char=""/>
              <a:tabLst>
                <a:tab pos="826135" algn="l"/>
              </a:tabLst>
            </a:pPr>
            <a:r>
              <a:rPr dirty="0" sz="2000" spc="-10" b="1">
                <a:solidFill>
                  <a:srgbClr val="00AFEF"/>
                </a:solidFill>
                <a:latin typeface="宋体"/>
                <a:cs typeface="宋体"/>
              </a:rPr>
              <a:t>如果前</a:t>
            </a:r>
            <a:r>
              <a:rPr dirty="0" sz="2000" spc="-20" b="1">
                <a:solidFill>
                  <a:srgbClr val="00AFEF"/>
                </a:solidFill>
                <a:latin typeface="Times New Roman"/>
                <a:cs typeface="Times New Roman"/>
              </a:rPr>
              <a:t>m</a:t>
            </a:r>
            <a:r>
              <a:rPr dirty="0" sz="2000" spc="-20" b="1">
                <a:solidFill>
                  <a:srgbClr val="00AFEF"/>
                </a:solidFill>
                <a:latin typeface="宋体"/>
                <a:cs typeface="宋体"/>
              </a:rPr>
              <a:t>－</a:t>
            </a:r>
            <a:r>
              <a:rPr dirty="0" sz="2000" spc="-20" b="1">
                <a:solidFill>
                  <a:srgbClr val="00AFEF"/>
                </a:solidFill>
                <a:latin typeface="Times New Roman"/>
                <a:cs typeface="Times New Roman"/>
              </a:rPr>
              <a:t>1</a:t>
            </a:r>
            <a:r>
              <a:rPr dirty="0" sz="2000" spc="-20" b="1">
                <a:solidFill>
                  <a:srgbClr val="00AFEF"/>
                </a:solidFill>
                <a:latin typeface="宋体"/>
                <a:cs typeface="宋体"/>
              </a:rPr>
              <a:t>条指令均不转移，则不管第</a:t>
            </a:r>
            <a:r>
              <a:rPr dirty="0" sz="2000" spc="-10" b="1">
                <a:solidFill>
                  <a:srgbClr val="00AFEF"/>
                </a:solidFill>
                <a:latin typeface="Times New Roman"/>
                <a:cs typeface="Times New Roman"/>
              </a:rPr>
              <a:t>m</a:t>
            </a:r>
            <a:r>
              <a:rPr dirty="0" sz="2000" spc="-20" b="1">
                <a:solidFill>
                  <a:srgbClr val="00AFEF"/>
                </a:solidFill>
                <a:latin typeface="宋体"/>
                <a:cs typeface="宋体"/>
              </a:rPr>
              <a:t>条指令是否转移，</a:t>
            </a:r>
            <a:r>
              <a:rPr dirty="0" sz="2000" b="1">
                <a:solidFill>
                  <a:srgbClr val="00AFEF"/>
                </a:solidFill>
                <a:latin typeface="Times New Roman"/>
                <a:cs typeface="Times New Roman"/>
              </a:rPr>
              <a:t>k</a:t>
            </a:r>
            <a:r>
              <a:rPr dirty="0" sz="2000" spc="-20" b="1">
                <a:solidFill>
                  <a:srgbClr val="00AFEF"/>
                </a:solidFill>
                <a:latin typeface="宋体"/>
                <a:cs typeface="宋体"/>
              </a:rPr>
              <a:t>都等于</a:t>
            </a:r>
            <a:r>
              <a:rPr dirty="0" sz="2000" spc="-10" b="1">
                <a:solidFill>
                  <a:srgbClr val="00AFEF"/>
                </a:solidFill>
                <a:latin typeface="Times New Roman"/>
                <a:cs typeface="Times New Roman"/>
              </a:rPr>
              <a:t>m</a:t>
            </a:r>
            <a:r>
              <a:rPr dirty="0" sz="2000" spc="-30" b="1">
                <a:solidFill>
                  <a:srgbClr val="00AFEF"/>
                </a:solidFill>
                <a:latin typeface="宋体"/>
                <a:cs typeface="宋体"/>
              </a:rPr>
              <a:t>，因此有：</a:t>
            </a:r>
            <a:endParaRPr sz="2000">
              <a:latin typeface="宋体"/>
              <a:cs typeface="宋体"/>
            </a:endParaRPr>
          </a:p>
          <a:p>
            <a:pPr marL="1829435">
              <a:lnSpc>
                <a:spcPct val="100000"/>
              </a:lnSpc>
              <a:spcBef>
                <a:spcPts val="960"/>
              </a:spcBef>
            </a:pPr>
            <a:r>
              <a:rPr dirty="0" sz="2000" spc="-20" b="1">
                <a:solidFill>
                  <a:srgbClr val="D50092"/>
                </a:solidFill>
                <a:latin typeface="Times New Roman"/>
                <a:cs typeface="Times New Roman"/>
              </a:rPr>
              <a:t>P</a:t>
            </a:r>
            <a:r>
              <a:rPr dirty="0" sz="2000" spc="-20" b="1">
                <a:solidFill>
                  <a:srgbClr val="D50092"/>
                </a:solidFill>
                <a:latin typeface="宋体"/>
                <a:cs typeface="宋体"/>
              </a:rPr>
              <a:t>（</a:t>
            </a:r>
            <a:r>
              <a:rPr dirty="0" sz="2000" spc="-20" b="1">
                <a:solidFill>
                  <a:srgbClr val="D50092"/>
                </a:solidFill>
                <a:latin typeface="Times New Roman"/>
                <a:cs typeface="Times New Roman"/>
              </a:rPr>
              <a:t>m</a:t>
            </a:r>
            <a:r>
              <a:rPr dirty="0" sz="2000" spc="-20" b="1">
                <a:solidFill>
                  <a:srgbClr val="D50092"/>
                </a:solidFill>
                <a:latin typeface="宋体"/>
                <a:cs typeface="宋体"/>
              </a:rPr>
              <a:t>）＝（</a:t>
            </a:r>
            <a:r>
              <a:rPr dirty="0" sz="2000" spc="-20" b="1">
                <a:solidFill>
                  <a:srgbClr val="D50092"/>
                </a:solidFill>
                <a:latin typeface="Times New Roman"/>
                <a:cs typeface="Times New Roman"/>
              </a:rPr>
              <a:t>1</a:t>
            </a:r>
            <a:r>
              <a:rPr dirty="0" sz="2000" spc="-20" b="1">
                <a:solidFill>
                  <a:srgbClr val="D50092"/>
                </a:solidFill>
                <a:latin typeface="宋体"/>
                <a:cs typeface="宋体"/>
              </a:rPr>
              <a:t>－</a:t>
            </a:r>
            <a:r>
              <a:rPr dirty="0" sz="2000" spc="-20" b="1">
                <a:solidFill>
                  <a:srgbClr val="D50092"/>
                </a:solidFill>
                <a:latin typeface="Times New Roman"/>
                <a:cs typeface="Times New Roman"/>
              </a:rPr>
              <a:t>λ</a:t>
            </a:r>
            <a:r>
              <a:rPr dirty="0" sz="2000" spc="-20" b="1">
                <a:solidFill>
                  <a:srgbClr val="D50092"/>
                </a:solidFill>
                <a:latin typeface="宋体"/>
                <a:cs typeface="宋体"/>
              </a:rPr>
              <a:t>）</a:t>
            </a:r>
            <a:r>
              <a:rPr dirty="0" sz="2000" spc="-440" b="1">
                <a:solidFill>
                  <a:srgbClr val="D50092"/>
                </a:solidFill>
                <a:latin typeface="宋体"/>
                <a:cs typeface="宋体"/>
              </a:rPr>
              <a:t> </a:t>
            </a:r>
            <a:r>
              <a:rPr dirty="0" baseline="25641" sz="1950" spc="-37" b="1">
                <a:solidFill>
                  <a:srgbClr val="D50092"/>
                </a:solidFill>
                <a:latin typeface="Times New Roman"/>
                <a:cs typeface="Times New Roman"/>
              </a:rPr>
              <a:t>m</a:t>
            </a:r>
            <a:r>
              <a:rPr dirty="0" baseline="25641" sz="1950" spc="-37" b="1">
                <a:solidFill>
                  <a:srgbClr val="D50092"/>
                </a:solidFill>
                <a:latin typeface="宋体"/>
                <a:cs typeface="宋体"/>
              </a:rPr>
              <a:t>－</a:t>
            </a:r>
            <a:r>
              <a:rPr dirty="0" baseline="25641" sz="1950" spc="-37" b="1">
                <a:solidFill>
                  <a:srgbClr val="D50092"/>
                </a:solidFill>
                <a:latin typeface="Times New Roman"/>
                <a:cs typeface="Times New Roman"/>
              </a:rPr>
              <a:t>1</a:t>
            </a:r>
            <a:endParaRPr baseline="25641" sz="1950">
              <a:latin typeface="Times New Roman"/>
              <a:cs typeface="Times New Roman"/>
            </a:endParaRPr>
          </a:p>
        </p:txBody>
      </p:sp>
      <p:sp>
        <p:nvSpPr>
          <p:cNvPr id="9" name="object 9" descr=""/>
          <p:cNvSpPr/>
          <p:nvPr/>
        </p:nvSpPr>
        <p:spPr>
          <a:xfrm>
            <a:off x="1992376" y="3860800"/>
            <a:ext cx="8136255" cy="752475"/>
          </a:xfrm>
          <a:custGeom>
            <a:avLst/>
            <a:gdLst/>
            <a:ahLst/>
            <a:cxnLst/>
            <a:rect l="l" t="t" r="r" b="b"/>
            <a:pathLst>
              <a:path w="8136255" h="752475">
                <a:moveTo>
                  <a:pt x="8136001" y="0"/>
                </a:moveTo>
                <a:lnTo>
                  <a:pt x="0" y="0"/>
                </a:lnTo>
                <a:lnTo>
                  <a:pt x="0" y="752475"/>
                </a:lnTo>
                <a:lnTo>
                  <a:pt x="8136001" y="752475"/>
                </a:lnTo>
                <a:lnTo>
                  <a:pt x="8136001" y="0"/>
                </a:lnTo>
                <a:close/>
              </a:path>
            </a:pathLst>
          </a:custGeom>
          <a:solidFill>
            <a:srgbClr val="EAEAEA"/>
          </a:solidFill>
        </p:spPr>
        <p:txBody>
          <a:bodyPr wrap="square" lIns="0" tIns="0" rIns="0" bIns="0" rtlCol="0"/>
          <a:lstStyle/>
          <a:p/>
        </p:txBody>
      </p:sp>
      <p:sp>
        <p:nvSpPr>
          <p:cNvPr id="10" name="object 10" descr=""/>
          <p:cNvSpPr txBox="1"/>
          <p:nvPr/>
        </p:nvSpPr>
        <p:spPr>
          <a:xfrm>
            <a:off x="2461453" y="3869335"/>
            <a:ext cx="132715" cy="221615"/>
          </a:xfrm>
          <a:prstGeom prst="rect">
            <a:avLst/>
          </a:prstGeom>
        </p:spPr>
        <p:txBody>
          <a:bodyPr wrap="square" lIns="0" tIns="17145" rIns="0" bIns="0" rtlCol="0" vert="horz">
            <a:spAutoFit/>
          </a:bodyPr>
          <a:lstStyle/>
          <a:p>
            <a:pPr>
              <a:lnSpc>
                <a:spcPct val="100000"/>
              </a:lnSpc>
              <a:spcBef>
                <a:spcPts val="135"/>
              </a:spcBef>
            </a:pPr>
            <a:r>
              <a:rPr dirty="0" sz="1250" spc="-50" i="1">
                <a:latin typeface="Times New Roman"/>
                <a:cs typeface="Times New Roman"/>
              </a:rPr>
              <a:t>m</a:t>
            </a:r>
            <a:endParaRPr sz="1250">
              <a:latin typeface="Times New Roman"/>
              <a:cs typeface="Times New Roman"/>
            </a:endParaRPr>
          </a:p>
        </p:txBody>
      </p:sp>
      <p:sp>
        <p:nvSpPr>
          <p:cNvPr id="11" name="object 11" descr=""/>
          <p:cNvSpPr txBox="1"/>
          <p:nvPr/>
        </p:nvSpPr>
        <p:spPr>
          <a:xfrm>
            <a:off x="2011093" y="3847443"/>
            <a:ext cx="8127365" cy="750570"/>
          </a:xfrm>
          <a:prstGeom prst="rect">
            <a:avLst/>
          </a:prstGeom>
        </p:spPr>
        <p:txBody>
          <a:bodyPr wrap="square" lIns="0" tIns="41275" rIns="0" bIns="0" rtlCol="0" vert="horz">
            <a:spAutoFit/>
          </a:bodyPr>
          <a:lstStyle/>
          <a:p>
            <a:pPr marL="391795" marR="30480" indent="-367030">
              <a:lnSpc>
                <a:spcPct val="107100"/>
              </a:lnSpc>
              <a:spcBef>
                <a:spcPts val="325"/>
              </a:spcBef>
            </a:pPr>
            <a:r>
              <a:rPr dirty="0" sz="1600" i="1">
                <a:latin typeface="Times New Roman"/>
                <a:cs typeface="Times New Roman"/>
              </a:rPr>
              <a:t>B</a:t>
            </a:r>
            <a:r>
              <a:rPr dirty="0" sz="1600" spc="75" i="1">
                <a:latin typeface="Times New Roman"/>
                <a:cs typeface="Times New Roman"/>
              </a:rPr>
              <a:t> </a:t>
            </a:r>
            <a:r>
              <a:rPr dirty="0" sz="1600">
                <a:latin typeface="Symbol"/>
                <a:cs typeface="Symbol"/>
              </a:rPr>
              <a:t></a:t>
            </a:r>
            <a:r>
              <a:rPr dirty="0" sz="1600" spc="30">
                <a:latin typeface="Times New Roman"/>
                <a:cs typeface="Times New Roman"/>
              </a:rPr>
              <a:t> </a:t>
            </a:r>
            <a:r>
              <a:rPr dirty="0" baseline="-10536" sz="4350" spc="165">
                <a:latin typeface="Symbol"/>
                <a:cs typeface="Symbol"/>
              </a:rPr>
              <a:t></a:t>
            </a:r>
            <a:r>
              <a:rPr dirty="0" sz="1600" spc="110" i="1">
                <a:latin typeface="Times New Roman"/>
                <a:cs typeface="Times New Roman"/>
              </a:rPr>
              <a:t>k</a:t>
            </a:r>
            <a:r>
              <a:rPr dirty="0" sz="1600" spc="20" i="1">
                <a:latin typeface="Times New Roman"/>
                <a:cs typeface="Times New Roman"/>
              </a:rPr>
              <a:t> </a:t>
            </a:r>
            <a:r>
              <a:rPr dirty="0" sz="1600">
                <a:latin typeface="Symbol"/>
                <a:cs typeface="Symbol"/>
              </a:rPr>
              <a:t></a:t>
            </a:r>
            <a:r>
              <a:rPr dirty="0" sz="1600" spc="-40">
                <a:latin typeface="Times New Roman"/>
                <a:cs typeface="Times New Roman"/>
              </a:rPr>
              <a:t> </a:t>
            </a:r>
            <a:r>
              <a:rPr dirty="0" sz="1600" spc="55" i="1">
                <a:latin typeface="Times New Roman"/>
                <a:cs typeface="Times New Roman"/>
              </a:rPr>
              <a:t>P</a:t>
            </a:r>
            <a:r>
              <a:rPr dirty="0" sz="1600" spc="55">
                <a:latin typeface="Times New Roman"/>
                <a:cs typeface="Times New Roman"/>
              </a:rPr>
              <a:t>(</a:t>
            </a:r>
            <a:r>
              <a:rPr dirty="0" sz="1600" spc="55" i="1">
                <a:latin typeface="Times New Roman"/>
                <a:cs typeface="Times New Roman"/>
              </a:rPr>
              <a:t>k</a:t>
            </a:r>
            <a:r>
              <a:rPr dirty="0" sz="1600" spc="55">
                <a:latin typeface="Times New Roman"/>
                <a:cs typeface="Times New Roman"/>
              </a:rPr>
              <a:t>) </a:t>
            </a:r>
            <a:r>
              <a:rPr dirty="0" sz="1600">
                <a:latin typeface="Symbol"/>
                <a:cs typeface="Symbol"/>
              </a:rPr>
              <a:t></a:t>
            </a:r>
            <a:r>
              <a:rPr dirty="0" sz="1600" spc="-135">
                <a:latin typeface="Times New Roman"/>
                <a:cs typeface="Times New Roman"/>
              </a:rPr>
              <a:t> </a:t>
            </a:r>
            <a:r>
              <a:rPr dirty="0" sz="1600" spc="75">
                <a:latin typeface="Times New Roman"/>
                <a:cs typeface="Times New Roman"/>
              </a:rPr>
              <a:t>1</a:t>
            </a:r>
            <a:r>
              <a:rPr dirty="0" sz="1600" spc="75">
                <a:latin typeface="Symbol"/>
                <a:cs typeface="Symbol"/>
              </a:rPr>
              <a:t></a:t>
            </a:r>
            <a:r>
              <a:rPr dirty="0" sz="1600" spc="-114">
                <a:latin typeface="Times New Roman"/>
                <a:cs typeface="Times New Roman"/>
              </a:rPr>
              <a:t> </a:t>
            </a:r>
            <a:r>
              <a:rPr dirty="0" sz="1700" i="1">
                <a:latin typeface="Symbol"/>
                <a:cs typeface="Symbol"/>
              </a:rPr>
              <a:t></a:t>
            </a:r>
            <a:r>
              <a:rPr dirty="0" sz="1700" spc="20">
                <a:latin typeface="Times New Roman"/>
                <a:cs typeface="Times New Roman"/>
              </a:rPr>
              <a:t> </a:t>
            </a:r>
            <a:r>
              <a:rPr dirty="0" sz="1600">
                <a:latin typeface="Symbol"/>
                <a:cs typeface="Symbol"/>
              </a:rPr>
              <a:t></a:t>
            </a:r>
            <a:r>
              <a:rPr dirty="0" sz="1600" spc="-30">
                <a:latin typeface="Times New Roman"/>
                <a:cs typeface="Times New Roman"/>
              </a:rPr>
              <a:t> </a:t>
            </a:r>
            <a:r>
              <a:rPr dirty="0" sz="1600">
                <a:latin typeface="Times New Roman"/>
                <a:cs typeface="Times New Roman"/>
              </a:rPr>
              <a:t>2</a:t>
            </a:r>
            <a:r>
              <a:rPr dirty="0" sz="1600" spc="-130">
                <a:latin typeface="Times New Roman"/>
                <a:cs typeface="Times New Roman"/>
              </a:rPr>
              <a:t> </a:t>
            </a:r>
            <a:r>
              <a:rPr dirty="0" sz="1600">
                <a:latin typeface="Symbol"/>
                <a:cs typeface="Symbol"/>
              </a:rPr>
              <a:t></a:t>
            </a:r>
            <a:r>
              <a:rPr dirty="0" sz="1600" spc="-114">
                <a:latin typeface="Times New Roman"/>
                <a:cs typeface="Times New Roman"/>
              </a:rPr>
              <a:t> </a:t>
            </a:r>
            <a:r>
              <a:rPr dirty="0" sz="1600" spc="-70">
                <a:latin typeface="Times New Roman"/>
                <a:cs typeface="Times New Roman"/>
              </a:rPr>
              <a:t>(1</a:t>
            </a:r>
            <a:r>
              <a:rPr dirty="0" sz="1600" spc="-210">
                <a:latin typeface="Times New Roman"/>
                <a:cs typeface="Times New Roman"/>
              </a:rPr>
              <a:t> </a:t>
            </a:r>
            <a:r>
              <a:rPr dirty="0" sz="1600">
                <a:latin typeface="Symbol"/>
                <a:cs typeface="Symbol"/>
              </a:rPr>
              <a:t></a:t>
            </a:r>
            <a:r>
              <a:rPr dirty="0" sz="1600" spc="-85">
                <a:latin typeface="Times New Roman"/>
                <a:cs typeface="Times New Roman"/>
              </a:rPr>
              <a:t> </a:t>
            </a:r>
            <a:r>
              <a:rPr dirty="0" sz="1700" i="1">
                <a:latin typeface="Symbol"/>
                <a:cs typeface="Symbol"/>
              </a:rPr>
              <a:t></a:t>
            </a:r>
            <a:r>
              <a:rPr dirty="0" sz="1600">
                <a:latin typeface="Times New Roman"/>
                <a:cs typeface="Times New Roman"/>
              </a:rPr>
              <a:t>)</a:t>
            </a:r>
            <a:r>
              <a:rPr dirty="0" sz="1600" spc="-110">
                <a:latin typeface="Times New Roman"/>
                <a:cs typeface="Times New Roman"/>
              </a:rPr>
              <a:t> </a:t>
            </a:r>
            <a:r>
              <a:rPr dirty="0" sz="1600">
                <a:latin typeface="Symbol"/>
                <a:cs typeface="Symbol"/>
              </a:rPr>
              <a:t></a:t>
            </a:r>
            <a:r>
              <a:rPr dirty="0" sz="1600" spc="-114">
                <a:latin typeface="Times New Roman"/>
                <a:cs typeface="Times New Roman"/>
              </a:rPr>
              <a:t> </a:t>
            </a:r>
            <a:r>
              <a:rPr dirty="0" sz="1700" i="1">
                <a:latin typeface="Symbol"/>
                <a:cs typeface="Symbol"/>
              </a:rPr>
              <a:t></a:t>
            </a:r>
            <a:r>
              <a:rPr dirty="0" sz="1700" spc="20">
                <a:latin typeface="Times New Roman"/>
                <a:cs typeface="Times New Roman"/>
              </a:rPr>
              <a:t> </a:t>
            </a:r>
            <a:r>
              <a:rPr dirty="0" sz="1600">
                <a:latin typeface="Symbol"/>
                <a:cs typeface="Symbol"/>
              </a:rPr>
              <a:t></a:t>
            </a:r>
            <a:r>
              <a:rPr dirty="0" sz="1600" spc="-85">
                <a:latin typeface="Times New Roman"/>
                <a:cs typeface="Times New Roman"/>
              </a:rPr>
              <a:t> </a:t>
            </a:r>
            <a:r>
              <a:rPr dirty="0" sz="1600">
                <a:latin typeface="Times New Roman"/>
                <a:cs typeface="Times New Roman"/>
              </a:rPr>
              <a:t>3</a:t>
            </a:r>
            <a:r>
              <a:rPr dirty="0" sz="1600" spc="-185">
                <a:latin typeface="Times New Roman"/>
                <a:cs typeface="Times New Roman"/>
              </a:rPr>
              <a:t> </a:t>
            </a:r>
            <a:r>
              <a:rPr dirty="0" sz="1600">
                <a:latin typeface="Symbol"/>
                <a:cs typeface="Symbol"/>
              </a:rPr>
              <a:t></a:t>
            </a:r>
            <a:r>
              <a:rPr dirty="0" sz="1600" spc="-114">
                <a:latin typeface="Times New Roman"/>
                <a:cs typeface="Times New Roman"/>
              </a:rPr>
              <a:t> </a:t>
            </a:r>
            <a:r>
              <a:rPr dirty="0" sz="1600" spc="-70">
                <a:latin typeface="Times New Roman"/>
                <a:cs typeface="Times New Roman"/>
              </a:rPr>
              <a:t>(1</a:t>
            </a:r>
            <a:r>
              <a:rPr dirty="0" sz="1600" spc="-210">
                <a:latin typeface="Times New Roman"/>
                <a:cs typeface="Times New Roman"/>
              </a:rPr>
              <a:t> </a:t>
            </a:r>
            <a:r>
              <a:rPr dirty="0" sz="1600">
                <a:latin typeface="Symbol"/>
                <a:cs typeface="Symbol"/>
              </a:rPr>
              <a:t></a:t>
            </a:r>
            <a:r>
              <a:rPr dirty="0" sz="1600" spc="-85">
                <a:latin typeface="Times New Roman"/>
                <a:cs typeface="Times New Roman"/>
              </a:rPr>
              <a:t> </a:t>
            </a:r>
            <a:r>
              <a:rPr dirty="0" sz="1700" spc="70" i="1">
                <a:latin typeface="Symbol"/>
                <a:cs typeface="Symbol"/>
              </a:rPr>
              <a:t></a:t>
            </a:r>
            <a:r>
              <a:rPr dirty="0" sz="1600" spc="70">
                <a:latin typeface="Times New Roman"/>
                <a:cs typeface="Times New Roman"/>
              </a:rPr>
              <a:t>)</a:t>
            </a:r>
            <a:r>
              <a:rPr dirty="0" baseline="31111" sz="1875" spc="104">
                <a:latin typeface="Times New Roman"/>
                <a:cs typeface="Times New Roman"/>
              </a:rPr>
              <a:t>2</a:t>
            </a:r>
            <a:r>
              <a:rPr dirty="0" baseline="31111" sz="1875" spc="284">
                <a:latin typeface="Times New Roman"/>
                <a:cs typeface="Times New Roman"/>
              </a:rPr>
              <a:t> </a:t>
            </a:r>
            <a:r>
              <a:rPr dirty="0" sz="1600">
                <a:latin typeface="Symbol"/>
                <a:cs typeface="Symbol"/>
              </a:rPr>
              <a:t></a:t>
            </a:r>
            <a:r>
              <a:rPr dirty="0" sz="1600" spc="-120">
                <a:latin typeface="Times New Roman"/>
                <a:cs typeface="Times New Roman"/>
              </a:rPr>
              <a:t> </a:t>
            </a:r>
            <a:r>
              <a:rPr dirty="0" sz="1700" i="1">
                <a:latin typeface="Symbol"/>
                <a:cs typeface="Symbol"/>
              </a:rPr>
              <a:t></a:t>
            </a:r>
            <a:r>
              <a:rPr dirty="0" sz="1700" spc="20">
                <a:latin typeface="Times New Roman"/>
                <a:cs typeface="Times New Roman"/>
              </a:rPr>
              <a:t> </a:t>
            </a:r>
            <a:r>
              <a:rPr dirty="0" sz="1600">
                <a:latin typeface="Symbol"/>
                <a:cs typeface="Symbol"/>
              </a:rPr>
              <a:t></a:t>
            </a:r>
            <a:r>
              <a:rPr dirty="0" sz="1600" spc="-185">
                <a:latin typeface="Times New Roman"/>
                <a:cs typeface="Times New Roman"/>
              </a:rPr>
              <a:t> </a:t>
            </a:r>
            <a:r>
              <a:rPr dirty="0" sz="1600" spc="120">
                <a:latin typeface="MT Extra"/>
                <a:cs typeface="MT Extra"/>
              </a:rPr>
              <a:t></a:t>
            </a:r>
            <a:r>
              <a:rPr dirty="0" sz="1600" spc="120">
                <a:latin typeface="Symbol"/>
                <a:cs typeface="Symbol"/>
              </a:rPr>
              <a:t></a:t>
            </a:r>
            <a:r>
              <a:rPr dirty="0" sz="1600" spc="-55">
                <a:latin typeface="Times New Roman"/>
                <a:cs typeface="Times New Roman"/>
              </a:rPr>
              <a:t> </a:t>
            </a:r>
            <a:r>
              <a:rPr dirty="0" sz="1600">
                <a:latin typeface="Times New Roman"/>
                <a:cs typeface="Times New Roman"/>
              </a:rPr>
              <a:t>(</a:t>
            </a:r>
            <a:r>
              <a:rPr dirty="0" sz="1600" i="1">
                <a:latin typeface="Times New Roman"/>
                <a:cs typeface="Times New Roman"/>
              </a:rPr>
              <a:t>m</a:t>
            </a:r>
            <a:r>
              <a:rPr dirty="0" sz="1600" spc="-60" i="1">
                <a:latin typeface="Times New Roman"/>
                <a:cs typeface="Times New Roman"/>
              </a:rPr>
              <a:t> </a:t>
            </a:r>
            <a:r>
              <a:rPr dirty="0" sz="1600">
                <a:latin typeface="Symbol"/>
                <a:cs typeface="Symbol"/>
              </a:rPr>
              <a:t></a:t>
            </a:r>
            <a:r>
              <a:rPr dirty="0" sz="1600" spc="-240">
                <a:latin typeface="Times New Roman"/>
                <a:cs typeface="Times New Roman"/>
              </a:rPr>
              <a:t> </a:t>
            </a:r>
            <a:r>
              <a:rPr dirty="0" sz="1600" spc="-70">
                <a:latin typeface="Times New Roman"/>
                <a:cs typeface="Times New Roman"/>
              </a:rPr>
              <a:t>1)(1</a:t>
            </a:r>
            <a:r>
              <a:rPr dirty="0" sz="1600" spc="-210">
                <a:latin typeface="Times New Roman"/>
                <a:cs typeface="Times New Roman"/>
              </a:rPr>
              <a:t> </a:t>
            </a:r>
            <a:r>
              <a:rPr dirty="0" sz="1600">
                <a:latin typeface="Symbol"/>
                <a:cs typeface="Symbol"/>
              </a:rPr>
              <a:t></a:t>
            </a:r>
            <a:r>
              <a:rPr dirty="0" sz="1600" spc="-85">
                <a:latin typeface="Times New Roman"/>
                <a:cs typeface="Times New Roman"/>
              </a:rPr>
              <a:t> </a:t>
            </a:r>
            <a:r>
              <a:rPr dirty="0" sz="1700" spc="65" i="1">
                <a:latin typeface="Symbol"/>
                <a:cs typeface="Symbol"/>
              </a:rPr>
              <a:t></a:t>
            </a:r>
            <a:r>
              <a:rPr dirty="0" sz="1600" spc="65">
                <a:latin typeface="Times New Roman"/>
                <a:cs typeface="Times New Roman"/>
              </a:rPr>
              <a:t>)</a:t>
            </a:r>
            <a:r>
              <a:rPr dirty="0" baseline="31111" sz="1875" spc="97" i="1">
                <a:latin typeface="Times New Roman"/>
                <a:cs typeface="Times New Roman"/>
              </a:rPr>
              <a:t>m</a:t>
            </a:r>
            <a:r>
              <a:rPr dirty="0" baseline="31111" sz="1875" spc="97">
                <a:latin typeface="Symbol"/>
                <a:cs typeface="Symbol"/>
              </a:rPr>
              <a:t></a:t>
            </a:r>
            <a:r>
              <a:rPr dirty="0" baseline="31111" sz="1875" spc="97">
                <a:latin typeface="Times New Roman"/>
                <a:cs typeface="Times New Roman"/>
              </a:rPr>
              <a:t>2</a:t>
            </a:r>
            <a:r>
              <a:rPr dirty="0" baseline="31111" sz="1875" spc="284">
                <a:latin typeface="Times New Roman"/>
                <a:cs typeface="Times New Roman"/>
              </a:rPr>
              <a:t> </a:t>
            </a:r>
            <a:r>
              <a:rPr dirty="0" sz="1600">
                <a:latin typeface="Symbol"/>
                <a:cs typeface="Symbol"/>
              </a:rPr>
              <a:t></a:t>
            </a:r>
            <a:r>
              <a:rPr dirty="0" sz="1600" spc="-114">
                <a:latin typeface="Times New Roman"/>
                <a:cs typeface="Times New Roman"/>
              </a:rPr>
              <a:t> </a:t>
            </a:r>
            <a:r>
              <a:rPr dirty="0" sz="1700" i="1">
                <a:latin typeface="Symbol"/>
                <a:cs typeface="Symbol"/>
              </a:rPr>
              <a:t></a:t>
            </a:r>
            <a:r>
              <a:rPr dirty="0" sz="1700" spc="15">
                <a:latin typeface="Times New Roman"/>
                <a:cs typeface="Times New Roman"/>
              </a:rPr>
              <a:t> </a:t>
            </a:r>
            <a:r>
              <a:rPr dirty="0" sz="1600">
                <a:latin typeface="Symbol"/>
                <a:cs typeface="Symbol"/>
              </a:rPr>
              <a:t></a:t>
            </a:r>
            <a:r>
              <a:rPr dirty="0" sz="1600" spc="-25">
                <a:latin typeface="Times New Roman"/>
                <a:cs typeface="Times New Roman"/>
              </a:rPr>
              <a:t> </a:t>
            </a:r>
            <a:r>
              <a:rPr dirty="0" sz="1600" spc="-40" i="1">
                <a:latin typeface="Times New Roman"/>
                <a:cs typeface="Times New Roman"/>
              </a:rPr>
              <a:t>m</a:t>
            </a:r>
            <a:r>
              <a:rPr dirty="0" sz="1600" spc="-40">
                <a:latin typeface="Times New Roman"/>
                <a:cs typeface="Times New Roman"/>
              </a:rPr>
              <a:t>(1</a:t>
            </a:r>
            <a:r>
              <a:rPr dirty="0" sz="1600" spc="-210">
                <a:latin typeface="Times New Roman"/>
                <a:cs typeface="Times New Roman"/>
              </a:rPr>
              <a:t> </a:t>
            </a:r>
            <a:r>
              <a:rPr dirty="0" sz="1600">
                <a:latin typeface="Symbol"/>
                <a:cs typeface="Symbol"/>
              </a:rPr>
              <a:t></a:t>
            </a:r>
            <a:r>
              <a:rPr dirty="0" sz="1600" spc="-85">
                <a:latin typeface="Times New Roman"/>
                <a:cs typeface="Times New Roman"/>
              </a:rPr>
              <a:t> </a:t>
            </a:r>
            <a:r>
              <a:rPr dirty="0" sz="1700" spc="-10" i="1">
                <a:latin typeface="Symbol"/>
                <a:cs typeface="Symbol"/>
              </a:rPr>
              <a:t></a:t>
            </a:r>
            <a:r>
              <a:rPr dirty="0" sz="1600" spc="-10">
                <a:latin typeface="Times New Roman"/>
                <a:cs typeface="Times New Roman"/>
              </a:rPr>
              <a:t>)</a:t>
            </a:r>
            <a:r>
              <a:rPr dirty="0" baseline="31111" sz="1875" spc="-15" i="1">
                <a:latin typeface="Times New Roman"/>
                <a:cs typeface="Times New Roman"/>
              </a:rPr>
              <a:t>m</a:t>
            </a:r>
            <a:r>
              <a:rPr dirty="0" baseline="31111" sz="1875" spc="-15">
                <a:latin typeface="Symbol"/>
                <a:cs typeface="Symbol"/>
              </a:rPr>
              <a:t></a:t>
            </a:r>
            <a:r>
              <a:rPr dirty="0" baseline="31111" sz="1875" spc="-15">
                <a:latin typeface="Times New Roman"/>
                <a:cs typeface="Times New Roman"/>
              </a:rPr>
              <a:t>1</a:t>
            </a:r>
            <a:r>
              <a:rPr dirty="0" baseline="31111" sz="1875" spc="750">
                <a:latin typeface="Times New Roman"/>
                <a:cs typeface="Times New Roman"/>
              </a:rPr>
              <a:t> </a:t>
            </a:r>
            <a:r>
              <a:rPr dirty="0" sz="1250" i="1">
                <a:latin typeface="Times New Roman"/>
                <a:cs typeface="Times New Roman"/>
              </a:rPr>
              <a:t>k</a:t>
            </a:r>
            <a:r>
              <a:rPr dirty="0" sz="1250" spc="-160" i="1">
                <a:latin typeface="Times New Roman"/>
                <a:cs typeface="Times New Roman"/>
              </a:rPr>
              <a:t> </a:t>
            </a:r>
            <a:r>
              <a:rPr dirty="0" sz="1250" spc="-25">
                <a:latin typeface="Symbol"/>
                <a:cs typeface="Symbol"/>
              </a:rPr>
              <a:t></a:t>
            </a:r>
            <a:r>
              <a:rPr dirty="0" sz="1250" spc="-25">
                <a:latin typeface="Times New Roman"/>
                <a:cs typeface="Times New Roman"/>
              </a:rPr>
              <a:t>1</a:t>
            </a:r>
            <a:endParaRPr sz="1250">
              <a:latin typeface="Times New Roman"/>
              <a:cs typeface="Times New Roman"/>
            </a:endParaRPr>
          </a:p>
        </p:txBody>
      </p:sp>
      <p:sp>
        <p:nvSpPr>
          <p:cNvPr id="12" name="object 12" descr=""/>
          <p:cNvSpPr/>
          <p:nvPr/>
        </p:nvSpPr>
        <p:spPr>
          <a:xfrm>
            <a:off x="3719576" y="4797425"/>
            <a:ext cx="1656080" cy="752475"/>
          </a:xfrm>
          <a:custGeom>
            <a:avLst/>
            <a:gdLst/>
            <a:ahLst/>
            <a:cxnLst/>
            <a:rect l="l" t="t" r="r" b="b"/>
            <a:pathLst>
              <a:path w="1656079" h="752475">
                <a:moveTo>
                  <a:pt x="1655699" y="0"/>
                </a:moveTo>
                <a:lnTo>
                  <a:pt x="0" y="0"/>
                </a:lnTo>
                <a:lnTo>
                  <a:pt x="0" y="752475"/>
                </a:lnTo>
                <a:lnTo>
                  <a:pt x="1655699" y="752475"/>
                </a:lnTo>
                <a:lnTo>
                  <a:pt x="1655699" y="0"/>
                </a:lnTo>
                <a:close/>
              </a:path>
            </a:pathLst>
          </a:custGeom>
          <a:solidFill>
            <a:srgbClr val="EAEAEA"/>
          </a:solidFill>
        </p:spPr>
        <p:txBody>
          <a:bodyPr wrap="square" lIns="0" tIns="0" rIns="0" bIns="0" rtlCol="0"/>
          <a:lstStyle/>
          <a:p/>
        </p:txBody>
      </p:sp>
      <p:sp>
        <p:nvSpPr>
          <p:cNvPr id="13" name="object 13" descr=""/>
          <p:cNvSpPr txBox="1"/>
          <p:nvPr/>
        </p:nvSpPr>
        <p:spPr>
          <a:xfrm>
            <a:off x="4234963" y="4802466"/>
            <a:ext cx="292735" cy="212725"/>
          </a:xfrm>
          <a:prstGeom prst="rect">
            <a:avLst/>
          </a:prstGeom>
        </p:spPr>
        <p:txBody>
          <a:bodyPr wrap="square" lIns="0" tIns="15875" rIns="0" bIns="0" rtlCol="0" vert="horz">
            <a:spAutoFit/>
          </a:bodyPr>
          <a:lstStyle/>
          <a:p>
            <a:pPr>
              <a:lnSpc>
                <a:spcPct val="100000"/>
              </a:lnSpc>
              <a:spcBef>
                <a:spcPts val="125"/>
              </a:spcBef>
            </a:pPr>
            <a:r>
              <a:rPr dirty="0" sz="1200" spc="-25" i="1">
                <a:latin typeface="Times New Roman"/>
                <a:cs typeface="Times New Roman"/>
              </a:rPr>
              <a:t>m</a:t>
            </a:r>
            <a:r>
              <a:rPr dirty="0" sz="1200" spc="-25">
                <a:latin typeface="Symbol"/>
                <a:cs typeface="Symbol"/>
              </a:rPr>
              <a:t></a:t>
            </a:r>
            <a:r>
              <a:rPr dirty="0" sz="1200" spc="-25">
                <a:latin typeface="Times New Roman"/>
                <a:cs typeface="Times New Roman"/>
              </a:rPr>
              <a:t>1</a:t>
            </a:r>
            <a:endParaRPr sz="1200">
              <a:latin typeface="Times New Roman"/>
              <a:cs typeface="Times New Roman"/>
            </a:endParaRPr>
          </a:p>
        </p:txBody>
      </p:sp>
      <p:sp>
        <p:nvSpPr>
          <p:cNvPr id="14" name="object 14" descr=""/>
          <p:cNvSpPr txBox="1"/>
          <p:nvPr/>
        </p:nvSpPr>
        <p:spPr>
          <a:xfrm>
            <a:off x="3743171" y="4779452"/>
            <a:ext cx="1584960" cy="760730"/>
          </a:xfrm>
          <a:prstGeom prst="rect">
            <a:avLst/>
          </a:prstGeom>
        </p:spPr>
        <p:txBody>
          <a:bodyPr wrap="square" lIns="0" tIns="61594" rIns="0" bIns="0" rtlCol="0" vert="horz">
            <a:spAutoFit/>
          </a:bodyPr>
          <a:lstStyle/>
          <a:p>
            <a:pPr marL="25400">
              <a:lnSpc>
                <a:spcPct val="100000"/>
              </a:lnSpc>
              <a:spcBef>
                <a:spcPts val="484"/>
              </a:spcBef>
            </a:pPr>
            <a:r>
              <a:rPr dirty="0" sz="2100" i="1">
                <a:latin typeface="Times New Roman"/>
                <a:cs typeface="Times New Roman"/>
              </a:rPr>
              <a:t>B</a:t>
            </a:r>
            <a:r>
              <a:rPr dirty="0" sz="2100" spc="90" i="1">
                <a:latin typeface="Times New Roman"/>
                <a:cs typeface="Times New Roman"/>
              </a:rPr>
              <a:t> </a:t>
            </a:r>
            <a:r>
              <a:rPr dirty="0" sz="2100">
                <a:latin typeface="Symbol"/>
                <a:cs typeface="Symbol"/>
              </a:rPr>
              <a:t></a:t>
            </a:r>
            <a:r>
              <a:rPr dirty="0" sz="2100" spc="45">
                <a:latin typeface="Times New Roman"/>
                <a:cs typeface="Times New Roman"/>
              </a:rPr>
              <a:t> </a:t>
            </a:r>
            <a:r>
              <a:rPr dirty="0" baseline="-8818" sz="4725">
                <a:latin typeface="Symbol"/>
                <a:cs typeface="Symbol"/>
              </a:rPr>
              <a:t></a:t>
            </a:r>
            <a:r>
              <a:rPr dirty="0" sz="2100">
                <a:latin typeface="Times New Roman"/>
                <a:cs typeface="Times New Roman"/>
              </a:rPr>
              <a:t>(1</a:t>
            </a:r>
            <a:r>
              <a:rPr dirty="0" sz="2100" spc="-290">
                <a:latin typeface="Times New Roman"/>
                <a:cs typeface="Times New Roman"/>
              </a:rPr>
              <a:t> </a:t>
            </a:r>
            <a:r>
              <a:rPr dirty="0" sz="2100">
                <a:latin typeface="Symbol"/>
                <a:cs typeface="Symbol"/>
              </a:rPr>
              <a:t></a:t>
            </a:r>
            <a:r>
              <a:rPr dirty="0" sz="2100" spc="-120">
                <a:latin typeface="Times New Roman"/>
                <a:cs typeface="Times New Roman"/>
              </a:rPr>
              <a:t> </a:t>
            </a:r>
            <a:r>
              <a:rPr dirty="0" sz="2200" spc="50" i="1">
                <a:latin typeface="Symbol"/>
                <a:cs typeface="Symbol"/>
              </a:rPr>
              <a:t></a:t>
            </a:r>
            <a:r>
              <a:rPr dirty="0" sz="2100" spc="50">
                <a:latin typeface="Times New Roman"/>
                <a:cs typeface="Times New Roman"/>
              </a:rPr>
              <a:t>)</a:t>
            </a:r>
            <a:r>
              <a:rPr dirty="0" baseline="43981" sz="1800" spc="75" i="1">
                <a:latin typeface="Times New Roman"/>
                <a:cs typeface="Times New Roman"/>
              </a:rPr>
              <a:t>i</a:t>
            </a:r>
            <a:endParaRPr baseline="43981" sz="1800">
              <a:latin typeface="Times New Roman"/>
              <a:cs typeface="Times New Roman"/>
            </a:endParaRPr>
          </a:p>
          <a:p>
            <a:pPr marL="509270">
              <a:lnSpc>
                <a:spcPct val="100000"/>
              </a:lnSpc>
              <a:spcBef>
                <a:spcPts val="175"/>
              </a:spcBef>
            </a:pPr>
            <a:r>
              <a:rPr dirty="0" sz="1200" spc="30" i="1">
                <a:latin typeface="Times New Roman"/>
                <a:cs typeface="Times New Roman"/>
              </a:rPr>
              <a:t>i</a:t>
            </a:r>
            <a:r>
              <a:rPr dirty="0" sz="1200" spc="30">
                <a:latin typeface="Symbol"/>
                <a:cs typeface="Symbol"/>
              </a:rPr>
              <a:t></a:t>
            </a:r>
            <a:r>
              <a:rPr dirty="0" sz="1200" spc="30">
                <a:latin typeface="Times New Roman"/>
                <a:cs typeface="Times New Roman"/>
              </a:rPr>
              <a:t>0</a:t>
            </a:r>
            <a:endParaRPr sz="1200">
              <a:latin typeface="Times New Roman"/>
              <a:cs typeface="Times New Roman"/>
            </a:endParaRPr>
          </a:p>
        </p:txBody>
      </p:sp>
      <p:sp>
        <p:nvSpPr>
          <p:cNvPr id="15" name="object 15" descr=""/>
          <p:cNvSpPr/>
          <p:nvPr/>
        </p:nvSpPr>
        <p:spPr>
          <a:xfrm>
            <a:off x="6672326" y="4868862"/>
            <a:ext cx="1656080" cy="681355"/>
          </a:xfrm>
          <a:custGeom>
            <a:avLst/>
            <a:gdLst/>
            <a:ahLst/>
            <a:cxnLst/>
            <a:rect l="l" t="t" r="r" b="b"/>
            <a:pathLst>
              <a:path w="1656079" h="681354">
                <a:moveTo>
                  <a:pt x="1655699" y="0"/>
                </a:moveTo>
                <a:lnTo>
                  <a:pt x="0" y="0"/>
                </a:lnTo>
                <a:lnTo>
                  <a:pt x="0" y="681037"/>
                </a:lnTo>
                <a:lnTo>
                  <a:pt x="1655699" y="681037"/>
                </a:lnTo>
                <a:lnTo>
                  <a:pt x="1655699" y="0"/>
                </a:lnTo>
                <a:close/>
              </a:path>
            </a:pathLst>
          </a:custGeom>
          <a:solidFill>
            <a:srgbClr val="EAEAEA"/>
          </a:solidFill>
        </p:spPr>
        <p:txBody>
          <a:bodyPr wrap="square" lIns="0" tIns="0" rIns="0" bIns="0" rtlCol="0"/>
          <a:lstStyle/>
          <a:p/>
        </p:txBody>
      </p:sp>
      <p:sp>
        <p:nvSpPr>
          <p:cNvPr id="16" name="object 16" descr=""/>
          <p:cNvSpPr txBox="1"/>
          <p:nvPr/>
        </p:nvSpPr>
        <p:spPr>
          <a:xfrm>
            <a:off x="7632448" y="5219166"/>
            <a:ext cx="149860" cy="339090"/>
          </a:xfrm>
          <a:prstGeom prst="rect">
            <a:avLst/>
          </a:prstGeom>
        </p:spPr>
        <p:txBody>
          <a:bodyPr wrap="square" lIns="0" tIns="13335" rIns="0" bIns="0" rtlCol="0" vert="horz">
            <a:spAutoFit/>
          </a:bodyPr>
          <a:lstStyle/>
          <a:p>
            <a:pPr>
              <a:lnSpc>
                <a:spcPct val="100000"/>
              </a:lnSpc>
              <a:spcBef>
                <a:spcPts val="105"/>
              </a:spcBef>
            </a:pPr>
            <a:r>
              <a:rPr dirty="0" sz="2050" spc="-50" i="1">
                <a:latin typeface="Symbol"/>
                <a:cs typeface="Symbol"/>
              </a:rPr>
              <a:t></a:t>
            </a:r>
            <a:endParaRPr sz="2050">
              <a:latin typeface="Symbol"/>
              <a:cs typeface="Symbol"/>
            </a:endParaRPr>
          </a:p>
        </p:txBody>
      </p:sp>
      <p:sp>
        <p:nvSpPr>
          <p:cNvPr id="17" name="object 17" descr=""/>
          <p:cNvSpPr txBox="1"/>
          <p:nvPr/>
        </p:nvSpPr>
        <p:spPr>
          <a:xfrm>
            <a:off x="8121020" y="4877370"/>
            <a:ext cx="118110" cy="199390"/>
          </a:xfrm>
          <a:prstGeom prst="rect">
            <a:avLst/>
          </a:prstGeom>
        </p:spPr>
        <p:txBody>
          <a:bodyPr wrap="square" lIns="0" tIns="17145" rIns="0" bIns="0" rtlCol="0" vert="horz">
            <a:spAutoFit/>
          </a:bodyPr>
          <a:lstStyle/>
          <a:p>
            <a:pPr>
              <a:lnSpc>
                <a:spcPct val="100000"/>
              </a:lnSpc>
              <a:spcBef>
                <a:spcPts val="135"/>
              </a:spcBef>
            </a:pPr>
            <a:r>
              <a:rPr dirty="0" sz="1100" spc="-50" i="1">
                <a:latin typeface="Times New Roman"/>
                <a:cs typeface="Times New Roman"/>
              </a:rPr>
              <a:t>m</a:t>
            </a:r>
            <a:endParaRPr sz="1100">
              <a:latin typeface="Times New Roman"/>
              <a:cs typeface="Times New Roman"/>
            </a:endParaRPr>
          </a:p>
        </p:txBody>
      </p:sp>
      <p:sp>
        <p:nvSpPr>
          <p:cNvPr id="18" name="object 18" descr=""/>
          <p:cNvSpPr txBox="1"/>
          <p:nvPr/>
        </p:nvSpPr>
        <p:spPr>
          <a:xfrm>
            <a:off x="6692282" y="4871038"/>
            <a:ext cx="1618615" cy="339090"/>
          </a:xfrm>
          <a:prstGeom prst="rect">
            <a:avLst/>
          </a:prstGeom>
        </p:spPr>
        <p:txBody>
          <a:bodyPr wrap="square" lIns="0" tIns="13335" rIns="0" bIns="0" rtlCol="0" vert="horz">
            <a:spAutoFit/>
          </a:bodyPr>
          <a:lstStyle/>
          <a:p>
            <a:pPr marL="25400">
              <a:lnSpc>
                <a:spcPct val="100000"/>
              </a:lnSpc>
              <a:spcBef>
                <a:spcPts val="105"/>
              </a:spcBef>
              <a:tabLst>
                <a:tab pos="1579880" algn="l"/>
              </a:tabLst>
            </a:pPr>
            <a:r>
              <a:rPr dirty="0" baseline="-34188" sz="2925" i="1">
                <a:latin typeface="Times New Roman"/>
                <a:cs typeface="Times New Roman"/>
              </a:rPr>
              <a:t>B</a:t>
            </a:r>
            <a:r>
              <a:rPr dirty="0" baseline="-34188" sz="2925" spc="75" i="1">
                <a:latin typeface="Times New Roman"/>
                <a:cs typeface="Times New Roman"/>
              </a:rPr>
              <a:t> </a:t>
            </a:r>
            <a:r>
              <a:rPr dirty="0" baseline="-34188" sz="2925">
                <a:latin typeface="Symbol"/>
                <a:cs typeface="Symbol"/>
              </a:rPr>
              <a:t></a:t>
            </a:r>
            <a:r>
              <a:rPr dirty="0" baseline="-34188" sz="2925" spc="-37">
                <a:latin typeface="Times New Roman"/>
                <a:cs typeface="Times New Roman"/>
              </a:rPr>
              <a:t> </a:t>
            </a:r>
            <a:r>
              <a:rPr dirty="0" u="sng" sz="1950">
                <a:uFill>
                  <a:solidFill>
                    <a:srgbClr val="000000"/>
                  </a:solidFill>
                </a:uFill>
                <a:latin typeface="Times New Roman"/>
                <a:cs typeface="Times New Roman"/>
              </a:rPr>
              <a:t>1</a:t>
            </a:r>
            <a:r>
              <a:rPr dirty="0" u="sng" sz="1950" spc="-280">
                <a:uFill>
                  <a:solidFill>
                    <a:srgbClr val="000000"/>
                  </a:solidFill>
                </a:uFill>
                <a:latin typeface="Times New Roman"/>
                <a:cs typeface="Times New Roman"/>
              </a:rPr>
              <a:t> </a:t>
            </a:r>
            <a:r>
              <a:rPr dirty="0" u="sng" sz="1950">
                <a:uFill>
                  <a:solidFill>
                    <a:srgbClr val="000000"/>
                  </a:solidFill>
                </a:uFill>
                <a:latin typeface="Symbol"/>
                <a:cs typeface="Symbol"/>
              </a:rPr>
              <a:t></a:t>
            </a:r>
            <a:r>
              <a:rPr dirty="0" u="sng" sz="1950" spc="-125">
                <a:uFill>
                  <a:solidFill>
                    <a:srgbClr val="000000"/>
                  </a:solidFill>
                </a:uFill>
                <a:latin typeface="Times New Roman"/>
                <a:cs typeface="Times New Roman"/>
              </a:rPr>
              <a:t> </a:t>
            </a:r>
            <a:r>
              <a:rPr dirty="0" u="sng" sz="1950" spc="-90">
                <a:uFill>
                  <a:solidFill>
                    <a:srgbClr val="000000"/>
                  </a:solidFill>
                </a:uFill>
                <a:latin typeface="Times New Roman"/>
                <a:cs typeface="Times New Roman"/>
              </a:rPr>
              <a:t>(1</a:t>
            </a:r>
            <a:r>
              <a:rPr dirty="0" u="sng" sz="1950" spc="-280">
                <a:uFill>
                  <a:solidFill>
                    <a:srgbClr val="000000"/>
                  </a:solidFill>
                </a:uFill>
                <a:latin typeface="Times New Roman"/>
                <a:cs typeface="Times New Roman"/>
              </a:rPr>
              <a:t> </a:t>
            </a:r>
            <a:r>
              <a:rPr dirty="0" u="sng" sz="1950">
                <a:uFill>
                  <a:solidFill>
                    <a:srgbClr val="000000"/>
                  </a:solidFill>
                </a:uFill>
                <a:latin typeface="Symbol"/>
                <a:cs typeface="Symbol"/>
              </a:rPr>
              <a:t></a:t>
            </a:r>
            <a:r>
              <a:rPr dirty="0" u="sng" sz="1950" spc="-130">
                <a:uFill>
                  <a:solidFill>
                    <a:srgbClr val="000000"/>
                  </a:solidFill>
                </a:uFill>
                <a:latin typeface="Times New Roman"/>
                <a:cs typeface="Times New Roman"/>
              </a:rPr>
              <a:t> </a:t>
            </a:r>
            <a:r>
              <a:rPr dirty="0" u="sng" sz="2050" spc="-25" i="1">
                <a:uFill>
                  <a:solidFill>
                    <a:srgbClr val="000000"/>
                  </a:solidFill>
                </a:uFill>
                <a:latin typeface="Symbol"/>
                <a:cs typeface="Symbol"/>
              </a:rPr>
              <a:t></a:t>
            </a:r>
            <a:r>
              <a:rPr dirty="0" u="sng" sz="1950" spc="-25">
                <a:uFill>
                  <a:solidFill>
                    <a:srgbClr val="000000"/>
                  </a:solidFill>
                </a:uFill>
                <a:latin typeface="Times New Roman"/>
                <a:cs typeface="Times New Roman"/>
              </a:rPr>
              <a:t>)</a:t>
            </a:r>
            <a:r>
              <a:rPr dirty="0" u="sng" sz="1950">
                <a:uFill>
                  <a:solidFill>
                    <a:srgbClr val="000000"/>
                  </a:solidFill>
                </a:uFill>
                <a:latin typeface="Times New Roman"/>
                <a:cs typeface="Times New Roman"/>
              </a:rPr>
              <a:t>	</a:t>
            </a:r>
            <a:endParaRPr sz="1950">
              <a:latin typeface="Times New Roman"/>
              <a:cs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152/170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pic>
        <p:nvPicPr>
          <p:cNvPr id="8" name="object 8"/>
          <p:cNvPicPr/>
          <p:nvPr/>
        </p:nvPicPr>
        <p:blipFill>
          <a:blip r:embed="rId3" cstate="print"/>
          <a:stretch>
            <a:fillRect/>
          </a:stretch>
        </p:blipFill>
        <p:spPr>
          <a:xfrm>
            <a:off x="4079875" y="1628838"/>
            <a:ext cx="3873500" cy="4792257"/>
          </a:xfrm>
          <a:prstGeom prst="rect">
            <a:avLst/>
          </a:prstGeom>
        </p:spPr>
      </p:pic>
      <p:sp>
        <p:nvSpPr>
          <p:cNvPr id="9" name="object 9"/>
          <p:cNvSpPr txBox="1">
            <a:spLocks noGrp="1"/>
          </p:cNvSpPr>
          <p:nvPr>
            <p:ph type="title"/>
          </p:nvPr>
        </p:nvSpPr>
        <p:spPr>
          <a:prstGeom prst="rect"/>
        </p:spPr>
        <p:txBody>
          <a:bodyPr wrap="square" lIns="0" tIns="65455" rIns="0" bIns="0" rtlCol="0" vert="horz">
            <a:spAutoFit/>
          </a:bodyPr>
          <a:lstStyle/>
          <a:p>
            <a:pPr marL="12700">
              <a:lnSpc>
                <a:spcPct val="100000"/>
              </a:lnSpc>
              <a:spcBef>
                <a:spcPts val="95"/>
              </a:spcBef>
              <a:tabLst>
                <a:tab pos="10648315" algn="l"/>
              </a:tabLst>
            </a:pPr>
            <a:r>
              <a:rPr dirty="0" spc="-105"/>
              <a:t> </a:t>
            </a:r>
            <a:r>
              <a:rPr dirty="0"/>
              <a:t>7.6</a:t>
            </a:r>
            <a:r>
              <a:rPr dirty="0" spc="-5"/>
              <a:t> </a:t>
            </a:r>
            <a:r>
              <a:rPr dirty="0" spc="-35"/>
              <a:t>并行</a:t>
            </a:r>
            <a:r>
              <a:rPr dirty="0" spc="-30"/>
              <a:t>主</a:t>
            </a:r>
            <a:r>
              <a:rPr dirty="0" spc="-35"/>
              <a:t>存系</a:t>
            </a:r>
            <a:r>
              <a:rPr dirty="0" spc="-50"/>
              <a:t>统</a:t>
            </a:r>
            <a:r>
              <a:rPr dirty="0"/>
              <a:t>	</a:t>
            </a:r>
          </a:p>
        </p:txBody>
      </p:sp>
      <p:sp>
        <p:nvSpPr>
          <p:cNvPr id="10" name="object 10" descr=""/>
          <p:cNvSpPr txBox="1"/>
          <p:nvPr/>
        </p:nvSpPr>
        <p:spPr>
          <a:xfrm>
            <a:off x="1622805" y="1276858"/>
            <a:ext cx="5335905" cy="391160"/>
          </a:xfrm>
          <a:prstGeom prst="rect">
            <a:avLst/>
          </a:prstGeom>
        </p:spPr>
        <p:txBody>
          <a:bodyPr wrap="square" lIns="0" tIns="12700" rIns="0" bIns="0" rtlCol="0" vert="horz">
            <a:spAutoFit/>
          </a:bodyPr>
          <a:lstStyle/>
          <a:p>
            <a:pPr marL="469265" indent="-456565">
              <a:lnSpc>
                <a:spcPct val="100000"/>
              </a:lnSpc>
              <a:spcBef>
                <a:spcPts val="100"/>
              </a:spcBef>
              <a:buClr>
                <a:srgbClr val="40458B"/>
              </a:buClr>
              <a:buSzPct val="89583"/>
              <a:buFont typeface="Wingdings"/>
              <a:buChar char=""/>
              <a:tabLst>
                <a:tab pos="469265" algn="l"/>
              </a:tabLst>
            </a:pPr>
            <a:r>
              <a:rPr dirty="0" sz="2400" spc="-20">
                <a:solidFill>
                  <a:srgbClr val="9933FF"/>
                </a:solidFill>
                <a:latin typeface="Times New Roman"/>
                <a:cs typeface="Times New Roman"/>
              </a:rPr>
              <a:t>m</a:t>
            </a:r>
            <a:r>
              <a:rPr dirty="0" sz="2400">
                <a:solidFill>
                  <a:srgbClr val="40458B"/>
                </a:solidFill>
                <a:latin typeface="黑体"/>
                <a:cs typeface="黑体"/>
              </a:rPr>
              <a:t>等于</a:t>
            </a:r>
            <a:r>
              <a:rPr dirty="0" sz="2400">
                <a:solidFill>
                  <a:srgbClr val="9933FF"/>
                </a:solidFill>
                <a:latin typeface="Times New Roman"/>
                <a:cs typeface="Times New Roman"/>
              </a:rPr>
              <a:t>4</a:t>
            </a:r>
            <a:r>
              <a:rPr dirty="0" sz="2400">
                <a:solidFill>
                  <a:srgbClr val="9933FF"/>
                </a:solidFill>
                <a:latin typeface="黑体"/>
                <a:cs typeface="黑体"/>
              </a:rPr>
              <a:t>、</a:t>
            </a:r>
            <a:r>
              <a:rPr dirty="0" sz="2400">
                <a:solidFill>
                  <a:srgbClr val="9933FF"/>
                </a:solidFill>
                <a:latin typeface="Times New Roman"/>
                <a:cs typeface="Times New Roman"/>
              </a:rPr>
              <a:t>8</a:t>
            </a:r>
            <a:r>
              <a:rPr dirty="0" sz="2400">
                <a:solidFill>
                  <a:srgbClr val="9933FF"/>
                </a:solidFill>
                <a:latin typeface="黑体"/>
                <a:cs typeface="黑体"/>
              </a:rPr>
              <a:t>、</a:t>
            </a:r>
            <a:r>
              <a:rPr dirty="0" sz="2400">
                <a:solidFill>
                  <a:srgbClr val="9933FF"/>
                </a:solidFill>
                <a:latin typeface="Times New Roman"/>
                <a:cs typeface="Times New Roman"/>
              </a:rPr>
              <a:t>16</a:t>
            </a:r>
            <a:r>
              <a:rPr dirty="0" sz="2400" spc="-5">
                <a:solidFill>
                  <a:srgbClr val="40458B"/>
                </a:solidFill>
                <a:latin typeface="黑体"/>
                <a:cs typeface="黑体"/>
              </a:rPr>
              <a:t>时，</a:t>
            </a:r>
            <a:r>
              <a:rPr dirty="0" sz="2400" spc="-10">
                <a:solidFill>
                  <a:srgbClr val="9933FF"/>
                </a:solidFill>
                <a:latin typeface="Times New Roman"/>
                <a:cs typeface="Times New Roman"/>
              </a:rPr>
              <a:t>B</a:t>
            </a:r>
            <a:r>
              <a:rPr dirty="0" sz="2400">
                <a:solidFill>
                  <a:srgbClr val="40458B"/>
                </a:solidFill>
                <a:latin typeface="黑体"/>
                <a:cs typeface="黑体"/>
              </a:rPr>
              <a:t>与</a:t>
            </a:r>
            <a:r>
              <a:rPr dirty="0" sz="2400">
                <a:solidFill>
                  <a:srgbClr val="9933FF"/>
                </a:solidFill>
                <a:latin typeface="Times New Roman"/>
                <a:cs typeface="Times New Roman"/>
              </a:rPr>
              <a:t>λ</a:t>
            </a:r>
            <a:r>
              <a:rPr dirty="0" sz="2400" spc="-10">
                <a:solidFill>
                  <a:srgbClr val="40458B"/>
                </a:solidFill>
                <a:latin typeface="黑体"/>
                <a:cs typeface="黑体"/>
              </a:rPr>
              <a:t>的关系曲线</a:t>
            </a:r>
            <a:endParaRPr sz="2400">
              <a:latin typeface="黑体"/>
              <a:cs typeface="黑体"/>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512188" y="97028"/>
            <a:ext cx="2868930"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1622805" y="1151425"/>
            <a:ext cx="9557385" cy="3536950"/>
          </a:xfrm>
          <a:prstGeom prst="rect">
            <a:avLst/>
          </a:prstGeom>
        </p:spPr>
        <p:txBody>
          <a:bodyPr wrap="square" lIns="0" tIns="133985" rIns="0" bIns="0" rtlCol="0" vert="horz">
            <a:spAutoFit/>
          </a:bodyPr>
          <a:lstStyle/>
          <a:p>
            <a:pPr marL="1097280" indent="-457200">
              <a:lnSpc>
                <a:spcPct val="100000"/>
              </a:lnSpc>
              <a:spcBef>
                <a:spcPts val="1055"/>
              </a:spcBef>
              <a:buClr>
                <a:srgbClr val="4668F5"/>
              </a:buClr>
              <a:buSzPct val="60000"/>
              <a:buFont typeface="Wingdings"/>
              <a:buChar char=""/>
              <a:tabLst>
                <a:tab pos="1097280" algn="l"/>
              </a:tabLst>
            </a:pPr>
            <a:r>
              <a:rPr dirty="0" sz="2000" spc="-15" b="1">
                <a:solidFill>
                  <a:srgbClr val="00AFEF"/>
                </a:solidFill>
                <a:latin typeface="宋体"/>
                <a:cs typeface="宋体"/>
              </a:rPr>
              <a:t>对于数据来说，由于其顺序性差，</a:t>
            </a:r>
            <a:r>
              <a:rPr dirty="0" sz="2000" spc="-10" b="1">
                <a:solidFill>
                  <a:srgbClr val="9933FF"/>
                </a:solidFill>
                <a:latin typeface="Times New Roman"/>
                <a:cs typeface="Times New Roman"/>
              </a:rPr>
              <a:t>m</a:t>
            </a:r>
            <a:r>
              <a:rPr dirty="0" sz="2000" spc="-15" b="1">
                <a:solidFill>
                  <a:srgbClr val="00AFEF"/>
                </a:solidFill>
                <a:latin typeface="宋体"/>
                <a:cs typeface="宋体"/>
              </a:rPr>
              <a:t>值的增大给</a:t>
            </a:r>
            <a:r>
              <a:rPr dirty="0" sz="2000" spc="-25" b="1">
                <a:solidFill>
                  <a:srgbClr val="9933FF"/>
                </a:solidFill>
                <a:latin typeface="Times New Roman"/>
                <a:cs typeface="Times New Roman"/>
              </a:rPr>
              <a:t>B</a:t>
            </a:r>
            <a:r>
              <a:rPr dirty="0" sz="2000" spc="-25" b="1">
                <a:solidFill>
                  <a:srgbClr val="00AFEF"/>
                </a:solidFill>
                <a:latin typeface="宋体"/>
                <a:cs typeface="宋体"/>
              </a:rPr>
              <a:t>带来的好处就更差一些。</a:t>
            </a:r>
            <a:endParaRPr sz="2000">
              <a:latin typeface="宋体"/>
              <a:cs typeface="宋体"/>
            </a:endParaRPr>
          </a:p>
          <a:p>
            <a:pPr lvl="1" marL="1657985" indent="-380365">
              <a:lnSpc>
                <a:spcPct val="100000"/>
              </a:lnSpc>
              <a:spcBef>
                <a:spcPts val="960"/>
              </a:spcBef>
              <a:buClr>
                <a:srgbClr val="006600"/>
              </a:buClr>
              <a:buSzPct val="65000"/>
              <a:buFont typeface="Wingdings"/>
              <a:buChar char=""/>
              <a:tabLst>
                <a:tab pos="1657985" algn="l"/>
              </a:tabLst>
            </a:pPr>
            <a:r>
              <a:rPr dirty="0" sz="2000" spc="-25" b="1">
                <a:solidFill>
                  <a:srgbClr val="40458B"/>
                </a:solidFill>
                <a:latin typeface="宋体"/>
                <a:cs typeface="宋体"/>
              </a:rPr>
              <a:t>若机器主要是运行标量运算的程序，一般取</a:t>
            </a:r>
            <a:r>
              <a:rPr dirty="0" sz="2000" spc="-10" b="1">
                <a:solidFill>
                  <a:srgbClr val="9933FF"/>
                </a:solidFill>
                <a:latin typeface="Times New Roman"/>
                <a:cs typeface="Times New Roman"/>
              </a:rPr>
              <a:t>m≤8</a:t>
            </a:r>
            <a:r>
              <a:rPr dirty="0" sz="2000" spc="-50" b="1">
                <a:solidFill>
                  <a:srgbClr val="40458B"/>
                </a:solidFill>
                <a:latin typeface="宋体"/>
                <a:cs typeface="宋体"/>
              </a:rPr>
              <a:t>。</a:t>
            </a:r>
            <a:endParaRPr sz="2000">
              <a:latin typeface="宋体"/>
              <a:cs typeface="宋体"/>
            </a:endParaRPr>
          </a:p>
          <a:p>
            <a:pPr lvl="1" marL="1657985" indent="-380365">
              <a:lnSpc>
                <a:spcPct val="100000"/>
              </a:lnSpc>
              <a:spcBef>
                <a:spcPts val="960"/>
              </a:spcBef>
              <a:buClr>
                <a:srgbClr val="006600"/>
              </a:buClr>
              <a:buSzPct val="65000"/>
              <a:buFont typeface="Wingdings"/>
              <a:buChar char=""/>
              <a:tabLst>
                <a:tab pos="1657985" algn="l"/>
              </a:tabLst>
            </a:pPr>
            <a:r>
              <a:rPr dirty="0" sz="2000" spc="-10" b="1">
                <a:solidFill>
                  <a:srgbClr val="40458B"/>
                </a:solidFill>
                <a:latin typeface="宋体"/>
                <a:cs typeface="宋体"/>
              </a:rPr>
              <a:t>如果是向量处理机，其</a:t>
            </a:r>
            <a:r>
              <a:rPr dirty="0" sz="2000" spc="-10" b="1">
                <a:solidFill>
                  <a:srgbClr val="9933FF"/>
                </a:solidFill>
                <a:latin typeface="Times New Roman"/>
                <a:cs typeface="Times New Roman"/>
              </a:rPr>
              <a:t>m</a:t>
            </a:r>
            <a:r>
              <a:rPr dirty="0" sz="2000" spc="-25" b="1">
                <a:solidFill>
                  <a:srgbClr val="40458B"/>
                </a:solidFill>
                <a:latin typeface="宋体"/>
                <a:cs typeface="宋体"/>
              </a:rPr>
              <a:t>值可以取大些。</a:t>
            </a:r>
            <a:endParaRPr sz="2000">
              <a:latin typeface="宋体"/>
              <a:cs typeface="宋体"/>
            </a:endParaRPr>
          </a:p>
          <a:p>
            <a:pPr marL="469900" marR="5080" indent="-457200">
              <a:lnSpc>
                <a:spcPct val="120100"/>
              </a:lnSpc>
              <a:spcBef>
                <a:spcPts val="509"/>
              </a:spcBef>
              <a:buSzPct val="89583"/>
              <a:buFont typeface="Wingdings"/>
              <a:buChar char=""/>
              <a:tabLst>
                <a:tab pos="469900" algn="l"/>
              </a:tabLst>
            </a:pPr>
            <a:r>
              <a:rPr dirty="0" sz="2400">
                <a:solidFill>
                  <a:srgbClr val="40458B"/>
                </a:solidFill>
                <a:latin typeface="黑体"/>
                <a:cs typeface="黑体"/>
              </a:rPr>
              <a:t>单纯靠增大</a:t>
            </a:r>
            <a:r>
              <a:rPr dirty="0" sz="2400" spc="-20">
                <a:solidFill>
                  <a:srgbClr val="9933FF"/>
                </a:solidFill>
                <a:latin typeface="Times New Roman"/>
                <a:cs typeface="Times New Roman"/>
              </a:rPr>
              <a:t>m</a:t>
            </a:r>
            <a:r>
              <a:rPr dirty="0" sz="2400" spc="-5">
                <a:solidFill>
                  <a:srgbClr val="40458B"/>
                </a:solidFill>
                <a:latin typeface="黑体"/>
                <a:cs typeface="黑体"/>
              </a:rPr>
              <a:t>来提高并行主存系统的带宽是有限的，而且性能价格比</a:t>
            </a:r>
            <a:r>
              <a:rPr dirty="0" sz="2400">
                <a:solidFill>
                  <a:srgbClr val="40458B"/>
                </a:solidFill>
                <a:latin typeface="黑体"/>
                <a:cs typeface="黑体"/>
              </a:rPr>
              <a:t>还会随</a:t>
            </a:r>
            <a:r>
              <a:rPr dirty="0" sz="2400" spc="-20">
                <a:solidFill>
                  <a:srgbClr val="9933FF"/>
                </a:solidFill>
                <a:latin typeface="Times New Roman"/>
                <a:cs typeface="Times New Roman"/>
              </a:rPr>
              <a:t>m</a:t>
            </a:r>
            <a:r>
              <a:rPr dirty="0" sz="2400" spc="-10">
                <a:solidFill>
                  <a:srgbClr val="40458B"/>
                </a:solidFill>
                <a:latin typeface="黑体"/>
                <a:cs typeface="黑体"/>
              </a:rPr>
              <a:t>的增大而下降。</a:t>
            </a:r>
            <a:endParaRPr sz="2400">
              <a:latin typeface="黑体"/>
              <a:cs typeface="黑体"/>
            </a:endParaRPr>
          </a:p>
          <a:p>
            <a:pPr marL="640080">
              <a:lnSpc>
                <a:spcPct val="100000"/>
              </a:lnSpc>
              <a:spcBef>
                <a:spcPts val="1025"/>
              </a:spcBef>
            </a:pPr>
            <a:r>
              <a:rPr dirty="0" sz="2000" spc="-25" b="1">
                <a:solidFill>
                  <a:srgbClr val="D50092"/>
                </a:solidFill>
                <a:latin typeface="宋体"/>
                <a:cs typeface="宋体"/>
              </a:rPr>
              <a:t>原因：</a:t>
            </a:r>
            <a:endParaRPr sz="2000">
              <a:latin typeface="宋体"/>
              <a:cs typeface="宋体"/>
            </a:endParaRPr>
          </a:p>
          <a:p>
            <a:pPr lvl="1" marL="1657985" indent="-380365">
              <a:lnSpc>
                <a:spcPct val="100000"/>
              </a:lnSpc>
              <a:spcBef>
                <a:spcPts val="960"/>
              </a:spcBef>
              <a:buClr>
                <a:srgbClr val="006600"/>
              </a:buClr>
              <a:buSzPct val="65000"/>
              <a:buFont typeface="Wingdings"/>
              <a:buChar char=""/>
              <a:tabLst>
                <a:tab pos="1657985" algn="l"/>
              </a:tabLst>
            </a:pPr>
            <a:r>
              <a:rPr dirty="0" sz="2000" spc="-15" b="1">
                <a:solidFill>
                  <a:srgbClr val="40458B"/>
                </a:solidFill>
                <a:latin typeface="宋体"/>
                <a:cs typeface="宋体"/>
              </a:rPr>
              <a:t>程序的转移概率不会很低</a:t>
            </a:r>
            <a:endParaRPr sz="2000">
              <a:latin typeface="宋体"/>
              <a:cs typeface="宋体"/>
            </a:endParaRPr>
          </a:p>
          <a:p>
            <a:pPr lvl="1" marL="1657985" indent="-380365">
              <a:lnSpc>
                <a:spcPct val="100000"/>
              </a:lnSpc>
              <a:spcBef>
                <a:spcPts val="960"/>
              </a:spcBef>
              <a:buClr>
                <a:srgbClr val="006600"/>
              </a:buClr>
              <a:buSzPct val="65000"/>
              <a:buFont typeface="Wingdings"/>
              <a:buChar char=""/>
              <a:tabLst>
                <a:tab pos="1657985" algn="l"/>
              </a:tabLst>
            </a:pPr>
            <a:r>
              <a:rPr dirty="0" sz="2000" spc="-20" b="1">
                <a:solidFill>
                  <a:srgbClr val="40458B"/>
                </a:solidFill>
                <a:latin typeface="宋体"/>
                <a:cs typeface="宋体"/>
              </a:rPr>
              <a:t>数据分布的离散性较大</a:t>
            </a:r>
            <a:endParaRPr sz="2000">
              <a:latin typeface="宋体"/>
              <a:cs typeface="宋体"/>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58085" y="97028"/>
            <a:ext cx="2869565"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1710944" y="923670"/>
            <a:ext cx="5969635" cy="2439035"/>
          </a:xfrm>
          <a:prstGeom prst="rect">
            <a:avLst/>
          </a:prstGeom>
        </p:spPr>
        <p:txBody>
          <a:bodyPr wrap="square" lIns="0" tIns="13335" rIns="0" bIns="0" rtlCol="0" vert="horz">
            <a:spAutoFit/>
          </a:bodyPr>
          <a:lstStyle/>
          <a:p>
            <a:pPr marL="83820">
              <a:lnSpc>
                <a:spcPct val="100000"/>
              </a:lnSpc>
              <a:spcBef>
                <a:spcPts val="105"/>
              </a:spcBef>
            </a:pPr>
            <a:r>
              <a:rPr dirty="0" sz="2600">
                <a:solidFill>
                  <a:srgbClr val="0000CC"/>
                </a:solidFill>
                <a:latin typeface="黑体"/>
                <a:cs typeface="黑体"/>
              </a:rPr>
              <a:t>7.6.3</a:t>
            </a:r>
            <a:r>
              <a:rPr dirty="0" sz="2600" spc="-15">
                <a:solidFill>
                  <a:srgbClr val="0000CC"/>
                </a:solidFill>
                <a:latin typeface="黑体"/>
                <a:cs typeface="黑体"/>
              </a:rPr>
              <a:t> 避免存储体冲突</a:t>
            </a:r>
            <a:endParaRPr sz="2600">
              <a:latin typeface="黑体"/>
              <a:cs typeface="黑体"/>
            </a:endParaRPr>
          </a:p>
          <a:p>
            <a:pPr>
              <a:lnSpc>
                <a:spcPct val="100000"/>
              </a:lnSpc>
              <a:spcBef>
                <a:spcPts val="2125"/>
              </a:spcBef>
            </a:pPr>
            <a:endParaRPr sz="2600">
              <a:latin typeface="黑体"/>
              <a:cs typeface="黑体"/>
            </a:endParaRPr>
          </a:p>
          <a:p>
            <a:pPr marL="469265" indent="-456565">
              <a:lnSpc>
                <a:spcPct val="100000"/>
              </a:lnSpc>
              <a:buClr>
                <a:srgbClr val="40458B"/>
              </a:buClr>
              <a:buFont typeface="Tahoma"/>
              <a:buAutoNum type="arabicPeriod"/>
              <a:tabLst>
                <a:tab pos="469265" algn="l"/>
              </a:tabLst>
            </a:pPr>
            <a:r>
              <a:rPr dirty="0" sz="2400">
                <a:solidFill>
                  <a:srgbClr val="FF0000"/>
                </a:solidFill>
                <a:latin typeface="黑体"/>
                <a:cs typeface="黑体"/>
              </a:rPr>
              <a:t>体冲突：</a:t>
            </a:r>
            <a:r>
              <a:rPr dirty="0" sz="2400" spc="-5">
                <a:solidFill>
                  <a:srgbClr val="E14B04"/>
                </a:solidFill>
                <a:latin typeface="黑体"/>
                <a:cs typeface="黑体"/>
              </a:rPr>
              <a:t>两个请求要访问同一个体。</a:t>
            </a:r>
            <a:endParaRPr sz="2400">
              <a:latin typeface="黑体"/>
              <a:cs typeface="黑体"/>
            </a:endParaRPr>
          </a:p>
          <a:p>
            <a:pPr marL="469265" marR="5080" indent="-457200">
              <a:lnSpc>
                <a:spcPts val="3750"/>
              </a:lnSpc>
              <a:spcBef>
                <a:spcPts val="90"/>
              </a:spcBef>
              <a:buClr>
                <a:srgbClr val="40458B"/>
              </a:buClr>
              <a:buFont typeface="Tahoma"/>
              <a:buAutoNum type="arabicPeriod"/>
              <a:tabLst>
                <a:tab pos="946785" algn="l"/>
                <a:tab pos="2470785" algn="l"/>
              </a:tabLst>
            </a:pPr>
            <a:r>
              <a:rPr dirty="0" sz="2400">
                <a:solidFill>
                  <a:srgbClr val="E14B04"/>
                </a:solidFill>
                <a:latin typeface="黑体"/>
                <a:cs typeface="黑体"/>
              </a:rPr>
              <a:t>减少体冲突次数的</a:t>
            </a:r>
            <a:r>
              <a:rPr dirty="0" sz="2400">
                <a:solidFill>
                  <a:srgbClr val="D50092"/>
                </a:solidFill>
                <a:latin typeface="黑体"/>
                <a:cs typeface="黑体"/>
              </a:rPr>
              <a:t>一种方法</a:t>
            </a:r>
            <a:r>
              <a:rPr dirty="0" sz="2400">
                <a:solidFill>
                  <a:srgbClr val="E14B04"/>
                </a:solidFill>
                <a:latin typeface="黑体"/>
                <a:cs typeface="黑体"/>
              </a:rPr>
              <a:t>：采用许多</a:t>
            </a:r>
            <a:r>
              <a:rPr dirty="0" sz="2400" spc="-50">
                <a:solidFill>
                  <a:srgbClr val="E14B04"/>
                </a:solidFill>
                <a:latin typeface="黑体"/>
                <a:cs typeface="黑体"/>
              </a:rPr>
              <a:t>体</a:t>
            </a:r>
            <a:r>
              <a:rPr dirty="0" sz="2400" spc="-50">
                <a:solidFill>
                  <a:srgbClr val="E14B04"/>
                </a:solidFill>
                <a:latin typeface="黑体"/>
                <a:cs typeface="黑体"/>
              </a:rPr>
              <a:t>	</a:t>
            </a:r>
            <a:r>
              <a:rPr dirty="0" sz="2400">
                <a:solidFill>
                  <a:srgbClr val="40458B"/>
                </a:solidFill>
                <a:latin typeface="黑体"/>
                <a:cs typeface="黑体"/>
              </a:rPr>
              <a:t>例如</a:t>
            </a:r>
            <a:r>
              <a:rPr dirty="0" sz="2400" spc="-20">
                <a:solidFill>
                  <a:srgbClr val="40458B"/>
                </a:solidFill>
                <a:latin typeface="黑体"/>
                <a:cs typeface="黑体"/>
              </a:rPr>
              <a:t>，</a:t>
            </a:r>
            <a:r>
              <a:rPr dirty="0" sz="2400" spc="-20">
                <a:solidFill>
                  <a:srgbClr val="40458B"/>
                </a:solidFill>
                <a:latin typeface="宋体"/>
                <a:cs typeface="宋体"/>
              </a:rPr>
              <a:t>NEC</a:t>
            </a:r>
            <a:r>
              <a:rPr dirty="0" sz="2400">
                <a:solidFill>
                  <a:srgbClr val="40458B"/>
                </a:solidFill>
                <a:latin typeface="宋体"/>
                <a:cs typeface="宋体"/>
              </a:rPr>
              <a:t>	SX/3</a:t>
            </a:r>
            <a:r>
              <a:rPr dirty="0" sz="2400">
                <a:solidFill>
                  <a:srgbClr val="40458B"/>
                </a:solidFill>
                <a:latin typeface="黑体"/>
                <a:cs typeface="黑体"/>
              </a:rPr>
              <a:t>最多可使用</a:t>
            </a:r>
            <a:r>
              <a:rPr dirty="0" sz="2400">
                <a:solidFill>
                  <a:srgbClr val="9933FF"/>
                </a:solidFill>
                <a:latin typeface="宋体"/>
                <a:cs typeface="宋体"/>
              </a:rPr>
              <a:t>128</a:t>
            </a:r>
            <a:r>
              <a:rPr dirty="0" sz="2400">
                <a:solidFill>
                  <a:srgbClr val="40458B"/>
                </a:solidFill>
                <a:latin typeface="黑体"/>
                <a:cs typeface="黑体"/>
              </a:rPr>
              <a:t>个</a:t>
            </a:r>
            <a:r>
              <a:rPr dirty="0" sz="2400" spc="-50">
                <a:solidFill>
                  <a:srgbClr val="40458B"/>
                </a:solidFill>
                <a:latin typeface="黑体"/>
                <a:cs typeface="黑体"/>
              </a:rPr>
              <a:t>体</a:t>
            </a:r>
            <a:endParaRPr sz="2400">
              <a:latin typeface="黑体"/>
              <a:cs typeface="黑体"/>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562480" y="86360"/>
            <a:ext cx="2872105" cy="452120"/>
          </a:xfrm>
          <a:prstGeom prst="rect"/>
        </p:spPr>
        <p:txBody>
          <a:bodyPr wrap="square" lIns="0" tIns="12065" rIns="0" bIns="0" rtlCol="0" vert="horz">
            <a:spAutoFit/>
          </a:bodyPr>
          <a:lstStyle/>
          <a:p>
            <a:pPr marL="12700">
              <a:lnSpc>
                <a:spcPct val="100000"/>
              </a:lnSpc>
              <a:spcBef>
                <a:spcPts val="95"/>
              </a:spcBef>
            </a:pPr>
            <a:r>
              <a:rPr dirty="0" u="none"/>
              <a:t>7.6</a:t>
            </a:r>
            <a:r>
              <a:rPr dirty="0" u="none" spc="-40"/>
              <a:t> 并行主存系统</a:t>
            </a:r>
          </a:p>
        </p:txBody>
      </p:sp>
      <p:sp>
        <p:nvSpPr>
          <p:cNvPr id="10" name="object 10" descr=""/>
          <p:cNvSpPr txBox="1"/>
          <p:nvPr/>
        </p:nvSpPr>
        <p:spPr>
          <a:xfrm>
            <a:off x="1394205" y="1283114"/>
            <a:ext cx="9206865" cy="976630"/>
          </a:xfrm>
          <a:prstGeom prst="rect">
            <a:avLst/>
          </a:prstGeom>
        </p:spPr>
        <p:txBody>
          <a:bodyPr wrap="square" lIns="0" tIns="121920" rIns="0" bIns="0" rtlCol="0" vert="horz">
            <a:spAutoFit/>
          </a:bodyPr>
          <a:lstStyle/>
          <a:p>
            <a:pPr marL="12700">
              <a:lnSpc>
                <a:spcPct val="100000"/>
              </a:lnSpc>
              <a:spcBef>
                <a:spcPts val="960"/>
              </a:spcBef>
            </a:pPr>
            <a:r>
              <a:rPr dirty="0" sz="2400" spc="-10">
                <a:solidFill>
                  <a:srgbClr val="E14B04"/>
                </a:solidFill>
                <a:latin typeface="黑体"/>
                <a:cs typeface="黑体"/>
              </a:rPr>
              <a:t>这种方法存在问题：</a:t>
            </a:r>
            <a:endParaRPr sz="2400">
              <a:latin typeface="黑体"/>
              <a:cs typeface="黑体"/>
            </a:endParaRPr>
          </a:p>
          <a:p>
            <a:pPr marL="460375">
              <a:lnSpc>
                <a:spcPct val="100000"/>
              </a:lnSpc>
              <a:spcBef>
                <a:spcPts val="865"/>
              </a:spcBef>
            </a:pPr>
            <a:r>
              <a:rPr dirty="0" sz="2400" spc="-25" b="1">
                <a:latin typeface="宋体"/>
                <a:cs typeface="宋体"/>
              </a:rPr>
              <a:t>假如我们有</a:t>
            </a:r>
            <a:r>
              <a:rPr dirty="0" sz="2400" spc="-10" b="1">
                <a:solidFill>
                  <a:srgbClr val="9933FF"/>
                </a:solidFill>
                <a:latin typeface="宋体"/>
                <a:cs typeface="宋体"/>
              </a:rPr>
              <a:t>128</a:t>
            </a:r>
            <a:r>
              <a:rPr dirty="0" sz="2400" spc="-30" b="1">
                <a:latin typeface="宋体"/>
                <a:cs typeface="宋体"/>
              </a:rPr>
              <a:t>个存储体，按字交叉方式工作，并执行以下程序：</a:t>
            </a:r>
            <a:endParaRPr sz="2400">
              <a:latin typeface="宋体"/>
              <a:cs typeface="宋体"/>
            </a:endParaRPr>
          </a:p>
        </p:txBody>
      </p:sp>
      <p:graphicFrame>
        <p:nvGraphicFramePr>
          <p:cNvPr id="11" name="object 11" descr=""/>
          <p:cNvGraphicFramePr>
            <a:graphicFrameLocks noGrp="1"/>
          </p:cNvGraphicFramePr>
          <p:nvPr/>
        </p:nvGraphicFramePr>
        <p:xfrm>
          <a:off x="2438907" y="2442440"/>
          <a:ext cx="4895850" cy="1458595"/>
        </p:xfrm>
        <a:graphic>
          <a:graphicData uri="http://schemas.openxmlformats.org/drawingml/2006/table">
            <a:tbl>
              <a:tblPr firstRow="1" bandRow="1">
                <a:tableStyleId>{2D5ABB26-0587-4C30-8999-92F81FD0307C}</a:tableStyleId>
              </a:tblPr>
              <a:tblGrid>
                <a:gridCol w="423545"/>
                <a:gridCol w="445770"/>
                <a:gridCol w="256540"/>
                <a:gridCol w="899794"/>
                <a:gridCol w="259080"/>
                <a:gridCol w="256539"/>
                <a:gridCol w="774065"/>
                <a:gridCol w="641350"/>
                <a:gridCol w="867410"/>
              </a:tblGrid>
              <a:tr h="254000">
                <a:tc>
                  <a:txBody>
                    <a:bodyPr/>
                    <a:lstStyle/>
                    <a:p>
                      <a:pPr algn="ctr" marR="29845">
                        <a:lnSpc>
                          <a:spcPts val="1905"/>
                        </a:lnSpc>
                      </a:pPr>
                      <a:r>
                        <a:rPr dirty="0" sz="2000" spc="-25" b="1">
                          <a:solidFill>
                            <a:srgbClr val="40458B"/>
                          </a:solidFill>
                          <a:latin typeface="宋体"/>
                          <a:cs typeface="宋体"/>
                        </a:rPr>
                        <a:t>int</a:t>
                      </a:r>
                      <a:endParaRPr sz="2000">
                        <a:latin typeface="宋体"/>
                        <a:cs typeface="宋体"/>
                      </a:endParaRPr>
                    </a:p>
                  </a:txBody>
                  <a:tcPr marL="0" marR="0" marB="0" marT="0"/>
                </a:tc>
                <a:tc>
                  <a:txBody>
                    <a:bodyPr/>
                    <a:lstStyle/>
                    <a:p>
                      <a:pPr algn="r" marR="58419">
                        <a:lnSpc>
                          <a:spcPts val="1905"/>
                        </a:lnSpc>
                      </a:pPr>
                      <a:r>
                        <a:rPr dirty="0" sz="2000" spc="-50" b="1">
                          <a:solidFill>
                            <a:srgbClr val="40458B"/>
                          </a:solidFill>
                          <a:latin typeface="宋体"/>
                          <a:cs typeface="宋体"/>
                        </a:rPr>
                        <a:t>x</a:t>
                      </a:r>
                      <a:endParaRPr sz="2000">
                        <a:latin typeface="宋体"/>
                        <a:cs typeface="宋体"/>
                      </a:endParaRPr>
                    </a:p>
                  </a:txBody>
                  <a:tcPr marL="0" marR="0" marB="0" marT="0"/>
                </a:tc>
                <a:tc>
                  <a:txBody>
                    <a:bodyPr/>
                    <a:lstStyle/>
                    <a:p>
                      <a:pPr algn="ctr">
                        <a:lnSpc>
                          <a:spcPts val="1905"/>
                        </a:lnSpc>
                      </a:pPr>
                      <a:r>
                        <a:rPr dirty="0" sz="2000" spc="-50" b="1">
                          <a:solidFill>
                            <a:srgbClr val="40458B"/>
                          </a:solidFill>
                          <a:latin typeface="宋体"/>
                          <a:cs typeface="宋体"/>
                        </a:rPr>
                        <a:t>[</a:t>
                      </a:r>
                      <a:endParaRPr sz="2000">
                        <a:latin typeface="宋体"/>
                        <a:cs typeface="宋体"/>
                      </a:endParaRPr>
                    </a:p>
                  </a:txBody>
                  <a:tcPr marL="0" marR="0" marB="0" marT="0"/>
                </a:tc>
                <a:tc>
                  <a:txBody>
                    <a:bodyPr/>
                    <a:lstStyle/>
                    <a:p>
                      <a:pPr marL="62865">
                        <a:lnSpc>
                          <a:spcPts val="1905"/>
                        </a:lnSpc>
                      </a:pPr>
                      <a:r>
                        <a:rPr dirty="0" sz="2000" b="1">
                          <a:solidFill>
                            <a:srgbClr val="40458B"/>
                          </a:solidFill>
                          <a:latin typeface="宋体"/>
                          <a:cs typeface="宋体"/>
                        </a:rPr>
                        <a:t>256</a:t>
                      </a:r>
                      <a:r>
                        <a:rPr dirty="0" sz="2000" spc="-35" b="1">
                          <a:solidFill>
                            <a:srgbClr val="40458B"/>
                          </a:solidFill>
                          <a:latin typeface="宋体"/>
                          <a:cs typeface="宋体"/>
                        </a:rPr>
                        <a:t> </a:t>
                      </a:r>
                      <a:r>
                        <a:rPr dirty="0" sz="2000" spc="-25" b="1">
                          <a:solidFill>
                            <a:srgbClr val="40458B"/>
                          </a:solidFill>
                          <a:latin typeface="宋体"/>
                          <a:cs typeface="宋体"/>
                        </a:rPr>
                        <a:t>][</a:t>
                      </a:r>
                      <a:endParaRPr sz="2000">
                        <a:latin typeface="宋体"/>
                        <a:cs typeface="宋体"/>
                      </a:endParaRPr>
                    </a:p>
                  </a:txBody>
                  <a:tcPr marL="0" marR="0" marB="0" marT="0"/>
                </a:tc>
                <a:tc gridSpan="2">
                  <a:txBody>
                    <a:bodyPr/>
                    <a:lstStyle/>
                    <a:p>
                      <a:pPr marL="62865">
                        <a:lnSpc>
                          <a:spcPts val="1905"/>
                        </a:lnSpc>
                      </a:pPr>
                      <a:r>
                        <a:rPr dirty="0" sz="2000" spc="-25" b="1">
                          <a:solidFill>
                            <a:srgbClr val="40458B"/>
                          </a:solidFill>
                          <a:latin typeface="宋体"/>
                          <a:cs typeface="宋体"/>
                        </a:rPr>
                        <a:t>512</a:t>
                      </a:r>
                      <a:endParaRPr sz="2000">
                        <a:latin typeface="宋体"/>
                        <a:cs typeface="宋体"/>
                      </a:endParaRPr>
                    </a:p>
                  </a:txBody>
                  <a:tcPr marL="0" marR="0" marB="0" marT="0"/>
                </a:tc>
                <a:tc hMerge="1">
                  <a:txBody>
                    <a:bodyPr/>
                    <a:lstStyle/>
                    <a:p>
                      <a:pPr/>
                    </a:p>
                  </a:txBody>
                  <a:tcPr marL="0" marR="0" marB="0" marT="0"/>
                </a:tc>
                <a:tc gridSpan="3">
                  <a:txBody>
                    <a:bodyPr/>
                    <a:lstStyle/>
                    <a:p>
                      <a:pPr marL="62865">
                        <a:lnSpc>
                          <a:spcPts val="1905"/>
                        </a:lnSpc>
                      </a:pPr>
                      <a:r>
                        <a:rPr dirty="0" sz="2000" spc="-25" b="1">
                          <a:solidFill>
                            <a:srgbClr val="40458B"/>
                          </a:solidFill>
                          <a:latin typeface="宋体"/>
                          <a:cs typeface="宋体"/>
                        </a:rPr>
                        <a:t>]；</a:t>
                      </a:r>
                      <a:endParaRPr sz="2000">
                        <a:latin typeface="宋体"/>
                        <a:cs typeface="宋体"/>
                      </a:endParaRPr>
                    </a:p>
                  </a:txBody>
                  <a:tcPr marL="0" marR="0" marB="0" marT="0"/>
                </a:tc>
                <a:tc hMerge="1">
                  <a:txBody>
                    <a:bodyPr/>
                    <a:lstStyle/>
                    <a:p>
                      <a:pPr/>
                    </a:p>
                  </a:txBody>
                  <a:tcPr marL="0" marR="0" marB="0" marT="0"/>
                </a:tc>
                <a:tc hMerge="1">
                  <a:txBody>
                    <a:bodyPr/>
                    <a:lstStyle/>
                    <a:p>
                      <a:pPr/>
                    </a:p>
                  </a:txBody>
                  <a:tcPr marL="0" marR="0" marB="0" marT="0"/>
                </a:tc>
              </a:tr>
              <a:tr h="483234">
                <a:tc>
                  <a:txBody>
                    <a:bodyPr/>
                    <a:lstStyle/>
                    <a:p>
                      <a:pPr algn="ctr" marR="18415">
                        <a:lnSpc>
                          <a:spcPct val="100000"/>
                        </a:lnSpc>
                        <a:spcBef>
                          <a:spcPts val="969"/>
                        </a:spcBef>
                      </a:pPr>
                      <a:r>
                        <a:rPr dirty="0" sz="2000" spc="-25" b="1">
                          <a:solidFill>
                            <a:srgbClr val="40458B"/>
                          </a:solidFill>
                          <a:latin typeface="宋体"/>
                          <a:cs typeface="宋体"/>
                        </a:rPr>
                        <a:t>for</a:t>
                      </a:r>
                      <a:endParaRPr sz="2000">
                        <a:latin typeface="宋体"/>
                        <a:cs typeface="宋体"/>
                      </a:endParaRPr>
                    </a:p>
                  </a:txBody>
                  <a:tcPr marL="0" marR="0" marB="0" marT="123189"/>
                </a:tc>
                <a:tc>
                  <a:txBody>
                    <a:bodyPr/>
                    <a:lstStyle/>
                    <a:p>
                      <a:pPr algn="r" marR="56515">
                        <a:lnSpc>
                          <a:spcPct val="100000"/>
                        </a:lnSpc>
                        <a:spcBef>
                          <a:spcPts val="969"/>
                        </a:spcBef>
                      </a:pPr>
                      <a:r>
                        <a:rPr dirty="0" sz="2000" spc="-50" b="1">
                          <a:solidFill>
                            <a:srgbClr val="40458B"/>
                          </a:solidFill>
                          <a:latin typeface="宋体"/>
                          <a:cs typeface="宋体"/>
                        </a:rPr>
                        <a:t>（</a:t>
                      </a:r>
                      <a:endParaRPr sz="2000">
                        <a:latin typeface="宋体"/>
                        <a:cs typeface="宋体"/>
                      </a:endParaRPr>
                    </a:p>
                  </a:txBody>
                  <a:tcPr marL="0" marR="0" marB="0" marT="123189"/>
                </a:tc>
                <a:tc>
                  <a:txBody>
                    <a:bodyPr/>
                    <a:lstStyle/>
                    <a:p>
                      <a:pPr algn="ctr" marL="1905">
                        <a:lnSpc>
                          <a:spcPct val="100000"/>
                        </a:lnSpc>
                        <a:spcBef>
                          <a:spcPts val="969"/>
                        </a:spcBef>
                      </a:pPr>
                      <a:r>
                        <a:rPr dirty="0" sz="2000" spc="-50" b="1">
                          <a:solidFill>
                            <a:srgbClr val="40458B"/>
                          </a:solidFill>
                          <a:latin typeface="宋体"/>
                          <a:cs typeface="宋体"/>
                        </a:rPr>
                        <a:t>j</a:t>
                      </a:r>
                      <a:endParaRPr sz="2000">
                        <a:latin typeface="宋体"/>
                        <a:cs typeface="宋体"/>
                      </a:endParaRPr>
                    </a:p>
                  </a:txBody>
                  <a:tcPr marL="0" marR="0" marB="0" marT="123189"/>
                </a:tc>
                <a:tc>
                  <a:txBody>
                    <a:bodyPr/>
                    <a:lstStyle/>
                    <a:p>
                      <a:pPr marL="66040">
                        <a:lnSpc>
                          <a:spcPct val="100000"/>
                        </a:lnSpc>
                        <a:spcBef>
                          <a:spcPts val="969"/>
                        </a:spcBef>
                      </a:pPr>
                      <a:r>
                        <a:rPr dirty="0" sz="2000" b="1">
                          <a:solidFill>
                            <a:srgbClr val="40458B"/>
                          </a:solidFill>
                          <a:latin typeface="宋体"/>
                          <a:cs typeface="宋体"/>
                        </a:rPr>
                        <a:t>=</a:t>
                      </a:r>
                      <a:r>
                        <a:rPr dirty="0" sz="2000" spc="-5" b="1">
                          <a:solidFill>
                            <a:srgbClr val="40458B"/>
                          </a:solidFill>
                          <a:latin typeface="宋体"/>
                          <a:cs typeface="宋体"/>
                        </a:rPr>
                        <a:t> </a:t>
                      </a:r>
                      <a:r>
                        <a:rPr dirty="0" sz="2000" spc="-25" b="1">
                          <a:solidFill>
                            <a:srgbClr val="40458B"/>
                          </a:solidFill>
                          <a:latin typeface="宋体"/>
                          <a:cs typeface="宋体"/>
                        </a:rPr>
                        <a:t>0；</a:t>
                      </a:r>
                      <a:endParaRPr sz="2000">
                        <a:latin typeface="宋体"/>
                        <a:cs typeface="宋体"/>
                      </a:endParaRPr>
                    </a:p>
                  </a:txBody>
                  <a:tcPr marL="0" marR="0" marB="0" marT="123189"/>
                </a:tc>
                <a:tc>
                  <a:txBody>
                    <a:bodyPr/>
                    <a:lstStyle/>
                    <a:p>
                      <a:pPr algn="ctr" marL="2540">
                        <a:lnSpc>
                          <a:spcPct val="100000"/>
                        </a:lnSpc>
                        <a:spcBef>
                          <a:spcPts val="969"/>
                        </a:spcBef>
                      </a:pPr>
                      <a:r>
                        <a:rPr dirty="0" sz="2000" spc="-50" b="1">
                          <a:solidFill>
                            <a:srgbClr val="40458B"/>
                          </a:solidFill>
                          <a:latin typeface="宋体"/>
                          <a:cs typeface="宋体"/>
                        </a:rPr>
                        <a:t>j</a:t>
                      </a:r>
                      <a:endParaRPr sz="2000">
                        <a:latin typeface="宋体"/>
                        <a:cs typeface="宋体"/>
                      </a:endParaRPr>
                    </a:p>
                  </a:txBody>
                  <a:tcPr marL="0" marR="0" marB="0" marT="123189"/>
                </a:tc>
                <a:tc>
                  <a:txBody>
                    <a:bodyPr/>
                    <a:lstStyle/>
                    <a:p>
                      <a:pPr algn="ctr" marL="635">
                        <a:lnSpc>
                          <a:spcPct val="100000"/>
                        </a:lnSpc>
                        <a:spcBef>
                          <a:spcPts val="969"/>
                        </a:spcBef>
                      </a:pPr>
                      <a:r>
                        <a:rPr dirty="0" sz="2000" spc="-50" b="1">
                          <a:solidFill>
                            <a:srgbClr val="40458B"/>
                          </a:solidFill>
                          <a:latin typeface="宋体"/>
                          <a:cs typeface="宋体"/>
                        </a:rPr>
                        <a:t>&lt;</a:t>
                      </a:r>
                      <a:endParaRPr sz="2000">
                        <a:latin typeface="宋体"/>
                        <a:cs typeface="宋体"/>
                      </a:endParaRPr>
                    </a:p>
                  </a:txBody>
                  <a:tcPr marL="0" marR="0" marB="0" marT="123189"/>
                </a:tc>
                <a:tc>
                  <a:txBody>
                    <a:bodyPr/>
                    <a:lstStyle/>
                    <a:p>
                      <a:pPr algn="ctr">
                        <a:lnSpc>
                          <a:spcPct val="100000"/>
                        </a:lnSpc>
                        <a:spcBef>
                          <a:spcPts val="969"/>
                        </a:spcBef>
                      </a:pPr>
                      <a:r>
                        <a:rPr dirty="0" sz="2000" spc="-20" b="1">
                          <a:solidFill>
                            <a:srgbClr val="40458B"/>
                          </a:solidFill>
                          <a:latin typeface="宋体"/>
                          <a:cs typeface="宋体"/>
                        </a:rPr>
                        <a:t>512；</a:t>
                      </a:r>
                      <a:endParaRPr sz="2000">
                        <a:latin typeface="宋体"/>
                        <a:cs typeface="宋体"/>
                      </a:endParaRPr>
                    </a:p>
                  </a:txBody>
                  <a:tcPr marL="0" marR="0" marB="0" marT="123189"/>
                </a:tc>
                <a:tc>
                  <a:txBody>
                    <a:bodyPr/>
                    <a:lstStyle/>
                    <a:p>
                      <a:pPr algn="r" marR="57150">
                        <a:lnSpc>
                          <a:spcPct val="100000"/>
                        </a:lnSpc>
                        <a:spcBef>
                          <a:spcPts val="969"/>
                        </a:spcBef>
                      </a:pPr>
                      <a:r>
                        <a:rPr dirty="0" sz="2000" b="1">
                          <a:solidFill>
                            <a:srgbClr val="40458B"/>
                          </a:solidFill>
                          <a:latin typeface="宋体"/>
                          <a:cs typeface="宋体"/>
                        </a:rPr>
                        <a:t>j</a:t>
                      </a:r>
                      <a:r>
                        <a:rPr dirty="0" sz="2000" spc="-10"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123189"/>
                </a:tc>
                <a:tc>
                  <a:txBody>
                    <a:bodyPr/>
                    <a:lstStyle/>
                    <a:p>
                      <a:pPr marL="63500">
                        <a:lnSpc>
                          <a:spcPct val="100000"/>
                        </a:lnSpc>
                        <a:spcBef>
                          <a:spcPts val="969"/>
                        </a:spcBef>
                      </a:pPr>
                      <a:r>
                        <a:rPr dirty="0" sz="2000" b="1">
                          <a:solidFill>
                            <a:srgbClr val="40458B"/>
                          </a:solidFill>
                          <a:latin typeface="宋体"/>
                          <a:cs typeface="宋体"/>
                        </a:rPr>
                        <a:t>j+1</a:t>
                      </a:r>
                      <a:r>
                        <a:rPr dirty="0" sz="2000" spc="-15"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123189"/>
                </a:tc>
              </a:tr>
              <a:tr h="325120">
                <a:tc>
                  <a:txBody>
                    <a:bodyPr/>
                    <a:lstStyle/>
                    <a:p>
                      <a:pPr algn="ctr" marR="18415">
                        <a:lnSpc>
                          <a:spcPts val="2180"/>
                        </a:lnSpc>
                        <a:spcBef>
                          <a:spcPts val="280"/>
                        </a:spcBef>
                      </a:pPr>
                      <a:r>
                        <a:rPr dirty="0" sz="2000" spc="-25" b="1">
                          <a:solidFill>
                            <a:srgbClr val="40458B"/>
                          </a:solidFill>
                          <a:latin typeface="宋体"/>
                          <a:cs typeface="宋体"/>
                        </a:rPr>
                        <a:t>for</a:t>
                      </a:r>
                      <a:endParaRPr sz="2000">
                        <a:latin typeface="宋体"/>
                        <a:cs typeface="宋体"/>
                      </a:endParaRPr>
                    </a:p>
                  </a:txBody>
                  <a:tcPr marL="0" marR="0" marB="0" marT="35560"/>
                </a:tc>
                <a:tc>
                  <a:txBody>
                    <a:bodyPr/>
                    <a:lstStyle/>
                    <a:p>
                      <a:pPr algn="r" marR="55880">
                        <a:lnSpc>
                          <a:spcPts val="2180"/>
                        </a:lnSpc>
                        <a:spcBef>
                          <a:spcPts val="280"/>
                        </a:spcBef>
                      </a:pPr>
                      <a:r>
                        <a:rPr dirty="0" sz="2000" spc="-50" b="1">
                          <a:solidFill>
                            <a:srgbClr val="40458B"/>
                          </a:solidFill>
                          <a:latin typeface="宋体"/>
                          <a:cs typeface="宋体"/>
                        </a:rPr>
                        <a:t>（</a:t>
                      </a:r>
                      <a:endParaRPr sz="2000">
                        <a:latin typeface="宋体"/>
                        <a:cs typeface="宋体"/>
                      </a:endParaRPr>
                    </a:p>
                  </a:txBody>
                  <a:tcPr marL="0" marR="0" marB="0" marT="35560"/>
                </a:tc>
                <a:tc>
                  <a:txBody>
                    <a:bodyPr/>
                    <a:lstStyle/>
                    <a:p>
                      <a:pPr algn="ctr" marL="1905">
                        <a:lnSpc>
                          <a:spcPts val="2180"/>
                        </a:lnSpc>
                        <a:spcBef>
                          <a:spcPts val="280"/>
                        </a:spcBef>
                      </a:pPr>
                      <a:r>
                        <a:rPr dirty="0" sz="2000" spc="-50" b="1">
                          <a:solidFill>
                            <a:srgbClr val="40458B"/>
                          </a:solidFill>
                          <a:latin typeface="宋体"/>
                          <a:cs typeface="宋体"/>
                        </a:rPr>
                        <a:t>i</a:t>
                      </a:r>
                      <a:endParaRPr sz="2000">
                        <a:latin typeface="宋体"/>
                        <a:cs typeface="宋体"/>
                      </a:endParaRPr>
                    </a:p>
                  </a:txBody>
                  <a:tcPr marL="0" marR="0" marB="0" marT="35560"/>
                </a:tc>
                <a:tc>
                  <a:txBody>
                    <a:bodyPr/>
                    <a:lstStyle/>
                    <a:p>
                      <a:pPr marL="66040">
                        <a:lnSpc>
                          <a:spcPts val="2180"/>
                        </a:lnSpc>
                        <a:spcBef>
                          <a:spcPts val="280"/>
                        </a:spcBef>
                      </a:pPr>
                      <a:r>
                        <a:rPr dirty="0" sz="2000" b="1">
                          <a:solidFill>
                            <a:srgbClr val="40458B"/>
                          </a:solidFill>
                          <a:latin typeface="宋体"/>
                          <a:cs typeface="宋体"/>
                        </a:rPr>
                        <a:t>=</a:t>
                      </a:r>
                      <a:r>
                        <a:rPr dirty="0" sz="2000" spc="5" b="1">
                          <a:solidFill>
                            <a:srgbClr val="40458B"/>
                          </a:solidFill>
                          <a:latin typeface="宋体"/>
                          <a:cs typeface="宋体"/>
                        </a:rPr>
                        <a:t> </a:t>
                      </a:r>
                      <a:r>
                        <a:rPr dirty="0" sz="2000" spc="-25" b="1">
                          <a:solidFill>
                            <a:srgbClr val="40458B"/>
                          </a:solidFill>
                          <a:latin typeface="宋体"/>
                          <a:cs typeface="宋体"/>
                        </a:rPr>
                        <a:t>0；</a:t>
                      </a:r>
                      <a:endParaRPr sz="2000">
                        <a:latin typeface="宋体"/>
                        <a:cs typeface="宋体"/>
                      </a:endParaRPr>
                    </a:p>
                  </a:txBody>
                  <a:tcPr marL="0" marR="0" marB="0" marT="35560"/>
                </a:tc>
                <a:tc>
                  <a:txBody>
                    <a:bodyPr/>
                    <a:lstStyle/>
                    <a:p>
                      <a:pPr algn="ctr" marL="2540">
                        <a:lnSpc>
                          <a:spcPts val="2180"/>
                        </a:lnSpc>
                        <a:spcBef>
                          <a:spcPts val="280"/>
                        </a:spcBef>
                      </a:pPr>
                      <a:r>
                        <a:rPr dirty="0" sz="2000" spc="-50" b="1">
                          <a:solidFill>
                            <a:srgbClr val="40458B"/>
                          </a:solidFill>
                          <a:latin typeface="宋体"/>
                          <a:cs typeface="宋体"/>
                        </a:rPr>
                        <a:t>i</a:t>
                      </a:r>
                      <a:endParaRPr sz="2000">
                        <a:latin typeface="宋体"/>
                        <a:cs typeface="宋体"/>
                      </a:endParaRPr>
                    </a:p>
                  </a:txBody>
                  <a:tcPr marL="0" marR="0" marB="0" marT="35560"/>
                </a:tc>
                <a:tc>
                  <a:txBody>
                    <a:bodyPr/>
                    <a:lstStyle/>
                    <a:p>
                      <a:pPr algn="ctr">
                        <a:lnSpc>
                          <a:spcPts val="2180"/>
                        </a:lnSpc>
                        <a:spcBef>
                          <a:spcPts val="280"/>
                        </a:spcBef>
                      </a:pPr>
                      <a:r>
                        <a:rPr dirty="0" sz="2000" spc="-50" b="1">
                          <a:solidFill>
                            <a:srgbClr val="40458B"/>
                          </a:solidFill>
                          <a:latin typeface="宋体"/>
                          <a:cs typeface="宋体"/>
                        </a:rPr>
                        <a:t>&lt;</a:t>
                      </a:r>
                      <a:endParaRPr sz="2000">
                        <a:latin typeface="宋体"/>
                        <a:cs typeface="宋体"/>
                      </a:endParaRPr>
                    </a:p>
                  </a:txBody>
                  <a:tcPr marL="0" marR="0" marB="0" marT="35560"/>
                </a:tc>
                <a:tc>
                  <a:txBody>
                    <a:bodyPr/>
                    <a:lstStyle/>
                    <a:p>
                      <a:pPr algn="ctr">
                        <a:lnSpc>
                          <a:spcPts val="2180"/>
                        </a:lnSpc>
                        <a:spcBef>
                          <a:spcPts val="280"/>
                        </a:spcBef>
                      </a:pPr>
                      <a:r>
                        <a:rPr dirty="0" sz="2000" spc="-20" b="1">
                          <a:solidFill>
                            <a:srgbClr val="40458B"/>
                          </a:solidFill>
                          <a:latin typeface="宋体"/>
                          <a:cs typeface="宋体"/>
                        </a:rPr>
                        <a:t>256；</a:t>
                      </a:r>
                      <a:endParaRPr sz="2000">
                        <a:latin typeface="宋体"/>
                        <a:cs typeface="宋体"/>
                      </a:endParaRPr>
                    </a:p>
                  </a:txBody>
                  <a:tcPr marL="0" marR="0" marB="0" marT="35560"/>
                </a:tc>
                <a:tc>
                  <a:txBody>
                    <a:bodyPr/>
                    <a:lstStyle/>
                    <a:p>
                      <a:pPr algn="r" marR="57785">
                        <a:lnSpc>
                          <a:spcPts val="2180"/>
                        </a:lnSpc>
                        <a:spcBef>
                          <a:spcPts val="280"/>
                        </a:spcBef>
                      </a:pPr>
                      <a:r>
                        <a:rPr dirty="0" sz="2000" b="1">
                          <a:solidFill>
                            <a:srgbClr val="40458B"/>
                          </a:solidFill>
                          <a:latin typeface="宋体"/>
                          <a:cs typeface="宋体"/>
                        </a:rPr>
                        <a:t>i</a:t>
                      </a:r>
                      <a:r>
                        <a:rPr dirty="0" sz="2000" spc="-10"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35560"/>
                </a:tc>
                <a:tc>
                  <a:txBody>
                    <a:bodyPr/>
                    <a:lstStyle/>
                    <a:p>
                      <a:pPr marL="62865">
                        <a:lnSpc>
                          <a:spcPts val="2180"/>
                        </a:lnSpc>
                        <a:spcBef>
                          <a:spcPts val="280"/>
                        </a:spcBef>
                      </a:pPr>
                      <a:r>
                        <a:rPr dirty="0" sz="2000" b="1">
                          <a:solidFill>
                            <a:srgbClr val="40458B"/>
                          </a:solidFill>
                          <a:latin typeface="宋体"/>
                          <a:cs typeface="宋体"/>
                        </a:rPr>
                        <a:t>i+1</a:t>
                      </a:r>
                      <a:r>
                        <a:rPr dirty="0" sz="2000" spc="15"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35560"/>
                </a:tc>
              </a:tr>
              <a:tr h="396240">
                <a:tc gridSpan="2">
                  <a:txBody>
                    <a:bodyPr/>
                    <a:lstStyle/>
                    <a:p>
                      <a:pPr marL="421640">
                        <a:lnSpc>
                          <a:spcPts val="2180"/>
                        </a:lnSpc>
                        <a:spcBef>
                          <a:spcPts val="840"/>
                        </a:spcBef>
                      </a:pPr>
                      <a:r>
                        <a:rPr dirty="0" sz="2000" b="1">
                          <a:solidFill>
                            <a:srgbClr val="40458B"/>
                          </a:solidFill>
                          <a:latin typeface="宋体"/>
                          <a:cs typeface="宋体"/>
                        </a:rPr>
                        <a:t>x</a:t>
                      </a:r>
                      <a:r>
                        <a:rPr dirty="0" sz="2000" spc="-10"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106680"/>
                </a:tc>
                <a:tc hMerge="1">
                  <a:txBody>
                    <a:bodyPr/>
                    <a:lstStyle/>
                    <a:p>
                      <a:pPr/>
                    </a:p>
                  </a:txBody>
                  <a:tcPr marL="0" marR="0" marB="0" marT="0"/>
                </a:tc>
                <a:tc>
                  <a:txBody>
                    <a:bodyPr/>
                    <a:lstStyle/>
                    <a:p>
                      <a:pPr algn="ctr" marL="1905">
                        <a:lnSpc>
                          <a:spcPts val="2180"/>
                        </a:lnSpc>
                        <a:spcBef>
                          <a:spcPts val="840"/>
                        </a:spcBef>
                      </a:pPr>
                      <a:r>
                        <a:rPr dirty="0" sz="2000" spc="-50" b="1">
                          <a:solidFill>
                            <a:srgbClr val="40458B"/>
                          </a:solidFill>
                          <a:latin typeface="宋体"/>
                          <a:cs typeface="宋体"/>
                        </a:rPr>
                        <a:t>i</a:t>
                      </a:r>
                      <a:endParaRPr sz="2000">
                        <a:latin typeface="宋体"/>
                        <a:cs typeface="宋体"/>
                      </a:endParaRPr>
                    </a:p>
                  </a:txBody>
                  <a:tcPr marL="0" marR="0" marB="0" marT="106680"/>
                </a:tc>
                <a:tc>
                  <a:txBody>
                    <a:bodyPr/>
                    <a:lstStyle/>
                    <a:p>
                      <a:pPr marL="66675">
                        <a:lnSpc>
                          <a:spcPts val="2180"/>
                        </a:lnSpc>
                        <a:spcBef>
                          <a:spcPts val="840"/>
                        </a:spcBef>
                      </a:pPr>
                      <a:r>
                        <a:rPr dirty="0" sz="2000" b="1">
                          <a:solidFill>
                            <a:srgbClr val="40458B"/>
                          </a:solidFill>
                          <a:latin typeface="宋体"/>
                          <a:cs typeface="宋体"/>
                        </a:rPr>
                        <a:t>][</a:t>
                      </a:r>
                      <a:r>
                        <a:rPr dirty="0" sz="2000" spc="-15" b="1">
                          <a:solidFill>
                            <a:srgbClr val="40458B"/>
                          </a:solidFill>
                          <a:latin typeface="宋体"/>
                          <a:cs typeface="宋体"/>
                        </a:rPr>
                        <a:t> </a:t>
                      </a:r>
                      <a:r>
                        <a:rPr dirty="0" sz="2000" b="1">
                          <a:solidFill>
                            <a:srgbClr val="40458B"/>
                          </a:solidFill>
                          <a:latin typeface="宋体"/>
                          <a:cs typeface="宋体"/>
                        </a:rPr>
                        <a:t>j</a:t>
                      </a:r>
                      <a:r>
                        <a:rPr dirty="0" sz="2000" spc="-15"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106680"/>
                </a:tc>
                <a:tc>
                  <a:txBody>
                    <a:bodyPr/>
                    <a:lstStyle/>
                    <a:p>
                      <a:pPr algn="ctr" marL="2540">
                        <a:lnSpc>
                          <a:spcPts val="2180"/>
                        </a:lnSpc>
                        <a:spcBef>
                          <a:spcPts val="840"/>
                        </a:spcBef>
                      </a:pPr>
                      <a:r>
                        <a:rPr dirty="0" sz="2000" spc="-50" b="1">
                          <a:solidFill>
                            <a:srgbClr val="40458B"/>
                          </a:solidFill>
                          <a:latin typeface="宋体"/>
                          <a:cs typeface="宋体"/>
                        </a:rPr>
                        <a:t>=</a:t>
                      </a:r>
                      <a:endParaRPr sz="2000">
                        <a:latin typeface="宋体"/>
                        <a:cs typeface="宋体"/>
                      </a:endParaRPr>
                    </a:p>
                  </a:txBody>
                  <a:tcPr marL="0" marR="0" marB="0" marT="106680"/>
                </a:tc>
                <a:tc>
                  <a:txBody>
                    <a:bodyPr/>
                    <a:lstStyle/>
                    <a:p>
                      <a:pPr algn="ctr" marL="2540">
                        <a:lnSpc>
                          <a:spcPts val="2180"/>
                        </a:lnSpc>
                        <a:spcBef>
                          <a:spcPts val="840"/>
                        </a:spcBef>
                      </a:pPr>
                      <a:r>
                        <a:rPr dirty="0" sz="2000" spc="-50" b="1">
                          <a:solidFill>
                            <a:srgbClr val="40458B"/>
                          </a:solidFill>
                          <a:latin typeface="宋体"/>
                          <a:cs typeface="宋体"/>
                        </a:rPr>
                        <a:t>2</a:t>
                      </a:r>
                      <a:endParaRPr sz="2000">
                        <a:latin typeface="宋体"/>
                        <a:cs typeface="宋体"/>
                      </a:endParaRPr>
                    </a:p>
                  </a:txBody>
                  <a:tcPr marL="0" marR="0" marB="0" marT="106680"/>
                </a:tc>
                <a:tc>
                  <a:txBody>
                    <a:bodyPr/>
                    <a:lstStyle/>
                    <a:p>
                      <a:pPr algn="ctr">
                        <a:lnSpc>
                          <a:spcPts val="2180"/>
                        </a:lnSpc>
                        <a:spcBef>
                          <a:spcPts val="840"/>
                        </a:spcBef>
                      </a:pPr>
                      <a:r>
                        <a:rPr dirty="0" sz="2000" b="1">
                          <a:solidFill>
                            <a:srgbClr val="40458B"/>
                          </a:solidFill>
                          <a:latin typeface="宋体"/>
                          <a:cs typeface="宋体"/>
                        </a:rPr>
                        <a:t>*</a:t>
                      </a:r>
                      <a:r>
                        <a:rPr dirty="0" sz="2000" spc="-5" b="1">
                          <a:solidFill>
                            <a:srgbClr val="40458B"/>
                          </a:solidFill>
                          <a:latin typeface="宋体"/>
                          <a:cs typeface="宋体"/>
                        </a:rPr>
                        <a:t> </a:t>
                      </a:r>
                      <a:r>
                        <a:rPr dirty="0" sz="2000" b="1">
                          <a:solidFill>
                            <a:srgbClr val="40458B"/>
                          </a:solidFill>
                          <a:latin typeface="宋体"/>
                          <a:cs typeface="宋体"/>
                        </a:rPr>
                        <a:t>x</a:t>
                      </a:r>
                      <a:r>
                        <a:rPr dirty="0" sz="2000" spc="-5" b="1">
                          <a:solidFill>
                            <a:srgbClr val="40458B"/>
                          </a:solidFill>
                          <a:latin typeface="宋体"/>
                          <a:cs typeface="宋体"/>
                        </a:rPr>
                        <a:t> </a:t>
                      </a:r>
                      <a:r>
                        <a:rPr dirty="0" sz="2000" spc="-50" b="1">
                          <a:solidFill>
                            <a:srgbClr val="40458B"/>
                          </a:solidFill>
                          <a:latin typeface="宋体"/>
                          <a:cs typeface="宋体"/>
                        </a:rPr>
                        <a:t>[</a:t>
                      </a:r>
                      <a:endParaRPr sz="2000">
                        <a:latin typeface="宋体"/>
                        <a:cs typeface="宋体"/>
                      </a:endParaRPr>
                    </a:p>
                  </a:txBody>
                  <a:tcPr marL="0" marR="0" marB="0" marT="106680"/>
                </a:tc>
                <a:tc>
                  <a:txBody>
                    <a:bodyPr/>
                    <a:lstStyle/>
                    <a:p>
                      <a:pPr algn="r" marR="55244">
                        <a:lnSpc>
                          <a:spcPts val="2180"/>
                        </a:lnSpc>
                        <a:spcBef>
                          <a:spcPts val="840"/>
                        </a:spcBef>
                      </a:pPr>
                      <a:r>
                        <a:rPr dirty="0" sz="2000" b="1">
                          <a:solidFill>
                            <a:srgbClr val="40458B"/>
                          </a:solidFill>
                          <a:latin typeface="宋体"/>
                          <a:cs typeface="宋体"/>
                        </a:rPr>
                        <a:t>i</a:t>
                      </a:r>
                      <a:r>
                        <a:rPr dirty="0" sz="2000" spc="-20" b="1">
                          <a:solidFill>
                            <a:srgbClr val="40458B"/>
                          </a:solidFill>
                          <a:latin typeface="宋体"/>
                          <a:cs typeface="宋体"/>
                        </a:rPr>
                        <a:t> </a:t>
                      </a:r>
                      <a:r>
                        <a:rPr dirty="0" sz="2000" spc="-25" b="1">
                          <a:solidFill>
                            <a:srgbClr val="40458B"/>
                          </a:solidFill>
                          <a:latin typeface="宋体"/>
                          <a:cs typeface="宋体"/>
                        </a:rPr>
                        <a:t>][</a:t>
                      </a:r>
                      <a:endParaRPr sz="2000">
                        <a:latin typeface="宋体"/>
                        <a:cs typeface="宋体"/>
                      </a:endParaRPr>
                    </a:p>
                  </a:txBody>
                  <a:tcPr marL="0" marR="0" marB="0" marT="106680"/>
                </a:tc>
                <a:tc>
                  <a:txBody>
                    <a:bodyPr/>
                    <a:lstStyle/>
                    <a:p>
                      <a:pPr marL="65405">
                        <a:lnSpc>
                          <a:spcPts val="2180"/>
                        </a:lnSpc>
                        <a:spcBef>
                          <a:spcPts val="840"/>
                        </a:spcBef>
                      </a:pPr>
                      <a:r>
                        <a:rPr dirty="0" sz="2000" b="1">
                          <a:solidFill>
                            <a:srgbClr val="40458B"/>
                          </a:solidFill>
                          <a:latin typeface="宋体"/>
                          <a:cs typeface="宋体"/>
                        </a:rPr>
                        <a:t>j</a:t>
                      </a:r>
                      <a:r>
                        <a:rPr dirty="0" sz="2000" spc="-20" b="1">
                          <a:solidFill>
                            <a:srgbClr val="40458B"/>
                          </a:solidFill>
                          <a:latin typeface="宋体"/>
                          <a:cs typeface="宋体"/>
                        </a:rPr>
                        <a:t> </a:t>
                      </a:r>
                      <a:r>
                        <a:rPr dirty="0" sz="2000" spc="-25" b="1">
                          <a:solidFill>
                            <a:srgbClr val="40458B"/>
                          </a:solidFill>
                          <a:latin typeface="宋体"/>
                          <a:cs typeface="宋体"/>
                        </a:rPr>
                        <a:t>]；</a:t>
                      </a:r>
                      <a:endParaRPr sz="2000">
                        <a:latin typeface="宋体"/>
                        <a:cs typeface="宋体"/>
                      </a:endParaRPr>
                    </a:p>
                  </a:txBody>
                  <a:tcPr marL="0" marR="0" marB="0" marT="106680"/>
                </a:tc>
              </a:tr>
            </a:tbl>
          </a:graphicData>
        </a:graphic>
      </p:graphicFrame>
      <p:sp>
        <p:nvSpPr>
          <p:cNvPr id="12" name="object 12" descr=""/>
          <p:cNvSpPr txBox="1"/>
          <p:nvPr/>
        </p:nvSpPr>
        <p:spPr>
          <a:xfrm>
            <a:off x="1375917" y="3972012"/>
            <a:ext cx="10237470" cy="829944"/>
          </a:xfrm>
          <a:prstGeom prst="rect">
            <a:avLst/>
          </a:prstGeom>
        </p:spPr>
        <p:txBody>
          <a:bodyPr wrap="square" lIns="0" tIns="12065" rIns="0" bIns="0" rtlCol="0" vert="horz">
            <a:spAutoFit/>
          </a:bodyPr>
          <a:lstStyle/>
          <a:p>
            <a:pPr marL="12700" marR="5080" indent="609600">
              <a:lnSpc>
                <a:spcPct val="110000"/>
              </a:lnSpc>
              <a:spcBef>
                <a:spcPts val="95"/>
              </a:spcBef>
            </a:pPr>
            <a:r>
              <a:rPr dirty="0" sz="2400">
                <a:solidFill>
                  <a:srgbClr val="40458B"/>
                </a:solidFill>
                <a:latin typeface="黑体"/>
                <a:cs typeface="黑体"/>
              </a:rPr>
              <a:t>因为</a:t>
            </a:r>
            <a:r>
              <a:rPr dirty="0" sz="2400">
                <a:solidFill>
                  <a:srgbClr val="9933FF"/>
                </a:solidFill>
                <a:latin typeface="黑体"/>
                <a:cs typeface="黑体"/>
              </a:rPr>
              <a:t>512</a:t>
            </a:r>
            <a:r>
              <a:rPr dirty="0" sz="2400">
                <a:solidFill>
                  <a:srgbClr val="40458B"/>
                </a:solidFill>
                <a:latin typeface="黑体"/>
                <a:cs typeface="黑体"/>
              </a:rPr>
              <a:t>是</a:t>
            </a:r>
            <a:r>
              <a:rPr dirty="0" sz="2400">
                <a:solidFill>
                  <a:srgbClr val="9933FF"/>
                </a:solidFill>
                <a:latin typeface="黑体"/>
                <a:cs typeface="黑体"/>
              </a:rPr>
              <a:t>128</a:t>
            </a:r>
            <a:r>
              <a:rPr dirty="0" sz="2400">
                <a:solidFill>
                  <a:srgbClr val="40458B"/>
                </a:solidFill>
                <a:latin typeface="黑体"/>
                <a:cs typeface="黑体"/>
              </a:rPr>
              <a:t>的整数倍，同一列中的所有元素都在同一个体内，无论</a:t>
            </a:r>
            <a:r>
              <a:rPr dirty="0" sz="2400" spc="-25">
                <a:solidFill>
                  <a:srgbClr val="40458B"/>
                </a:solidFill>
                <a:latin typeface="黑体"/>
                <a:cs typeface="黑体"/>
              </a:rPr>
              <a:t>CPU</a:t>
            </a:r>
            <a:r>
              <a:rPr dirty="0" sz="2400" spc="-10">
                <a:solidFill>
                  <a:srgbClr val="40458B"/>
                </a:solidFill>
                <a:latin typeface="黑体"/>
                <a:cs typeface="黑体"/>
              </a:rPr>
              <a:t>或存储系统多么高级，该程序都会在数据Cache</a:t>
            </a:r>
            <a:r>
              <a:rPr dirty="0" sz="2400" spc="-20">
                <a:solidFill>
                  <a:srgbClr val="40458B"/>
                </a:solidFill>
                <a:latin typeface="黑体"/>
                <a:cs typeface="黑体"/>
              </a:rPr>
              <a:t>不命中时暂停。</a:t>
            </a:r>
            <a:endParaRPr sz="2400">
              <a:latin typeface="黑体"/>
              <a:cs typeface="黑体"/>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156/170</a:t>
            </a:r>
            <a:endParaRPr baseline="1736" sz="2400">
              <a:latin typeface="宋体"/>
              <a:cs typeface="宋体"/>
            </a:endParaRPr>
          </a:p>
        </p:txBody>
      </p:sp>
      <p:grpSp>
        <p:nvGrpSpPr>
          <p:cNvPr id="3" name="object 3" descr=""/>
          <p:cNvGrpSpPr/>
          <p:nvPr/>
        </p:nvGrpSpPr>
        <p:grpSpPr>
          <a:xfrm>
            <a:off x="119062" y="188976"/>
            <a:ext cx="1437005" cy="274955"/>
            <a:chOff x="119062" y="188976"/>
            <a:chExt cx="1437005" cy="274955"/>
          </a:xfrm>
        </p:grpSpPr>
        <p:sp>
          <p:nvSpPr>
            <p:cNvPr id="4" name="object 4"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5" name="object 5"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6" name="object 6"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7" name="object 7"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8" name="object 8"/>
          <p:cNvSpPr txBox="1">
            <a:spLocks noGrp="1"/>
          </p:cNvSpPr>
          <p:nvPr>
            <p:ph type="title"/>
          </p:nvPr>
        </p:nvSpPr>
        <p:spPr>
          <a:prstGeom prst="rect"/>
        </p:spPr>
        <p:txBody>
          <a:bodyPr wrap="square" lIns="0" tIns="111429" rIns="0" bIns="0" rtlCol="0" vert="horz">
            <a:spAutoFit/>
          </a:bodyPr>
          <a:lstStyle/>
          <a:p>
            <a:pPr marL="12700">
              <a:lnSpc>
                <a:spcPct val="100000"/>
              </a:lnSpc>
              <a:spcBef>
                <a:spcPts val="95"/>
              </a:spcBef>
              <a:tabLst>
                <a:tab pos="486409" algn="l"/>
                <a:tab pos="10648315" algn="l"/>
              </a:tabLst>
            </a:pPr>
            <a:r>
              <a:rPr dirty="0"/>
              <a:t>	7.6</a:t>
            </a:r>
            <a:r>
              <a:rPr dirty="0" spc="-5"/>
              <a:t> </a:t>
            </a:r>
            <a:r>
              <a:rPr dirty="0" spc="-35"/>
              <a:t>并行</a:t>
            </a:r>
            <a:r>
              <a:rPr dirty="0" spc="-20"/>
              <a:t>主</a:t>
            </a:r>
            <a:r>
              <a:rPr dirty="0" spc="-35"/>
              <a:t>存系</a:t>
            </a:r>
            <a:r>
              <a:rPr dirty="0" spc="-50"/>
              <a:t>统</a:t>
            </a:r>
            <a:r>
              <a:rPr dirty="0"/>
              <a:t>	</a:t>
            </a:r>
          </a:p>
        </p:txBody>
      </p:sp>
      <p:sp>
        <p:nvSpPr>
          <p:cNvPr id="9" name="object 9" descr=""/>
          <p:cNvSpPr txBox="1"/>
          <p:nvPr/>
        </p:nvSpPr>
        <p:spPr>
          <a:xfrm>
            <a:off x="1061415" y="963676"/>
            <a:ext cx="6278880" cy="4131310"/>
          </a:xfrm>
          <a:prstGeom prst="rect">
            <a:avLst/>
          </a:prstGeom>
        </p:spPr>
        <p:txBody>
          <a:bodyPr wrap="square" lIns="0" tIns="158750" rIns="0" bIns="0" rtlCol="0" vert="horz">
            <a:spAutoFit/>
          </a:bodyPr>
          <a:lstStyle/>
          <a:p>
            <a:pPr marL="469900" indent="-457200">
              <a:lnSpc>
                <a:spcPct val="100000"/>
              </a:lnSpc>
              <a:spcBef>
                <a:spcPts val="1250"/>
              </a:spcBef>
              <a:buClr>
                <a:srgbClr val="40458B"/>
              </a:buClr>
              <a:buFont typeface="Tahoma"/>
              <a:buAutoNum type="arabicPeriod" startAt="3"/>
              <a:tabLst>
                <a:tab pos="469900" algn="l"/>
              </a:tabLst>
            </a:pPr>
            <a:r>
              <a:rPr dirty="0" sz="2400" spc="-10">
                <a:solidFill>
                  <a:srgbClr val="E14B04"/>
                </a:solidFill>
                <a:latin typeface="黑体"/>
                <a:cs typeface="黑体"/>
              </a:rPr>
              <a:t>解决体冲突的方法</a:t>
            </a:r>
            <a:endParaRPr sz="2400">
              <a:latin typeface="黑体"/>
              <a:cs typeface="黑体"/>
            </a:endParaRPr>
          </a:p>
          <a:p>
            <a:pPr lvl="1" marL="1099185" indent="-457200">
              <a:lnSpc>
                <a:spcPct val="100000"/>
              </a:lnSpc>
              <a:spcBef>
                <a:spcPts val="1155"/>
              </a:spcBef>
              <a:buClr>
                <a:srgbClr val="40458B"/>
              </a:buClr>
              <a:buSzPct val="89583"/>
              <a:buFont typeface="Wingdings"/>
              <a:buChar char=""/>
              <a:tabLst>
                <a:tab pos="1099185" algn="l"/>
              </a:tabLst>
            </a:pPr>
            <a:r>
              <a:rPr dirty="0" sz="2400">
                <a:solidFill>
                  <a:srgbClr val="D50092"/>
                </a:solidFill>
                <a:latin typeface="黑体"/>
                <a:cs typeface="黑体"/>
              </a:rPr>
              <a:t>软件方法</a:t>
            </a:r>
            <a:r>
              <a:rPr dirty="0" sz="2400">
                <a:solidFill>
                  <a:srgbClr val="40458B"/>
                </a:solidFill>
                <a:latin typeface="宋体"/>
                <a:cs typeface="宋体"/>
              </a:rPr>
              <a:t>(</a:t>
            </a:r>
            <a:r>
              <a:rPr dirty="0" sz="2400" spc="-5">
                <a:solidFill>
                  <a:srgbClr val="40458B"/>
                </a:solidFill>
                <a:latin typeface="黑体"/>
                <a:cs typeface="黑体"/>
              </a:rPr>
              <a:t>编译器</a:t>
            </a:r>
            <a:r>
              <a:rPr dirty="0" sz="2400" spc="-50">
                <a:solidFill>
                  <a:srgbClr val="40458B"/>
                </a:solidFill>
                <a:latin typeface="宋体"/>
                <a:cs typeface="宋体"/>
              </a:rPr>
              <a:t>)</a:t>
            </a:r>
            <a:endParaRPr sz="2400">
              <a:latin typeface="宋体"/>
              <a:cs typeface="宋体"/>
            </a:endParaRPr>
          </a:p>
          <a:p>
            <a:pPr lvl="2" marL="1727200" indent="-457200">
              <a:lnSpc>
                <a:spcPct val="100000"/>
              </a:lnSpc>
              <a:spcBef>
                <a:spcPts val="1025"/>
              </a:spcBef>
              <a:buClr>
                <a:srgbClr val="4668F5"/>
              </a:buClr>
              <a:buSzPct val="60000"/>
              <a:buFont typeface="Wingdings"/>
              <a:buChar char=""/>
              <a:tabLst>
                <a:tab pos="1727200" algn="l"/>
              </a:tabLst>
            </a:pPr>
            <a:r>
              <a:rPr dirty="0" sz="2000" spc="-20" b="1">
                <a:solidFill>
                  <a:srgbClr val="00AFEF"/>
                </a:solidFill>
                <a:latin typeface="宋体"/>
                <a:cs typeface="宋体"/>
              </a:rPr>
              <a:t>循环交换优化</a:t>
            </a:r>
            <a:endParaRPr sz="2000">
              <a:latin typeface="宋体"/>
              <a:cs typeface="宋体"/>
            </a:endParaRPr>
          </a:p>
          <a:p>
            <a:pPr lvl="2" marL="1727200" indent="-457200">
              <a:lnSpc>
                <a:spcPct val="100000"/>
              </a:lnSpc>
              <a:spcBef>
                <a:spcPts val="960"/>
              </a:spcBef>
              <a:buClr>
                <a:srgbClr val="4668F5"/>
              </a:buClr>
              <a:buSzPct val="60000"/>
              <a:buFont typeface="Wingdings"/>
              <a:buChar char=""/>
              <a:tabLst>
                <a:tab pos="1727200" algn="l"/>
              </a:tabLst>
            </a:pPr>
            <a:r>
              <a:rPr dirty="0" sz="2000" spc="-10" b="1">
                <a:solidFill>
                  <a:srgbClr val="00AFEF"/>
                </a:solidFill>
                <a:latin typeface="宋体"/>
                <a:cs typeface="宋体"/>
              </a:rPr>
              <a:t>扩展数组的大小，使之不是</a:t>
            </a:r>
            <a:r>
              <a:rPr dirty="0" sz="2000" spc="-15" b="1">
                <a:solidFill>
                  <a:srgbClr val="00AFEF"/>
                </a:solidFill>
                <a:latin typeface="宋体"/>
                <a:cs typeface="宋体"/>
              </a:rPr>
              <a:t>2</a:t>
            </a:r>
            <a:r>
              <a:rPr dirty="0" sz="2000" spc="-30" b="1">
                <a:solidFill>
                  <a:srgbClr val="00AFEF"/>
                </a:solidFill>
                <a:latin typeface="宋体"/>
                <a:cs typeface="宋体"/>
              </a:rPr>
              <a:t>的幂。</a:t>
            </a:r>
            <a:endParaRPr sz="2000">
              <a:latin typeface="宋体"/>
              <a:cs typeface="宋体"/>
            </a:endParaRPr>
          </a:p>
          <a:p>
            <a:pPr lvl="1" marL="1099185" indent="-457200">
              <a:lnSpc>
                <a:spcPct val="100000"/>
              </a:lnSpc>
              <a:spcBef>
                <a:spcPts val="1090"/>
              </a:spcBef>
              <a:buClr>
                <a:srgbClr val="40458B"/>
              </a:buClr>
              <a:buSzPct val="89583"/>
              <a:buFont typeface="Wingdings"/>
              <a:buChar char=""/>
              <a:tabLst>
                <a:tab pos="1099185" algn="l"/>
              </a:tabLst>
            </a:pPr>
            <a:r>
              <a:rPr dirty="0" sz="2400" spc="-15">
                <a:solidFill>
                  <a:srgbClr val="D50092"/>
                </a:solidFill>
                <a:latin typeface="黑体"/>
                <a:cs typeface="黑体"/>
              </a:rPr>
              <a:t>硬件方法</a:t>
            </a:r>
            <a:endParaRPr sz="2400">
              <a:latin typeface="黑体"/>
              <a:cs typeface="黑体"/>
            </a:endParaRPr>
          </a:p>
          <a:p>
            <a:pPr lvl="2" marL="1727200" indent="-457200">
              <a:lnSpc>
                <a:spcPct val="100000"/>
              </a:lnSpc>
              <a:spcBef>
                <a:spcPts val="1025"/>
              </a:spcBef>
              <a:buClr>
                <a:srgbClr val="4668F5"/>
              </a:buClr>
              <a:buSzPct val="60000"/>
              <a:buFont typeface="Wingdings"/>
              <a:buChar char=""/>
              <a:tabLst>
                <a:tab pos="1727200" algn="l"/>
              </a:tabLst>
            </a:pPr>
            <a:r>
              <a:rPr dirty="0" sz="2000" spc="-20" b="1">
                <a:solidFill>
                  <a:srgbClr val="00AFEF"/>
                </a:solidFill>
                <a:latin typeface="宋体"/>
                <a:cs typeface="宋体"/>
              </a:rPr>
              <a:t>使体数为素数</a:t>
            </a:r>
            <a:endParaRPr sz="2000">
              <a:latin typeface="宋体"/>
              <a:cs typeface="宋体"/>
            </a:endParaRPr>
          </a:p>
          <a:p>
            <a:pPr marL="1655445">
              <a:lnSpc>
                <a:spcPct val="100000"/>
              </a:lnSpc>
              <a:spcBef>
                <a:spcPts val="960"/>
              </a:spcBef>
            </a:pPr>
            <a:r>
              <a:rPr dirty="0" sz="2000" spc="-10" b="1">
                <a:solidFill>
                  <a:srgbClr val="00AFEF"/>
                </a:solidFill>
                <a:latin typeface="宋体"/>
                <a:cs typeface="宋体"/>
              </a:rPr>
              <a:t>体内地址＝地址</a:t>
            </a:r>
            <a:r>
              <a:rPr dirty="0" sz="2000" b="1">
                <a:solidFill>
                  <a:srgbClr val="00AFEF"/>
                </a:solidFill>
                <a:latin typeface="宋体"/>
                <a:cs typeface="宋体"/>
              </a:rPr>
              <a:t>A</a:t>
            </a:r>
            <a:r>
              <a:rPr dirty="0" sz="2000" spc="-30" b="1">
                <a:solidFill>
                  <a:srgbClr val="00AFEF"/>
                </a:solidFill>
                <a:latin typeface="宋体"/>
                <a:cs typeface="宋体"/>
              </a:rPr>
              <a:t> </a:t>
            </a:r>
            <a:r>
              <a:rPr dirty="0" sz="2000" b="1">
                <a:solidFill>
                  <a:srgbClr val="00AFEF"/>
                </a:solidFill>
                <a:latin typeface="宋体"/>
                <a:cs typeface="宋体"/>
              </a:rPr>
              <a:t>mod</a:t>
            </a:r>
            <a:r>
              <a:rPr dirty="0" sz="2000" spc="-20" b="1">
                <a:solidFill>
                  <a:srgbClr val="00AFEF"/>
                </a:solidFill>
                <a:latin typeface="宋体"/>
                <a:cs typeface="宋体"/>
              </a:rPr>
              <a:t> (存储体中的字数)</a:t>
            </a:r>
            <a:endParaRPr sz="2000">
              <a:latin typeface="宋体"/>
              <a:cs typeface="宋体"/>
            </a:endParaRPr>
          </a:p>
          <a:p>
            <a:pPr marL="1784985">
              <a:lnSpc>
                <a:spcPct val="100000"/>
              </a:lnSpc>
              <a:spcBef>
                <a:spcPts val="960"/>
              </a:spcBef>
            </a:pPr>
            <a:r>
              <a:rPr dirty="0" sz="2000" spc="-20" b="1">
                <a:solidFill>
                  <a:srgbClr val="00AFEF"/>
                </a:solidFill>
                <a:latin typeface="宋体"/>
                <a:cs typeface="宋体"/>
              </a:rPr>
              <a:t>可以直接截取</a:t>
            </a:r>
            <a:endParaRPr sz="2000">
              <a:latin typeface="宋体"/>
              <a:cs typeface="宋体"/>
            </a:endParaRPr>
          </a:p>
          <a:p>
            <a:pPr lvl="2" marL="1727200" indent="-457200">
              <a:lnSpc>
                <a:spcPct val="100000"/>
              </a:lnSpc>
              <a:spcBef>
                <a:spcPts val="960"/>
              </a:spcBef>
              <a:buClr>
                <a:srgbClr val="4668F5"/>
              </a:buClr>
              <a:buSzPct val="60000"/>
              <a:buFont typeface="Wingdings"/>
              <a:buChar char=""/>
              <a:tabLst>
                <a:tab pos="1727200" algn="l"/>
              </a:tabLst>
            </a:pPr>
            <a:r>
              <a:rPr dirty="0" sz="2000" spc="-30" b="1">
                <a:solidFill>
                  <a:srgbClr val="00AFEF"/>
                </a:solidFill>
                <a:latin typeface="宋体"/>
                <a:cs typeface="宋体"/>
              </a:rPr>
              <a:t>举例</a:t>
            </a:r>
            <a:endParaRPr sz="2000">
              <a:latin typeface="宋体"/>
              <a:cs typeface="宋体"/>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descr=""/>
          <p:cNvGraphicFramePr>
            <a:graphicFrameLocks noGrp="1"/>
          </p:cNvGraphicFramePr>
          <p:nvPr/>
        </p:nvGraphicFramePr>
        <p:xfrm>
          <a:off x="2205037" y="1248568"/>
          <a:ext cx="7858125" cy="4918075"/>
        </p:xfrm>
        <a:graphic>
          <a:graphicData uri="http://schemas.openxmlformats.org/drawingml/2006/table">
            <a:tbl>
              <a:tblPr firstRow="1" bandRow="1">
                <a:tableStyleId>{2D5ABB26-0587-4C30-8999-92F81FD0307C}</a:tableStyleId>
              </a:tblPr>
              <a:tblGrid>
                <a:gridCol w="1371600"/>
                <a:gridCol w="1043305"/>
                <a:gridCol w="1090930"/>
                <a:gridCol w="1007110"/>
                <a:gridCol w="1050289"/>
                <a:gridCol w="1121410"/>
                <a:gridCol w="1090929"/>
              </a:tblGrid>
              <a:tr h="369570">
                <a:tc rowSpan="3">
                  <a:txBody>
                    <a:bodyPr/>
                    <a:lstStyle/>
                    <a:p>
                      <a:pPr>
                        <a:lnSpc>
                          <a:spcPct val="100000"/>
                        </a:lnSpc>
                        <a:spcBef>
                          <a:spcPts val="1989"/>
                        </a:spcBef>
                      </a:pPr>
                      <a:endParaRPr sz="1800">
                        <a:latin typeface="Times New Roman"/>
                        <a:cs typeface="Times New Roman"/>
                      </a:endParaRPr>
                    </a:p>
                    <a:p>
                      <a:pPr marL="150495">
                        <a:lnSpc>
                          <a:spcPct val="100000"/>
                        </a:lnSpc>
                        <a:spcBef>
                          <a:spcPts val="5"/>
                        </a:spcBef>
                      </a:pPr>
                      <a:r>
                        <a:rPr dirty="0" sz="1800" spc="-215" b="1">
                          <a:solidFill>
                            <a:srgbClr val="E14B04"/>
                          </a:solidFill>
                          <a:latin typeface="宋体"/>
                          <a:cs typeface="宋体"/>
                        </a:rPr>
                        <a:t>体 内 地 址</a:t>
                      </a:r>
                      <a:endParaRPr sz="1800">
                        <a:latin typeface="宋体"/>
                        <a:cs typeface="宋体"/>
                      </a:endParaRPr>
                    </a:p>
                  </a:txBody>
                  <a:tcPr marL="0" marR="0" marB="0" marT="25272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A7FFFF"/>
                    </a:solidFill>
                  </a:tcPr>
                </a:tc>
                <a:tc gridSpan="6">
                  <a:txBody>
                    <a:bodyPr/>
                    <a:lstStyle/>
                    <a:p>
                      <a:pPr algn="ctr" marR="64769">
                        <a:lnSpc>
                          <a:spcPct val="100000"/>
                        </a:lnSpc>
                        <a:spcBef>
                          <a:spcPts val="185"/>
                        </a:spcBef>
                        <a:tabLst>
                          <a:tab pos="459740" algn="l"/>
                          <a:tab pos="920115" algn="l"/>
                        </a:tabLst>
                      </a:pPr>
                      <a:r>
                        <a:rPr dirty="0" sz="1800" spc="-50" b="1">
                          <a:solidFill>
                            <a:srgbClr val="E14B04"/>
                          </a:solidFill>
                          <a:latin typeface="宋体"/>
                          <a:cs typeface="宋体"/>
                        </a:rPr>
                        <a:t>存</a:t>
                      </a:r>
                      <a:r>
                        <a:rPr dirty="0" sz="1800" b="1">
                          <a:solidFill>
                            <a:srgbClr val="E14B04"/>
                          </a:solidFill>
                          <a:latin typeface="宋体"/>
                          <a:cs typeface="宋体"/>
                        </a:rPr>
                        <a:t>	</a:t>
                      </a:r>
                      <a:r>
                        <a:rPr dirty="0" sz="1800" spc="-50" b="1">
                          <a:solidFill>
                            <a:srgbClr val="E14B04"/>
                          </a:solidFill>
                          <a:latin typeface="宋体"/>
                          <a:cs typeface="宋体"/>
                        </a:rPr>
                        <a:t>储</a:t>
                      </a:r>
                      <a:r>
                        <a:rPr dirty="0" sz="1800" b="1">
                          <a:solidFill>
                            <a:srgbClr val="E14B04"/>
                          </a:solidFill>
                          <a:latin typeface="宋体"/>
                          <a:cs typeface="宋体"/>
                        </a:rPr>
                        <a:t>	</a:t>
                      </a:r>
                      <a:r>
                        <a:rPr dirty="0" sz="1800" spc="-50" b="1">
                          <a:solidFill>
                            <a:srgbClr val="E14B04"/>
                          </a:solidFill>
                          <a:latin typeface="宋体"/>
                          <a:cs typeface="宋体"/>
                        </a:rPr>
                        <a:t>体</a:t>
                      </a:r>
                      <a:endParaRPr sz="1800">
                        <a:latin typeface="宋体"/>
                        <a:cs typeface="宋体"/>
                      </a:endParaRPr>
                    </a:p>
                  </a:txBody>
                  <a:tcPr marL="0" marR="0" marB="0" marT="234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A7FFFF"/>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344170">
                <a:tc vMerge="1">
                  <a:txBody>
                    <a:bodyPr/>
                    <a:lstStyle/>
                    <a:p>
                      <a:pPr/>
                    </a:p>
                  </a:txBody>
                  <a:tcPr marL="0" marR="0" marB="0" marT="25272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A7FFFF"/>
                    </a:solidFill>
                  </a:tcPr>
                </a:tc>
                <a:tc gridSpan="3">
                  <a:txBody>
                    <a:bodyPr/>
                    <a:lstStyle/>
                    <a:p>
                      <a:pPr marL="777875">
                        <a:lnSpc>
                          <a:spcPct val="100000"/>
                        </a:lnSpc>
                        <a:spcBef>
                          <a:spcPts val="50"/>
                        </a:spcBef>
                        <a:tabLst>
                          <a:tab pos="1237615" algn="l"/>
                          <a:tab pos="1697989" algn="l"/>
                          <a:tab pos="2158365" algn="l"/>
                        </a:tabLst>
                      </a:pPr>
                      <a:r>
                        <a:rPr dirty="0" sz="1800" spc="-50" b="1">
                          <a:solidFill>
                            <a:srgbClr val="660066"/>
                          </a:solidFill>
                          <a:latin typeface="宋体"/>
                          <a:cs typeface="宋体"/>
                        </a:rPr>
                        <a:t>顺</a:t>
                      </a:r>
                      <a:r>
                        <a:rPr dirty="0" sz="1800" b="1">
                          <a:solidFill>
                            <a:srgbClr val="660066"/>
                          </a:solidFill>
                          <a:latin typeface="宋体"/>
                          <a:cs typeface="宋体"/>
                        </a:rPr>
                        <a:t>	</a:t>
                      </a:r>
                      <a:r>
                        <a:rPr dirty="0" sz="1800" spc="-50" b="1">
                          <a:solidFill>
                            <a:srgbClr val="660066"/>
                          </a:solidFill>
                          <a:latin typeface="宋体"/>
                          <a:cs typeface="宋体"/>
                        </a:rPr>
                        <a:t>序</a:t>
                      </a:r>
                      <a:r>
                        <a:rPr dirty="0" sz="1800" b="1">
                          <a:solidFill>
                            <a:srgbClr val="660066"/>
                          </a:solidFill>
                          <a:latin typeface="宋体"/>
                          <a:cs typeface="宋体"/>
                        </a:rPr>
                        <a:t>	</a:t>
                      </a:r>
                      <a:r>
                        <a:rPr dirty="0" sz="1800" spc="-50" b="1">
                          <a:solidFill>
                            <a:srgbClr val="660066"/>
                          </a:solidFill>
                          <a:latin typeface="宋体"/>
                          <a:cs typeface="宋体"/>
                        </a:rPr>
                        <a:t>交</a:t>
                      </a:r>
                      <a:r>
                        <a:rPr dirty="0" sz="1800" b="1">
                          <a:solidFill>
                            <a:srgbClr val="660066"/>
                          </a:solidFill>
                          <a:latin typeface="宋体"/>
                          <a:cs typeface="宋体"/>
                        </a:rPr>
                        <a:t>	</a:t>
                      </a:r>
                      <a:r>
                        <a:rPr dirty="0" sz="1800" spc="-50" b="1">
                          <a:solidFill>
                            <a:srgbClr val="660066"/>
                          </a:solidFill>
                          <a:latin typeface="宋体"/>
                          <a:cs typeface="宋体"/>
                        </a:rPr>
                        <a:t>叉</a:t>
                      </a:r>
                      <a:endParaRPr sz="1800">
                        <a:latin typeface="宋体"/>
                        <a:cs typeface="宋体"/>
                      </a:endParaRPr>
                    </a:p>
                  </a:txBody>
                  <a:tcPr marL="0" marR="0" marB="0" marT="635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A7FFFF"/>
                    </a:solidFill>
                  </a:tcPr>
                </a:tc>
                <a:tc hMerge="1">
                  <a:txBody>
                    <a:bodyPr/>
                    <a:lstStyle/>
                    <a:p>
                      <a:pPr/>
                    </a:p>
                  </a:txBody>
                  <a:tcPr marL="0" marR="0" marB="0" marT="0"/>
                </a:tc>
                <a:tc hMerge="1">
                  <a:txBody>
                    <a:bodyPr/>
                    <a:lstStyle/>
                    <a:p>
                      <a:pPr/>
                    </a:p>
                  </a:txBody>
                  <a:tcPr marL="0" marR="0" marB="0" marT="0"/>
                </a:tc>
                <a:tc gridSpan="3">
                  <a:txBody>
                    <a:bodyPr/>
                    <a:lstStyle/>
                    <a:p>
                      <a:pPr marL="838200">
                        <a:lnSpc>
                          <a:spcPct val="100000"/>
                        </a:lnSpc>
                        <a:spcBef>
                          <a:spcPts val="135"/>
                        </a:spcBef>
                        <a:tabLst>
                          <a:tab pos="1298575" algn="l"/>
                          <a:tab pos="1758314" algn="l"/>
                          <a:tab pos="2219325" algn="l"/>
                        </a:tabLst>
                      </a:pPr>
                      <a:r>
                        <a:rPr dirty="0" sz="1800" spc="-50" b="1">
                          <a:solidFill>
                            <a:srgbClr val="660066"/>
                          </a:solidFill>
                          <a:latin typeface="宋体"/>
                          <a:cs typeface="宋体"/>
                        </a:rPr>
                        <a:t>取</a:t>
                      </a:r>
                      <a:r>
                        <a:rPr dirty="0" sz="1800" b="1">
                          <a:solidFill>
                            <a:srgbClr val="660066"/>
                          </a:solidFill>
                          <a:latin typeface="宋体"/>
                          <a:cs typeface="宋体"/>
                        </a:rPr>
                        <a:t>	</a:t>
                      </a:r>
                      <a:r>
                        <a:rPr dirty="0" sz="1800" spc="-50" b="1">
                          <a:solidFill>
                            <a:srgbClr val="660066"/>
                          </a:solidFill>
                          <a:latin typeface="宋体"/>
                          <a:cs typeface="宋体"/>
                        </a:rPr>
                        <a:t>模</a:t>
                      </a:r>
                      <a:r>
                        <a:rPr dirty="0" sz="1800" b="1">
                          <a:solidFill>
                            <a:srgbClr val="660066"/>
                          </a:solidFill>
                          <a:latin typeface="宋体"/>
                          <a:cs typeface="宋体"/>
                        </a:rPr>
                        <a:t>	</a:t>
                      </a:r>
                      <a:r>
                        <a:rPr dirty="0" sz="1800" spc="-50" b="1">
                          <a:solidFill>
                            <a:srgbClr val="660066"/>
                          </a:solidFill>
                          <a:latin typeface="宋体"/>
                          <a:cs typeface="宋体"/>
                        </a:rPr>
                        <a:t>交</a:t>
                      </a:r>
                      <a:r>
                        <a:rPr dirty="0" sz="1800" b="1">
                          <a:solidFill>
                            <a:srgbClr val="660066"/>
                          </a:solidFill>
                          <a:latin typeface="宋体"/>
                          <a:cs typeface="宋体"/>
                        </a:rPr>
                        <a:t>	</a:t>
                      </a:r>
                      <a:r>
                        <a:rPr dirty="0" sz="1800" spc="-50" b="1">
                          <a:solidFill>
                            <a:srgbClr val="660066"/>
                          </a:solidFill>
                          <a:latin typeface="宋体"/>
                          <a:cs typeface="宋体"/>
                        </a:rPr>
                        <a:t>叉</a:t>
                      </a:r>
                      <a:endParaRPr sz="1800">
                        <a:latin typeface="宋体"/>
                        <a:cs typeface="宋体"/>
                      </a:endParaRPr>
                    </a:p>
                  </a:txBody>
                  <a:tcPr marL="0" marR="0" marB="0" marT="171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A7FFFF"/>
                    </a:solidFill>
                  </a:tcPr>
                </a:tc>
                <a:tc hMerge="1">
                  <a:txBody>
                    <a:bodyPr/>
                    <a:lstStyle/>
                    <a:p>
                      <a:pPr/>
                    </a:p>
                  </a:txBody>
                  <a:tcPr marL="0" marR="0" marB="0" marT="0"/>
                </a:tc>
                <a:tc hMerge="1">
                  <a:txBody>
                    <a:bodyPr/>
                    <a:lstStyle/>
                    <a:p>
                      <a:pPr/>
                    </a:p>
                  </a:txBody>
                  <a:tcPr marL="0" marR="0" marB="0" marT="0"/>
                </a:tc>
              </a:tr>
              <a:tr h="352425">
                <a:tc vMerge="1">
                  <a:txBody>
                    <a:bodyPr/>
                    <a:lstStyle/>
                    <a:p>
                      <a:pPr/>
                    </a:p>
                  </a:txBody>
                  <a:tcPr marL="0" marR="0" marB="0" marT="25272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A7FFFF"/>
                    </a:solidFill>
                  </a:tcPr>
                </a:tc>
                <a:tc>
                  <a:txBody>
                    <a:bodyPr/>
                    <a:lstStyle/>
                    <a:p>
                      <a:pPr marL="414020">
                        <a:lnSpc>
                          <a:spcPct val="100000"/>
                        </a:lnSpc>
                        <a:spcBef>
                          <a:spcPts val="315"/>
                        </a:spcBef>
                      </a:pPr>
                      <a:r>
                        <a:rPr dirty="0" sz="1800" spc="-50" b="1">
                          <a:solidFill>
                            <a:srgbClr val="000099"/>
                          </a:solidFill>
                          <a:latin typeface="Times New Roman"/>
                          <a:cs typeface="Times New Roman"/>
                        </a:rPr>
                        <a:t>0</a:t>
                      </a:r>
                      <a:endParaRPr sz="1800">
                        <a:latin typeface="Times New Roman"/>
                        <a:cs typeface="Times New Roman"/>
                      </a:endParaRPr>
                    </a:p>
                  </a:txBody>
                  <a:tcPr marL="0" marR="0" marB="0" marT="400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59055">
                        <a:lnSpc>
                          <a:spcPct val="100000"/>
                        </a:lnSpc>
                        <a:spcBef>
                          <a:spcPts val="315"/>
                        </a:spcBef>
                      </a:pPr>
                      <a:r>
                        <a:rPr dirty="0" sz="1800" spc="-50" b="1">
                          <a:solidFill>
                            <a:srgbClr val="000099"/>
                          </a:solidFill>
                          <a:latin typeface="Times New Roman"/>
                          <a:cs typeface="Times New Roman"/>
                        </a:rPr>
                        <a:t>1</a:t>
                      </a:r>
                      <a:endParaRPr sz="1800">
                        <a:latin typeface="Times New Roman"/>
                        <a:cs typeface="Times New Roman"/>
                      </a:endParaRPr>
                    </a:p>
                  </a:txBody>
                  <a:tcPr marL="0" marR="0" marB="0" marT="400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L="4445">
                        <a:lnSpc>
                          <a:spcPct val="100000"/>
                        </a:lnSpc>
                        <a:spcBef>
                          <a:spcPts val="315"/>
                        </a:spcBef>
                      </a:pPr>
                      <a:r>
                        <a:rPr dirty="0" sz="1800" spc="-50" b="1">
                          <a:solidFill>
                            <a:srgbClr val="000099"/>
                          </a:solidFill>
                          <a:latin typeface="Times New Roman"/>
                          <a:cs typeface="Times New Roman"/>
                        </a:rPr>
                        <a:t>2</a:t>
                      </a:r>
                      <a:endParaRPr sz="1800">
                        <a:latin typeface="Times New Roman"/>
                        <a:cs typeface="Times New Roman"/>
                      </a:endParaRPr>
                    </a:p>
                  </a:txBody>
                  <a:tcPr marL="0" marR="0" marB="0" marT="400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215"/>
                        </a:spcBef>
                      </a:pPr>
                      <a:r>
                        <a:rPr dirty="0" sz="1800" spc="-50" b="1">
                          <a:solidFill>
                            <a:srgbClr val="000099"/>
                          </a:solidFill>
                          <a:latin typeface="Times New Roman"/>
                          <a:cs typeface="Times New Roman"/>
                        </a:rPr>
                        <a:t>0</a:t>
                      </a:r>
                      <a:endParaRPr sz="1800">
                        <a:latin typeface="Times New Roman"/>
                        <a:cs typeface="Times New Roman"/>
                      </a:endParaRPr>
                    </a:p>
                  </a:txBody>
                  <a:tcPr marL="0" marR="0" marB="0" marT="273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93345">
                        <a:lnSpc>
                          <a:spcPct val="100000"/>
                        </a:lnSpc>
                        <a:spcBef>
                          <a:spcPts val="215"/>
                        </a:spcBef>
                      </a:pPr>
                      <a:r>
                        <a:rPr dirty="0" sz="1800" spc="-50" b="1">
                          <a:solidFill>
                            <a:srgbClr val="000099"/>
                          </a:solidFill>
                          <a:latin typeface="Times New Roman"/>
                          <a:cs typeface="Times New Roman"/>
                        </a:rPr>
                        <a:t>1</a:t>
                      </a:r>
                      <a:endParaRPr sz="1800">
                        <a:latin typeface="Times New Roman"/>
                        <a:cs typeface="Times New Roman"/>
                      </a:endParaRPr>
                    </a:p>
                  </a:txBody>
                  <a:tcPr marL="0" marR="0" marB="0" marT="273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6559">
                        <a:lnSpc>
                          <a:spcPct val="100000"/>
                        </a:lnSpc>
                        <a:spcBef>
                          <a:spcPts val="215"/>
                        </a:spcBef>
                      </a:pPr>
                      <a:r>
                        <a:rPr dirty="0" sz="1800" spc="-50" b="1">
                          <a:solidFill>
                            <a:srgbClr val="000099"/>
                          </a:solidFill>
                          <a:latin typeface="Times New Roman"/>
                          <a:cs typeface="Times New Roman"/>
                        </a:rPr>
                        <a:t>2</a:t>
                      </a:r>
                      <a:endParaRPr sz="1800">
                        <a:latin typeface="Times New Roman"/>
                        <a:cs typeface="Times New Roman"/>
                      </a:endParaRPr>
                    </a:p>
                  </a:txBody>
                  <a:tcPr marL="0" marR="0" marB="0" marT="273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57200">
                <a:tc>
                  <a:txBody>
                    <a:bodyPr/>
                    <a:lstStyle/>
                    <a:p>
                      <a:pPr algn="ctr" marR="11430">
                        <a:lnSpc>
                          <a:spcPct val="100000"/>
                        </a:lnSpc>
                        <a:spcBef>
                          <a:spcPts val="1015"/>
                        </a:spcBef>
                      </a:pPr>
                      <a:r>
                        <a:rPr dirty="0" sz="1800" spc="-50" b="1">
                          <a:solidFill>
                            <a:srgbClr val="660066"/>
                          </a:solidFill>
                          <a:latin typeface="Times New Roman"/>
                          <a:cs typeface="Times New Roman"/>
                        </a:rPr>
                        <a:t>0</a:t>
                      </a:r>
                      <a:endParaRPr sz="1800">
                        <a:latin typeface="Times New Roman"/>
                        <a:cs typeface="Times New Roman"/>
                      </a:endParaRPr>
                    </a:p>
                  </a:txBody>
                  <a:tcPr marL="0" marR="0" marB="0" marT="12890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414020">
                        <a:lnSpc>
                          <a:spcPct val="100000"/>
                        </a:lnSpc>
                        <a:spcBef>
                          <a:spcPts val="765"/>
                        </a:spcBef>
                      </a:pPr>
                      <a:r>
                        <a:rPr dirty="0" sz="1800" spc="-50" b="1">
                          <a:solidFill>
                            <a:srgbClr val="000099"/>
                          </a:solidFill>
                          <a:latin typeface="Times New Roman"/>
                          <a:cs typeface="Times New Roman"/>
                        </a:rPr>
                        <a:t>0</a:t>
                      </a:r>
                      <a:endParaRPr sz="1800">
                        <a:latin typeface="Times New Roman"/>
                        <a:cs typeface="Times New Roman"/>
                      </a:endParaRPr>
                    </a:p>
                  </a:txBody>
                  <a:tcPr marL="0" marR="0" marB="0" marT="9715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59055">
                        <a:lnSpc>
                          <a:spcPct val="100000"/>
                        </a:lnSpc>
                        <a:spcBef>
                          <a:spcPts val="765"/>
                        </a:spcBef>
                      </a:pPr>
                      <a:r>
                        <a:rPr dirty="0" sz="1800" spc="-50" b="1">
                          <a:solidFill>
                            <a:srgbClr val="000099"/>
                          </a:solidFill>
                          <a:latin typeface="Times New Roman"/>
                          <a:cs typeface="Times New Roman"/>
                        </a:rPr>
                        <a:t>1</a:t>
                      </a:r>
                      <a:endParaRPr sz="1800">
                        <a:latin typeface="Times New Roman"/>
                        <a:cs typeface="Times New Roman"/>
                      </a:endParaRPr>
                    </a:p>
                  </a:txBody>
                  <a:tcPr marL="0" marR="0" marB="0" marT="9715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L="4445">
                        <a:lnSpc>
                          <a:spcPct val="100000"/>
                        </a:lnSpc>
                        <a:spcBef>
                          <a:spcPts val="765"/>
                        </a:spcBef>
                      </a:pPr>
                      <a:r>
                        <a:rPr dirty="0" sz="1800" spc="-50" b="1">
                          <a:solidFill>
                            <a:srgbClr val="000099"/>
                          </a:solidFill>
                          <a:latin typeface="Times New Roman"/>
                          <a:cs typeface="Times New Roman"/>
                        </a:rPr>
                        <a:t>2</a:t>
                      </a:r>
                      <a:endParaRPr sz="1800">
                        <a:latin typeface="Times New Roman"/>
                        <a:cs typeface="Times New Roman"/>
                      </a:endParaRPr>
                    </a:p>
                  </a:txBody>
                  <a:tcPr marL="0" marR="0" marB="0" marT="9715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740"/>
                        </a:spcBef>
                      </a:pPr>
                      <a:r>
                        <a:rPr dirty="0" sz="1800" spc="-50" b="1">
                          <a:solidFill>
                            <a:srgbClr val="000099"/>
                          </a:solidFill>
                          <a:latin typeface="Times New Roman"/>
                          <a:cs typeface="Times New Roman"/>
                        </a:rPr>
                        <a:t>0</a:t>
                      </a:r>
                      <a:endParaRPr sz="1800">
                        <a:latin typeface="Times New Roman"/>
                        <a:cs typeface="Times New Roman"/>
                      </a:endParaRPr>
                    </a:p>
                  </a:txBody>
                  <a:tcPr marL="0" marR="0" marB="0" marT="939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93345">
                        <a:lnSpc>
                          <a:spcPct val="100000"/>
                        </a:lnSpc>
                        <a:spcBef>
                          <a:spcPts val="740"/>
                        </a:spcBef>
                      </a:pPr>
                      <a:r>
                        <a:rPr dirty="0" sz="1800" spc="-25" b="1">
                          <a:solidFill>
                            <a:srgbClr val="000099"/>
                          </a:solidFill>
                          <a:latin typeface="Times New Roman"/>
                          <a:cs typeface="Times New Roman"/>
                        </a:rPr>
                        <a:t>16</a:t>
                      </a:r>
                      <a:endParaRPr sz="1800">
                        <a:latin typeface="Times New Roman"/>
                        <a:cs typeface="Times New Roman"/>
                      </a:endParaRPr>
                    </a:p>
                  </a:txBody>
                  <a:tcPr marL="0" marR="0" marB="0" marT="939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740"/>
                        </a:spcBef>
                      </a:pPr>
                      <a:r>
                        <a:rPr dirty="0" sz="1800" spc="-50" b="1">
                          <a:solidFill>
                            <a:srgbClr val="000099"/>
                          </a:solidFill>
                          <a:latin typeface="Times New Roman"/>
                          <a:cs typeface="Times New Roman"/>
                        </a:rPr>
                        <a:t>8</a:t>
                      </a:r>
                      <a:endParaRPr sz="1800">
                        <a:latin typeface="Times New Roman"/>
                        <a:cs typeface="Times New Roman"/>
                      </a:endParaRPr>
                    </a:p>
                  </a:txBody>
                  <a:tcPr marL="0" marR="0" marB="0" marT="9398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92125">
                <a:tc>
                  <a:txBody>
                    <a:bodyPr/>
                    <a:lstStyle/>
                    <a:p>
                      <a:pPr algn="ctr">
                        <a:lnSpc>
                          <a:spcPct val="100000"/>
                        </a:lnSpc>
                        <a:spcBef>
                          <a:spcPts val="1290"/>
                        </a:spcBef>
                      </a:pPr>
                      <a:r>
                        <a:rPr dirty="0" sz="1800" spc="-50" b="1">
                          <a:solidFill>
                            <a:srgbClr val="660066"/>
                          </a:solidFill>
                          <a:latin typeface="Times New Roman"/>
                          <a:cs typeface="Times New Roman"/>
                        </a:rPr>
                        <a:t>1</a:t>
                      </a:r>
                      <a:endParaRPr sz="1800">
                        <a:latin typeface="Times New Roman"/>
                        <a:cs typeface="Times New Roman"/>
                      </a:endParaRPr>
                    </a:p>
                  </a:txBody>
                  <a:tcPr marL="0" marR="0" marB="0" marT="16383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414020">
                        <a:lnSpc>
                          <a:spcPct val="100000"/>
                        </a:lnSpc>
                        <a:spcBef>
                          <a:spcPts val="1020"/>
                        </a:spcBef>
                      </a:pPr>
                      <a:r>
                        <a:rPr dirty="0" sz="1800" spc="-50" b="1">
                          <a:solidFill>
                            <a:srgbClr val="000099"/>
                          </a:solidFill>
                          <a:latin typeface="Times New Roman"/>
                          <a:cs typeface="Times New Roman"/>
                        </a:rPr>
                        <a:t>3</a:t>
                      </a:r>
                      <a:endParaRPr sz="1800">
                        <a:latin typeface="Times New Roman"/>
                        <a:cs typeface="Times New Roman"/>
                      </a:endParaRPr>
                    </a:p>
                  </a:txBody>
                  <a:tcPr marL="0" marR="0" marB="0" marT="1295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59055">
                        <a:lnSpc>
                          <a:spcPct val="100000"/>
                        </a:lnSpc>
                        <a:spcBef>
                          <a:spcPts val="1020"/>
                        </a:spcBef>
                      </a:pPr>
                      <a:r>
                        <a:rPr dirty="0" sz="1800" spc="-50" b="1">
                          <a:solidFill>
                            <a:srgbClr val="000099"/>
                          </a:solidFill>
                          <a:latin typeface="Times New Roman"/>
                          <a:cs typeface="Times New Roman"/>
                        </a:rPr>
                        <a:t>4</a:t>
                      </a:r>
                      <a:endParaRPr sz="1800">
                        <a:latin typeface="Times New Roman"/>
                        <a:cs typeface="Times New Roman"/>
                      </a:endParaRPr>
                    </a:p>
                  </a:txBody>
                  <a:tcPr marL="0" marR="0" marB="0" marT="1295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L="4445">
                        <a:lnSpc>
                          <a:spcPct val="100000"/>
                        </a:lnSpc>
                        <a:spcBef>
                          <a:spcPts val="1020"/>
                        </a:spcBef>
                      </a:pPr>
                      <a:r>
                        <a:rPr dirty="0" sz="1800" spc="-50" b="1">
                          <a:solidFill>
                            <a:srgbClr val="000099"/>
                          </a:solidFill>
                          <a:latin typeface="Times New Roman"/>
                          <a:cs typeface="Times New Roman"/>
                        </a:rPr>
                        <a:t>5</a:t>
                      </a:r>
                      <a:endParaRPr sz="1800">
                        <a:latin typeface="Times New Roman"/>
                        <a:cs typeface="Times New Roman"/>
                      </a:endParaRPr>
                    </a:p>
                  </a:txBody>
                  <a:tcPr marL="0" marR="0" marB="0" marT="1295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22275">
                        <a:lnSpc>
                          <a:spcPct val="100000"/>
                        </a:lnSpc>
                        <a:spcBef>
                          <a:spcPts val="1020"/>
                        </a:spcBef>
                      </a:pPr>
                      <a:r>
                        <a:rPr dirty="0" sz="1800" spc="-50" b="1">
                          <a:solidFill>
                            <a:srgbClr val="000099"/>
                          </a:solidFill>
                          <a:latin typeface="Times New Roman"/>
                          <a:cs typeface="Times New Roman"/>
                        </a:rPr>
                        <a:t>9</a:t>
                      </a:r>
                      <a:endParaRPr sz="1800">
                        <a:latin typeface="Times New Roman"/>
                        <a:cs typeface="Times New Roman"/>
                      </a:endParaRPr>
                    </a:p>
                  </a:txBody>
                  <a:tcPr marL="0" marR="0" marB="0" marT="1295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85725">
                        <a:lnSpc>
                          <a:spcPct val="100000"/>
                        </a:lnSpc>
                        <a:spcBef>
                          <a:spcPts val="1020"/>
                        </a:spcBef>
                      </a:pPr>
                      <a:r>
                        <a:rPr dirty="0" sz="1800" spc="-50" b="1">
                          <a:solidFill>
                            <a:srgbClr val="000099"/>
                          </a:solidFill>
                          <a:latin typeface="Times New Roman"/>
                          <a:cs typeface="Times New Roman"/>
                        </a:rPr>
                        <a:t>1</a:t>
                      </a:r>
                      <a:endParaRPr sz="1800">
                        <a:latin typeface="Times New Roman"/>
                        <a:cs typeface="Times New Roman"/>
                      </a:endParaRPr>
                    </a:p>
                  </a:txBody>
                  <a:tcPr marL="0" marR="0" marB="0" marT="1295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363220">
                        <a:lnSpc>
                          <a:spcPct val="100000"/>
                        </a:lnSpc>
                        <a:spcBef>
                          <a:spcPts val="1020"/>
                        </a:spcBef>
                      </a:pPr>
                      <a:r>
                        <a:rPr dirty="0" sz="1800" spc="-25" b="1">
                          <a:solidFill>
                            <a:srgbClr val="000099"/>
                          </a:solidFill>
                          <a:latin typeface="Times New Roman"/>
                          <a:cs typeface="Times New Roman"/>
                        </a:rPr>
                        <a:t>17</a:t>
                      </a:r>
                      <a:endParaRPr sz="1800">
                        <a:latin typeface="Times New Roman"/>
                        <a:cs typeface="Times New Roman"/>
                      </a:endParaRPr>
                    </a:p>
                  </a:txBody>
                  <a:tcPr marL="0" marR="0" marB="0" marT="1295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533400">
                <a:tc>
                  <a:txBody>
                    <a:bodyPr/>
                    <a:lstStyle/>
                    <a:p>
                      <a:pPr algn="ctr">
                        <a:lnSpc>
                          <a:spcPct val="100000"/>
                        </a:lnSpc>
                        <a:spcBef>
                          <a:spcPts val="1480"/>
                        </a:spcBef>
                      </a:pPr>
                      <a:r>
                        <a:rPr dirty="0" sz="1800" spc="-50" b="1">
                          <a:solidFill>
                            <a:srgbClr val="660066"/>
                          </a:solidFill>
                          <a:latin typeface="Times New Roman"/>
                          <a:cs typeface="Times New Roman"/>
                        </a:rPr>
                        <a:t>2</a:t>
                      </a:r>
                      <a:endParaRPr sz="1800">
                        <a:latin typeface="Times New Roman"/>
                        <a:cs typeface="Times New Roman"/>
                      </a:endParaRPr>
                    </a:p>
                  </a:txBody>
                  <a:tcPr marL="0" marR="0" marB="0" marT="1879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414020">
                        <a:lnSpc>
                          <a:spcPct val="100000"/>
                        </a:lnSpc>
                        <a:spcBef>
                          <a:spcPts val="1345"/>
                        </a:spcBef>
                      </a:pPr>
                      <a:r>
                        <a:rPr dirty="0" sz="1800" spc="-50" b="1">
                          <a:solidFill>
                            <a:srgbClr val="000099"/>
                          </a:solidFill>
                          <a:latin typeface="Times New Roman"/>
                          <a:cs typeface="Times New Roman"/>
                        </a:rPr>
                        <a:t>6</a:t>
                      </a:r>
                      <a:endParaRPr sz="1800">
                        <a:latin typeface="Times New Roman"/>
                        <a:cs typeface="Times New Roman"/>
                      </a:endParaRPr>
                    </a:p>
                  </a:txBody>
                  <a:tcPr marL="0" marR="0" marB="0" marT="1708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59055">
                        <a:lnSpc>
                          <a:spcPct val="100000"/>
                        </a:lnSpc>
                        <a:spcBef>
                          <a:spcPts val="1345"/>
                        </a:spcBef>
                      </a:pPr>
                      <a:r>
                        <a:rPr dirty="0" sz="1800" spc="-50" b="1">
                          <a:solidFill>
                            <a:srgbClr val="000099"/>
                          </a:solidFill>
                          <a:latin typeface="Times New Roman"/>
                          <a:cs typeface="Times New Roman"/>
                        </a:rPr>
                        <a:t>7</a:t>
                      </a:r>
                      <a:endParaRPr sz="1800">
                        <a:latin typeface="Times New Roman"/>
                        <a:cs typeface="Times New Roman"/>
                      </a:endParaRPr>
                    </a:p>
                  </a:txBody>
                  <a:tcPr marL="0" marR="0" marB="0" marT="1708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L="4445">
                        <a:lnSpc>
                          <a:spcPct val="100000"/>
                        </a:lnSpc>
                        <a:spcBef>
                          <a:spcPts val="1345"/>
                        </a:spcBef>
                      </a:pPr>
                      <a:r>
                        <a:rPr dirty="0" sz="1800" spc="-50" b="1">
                          <a:solidFill>
                            <a:srgbClr val="000099"/>
                          </a:solidFill>
                          <a:latin typeface="Times New Roman"/>
                          <a:cs typeface="Times New Roman"/>
                        </a:rPr>
                        <a:t>8</a:t>
                      </a:r>
                      <a:endParaRPr sz="1800">
                        <a:latin typeface="Times New Roman"/>
                        <a:cs typeface="Times New Roman"/>
                      </a:endParaRPr>
                    </a:p>
                  </a:txBody>
                  <a:tcPr marL="0" marR="0" marB="0" marT="17081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1180"/>
                        </a:spcBef>
                      </a:pPr>
                      <a:r>
                        <a:rPr dirty="0" sz="1800" spc="-25" b="1">
                          <a:solidFill>
                            <a:srgbClr val="000099"/>
                          </a:solidFill>
                          <a:latin typeface="Times New Roman"/>
                          <a:cs typeface="Times New Roman"/>
                        </a:rPr>
                        <a:t>18</a:t>
                      </a:r>
                      <a:endParaRPr sz="1800">
                        <a:latin typeface="Times New Roman"/>
                        <a:cs typeface="Times New Roman"/>
                      </a:endParaRPr>
                    </a:p>
                  </a:txBody>
                  <a:tcPr marL="0" marR="0" marB="0" marT="1498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92075">
                        <a:lnSpc>
                          <a:spcPct val="100000"/>
                        </a:lnSpc>
                        <a:spcBef>
                          <a:spcPts val="1180"/>
                        </a:spcBef>
                      </a:pPr>
                      <a:r>
                        <a:rPr dirty="0" sz="1800" spc="-25" b="1">
                          <a:solidFill>
                            <a:srgbClr val="000099"/>
                          </a:solidFill>
                          <a:latin typeface="Times New Roman"/>
                          <a:cs typeface="Times New Roman"/>
                        </a:rPr>
                        <a:t>10</a:t>
                      </a:r>
                      <a:endParaRPr sz="1800">
                        <a:latin typeface="Times New Roman"/>
                        <a:cs typeface="Times New Roman"/>
                      </a:endParaRPr>
                    </a:p>
                  </a:txBody>
                  <a:tcPr marL="0" marR="0" marB="0" marT="1498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8465">
                        <a:lnSpc>
                          <a:spcPct val="100000"/>
                        </a:lnSpc>
                        <a:spcBef>
                          <a:spcPts val="1180"/>
                        </a:spcBef>
                      </a:pPr>
                      <a:r>
                        <a:rPr dirty="0" sz="1800" spc="-50" b="1">
                          <a:solidFill>
                            <a:srgbClr val="000099"/>
                          </a:solidFill>
                          <a:latin typeface="Times New Roman"/>
                          <a:cs typeface="Times New Roman"/>
                        </a:rPr>
                        <a:t>2</a:t>
                      </a:r>
                      <a:endParaRPr sz="1800">
                        <a:latin typeface="Times New Roman"/>
                        <a:cs typeface="Times New Roman"/>
                      </a:endParaRPr>
                    </a:p>
                  </a:txBody>
                  <a:tcPr marL="0" marR="0" marB="0" marT="1498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98475">
                <a:tc>
                  <a:txBody>
                    <a:bodyPr/>
                    <a:lstStyle/>
                    <a:p>
                      <a:pPr algn="ctr">
                        <a:lnSpc>
                          <a:spcPct val="100000"/>
                        </a:lnSpc>
                        <a:spcBef>
                          <a:spcPts val="1230"/>
                        </a:spcBef>
                      </a:pPr>
                      <a:r>
                        <a:rPr dirty="0" sz="1800" spc="-50" b="1">
                          <a:solidFill>
                            <a:srgbClr val="660066"/>
                          </a:solidFill>
                          <a:latin typeface="Times New Roman"/>
                          <a:cs typeface="Times New Roman"/>
                        </a:rPr>
                        <a:t>3</a:t>
                      </a:r>
                      <a:endParaRPr sz="1800">
                        <a:latin typeface="Times New Roman"/>
                        <a:cs typeface="Times New Roman"/>
                      </a:endParaRPr>
                    </a:p>
                  </a:txBody>
                  <a:tcPr marL="0" marR="0" marB="0" marT="1562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414020">
                        <a:lnSpc>
                          <a:spcPct val="100000"/>
                        </a:lnSpc>
                        <a:spcBef>
                          <a:spcPts val="880"/>
                        </a:spcBef>
                      </a:pPr>
                      <a:r>
                        <a:rPr dirty="0" sz="1800" spc="-50" b="1">
                          <a:solidFill>
                            <a:srgbClr val="000099"/>
                          </a:solidFill>
                          <a:latin typeface="Times New Roman"/>
                          <a:cs typeface="Times New Roman"/>
                        </a:rPr>
                        <a:t>9</a:t>
                      </a:r>
                      <a:endParaRPr sz="1800">
                        <a:latin typeface="Times New Roman"/>
                        <a:cs typeface="Times New Roman"/>
                      </a:endParaRPr>
                    </a:p>
                  </a:txBody>
                  <a:tcPr marL="0" marR="0" marB="0" marT="1117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57785">
                        <a:lnSpc>
                          <a:spcPct val="100000"/>
                        </a:lnSpc>
                        <a:spcBef>
                          <a:spcPts val="880"/>
                        </a:spcBef>
                      </a:pPr>
                      <a:r>
                        <a:rPr dirty="0" sz="1800" spc="-25" b="1">
                          <a:solidFill>
                            <a:srgbClr val="000099"/>
                          </a:solidFill>
                          <a:latin typeface="Times New Roman"/>
                          <a:cs typeface="Times New Roman"/>
                        </a:rPr>
                        <a:t>10</a:t>
                      </a:r>
                      <a:endParaRPr sz="1800">
                        <a:latin typeface="Times New Roman"/>
                        <a:cs typeface="Times New Roman"/>
                      </a:endParaRPr>
                    </a:p>
                  </a:txBody>
                  <a:tcPr marL="0" marR="0" marB="0" marT="1117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a:lnSpc>
                          <a:spcPct val="100000"/>
                        </a:lnSpc>
                        <a:spcBef>
                          <a:spcPts val="880"/>
                        </a:spcBef>
                      </a:pPr>
                      <a:r>
                        <a:rPr dirty="0" sz="1800" spc="-25" b="1">
                          <a:solidFill>
                            <a:srgbClr val="000099"/>
                          </a:solidFill>
                          <a:latin typeface="Times New Roman"/>
                          <a:cs typeface="Times New Roman"/>
                        </a:rPr>
                        <a:t>11</a:t>
                      </a:r>
                      <a:endParaRPr sz="1800">
                        <a:latin typeface="Times New Roman"/>
                        <a:cs typeface="Times New Roman"/>
                      </a:endParaRPr>
                    </a:p>
                  </a:txBody>
                  <a:tcPr marL="0" marR="0" marB="0" marT="11176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1230"/>
                        </a:spcBef>
                      </a:pPr>
                      <a:r>
                        <a:rPr dirty="0" sz="1800" spc="-50" b="1">
                          <a:solidFill>
                            <a:srgbClr val="000099"/>
                          </a:solidFill>
                          <a:latin typeface="Times New Roman"/>
                          <a:cs typeface="Times New Roman"/>
                        </a:rPr>
                        <a:t>3</a:t>
                      </a:r>
                      <a:endParaRPr sz="1800">
                        <a:latin typeface="Times New Roman"/>
                        <a:cs typeface="Times New Roman"/>
                      </a:endParaRPr>
                    </a:p>
                  </a:txBody>
                  <a:tcPr marL="0" marR="0" marB="0" marT="1562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93345">
                        <a:lnSpc>
                          <a:spcPct val="100000"/>
                        </a:lnSpc>
                        <a:spcBef>
                          <a:spcPts val="1230"/>
                        </a:spcBef>
                      </a:pPr>
                      <a:r>
                        <a:rPr dirty="0" sz="1800" spc="-25" b="1">
                          <a:solidFill>
                            <a:srgbClr val="000099"/>
                          </a:solidFill>
                          <a:latin typeface="Times New Roman"/>
                          <a:cs typeface="Times New Roman"/>
                        </a:rPr>
                        <a:t>19</a:t>
                      </a:r>
                      <a:endParaRPr sz="1800">
                        <a:latin typeface="Times New Roman"/>
                        <a:cs typeface="Times New Roman"/>
                      </a:endParaRPr>
                    </a:p>
                  </a:txBody>
                  <a:tcPr marL="0" marR="0" marB="0" marT="1562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359410">
                        <a:lnSpc>
                          <a:spcPct val="100000"/>
                        </a:lnSpc>
                        <a:spcBef>
                          <a:spcPts val="1230"/>
                        </a:spcBef>
                      </a:pPr>
                      <a:r>
                        <a:rPr dirty="0" sz="1800" spc="-25" b="1">
                          <a:solidFill>
                            <a:srgbClr val="000099"/>
                          </a:solidFill>
                          <a:latin typeface="Times New Roman"/>
                          <a:cs typeface="Times New Roman"/>
                        </a:rPr>
                        <a:t>11</a:t>
                      </a:r>
                      <a:endParaRPr sz="1800">
                        <a:latin typeface="Times New Roman"/>
                        <a:cs typeface="Times New Roman"/>
                      </a:endParaRPr>
                    </a:p>
                  </a:txBody>
                  <a:tcPr marL="0" marR="0" marB="0" marT="15621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74345">
                <a:tc>
                  <a:txBody>
                    <a:bodyPr/>
                    <a:lstStyle/>
                    <a:p>
                      <a:pPr algn="ctr">
                        <a:lnSpc>
                          <a:spcPct val="100000"/>
                        </a:lnSpc>
                        <a:spcBef>
                          <a:spcPts val="1155"/>
                        </a:spcBef>
                      </a:pPr>
                      <a:r>
                        <a:rPr dirty="0" sz="1800" spc="-50" b="1">
                          <a:solidFill>
                            <a:srgbClr val="660066"/>
                          </a:solidFill>
                          <a:latin typeface="Times New Roman"/>
                          <a:cs typeface="Times New Roman"/>
                        </a:rPr>
                        <a:t>4</a:t>
                      </a:r>
                      <a:endParaRPr sz="1800">
                        <a:latin typeface="Times New Roman"/>
                        <a:cs typeface="Times New Roman"/>
                      </a:endParaRPr>
                    </a:p>
                  </a:txBody>
                  <a:tcPr marL="0" marR="0" marB="0" marT="14668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389890">
                        <a:lnSpc>
                          <a:spcPct val="100000"/>
                        </a:lnSpc>
                        <a:spcBef>
                          <a:spcPts val="770"/>
                        </a:spcBef>
                      </a:pPr>
                      <a:r>
                        <a:rPr dirty="0" sz="1800" spc="-25" b="1">
                          <a:solidFill>
                            <a:srgbClr val="000099"/>
                          </a:solidFill>
                          <a:latin typeface="Times New Roman"/>
                          <a:cs typeface="Times New Roman"/>
                        </a:rPr>
                        <a:t>12</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a:lnSpc>
                          <a:spcPct val="100000"/>
                        </a:lnSpc>
                        <a:spcBef>
                          <a:spcPts val="770"/>
                        </a:spcBef>
                      </a:pPr>
                      <a:r>
                        <a:rPr dirty="0" sz="1800" spc="-25" b="1">
                          <a:solidFill>
                            <a:srgbClr val="000099"/>
                          </a:solidFill>
                          <a:latin typeface="Times New Roman"/>
                          <a:cs typeface="Times New Roman"/>
                        </a:rPr>
                        <a:t>13</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33020">
                        <a:lnSpc>
                          <a:spcPct val="100000"/>
                        </a:lnSpc>
                        <a:spcBef>
                          <a:spcPts val="770"/>
                        </a:spcBef>
                      </a:pPr>
                      <a:r>
                        <a:rPr dirty="0" sz="1800" spc="-25" b="1">
                          <a:solidFill>
                            <a:srgbClr val="000099"/>
                          </a:solidFill>
                          <a:latin typeface="Times New Roman"/>
                          <a:cs typeface="Times New Roman"/>
                        </a:rPr>
                        <a:t>14</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22275">
                        <a:lnSpc>
                          <a:spcPct val="100000"/>
                        </a:lnSpc>
                        <a:spcBef>
                          <a:spcPts val="1019"/>
                        </a:spcBef>
                      </a:pPr>
                      <a:r>
                        <a:rPr dirty="0" sz="1800" spc="-25" b="1">
                          <a:solidFill>
                            <a:srgbClr val="000099"/>
                          </a:solidFill>
                          <a:latin typeface="Times New Roman"/>
                          <a:cs typeface="Times New Roman"/>
                        </a:rPr>
                        <a:t>12</a:t>
                      </a:r>
                      <a:endParaRPr sz="1800">
                        <a:latin typeface="Times New Roman"/>
                        <a:cs typeface="Times New Roman"/>
                      </a:endParaRPr>
                    </a:p>
                  </a:txBody>
                  <a:tcPr marL="0" marR="0" marB="0" marT="12953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86360">
                        <a:lnSpc>
                          <a:spcPct val="100000"/>
                        </a:lnSpc>
                        <a:spcBef>
                          <a:spcPts val="1019"/>
                        </a:spcBef>
                      </a:pPr>
                      <a:r>
                        <a:rPr dirty="0" sz="1800" spc="-50" b="1">
                          <a:solidFill>
                            <a:srgbClr val="000099"/>
                          </a:solidFill>
                          <a:latin typeface="Times New Roman"/>
                          <a:cs typeface="Times New Roman"/>
                        </a:rPr>
                        <a:t>4</a:t>
                      </a:r>
                      <a:endParaRPr sz="1800">
                        <a:latin typeface="Times New Roman"/>
                        <a:cs typeface="Times New Roman"/>
                      </a:endParaRPr>
                    </a:p>
                  </a:txBody>
                  <a:tcPr marL="0" marR="0" marB="0" marT="12953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363220">
                        <a:lnSpc>
                          <a:spcPct val="100000"/>
                        </a:lnSpc>
                        <a:spcBef>
                          <a:spcPts val="1019"/>
                        </a:spcBef>
                      </a:pPr>
                      <a:r>
                        <a:rPr dirty="0" sz="1800" spc="-25" b="1">
                          <a:solidFill>
                            <a:srgbClr val="000099"/>
                          </a:solidFill>
                          <a:latin typeface="Times New Roman"/>
                          <a:cs typeface="Times New Roman"/>
                        </a:rPr>
                        <a:t>20</a:t>
                      </a:r>
                      <a:endParaRPr sz="1800">
                        <a:latin typeface="Times New Roman"/>
                        <a:cs typeface="Times New Roman"/>
                      </a:endParaRPr>
                    </a:p>
                  </a:txBody>
                  <a:tcPr marL="0" marR="0" marB="0" marT="129539">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63550">
                <a:tc>
                  <a:txBody>
                    <a:bodyPr/>
                    <a:lstStyle/>
                    <a:p>
                      <a:pPr algn="ctr">
                        <a:lnSpc>
                          <a:spcPct val="100000"/>
                        </a:lnSpc>
                        <a:spcBef>
                          <a:spcPts val="1210"/>
                        </a:spcBef>
                      </a:pPr>
                      <a:r>
                        <a:rPr dirty="0" sz="1800" spc="-50" b="1">
                          <a:solidFill>
                            <a:srgbClr val="660066"/>
                          </a:solidFill>
                          <a:latin typeface="Times New Roman"/>
                          <a:cs typeface="Times New Roman"/>
                        </a:rPr>
                        <a:t>5</a:t>
                      </a:r>
                      <a:endParaRPr sz="1800">
                        <a:latin typeface="Times New Roman"/>
                        <a:cs typeface="Times New Roman"/>
                      </a:endParaRPr>
                    </a:p>
                  </a:txBody>
                  <a:tcPr marL="0" marR="0" marB="0" marT="15367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389890">
                        <a:lnSpc>
                          <a:spcPct val="100000"/>
                        </a:lnSpc>
                        <a:spcBef>
                          <a:spcPts val="770"/>
                        </a:spcBef>
                      </a:pPr>
                      <a:r>
                        <a:rPr dirty="0" sz="1800" spc="-25" b="1">
                          <a:solidFill>
                            <a:srgbClr val="000099"/>
                          </a:solidFill>
                          <a:latin typeface="Times New Roman"/>
                          <a:cs typeface="Times New Roman"/>
                        </a:rPr>
                        <a:t>15</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L="3810">
                        <a:lnSpc>
                          <a:spcPct val="100000"/>
                        </a:lnSpc>
                        <a:spcBef>
                          <a:spcPts val="770"/>
                        </a:spcBef>
                      </a:pPr>
                      <a:r>
                        <a:rPr dirty="0" sz="1800" spc="-25" b="1">
                          <a:solidFill>
                            <a:srgbClr val="000099"/>
                          </a:solidFill>
                          <a:latin typeface="Times New Roman"/>
                          <a:cs typeface="Times New Roman"/>
                        </a:rPr>
                        <a:t>16</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26034">
                        <a:lnSpc>
                          <a:spcPct val="100000"/>
                        </a:lnSpc>
                        <a:spcBef>
                          <a:spcPts val="770"/>
                        </a:spcBef>
                      </a:pPr>
                      <a:r>
                        <a:rPr dirty="0" sz="1800" spc="-25" b="1">
                          <a:solidFill>
                            <a:srgbClr val="000099"/>
                          </a:solidFill>
                          <a:latin typeface="Times New Roman"/>
                          <a:cs typeface="Times New Roman"/>
                        </a:rPr>
                        <a:t>17</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22275">
                        <a:lnSpc>
                          <a:spcPct val="100000"/>
                        </a:lnSpc>
                        <a:spcBef>
                          <a:spcPts val="770"/>
                        </a:spcBef>
                      </a:pPr>
                      <a:r>
                        <a:rPr dirty="0" sz="1800" spc="-25" b="1">
                          <a:solidFill>
                            <a:srgbClr val="000099"/>
                          </a:solidFill>
                          <a:latin typeface="Times New Roman"/>
                          <a:cs typeface="Times New Roman"/>
                        </a:rPr>
                        <a:t>21</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81280">
                        <a:lnSpc>
                          <a:spcPct val="100000"/>
                        </a:lnSpc>
                        <a:spcBef>
                          <a:spcPts val="770"/>
                        </a:spcBef>
                      </a:pPr>
                      <a:r>
                        <a:rPr dirty="0" sz="1800" spc="-25" b="1">
                          <a:solidFill>
                            <a:srgbClr val="000099"/>
                          </a:solidFill>
                          <a:latin typeface="Times New Roman"/>
                          <a:cs typeface="Times New Roman"/>
                        </a:rPr>
                        <a:t>13</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24180">
                        <a:lnSpc>
                          <a:spcPct val="100000"/>
                        </a:lnSpc>
                        <a:spcBef>
                          <a:spcPts val="770"/>
                        </a:spcBef>
                      </a:pPr>
                      <a:r>
                        <a:rPr dirty="0" sz="1800" spc="-50" b="1">
                          <a:solidFill>
                            <a:srgbClr val="000099"/>
                          </a:solidFill>
                          <a:latin typeface="Times New Roman"/>
                          <a:cs typeface="Times New Roman"/>
                        </a:rPr>
                        <a:t>5</a:t>
                      </a:r>
                      <a:endParaRPr sz="1800">
                        <a:latin typeface="Times New Roman"/>
                        <a:cs typeface="Times New Roman"/>
                      </a:endParaRPr>
                    </a:p>
                  </a:txBody>
                  <a:tcPr marL="0" marR="0" marB="0" marT="9779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33070">
                <a:tc>
                  <a:txBody>
                    <a:bodyPr/>
                    <a:lstStyle/>
                    <a:p>
                      <a:pPr algn="ctr">
                        <a:lnSpc>
                          <a:spcPct val="100000"/>
                        </a:lnSpc>
                        <a:spcBef>
                          <a:spcPts val="695"/>
                        </a:spcBef>
                      </a:pPr>
                      <a:r>
                        <a:rPr dirty="0" sz="1800" spc="-50" b="1">
                          <a:solidFill>
                            <a:srgbClr val="660066"/>
                          </a:solidFill>
                          <a:latin typeface="Times New Roman"/>
                          <a:cs typeface="Times New Roman"/>
                        </a:rPr>
                        <a:t>6</a:t>
                      </a:r>
                      <a:endParaRPr sz="1800">
                        <a:latin typeface="Times New Roman"/>
                        <a:cs typeface="Times New Roman"/>
                      </a:endParaRPr>
                    </a:p>
                  </a:txBody>
                  <a:tcPr marL="0" marR="0" marB="0" marT="882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CCFFFF"/>
                    </a:solidFill>
                  </a:tcPr>
                </a:tc>
                <a:tc>
                  <a:txBody>
                    <a:bodyPr/>
                    <a:lstStyle/>
                    <a:p>
                      <a:pPr marL="389890">
                        <a:lnSpc>
                          <a:spcPct val="100000"/>
                        </a:lnSpc>
                        <a:spcBef>
                          <a:spcPts val="835"/>
                        </a:spcBef>
                      </a:pPr>
                      <a:r>
                        <a:rPr dirty="0" sz="1800" spc="-25" b="1">
                          <a:solidFill>
                            <a:srgbClr val="000099"/>
                          </a:solidFill>
                          <a:latin typeface="Times New Roman"/>
                          <a:cs typeface="Times New Roman"/>
                        </a:rPr>
                        <a:t>18</a:t>
                      </a:r>
                      <a:endParaRPr sz="1800">
                        <a:latin typeface="Times New Roman"/>
                        <a:cs typeface="Times New Roman"/>
                      </a:endParaRPr>
                    </a:p>
                  </a:txBody>
                  <a:tcPr marL="0" marR="0" marB="0" marT="1060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a:lnSpc>
                          <a:spcPct val="100000"/>
                        </a:lnSpc>
                        <a:spcBef>
                          <a:spcPts val="835"/>
                        </a:spcBef>
                      </a:pPr>
                      <a:r>
                        <a:rPr dirty="0" sz="1800" spc="-25" b="1">
                          <a:solidFill>
                            <a:srgbClr val="000099"/>
                          </a:solidFill>
                          <a:latin typeface="Times New Roman"/>
                          <a:cs typeface="Times New Roman"/>
                        </a:rPr>
                        <a:t>19</a:t>
                      </a:r>
                      <a:endParaRPr sz="1800">
                        <a:latin typeface="Times New Roman"/>
                        <a:cs typeface="Times New Roman"/>
                      </a:endParaRPr>
                    </a:p>
                  </a:txBody>
                  <a:tcPr marL="0" marR="0" marB="0" marT="1060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33020">
                        <a:lnSpc>
                          <a:spcPct val="100000"/>
                        </a:lnSpc>
                        <a:spcBef>
                          <a:spcPts val="835"/>
                        </a:spcBef>
                      </a:pPr>
                      <a:r>
                        <a:rPr dirty="0" sz="1800" spc="-25" b="1">
                          <a:solidFill>
                            <a:srgbClr val="000099"/>
                          </a:solidFill>
                          <a:latin typeface="Times New Roman"/>
                          <a:cs typeface="Times New Roman"/>
                        </a:rPr>
                        <a:t>20</a:t>
                      </a:r>
                      <a:endParaRPr sz="1800">
                        <a:latin typeface="Times New Roman"/>
                        <a:cs typeface="Times New Roman"/>
                      </a:endParaRPr>
                    </a:p>
                  </a:txBody>
                  <a:tcPr marL="0" marR="0" marB="0" marT="10604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695"/>
                        </a:spcBef>
                      </a:pPr>
                      <a:r>
                        <a:rPr dirty="0" sz="1800" spc="-50" b="1">
                          <a:solidFill>
                            <a:srgbClr val="000099"/>
                          </a:solidFill>
                          <a:latin typeface="Times New Roman"/>
                          <a:cs typeface="Times New Roman"/>
                        </a:rPr>
                        <a:t>6</a:t>
                      </a:r>
                      <a:endParaRPr sz="1800">
                        <a:latin typeface="Times New Roman"/>
                        <a:cs typeface="Times New Roman"/>
                      </a:endParaRPr>
                    </a:p>
                  </a:txBody>
                  <a:tcPr marL="0" marR="0" marB="0" marT="882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93980">
                        <a:lnSpc>
                          <a:spcPct val="100000"/>
                        </a:lnSpc>
                        <a:spcBef>
                          <a:spcPts val="695"/>
                        </a:spcBef>
                      </a:pPr>
                      <a:r>
                        <a:rPr dirty="0" sz="1800" spc="-25" b="1">
                          <a:solidFill>
                            <a:srgbClr val="000099"/>
                          </a:solidFill>
                          <a:latin typeface="Times New Roman"/>
                          <a:cs typeface="Times New Roman"/>
                        </a:rPr>
                        <a:t>22</a:t>
                      </a:r>
                      <a:endParaRPr sz="1800">
                        <a:latin typeface="Times New Roman"/>
                        <a:cs typeface="Times New Roman"/>
                      </a:endParaRPr>
                    </a:p>
                  </a:txBody>
                  <a:tcPr marL="0" marR="0" marB="0" marT="882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361315">
                        <a:lnSpc>
                          <a:spcPct val="100000"/>
                        </a:lnSpc>
                        <a:spcBef>
                          <a:spcPts val="695"/>
                        </a:spcBef>
                      </a:pPr>
                      <a:r>
                        <a:rPr dirty="0" sz="1800" spc="-25" b="1">
                          <a:solidFill>
                            <a:srgbClr val="000099"/>
                          </a:solidFill>
                          <a:latin typeface="Times New Roman"/>
                          <a:cs typeface="Times New Roman"/>
                        </a:rPr>
                        <a:t>14</a:t>
                      </a:r>
                      <a:endParaRPr sz="1800">
                        <a:latin typeface="Times New Roman"/>
                        <a:cs typeface="Times New Roman"/>
                      </a:endParaRPr>
                    </a:p>
                  </a:txBody>
                  <a:tcPr marL="0" marR="0" marB="0" marT="8826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r h="499745">
                <a:tc>
                  <a:txBody>
                    <a:bodyPr/>
                    <a:lstStyle/>
                    <a:p>
                      <a:pPr algn="ctr">
                        <a:lnSpc>
                          <a:spcPct val="100000"/>
                        </a:lnSpc>
                        <a:spcBef>
                          <a:spcPts val="310"/>
                        </a:spcBef>
                      </a:pPr>
                      <a:r>
                        <a:rPr dirty="0" sz="1800" spc="-50" b="1">
                          <a:solidFill>
                            <a:srgbClr val="660066"/>
                          </a:solidFill>
                          <a:latin typeface="Times New Roman"/>
                          <a:cs typeface="Times New Roman"/>
                        </a:rPr>
                        <a:t>7</a:t>
                      </a:r>
                      <a:endParaRPr sz="1800">
                        <a:latin typeface="Times New Roman"/>
                        <a:cs typeface="Times New Roman"/>
                      </a:endParaRPr>
                    </a:p>
                  </a:txBody>
                  <a:tcPr marL="0" marR="0" marB="0" marT="39370">
                    <a:lnL w="9525">
                      <a:solidFill>
                        <a:srgbClr val="40458B"/>
                      </a:solidFill>
                      <a:prstDash val="solid"/>
                    </a:lnL>
                    <a:lnR w="9525">
                      <a:solidFill>
                        <a:srgbClr val="40458B"/>
                      </a:solidFill>
                      <a:prstDash val="solid"/>
                    </a:lnR>
                    <a:lnT w="9525">
                      <a:solidFill>
                        <a:srgbClr val="40458B"/>
                      </a:solidFill>
                      <a:prstDash val="solid"/>
                    </a:lnT>
                    <a:lnB w="12700">
                      <a:solidFill>
                        <a:srgbClr val="40458B"/>
                      </a:solidFill>
                      <a:prstDash val="solid"/>
                    </a:lnB>
                    <a:solidFill>
                      <a:srgbClr val="CCFFFF"/>
                    </a:solidFill>
                  </a:tcPr>
                </a:tc>
                <a:tc>
                  <a:txBody>
                    <a:bodyPr/>
                    <a:lstStyle/>
                    <a:p>
                      <a:pPr marL="379095">
                        <a:lnSpc>
                          <a:spcPct val="100000"/>
                        </a:lnSpc>
                        <a:spcBef>
                          <a:spcPts val="720"/>
                        </a:spcBef>
                      </a:pPr>
                      <a:r>
                        <a:rPr dirty="0" sz="1800" spc="-25" b="1">
                          <a:solidFill>
                            <a:srgbClr val="000099"/>
                          </a:solidFill>
                          <a:latin typeface="Times New Roman"/>
                          <a:cs typeface="Times New Roman"/>
                        </a:rPr>
                        <a:t>21</a:t>
                      </a:r>
                      <a:endParaRPr sz="1800">
                        <a:latin typeface="Times New Roman"/>
                        <a:cs typeface="Times New Roman"/>
                      </a:endParaRPr>
                    </a:p>
                  </a:txBody>
                  <a:tcPr marL="0" marR="0" marB="0" marT="914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14604">
                        <a:lnSpc>
                          <a:spcPct val="100000"/>
                        </a:lnSpc>
                        <a:spcBef>
                          <a:spcPts val="720"/>
                        </a:spcBef>
                      </a:pPr>
                      <a:r>
                        <a:rPr dirty="0" sz="1800" spc="-25" b="1">
                          <a:solidFill>
                            <a:srgbClr val="000099"/>
                          </a:solidFill>
                          <a:latin typeface="Times New Roman"/>
                          <a:cs typeface="Times New Roman"/>
                        </a:rPr>
                        <a:t>22</a:t>
                      </a:r>
                      <a:endParaRPr sz="1800">
                        <a:latin typeface="Times New Roman"/>
                        <a:cs typeface="Times New Roman"/>
                      </a:endParaRPr>
                    </a:p>
                  </a:txBody>
                  <a:tcPr marL="0" marR="0" marB="0" marT="914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55244">
                        <a:lnSpc>
                          <a:spcPct val="100000"/>
                        </a:lnSpc>
                        <a:spcBef>
                          <a:spcPts val="720"/>
                        </a:spcBef>
                      </a:pPr>
                      <a:r>
                        <a:rPr dirty="0" sz="1800" spc="-25" b="1">
                          <a:solidFill>
                            <a:srgbClr val="000099"/>
                          </a:solidFill>
                          <a:latin typeface="Times New Roman"/>
                          <a:cs typeface="Times New Roman"/>
                        </a:rPr>
                        <a:t>23</a:t>
                      </a:r>
                      <a:endParaRPr sz="1800">
                        <a:latin typeface="Times New Roman"/>
                        <a:cs typeface="Times New Roman"/>
                      </a:endParaRPr>
                    </a:p>
                  </a:txBody>
                  <a:tcPr marL="0" marR="0" marB="0" marT="91440">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415925">
                        <a:lnSpc>
                          <a:spcPct val="100000"/>
                        </a:lnSpc>
                        <a:spcBef>
                          <a:spcPts val="885"/>
                        </a:spcBef>
                      </a:pPr>
                      <a:r>
                        <a:rPr dirty="0" sz="1800" spc="-25" b="1">
                          <a:solidFill>
                            <a:srgbClr val="000099"/>
                          </a:solidFill>
                          <a:latin typeface="Times New Roman"/>
                          <a:cs typeface="Times New Roman"/>
                        </a:rPr>
                        <a:t>15</a:t>
                      </a:r>
                      <a:endParaRPr sz="1800">
                        <a:latin typeface="Times New Roman"/>
                        <a:cs typeface="Times New Roman"/>
                      </a:endParaRPr>
                    </a:p>
                  </a:txBody>
                  <a:tcPr marL="0" marR="0" marB="0" marT="1123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algn="ctr" marR="93345">
                        <a:lnSpc>
                          <a:spcPct val="100000"/>
                        </a:lnSpc>
                        <a:spcBef>
                          <a:spcPts val="885"/>
                        </a:spcBef>
                      </a:pPr>
                      <a:r>
                        <a:rPr dirty="0" sz="1800" spc="-50" b="1">
                          <a:solidFill>
                            <a:srgbClr val="000099"/>
                          </a:solidFill>
                          <a:latin typeface="Times New Roman"/>
                          <a:cs typeface="Times New Roman"/>
                        </a:rPr>
                        <a:t>7</a:t>
                      </a:r>
                      <a:endParaRPr sz="1800">
                        <a:latin typeface="Times New Roman"/>
                        <a:cs typeface="Times New Roman"/>
                      </a:endParaRPr>
                    </a:p>
                  </a:txBody>
                  <a:tcPr marL="0" marR="0" marB="0" marT="1123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c>
                  <a:txBody>
                    <a:bodyPr/>
                    <a:lstStyle/>
                    <a:p>
                      <a:pPr marL="359410">
                        <a:lnSpc>
                          <a:spcPct val="100000"/>
                        </a:lnSpc>
                        <a:spcBef>
                          <a:spcPts val="885"/>
                        </a:spcBef>
                      </a:pPr>
                      <a:r>
                        <a:rPr dirty="0" sz="1800" spc="-25" b="1">
                          <a:solidFill>
                            <a:srgbClr val="000099"/>
                          </a:solidFill>
                          <a:latin typeface="Times New Roman"/>
                          <a:cs typeface="Times New Roman"/>
                        </a:rPr>
                        <a:t>23</a:t>
                      </a:r>
                      <a:endParaRPr sz="1800">
                        <a:latin typeface="Times New Roman"/>
                        <a:cs typeface="Times New Roman"/>
                      </a:endParaRPr>
                    </a:p>
                  </a:txBody>
                  <a:tcPr marL="0" marR="0" marB="0" marT="112395">
                    <a:lnL w="9525">
                      <a:solidFill>
                        <a:srgbClr val="40458B"/>
                      </a:solidFill>
                      <a:prstDash val="solid"/>
                    </a:lnL>
                    <a:lnR w="9525">
                      <a:solidFill>
                        <a:srgbClr val="40458B"/>
                      </a:solidFill>
                      <a:prstDash val="solid"/>
                    </a:lnR>
                    <a:lnT w="9525">
                      <a:solidFill>
                        <a:srgbClr val="40458B"/>
                      </a:solidFill>
                      <a:prstDash val="solid"/>
                    </a:lnT>
                    <a:lnB w="9525">
                      <a:solidFill>
                        <a:srgbClr val="40458B"/>
                      </a:solidFill>
                      <a:prstDash val="solid"/>
                    </a:lnB>
                    <a:solidFill>
                      <a:srgbClr val="FFCCFF"/>
                    </a:solidFill>
                  </a:tcPr>
                </a:tc>
              </a:tr>
            </a:tbl>
          </a:graphicData>
        </a:graphic>
      </p:graphicFrame>
      <p:sp>
        <p:nvSpPr>
          <p:cNvPr id="3" name="object 3"/>
          <p:cNvSpPr txBox="1">
            <a:spLocks noGrp="1"/>
          </p:cNvSpPr>
          <p:nvPr>
            <p:ph type="title"/>
          </p:nvPr>
        </p:nvSpPr>
        <p:spPr>
          <a:xfrm>
            <a:off x="4117975" y="647826"/>
            <a:ext cx="4120515" cy="330835"/>
          </a:xfrm>
          <a:prstGeom prst="rect"/>
        </p:spPr>
        <p:txBody>
          <a:bodyPr wrap="square" lIns="0" tIns="13335" rIns="0" bIns="0" rtlCol="0" vert="horz">
            <a:spAutoFit/>
          </a:bodyPr>
          <a:lstStyle/>
          <a:p>
            <a:pPr marL="12700">
              <a:lnSpc>
                <a:spcPct val="100000"/>
              </a:lnSpc>
              <a:spcBef>
                <a:spcPts val="105"/>
              </a:spcBef>
            </a:pPr>
            <a:r>
              <a:rPr dirty="0" u="none" sz="2000" spc="-20" b="1">
                <a:solidFill>
                  <a:srgbClr val="000000"/>
                </a:solidFill>
                <a:latin typeface="宋体"/>
                <a:cs typeface="宋体"/>
              </a:rPr>
              <a:t>顺序交叉和取模交叉的地址映象举例</a:t>
            </a:r>
            <a:endParaRPr sz="2000">
              <a:latin typeface="宋体"/>
              <a:cs typeface="宋体"/>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42391" y="583095"/>
            <a:ext cx="11887835" cy="5685790"/>
          </a:xfrm>
          <a:prstGeom prst="rect">
            <a:avLst/>
          </a:prstGeom>
        </p:spPr>
        <p:txBody>
          <a:bodyPr wrap="square" lIns="0" tIns="108585" rIns="0" bIns="0" rtlCol="0" vert="horz">
            <a:spAutoFit/>
          </a:bodyPr>
          <a:lstStyle/>
          <a:p>
            <a:pPr marL="1236345">
              <a:lnSpc>
                <a:spcPct val="100000"/>
              </a:lnSpc>
              <a:spcBef>
                <a:spcPts val="855"/>
              </a:spcBef>
            </a:pPr>
            <a:r>
              <a:rPr dirty="0" sz="2600">
                <a:solidFill>
                  <a:srgbClr val="0000CC"/>
                </a:solidFill>
                <a:latin typeface="黑体"/>
                <a:cs typeface="黑体"/>
              </a:rPr>
              <a:t>7.7.1</a:t>
            </a:r>
            <a:r>
              <a:rPr dirty="0" sz="2600" spc="-30">
                <a:solidFill>
                  <a:srgbClr val="0000CC"/>
                </a:solidFill>
                <a:latin typeface="黑体"/>
                <a:cs typeface="黑体"/>
              </a:rPr>
              <a:t> 虚拟存储器的基本原理</a:t>
            </a:r>
            <a:endParaRPr sz="2600">
              <a:latin typeface="黑体"/>
              <a:cs typeface="黑体"/>
            </a:endParaRPr>
          </a:p>
          <a:p>
            <a:pPr marL="12700" marR="284480">
              <a:lnSpc>
                <a:spcPct val="110000"/>
              </a:lnSpc>
              <a:spcBef>
                <a:spcPts val="409"/>
              </a:spcBef>
            </a:pPr>
            <a:r>
              <a:rPr dirty="0" sz="2400">
                <a:solidFill>
                  <a:srgbClr val="E14B04"/>
                </a:solidFill>
                <a:latin typeface="黑体"/>
                <a:cs typeface="黑体"/>
              </a:rPr>
              <a:t>虚拟存储器</a:t>
            </a:r>
            <a:r>
              <a:rPr dirty="0" sz="2400" spc="-5">
                <a:solidFill>
                  <a:srgbClr val="2C44A3"/>
                </a:solidFill>
                <a:latin typeface="黑体"/>
                <a:cs typeface="黑体"/>
              </a:rPr>
              <a:t>是一个容量很大的存储器的逻辑模型，不是实际的物理存储器。借助于磁盘等辅助存储器来扩大主存容量，使之为更大的更多的程序所使用。</a:t>
            </a:r>
            <a:endParaRPr sz="2400">
              <a:latin typeface="黑体"/>
              <a:cs typeface="黑体"/>
            </a:endParaRPr>
          </a:p>
          <a:p>
            <a:pPr marL="469900" marR="436245" indent="-457200">
              <a:lnSpc>
                <a:spcPct val="110000"/>
              </a:lnSpc>
              <a:spcBef>
                <a:spcPts val="575"/>
              </a:spcBef>
              <a:buClr>
                <a:srgbClr val="40458B"/>
              </a:buClr>
              <a:buFont typeface="Tahoma"/>
              <a:buAutoNum type="arabicPeriod"/>
              <a:tabLst>
                <a:tab pos="469900" algn="l"/>
              </a:tabLst>
            </a:pPr>
            <a:r>
              <a:rPr dirty="0" sz="2400">
                <a:solidFill>
                  <a:srgbClr val="E14B04"/>
                </a:solidFill>
                <a:latin typeface="黑体"/>
                <a:cs typeface="黑体"/>
              </a:rPr>
              <a:t>虚拟存储器</a:t>
            </a:r>
            <a:r>
              <a:rPr dirty="0" sz="2400">
                <a:solidFill>
                  <a:srgbClr val="2C44A3"/>
                </a:solidFill>
                <a:latin typeface="黑体"/>
                <a:cs typeface="黑体"/>
              </a:rPr>
              <a:t>是“主存</a:t>
            </a:r>
            <a:r>
              <a:rPr dirty="0" sz="2400">
                <a:solidFill>
                  <a:srgbClr val="2C44A3"/>
                </a:solidFill>
                <a:latin typeface="Times New Roman"/>
                <a:cs typeface="Times New Roman"/>
              </a:rPr>
              <a:t>—</a:t>
            </a:r>
            <a:r>
              <a:rPr dirty="0" sz="2400" spc="-5">
                <a:solidFill>
                  <a:srgbClr val="2C44A3"/>
                </a:solidFill>
                <a:latin typeface="黑体"/>
                <a:cs typeface="黑体"/>
              </a:rPr>
              <a:t>辅存”层次进一步发展的结果。以透明的方式为用户提供了一个比实际主存空间大得多的程序地址空间。</a:t>
            </a:r>
            <a:endParaRPr sz="2400">
              <a:latin typeface="黑体"/>
              <a:cs typeface="黑体"/>
            </a:endParaRPr>
          </a:p>
          <a:p>
            <a:pPr marL="12700">
              <a:lnSpc>
                <a:spcPct val="100000"/>
              </a:lnSpc>
              <a:spcBef>
                <a:spcPts val="865"/>
              </a:spcBef>
            </a:pPr>
            <a:r>
              <a:rPr dirty="0" sz="2400" spc="-10">
                <a:solidFill>
                  <a:srgbClr val="E14B04"/>
                </a:solidFill>
                <a:latin typeface="黑体"/>
                <a:cs typeface="黑体"/>
              </a:rPr>
              <a:t>虚拟存储器的特点：</a:t>
            </a:r>
            <a:endParaRPr sz="2400">
              <a:latin typeface="黑体"/>
              <a:cs typeface="黑体"/>
            </a:endParaRPr>
          </a:p>
          <a:p>
            <a:pPr lvl="1" marL="1099185" indent="-457200">
              <a:lnSpc>
                <a:spcPct val="100000"/>
              </a:lnSpc>
              <a:spcBef>
                <a:spcPts val="865"/>
              </a:spcBef>
              <a:buSzPct val="89583"/>
              <a:buFont typeface="Wingdings"/>
              <a:buChar char=""/>
              <a:tabLst>
                <a:tab pos="1099185" algn="l"/>
                <a:tab pos="5138420" algn="l"/>
              </a:tabLst>
            </a:pPr>
            <a:r>
              <a:rPr dirty="0" sz="2400">
                <a:solidFill>
                  <a:srgbClr val="40458B"/>
                </a:solidFill>
                <a:latin typeface="黑体"/>
                <a:cs typeface="黑体"/>
              </a:rPr>
              <a:t>多个进程可以共享主存空</a:t>
            </a:r>
            <a:r>
              <a:rPr dirty="0" sz="2400" spc="-50">
                <a:solidFill>
                  <a:srgbClr val="40458B"/>
                </a:solidFill>
                <a:latin typeface="黑体"/>
                <a:cs typeface="黑体"/>
              </a:rPr>
              <a:t>间</a:t>
            </a:r>
            <a:r>
              <a:rPr dirty="0" sz="2400">
                <a:solidFill>
                  <a:srgbClr val="40458B"/>
                </a:solidFill>
                <a:latin typeface="黑体"/>
                <a:cs typeface="黑体"/>
              </a:rPr>
              <a:t>	</a:t>
            </a:r>
            <a:r>
              <a:rPr dirty="0" sz="2400" spc="-50">
                <a:solidFill>
                  <a:srgbClr val="40458B"/>
                </a:solidFill>
                <a:latin typeface="黑体"/>
                <a:cs typeface="黑体"/>
              </a:rPr>
              <a:t>。</a:t>
            </a:r>
            <a:endParaRPr sz="2400">
              <a:latin typeface="黑体"/>
              <a:cs typeface="黑体"/>
            </a:endParaRPr>
          </a:p>
          <a:p>
            <a:pPr lvl="2" marL="1913255" indent="-457834">
              <a:lnSpc>
                <a:spcPct val="100000"/>
              </a:lnSpc>
              <a:spcBef>
                <a:spcPts val="775"/>
              </a:spcBef>
              <a:buClr>
                <a:srgbClr val="4668F5"/>
              </a:buClr>
              <a:buSzPct val="60000"/>
              <a:buFont typeface="Wingdings"/>
              <a:buChar char=""/>
              <a:tabLst>
                <a:tab pos="1913255" algn="l"/>
              </a:tabLst>
            </a:pPr>
            <a:r>
              <a:rPr dirty="0" sz="2000" spc="-15" b="1">
                <a:solidFill>
                  <a:srgbClr val="00AFEF"/>
                </a:solidFill>
                <a:latin typeface="宋体"/>
                <a:cs typeface="宋体"/>
              </a:rPr>
              <a:t>多个进程通过分时或同时使用</a:t>
            </a:r>
            <a:r>
              <a:rPr dirty="0" sz="2000" spc="-10" b="1">
                <a:solidFill>
                  <a:srgbClr val="00AFEF"/>
                </a:solidFill>
                <a:latin typeface="Tahoma"/>
                <a:cs typeface="Tahoma"/>
              </a:rPr>
              <a:t>CPU</a:t>
            </a:r>
            <a:r>
              <a:rPr dirty="0" sz="2000" spc="-25" b="1">
                <a:solidFill>
                  <a:srgbClr val="00AFEF"/>
                </a:solidFill>
                <a:latin typeface="宋体"/>
                <a:cs typeface="宋体"/>
              </a:rPr>
              <a:t>，通过虚拟存储器的管理，它可以自动完成。</a:t>
            </a:r>
            <a:endParaRPr sz="2000">
              <a:latin typeface="宋体"/>
              <a:cs typeface="宋体"/>
            </a:endParaRPr>
          </a:p>
          <a:p>
            <a:pPr lvl="1" marL="1099185" indent="-457200">
              <a:lnSpc>
                <a:spcPct val="100000"/>
              </a:lnSpc>
              <a:spcBef>
                <a:spcPts val="810"/>
              </a:spcBef>
              <a:buSzPct val="89583"/>
              <a:buFont typeface="Wingdings"/>
              <a:buChar char=""/>
              <a:tabLst>
                <a:tab pos="1099185" algn="l"/>
              </a:tabLst>
            </a:pPr>
            <a:r>
              <a:rPr dirty="0" sz="2400" spc="-5">
                <a:solidFill>
                  <a:srgbClr val="40458B"/>
                </a:solidFill>
                <a:latin typeface="黑体"/>
                <a:cs typeface="黑体"/>
              </a:rPr>
              <a:t>程序员不必做存储管理工作。</a:t>
            </a:r>
            <a:endParaRPr sz="2400">
              <a:latin typeface="黑体"/>
              <a:cs typeface="黑体"/>
            </a:endParaRPr>
          </a:p>
          <a:p>
            <a:pPr lvl="2" marL="1913255" indent="-457834">
              <a:lnSpc>
                <a:spcPct val="100000"/>
              </a:lnSpc>
              <a:spcBef>
                <a:spcPts val="775"/>
              </a:spcBef>
              <a:buClr>
                <a:srgbClr val="4668F5"/>
              </a:buClr>
              <a:buSzPct val="60000"/>
              <a:buFont typeface="Wingdings"/>
              <a:buChar char=""/>
              <a:tabLst>
                <a:tab pos="1913255" algn="l"/>
              </a:tabLst>
            </a:pPr>
            <a:r>
              <a:rPr dirty="0" sz="2000" spc="-25" b="1">
                <a:solidFill>
                  <a:srgbClr val="00AFEF"/>
                </a:solidFill>
                <a:latin typeface="宋体"/>
                <a:cs typeface="宋体"/>
              </a:rPr>
              <a:t>可以给每个程序一个虚拟的逻辑地址空间，不需要考虑物理内存有多少，放在什么位置，</a:t>
            </a:r>
            <a:endParaRPr sz="2000">
              <a:latin typeface="宋体"/>
              <a:cs typeface="宋体"/>
            </a:endParaRPr>
          </a:p>
          <a:p>
            <a:pPr marL="1913255">
              <a:lnSpc>
                <a:spcPct val="100000"/>
              </a:lnSpc>
              <a:spcBef>
                <a:spcPts val="240"/>
              </a:spcBef>
            </a:pPr>
            <a:r>
              <a:rPr dirty="0" sz="2000" spc="-15" b="1">
                <a:solidFill>
                  <a:srgbClr val="00AFEF"/>
                </a:solidFill>
                <a:latin typeface="宋体"/>
                <a:cs typeface="宋体"/>
              </a:rPr>
              <a:t>这大大减少了程序员的负担。</a:t>
            </a:r>
            <a:endParaRPr sz="2000">
              <a:latin typeface="宋体"/>
              <a:cs typeface="宋体"/>
            </a:endParaRPr>
          </a:p>
          <a:p>
            <a:pPr marL="1097915" indent="-271780">
              <a:lnSpc>
                <a:spcPct val="100000"/>
              </a:lnSpc>
              <a:spcBef>
                <a:spcPts val="810"/>
              </a:spcBef>
              <a:buSzPct val="89583"/>
              <a:buFont typeface="Wingdings"/>
              <a:buChar char=""/>
              <a:tabLst>
                <a:tab pos="1097915" algn="l"/>
              </a:tabLst>
            </a:pPr>
            <a:r>
              <a:rPr dirty="0" sz="2400">
                <a:solidFill>
                  <a:srgbClr val="40458B"/>
                </a:solidFill>
                <a:latin typeface="黑体"/>
                <a:cs typeface="黑体"/>
              </a:rPr>
              <a:t>采用动态在定位，简化了程序的装入（编程时的逻辑地址转化为物理地址</a:t>
            </a:r>
            <a:r>
              <a:rPr dirty="0" sz="2400" spc="-50">
                <a:solidFill>
                  <a:srgbClr val="40458B"/>
                </a:solidFill>
                <a:latin typeface="黑体"/>
                <a:cs typeface="黑体"/>
              </a:rPr>
              <a:t>）</a:t>
            </a:r>
            <a:endParaRPr sz="2400">
              <a:latin typeface="黑体"/>
              <a:cs typeface="黑体"/>
            </a:endParaRPr>
          </a:p>
          <a:p>
            <a:pPr lvl="1" marL="1913255" indent="-457834">
              <a:lnSpc>
                <a:spcPct val="100000"/>
              </a:lnSpc>
              <a:spcBef>
                <a:spcPts val="775"/>
              </a:spcBef>
              <a:buClr>
                <a:srgbClr val="4668F5"/>
              </a:buClr>
              <a:buSzPct val="60000"/>
              <a:buFont typeface="Wingdings"/>
              <a:buChar char=""/>
              <a:tabLst>
                <a:tab pos="1913255" algn="l"/>
              </a:tabLst>
            </a:pPr>
            <a:r>
              <a:rPr dirty="0" sz="2000" spc="-30" b="1">
                <a:solidFill>
                  <a:srgbClr val="00AFEF"/>
                </a:solidFill>
                <a:latin typeface="宋体"/>
                <a:cs typeface="宋体"/>
              </a:rPr>
              <a:t>从某一个位置开始，它有一个动态再定位过程，就是将虚拟地址转为为物理地址的过程</a:t>
            </a:r>
            <a:endParaRPr sz="2000">
              <a:latin typeface="宋体"/>
              <a:cs typeface="宋体"/>
            </a:endParaRPr>
          </a:p>
        </p:txBody>
      </p:sp>
      <p:sp>
        <p:nvSpPr>
          <p:cNvPr id="10" name="object 10"/>
          <p:cNvSpPr txBox="1">
            <a:spLocks noGrp="1"/>
          </p:cNvSpPr>
          <p:nvPr>
            <p:ph type="title"/>
          </p:nvPr>
        </p:nvSpPr>
        <p:spPr>
          <a:xfrm>
            <a:off x="1849882" y="44907"/>
            <a:ext cx="2514600" cy="452120"/>
          </a:xfrm>
          <a:prstGeom prst="rect"/>
        </p:spPr>
        <p:txBody>
          <a:bodyPr wrap="square" lIns="0" tIns="12065" rIns="0" bIns="0" rtlCol="0" vert="horz">
            <a:spAutoFit/>
          </a:bodyPr>
          <a:lstStyle/>
          <a:p>
            <a:pPr marL="12700">
              <a:lnSpc>
                <a:spcPct val="100000"/>
              </a:lnSpc>
              <a:spcBef>
                <a:spcPts val="95"/>
              </a:spcBef>
            </a:pPr>
            <a:r>
              <a:rPr dirty="0" u="none">
                <a:solidFill>
                  <a:srgbClr val="647AD3"/>
                </a:solidFill>
              </a:rPr>
              <a:t>7.7</a:t>
            </a:r>
            <a:r>
              <a:rPr dirty="0" u="none" spc="-40">
                <a:solidFill>
                  <a:srgbClr val="647AD3"/>
                </a:solidFill>
              </a:rPr>
              <a:t> 虚拟存储器</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159/170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342391" y="678637"/>
            <a:ext cx="11607800" cy="4873625"/>
          </a:xfrm>
          <a:prstGeom prst="rect">
            <a:avLst/>
          </a:prstGeom>
        </p:spPr>
        <p:txBody>
          <a:bodyPr wrap="square" lIns="0" tIns="13335" rIns="0" bIns="0" rtlCol="0" vert="horz">
            <a:spAutoFit/>
          </a:bodyPr>
          <a:lstStyle/>
          <a:p>
            <a:pPr marL="1236345">
              <a:lnSpc>
                <a:spcPct val="100000"/>
              </a:lnSpc>
              <a:spcBef>
                <a:spcPts val="105"/>
              </a:spcBef>
            </a:pPr>
            <a:r>
              <a:rPr dirty="0" sz="2600">
                <a:solidFill>
                  <a:srgbClr val="0000CC"/>
                </a:solidFill>
                <a:latin typeface="黑体"/>
                <a:cs typeface="黑体"/>
              </a:rPr>
              <a:t>7.7.1</a:t>
            </a:r>
            <a:r>
              <a:rPr dirty="0" sz="2600" spc="-30">
                <a:solidFill>
                  <a:srgbClr val="0000CC"/>
                </a:solidFill>
                <a:latin typeface="黑体"/>
                <a:cs typeface="黑体"/>
              </a:rPr>
              <a:t> 虚拟存储器的基本原理</a:t>
            </a:r>
            <a:endParaRPr sz="2600">
              <a:latin typeface="黑体"/>
              <a:cs typeface="黑体"/>
            </a:endParaRPr>
          </a:p>
          <a:p>
            <a:pPr>
              <a:lnSpc>
                <a:spcPct val="100000"/>
              </a:lnSpc>
              <a:spcBef>
                <a:spcPts val="365"/>
              </a:spcBef>
            </a:pPr>
            <a:endParaRPr sz="2600">
              <a:latin typeface="黑体"/>
              <a:cs typeface="黑体"/>
            </a:endParaRPr>
          </a:p>
          <a:p>
            <a:pPr marL="12700" marR="5080">
              <a:lnSpc>
                <a:spcPct val="110000"/>
              </a:lnSpc>
            </a:pPr>
            <a:r>
              <a:rPr dirty="0" sz="2400">
                <a:solidFill>
                  <a:srgbClr val="E14B04"/>
                </a:solidFill>
                <a:latin typeface="黑体"/>
                <a:cs typeface="黑体"/>
              </a:rPr>
              <a:t>虚拟存储器</a:t>
            </a:r>
            <a:r>
              <a:rPr dirty="0" sz="2400" spc="-5">
                <a:solidFill>
                  <a:srgbClr val="2C44A3"/>
                </a:solidFill>
                <a:latin typeface="黑体"/>
                <a:cs typeface="黑体"/>
              </a:rPr>
              <a:t>是一个容量很大的存储器的逻辑模型，不是实际的物理存储器。借助于磁盘等辅助存储器来扩大主存容量，使之为更大的更多的程序所使用。</a:t>
            </a:r>
            <a:endParaRPr sz="2400">
              <a:latin typeface="黑体"/>
              <a:cs typeface="黑体"/>
            </a:endParaRPr>
          </a:p>
          <a:p>
            <a:pPr>
              <a:lnSpc>
                <a:spcPct val="100000"/>
              </a:lnSpc>
              <a:spcBef>
                <a:spcPts val="1490"/>
              </a:spcBef>
            </a:pPr>
            <a:endParaRPr sz="2400">
              <a:latin typeface="黑体"/>
              <a:cs typeface="黑体"/>
            </a:endParaRPr>
          </a:p>
          <a:p>
            <a:pPr marL="12700">
              <a:lnSpc>
                <a:spcPct val="100000"/>
              </a:lnSpc>
            </a:pPr>
            <a:r>
              <a:rPr dirty="0" sz="2400">
                <a:solidFill>
                  <a:srgbClr val="E14B04"/>
                </a:solidFill>
                <a:latin typeface="黑体"/>
                <a:cs typeface="黑体"/>
              </a:rPr>
              <a:t>虚拟存储器可以分为两类：</a:t>
            </a:r>
            <a:r>
              <a:rPr dirty="0" sz="2400">
                <a:solidFill>
                  <a:srgbClr val="008000"/>
                </a:solidFill>
                <a:latin typeface="黑体"/>
                <a:cs typeface="黑体"/>
              </a:rPr>
              <a:t>页式</a:t>
            </a:r>
            <a:r>
              <a:rPr dirty="0" sz="2400">
                <a:solidFill>
                  <a:srgbClr val="E14B04"/>
                </a:solidFill>
                <a:latin typeface="黑体"/>
                <a:cs typeface="黑体"/>
              </a:rPr>
              <a:t>和</a:t>
            </a:r>
            <a:r>
              <a:rPr dirty="0" sz="2400" spc="-25">
                <a:solidFill>
                  <a:srgbClr val="008000"/>
                </a:solidFill>
                <a:latin typeface="黑体"/>
                <a:cs typeface="黑体"/>
              </a:rPr>
              <a:t>段式</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spc="-5">
                <a:solidFill>
                  <a:srgbClr val="40458B"/>
                </a:solidFill>
                <a:latin typeface="黑体"/>
                <a:cs typeface="黑体"/>
              </a:rPr>
              <a:t>页式虚拟存储器把空间划分为大小相同的块。</a:t>
            </a:r>
            <a:endParaRPr sz="2400">
              <a:latin typeface="黑体"/>
              <a:cs typeface="黑体"/>
            </a:endParaRPr>
          </a:p>
          <a:p>
            <a:pPr algn="ctr" marL="657225">
              <a:lnSpc>
                <a:spcPct val="100000"/>
              </a:lnSpc>
              <a:spcBef>
                <a:spcPts val="770"/>
              </a:spcBef>
            </a:pPr>
            <a:r>
              <a:rPr dirty="0" sz="2000" spc="-25" b="1">
                <a:solidFill>
                  <a:srgbClr val="00AFEF"/>
                </a:solidFill>
                <a:latin typeface="宋体"/>
                <a:cs typeface="宋体"/>
              </a:rPr>
              <a:t>(页面)</a:t>
            </a:r>
            <a:endParaRPr sz="2000">
              <a:latin typeface="宋体"/>
              <a:cs typeface="宋体"/>
            </a:endParaRPr>
          </a:p>
          <a:p>
            <a:pPr marL="1099185" indent="-457200">
              <a:lnSpc>
                <a:spcPct val="100000"/>
              </a:lnSpc>
              <a:spcBef>
                <a:spcPts val="815"/>
              </a:spcBef>
              <a:buSzPct val="89583"/>
              <a:buFont typeface="Wingdings"/>
              <a:buChar char=""/>
              <a:tabLst>
                <a:tab pos="1099185" algn="l"/>
              </a:tabLst>
            </a:pPr>
            <a:r>
              <a:rPr dirty="0" sz="2400" spc="-5">
                <a:solidFill>
                  <a:srgbClr val="40458B"/>
                </a:solidFill>
                <a:latin typeface="黑体"/>
                <a:cs typeface="黑体"/>
              </a:rPr>
              <a:t>段式虚拟存储器则把空间划分为可变长的块。</a:t>
            </a:r>
            <a:endParaRPr sz="2400">
              <a:latin typeface="黑体"/>
              <a:cs typeface="黑体"/>
            </a:endParaRPr>
          </a:p>
          <a:p>
            <a:pPr algn="ctr" marL="705485">
              <a:lnSpc>
                <a:spcPct val="100000"/>
              </a:lnSpc>
              <a:spcBef>
                <a:spcPts val="770"/>
              </a:spcBef>
            </a:pPr>
            <a:r>
              <a:rPr dirty="0" sz="2000" spc="-25" b="1">
                <a:solidFill>
                  <a:srgbClr val="00AFEF"/>
                </a:solidFill>
                <a:latin typeface="宋体"/>
                <a:cs typeface="宋体"/>
              </a:rPr>
              <a:t>(段)</a:t>
            </a:r>
            <a:endParaRPr sz="2000">
              <a:latin typeface="宋体"/>
              <a:cs typeface="宋体"/>
            </a:endParaRPr>
          </a:p>
          <a:p>
            <a:pPr marL="1099185" indent="-457200">
              <a:lnSpc>
                <a:spcPct val="100000"/>
              </a:lnSpc>
              <a:spcBef>
                <a:spcPts val="815"/>
              </a:spcBef>
              <a:buSzPct val="89583"/>
              <a:buFont typeface="Wingdings"/>
              <a:buChar char=""/>
              <a:tabLst>
                <a:tab pos="1099185" algn="l"/>
              </a:tabLst>
            </a:pPr>
            <a:r>
              <a:rPr dirty="0" sz="2400" spc="-15">
                <a:solidFill>
                  <a:srgbClr val="40458B"/>
                </a:solidFill>
                <a:latin typeface="黑体"/>
                <a:cs typeface="黑体"/>
              </a:rPr>
              <a:t>页面是对空间的机械划分，而段则往往是按程序的逻辑意义进行划分。</a:t>
            </a:r>
            <a:endParaRPr sz="2400">
              <a:latin typeface="黑体"/>
              <a:cs typeface="黑体"/>
            </a:endParaRPr>
          </a:p>
        </p:txBody>
      </p:sp>
      <p:sp>
        <p:nvSpPr>
          <p:cNvPr id="10" name="object 10"/>
          <p:cNvSpPr txBox="1">
            <a:spLocks noGrp="1"/>
          </p:cNvSpPr>
          <p:nvPr>
            <p:ph type="title"/>
          </p:nvPr>
        </p:nvSpPr>
        <p:spPr>
          <a:xfrm>
            <a:off x="1849882" y="44907"/>
            <a:ext cx="2514600" cy="452120"/>
          </a:xfrm>
          <a:prstGeom prst="rect"/>
        </p:spPr>
        <p:txBody>
          <a:bodyPr wrap="square" lIns="0" tIns="12065" rIns="0" bIns="0" rtlCol="0" vert="horz">
            <a:spAutoFit/>
          </a:bodyPr>
          <a:lstStyle/>
          <a:p>
            <a:pPr marL="12700">
              <a:lnSpc>
                <a:spcPct val="100000"/>
              </a:lnSpc>
              <a:spcBef>
                <a:spcPts val="95"/>
              </a:spcBef>
            </a:pPr>
            <a:r>
              <a:rPr dirty="0" u="none">
                <a:solidFill>
                  <a:srgbClr val="647AD3"/>
                </a:solidFill>
              </a:rPr>
              <a:t>7.7</a:t>
            </a:r>
            <a:r>
              <a:rPr dirty="0" u="none" spc="-40">
                <a:solidFill>
                  <a:srgbClr val="647AD3"/>
                </a:solidFill>
              </a:rPr>
              <a:t> 虚拟存储器</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17344" y="97028"/>
            <a:ext cx="2514600"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graphicFrame>
        <p:nvGraphicFramePr>
          <p:cNvPr id="10" name="object 10" descr=""/>
          <p:cNvGraphicFramePr>
            <a:graphicFrameLocks noGrp="1"/>
          </p:cNvGraphicFramePr>
          <p:nvPr/>
        </p:nvGraphicFramePr>
        <p:xfrm>
          <a:off x="1697101" y="1838325"/>
          <a:ext cx="8874125" cy="4175125"/>
        </p:xfrm>
        <a:graphic>
          <a:graphicData uri="http://schemas.openxmlformats.org/drawingml/2006/table">
            <a:tbl>
              <a:tblPr firstRow="1" bandRow="1">
                <a:tableStyleId>{2D5ABB26-0587-4C30-8999-92F81FD0307C}</a:tableStyleId>
              </a:tblPr>
              <a:tblGrid>
                <a:gridCol w="1584325"/>
                <a:gridCol w="3606800"/>
                <a:gridCol w="3594100"/>
              </a:tblGrid>
              <a:tr h="641350">
                <a:tc>
                  <a:txBody>
                    <a:bodyPr/>
                    <a:lstStyle/>
                    <a:p>
                      <a:pPr algn="ctr">
                        <a:lnSpc>
                          <a:spcPct val="100000"/>
                        </a:lnSpc>
                        <a:spcBef>
                          <a:spcPts val="1285"/>
                        </a:spcBef>
                      </a:pPr>
                      <a:r>
                        <a:rPr dirty="0" sz="2000" spc="-30" b="1">
                          <a:solidFill>
                            <a:srgbClr val="E14B04"/>
                          </a:solidFill>
                          <a:latin typeface="宋体"/>
                          <a:cs typeface="宋体"/>
                        </a:rPr>
                        <a:t>参数</a:t>
                      </a:r>
                      <a:endParaRPr sz="20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1285"/>
                        </a:spcBef>
                      </a:pPr>
                      <a:r>
                        <a:rPr dirty="0" sz="2000" spc="-10" b="1">
                          <a:solidFill>
                            <a:srgbClr val="E14B04"/>
                          </a:solidFill>
                          <a:latin typeface="宋体"/>
                          <a:cs typeface="宋体"/>
                        </a:rPr>
                        <a:t>第一级Cache</a:t>
                      </a:r>
                      <a:endParaRPr sz="20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1285"/>
                        </a:spcBef>
                      </a:pPr>
                      <a:r>
                        <a:rPr dirty="0" sz="2000" spc="-20" b="1">
                          <a:solidFill>
                            <a:srgbClr val="E14B04"/>
                          </a:solidFill>
                          <a:latin typeface="宋体"/>
                          <a:cs typeface="宋体"/>
                        </a:rPr>
                        <a:t>虚拟存储器</a:t>
                      </a:r>
                      <a:endParaRPr sz="2000">
                        <a:latin typeface="宋体"/>
                        <a:cs typeface="宋体"/>
                      </a:endParaRPr>
                    </a:p>
                  </a:txBody>
                  <a:tcPr marL="0" marR="0" marB="0" marT="163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11175">
                <a:tc>
                  <a:txBody>
                    <a:bodyPr/>
                    <a:lstStyle/>
                    <a:p>
                      <a:pPr algn="ctr">
                        <a:lnSpc>
                          <a:spcPct val="100000"/>
                        </a:lnSpc>
                        <a:spcBef>
                          <a:spcPts val="1015"/>
                        </a:spcBef>
                      </a:pPr>
                      <a:r>
                        <a:rPr dirty="0" sz="1600" spc="-30" b="1">
                          <a:solidFill>
                            <a:srgbClr val="D50092"/>
                          </a:solidFill>
                          <a:latin typeface="宋体"/>
                          <a:cs typeface="宋体"/>
                        </a:rPr>
                        <a:t>块（页）</a:t>
                      </a:r>
                      <a:r>
                        <a:rPr dirty="0" sz="1600" spc="-40" b="1">
                          <a:solidFill>
                            <a:srgbClr val="D50092"/>
                          </a:solidFill>
                          <a:latin typeface="宋体"/>
                          <a:cs typeface="宋体"/>
                        </a:rPr>
                        <a:t>大小</a:t>
                      </a:r>
                      <a:endParaRPr sz="1600">
                        <a:latin typeface="宋体"/>
                        <a:cs typeface="宋体"/>
                      </a:endParaRPr>
                    </a:p>
                  </a:txBody>
                  <a:tcPr marL="0" marR="0" marB="0" marT="1289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015"/>
                        </a:spcBef>
                      </a:pPr>
                      <a:r>
                        <a:rPr dirty="0" sz="1600" spc="-10" b="1">
                          <a:solidFill>
                            <a:srgbClr val="40458B"/>
                          </a:solidFill>
                          <a:latin typeface="宋体"/>
                          <a:cs typeface="宋体"/>
                        </a:rPr>
                        <a:t>16-128</a:t>
                      </a:r>
                      <a:r>
                        <a:rPr dirty="0" sz="1600" spc="-40" b="1">
                          <a:solidFill>
                            <a:srgbClr val="40458B"/>
                          </a:solidFill>
                          <a:latin typeface="宋体"/>
                          <a:cs typeface="宋体"/>
                        </a:rPr>
                        <a:t>字节</a:t>
                      </a:r>
                      <a:endParaRPr sz="1600">
                        <a:latin typeface="宋体"/>
                        <a:cs typeface="宋体"/>
                      </a:endParaRPr>
                    </a:p>
                  </a:txBody>
                  <a:tcPr marL="0" marR="0" marB="0" marT="1289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1015"/>
                        </a:spcBef>
                      </a:pPr>
                      <a:r>
                        <a:rPr dirty="0" sz="1600" spc="-10" b="1">
                          <a:solidFill>
                            <a:srgbClr val="40458B"/>
                          </a:solidFill>
                          <a:latin typeface="宋体"/>
                          <a:cs typeface="宋体"/>
                        </a:rPr>
                        <a:t>4096-65,536</a:t>
                      </a:r>
                      <a:r>
                        <a:rPr dirty="0" sz="1600" spc="-40" b="1">
                          <a:solidFill>
                            <a:srgbClr val="40458B"/>
                          </a:solidFill>
                          <a:latin typeface="宋体"/>
                          <a:cs typeface="宋体"/>
                        </a:rPr>
                        <a:t>字节</a:t>
                      </a:r>
                      <a:endParaRPr sz="1600">
                        <a:latin typeface="宋体"/>
                        <a:cs typeface="宋体"/>
                      </a:endParaRPr>
                    </a:p>
                  </a:txBody>
                  <a:tcPr marL="0" marR="0" marB="0" marT="1289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02920">
                <a:tc>
                  <a:txBody>
                    <a:bodyPr/>
                    <a:lstStyle/>
                    <a:p>
                      <a:pPr algn="ctr">
                        <a:lnSpc>
                          <a:spcPct val="100000"/>
                        </a:lnSpc>
                        <a:spcBef>
                          <a:spcPts val="985"/>
                        </a:spcBef>
                      </a:pPr>
                      <a:r>
                        <a:rPr dirty="0" sz="1600" spc="-35" b="1">
                          <a:solidFill>
                            <a:srgbClr val="D50092"/>
                          </a:solidFill>
                          <a:latin typeface="宋体"/>
                          <a:cs typeface="宋体"/>
                        </a:rPr>
                        <a:t>命中时间</a:t>
                      </a:r>
                      <a:endParaRPr sz="16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985"/>
                        </a:spcBef>
                      </a:pPr>
                      <a:r>
                        <a:rPr dirty="0" sz="1600" spc="-10" b="1">
                          <a:solidFill>
                            <a:srgbClr val="40458B"/>
                          </a:solidFill>
                          <a:latin typeface="宋体"/>
                          <a:cs typeface="宋体"/>
                        </a:rPr>
                        <a:t>1-3</a:t>
                      </a:r>
                      <a:r>
                        <a:rPr dirty="0" sz="1600" spc="-35" b="1">
                          <a:solidFill>
                            <a:srgbClr val="40458B"/>
                          </a:solidFill>
                          <a:latin typeface="宋体"/>
                          <a:cs typeface="宋体"/>
                        </a:rPr>
                        <a:t>个时钟周期</a:t>
                      </a:r>
                      <a:endParaRPr sz="16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985"/>
                        </a:spcBef>
                      </a:pPr>
                      <a:r>
                        <a:rPr dirty="0" sz="1600" spc="-10" b="1">
                          <a:solidFill>
                            <a:srgbClr val="40458B"/>
                          </a:solidFill>
                          <a:latin typeface="宋体"/>
                          <a:cs typeface="宋体"/>
                        </a:rPr>
                        <a:t>100-200</a:t>
                      </a:r>
                      <a:r>
                        <a:rPr dirty="0" sz="1600" spc="-40" b="1">
                          <a:solidFill>
                            <a:srgbClr val="40458B"/>
                          </a:solidFill>
                          <a:latin typeface="宋体"/>
                          <a:cs typeface="宋体"/>
                        </a:rPr>
                        <a:t>个时钟周期</a:t>
                      </a:r>
                      <a:endParaRPr sz="16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04825">
                <a:tc>
                  <a:txBody>
                    <a:bodyPr/>
                    <a:lstStyle/>
                    <a:p>
                      <a:pPr algn="ctr">
                        <a:lnSpc>
                          <a:spcPct val="100000"/>
                        </a:lnSpc>
                        <a:spcBef>
                          <a:spcPts val="990"/>
                        </a:spcBef>
                      </a:pPr>
                      <a:r>
                        <a:rPr dirty="0" sz="1600" spc="-30" b="1">
                          <a:solidFill>
                            <a:srgbClr val="D50092"/>
                          </a:solidFill>
                          <a:latin typeface="宋体"/>
                          <a:cs typeface="宋体"/>
                        </a:rPr>
                        <a:t>不命中开销</a:t>
                      </a:r>
                      <a:endParaRPr sz="16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990"/>
                        </a:spcBef>
                      </a:pPr>
                      <a:r>
                        <a:rPr dirty="0" sz="1600" spc="-10" b="1">
                          <a:solidFill>
                            <a:srgbClr val="40458B"/>
                          </a:solidFill>
                          <a:latin typeface="宋体"/>
                          <a:cs typeface="宋体"/>
                        </a:rPr>
                        <a:t>8-200</a:t>
                      </a:r>
                      <a:r>
                        <a:rPr dirty="0" sz="1600" spc="-30" b="1">
                          <a:solidFill>
                            <a:srgbClr val="40458B"/>
                          </a:solidFill>
                          <a:latin typeface="宋体"/>
                          <a:cs typeface="宋体"/>
                        </a:rPr>
                        <a:t>个时钟周期</a:t>
                      </a:r>
                      <a:endParaRPr sz="16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990"/>
                        </a:spcBef>
                      </a:pPr>
                      <a:r>
                        <a:rPr dirty="0" sz="1600" spc="-10" b="1">
                          <a:solidFill>
                            <a:srgbClr val="40458B"/>
                          </a:solidFill>
                          <a:latin typeface="宋体"/>
                          <a:cs typeface="宋体"/>
                        </a:rPr>
                        <a:t>1,000,000-10,000,000</a:t>
                      </a:r>
                      <a:r>
                        <a:rPr dirty="0" sz="1600" spc="-20" b="1">
                          <a:solidFill>
                            <a:srgbClr val="40458B"/>
                          </a:solidFill>
                          <a:latin typeface="宋体"/>
                          <a:cs typeface="宋体"/>
                        </a:rPr>
                        <a:t>个时钟周期</a:t>
                      </a:r>
                      <a:endParaRPr sz="16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02920">
                <a:tc>
                  <a:txBody>
                    <a:bodyPr/>
                    <a:lstStyle/>
                    <a:p>
                      <a:pPr algn="ctr">
                        <a:lnSpc>
                          <a:spcPct val="100000"/>
                        </a:lnSpc>
                        <a:spcBef>
                          <a:spcPts val="985"/>
                        </a:spcBef>
                      </a:pPr>
                      <a:r>
                        <a:rPr dirty="0" sz="1600" spc="-20" b="1">
                          <a:solidFill>
                            <a:srgbClr val="D50092"/>
                          </a:solidFill>
                          <a:latin typeface="宋体"/>
                          <a:cs typeface="宋体"/>
                        </a:rPr>
                        <a:t>（访问时间</a:t>
                      </a:r>
                      <a:r>
                        <a:rPr dirty="0" sz="1600" spc="-50" b="1">
                          <a:solidFill>
                            <a:srgbClr val="D50092"/>
                          </a:solidFill>
                          <a:latin typeface="宋体"/>
                          <a:cs typeface="宋体"/>
                        </a:rPr>
                        <a:t>）</a:t>
                      </a:r>
                      <a:endParaRPr sz="16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985"/>
                        </a:spcBef>
                      </a:pPr>
                      <a:r>
                        <a:rPr dirty="0" sz="1600" spc="-10" b="1">
                          <a:solidFill>
                            <a:srgbClr val="40458B"/>
                          </a:solidFill>
                          <a:latin typeface="宋体"/>
                          <a:cs typeface="宋体"/>
                        </a:rPr>
                        <a:t>（6-160</a:t>
                      </a:r>
                      <a:r>
                        <a:rPr dirty="0" sz="1600" spc="-20" b="1">
                          <a:solidFill>
                            <a:srgbClr val="40458B"/>
                          </a:solidFill>
                          <a:latin typeface="宋体"/>
                          <a:cs typeface="宋体"/>
                        </a:rPr>
                        <a:t>个时钟周期</a:t>
                      </a:r>
                      <a:r>
                        <a:rPr dirty="0" sz="1600" spc="-50" b="1">
                          <a:solidFill>
                            <a:srgbClr val="40458B"/>
                          </a:solidFill>
                          <a:latin typeface="宋体"/>
                          <a:cs typeface="宋体"/>
                        </a:rPr>
                        <a:t>）</a:t>
                      </a:r>
                      <a:endParaRPr sz="16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985"/>
                        </a:spcBef>
                      </a:pPr>
                      <a:r>
                        <a:rPr dirty="0" sz="1600" spc="-10" b="1">
                          <a:solidFill>
                            <a:srgbClr val="40458B"/>
                          </a:solidFill>
                          <a:latin typeface="宋体"/>
                          <a:cs typeface="宋体"/>
                        </a:rPr>
                        <a:t>（800,000-8,000,000</a:t>
                      </a:r>
                      <a:r>
                        <a:rPr dirty="0" sz="1600" spc="-20" b="1">
                          <a:solidFill>
                            <a:srgbClr val="40458B"/>
                          </a:solidFill>
                          <a:latin typeface="宋体"/>
                          <a:cs typeface="宋体"/>
                        </a:rPr>
                        <a:t>个时钟周期</a:t>
                      </a:r>
                      <a:r>
                        <a:rPr dirty="0" sz="1600" spc="-50" b="1">
                          <a:solidFill>
                            <a:srgbClr val="40458B"/>
                          </a:solidFill>
                          <a:latin typeface="宋体"/>
                          <a:cs typeface="宋体"/>
                        </a:rPr>
                        <a:t>）</a:t>
                      </a:r>
                      <a:endParaRPr sz="1600">
                        <a:latin typeface="宋体"/>
                        <a:cs typeface="宋体"/>
                      </a:endParaRPr>
                    </a:p>
                  </a:txBody>
                  <a:tcPr marL="0" marR="0" marB="0" marT="1250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04825">
                <a:tc>
                  <a:txBody>
                    <a:bodyPr/>
                    <a:lstStyle/>
                    <a:p>
                      <a:pPr algn="ctr">
                        <a:lnSpc>
                          <a:spcPct val="100000"/>
                        </a:lnSpc>
                        <a:spcBef>
                          <a:spcPts val="995"/>
                        </a:spcBef>
                      </a:pPr>
                      <a:r>
                        <a:rPr dirty="0" sz="1600" spc="-20" b="1">
                          <a:solidFill>
                            <a:srgbClr val="D50092"/>
                          </a:solidFill>
                          <a:latin typeface="宋体"/>
                          <a:cs typeface="宋体"/>
                        </a:rPr>
                        <a:t>（传输时间</a:t>
                      </a:r>
                      <a:r>
                        <a:rPr dirty="0" sz="1600" spc="-50" b="1">
                          <a:solidFill>
                            <a:srgbClr val="D50092"/>
                          </a:solidFill>
                          <a:latin typeface="宋体"/>
                          <a:cs typeface="宋体"/>
                        </a:rPr>
                        <a:t>）</a:t>
                      </a:r>
                      <a:endParaRPr sz="1600">
                        <a:latin typeface="宋体"/>
                        <a:cs typeface="宋体"/>
                      </a:endParaRPr>
                    </a:p>
                  </a:txBody>
                  <a:tcPr marL="0" marR="0" marB="0" marT="1263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995"/>
                        </a:spcBef>
                      </a:pPr>
                      <a:r>
                        <a:rPr dirty="0" sz="1600" spc="-10" b="1">
                          <a:solidFill>
                            <a:srgbClr val="40458B"/>
                          </a:solidFill>
                          <a:latin typeface="宋体"/>
                          <a:cs typeface="宋体"/>
                        </a:rPr>
                        <a:t>（2-40</a:t>
                      </a:r>
                      <a:r>
                        <a:rPr dirty="0" sz="1600" spc="-20" b="1">
                          <a:solidFill>
                            <a:srgbClr val="40458B"/>
                          </a:solidFill>
                          <a:latin typeface="宋体"/>
                          <a:cs typeface="宋体"/>
                        </a:rPr>
                        <a:t>个时钟周期</a:t>
                      </a:r>
                      <a:r>
                        <a:rPr dirty="0" sz="1600" spc="-50" b="1">
                          <a:solidFill>
                            <a:srgbClr val="40458B"/>
                          </a:solidFill>
                          <a:latin typeface="宋体"/>
                          <a:cs typeface="宋体"/>
                        </a:rPr>
                        <a:t>）</a:t>
                      </a:r>
                      <a:endParaRPr sz="1600">
                        <a:latin typeface="宋体"/>
                        <a:cs typeface="宋体"/>
                      </a:endParaRPr>
                    </a:p>
                  </a:txBody>
                  <a:tcPr marL="0" marR="0" marB="0" marT="1263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995"/>
                        </a:spcBef>
                      </a:pPr>
                      <a:r>
                        <a:rPr dirty="0" sz="1600" spc="-10" b="1">
                          <a:solidFill>
                            <a:srgbClr val="40458B"/>
                          </a:solidFill>
                          <a:latin typeface="宋体"/>
                          <a:cs typeface="宋体"/>
                        </a:rPr>
                        <a:t>（200,000-2,000,000</a:t>
                      </a:r>
                      <a:r>
                        <a:rPr dirty="0" sz="1600" spc="-20" b="1">
                          <a:solidFill>
                            <a:srgbClr val="40458B"/>
                          </a:solidFill>
                          <a:latin typeface="宋体"/>
                          <a:cs typeface="宋体"/>
                        </a:rPr>
                        <a:t>个时钟周期</a:t>
                      </a:r>
                      <a:r>
                        <a:rPr dirty="0" sz="1600" spc="-50" b="1">
                          <a:solidFill>
                            <a:srgbClr val="40458B"/>
                          </a:solidFill>
                          <a:latin typeface="宋体"/>
                          <a:cs typeface="宋体"/>
                        </a:rPr>
                        <a:t>）</a:t>
                      </a:r>
                      <a:endParaRPr sz="1600">
                        <a:latin typeface="宋体"/>
                        <a:cs typeface="宋体"/>
                      </a:endParaRPr>
                    </a:p>
                  </a:txBody>
                  <a:tcPr marL="0" marR="0" marB="0" marT="1263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02920">
                <a:tc>
                  <a:txBody>
                    <a:bodyPr/>
                    <a:lstStyle/>
                    <a:p>
                      <a:pPr algn="ctr">
                        <a:lnSpc>
                          <a:spcPct val="100000"/>
                        </a:lnSpc>
                        <a:spcBef>
                          <a:spcPts val="990"/>
                        </a:spcBef>
                      </a:pPr>
                      <a:r>
                        <a:rPr dirty="0" sz="1600" spc="-30" b="1">
                          <a:solidFill>
                            <a:srgbClr val="D50092"/>
                          </a:solidFill>
                          <a:latin typeface="宋体"/>
                          <a:cs typeface="宋体"/>
                        </a:rPr>
                        <a:t>不命中率</a:t>
                      </a:r>
                      <a:endParaRPr sz="16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990"/>
                        </a:spcBef>
                      </a:pPr>
                      <a:r>
                        <a:rPr dirty="0" sz="1600" spc="-10" b="1">
                          <a:solidFill>
                            <a:srgbClr val="40458B"/>
                          </a:solidFill>
                          <a:latin typeface="宋体"/>
                          <a:cs typeface="宋体"/>
                        </a:rPr>
                        <a:t>0.1-</a:t>
                      </a:r>
                      <a:r>
                        <a:rPr dirty="0" sz="1600" spc="-25" b="1">
                          <a:solidFill>
                            <a:srgbClr val="40458B"/>
                          </a:solidFill>
                          <a:latin typeface="宋体"/>
                          <a:cs typeface="宋体"/>
                        </a:rPr>
                        <a:t>10%</a:t>
                      </a:r>
                      <a:endParaRPr sz="16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90"/>
                        </a:spcBef>
                      </a:pPr>
                      <a:r>
                        <a:rPr dirty="0" sz="1600" spc="-10" b="1">
                          <a:solidFill>
                            <a:srgbClr val="40458B"/>
                          </a:solidFill>
                          <a:latin typeface="宋体"/>
                          <a:cs typeface="宋体"/>
                        </a:rPr>
                        <a:t>0.00001-0.001%</a:t>
                      </a:r>
                      <a:endParaRPr sz="1600">
                        <a:latin typeface="宋体"/>
                        <a:cs typeface="宋体"/>
                      </a:endParaRPr>
                    </a:p>
                  </a:txBody>
                  <a:tcPr marL="0" marR="0" marB="0" marT="1257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04190">
                <a:tc>
                  <a:txBody>
                    <a:bodyPr/>
                    <a:lstStyle/>
                    <a:p>
                      <a:pPr algn="ctr">
                        <a:lnSpc>
                          <a:spcPct val="100000"/>
                        </a:lnSpc>
                        <a:spcBef>
                          <a:spcPts val="994"/>
                        </a:spcBef>
                      </a:pPr>
                      <a:r>
                        <a:rPr dirty="0" sz="1600" spc="-30" b="1">
                          <a:solidFill>
                            <a:srgbClr val="D50092"/>
                          </a:solidFill>
                          <a:latin typeface="宋体"/>
                          <a:cs typeface="宋体"/>
                        </a:rPr>
                        <a:t>地址映象</a:t>
                      </a:r>
                      <a:endParaRPr sz="1600">
                        <a:latin typeface="宋体"/>
                        <a:cs typeface="宋体"/>
                      </a:endParaRPr>
                    </a:p>
                  </a:txBody>
                  <a:tcPr marL="0" marR="0" marB="0" marT="12636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994"/>
                        </a:spcBef>
                      </a:pPr>
                      <a:r>
                        <a:rPr dirty="0" sz="1600" spc="-10" b="1">
                          <a:solidFill>
                            <a:srgbClr val="40458B"/>
                          </a:solidFill>
                          <a:latin typeface="宋体"/>
                          <a:cs typeface="宋体"/>
                        </a:rPr>
                        <a:t>25-45</a:t>
                      </a:r>
                      <a:r>
                        <a:rPr dirty="0" sz="1600" spc="-20" b="1">
                          <a:solidFill>
                            <a:srgbClr val="40458B"/>
                          </a:solidFill>
                          <a:latin typeface="宋体"/>
                          <a:cs typeface="宋体"/>
                        </a:rPr>
                        <a:t>位物理地址到</a:t>
                      </a:r>
                      <a:r>
                        <a:rPr dirty="0" sz="1600" spc="-10" b="1">
                          <a:solidFill>
                            <a:srgbClr val="40458B"/>
                          </a:solidFill>
                          <a:latin typeface="宋体"/>
                          <a:cs typeface="宋体"/>
                        </a:rPr>
                        <a:t>14-20</a:t>
                      </a:r>
                      <a:r>
                        <a:rPr dirty="0" sz="1600" spc="-20" b="1">
                          <a:solidFill>
                            <a:srgbClr val="40458B"/>
                          </a:solidFill>
                          <a:latin typeface="宋体"/>
                          <a:cs typeface="宋体"/>
                        </a:rPr>
                        <a:t>位</a:t>
                      </a:r>
                      <a:r>
                        <a:rPr dirty="0" sz="1600" spc="-10" b="1">
                          <a:solidFill>
                            <a:srgbClr val="40458B"/>
                          </a:solidFill>
                          <a:latin typeface="宋体"/>
                          <a:cs typeface="宋体"/>
                        </a:rPr>
                        <a:t>Cache</a:t>
                      </a:r>
                      <a:r>
                        <a:rPr dirty="0" sz="1600" spc="-35" b="1">
                          <a:solidFill>
                            <a:srgbClr val="40458B"/>
                          </a:solidFill>
                          <a:latin typeface="宋体"/>
                          <a:cs typeface="宋体"/>
                        </a:rPr>
                        <a:t>地址</a:t>
                      </a:r>
                      <a:endParaRPr sz="1600">
                        <a:latin typeface="宋体"/>
                        <a:cs typeface="宋体"/>
                      </a:endParaRPr>
                    </a:p>
                  </a:txBody>
                  <a:tcPr marL="0" marR="0" marB="0" marT="12636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994"/>
                        </a:spcBef>
                      </a:pPr>
                      <a:r>
                        <a:rPr dirty="0" sz="1600" spc="-10" b="1">
                          <a:solidFill>
                            <a:srgbClr val="40458B"/>
                          </a:solidFill>
                          <a:latin typeface="宋体"/>
                          <a:cs typeface="宋体"/>
                        </a:rPr>
                        <a:t>32-64</a:t>
                      </a:r>
                      <a:r>
                        <a:rPr dirty="0" sz="1600" spc="-20" b="1">
                          <a:solidFill>
                            <a:srgbClr val="40458B"/>
                          </a:solidFill>
                          <a:latin typeface="宋体"/>
                          <a:cs typeface="宋体"/>
                        </a:rPr>
                        <a:t>位虚拟地址到</a:t>
                      </a:r>
                      <a:r>
                        <a:rPr dirty="0" sz="1600" spc="-10" b="1">
                          <a:solidFill>
                            <a:srgbClr val="40458B"/>
                          </a:solidFill>
                          <a:latin typeface="宋体"/>
                          <a:cs typeface="宋体"/>
                        </a:rPr>
                        <a:t>25-45</a:t>
                      </a:r>
                      <a:r>
                        <a:rPr dirty="0" sz="1600" spc="-30" b="1">
                          <a:solidFill>
                            <a:srgbClr val="40458B"/>
                          </a:solidFill>
                          <a:latin typeface="宋体"/>
                          <a:cs typeface="宋体"/>
                        </a:rPr>
                        <a:t>位物理地址</a:t>
                      </a:r>
                      <a:endParaRPr sz="1600">
                        <a:latin typeface="宋体"/>
                        <a:cs typeface="宋体"/>
                      </a:endParaRPr>
                    </a:p>
                  </a:txBody>
                  <a:tcPr marL="0" marR="0" marB="0" marT="12636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1" name="object 11" descr=""/>
          <p:cNvSpPr txBox="1"/>
          <p:nvPr/>
        </p:nvSpPr>
        <p:spPr>
          <a:xfrm>
            <a:off x="1998345" y="1223848"/>
            <a:ext cx="5054600" cy="39179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imes New Roman"/>
                <a:cs typeface="Times New Roman"/>
              </a:rPr>
              <a:t>3</a:t>
            </a:r>
            <a:r>
              <a:rPr dirty="0" sz="2400" spc="40">
                <a:solidFill>
                  <a:srgbClr val="40458B"/>
                </a:solidFill>
                <a:latin typeface="Times New Roman"/>
                <a:cs typeface="Times New Roman"/>
              </a:rPr>
              <a:t>. </a:t>
            </a:r>
            <a:r>
              <a:rPr dirty="0" sz="2400" spc="-10">
                <a:solidFill>
                  <a:srgbClr val="E14B04"/>
                </a:solidFill>
                <a:latin typeface="Times New Roman"/>
                <a:cs typeface="Times New Roman"/>
              </a:rPr>
              <a:t>Cache</a:t>
            </a:r>
            <a:r>
              <a:rPr dirty="0" sz="2400" spc="-15">
                <a:solidFill>
                  <a:srgbClr val="E14B04"/>
                </a:solidFill>
                <a:latin typeface="黑体"/>
                <a:cs typeface="黑体"/>
              </a:rPr>
              <a:t>和虚拟存储器的参数取值范围</a:t>
            </a:r>
            <a:endParaRPr sz="2400">
              <a:latin typeface="黑体"/>
              <a:cs typeface="黑体"/>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02967"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pic>
        <p:nvPicPr>
          <p:cNvPr id="10" name="object 10" descr=""/>
          <p:cNvPicPr/>
          <p:nvPr/>
        </p:nvPicPr>
        <p:blipFill>
          <a:blip r:embed="rId3" cstate="print"/>
          <a:stretch>
            <a:fillRect/>
          </a:stretch>
        </p:blipFill>
        <p:spPr>
          <a:xfrm>
            <a:off x="3141980" y="3822953"/>
            <a:ext cx="238124" cy="250825"/>
          </a:xfrm>
          <a:prstGeom prst="rect">
            <a:avLst/>
          </a:prstGeom>
        </p:spPr>
      </p:pic>
      <p:sp>
        <p:nvSpPr>
          <p:cNvPr id="11" name="object 11" descr=""/>
          <p:cNvSpPr txBox="1"/>
          <p:nvPr/>
        </p:nvSpPr>
        <p:spPr>
          <a:xfrm>
            <a:off x="1116279" y="750570"/>
            <a:ext cx="4700905" cy="3378200"/>
          </a:xfrm>
          <a:prstGeom prst="rect">
            <a:avLst/>
          </a:prstGeom>
        </p:spPr>
        <p:txBody>
          <a:bodyPr wrap="square" lIns="0" tIns="13335" rIns="0" bIns="0" rtlCol="0" vert="horz">
            <a:spAutoFit/>
          </a:bodyPr>
          <a:lstStyle/>
          <a:p>
            <a:pPr marL="534035">
              <a:lnSpc>
                <a:spcPct val="100000"/>
              </a:lnSpc>
              <a:spcBef>
                <a:spcPts val="105"/>
              </a:spcBef>
            </a:pPr>
            <a:r>
              <a:rPr dirty="0" sz="2600">
                <a:solidFill>
                  <a:srgbClr val="0000CC"/>
                </a:solidFill>
                <a:latin typeface="黑体"/>
                <a:cs typeface="黑体"/>
              </a:rPr>
              <a:t>7.7.2</a:t>
            </a:r>
            <a:r>
              <a:rPr dirty="0" sz="2600" spc="-15">
                <a:solidFill>
                  <a:srgbClr val="0000CC"/>
                </a:solidFill>
                <a:latin typeface="黑体"/>
                <a:cs typeface="黑体"/>
              </a:rPr>
              <a:t> 快速地址转换技术</a:t>
            </a:r>
            <a:endParaRPr sz="2600">
              <a:latin typeface="黑体"/>
              <a:cs typeface="黑体"/>
            </a:endParaRPr>
          </a:p>
          <a:p>
            <a:pPr marL="12700">
              <a:lnSpc>
                <a:spcPct val="100000"/>
              </a:lnSpc>
              <a:spcBef>
                <a:spcPts val="3170"/>
              </a:spcBef>
            </a:pPr>
            <a:r>
              <a:rPr dirty="0" sz="3200" spc="-15">
                <a:solidFill>
                  <a:srgbClr val="FF5CFF"/>
                </a:solidFill>
                <a:latin typeface="黑体"/>
                <a:cs typeface="黑体"/>
              </a:rPr>
              <a:t>有关虚拟存储器的</a:t>
            </a:r>
            <a:r>
              <a:rPr dirty="0" sz="3200" spc="-10">
                <a:solidFill>
                  <a:srgbClr val="FF5CFF"/>
                </a:solidFill>
                <a:latin typeface="黑体"/>
                <a:cs typeface="黑体"/>
              </a:rPr>
              <a:t>4</a:t>
            </a:r>
            <a:r>
              <a:rPr dirty="0" sz="3200" spc="-25">
                <a:solidFill>
                  <a:srgbClr val="FF5CFF"/>
                </a:solidFill>
                <a:latin typeface="黑体"/>
                <a:cs typeface="黑体"/>
              </a:rPr>
              <a:t>个问题</a:t>
            </a:r>
            <a:endParaRPr sz="3200">
              <a:latin typeface="黑体"/>
              <a:cs typeface="黑体"/>
            </a:endParaRPr>
          </a:p>
          <a:p>
            <a:pPr marL="469265" indent="-456565">
              <a:lnSpc>
                <a:spcPct val="100000"/>
              </a:lnSpc>
              <a:spcBef>
                <a:spcPts val="1280"/>
              </a:spcBef>
              <a:buSzPct val="89583"/>
              <a:buFont typeface="Wingdings"/>
              <a:buChar char=""/>
              <a:tabLst>
                <a:tab pos="469265" algn="l"/>
              </a:tabLst>
            </a:pPr>
            <a:r>
              <a:rPr dirty="0" sz="2400" spc="-10">
                <a:solidFill>
                  <a:srgbClr val="40458B"/>
                </a:solidFill>
                <a:latin typeface="黑体"/>
                <a:cs typeface="黑体"/>
              </a:rPr>
              <a:t>映像规则：全相联</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Lst>
            </a:pPr>
            <a:r>
              <a:rPr dirty="0" sz="2400">
                <a:solidFill>
                  <a:srgbClr val="E14B04"/>
                </a:solidFill>
                <a:latin typeface="黑体"/>
                <a:cs typeface="黑体"/>
              </a:rPr>
              <a:t>查找算法：页表，段表</a:t>
            </a:r>
            <a:r>
              <a:rPr dirty="0" sz="2400" spc="-20">
                <a:solidFill>
                  <a:srgbClr val="E14B04"/>
                </a:solidFill>
                <a:latin typeface="黑体"/>
                <a:cs typeface="黑体"/>
              </a:rPr>
              <a:t>，TLB</a:t>
            </a:r>
            <a:endParaRPr sz="2400">
              <a:latin typeface="黑体"/>
              <a:cs typeface="黑体"/>
            </a:endParaRPr>
          </a:p>
          <a:p>
            <a:pPr marL="469265" indent="-456565">
              <a:lnSpc>
                <a:spcPct val="100000"/>
              </a:lnSpc>
              <a:spcBef>
                <a:spcPts val="1150"/>
              </a:spcBef>
              <a:buClr>
                <a:srgbClr val="40458B"/>
              </a:buClr>
              <a:buSzPct val="89583"/>
              <a:buFont typeface="Wingdings"/>
              <a:buChar char=""/>
              <a:tabLst>
                <a:tab pos="469265" algn="l"/>
              </a:tabLst>
            </a:pPr>
            <a:r>
              <a:rPr dirty="0" sz="2400" spc="-10">
                <a:solidFill>
                  <a:srgbClr val="E14B04"/>
                </a:solidFill>
                <a:latin typeface="黑体"/>
                <a:cs typeface="黑体"/>
              </a:rPr>
              <a:t>替换算法</a:t>
            </a:r>
            <a:r>
              <a:rPr dirty="0" sz="2400" spc="-20">
                <a:solidFill>
                  <a:srgbClr val="E14B04"/>
                </a:solidFill>
                <a:latin typeface="黑体"/>
                <a:cs typeface="黑体"/>
              </a:rPr>
              <a:t>：LRU</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 pos="2298065" algn="l"/>
              </a:tabLst>
            </a:pPr>
            <a:r>
              <a:rPr dirty="0" sz="2400">
                <a:solidFill>
                  <a:srgbClr val="E14B04"/>
                </a:solidFill>
                <a:latin typeface="黑体"/>
                <a:cs typeface="黑体"/>
              </a:rPr>
              <a:t>写策略：</a:t>
            </a:r>
            <a:r>
              <a:rPr dirty="0" sz="2400" spc="-50">
                <a:solidFill>
                  <a:srgbClr val="E14B04"/>
                </a:solidFill>
                <a:latin typeface="黑体"/>
                <a:cs typeface="黑体"/>
              </a:rPr>
              <a:t>写</a:t>
            </a:r>
            <a:r>
              <a:rPr dirty="0" sz="2400">
                <a:solidFill>
                  <a:srgbClr val="E14B04"/>
                </a:solidFill>
                <a:latin typeface="黑体"/>
                <a:cs typeface="黑体"/>
              </a:rPr>
              <a:t>	</a:t>
            </a:r>
            <a:r>
              <a:rPr dirty="0" sz="2400" spc="-50">
                <a:solidFill>
                  <a:srgbClr val="E14B04"/>
                </a:solidFill>
                <a:latin typeface="黑体"/>
                <a:cs typeface="黑体"/>
              </a:rPr>
              <a:t>法</a:t>
            </a:r>
            <a:endParaRPr sz="2400">
              <a:latin typeface="黑体"/>
              <a:cs typeface="黑体"/>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02967"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1637792" y="750570"/>
            <a:ext cx="3660775" cy="422275"/>
          </a:xfrm>
          <a:prstGeom prst="rect">
            <a:avLst/>
          </a:prstGeom>
        </p:spPr>
        <p:txBody>
          <a:bodyPr wrap="square" lIns="0" tIns="13335" rIns="0" bIns="0" rtlCol="0" vert="horz">
            <a:spAutoFit/>
          </a:bodyPr>
          <a:lstStyle/>
          <a:p>
            <a:pPr marL="12700">
              <a:lnSpc>
                <a:spcPct val="100000"/>
              </a:lnSpc>
              <a:spcBef>
                <a:spcPts val="105"/>
              </a:spcBef>
            </a:pPr>
            <a:r>
              <a:rPr dirty="0" sz="2600">
                <a:solidFill>
                  <a:srgbClr val="0000CC"/>
                </a:solidFill>
                <a:latin typeface="黑体"/>
                <a:cs typeface="黑体"/>
              </a:rPr>
              <a:t>7.7.2</a:t>
            </a:r>
            <a:r>
              <a:rPr dirty="0" sz="2600" spc="-15">
                <a:solidFill>
                  <a:srgbClr val="0000CC"/>
                </a:solidFill>
                <a:latin typeface="黑体"/>
                <a:cs typeface="黑体"/>
              </a:rPr>
              <a:t> 快速地址转换技术</a:t>
            </a:r>
            <a:endParaRPr sz="2600">
              <a:latin typeface="黑体"/>
              <a:cs typeface="黑体"/>
            </a:endParaRPr>
          </a:p>
        </p:txBody>
      </p:sp>
      <p:sp>
        <p:nvSpPr>
          <p:cNvPr id="11" name="object 11" descr=""/>
          <p:cNvSpPr txBox="1"/>
          <p:nvPr/>
        </p:nvSpPr>
        <p:spPr>
          <a:xfrm>
            <a:off x="539902" y="2543936"/>
            <a:ext cx="4290060" cy="452120"/>
          </a:xfrm>
          <a:prstGeom prst="rect">
            <a:avLst/>
          </a:prstGeom>
        </p:spPr>
        <p:txBody>
          <a:bodyPr wrap="square" lIns="0" tIns="12065" rIns="0" bIns="0" rtlCol="0" vert="horz">
            <a:spAutoFit/>
          </a:bodyPr>
          <a:lstStyle/>
          <a:p>
            <a:pPr marL="12700">
              <a:lnSpc>
                <a:spcPct val="100000"/>
              </a:lnSpc>
              <a:spcBef>
                <a:spcPts val="95"/>
              </a:spcBef>
            </a:pPr>
            <a:r>
              <a:rPr dirty="0" sz="2800" spc="-40">
                <a:solidFill>
                  <a:srgbClr val="FF5CFF"/>
                </a:solidFill>
                <a:latin typeface="黑体"/>
                <a:cs typeface="黑体"/>
              </a:rPr>
              <a:t>虚拟地址到物理地址的转换</a:t>
            </a:r>
            <a:endParaRPr sz="2800">
              <a:latin typeface="黑体"/>
              <a:cs typeface="黑体"/>
            </a:endParaRPr>
          </a:p>
        </p:txBody>
      </p:sp>
      <p:sp>
        <p:nvSpPr>
          <p:cNvPr id="12" name="object 12" descr=""/>
          <p:cNvSpPr txBox="1"/>
          <p:nvPr/>
        </p:nvSpPr>
        <p:spPr>
          <a:xfrm>
            <a:off x="539902" y="3490722"/>
            <a:ext cx="11150600" cy="2000885"/>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SzPct val="89583"/>
              <a:buFont typeface="Wingdings"/>
              <a:buChar char=""/>
              <a:tabLst>
                <a:tab pos="469265" algn="l"/>
              </a:tabLst>
            </a:pPr>
            <a:r>
              <a:rPr dirty="0" sz="2400" spc="-5">
                <a:solidFill>
                  <a:srgbClr val="4F55AC"/>
                </a:solidFill>
                <a:latin typeface="黑体"/>
                <a:cs typeface="黑体"/>
              </a:rPr>
              <a:t>虚拟地址由编译程序生成，其对应的存储空间称为虚存空间或逻辑地址空间</a:t>
            </a:r>
            <a:endParaRPr sz="2400">
              <a:latin typeface="黑体"/>
              <a:cs typeface="黑体"/>
            </a:endParaRPr>
          </a:p>
          <a:p>
            <a:pPr marL="469900" marR="5080" indent="-457200">
              <a:lnSpc>
                <a:spcPct val="120000"/>
              </a:lnSpc>
              <a:spcBef>
                <a:spcPts val="575"/>
              </a:spcBef>
              <a:buClr>
                <a:srgbClr val="40458B"/>
              </a:buClr>
              <a:buSzPct val="89583"/>
              <a:buFont typeface="Wingdings"/>
              <a:buChar char=""/>
              <a:tabLst>
                <a:tab pos="469900" algn="l"/>
              </a:tabLst>
            </a:pPr>
            <a:r>
              <a:rPr dirty="0" sz="2400" spc="-5">
                <a:solidFill>
                  <a:srgbClr val="4F55AC"/>
                </a:solidFill>
                <a:latin typeface="黑体"/>
                <a:cs typeface="黑体"/>
              </a:rPr>
              <a:t>计算机物理内存的访问地址称为实地址或物理地址，其对应的存储空间称为物理</a:t>
            </a:r>
            <a:r>
              <a:rPr dirty="0" sz="2400" spc="-20">
                <a:solidFill>
                  <a:srgbClr val="4F55AC"/>
                </a:solidFill>
                <a:latin typeface="黑体"/>
                <a:cs typeface="黑体"/>
              </a:rPr>
              <a:t>存储间或主存空间</a:t>
            </a:r>
            <a:endParaRPr sz="2400">
              <a:latin typeface="黑体"/>
              <a:cs typeface="黑体"/>
            </a:endParaRPr>
          </a:p>
          <a:p>
            <a:pPr marL="469265" indent="-456565">
              <a:lnSpc>
                <a:spcPct val="100000"/>
              </a:lnSpc>
              <a:spcBef>
                <a:spcPts val="1155"/>
              </a:spcBef>
              <a:buClr>
                <a:srgbClr val="40458B"/>
              </a:buClr>
              <a:buSzPct val="89583"/>
              <a:buFont typeface="Wingdings"/>
              <a:buChar char=""/>
              <a:tabLst>
                <a:tab pos="469265" algn="l"/>
              </a:tabLst>
            </a:pPr>
            <a:r>
              <a:rPr dirty="0" sz="2400" spc="-5">
                <a:solidFill>
                  <a:srgbClr val="4F55AC"/>
                </a:solidFill>
                <a:latin typeface="黑体"/>
                <a:cs typeface="黑体"/>
              </a:rPr>
              <a:t>程序进行虚地址到实地址转换的过程称为程序再定位</a:t>
            </a:r>
            <a:endParaRPr sz="2400">
              <a:latin typeface="黑体"/>
              <a:cs typeface="黑体"/>
            </a:endParaRPr>
          </a:p>
        </p:txBody>
      </p:sp>
      <p:grpSp>
        <p:nvGrpSpPr>
          <p:cNvPr id="13" name="object 13" descr=""/>
          <p:cNvGrpSpPr/>
          <p:nvPr/>
        </p:nvGrpSpPr>
        <p:grpSpPr>
          <a:xfrm>
            <a:off x="8345382" y="1413372"/>
            <a:ext cx="2484755" cy="965200"/>
            <a:chOff x="8345382" y="1413372"/>
            <a:chExt cx="2484755" cy="965200"/>
          </a:xfrm>
        </p:grpSpPr>
        <p:sp>
          <p:nvSpPr>
            <p:cNvPr id="14" name="object 14" descr=""/>
            <p:cNvSpPr/>
            <p:nvPr/>
          </p:nvSpPr>
          <p:spPr>
            <a:xfrm>
              <a:off x="8350453" y="1418462"/>
              <a:ext cx="2474595" cy="955040"/>
            </a:xfrm>
            <a:custGeom>
              <a:avLst/>
              <a:gdLst/>
              <a:ahLst/>
              <a:cxnLst/>
              <a:rect l="l" t="t" r="r" b="b"/>
              <a:pathLst>
                <a:path w="2474595" h="955039">
                  <a:moveTo>
                    <a:pt x="2474404" y="498386"/>
                  </a:moveTo>
                  <a:lnTo>
                    <a:pt x="0" y="498386"/>
                  </a:lnTo>
                  <a:lnTo>
                    <a:pt x="0" y="954976"/>
                  </a:lnTo>
                  <a:lnTo>
                    <a:pt x="2474404" y="954976"/>
                  </a:lnTo>
                  <a:lnTo>
                    <a:pt x="2474404" y="498386"/>
                  </a:lnTo>
                  <a:close/>
                </a:path>
                <a:path w="2474595" h="955039">
                  <a:moveTo>
                    <a:pt x="2474404" y="0"/>
                  </a:moveTo>
                  <a:lnTo>
                    <a:pt x="0" y="0"/>
                  </a:lnTo>
                  <a:lnTo>
                    <a:pt x="0" y="332676"/>
                  </a:lnTo>
                  <a:lnTo>
                    <a:pt x="2474404" y="332676"/>
                  </a:lnTo>
                  <a:lnTo>
                    <a:pt x="2474404" y="0"/>
                  </a:lnTo>
                  <a:close/>
                </a:path>
              </a:pathLst>
            </a:custGeom>
            <a:solidFill>
              <a:srgbClr val="FFDBB7"/>
            </a:solidFill>
          </p:spPr>
          <p:txBody>
            <a:bodyPr wrap="square" lIns="0" tIns="0" rIns="0" bIns="0" rtlCol="0"/>
            <a:lstStyle/>
            <a:p/>
          </p:txBody>
        </p:sp>
        <p:sp>
          <p:nvSpPr>
            <p:cNvPr id="15" name="object 15" descr=""/>
            <p:cNvSpPr/>
            <p:nvPr/>
          </p:nvSpPr>
          <p:spPr>
            <a:xfrm>
              <a:off x="8350462" y="1418452"/>
              <a:ext cx="2474595" cy="955040"/>
            </a:xfrm>
            <a:custGeom>
              <a:avLst/>
              <a:gdLst/>
              <a:ahLst/>
              <a:cxnLst/>
              <a:rect l="l" t="t" r="r" b="b"/>
              <a:pathLst>
                <a:path w="2474595" h="955039">
                  <a:moveTo>
                    <a:pt x="0" y="954986"/>
                  </a:moveTo>
                  <a:lnTo>
                    <a:pt x="2474399" y="954986"/>
                  </a:lnTo>
                  <a:lnTo>
                    <a:pt x="2474399" y="0"/>
                  </a:lnTo>
                  <a:lnTo>
                    <a:pt x="0" y="0"/>
                  </a:lnTo>
                  <a:lnTo>
                    <a:pt x="0" y="954986"/>
                  </a:lnTo>
                  <a:close/>
                </a:path>
              </a:pathLst>
            </a:custGeom>
            <a:ln w="9611">
              <a:solidFill>
                <a:srgbClr val="000000"/>
              </a:solidFill>
            </a:ln>
          </p:spPr>
          <p:txBody>
            <a:bodyPr wrap="square" lIns="0" tIns="0" rIns="0" bIns="0" rtlCol="0"/>
            <a:lstStyle/>
            <a:p/>
          </p:txBody>
        </p:sp>
        <p:sp>
          <p:nvSpPr>
            <p:cNvPr id="16" name="object 16" descr=""/>
            <p:cNvSpPr/>
            <p:nvPr/>
          </p:nvSpPr>
          <p:spPr>
            <a:xfrm>
              <a:off x="8350462" y="1751137"/>
              <a:ext cx="2474595" cy="165735"/>
            </a:xfrm>
            <a:custGeom>
              <a:avLst/>
              <a:gdLst/>
              <a:ahLst/>
              <a:cxnLst/>
              <a:rect l="l" t="t" r="r" b="b"/>
              <a:pathLst>
                <a:path w="2474595" h="165735">
                  <a:moveTo>
                    <a:pt x="2474399" y="0"/>
                  </a:moveTo>
                  <a:lnTo>
                    <a:pt x="0" y="0"/>
                  </a:lnTo>
                  <a:lnTo>
                    <a:pt x="0" y="165707"/>
                  </a:lnTo>
                  <a:lnTo>
                    <a:pt x="2474399" y="165707"/>
                  </a:lnTo>
                  <a:lnTo>
                    <a:pt x="2474399" y="0"/>
                  </a:lnTo>
                  <a:close/>
                </a:path>
              </a:pathLst>
            </a:custGeom>
            <a:solidFill>
              <a:srgbClr val="C0C0C0"/>
            </a:solidFill>
          </p:spPr>
          <p:txBody>
            <a:bodyPr wrap="square" lIns="0" tIns="0" rIns="0" bIns="0" rtlCol="0"/>
            <a:lstStyle/>
            <a:p/>
          </p:txBody>
        </p:sp>
      </p:grpSp>
      <p:sp>
        <p:nvSpPr>
          <p:cNvPr id="17" name="object 17" descr=""/>
          <p:cNvSpPr txBox="1"/>
          <p:nvPr/>
        </p:nvSpPr>
        <p:spPr>
          <a:xfrm>
            <a:off x="6901263" y="773412"/>
            <a:ext cx="509270" cy="170815"/>
          </a:xfrm>
          <a:prstGeom prst="rect">
            <a:avLst/>
          </a:prstGeom>
        </p:spPr>
        <p:txBody>
          <a:bodyPr wrap="square" lIns="0" tIns="12700" rIns="0" bIns="0" rtlCol="0" vert="horz">
            <a:spAutoFit/>
          </a:bodyPr>
          <a:lstStyle/>
          <a:p>
            <a:pPr marL="12700">
              <a:lnSpc>
                <a:spcPct val="100000"/>
              </a:lnSpc>
              <a:spcBef>
                <a:spcPts val="100"/>
              </a:spcBef>
            </a:pPr>
            <a:r>
              <a:rPr dirty="0" sz="950" spc="-20" b="1">
                <a:solidFill>
                  <a:srgbClr val="0000FF"/>
                </a:solidFill>
                <a:latin typeface="宋体"/>
                <a:cs typeface="宋体"/>
              </a:rPr>
              <a:t>虚拟地址</a:t>
            </a:r>
            <a:endParaRPr sz="950">
              <a:latin typeface="宋体"/>
              <a:cs typeface="宋体"/>
            </a:endParaRPr>
          </a:p>
        </p:txBody>
      </p:sp>
      <p:sp>
        <p:nvSpPr>
          <p:cNvPr id="18" name="object 18" descr=""/>
          <p:cNvSpPr txBox="1"/>
          <p:nvPr/>
        </p:nvSpPr>
        <p:spPr>
          <a:xfrm>
            <a:off x="7703059" y="566161"/>
            <a:ext cx="390525" cy="170815"/>
          </a:xfrm>
          <a:prstGeom prst="rect">
            <a:avLst/>
          </a:prstGeom>
        </p:spPr>
        <p:txBody>
          <a:bodyPr wrap="square" lIns="0" tIns="12700" rIns="0" bIns="0" rtlCol="0" vert="horz">
            <a:spAutoFit/>
          </a:bodyPr>
          <a:lstStyle/>
          <a:p>
            <a:pPr marL="12700">
              <a:lnSpc>
                <a:spcPct val="100000"/>
              </a:lnSpc>
              <a:spcBef>
                <a:spcPts val="100"/>
              </a:spcBef>
            </a:pPr>
            <a:r>
              <a:rPr dirty="0" sz="950" spc="-10">
                <a:latin typeface="宋体"/>
                <a:cs typeface="宋体"/>
              </a:rPr>
              <a:t>〈</a:t>
            </a:r>
            <a:r>
              <a:rPr dirty="0" sz="950" b="1">
                <a:latin typeface="宋体"/>
                <a:cs typeface="宋体"/>
              </a:rPr>
              <a:t>36</a:t>
            </a:r>
            <a:r>
              <a:rPr dirty="0" sz="950" spc="-50">
                <a:latin typeface="宋体"/>
                <a:cs typeface="宋体"/>
              </a:rPr>
              <a:t>〉</a:t>
            </a:r>
            <a:endParaRPr sz="950">
              <a:latin typeface="宋体"/>
              <a:cs typeface="宋体"/>
            </a:endParaRPr>
          </a:p>
        </p:txBody>
      </p:sp>
      <p:sp>
        <p:nvSpPr>
          <p:cNvPr id="19" name="object 19" descr=""/>
          <p:cNvSpPr txBox="1"/>
          <p:nvPr/>
        </p:nvSpPr>
        <p:spPr>
          <a:xfrm>
            <a:off x="8433879" y="566161"/>
            <a:ext cx="391160" cy="170815"/>
          </a:xfrm>
          <a:prstGeom prst="rect">
            <a:avLst/>
          </a:prstGeom>
        </p:spPr>
        <p:txBody>
          <a:bodyPr wrap="square" lIns="0" tIns="12700" rIns="0" bIns="0" rtlCol="0" vert="horz">
            <a:spAutoFit/>
          </a:bodyPr>
          <a:lstStyle/>
          <a:p>
            <a:pPr marL="12700">
              <a:lnSpc>
                <a:spcPct val="100000"/>
              </a:lnSpc>
              <a:spcBef>
                <a:spcPts val="100"/>
              </a:spcBef>
            </a:pPr>
            <a:r>
              <a:rPr dirty="0" sz="950" spc="-10">
                <a:latin typeface="宋体"/>
                <a:cs typeface="宋体"/>
              </a:rPr>
              <a:t>〈</a:t>
            </a:r>
            <a:r>
              <a:rPr dirty="0" sz="950" b="1">
                <a:latin typeface="宋体"/>
                <a:cs typeface="宋体"/>
              </a:rPr>
              <a:t>12</a:t>
            </a:r>
            <a:r>
              <a:rPr dirty="0" sz="950" spc="-50">
                <a:latin typeface="宋体"/>
                <a:cs typeface="宋体"/>
              </a:rPr>
              <a:t>〉</a:t>
            </a:r>
            <a:endParaRPr sz="950">
              <a:latin typeface="宋体"/>
              <a:cs typeface="宋体"/>
            </a:endParaRPr>
          </a:p>
        </p:txBody>
      </p:sp>
      <p:sp>
        <p:nvSpPr>
          <p:cNvPr id="20" name="object 20" descr=""/>
          <p:cNvSpPr txBox="1"/>
          <p:nvPr/>
        </p:nvSpPr>
        <p:spPr>
          <a:xfrm>
            <a:off x="7450487" y="754633"/>
            <a:ext cx="900430" cy="207645"/>
          </a:xfrm>
          <a:prstGeom prst="rect">
            <a:avLst/>
          </a:prstGeom>
          <a:solidFill>
            <a:srgbClr val="CCFFFF"/>
          </a:solidFill>
          <a:ln w="9640">
            <a:solidFill>
              <a:srgbClr val="000000"/>
            </a:solidFill>
          </a:ln>
        </p:spPr>
        <p:txBody>
          <a:bodyPr wrap="square" lIns="0" tIns="33655" rIns="0" bIns="0" rtlCol="0" vert="horz">
            <a:spAutoFit/>
          </a:bodyPr>
          <a:lstStyle/>
          <a:p>
            <a:pPr marL="276225">
              <a:lnSpc>
                <a:spcPct val="100000"/>
              </a:lnSpc>
              <a:spcBef>
                <a:spcPts val="265"/>
              </a:spcBef>
            </a:pPr>
            <a:r>
              <a:rPr dirty="0" sz="950" spc="-20" b="1">
                <a:solidFill>
                  <a:srgbClr val="993300"/>
                </a:solidFill>
                <a:latin typeface="宋体"/>
                <a:cs typeface="宋体"/>
              </a:rPr>
              <a:t>虚页号</a:t>
            </a:r>
            <a:endParaRPr sz="950">
              <a:latin typeface="宋体"/>
              <a:cs typeface="宋体"/>
            </a:endParaRPr>
          </a:p>
        </p:txBody>
      </p:sp>
      <p:sp>
        <p:nvSpPr>
          <p:cNvPr id="21" name="object 21" descr=""/>
          <p:cNvSpPr txBox="1"/>
          <p:nvPr/>
        </p:nvSpPr>
        <p:spPr>
          <a:xfrm>
            <a:off x="8350450" y="754633"/>
            <a:ext cx="562610" cy="207645"/>
          </a:xfrm>
          <a:prstGeom prst="rect">
            <a:avLst/>
          </a:prstGeom>
          <a:solidFill>
            <a:srgbClr val="FFFF99"/>
          </a:solidFill>
          <a:ln w="9611">
            <a:solidFill>
              <a:srgbClr val="000000"/>
            </a:solidFill>
          </a:ln>
        </p:spPr>
        <p:txBody>
          <a:bodyPr wrap="square" lIns="0" tIns="27305" rIns="0" bIns="0" rtlCol="0" vert="horz">
            <a:spAutoFit/>
          </a:bodyPr>
          <a:lstStyle/>
          <a:p>
            <a:pPr marL="41275">
              <a:lnSpc>
                <a:spcPct val="100000"/>
              </a:lnSpc>
              <a:spcBef>
                <a:spcPts val="215"/>
              </a:spcBef>
            </a:pPr>
            <a:r>
              <a:rPr dirty="0" sz="950" spc="-20" b="1">
                <a:solidFill>
                  <a:srgbClr val="993300"/>
                </a:solidFill>
                <a:latin typeface="宋体"/>
                <a:cs typeface="宋体"/>
              </a:rPr>
              <a:t>页内位移</a:t>
            </a:r>
            <a:endParaRPr sz="950">
              <a:latin typeface="宋体"/>
              <a:cs typeface="宋体"/>
            </a:endParaRPr>
          </a:p>
        </p:txBody>
      </p:sp>
      <p:sp>
        <p:nvSpPr>
          <p:cNvPr id="22" name="object 22" descr=""/>
          <p:cNvSpPr/>
          <p:nvPr/>
        </p:nvSpPr>
        <p:spPr>
          <a:xfrm>
            <a:off x="7450487" y="754633"/>
            <a:ext cx="3374390" cy="1329690"/>
          </a:xfrm>
          <a:custGeom>
            <a:avLst/>
            <a:gdLst/>
            <a:ahLst/>
            <a:cxnLst/>
            <a:rect l="l" t="t" r="r" b="b"/>
            <a:pathLst>
              <a:path w="3374390" h="1329689">
                <a:moveTo>
                  <a:pt x="0" y="207304"/>
                </a:moveTo>
                <a:lnTo>
                  <a:pt x="1462364" y="207304"/>
                </a:lnTo>
                <a:lnTo>
                  <a:pt x="1462364" y="0"/>
                </a:lnTo>
                <a:lnTo>
                  <a:pt x="0" y="0"/>
                </a:lnTo>
                <a:lnTo>
                  <a:pt x="0" y="207304"/>
                </a:lnTo>
                <a:close/>
              </a:path>
              <a:path w="3374390" h="1329689">
                <a:moveTo>
                  <a:pt x="899975" y="1329322"/>
                </a:moveTo>
                <a:lnTo>
                  <a:pt x="3374374" y="1329323"/>
                </a:lnTo>
                <a:lnTo>
                  <a:pt x="3374374" y="663832"/>
                </a:lnTo>
                <a:lnTo>
                  <a:pt x="899975" y="663831"/>
                </a:lnTo>
                <a:lnTo>
                  <a:pt x="899975" y="1329322"/>
                </a:lnTo>
                <a:close/>
              </a:path>
              <a:path w="3374390" h="1329689">
                <a:moveTo>
                  <a:pt x="899975" y="830796"/>
                </a:moveTo>
                <a:lnTo>
                  <a:pt x="3374240" y="830796"/>
                </a:lnTo>
              </a:path>
            </a:pathLst>
          </a:custGeom>
          <a:ln w="9613">
            <a:solidFill>
              <a:srgbClr val="000000"/>
            </a:solidFill>
          </a:ln>
        </p:spPr>
        <p:txBody>
          <a:bodyPr wrap="square" lIns="0" tIns="0" rIns="0" bIns="0" rtlCol="0"/>
          <a:lstStyle/>
          <a:p/>
        </p:txBody>
      </p:sp>
      <p:sp>
        <p:nvSpPr>
          <p:cNvPr id="23" name="object 23" descr=""/>
          <p:cNvSpPr txBox="1"/>
          <p:nvPr/>
        </p:nvSpPr>
        <p:spPr>
          <a:xfrm>
            <a:off x="8384215" y="1268594"/>
            <a:ext cx="86360" cy="170815"/>
          </a:xfrm>
          <a:prstGeom prst="rect">
            <a:avLst/>
          </a:prstGeom>
        </p:spPr>
        <p:txBody>
          <a:bodyPr wrap="square" lIns="0" tIns="12700" rIns="0" bIns="0" rtlCol="0" vert="horz">
            <a:spAutoFit/>
          </a:bodyPr>
          <a:lstStyle/>
          <a:p>
            <a:pPr marL="12700">
              <a:lnSpc>
                <a:spcPct val="100000"/>
              </a:lnSpc>
              <a:spcBef>
                <a:spcPts val="100"/>
              </a:spcBef>
            </a:pPr>
            <a:r>
              <a:rPr dirty="0" sz="950" spc="-50">
                <a:latin typeface="宋体"/>
                <a:cs typeface="宋体"/>
              </a:rPr>
              <a:t>V</a:t>
            </a:r>
            <a:endParaRPr sz="950">
              <a:latin typeface="宋体"/>
              <a:cs typeface="宋体"/>
            </a:endParaRPr>
          </a:p>
        </p:txBody>
      </p:sp>
      <p:sp>
        <p:nvSpPr>
          <p:cNvPr id="24" name="object 24" descr=""/>
          <p:cNvSpPr txBox="1"/>
          <p:nvPr/>
        </p:nvSpPr>
        <p:spPr>
          <a:xfrm>
            <a:off x="8551281" y="1255749"/>
            <a:ext cx="208915" cy="170815"/>
          </a:xfrm>
          <a:prstGeom prst="rect">
            <a:avLst/>
          </a:prstGeom>
        </p:spPr>
        <p:txBody>
          <a:bodyPr wrap="square" lIns="0" tIns="12700" rIns="0" bIns="0" rtlCol="0" vert="horz">
            <a:spAutoFit/>
          </a:bodyPr>
          <a:lstStyle/>
          <a:p>
            <a:pPr marL="12700">
              <a:lnSpc>
                <a:spcPct val="100000"/>
              </a:lnSpc>
              <a:spcBef>
                <a:spcPts val="100"/>
              </a:spcBef>
            </a:pPr>
            <a:r>
              <a:rPr dirty="0" sz="950" spc="-25">
                <a:latin typeface="宋体"/>
                <a:cs typeface="宋体"/>
              </a:rPr>
              <a:t>R/W</a:t>
            </a:r>
            <a:endParaRPr sz="950">
              <a:latin typeface="宋体"/>
              <a:cs typeface="宋体"/>
            </a:endParaRPr>
          </a:p>
        </p:txBody>
      </p:sp>
      <p:sp>
        <p:nvSpPr>
          <p:cNvPr id="25" name="object 25" descr=""/>
          <p:cNvSpPr txBox="1"/>
          <p:nvPr/>
        </p:nvSpPr>
        <p:spPr>
          <a:xfrm>
            <a:off x="7927875" y="1127305"/>
            <a:ext cx="667385" cy="170815"/>
          </a:xfrm>
          <a:prstGeom prst="rect">
            <a:avLst/>
          </a:prstGeom>
        </p:spPr>
        <p:txBody>
          <a:bodyPr wrap="square" lIns="0" tIns="12700" rIns="0" bIns="0" rtlCol="0" vert="horz">
            <a:spAutoFit/>
          </a:bodyPr>
          <a:lstStyle/>
          <a:p>
            <a:pPr marL="12700">
              <a:lnSpc>
                <a:spcPct val="100000"/>
              </a:lnSpc>
              <a:spcBef>
                <a:spcPts val="100"/>
              </a:spcBef>
              <a:tabLst>
                <a:tab pos="278765" algn="l"/>
              </a:tabLst>
            </a:pPr>
            <a:r>
              <a:rPr dirty="0" sz="950" spc="-50">
                <a:latin typeface="宋体"/>
                <a:cs typeface="宋体"/>
              </a:rPr>
              <a:t>①</a:t>
            </a:r>
            <a:r>
              <a:rPr dirty="0" sz="950">
                <a:latin typeface="宋体"/>
                <a:cs typeface="宋体"/>
              </a:rPr>
              <a:t>	</a:t>
            </a:r>
            <a:r>
              <a:rPr dirty="0" sz="950" spc="-204">
                <a:latin typeface="宋体"/>
                <a:cs typeface="宋体"/>
              </a:rPr>
              <a:t>②〈</a:t>
            </a:r>
            <a:r>
              <a:rPr dirty="0" sz="950" b="1">
                <a:latin typeface="宋体"/>
                <a:cs typeface="宋体"/>
              </a:rPr>
              <a:t>1</a:t>
            </a:r>
            <a:r>
              <a:rPr dirty="0" sz="950" spc="-50">
                <a:latin typeface="宋体"/>
                <a:cs typeface="宋体"/>
              </a:rPr>
              <a:t>〉</a:t>
            </a:r>
            <a:endParaRPr sz="950">
              <a:latin typeface="宋体"/>
              <a:cs typeface="宋体"/>
            </a:endParaRPr>
          </a:p>
        </p:txBody>
      </p:sp>
      <p:sp>
        <p:nvSpPr>
          <p:cNvPr id="26" name="object 26" descr=""/>
          <p:cNvSpPr txBox="1"/>
          <p:nvPr/>
        </p:nvSpPr>
        <p:spPr>
          <a:xfrm>
            <a:off x="9460774" y="2685072"/>
            <a:ext cx="146685" cy="170815"/>
          </a:xfrm>
          <a:prstGeom prst="rect">
            <a:avLst/>
          </a:prstGeom>
        </p:spPr>
        <p:txBody>
          <a:bodyPr wrap="square" lIns="0" tIns="12700" rIns="0" bIns="0" rtlCol="0" vert="horz">
            <a:spAutoFit/>
          </a:bodyPr>
          <a:lstStyle/>
          <a:p>
            <a:pPr marL="12700">
              <a:lnSpc>
                <a:spcPct val="100000"/>
              </a:lnSpc>
              <a:spcBef>
                <a:spcPts val="100"/>
              </a:spcBef>
            </a:pPr>
            <a:r>
              <a:rPr dirty="0" sz="950" spc="-50">
                <a:latin typeface="宋体"/>
                <a:cs typeface="宋体"/>
              </a:rPr>
              <a:t>③</a:t>
            </a:r>
            <a:endParaRPr sz="950">
              <a:latin typeface="宋体"/>
              <a:cs typeface="宋体"/>
            </a:endParaRPr>
          </a:p>
        </p:txBody>
      </p:sp>
      <p:grpSp>
        <p:nvGrpSpPr>
          <p:cNvPr id="27" name="object 27" descr=""/>
          <p:cNvGrpSpPr/>
          <p:nvPr/>
        </p:nvGrpSpPr>
        <p:grpSpPr>
          <a:xfrm>
            <a:off x="7893532" y="956857"/>
            <a:ext cx="1362075" cy="1339850"/>
            <a:chOff x="7893532" y="956857"/>
            <a:chExt cx="1362075" cy="1339850"/>
          </a:xfrm>
        </p:grpSpPr>
        <p:sp>
          <p:nvSpPr>
            <p:cNvPr id="28" name="object 28" descr=""/>
            <p:cNvSpPr/>
            <p:nvPr/>
          </p:nvSpPr>
          <p:spPr>
            <a:xfrm>
              <a:off x="7900455" y="961937"/>
              <a:ext cx="0" cy="1329690"/>
            </a:xfrm>
            <a:custGeom>
              <a:avLst/>
              <a:gdLst/>
              <a:ahLst/>
              <a:cxnLst/>
              <a:rect l="l" t="t" r="r" b="b"/>
              <a:pathLst>
                <a:path w="0" h="1329689">
                  <a:moveTo>
                    <a:pt x="0" y="0"/>
                  </a:moveTo>
                  <a:lnTo>
                    <a:pt x="0" y="1329309"/>
                  </a:lnTo>
                </a:path>
              </a:pathLst>
            </a:custGeom>
            <a:ln w="9616">
              <a:solidFill>
                <a:srgbClr val="000000"/>
              </a:solidFill>
            </a:ln>
          </p:spPr>
          <p:txBody>
            <a:bodyPr wrap="square" lIns="0" tIns="0" rIns="0" bIns="0" rtlCol="0"/>
            <a:lstStyle/>
            <a:p/>
          </p:txBody>
        </p:sp>
        <p:sp>
          <p:nvSpPr>
            <p:cNvPr id="29" name="object 29" descr=""/>
            <p:cNvSpPr/>
            <p:nvPr/>
          </p:nvSpPr>
          <p:spPr>
            <a:xfrm>
              <a:off x="7894485" y="1476519"/>
              <a:ext cx="443865" cy="55244"/>
            </a:xfrm>
            <a:custGeom>
              <a:avLst/>
              <a:gdLst/>
              <a:ahLst/>
              <a:cxnLst/>
              <a:rect l="l" t="t" r="r" b="b"/>
              <a:pathLst>
                <a:path w="443865" h="55244">
                  <a:moveTo>
                    <a:pt x="363074" y="0"/>
                  </a:moveTo>
                  <a:lnTo>
                    <a:pt x="388642" y="27428"/>
                  </a:lnTo>
                  <a:lnTo>
                    <a:pt x="363074" y="54856"/>
                  </a:lnTo>
                  <a:lnTo>
                    <a:pt x="424196" y="33984"/>
                  </a:lnTo>
                  <a:lnTo>
                    <a:pt x="391989" y="33984"/>
                  </a:lnTo>
                  <a:lnTo>
                    <a:pt x="395202" y="30773"/>
                  </a:lnTo>
                  <a:lnTo>
                    <a:pt x="396942" y="27428"/>
                  </a:lnTo>
                  <a:lnTo>
                    <a:pt x="395202" y="24083"/>
                  </a:lnTo>
                  <a:lnTo>
                    <a:pt x="393596" y="22477"/>
                  </a:lnTo>
                  <a:lnTo>
                    <a:pt x="391989" y="21139"/>
                  </a:lnTo>
                  <a:lnTo>
                    <a:pt x="424979" y="21139"/>
                  </a:lnTo>
                  <a:lnTo>
                    <a:pt x="363074" y="0"/>
                  </a:lnTo>
                  <a:close/>
                </a:path>
                <a:path w="443865" h="55244">
                  <a:moveTo>
                    <a:pt x="382780" y="21139"/>
                  </a:moveTo>
                  <a:lnTo>
                    <a:pt x="4645" y="21139"/>
                  </a:lnTo>
                  <a:lnTo>
                    <a:pt x="2985" y="22477"/>
                  </a:lnTo>
                  <a:lnTo>
                    <a:pt x="1325" y="24083"/>
                  </a:lnTo>
                  <a:lnTo>
                    <a:pt x="0" y="27428"/>
                  </a:lnTo>
                  <a:lnTo>
                    <a:pt x="1325" y="30773"/>
                  </a:lnTo>
                  <a:lnTo>
                    <a:pt x="4645" y="33984"/>
                  </a:lnTo>
                  <a:lnTo>
                    <a:pt x="382531" y="33984"/>
                  </a:lnTo>
                  <a:lnTo>
                    <a:pt x="388642" y="27428"/>
                  </a:lnTo>
                  <a:lnTo>
                    <a:pt x="382780" y="21139"/>
                  </a:lnTo>
                  <a:close/>
                </a:path>
                <a:path w="443865" h="55244">
                  <a:moveTo>
                    <a:pt x="424979" y="21139"/>
                  </a:moveTo>
                  <a:lnTo>
                    <a:pt x="391989" y="21139"/>
                  </a:lnTo>
                  <a:lnTo>
                    <a:pt x="393596" y="22477"/>
                  </a:lnTo>
                  <a:lnTo>
                    <a:pt x="395202" y="24083"/>
                  </a:lnTo>
                  <a:lnTo>
                    <a:pt x="396942" y="27428"/>
                  </a:lnTo>
                  <a:lnTo>
                    <a:pt x="395202" y="30773"/>
                  </a:lnTo>
                  <a:lnTo>
                    <a:pt x="391989" y="33984"/>
                  </a:lnTo>
                  <a:lnTo>
                    <a:pt x="424196" y="33984"/>
                  </a:lnTo>
                  <a:lnTo>
                    <a:pt x="443394" y="27428"/>
                  </a:lnTo>
                  <a:lnTo>
                    <a:pt x="424979" y="21139"/>
                  </a:lnTo>
                  <a:close/>
                </a:path>
              </a:pathLst>
            </a:custGeom>
            <a:solidFill>
              <a:srgbClr val="000000"/>
            </a:solidFill>
          </p:spPr>
          <p:txBody>
            <a:bodyPr wrap="square" lIns="0" tIns="0" rIns="0" bIns="0" rtlCol="0"/>
            <a:lstStyle/>
            <a:p/>
          </p:txBody>
        </p:sp>
        <p:sp>
          <p:nvSpPr>
            <p:cNvPr id="30" name="object 30" descr=""/>
            <p:cNvSpPr/>
            <p:nvPr/>
          </p:nvSpPr>
          <p:spPr>
            <a:xfrm>
              <a:off x="7894485" y="1476519"/>
              <a:ext cx="443865" cy="55244"/>
            </a:xfrm>
            <a:custGeom>
              <a:avLst/>
              <a:gdLst/>
              <a:ahLst/>
              <a:cxnLst/>
              <a:rect l="l" t="t" r="r" b="b"/>
              <a:pathLst>
                <a:path w="443865" h="55244">
                  <a:moveTo>
                    <a:pt x="7951" y="21139"/>
                  </a:moveTo>
                  <a:lnTo>
                    <a:pt x="388642" y="21139"/>
                  </a:lnTo>
                  <a:lnTo>
                    <a:pt x="391989" y="21139"/>
                  </a:lnTo>
                  <a:lnTo>
                    <a:pt x="393596" y="22477"/>
                  </a:lnTo>
                  <a:lnTo>
                    <a:pt x="395202" y="24083"/>
                  </a:lnTo>
                  <a:lnTo>
                    <a:pt x="396942" y="27428"/>
                  </a:lnTo>
                  <a:lnTo>
                    <a:pt x="395202" y="30773"/>
                  </a:lnTo>
                  <a:lnTo>
                    <a:pt x="393596" y="32378"/>
                  </a:lnTo>
                  <a:lnTo>
                    <a:pt x="391989" y="33984"/>
                  </a:lnTo>
                  <a:lnTo>
                    <a:pt x="388642" y="33984"/>
                  </a:lnTo>
                  <a:lnTo>
                    <a:pt x="7951" y="33984"/>
                  </a:lnTo>
                  <a:lnTo>
                    <a:pt x="4645" y="33984"/>
                  </a:lnTo>
                  <a:lnTo>
                    <a:pt x="2985" y="32378"/>
                  </a:lnTo>
                  <a:lnTo>
                    <a:pt x="1325" y="30773"/>
                  </a:lnTo>
                  <a:lnTo>
                    <a:pt x="0" y="27428"/>
                  </a:lnTo>
                  <a:lnTo>
                    <a:pt x="1325" y="24083"/>
                  </a:lnTo>
                  <a:lnTo>
                    <a:pt x="2985" y="22477"/>
                  </a:lnTo>
                  <a:lnTo>
                    <a:pt x="4645" y="21139"/>
                  </a:lnTo>
                  <a:lnTo>
                    <a:pt x="7951" y="21139"/>
                  </a:lnTo>
                  <a:close/>
                </a:path>
                <a:path w="443865" h="55244">
                  <a:moveTo>
                    <a:pt x="388642" y="27428"/>
                  </a:moveTo>
                  <a:lnTo>
                    <a:pt x="363074" y="0"/>
                  </a:lnTo>
                  <a:lnTo>
                    <a:pt x="443394" y="27428"/>
                  </a:lnTo>
                  <a:lnTo>
                    <a:pt x="363074" y="54856"/>
                  </a:lnTo>
                  <a:lnTo>
                    <a:pt x="388642" y="27428"/>
                  </a:lnTo>
                  <a:close/>
                </a:path>
              </a:pathLst>
            </a:custGeom>
            <a:ln w="3175">
              <a:solidFill>
                <a:srgbClr val="000000"/>
              </a:solidFill>
            </a:ln>
          </p:spPr>
          <p:txBody>
            <a:bodyPr wrap="square" lIns="0" tIns="0" rIns="0" bIns="0" rtlCol="0"/>
            <a:lstStyle/>
            <a:p/>
          </p:txBody>
        </p:sp>
        <p:sp>
          <p:nvSpPr>
            <p:cNvPr id="31" name="object 31" descr=""/>
            <p:cNvSpPr/>
            <p:nvPr/>
          </p:nvSpPr>
          <p:spPr>
            <a:xfrm>
              <a:off x="8518868" y="1418452"/>
              <a:ext cx="731520" cy="666115"/>
            </a:xfrm>
            <a:custGeom>
              <a:avLst/>
              <a:gdLst/>
              <a:ahLst/>
              <a:cxnLst/>
              <a:rect l="l" t="t" r="r" b="b"/>
              <a:pathLst>
                <a:path w="731520" h="666114">
                  <a:moveTo>
                    <a:pt x="0" y="0"/>
                  </a:moveTo>
                  <a:lnTo>
                    <a:pt x="0" y="665504"/>
                  </a:lnTo>
                </a:path>
                <a:path w="731520" h="666114">
                  <a:moveTo>
                    <a:pt x="281522" y="0"/>
                  </a:moveTo>
                  <a:lnTo>
                    <a:pt x="281522" y="665504"/>
                  </a:lnTo>
                </a:path>
                <a:path w="731520" h="666114">
                  <a:moveTo>
                    <a:pt x="562777" y="0"/>
                  </a:moveTo>
                  <a:lnTo>
                    <a:pt x="562777" y="665504"/>
                  </a:lnTo>
                </a:path>
                <a:path w="731520" h="666114">
                  <a:moveTo>
                    <a:pt x="731182" y="0"/>
                  </a:moveTo>
                  <a:lnTo>
                    <a:pt x="731182" y="665504"/>
                  </a:lnTo>
                </a:path>
              </a:pathLst>
            </a:custGeom>
            <a:ln w="9613">
              <a:solidFill>
                <a:srgbClr val="000000"/>
              </a:solidFill>
            </a:ln>
          </p:spPr>
          <p:txBody>
            <a:bodyPr wrap="square" lIns="0" tIns="0" rIns="0" bIns="0" rtlCol="0"/>
            <a:lstStyle/>
            <a:p/>
          </p:txBody>
        </p:sp>
      </p:grpSp>
      <p:sp>
        <p:nvSpPr>
          <p:cNvPr id="32" name="object 32" descr=""/>
          <p:cNvSpPr txBox="1"/>
          <p:nvPr/>
        </p:nvSpPr>
        <p:spPr>
          <a:xfrm>
            <a:off x="8700810" y="1115734"/>
            <a:ext cx="168275" cy="196215"/>
          </a:xfrm>
          <a:prstGeom prst="rect">
            <a:avLst/>
          </a:prstGeom>
        </p:spPr>
        <p:txBody>
          <a:bodyPr wrap="square" lIns="0" tIns="15240" rIns="0" bIns="0" rtlCol="0" vert="horz">
            <a:spAutoFit/>
          </a:bodyPr>
          <a:lstStyle/>
          <a:p>
            <a:pPr marL="12700">
              <a:lnSpc>
                <a:spcPct val="100000"/>
              </a:lnSpc>
              <a:spcBef>
                <a:spcPts val="120"/>
              </a:spcBef>
            </a:pPr>
            <a:r>
              <a:rPr dirty="0" sz="1100" spc="-50">
                <a:latin typeface="宋体"/>
                <a:cs typeface="宋体"/>
              </a:rPr>
              <a:t>…</a:t>
            </a:r>
            <a:endParaRPr sz="1100">
              <a:latin typeface="宋体"/>
              <a:cs typeface="宋体"/>
            </a:endParaRPr>
          </a:p>
        </p:txBody>
      </p:sp>
      <p:sp>
        <p:nvSpPr>
          <p:cNvPr id="33" name="object 33" descr=""/>
          <p:cNvSpPr txBox="1"/>
          <p:nvPr/>
        </p:nvSpPr>
        <p:spPr>
          <a:xfrm>
            <a:off x="8834142" y="1268594"/>
            <a:ext cx="546100" cy="170815"/>
          </a:xfrm>
          <a:prstGeom prst="rect">
            <a:avLst/>
          </a:prstGeom>
        </p:spPr>
        <p:txBody>
          <a:bodyPr wrap="square" lIns="0" tIns="12700" rIns="0" bIns="0" rtlCol="0" vert="horz">
            <a:spAutoFit/>
          </a:bodyPr>
          <a:lstStyle/>
          <a:p>
            <a:pPr marL="12700">
              <a:lnSpc>
                <a:spcPct val="100000"/>
              </a:lnSpc>
              <a:spcBef>
                <a:spcPts val="100"/>
              </a:spcBef>
            </a:pPr>
            <a:r>
              <a:rPr dirty="0" baseline="5847" sz="1425">
                <a:latin typeface="宋体"/>
                <a:cs typeface="宋体"/>
              </a:rPr>
              <a:t>U/S</a:t>
            </a:r>
            <a:r>
              <a:rPr dirty="0" baseline="5847" sz="1425" spc="600">
                <a:latin typeface="宋体"/>
                <a:cs typeface="宋体"/>
              </a:rPr>
              <a:t> </a:t>
            </a:r>
            <a:r>
              <a:rPr dirty="0" sz="950">
                <a:latin typeface="宋体"/>
                <a:cs typeface="宋体"/>
              </a:rPr>
              <a:t>D</a:t>
            </a:r>
            <a:r>
              <a:rPr dirty="0" sz="950" spc="350">
                <a:latin typeface="宋体"/>
                <a:cs typeface="宋体"/>
              </a:rPr>
              <a:t> </a:t>
            </a:r>
            <a:r>
              <a:rPr dirty="0" sz="950" spc="-50">
                <a:latin typeface="宋体"/>
                <a:cs typeface="宋体"/>
              </a:rPr>
              <a:t>A</a:t>
            </a:r>
            <a:endParaRPr sz="950">
              <a:latin typeface="宋体"/>
              <a:cs typeface="宋体"/>
            </a:endParaRPr>
          </a:p>
        </p:txBody>
      </p:sp>
      <p:sp>
        <p:nvSpPr>
          <p:cNvPr id="34" name="object 34" descr=""/>
          <p:cNvSpPr/>
          <p:nvPr/>
        </p:nvSpPr>
        <p:spPr>
          <a:xfrm>
            <a:off x="8350463" y="1418452"/>
            <a:ext cx="2474595" cy="666115"/>
          </a:xfrm>
          <a:custGeom>
            <a:avLst/>
            <a:gdLst/>
            <a:ahLst/>
            <a:cxnLst/>
            <a:rect l="l" t="t" r="r" b="b"/>
            <a:pathLst>
              <a:path w="2474595" h="666114">
                <a:moveTo>
                  <a:pt x="1068393" y="0"/>
                </a:moveTo>
                <a:lnTo>
                  <a:pt x="1068393" y="665504"/>
                </a:lnTo>
              </a:path>
              <a:path w="2474595" h="666114">
                <a:moveTo>
                  <a:pt x="1799575" y="0"/>
                </a:moveTo>
                <a:lnTo>
                  <a:pt x="1799575" y="665504"/>
                </a:lnTo>
              </a:path>
              <a:path w="2474595" h="666114">
                <a:moveTo>
                  <a:pt x="0" y="332752"/>
                </a:moveTo>
                <a:lnTo>
                  <a:pt x="2474265" y="332752"/>
                </a:lnTo>
              </a:path>
              <a:path w="2474595" h="666114">
                <a:moveTo>
                  <a:pt x="0" y="498392"/>
                </a:moveTo>
                <a:lnTo>
                  <a:pt x="2474265" y="498392"/>
                </a:lnTo>
              </a:path>
            </a:pathLst>
          </a:custGeom>
          <a:ln w="9613">
            <a:solidFill>
              <a:srgbClr val="000000"/>
            </a:solidFill>
          </a:ln>
        </p:spPr>
        <p:txBody>
          <a:bodyPr wrap="square" lIns="0" tIns="0" rIns="0" bIns="0" rtlCol="0"/>
          <a:lstStyle/>
          <a:p/>
        </p:txBody>
      </p:sp>
      <p:sp>
        <p:nvSpPr>
          <p:cNvPr id="35" name="object 35" descr=""/>
          <p:cNvSpPr txBox="1"/>
          <p:nvPr/>
        </p:nvSpPr>
        <p:spPr>
          <a:xfrm>
            <a:off x="8996255" y="1127305"/>
            <a:ext cx="995044" cy="170815"/>
          </a:xfrm>
          <a:prstGeom prst="rect">
            <a:avLst/>
          </a:prstGeom>
        </p:spPr>
        <p:txBody>
          <a:bodyPr wrap="square" lIns="0" tIns="12700" rIns="0" bIns="0" rtlCol="0" vert="horz">
            <a:spAutoFit/>
          </a:bodyPr>
          <a:lstStyle/>
          <a:p>
            <a:pPr marL="12700">
              <a:lnSpc>
                <a:spcPct val="100000"/>
              </a:lnSpc>
              <a:spcBef>
                <a:spcPts val="100"/>
              </a:spcBef>
              <a:tabLst>
                <a:tab pos="616585" algn="l"/>
              </a:tabLst>
            </a:pPr>
            <a:r>
              <a:rPr dirty="0" sz="950" spc="-10">
                <a:latin typeface="宋体"/>
                <a:cs typeface="宋体"/>
              </a:rPr>
              <a:t>〈</a:t>
            </a:r>
            <a:r>
              <a:rPr dirty="0" sz="950" spc="-100" b="1">
                <a:latin typeface="宋体"/>
                <a:cs typeface="宋体"/>
              </a:rPr>
              <a:t>1</a:t>
            </a:r>
            <a:r>
              <a:rPr dirty="0" sz="950" spc="-840">
                <a:latin typeface="宋体"/>
                <a:cs typeface="宋体"/>
              </a:rPr>
              <a:t>〈</a:t>
            </a:r>
            <a:r>
              <a:rPr dirty="0" sz="950" spc="-120">
                <a:latin typeface="宋体"/>
                <a:cs typeface="宋体"/>
              </a:rPr>
              <a:t>〉</a:t>
            </a:r>
            <a:r>
              <a:rPr dirty="0" sz="950" b="1">
                <a:latin typeface="宋体"/>
                <a:cs typeface="宋体"/>
              </a:rPr>
              <a:t>1</a:t>
            </a:r>
            <a:r>
              <a:rPr dirty="0" sz="950" spc="-50">
                <a:latin typeface="宋体"/>
                <a:cs typeface="宋体"/>
              </a:rPr>
              <a:t>〉</a:t>
            </a:r>
            <a:r>
              <a:rPr dirty="0" sz="950">
                <a:latin typeface="宋体"/>
                <a:cs typeface="宋体"/>
              </a:rPr>
              <a:t>	</a:t>
            </a:r>
            <a:r>
              <a:rPr dirty="0" sz="950" spc="-10">
                <a:latin typeface="宋体"/>
                <a:cs typeface="宋体"/>
              </a:rPr>
              <a:t>〈</a:t>
            </a:r>
            <a:r>
              <a:rPr dirty="0" sz="950" b="1">
                <a:latin typeface="宋体"/>
                <a:cs typeface="宋体"/>
              </a:rPr>
              <a:t>36</a:t>
            </a:r>
            <a:r>
              <a:rPr dirty="0" sz="950" spc="-50">
                <a:latin typeface="宋体"/>
                <a:cs typeface="宋体"/>
              </a:rPr>
              <a:t>〉</a:t>
            </a:r>
            <a:endParaRPr sz="950">
              <a:latin typeface="宋体"/>
              <a:cs typeface="宋体"/>
            </a:endParaRPr>
          </a:p>
        </p:txBody>
      </p:sp>
      <p:sp>
        <p:nvSpPr>
          <p:cNvPr id="36" name="object 36" descr=""/>
          <p:cNvSpPr txBox="1"/>
          <p:nvPr/>
        </p:nvSpPr>
        <p:spPr>
          <a:xfrm>
            <a:off x="9653542" y="1255750"/>
            <a:ext cx="269875" cy="170815"/>
          </a:xfrm>
          <a:prstGeom prst="rect">
            <a:avLst/>
          </a:prstGeom>
        </p:spPr>
        <p:txBody>
          <a:bodyPr wrap="square" lIns="0" tIns="12700" rIns="0" bIns="0" rtlCol="0" vert="horz">
            <a:spAutoFit/>
          </a:bodyPr>
          <a:lstStyle/>
          <a:p>
            <a:pPr marL="12700">
              <a:lnSpc>
                <a:spcPct val="100000"/>
              </a:lnSpc>
              <a:spcBef>
                <a:spcPts val="100"/>
              </a:spcBef>
            </a:pPr>
            <a:r>
              <a:rPr dirty="0" sz="950" spc="-25" b="1">
                <a:solidFill>
                  <a:srgbClr val="0000FF"/>
                </a:solidFill>
                <a:latin typeface="宋体"/>
                <a:cs typeface="宋体"/>
              </a:rPr>
              <a:t>标识</a:t>
            </a:r>
            <a:endParaRPr sz="950">
              <a:latin typeface="宋体"/>
              <a:cs typeface="宋体"/>
            </a:endParaRPr>
          </a:p>
        </p:txBody>
      </p:sp>
      <p:sp>
        <p:nvSpPr>
          <p:cNvPr id="37" name="object 37" descr=""/>
          <p:cNvSpPr txBox="1"/>
          <p:nvPr/>
        </p:nvSpPr>
        <p:spPr>
          <a:xfrm>
            <a:off x="10219131" y="1127305"/>
            <a:ext cx="509270" cy="306070"/>
          </a:xfrm>
          <a:prstGeom prst="rect">
            <a:avLst/>
          </a:prstGeom>
        </p:spPr>
        <p:txBody>
          <a:bodyPr wrap="square" lIns="0" tIns="26034" rIns="0" bIns="0" rtlCol="0" vert="horz">
            <a:spAutoFit/>
          </a:bodyPr>
          <a:lstStyle/>
          <a:p>
            <a:pPr marL="12700" marR="5080" indent="43180">
              <a:lnSpc>
                <a:spcPts val="1060"/>
              </a:lnSpc>
              <a:spcBef>
                <a:spcPts val="204"/>
              </a:spcBef>
            </a:pPr>
            <a:r>
              <a:rPr dirty="0" sz="950" spc="-10">
                <a:latin typeface="宋体"/>
                <a:cs typeface="宋体"/>
              </a:rPr>
              <a:t>〈</a:t>
            </a:r>
            <a:r>
              <a:rPr dirty="0" sz="950">
                <a:latin typeface="宋体"/>
                <a:cs typeface="宋体"/>
              </a:rPr>
              <a:t>28</a:t>
            </a:r>
            <a:r>
              <a:rPr dirty="0" sz="950" spc="-50">
                <a:latin typeface="宋体"/>
                <a:cs typeface="宋体"/>
              </a:rPr>
              <a:t>〉</a:t>
            </a:r>
            <a:r>
              <a:rPr dirty="0" sz="950" spc="-20" b="1">
                <a:solidFill>
                  <a:srgbClr val="0000FF"/>
                </a:solidFill>
                <a:latin typeface="宋体"/>
                <a:cs typeface="宋体"/>
              </a:rPr>
              <a:t>物理地址</a:t>
            </a:r>
            <a:endParaRPr sz="950">
              <a:latin typeface="宋体"/>
              <a:cs typeface="宋体"/>
            </a:endParaRPr>
          </a:p>
        </p:txBody>
      </p:sp>
      <p:sp>
        <p:nvSpPr>
          <p:cNvPr id="38" name="object 38" descr=""/>
          <p:cNvSpPr txBox="1"/>
          <p:nvPr/>
        </p:nvSpPr>
        <p:spPr>
          <a:xfrm>
            <a:off x="8350463" y="2083956"/>
            <a:ext cx="1294130" cy="123825"/>
          </a:xfrm>
          <a:prstGeom prst="rect">
            <a:avLst/>
          </a:prstGeom>
          <a:solidFill>
            <a:srgbClr val="FFDBB7"/>
          </a:solidFill>
          <a:ln w="9616">
            <a:solidFill>
              <a:srgbClr val="000000"/>
            </a:solidFill>
          </a:ln>
        </p:spPr>
        <p:txBody>
          <a:bodyPr wrap="square" lIns="0" tIns="0" rIns="0" bIns="0" rtlCol="0" vert="horz">
            <a:spAutoFit/>
          </a:bodyPr>
          <a:lstStyle/>
          <a:p>
            <a:pPr algn="ctr">
              <a:lnSpc>
                <a:spcPts val="975"/>
              </a:lnSpc>
            </a:pPr>
            <a:r>
              <a:rPr dirty="0" sz="1100" spc="-50">
                <a:latin typeface="宋体"/>
                <a:cs typeface="宋体"/>
              </a:rPr>
              <a:t>…</a:t>
            </a:r>
            <a:endParaRPr sz="1100">
              <a:latin typeface="宋体"/>
              <a:cs typeface="宋体"/>
            </a:endParaRPr>
          </a:p>
        </p:txBody>
      </p:sp>
      <p:sp>
        <p:nvSpPr>
          <p:cNvPr id="39" name="object 39" descr=""/>
          <p:cNvSpPr txBox="1"/>
          <p:nvPr/>
        </p:nvSpPr>
        <p:spPr>
          <a:xfrm>
            <a:off x="9648828" y="2088762"/>
            <a:ext cx="762635" cy="114300"/>
          </a:xfrm>
          <a:prstGeom prst="rect">
            <a:avLst/>
          </a:prstGeom>
          <a:solidFill>
            <a:srgbClr val="FFDBB7"/>
          </a:solidFill>
        </p:spPr>
        <p:txBody>
          <a:bodyPr wrap="square" lIns="0" tIns="0" rIns="0" bIns="0" rtlCol="0" vert="horz">
            <a:spAutoFit/>
          </a:bodyPr>
          <a:lstStyle/>
          <a:p>
            <a:pPr algn="ctr" marR="9525">
              <a:lnSpc>
                <a:spcPts val="900"/>
              </a:lnSpc>
            </a:pPr>
            <a:r>
              <a:rPr dirty="0" sz="1100" spc="-50">
                <a:latin typeface="宋体"/>
                <a:cs typeface="宋体"/>
              </a:rPr>
              <a:t>…</a:t>
            </a:r>
            <a:endParaRPr sz="1100">
              <a:latin typeface="宋体"/>
              <a:cs typeface="宋体"/>
            </a:endParaRPr>
          </a:p>
        </p:txBody>
      </p:sp>
      <p:grpSp>
        <p:nvGrpSpPr>
          <p:cNvPr id="40" name="object 40" descr=""/>
          <p:cNvGrpSpPr/>
          <p:nvPr/>
        </p:nvGrpSpPr>
        <p:grpSpPr>
          <a:xfrm>
            <a:off x="7893532" y="1642946"/>
            <a:ext cx="2936875" cy="735965"/>
            <a:chOff x="7893532" y="1642946"/>
            <a:chExt cx="2936875" cy="735965"/>
          </a:xfrm>
        </p:grpSpPr>
        <p:sp>
          <p:nvSpPr>
            <p:cNvPr id="41" name="object 41" descr=""/>
            <p:cNvSpPr/>
            <p:nvPr/>
          </p:nvSpPr>
          <p:spPr>
            <a:xfrm>
              <a:off x="8350463" y="2207731"/>
              <a:ext cx="2474595" cy="165735"/>
            </a:xfrm>
            <a:custGeom>
              <a:avLst/>
              <a:gdLst/>
              <a:ahLst/>
              <a:cxnLst/>
              <a:rect l="l" t="t" r="r" b="b"/>
              <a:pathLst>
                <a:path w="2474595" h="165735">
                  <a:moveTo>
                    <a:pt x="0" y="165707"/>
                  </a:moveTo>
                  <a:lnTo>
                    <a:pt x="2474399" y="165707"/>
                  </a:lnTo>
                  <a:lnTo>
                    <a:pt x="2474399" y="0"/>
                  </a:lnTo>
                  <a:lnTo>
                    <a:pt x="0" y="0"/>
                  </a:lnTo>
                  <a:lnTo>
                    <a:pt x="0" y="165707"/>
                  </a:lnTo>
                  <a:close/>
                </a:path>
              </a:pathLst>
            </a:custGeom>
            <a:ln w="9611">
              <a:solidFill>
                <a:srgbClr val="000000"/>
              </a:solidFill>
            </a:ln>
          </p:spPr>
          <p:txBody>
            <a:bodyPr wrap="square" lIns="0" tIns="0" rIns="0" bIns="0" rtlCol="0"/>
            <a:lstStyle/>
            <a:p/>
          </p:txBody>
        </p:sp>
        <p:sp>
          <p:nvSpPr>
            <p:cNvPr id="42" name="object 42" descr=""/>
            <p:cNvSpPr/>
            <p:nvPr/>
          </p:nvSpPr>
          <p:spPr>
            <a:xfrm>
              <a:off x="7894485" y="1643899"/>
              <a:ext cx="443865" cy="53340"/>
            </a:xfrm>
            <a:custGeom>
              <a:avLst/>
              <a:gdLst/>
              <a:ahLst/>
              <a:cxnLst/>
              <a:rect l="l" t="t" r="r" b="b"/>
              <a:pathLst>
                <a:path w="443865" h="53339">
                  <a:moveTo>
                    <a:pt x="363074" y="0"/>
                  </a:moveTo>
                  <a:lnTo>
                    <a:pt x="388642" y="25822"/>
                  </a:lnTo>
                  <a:lnTo>
                    <a:pt x="363074" y="52849"/>
                  </a:lnTo>
                  <a:lnTo>
                    <a:pt x="425103" y="31977"/>
                  </a:lnTo>
                  <a:lnTo>
                    <a:pt x="391989" y="31977"/>
                  </a:lnTo>
                  <a:lnTo>
                    <a:pt x="395202" y="28766"/>
                  </a:lnTo>
                  <a:lnTo>
                    <a:pt x="396942" y="25822"/>
                  </a:lnTo>
                  <a:lnTo>
                    <a:pt x="395202" y="24083"/>
                  </a:lnTo>
                  <a:lnTo>
                    <a:pt x="393596" y="20872"/>
                  </a:lnTo>
                  <a:lnTo>
                    <a:pt x="391989" y="19132"/>
                  </a:lnTo>
                  <a:lnTo>
                    <a:pt x="422586" y="19132"/>
                  </a:lnTo>
                  <a:lnTo>
                    <a:pt x="363074" y="0"/>
                  </a:lnTo>
                  <a:close/>
                </a:path>
                <a:path w="443865" h="53339">
                  <a:moveTo>
                    <a:pt x="382018" y="19132"/>
                  </a:moveTo>
                  <a:lnTo>
                    <a:pt x="4645" y="19132"/>
                  </a:lnTo>
                  <a:lnTo>
                    <a:pt x="2985" y="20872"/>
                  </a:lnTo>
                  <a:lnTo>
                    <a:pt x="1325" y="24083"/>
                  </a:lnTo>
                  <a:lnTo>
                    <a:pt x="0" y="25822"/>
                  </a:lnTo>
                  <a:lnTo>
                    <a:pt x="1325" y="28766"/>
                  </a:lnTo>
                  <a:lnTo>
                    <a:pt x="4645" y="31977"/>
                  </a:lnTo>
                  <a:lnTo>
                    <a:pt x="382820" y="31977"/>
                  </a:lnTo>
                  <a:lnTo>
                    <a:pt x="388642" y="25822"/>
                  </a:lnTo>
                  <a:lnTo>
                    <a:pt x="382018" y="19132"/>
                  </a:lnTo>
                  <a:close/>
                </a:path>
                <a:path w="443865" h="53339">
                  <a:moveTo>
                    <a:pt x="422586" y="19132"/>
                  </a:moveTo>
                  <a:lnTo>
                    <a:pt x="391989" y="19132"/>
                  </a:lnTo>
                  <a:lnTo>
                    <a:pt x="393596" y="20872"/>
                  </a:lnTo>
                  <a:lnTo>
                    <a:pt x="395202" y="24083"/>
                  </a:lnTo>
                  <a:lnTo>
                    <a:pt x="396942" y="25822"/>
                  </a:lnTo>
                  <a:lnTo>
                    <a:pt x="395202" y="28766"/>
                  </a:lnTo>
                  <a:lnTo>
                    <a:pt x="391989" y="31977"/>
                  </a:lnTo>
                  <a:lnTo>
                    <a:pt x="425103" y="31977"/>
                  </a:lnTo>
                  <a:lnTo>
                    <a:pt x="443394" y="25822"/>
                  </a:lnTo>
                  <a:lnTo>
                    <a:pt x="422586" y="19132"/>
                  </a:lnTo>
                  <a:close/>
                </a:path>
              </a:pathLst>
            </a:custGeom>
            <a:solidFill>
              <a:srgbClr val="000000"/>
            </a:solidFill>
          </p:spPr>
          <p:txBody>
            <a:bodyPr wrap="square" lIns="0" tIns="0" rIns="0" bIns="0" rtlCol="0"/>
            <a:lstStyle/>
            <a:p/>
          </p:txBody>
        </p:sp>
        <p:sp>
          <p:nvSpPr>
            <p:cNvPr id="43" name="object 43" descr=""/>
            <p:cNvSpPr/>
            <p:nvPr/>
          </p:nvSpPr>
          <p:spPr>
            <a:xfrm>
              <a:off x="7894485" y="1643899"/>
              <a:ext cx="443865" cy="53340"/>
            </a:xfrm>
            <a:custGeom>
              <a:avLst/>
              <a:gdLst/>
              <a:ahLst/>
              <a:cxnLst/>
              <a:rect l="l" t="t" r="r" b="b"/>
              <a:pathLst>
                <a:path w="443865" h="53339">
                  <a:moveTo>
                    <a:pt x="7951" y="19132"/>
                  </a:moveTo>
                  <a:lnTo>
                    <a:pt x="388642" y="19132"/>
                  </a:lnTo>
                  <a:lnTo>
                    <a:pt x="391989" y="19132"/>
                  </a:lnTo>
                  <a:lnTo>
                    <a:pt x="393596" y="20872"/>
                  </a:lnTo>
                  <a:lnTo>
                    <a:pt x="395202" y="24083"/>
                  </a:lnTo>
                  <a:lnTo>
                    <a:pt x="396942" y="25822"/>
                  </a:lnTo>
                  <a:lnTo>
                    <a:pt x="395202" y="28766"/>
                  </a:lnTo>
                  <a:lnTo>
                    <a:pt x="393596" y="30371"/>
                  </a:lnTo>
                  <a:lnTo>
                    <a:pt x="391989" y="31977"/>
                  </a:lnTo>
                  <a:lnTo>
                    <a:pt x="388642" y="31977"/>
                  </a:lnTo>
                  <a:lnTo>
                    <a:pt x="7951" y="31977"/>
                  </a:lnTo>
                  <a:lnTo>
                    <a:pt x="4645" y="31977"/>
                  </a:lnTo>
                  <a:lnTo>
                    <a:pt x="2985" y="30371"/>
                  </a:lnTo>
                  <a:lnTo>
                    <a:pt x="1325" y="28766"/>
                  </a:lnTo>
                  <a:lnTo>
                    <a:pt x="0" y="25822"/>
                  </a:lnTo>
                  <a:lnTo>
                    <a:pt x="1325" y="24083"/>
                  </a:lnTo>
                  <a:lnTo>
                    <a:pt x="2985" y="20872"/>
                  </a:lnTo>
                  <a:lnTo>
                    <a:pt x="4645" y="19132"/>
                  </a:lnTo>
                  <a:lnTo>
                    <a:pt x="7951" y="19132"/>
                  </a:lnTo>
                  <a:close/>
                </a:path>
                <a:path w="443865" h="53339">
                  <a:moveTo>
                    <a:pt x="388642" y="25822"/>
                  </a:moveTo>
                  <a:lnTo>
                    <a:pt x="363074" y="0"/>
                  </a:lnTo>
                  <a:lnTo>
                    <a:pt x="443394" y="25822"/>
                  </a:lnTo>
                  <a:lnTo>
                    <a:pt x="363074" y="52849"/>
                  </a:lnTo>
                  <a:lnTo>
                    <a:pt x="388642" y="25822"/>
                  </a:lnTo>
                  <a:close/>
                </a:path>
              </a:pathLst>
            </a:custGeom>
            <a:ln w="3175">
              <a:solidFill>
                <a:srgbClr val="000000"/>
              </a:solidFill>
            </a:ln>
          </p:spPr>
          <p:txBody>
            <a:bodyPr wrap="square" lIns="0" tIns="0" rIns="0" bIns="0" rtlCol="0"/>
            <a:lstStyle/>
            <a:p/>
          </p:txBody>
        </p:sp>
        <p:sp>
          <p:nvSpPr>
            <p:cNvPr id="44" name="object 44" descr=""/>
            <p:cNvSpPr/>
            <p:nvPr/>
          </p:nvSpPr>
          <p:spPr>
            <a:xfrm>
              <a:off x="7894485" y="1809271"/>
              <a:ext cx="443865" cy="53340"/>
            </a:xfrm>
            <a:custGeom>
              <a:avLst/>
              <a:gdLst/>
              <a:ahLst/>
              <a:cxnLst/>
              <a:rect l="l" t="t" r="r" b="b"/>
              <a:pathLst>
                <a:path w="443865" h="53339">
                  <a:moveTo>
                    <a:pt x="363074" y="0"/>
                  </a:moveTo>
                  <a:lnTo>
                    <a:pt x="388642" y="27428"/>
                  </a:lnTo>
                  <a:lnTo>
                    <a:pt x="363074" y="53117"/>
                  </a:lnTo>
                  <a:lnTo>
                    <a:pt x="422896" y="33984"/>
                  </a:lnTo>
                  <a:lnTo>
                    <a:pt x="388642" y="33984"/>
                  </a:lnTo>
                  <a:lnTo>
                    <a:pt x="391989" y="32378"/>
                  </a:lnTo>
                  <a:lnTo>
                    <a:pt x="393596" y="32378"/>
                  </a:lnTo>
                  <a:lnTo>
                    <a:pt x="395202" y="29033"/>
                  </a:lnTo>
                  <a:lnTo>
                    <a:pt x="396942" y="27428"/>
                  </a:lnTo>
                  <a:lnTo>
                    <a:pt x="395202" y="24083"/>
                  </a:lnTo>
                  <a:lnTo>
                    <a:pt x="393596" y="22745"/>
                  </a:lnTo>
                  <a:lnTo>
                    <a:pt x="391989" y="21139"/>
                  </a:lnTo>
                  <a:lnTo>
                    <a:pt x="388642" y="19534"/>
                  </a:lnTo>
                  <a:lnTo>
                    <a:pt x="420278" y="19534"/>
                  </a:lnTo>
                  <a:lnTo>
                    <a:pt x="363074" y="0"/>
                  </a:lnTo>
                  <a:close/>
                </a:path>
                <a:path w="443865" h="53339">
                  <a:moveTo>
                    <a:pt x="381284" y="19534"/>
                  </a:moveTo>
                  <a:lnTo>
                    <a:pt x="7951" y="19534"/>
                  </a:lnTo>
                  <a:lnTo>
                    <a:pt x="4645" y="21139"/>
                  </a:lnTo>
                  <a:lnTo>
                    <a:pt x="2985" y="22745"/>
                  </a:lnTo>
                  <a:lnTo>
                    <a:pt x="1325" y="24083"/>
                  </a:lnTo>
                  <a:lnTo>
                    <a:pt x="0" y="27428"/>
                  </a:lnTo>
                  <a:lnTo>
                    <a:pt x="1325" y="29033"/>
                  </a:lnTo>
                  <a:lnTo>
                    <a:pt x="2985" y="32378"/>
                  </a:lnTo>
                  <a:lnTo>
                    <a:pt x="4645" y="32378"/>
                  </a:lnTo>
                  <a:lnTo>
                    <a:pt x="7951" y="33984"/>
                  </a:lnTo>
                  <a:lnTo>
                    <a:pt x="382117" y="33984"/>
                  </a:lnTo>
                  <a:lnTo>
                    <a:pt x="388642" y="27428"/>
                  </a:lnTo>
                  <a:lnTo>
                    <a:pt x="381284" y="19534"/>
                  </a:lnTo>
                  <a:close/>
                </a:path>
                <a:path w="443865" h="53339">
                  <a:moveTo>
                    <a:pt x="420278" y="19534"/>
                  </a:moveTo>
                  <a:lnTo>
                    <a:pt x="388642" y="19534"/>
                  </a:lnTo>
                  <a:lnTo>
                    <a:pt x="391989" y="21139"/>
                  </a:lnTo>
                  <a:lnTo>
                    <a:pt x="393596" y="22745"/>
                  </a:lnTo>
                  <a:lnTo>
                    <a:pt x="395202" y="24083"/>
                  </a:lnTo>
                  <a:lnTo>
                    <a:pt x="396942" y="27428"/>
                  </a:lnTo>
                  <a:lnTo>
                    <a:pt x="395202" y="29033"/>
                  </a:lnTo>
                  <a:lnTo>
                    <a:pt x="393596" y="32378"/>
                  </a:lnTo>
                  <a:lnTo>
                    <a:pt x="391989" y="32378"/>
                  </a:lnTo>
                  <a:lnTo>
                    <a:pt x="388642" y="33984"/>
                  </a:lnTo>
                  <a:lnTo>
                    <a:pt x="422896" y="33984"/>
                  </a:lnTo>
                  <a:lnTo>
                    <a:pt x="443394" y="27428"/>
                  </a:lnTo>
                  <a:lnTo>
                    <a:pt x="420278" y="19534"/>
                  </a:lnTo>
                  <a:close/>
                </a:path>
              </a:pathLst>
            </a:custGeom>
            <a:solidFill>
              <a:srgbClr val="000000"/>
            </a:solidFill>
          </p:spPr>
          <p:txBody>
            <a:bodyPr wrap="square" lIns="0" tIns="0" rIns="0" bIns="0" rtlCol="0"/>
            <a:lstStyle/>
            <a:p/>
          </p:txBody>
        </p:sp>
        <p:sp>
          <p:nvSpPr>
            <p:cNvPr id="45" name="object 45" descr=""/>
            <p:cNvSpPr/>
            <p:nvPr/>
          </p:nvSpPr>
          <p:spPr>
            <a:xfrm>
              <a:off x="7894485" y="1809271"/>
              <a:ext cx="443865" cy="53340"/>
            </a:xfrm>
            <a:custGeom>
              <a:avLst/>
              <a:gdLst/>
              <a:ahLst/>
              <a:cxnLst/>
              <a:rect l="l" t="t" r="r" b="b"/>
              <a:pathLst>
                <a:path w="443865" h="53339">
                  <a:moveTo>
                    <a:pt x="7951" y="19534"/>
                  </a:moveTo>
                  <a:lnTo>
                    <a:pt x="388642" y="19534"/>
                  </a:lnTo>
                  <a:lnTo>
                    <a:pt x="391989" y="21139"/>
                  </a:lnTo>
                  <a:lnTo>
                    <a:pt x="393596" y="22745"/>
                  </a:lnTo>
                  <a:lnTo>
                    <a:pt x="395202" y="24083"/>
                  </a:lnTo>
                  <a:lnTo>
                    <a:pt x="396942" y="27428"/>
                  </a:lnTo>
                  <a:lnTo>
                    <a:pt x="395202" y="29033"/>
                  </a:lnTo>
                  <a:lnTo>
                    <a:pt x="393596" y="32378"/>
                  </a:lnTo>
                  <a:lnTo>
                    <a:pt x="391989" y="32378"/>
                  </a:lnTo>
                  <a:lnTo>
                    <a:pt x="388642" y="33984"/>
                  </a:lnTo>
                  <a:lnTo>
                    <a:pt x="7951" y="33984"/>
                  </a:lnTo>
                  <a:lnTo>
                    <a:pt x="4645" y="32378"/>
                  </a:lnTo>
                  <a:lnTo>
                    <a:pt x="2985" y="32378"/>
                  </a:lnTo>
                  <a:lnTo>
                    <a:pt x="1325" y="29033"/>
                  </a:lnTo>
                  <a:lnTo>
                    <a:pt x="0" y="27428"/>
                  </a:lnTo>
                  <a:lnTo>
                    <a:pt x="1325" y="24083"/>
                  </a:lnTo>
                  <a:lnTo>
                    <a:pt x="2985" y="22745"/>
                  </a:lnTo>
                  <a:lnTo>
                    <a:pt x="4645" y="21139"/>
                  </a:lnTo>
                  <a:lnTo>
                    <a:pt x="7951" y="19534"/>
                  </a:lnTo>
                  <a:close/>
                </a:path>
                <a:path w="443865" h="53339">
                  <a:moveTo>
                    <a:pt x="388642" y="27428"/>
                  </a:moveTo>
                  <a:lnTo>
                    <a:pt x="363074" y="0"/>
                  </a:lnTo>
                  <a:lnTo>
                    <a:pt x="443394" y="27428"/>
                  </a:lnTo>
                  <a:lnTo>
                    <a:pt x="363074" y="53117"/>
                  </a:lnTo>
                  <a:lnTo>
                    <a:pt x="388642" y="27428"/>
                  </a:lnTo>
                  <a:close/>
                </a:path>
              </a:pathLst>
            </a:custGeom>
            <a:ln w="3175">
              <a:solidFill>
                <a:srgbClr val="000000"/>
              </a:solidFill>
            </a:ln>
          </p:spPr>
          <p:txBody>
            <a:bodyPr wrap="square" lIns="0" tIns="0" rIns="0" bIns="0" rtlCol="0"/>
            <a:lstStyle/>
            <a:p/>
          </p:txBody>
        </p:sp>
        <p:sp>
          <p:nvSpPr>
            <p:cNvPr id="46" name="object 46" descr=""/>
            <p:cNvSpPr/>
            <p:nvPr/>
          </p:nvSpPr>
          <p:spPr>
            <a:xfrm>
              <a:off x="7894485" y="1975045"/>
              <a:ext cx="443865" cy="55244"/>
            </a:xfrm>
            <a:custGeom>
              <a:avLst/>
              <a:gdLst/>
              <a:ahLst/>
              <a:cxnLst/>
              <a:rect l="l" t="t" r="r" b="b"/>
              <a:pathLst>
                <a:path w="443865" h="55244">
                  <a:moveTo>
                    <a:pt x="363074" y="0"/>
                  </a:moveTo>
                  <a:lnTo>
                    <a:pt x="388642" y="27294"/>
                  </a:lnTo>
                  <a:lnTo>
                    <a:pt x="363074" y="54722"/>
                  </a:lnTo>
                  <a:lnTo>
                    <a:pt x="424979" y="33582"/>
                  </a:lnTo>
                  <a:lnTo>
                    <a:pt x="391989" y="33582"/>
                  </a:lnTo>
                  <a:lnTo>
                    <a:pt x="393596" y="31977"/>
                  </a:lnTo>
                  <a:lnTo>
                    <a:pt x="395202" y="30639"/>
                  </a:lnTo>
                  <a:lnTo>
                    <a:pt x="396942" y="27294"/>
                  </a:lnTo>
                  <a:lnTo>
                    <a:pt x="395202" y="24083"/>
                  </a:lnTo>
                  <a:lnTo>
                    <a:pt x="393596" y="22344"/>
                  </a:lnTo>
                  <a:lnTo>
                    <a:pt x="391989" y="20738"/>
                  </a:lnTo>
                  <a:lnTo>
                    <a:pt x="424102" y="20738"/>
                  </a:lnTo>
                  <a:lnTo>
                    <a:pt x="363074" y="0"/>
                  </a:lnTo>
                  <a:close/>
                </a:path>
                <a:path w="443865" h="55244">
                  <a:moveTo>
                    <a:pt x="382501" y="20738"/>
                  </a:moveTo>
                  <a:lnTo>
                    <a:pt x="4645" y="20738"/>
                  </a:lnTo>
                  <a:lnTo>
                    <a:pt x="2985" y="22344"/>
                  </a:lnTo>
                  <a:lnTo>
                    <a:pt x="1325" y="24083"/>
                  </a:lnTo>
                  <a:lnTo>
                    <a:pt x="0" y="27294"/>
                  </a:lnTo>
                  <a:lnTo>
                    <a:pt x="1325" y="30639"/>
                  </a:lnTo>
                  <a:lnTo>
                    <a:pt x="2985" y="31977"/>
                  </a:lnTo>
                  <a:lnTo>
                    <a:pt x="4645" y="33582"/>
                  </a:lnTo>
                  <a:lnTo>
                    <a:pt x="382780" y="33582"/>
                  </a:lnTo>
                  <a:lnTo>
                    <a:pt x="388642" y="27294"/>
                  </a:lnTo>
                  <a:lnTo>
                    <a:pt x="382501" y="20738"/>
                  </a:lnTo>
                  <a:close/>
                </a:path>
                <a:path w="443865" h="55244">
                  <a:moveTo>
                    <a:pt x="424102" y="20738"/>
                  </a:moveTo>
                  <a:lnTo>
                    <a:pt x="391989" y="20738"/>
                  </a:lnTo>
                  <a:lnTo>
                    <a:pt x="393596" y="22344"/>
                  </a:lnTo>
                  <a:lnTo>
                    <a:pt x="395202" y="24083"/>
                  </a:lnTo>
                  <a:lnTo>
                    <a:pt x="396942" y="27294"/>
                  </a:lnTo>
                  <a:lnTo>
                    <a:pt x="395202" y="30639"/>
                  </a:lnTo>
                  <a:lnTo>
                    <a:pt x="393596" y="31977"/>
                  </a:lnTo>
                  <a:lnTo>
                    <a:pt x="391989" y="33582"/>
                  </a:lnTo>
                  <a:lnTo>
                    <a:pt x="424979" y="33582"/>
                  </a:lnTo>
                  <a:lnTo>
                    <a:pt x="443394" y="27294"/>
                  </a:lnTo>
                  <a:lnTo>
                    <a:pt x="424102" y="20738"/>
                  </a:lnTo>
                  <a:close/>
                </a:path>
              </a:pathLst>
            </a:custGeom>
            <a:solidFill>
              <a:srgbClr val="000000"/>
            </a:solidFill>
          </p:spPr>
          <p:txBody>
            <a:bodyPr wrap="square" lIns="0" tIns="0" rIns="0" bIns="0" rtlCol="0"/>
            <a:lstStyle/>
            <a:p/>
          </p:txBody>
        </p:sp>
        <p:sp>
          <p:nvSpPr>
            <p:cNvPr id="47" name="object 47" descr=""/>
            <p:cNvSpPr/>
            <p:nvPr/>
          </p:nvSpPr>
          <p:spPr>
            <a:xfrm>
              <a:off x="7894485" y="1975045"/>
              <a:ext cx="443865" cy="55244"/>
            </a:xfrm>
            <a:custGeom>
              <a:avLst/>
              <a:gdLst/>
              <a:ahLst/>
              <a:cxnLst/>
              <a:rect l="l" t="t" r="r" b="b"/>
              <a:pathLst>
                <a:path w="443865" h="55244">
                  <a:moveTo>
                    <a:pt x="7951" y="20738"/>
                  </a:moveTo>
                  <a:lnTo>
                    <a:pt x="388642" y="20738"/>
                  </a:lnTo>
                  <a:lnTo>
                    <a:pt x="391989" y="20738"/>
                  </a:lnTo>
                  <a:lnTo>
                    <a:pt x="393596" y="22344"/>
                  </a:lnTo>
                  <a:lnTo>
                    <a:pt x="395202" y="24083"/>
                  </a:lnTo>
                  <a:lnTo>
                    <a:pt x="396942" y="27294"/>
                  </a:lnTo>
                  <a:lnTo>
                    <a:pt x="395202" y="30639"/>
                  </a:lnTo>
                  <a:lnTo>
                    <a:pt x="393596" y="31977"/>
                  </a:lnTo>
                  <a:lnTo>
                    <a:pt x="391989" y="33582"/>
                  </a:lnTo>
                  <a:lnTo>
                    <a:pt x="388642" y="33582"/>
                  </a:lnTo>
                  <a:lnTo>
                    <a:pt x="7951" y="33582"/>
                  </a:lnTo>
                  <a:lnTo>
                    <a:pt x="4645" y="33582"/>
                  </a:lnTo>
                  <a:lnTo>
                    <a:pt x="2985" y="31977"/>
                  </a:lnTo>
                  <a:lnTo>
                    <a:pt x="1325" y="30639"/>
                  </a:lnTo>
                  <a:lnTo>
                    <a:pt x="0" y="27294"/>
                  </a:lnTo>
                  <a:lnTo>
                    <a:pt x="1325" y="24083"/>
                  </a:lnTo>
                  <a:lnTo>
                    <a:pt x="2985" y="22344"/>
                  </a:lnTo>
                  <a:lnTo>
                    <a:pt x="4645" y="20738"/>
                  </a:lnTo>
                  <a:lnTo>
                    <a:pt x="7951" y="20738"/>
                  </a:lnTo>
                  <a:close/>
                </a:path>
                <a:path w="443865" h="55244">
                  <a:moveTo>
                    <a:pt x="388642" y="27294"/>
                  </a:moveTo>
                  <a:lnTo>
                    <a:pt x="363074" y="0"/>
                  </a:lnTo>
                  <a:lnTo>
                    <a:pt x="443394" y="27294"/>
                  </a:lnTo>
                  <a:lnTo>
                    <a:pt x="363074" y="54722"/>
                  </a:lnTo>
                  <a:lnTo>
                    <a:pt x="388642" y="27294"/>
                  </a:lnTo>
                  <a:close/>
                </a:path>
              </a:pathLst>
            </a:custGeom>
            <a:ln w="3175">
              <a:solidFill>
                <a:srgbClr val="000000"/>
              </a:solidFill>
            </a:ln>
          </p:spPr>
          <p:txBody>
            <a:bodyPr wrap="square" lIns="0" tIns="0" rIns="0" bIns="0" rtlCol="0"/>
            <a:lstStyle/>
            <a:p/>
          </p:txBody>
        </p:sp>
        <p:sp>
          <p:nvSpPr>
            <p:cNvPr id="48" name="object 48" descr=""/>
            <p:cNvSpPr/>
            <p:nvPr/>
          </p:nvSpPr>
          <p:spPr>
            <a:xfrm>
              <a:off x="7894485" y="2265826"/>
              <a:ext cx="458470" cy="53340"/>
            </a:xfrm>
            <a:custGeom>
              <a:avLst/>
              <a:gdLst/>
              <a:ahLst/>
              <a:cxnLst/>
              <a:rect l="l" t="t" r="r" b="b"/>
              <a:pathLst>
                <a:path w="458470" h="53339">
                  <a:moveTo>
                    <a:pt x="377398" y="0"/>
                  </a:moveTo>
                  <a:lnTo>
                    <a:pt x="403234" y="27401"/>
                  </a:lnTo>
                  <a:lnTo>
                    <a:pt x="377398" y="53144"/>
                  </a:lnTo>
                  <a:lnTo>
                    <a:pt x="437336" y="33997"/>
                  </a:lnTo>
                  <a:lnTo>
                    <a:pt x="406581" y="33997"/>
                  </a:lnTo>
                  <a:lnTo>
                    <a:pt x="407919" y="32352"/>
                  </a:lnTo>
                  <a:lnTo>
                    <a:pt x="409526" y="29047"/>
                  </a:lnTo>
                  <a:lnTo>
                    <a:pt x="409526" y="24096"/>
                  </a:lnTo>
                  <a:lnTo>
                    <a:pt x="407919" y="22772"/>
                  </a:lnTo>
                  <a:lnTo>
                    <a:pt x="406581" y="21126"/>
                  </a:lnTo>
                  <a:lnTo>
                    <a:pt x="439531" y="21126"/>
                  </a:lnTo>
                  <a:lnTo>
                    <a:pt x="377398" y="0"/>
                  </a:lnTo>
                  <a:close/>
                </a:path>
                <a:path w="458470" h="53339">
                  <a:moveTo>
                    <a:pt x="397317" y="21126"/>
                  </a:moveTo>
                  <a:lnTo>
                    <a:pt x="4645" y="21126"/>
                  </a:lnTo>
                  <a:lnTo>
                    <a:pt x="2985" y="22772"/>
                  </a:lnTo>
                  <a:lnTo>
                    <a:pt x="1325" y="24096"/>
                  </a:lnTo>
                  <a:lnTo>
                    <a:pt x="0" y="27401"/>
                  </a:lnTo>
                  <a:lnTo>
                    <a:pt x="1325" y="29047"/>
                  </a:lnTo>
                  <a:lnTo>
                    <a:pt x="2985" y="32351"/>
                  </a:lnTo>
                  <a:lnTo>
                    <a:pt x="4645" y="33997"/>
                  </a:lnTo>
                  <a:lnTo>
                    <a:pt x="396614" y="33997"/>
                  </a:lnTo>
                  <a:lnTo>
                    <a:pt x="403234" y="27401"/>
                  </a:lnTo>
                  <a:lnTo>
                    <a:pt x="397317" y="21126"/>
                  </a:lnTo>
                  <a:close/>
                </a:path>
                <a:path w="458470" h="53339">
                  <a:moveTo>
                    <a:pt x="439531" y="21126"/>
                  </a:moveTo>
                  <a:lnTo>
                    <a:pt x="406581" y="21126"/>
                  </a:lnTo>
                  <a:lnTo>
                    <a:pt x="407919" y="22772"/>
                  </a:lnTo>
                  <a:lnTo>
                    <a:pt x="409526" y="24096"/>
                  </a:lnTo>
                  <a:lnTo>
                    <a:pt x="409526" y="29047"/>
                  </a:lnTo>
                  <a:lnTo>
                    <a:pt x="407919" y="32352"/>
                  </a:lnTo>
                  <a:lnTo>
                    <a:pt x="406581" y="33997"/>
                  </a:lnTo>
                  <a:lnTo>
                    <a:pt x="437336" y="33997"/>
                  </a:lnTo>
                  <a:lnTo>
                    <a:pt x="457986" y="27401"/>
                  </a:lnTo>
                  <a:lnTo>
                    <a:pt x="439531" y="21126"/>
                  </a:lnTo>
                  <a:close/>
                </a:path>
              </a:pathLst>
            </a:custGeom>
            <a:solidFill>
              <a:srgbClr val="000000"/>
            </a:solidFill>
          </p:spPr>
          <p:txBody>
            <a:bodyPr wrap="square" lIns="0" tIns="0" rIns="0" bIns="0" rtlCol="0"/>
            <a:lstStyle/>
            <a:p/>
          </p:txBody>
        </p:sp>
        <p:sp>
          <p:nvSpPr>
            <p:cNvPr id="49" name="object 49" descr=""/>
            <p:cNvSpPr/>
            <p:nvPr/>
          </p:nvSpPr>
          <p:spPr>
            <a:xfrm>
              <a:off x="7894485" y="2265826"/>
              <a:ext cx="458470" cy="53340"/>
            </a:xfrm>
            <a:custGeom>
              <a:avLst/>
              <a:gdLst/>
              <a:ahLst/>
              <a:cxnLst/>
              <a:rect l="l" t="t" r="r" b="b"/>
              <a:pathLst>
                <a:path w="458470" h="53339">
                  <a:moveTo>
                    <a:pt x="7951" y="21126"/>
                  </a:moveTo>
                  <a:lnTo>
                    <a:pt x="403234" y="21126"/>
                  </a:lnTo>
                  <a:lnTo>
                    <a:pt x="406581" y="21126"/>
                  </a:lnTo>
                  <a:lnTo>
                    <a:pt x="407919" y="22772"/>
                  </a:lnTo>
                  <a:lnTo>
                    <a:pt x="409526" y="24096"/>
                  </a:lnTo>
                  <a:lnTo>
                    <a:pt x="409526" y="27401"/>
                  </a:lnTo>
                  <a:lnTo>
                    <a:pt x="409526" y="29047"/>
                  </a:lnTo>
                  <a:lnTo>
                    <a:pt x="407919" y="32352"/>
                  </a:lnTo>
                  <a:lnTo>
                    <a:pt x="406581" y="33997"/>
                  </a:lnTo>
                  <a:lnTo>
                    <a:pt x="403234" y="33997"/>
                  </a:lnTo>
                  <a:lnTo>
                    <a:pt x="7951" y="33997"/>
                  </a:lnTo>
                  <a:lnTo>
                    <a:pt x="4645" y="33997"/>
                  </a:lnTo>
                  <a:lnTo>
                    <a:pt x="2985" y="32351"/>
                  </a:lnTo>
                  <a:lnTo>
                    <a:pt x="1325" y="29047"/>
                  </a:lnTo>
                  <a:lnTo>
                    <a:pt x="0" y="27401"/>
                  </a:lnTo>
                  <a:lnTo>
                    <a:pt x="1325" y="24096"/>
                  </a:lnTo>
                  <a:lnTo>
                    <a:pt x="2985" y="22772"/>
                  </a:lnTo>
                  <a:lnTo>
                    <a:pt x="4645" y="21126"/>
                  </a:lnTo>
                  <a:lnTo>
                    <a:pt x="7951" y="21126"/>
                  </a:lnTo>
                  <a:close/>
                </a:path>
                <a:path w="458470" h="53339">
                  <a:moveTo>
                    <a:pt x="403234" y="27401"/>
                  </a:moveTo>
                  <a:lnTo>
                    <a:pt x="377398" y="0"/>
                  </a:lnTo>
                  <a:lnTo>
                    <a:pt x="457986" y="27401"/>
                  </a:lnTo>
                  <a:lnTo>
                    <a:pt x="377398" y="53144"/>
                  </a:lnTo>
                  <a:lnTo>
                    <a:pt x="403234" y="27401"/>
                  </a:lnTo>
                  <a:close/>
                </a:path>
              </a:pathLst>
            </a:custGeom>
            <a:ln w="3175">
              <a:solidFill>
                <a:srgbClr val="000000"/>
              </a:solidFill>
            </a:ln>
          </p:spPr>
          <p:txBody>
            <a:bodyPr wrap="square" lIns="0" tIns="0" rIns="0" bIns="0" rtlCol="0"/>
            <a:lstStyle/>
            <a:p/>
          </p:txBody>
        </p:sp>
      </p:grpSp>
      <p:sp>
        <p:nvSpPr>
          <p:cNvPr id="50" name="object 50" descr=""/>
          <p:cNvSpPr txBox="1"/>
          <p:nvPr/>
        </p:nvSpPr>
        <p:spPr>
          <a:xfrm>
            <a:off x="9854192" y="2603181"/>
            <a:ext cx="970915" cy="477520"/>
          </a:xfrm>
          <a:prstGeom prst="rect">
            <a:avLst/>
          </a:prstGeom>
          <a:solidFill>
            <a:srgbClr val="CCFFCC"/>
          </a:solidFill>
          <a:ln w="9612">
            <a:solidFill>
              <a:srgbClr val="000000"/>
            </a:solidFill>
          </a:ln>
        </p:spPr>
        <p:txBody>
          <a:bodyPr wrap="square" lIns="0" tIns="94615" rIns="0" bIns="0" rtlCol="0" vert="horz">
            <a:spAutoFit/>
          </a:bodyPr>
          <a:lstStyle/>
          <a:p>
            <a:pPr algn="ctr" marL="36195">
              <a:lnSpc>
                <a:spcPct val="100000"/>
              </a:lnSpc>
              <a:spcBef>
                <a:spcPts val="745"/>
              </a:spcBef>
            </a:pPr>
            <a:r>
              <a:rPr dirty="0" sz="950" b="1">
                <a:latin typeface="宋体"/>
                <a:cs typeface="宋体"/>
              </a:rPr>
              <a:t>40</a:t>
            </a:r>
            <a:r>
              <a:rPr dirty="0" sz="950" spc="-165" b="1">
                <a:latin typeface="宋体"/>
                <a:cs typeface="宋体"/>
              </a:rPr>
              <a:t> 选 </a:t>
            </a:r>
            <a:r>
              <a:rPr dirty="0" sz="950" spc="-50" b="1">
                <a:latin typeface="宋体"/>
                <a:cs typeface="宋体"/>
              </a:rPr>
              <a:t>1</a:t>
            </a:r>
            <a:endParaRPr sz="950">
              <a:latin typeface="宋体"/>
              <a:cs typeface="宋体"/>
            </a:endParaRPr>
          </a:p>
          <a:p>
            <a:pPr algn="ctr" marL="26034">
              <a:lnSpc>
                <a:spcPct val="100000"/>
              </a:lnSpc>
              <a:spcBef>
                <a:spcPts val="165"/>
              </a:spcBef>
            </a:pPr>
            <a:r>
              <a:rPr dirty="0" sz="950" spc="-20" b="1">
                <a:latin typeface="宋体"/>
                <a:cs typeface="宋体"/>
              </a:rPr>
              <a:t>多路选择器</a:t>
            </a:r>
            <a:endParaRPr sz="950">
              <a:latin typeface="宋体"/>
              <a:cs typeface="宋体"/>
            </a:endParaRPr>
          </a:p>
        </p:txBody>
      </p:sp>
      <p:grpSp>
        <p:nvGrpSpPr>
          <p:cNvPr id="51" name="object 51" descr=""/>
          <p:cNvGrpSpPr/>
          <p:nvPr/>
        </p:nvGrpSpPr>
        <p:grpSpPr>
          <a:xfrm>
            <a:off x="9624059" y="2076983"/>
            <a:ext cx="823594" cy="781685"/>
            <a:chOff x="9624059" y="2076983"/>
            <a:chExt cx="823594" cy="781685"/>
          </a:xfrm>
        </p:grpSpPr>
        <p:sp>
          <p:nvSpPr>
            <p:cNvPr id="52" name="object 52" descr=""/>
            <p:cNvSpPr/>
            <p:nvPr/>
          </p:nvSpPr>
          <p:spPr>
            <a:xfrm>
              <a:off x="9625011" y="2804544"/>
              <a:ext cx="217170" cy="53340"/>
            </a:xfrm>
            <a:custGeom>
              <a:avLst/>
              <a:gdLst/>
              <a:ahLst/>
              <a:cxnLst/>
              <a:rect l="l" t="t" r="r" b="b"/>
              <a:pathLst>
                <a:path w="217170" h="53339">
                  <a:moveTo>
                    <a:pt x="136410" y="0"/>
                  </a:moveTo>
                  <a:lnTo>
                    <a:pt x="163853" y="25755"/>
                  </a:lnTo>
                  <a:lnTo>
                    <a:pt x="136410" y="53157"/>
                  </a:lnTo>
                  <a:lnTo>
                    <a:pt x="198440" y="32030"/>
                  </a:lnTo>
                  <a:lnTo>
                    <a:pt x="165459" y="32030"/>
                  </a:lnTo>
                  <a:lnTo>
                    <a:pt x="168538" y="30371"/>
                  </a:lnTo>
                  <a:lnTo>
                    <a:pt x="170145" y="28726"/>
                  </a:lnTo>
                  <a:lnTo>
                    <a:pt x="170145" y="24096"/>
                  </a:lnTo>
                  <a:lnTo>
                    <a:pt x="168538" y="20805"/>
                  </a:lnTo>
                  <a:lnTo>
                    <a:pt x="165459" y="19146"/>
                  </a:lnTo>
                  <a:lnTo>
                    <a:pt x="196218" y="19146"/>
                  </a:lnTo>
                  <a:lnTo>
                    <a:pt x="136410" y="0"/>
                  </a:lnTo>
                  <a:close/>
                </a:path>
                <a:path w="217170" h="53339">
                  <a:moveTo>
                    <a:pt x="156810" y="19146"/>
                  </a:moveTo>
                  <a:lnTo>
                    <a:pt x="3078" y="19146"/>
                  </a:lnTo>
                  <a:lnTo>
                    <a:pt x="1338" y="20805"/>
                  </a:lnTo>
                  <a:lnTo>
                    <a:pt x="0" y="24096"/>
                  </a:lnTo>
                  <a:lnTo>
                    <a:pt x="0" y="28726"/>
                  </a:lnTo>
                  <a:lnTo>
                    <a:pt x="1338" y="30371"/>
                  </a:lnTo>
                  <a:lnTo>
                    <a:pt x="3078" y="32030"/>
                  </a:lnTo>
                  <a:lnTo>
                    <a:pt x="157568" y="32030"/>
                  </a:lnTo>
                  <a:lnTo>
                    <a:pt x="163853" y="25755"/>
                  </a:lnTo>
                  <a:lnTo>
                    <a:pt x="156810" y="19146"/>
                  </a:lnTo>
                  <a:close/>
                </a:path>
                <a:path w="217170" h="53339">
                  <a:moveTo>
                    <a:pt x="196218" y="19146"/>
                  </a:moveTo>
                  <a:lnTo>
                    <a:pt x="165459" y="19146"/>
                  </a:lnTo>
                  <a:lnTo>
                    <a:pt x="168538" y="20805"/>
                  </a:lnTo>
                  <a:lnTo>
                    <a:pt x="170145" y="24096"/>
                  </a:lnTo>
                  <a:lnTo>
                    <a:pt x="170145" y="28726"/>
                  </a:lnTo>
                  <a:lnTo>
                    <a:pt x="168538" y="30371"/>
                  </a:lnTo>
                  <a:lnTo>
                    <a:pt x="165459" y="32030"/>
                  </a:lnTo>
                  <a:lnTo>
                    <a:pt x="198440" y="32030"/>
                  </a:lnTo>
                  <a:lnTo>
                    <a:pt x="216864" y="25755"/>
                  </a:lnTo>
                  <a:lnTo>
                    <a:pt x="196218" y="19146"/>
                  </a:lnTo>
                  <a:close/>
                </a:path>
              </a:pathLst>
            </a:custGeom>
            <a:solidFill>
              <a:srgbClr val="000000"/>
            </a:solidFill>
          </p:spPr>
          <p:txBody>
            <a:bodyPr wrap="square" lIns="0" tIns="0" rIns="0" bIns="0" rtlCol="0"/>
            <a:lstStyle/>
            <a:p/>
          </p:txBody>
        </p:sp>
        <p:sp>
          <p:nvSpPr>
            <p:cNvPr id="53" name="object 53" descr=""/>
            <p:cNvSpPr/>
            <p:nvPr/>
          </p:nvSpPr>
          <p:spPr>
            <a:xfrm>
              <a:off x="9625011" y="2804544"/>
              <a:ext cx="217170" cy="53340"/>
            </a:xfrm>
            <a:custGeom>
              <a:avLst/>
              <a:gdLst/>
              <a:ahLst/>
              <a:cxnLst/>
              <a:rect l="l" t="t" r="r" b="b"/>
              <a:pathLst>
                <a:path w="217170" h="53339">
                  <a:moveTo>
                    <a:pt x="6425" y="19146"/>
                  </a:moveTo>
                  <a:lnTo>
                    <a:pt x="163853" y="19146"/>
                  </a:lnTo>
                  <a:lnTo>
                    <a:pt x="165459" y="19146"/>
                  </a:lnTo>
                  <a:lnTo>
                    <a:pt x="168538" y="20805"/>
                  </a:lnTo>
                  <a:lnTo>
                    <a:pt x="170145" y="24096"/>
                  </a:lnTo>
                  <a:lnTo>
                    <a:pt x="170145" y="25755"/>
                  </a:lnTo>
                  <a:lnTo>
                    <a:pt x="170145" y="28726"/>
                  </a:lnTo>
                  <a:lnTo>
                    <a:pt x="168538" y="30371"/>
                  </a:lnTo>
                  <a:lnTo>
                    <a:pt x="165459" y="32030"/>
                  </a:lnTo>
                  <a:lnTo>
                    <a:pt x="163853" y="32030"/>
                  </a:lnTo>
                  <a:lnTo>
                    <a:pt x="6425" y="32030"/>
                  </a:lnTo>
                  <a:lnTo>
                    <a:pt x="3078" y="32030"/>
                  </a:lnTo>
                  <a:lnTo>
                    <a:pt x="1338" y="30371"/>
                  </a:lnTo>
                  <a:lnTo>
                    <a:pt x="0" y="28726"/>
                  </a:lnTo>
                  <a:lnTo>
                    <a:pt x="0" y="25755"/>
                  </a:lnTo>
                  <a:lnTo>
                    <a:pt x="0" y="24096"/>
                  </a:lnTo>
                  <a:lnTo>
                    <a:pt x="1338" y="20805"/>
                  </a:lnTo>
                  <a:lnTo>
                    <a:pt x="3078" y="19146"/>
                  </a:lnTo>
                  <a:lnTo>
                    <a:pt x="6425" y="19146"/>
                  </a:lnTo>
                  <a:close/>
                </a:path>
                <a:path w="217170" h="53339">
                  <a:moveTo>
                    <a:pt x="163853" y="25755"/>
                  </a:moveTo>
                  <a:lnTo>
                    <a:pt x="136410" y="0"/>
                  </a:lnTo>
                  <a:lnTo>
                    <a:pt x="216864" y="25755"/>
                  </a:lnTo>
                  <a:lnTo>
                    <a:pt x="136410" y="53157"/>
                  </a:lnTo>
                  <a:lnTo>
                    <a:pt x="163853" y="25755"/>
                  </a:lnTo>
                  <a:close/>
                </a:path>
              </a:pathLst>
            </a:custGeom>
            <a:ln w="3175">
              <a:solidFill>
                <a:srgbClr val="000000"/>
              </a:solidFill>
            </a:ln>
          </p:spPr>
          <p:txBody>
            <a:bodyPr wrap="square" lIns="0" tIns="0" rIns="0" bIns="0" rtlCol="0"/>
            <a:lstStyle/>
            <a:p/>
          </p:txBody>
        </p:sp>
        <p:sp>
          <p:nvSpPr>
            <p:cNvPr id="54" name="object 54" descr=""/>
            <p:cNvSpPr/>
            <p:nvPr/>
          </p:nvSpPr>
          <p:spPr>
            <a:xfrm>
              <a:off x="10391400" y="2077935"/>
              <a:ext cx="55244" cy="527685"/>
            </a:xfrm>
            <a:custGeom>
              <a:avLst/>
              <a:gdLst/>
              <a:ahLst/>
              <a:cxnLst/>
              <a:rect l="l" t="t" r="r" b="b"/>
              <a:pathLst>
                <a:path w="55245" h="527685">
                  <a:moveTo>
                    <a:pt x="0" y="446693"/>
                  </a:moveTo>
                  <a:lnTo>
                    <a:pt x="27175" y="527225"/>
                  </a:lnTo>
                  <a:lnTo>
                    <a:pt x="43677" y="479032"/>
                  </a:lnTo>
                  <a:lnTo>
                    <a:pt x="24229" y="479032"/>
                  </a:lnTo>
                  <a:lnTo>
                    <a:pt x="22489" y="477386"/>
                  </a:lnTo>
                  <a:lnTo>
                    <a:pt x="20883" y="475740"/>
                  </a:lnTo>
                  <a:lnTo>
                    <a:pt x="20883" y="466475"/>
                  </a:lnTo>
                  <a:lnTo>
                    <a:pt x="0" y="446693"/>
                  </a:lnTo>
                  <a:close/>
                </a:path>
                <a:path w="55245" h="527685">
                  <a:moveTo>
                    <a:pt x="20883" y="466475"/>
                  </a:moveTo>
                  <a:lnTo>
                    <a:pt x="20883" y="475740"/>
                  </a:lnTo>
                  <a:lnTo>
                    <a:pt x="22489" y="477386"/>
                  </a:lnTo>
                  <a:lnTo>
                    <a:pt x="24229" y="479032"/>
                  </a:lnTo>
                  <a:lnTo>
                    <a:pt x="28781" y="479032"/>
                  </a:lnTo>
                  <a:lnTo>
                    <a:pt x="32128" y="477386"/>
                  </a:lnTo>
                  <a:lnTo>
                    <a:pt x="33868" y="475740"/>
                  </a:lnTo>
                  <a:lnTo>
                    <a:pt x="33868" y="472435"/>
                  </a:lnTo>
                  <a:lnTo>
                    <a:pt x="27175" y="472435"/>
                  </a:lnTo>
                  <a:lnTo>
                    <a:pt x="20883" y="466475"/>
                  </a:lnTo>
                  <a:close/>
                </a:path>
                <a:path w="55245" h="527685">
                  <a:moveTo>
                    <a:pt x="54751" y="446693"/>
                  </a:moveTo>
                  <a:lnTo>
                    <a:pt x="33868" y="466187"/>
                  </a:lnTo>
                  <a:lnTo>
                    <a:pt x="33868" y="475740"/>
                  </a:lnTo>
                  <a:lnTo>
                    <a:pt x="32128" y="477386"/>
                  </a:lnTo>
                  <a:lnTo>
                    <a:pt x="28781" y="479032"/>
                  </a:lnTo>
                  <a:lnTo>
                    <a:pt x="43677" y="479032"/>
                  </a:lnTo>
                  <a:lnTo>
                    <a:pt x="54751" y="446693"/>
                  </a:lnTo>
                  <a:close/>
                </a:path>
                <a:path w="55245" h="527685">
                  <a:moveTo>
                    <a:pt x="27175" y="0"/>
                  </a:moveTo>
                  <a:lnTo>
                    <a:pt x="24229" y="1739"/>
                  </a:lnTo>
                  <a:lnTo>
                    <a:pt x="22489" y="3077"/>
                  </a:lnTo>
                  <a:lnTo>
                    <a:pt x="20883" y="4682"/>
                  </a:lnTo>
                  <a:lnTo>
                    <a:pt x="20883" y="466475"/>
                  </a:lnTo>
                  <a:lnTo>
                    <a:pt x="27175" y="472435"/>
                  </a:lnTo>
                  <a:lnTo>
                    <a:pt x="33868" y="466187"/>
                  </a:lnTo>
                  <a:lnTo>
                    <a:pt x="33868" y="4682"/>
                  </a:lnTo>
                  <a:lnTo>
                    <a:pt x="32128" y="3077"/>
                  </a:lnTo>
                  <a:lnTo>
                    <a:pt x="28781" y="1739"/>
                  </a:lnTo>
                  <a:lnTo>
                    <a:pt x="27175" y="0"/>
                  </a:lnTo>
                  <a:close/>
                </a:path>
                <a:path w="55245" h="527685">
                  <a:moveTo>
                    <a:pt x="33868" y="466187"/>
                  </a:moveTo>
                  <a:lnTo>
                    <a:pt x="27175" y="472435"/>
                  </a:lnTo>
                  <a:lnTo>
                    <a:pt x="33868" y="472435"/>
                  </a:lnTo>
                  <a:lnTo>
                    <a:pt x="33868" y="466187"/>
                  </a:lnTo>
                  <a:close/>
                </a:path>
              </a:pathLst>
            </a:custGeom>
            <a:solidFill>
              <a:srgbClr val="000000"/>
            </a:solidFill>
          </p:spPr>
          <p:txBody>
            <a:bodyPr wrap="square" lIns="0" tIns="0" rIns="0" bIns="0" rtlCol="0"/>
            <a:lstStyle/>
            <a:p/>
          </p:txBody>
        </p:sp>
        <p:sp>
          <p:nvSpPr>
            <p:cNvPr id="55" name="object 55" descr=""/>
            <p:cNvSpPr/>
            <p:nvPr/>
          </p:nvSpPr>
          <p:spPr>
            <a:xfrm>
              <a:off x="10391400" y="2077935"/>
              <a:ext cx="55244" cy="527685"/>
            </a:xfrm>
            <a:custGeom>
              <a:avLst/>
              <a:gdLst/>
              <a:ahLst/>
              <a:cxnLst/>
              <a:rect l="l" t="t" r="r" b="b"/>
              <a:pathLst>
                <a:path w="55245" h="527685">
                  <a:moveTo>
                    <a:pt x="33868" y="8027"/>
                  </a:moveTo>
                  <a:lnTo>
                    <a:pt x="33868" y="472435"/>
                  </a:lnTo>
                  <a:lnTo>
                    <a:pt x="33868" y="475740"/>
                  </a:lnTo>
                  <a:lnTo>
                    <a:pt x="32128" y="477386"/>
                  </a:lnTo>
                  <a:lnTo>
                    <a:pt x="28781" y="479032"/>
                  </a:lnTo>
                  <a:lnTo>
                    <a:pt x="27175" y="479032"/>
                  </a:lnTo>
                  <a:lnTo>
                    <a:pt x="24229" y="479032"/>
                  </a:lnTo>
                  <a:lnTo>
                    <a:pt x="22489" y="477386"/>
                  </a:lnTo>
                  <a:lnTo>
                    <a:pt x="20883" y="475740"/>
                  </a:lnTo>
                  <a:lnTo>
                    <a:pt x="20883" y="472435"/>
                  </a:lnTo>
                  <a:lnTo>
                    <a:pt x="20883" y="8027"/>
                  </a:lnTo>
                  <a:lnTo>
                    <a:pt x="20883" y="4682"/>
                  </a:lnTo>
                  <a:lnTo>
                    <a:pt x="22489" y="3077"/>
                  </a:lnTo>
                  <a:lnTo>
                    <a:pt x="24229" y="1739"/>
                  </a:lnTo>
                  <a:lnTo>
                    <a:pt x="27175" y="0"/>
                  </a:lnTo>
                  <a:lnTo>
                    <a:pt x="28781" y="1739"/>
                  </a:lnTo>
                  <a:lnTo>
                    <a:pt x="32128" y="3077"/>
                  </a:lnTo>
                  <a:lnTo>
                    <a:pt x="33868" y="4682"/>
                  </a:lnTo>
                  <a:lnTo>
                    <a:pt x="33868" y="8027"/>
                  </a:lnTo>
                  <a:close/>
                </a:path>
                <a:path w="55245" h="527685">
                  <a:moveTo>
                    <a:pt x="27175" y="472435"/>
                  </a:moveTo>
                  <a:lnTo>
                    <a:pt x="54751" y="446693"/>
                  </a:lnTo>
                  <a:lnTo>
                    <a:pt x="27175" y="527225"/>
                  </a:lnTo>
                  <a:lnTo>
                    <a:pt x="0" y="446693"/>
                  </a:lnTo>
                  <a:lnTo>
                    <a:pt x="27175" y="472435"/>
                  </a:lnTo>
                  <a:close/>
                </a:path>
              </a:pathLst>
            </a:custGeom>
            <a:ln w="3175">
              <a:solidFill>
                <a:srgbClr val="000000"/>
              </a:solidFill>
            </a:ln>
          </p:spPr>
          <p:txBody>
            <a:bodyPr wrap="square" lIns="0" tIns="0" rIns="0" bIns="0" rtlCol="0"/>
            <a:lstStyle/>
            <a:p/>
          </p:txBody>
        </p:sp>
        <p:sp>
          <p:nvSpPr>
            <p:cNvPr id="56" name="object 56" descr=""/>
            <p:cNvSpPr/>
            <p:nvPr/>
          </p:nvSpPr>
          <p:spPr>
            <a:xfrm>
              <a:off x="10166504" y="2368809"/>
              <a:ext cx="54610" cy="236854"/>
            </a:xfrm>
            <a:custGeom>
              <a:avLst/>
              <a:gdLst/>
              <a:ahLst/>
              <a:cxnLst/>
              <a:rect l="l" t="t" r="r" b="b"/>
              <a:pathLst>
                <a:path w="54609" h="236855">
                  <a:moveTo>
                    <a:pt x="0" y="155819"/>
                  </a:moveTo>
                  <a:lnTo>
                    <a:pt x="27308" y="236351"/>
                  </a:lnTo>
                  <a:lnTo>
                    <a:pt x="43571" y="188158"/>
                  </a:lnTo>
                  <a:lnTo>
                    <a:pt x="23962" y="188158"/>
                  </a:lnTo>
                  <a:lnTo>
                    <a:pt x="22221" y="186512"/>
                  </a:lnTo>
                  <a:lnTo>
                    <a:pt x="20883" y="184866"/>
                  </a:lnTo>
                  <a:lnTo>
                    <a:pt x="20883" y="175601"/>
                  </a:lnTo>
                  <a:lnTo>
                    <a:pt x="0" y="155819"/>
                  </a:lnTo>
                  <a:close/>
                </a:path>
                <a:path w="54609" h="236855">
                  <a:moveTo>
                    <a:pt x="20986" y="175601"/>
                  </a:moveTo>
                  <a:lnTo>
                    <a:pt x="20883" y="184866"/>
                  </a:lnTo>
                  <a:lnTo>
                    <a:pt x="22221" y="186512"/>
                  </a:lnTo>
                  <a:lnTo>
                    <a:pt x="23962" y="188158"/>
                  </a:lnTo>
                  <a:lnTo>
                    <a:pt x="28915" y="188158"/>
                  </a:lnTo>
                  <a:lnTo>
                    <a:pt x="31860" y="186512"/>
                  </a:lnTo>
                  <a:lnTo>
                    <a:pt x="33600" y="184866"/>
                  </a:lnTo>
                  <a:lnTo>
                    <a:pt x="33600" y="181562"/>
                  </a:lnTo>
                  <a:lnTo>
                    <a:pt x="27308" y="181562"/>
                  </a:lnTo>
                  <a:lnTo>
                    <a:pt x="20986" y="175601"/>
                  </a:lnTo>
                  <a:close/>
                </a:path>
                <a:path w="54609" h="236855">
                  <a:moveTo>
                    <a:pt x="54483" y="155819"/>
                  </a:moveTo>
                  <a:lnTo>
                    <a:pt x="33600" y="175601"/>
                  </a:lnTo>
                  <a:lnTo>
                    <a:pt x="33600" y="184866"/>
                  </a:lnTo>
                  <a:lnTo>
                    <a:pt x="31860" y="186512"/>
                  </a:lnTo>
                  <a:lnTo>
                    <a:pt x="28915" y="188158"/>
                  </a:lnTo>
                  <a:lnTo>
                    <a:pt x="43571" y="188158"/>
                  </a:lnTo>
                  <a:lnTo>
                    <a:pt x="54483" y="155819"/>
                  </a:lnTo>
                  <a:close/>
                </a:path>
                <a:path w="54609" h="236855">
                  <a:moveTo>
                    <a:pt x="31860" y="1659"/>
                  </a:moveTo>
                  <a:lnTo>
                    <a:pt x="22221" y="1659"/>
                  </a:lnTo>
                  <a:lnTo>
                    <a:pt x="20883" y="4950"/>
                  </a:lnTo>
                  <a:lnTo>
                    <a:pt x="20986" y="175601"/>
                  </a:lnTo>
                  <a:lnTo>
                    <a:pt x="27308" y="181562"/>
                  </a:lnTo>
                  <a:lnTo>
                    <a:pt x="33600" y="175601"/>
                  </a:lnTo>
                  <a:lnTo>
                    <a:pt x="33600" y="4950"/>
                  </a:lnTo>
                  <a:lnTo>
                    <a:pt x="31860" y="1659"/>
                  </a:lnTo>
                  <a:close/>
                </a:path>
                <a:path w="54609" h="236855">
                  <a:moveTo>
                    <a:pt x="33600" y="175601"/>
                  </a:moveTo>
                  <a:lnTo>
                    <a:pt x="27308" y="181562"/>
                  </a:lnTo>
                  <a:lnTo>
                    <a:pt x="33600" y="181562"/>
                  </a:lnTo>
                  <a:lnTo>
                    <a:pt x="33600" y="175601"/>
                  </a:lnTo>
                  <a:close/>
                </a:path>
                <a:path w="54609" h="236855">
                  <a:moveTo>
                    <a:pt x="27308" y="0"/>
                  </a:moveTo>
                  <a:lnTo>
                    <a:pt x="23962" y="1659"/>
                  </a:lnTo>
                  <a:lnTo>
                    <a:pt x="28915" y="1659"/>
                  </a:lnTo>
                  <a:lnTo>
                    <a:pt x="27308" y="0"/>
                  </a:lnTo>
                  <a:close/>
                </a:path>
              </a:pathLst>
            </a:custGeom>
            <a:solidFill>
              <a:srgbClr val="000000"/>
            </a:solidFill>
          </p:spPr>
          <p:txBody>
            <a:bodyPr wrap="square" lIns="0" tIns="0" rIns="0" bIns="0" rtlCol="0"/>
            <a:lstStyle/>
            <a:p/>
          </p:txBody>
        </p:sp>
        <p:sp>
          <p:nvSpPr>
            <p:cNvPr id="57" name="object 57" descr=""/>
            <p:cNvSpPr/>
            <p:nvPr/>
          </p:nvSpPr>
          <p:spPr>
            <a:xfrm>
              <a:off x="10166504" y="2368809"/>
              <a:ext cx="54610" cy="236854"/>
            </a:xfrm>
            <a:custGeom>
              <a:avLst/>
              <a:gdLst/>
              <a:ahLst/>
              <a:cxnLst/>
              <a:rect l="l" t="t" r="r" b="b"/>
              <a:pathLst>
                <a:path w="54609" h="236855">
                  <a:moveTo>
                    <a:pt x="33600" y="6609"/>
                  </a:moveTo>
                  <a:lnTo>
                    <a:pt x="33600" y="181562"/>
                  </a:lnTo>
                  <a:lnTo>
                    <a:pt x="33600" y="184866"/>
                  </a:lnTo>
                  <a:lnTo>
                    <a:pt x="31860" y="186512"/>
                  </a:lnTo>
                  <a:lnTo>
                    <a:pt x="28915" y="188158"/>
                  </a:lnTo>
                  <a:lnTo>
                    <a:pt x="27308" y="188158"/>
                  </a:lnTo>
                  <a:lnTo>
                    <a:pt x="23962" y="188158"/>
                  </a:lnTo>
                  <a:lnTo>
                    <a:pt x="22221" y="186512"/>
                  </a:lnTo>
                  <a:lnTo>
                    <a:pt x="20883" y="184866"/>
                  </a:lnTo>
                  <a:lnTo>
                    <a:pt x="20883" y="181562"/>
                  </a:lnTo>
                  <a:lnTo>
                    <a:pt x="20883" y="6609"/>
                  </a:lnTo>
                  <a:lnTo>
                    <a:pt x="20883" y="4950"/>
                  </a:lnTo>
                  <a:lnTo>
                    <a:pt x="22221" y="1659"/>
                  </a:lnTo>
                  <a:lnTo>
                    <a:pt x="23962" y="1659"/>
                  </a:lnTo>
                  <a:lnTo>
                    <a:pt x="27308" y="0"/>
                  </a:lnTo>
                  <a:lnTo>
                    <a:pt x="28915" y="1659"/>
                  </a:lnTo>
                  <a:lnTo>
                    <a:pt x="31860" y="1659"/>
                  </a:lnTo>
                  <a:lnTo>
                    <a:pt x="33600" y="4950"/>
                  </a:lnTo>
                  <a:lnTo>
                    <a:pt x="33600" y="6609"/>
                  </a:lnTo>
                  <a:close/>
                </a:path>
                <a:path w="54609" h="236855">
                  <a:moveTo>
                    <a:pt x="27308" y="181562"/>
                  </a:moveTo>
                  <a:lnTo>
                    <a:pt x="54483" y="155819"/>
                  </a:lnTo>
                  <a:lnTo>
                    <a:pt x="27308" y="236351"/>
                  </a:lnTo>
                  <a:lnTo>
                    <a:pt x="0" y="155819"/>
                  </a:lnTo>
                  <a:lnTo>
                    <a:pt x="27308" y="181562"/>
                  </a:lnTo>
                  <a:close/>
                </a:path>
              </a:pathLst>
            </a:custGeom>
            <a:ln w="3175">
              <a:solidFill>
                <a:srgbClr val="000000"/>
              </a:solidFill>
            </a:ln>
          </p:spPr>
          <p:txBody>
            <a:bodyPr wrap="square" lIns="0" tIns="0" rIns="0" bIns="0" rtlCol="0"/>
            <a:lstStyle/>
            <a:p/>
          </p:txBody>
        </p:sp>
      </p:grpSp>
      <p:sp>
        <p:nvSpPr>
          <p:cNvPr id="58" name="object 58" descr=""/>
          <p:cNvSpPr txBox="1"/>
          <p:nvPr/>
        </p:nvSpPr>
        <p:spPr>
          <a:xfrm>
            <a:off x="10219131" y="2340695"/>
            <a:ext cx="168275" cy="196215"/>
          </a:xfrm>
          <a:prstGeom prst="rect">
            <a:avLst/>
          </a:prstGeom>
        </p:spPr>
        <p:txBody>
          <a:bodyPr wrap="square" lIns="0" tIns="15240" rIns="0" bIns="0" rtlCol="0" vert="horz">
            <a:spAutoFit/>
          </a:bodyPr>
          <a:lstStyle/>
          <a:p>
            <a:pPr marL="12700">
              <a:lnSpc>
                <a:spcPct val="100000"/>
              </a:lnSpc>
              <a:spcBef>
                <a:spcPts val="120"/>
              </a:spcBef>
            </a:pPr>
            <a:r>
              <a:rPr dirty="0" sz="1100" spc="-50">
                <a:latin typeface="宋体"/>
                <a:cs typeface="宋体"/>
              </a:rPr>
              <a:t>…</a:t>
            </a:r>
            <a:endParaRPr sz="1100">
              <a:latin typeface="宋体"/>
              <a:cs typeface="宋体"/>
            </a:endParaRPr>
          </a:p>
        </p:txBody>
      </p:sp>
      <p:grpSp>
        <p:nvGrpSpPr>
          <p:cNvPr id="59" name="object 59" descr=""/>
          <p:cNvGrpSpPr/>
          <p:nvPr/>
        </p:nvGrpSpPr>
        <p:grpSpPr>
          <a:xfrm>
            <a:off x="10311868" y="3075433"/>
            <a:ext cx="1176655" cy="201295"/>
            <a:chOff x="10311868" y="3075433"/>
            <a:chExt cx="1176655" cy="201295"/>
          </a:xfrm>
        </p:grpSpPr>
        <p:sp>
          <p:nvSpPr>
            <p:cNvPr id="60" name="object 60" descr=""/>
            <p:cNvSpPr/>
            <p:nvPr/>
          </p:nvSpPr>
          <p:spPr>
            <a:xfrm>
              <a:off x="10318710" y="3080513"/>
              <a:ext cx="0" cy="165735"/>
            </a:xfrm>
            <a:custGeom>
              <a:avLst/>
              <a:gdLst/>
              <a:ahLst/>
              <a:cxnLst/>
              <a:rect l="l" t="t" r="r" b="b"/>
              <a:pathLst>
                <a:path w="0" h="165735">
                  <a:moveTo>
                    <a:pt x="0" y="0"/>
                  </a:moveTo>
                  <a:lnTo>
                    <a:pt x="0" y="165707"/>
                  </a:lnTo>
                </a:path>
              </a:pathLst>
            </a:custGeom>
            <a:ln w="9616">
              <a:solidFill>
                <a:srgbClr val="000000"/>
              </a:solidFill>
            </a:ln>
          </p:spPr>
          <p:txBody>
            <a:bodyPr wrap="square" lIns="0" tIns="0" rIns="0" bIns="0" rtlCol="0"/>
            <a:lstStyle/>
            <a:p/>
          </p:txBody>
        </p:sp>
        <p:sp>
          <p:nvSpPr>
            <p:cNvPr id="61" name="object 61" descr=""/>
            <p:cNvSpPr/>
            <p:nvPr/>
          </p:nvSpPr>
          <p:spPr>
            <a:xfrm>
              <a:off x="10312820" y="3220812"/>
              <a:ext cx="1174750" cy="55244"/>
            </a:xfrm>
            <a:custGeom>
              <a:avLst/>
              <a:gdLst/>
              <a:ahLst/>
              <a:cxnLst/>
              <a:rect l="l" t="t" r="r" b="b"/>
              <a:pathLst>
                <a:path w="1174750" h="55245">
                  <a:moveTo>
                    <a:pt x="1094229" y="0"/>
                  </a:moveTo>
                  <a:lnTo>
                    <a:pt x="1121404" y="27388"/>
                  </a:lnTo>
                  <a:lnTo>
                    <a:pt x="1094229" y="54789"/>
                  </a:lnTo>
                  <a:lnTo>
                    <a:pt x="1156053" y="33663"/>
                  </a:lnTo>
                  <a:lnTo>
                    <a:pt x="1123144" y="33663"/>
                  </a:lnTo>
                  <a:lnTo>
                    <a:pt x="1124751" y="32338"/>
                  </a:lnTo>
                  <a:lnTo>
                    <a:pt x="1126090" y="30692"/>
                  </a:lnTo>
                  <a:lnTo>
                    <a:pt x="1127696" y="27388"/>
                  </a:lnTo>
                  <a:lnTo>
                    <a:pt x="1126090" y="24096"/>
                  </a:lnTo>
                  <a:lnTo>
                    <a:pt x="1124751" y="22437"/>
                  </a:lnTo>
                  <a:lnTo>
                    <a:pt x="1123144" y="20791"/>
                  </a:lnTo>
                  <a:lnTo>
                    <a:pt x="1155103" y="20791"/>
                  </a:lnTo>
                  <a:lnTo>
                    <a:pt x="1094229" y="0"/>
                  </a:lnTo>
                  <a:close/>
                </a:path>
                <a:path w="1174750" h="55245">
                  <a:moveTo>
                    <a:pt x="1114859" y="20791"/>
                  </a:moveTo>
                  <a:lnTo>
                    <a:pt x="4551" y="20791"/>
                  </a:lnTo>
                  <a:lnTo>
                    <a:pt x="1338" y="24096"/>
                  </a:lnTo>
                  <a:lnTo>
                    <a:pt x="0" y="27388"/>
                  </a:lnTo>
                  <a:lnTo>
                    <a:pt x="1338" y="30692"/>
                  </a:lnTo>
                  <a:lnTo>
                    <a:pt x="2945" y="32338"/>
                  </a:lnTo>
                  <a:lnTo>
                    <a:pt x="4551" y="33663"/>
                  </a:lnTo>
                  <a:lnTo>
                    <a:pt x="1115181" y="33663"/>
                  </a:lnTo>
                  <a:lnTo>
                    <a:pt x="1121404" y="27388"/>
                  </a:lnTo>
                  <a:lnTo>
                    <a:pt x="1114859" y="20791"/>
                  </a:lnTo>
                  <a:close/>
                </a:path>
                <a:path w="1174750" h="55245">
                  <a:moveTo>
                    <a:pt x="1155103" y="20791"/>
                  </a:moveTo>
                  <a:lnTo>
                    <a:pt x="1123144" y="20791"/>
                  </a:lnTo>
                  <a:lnTo>
                    <a:pt x="1124751" y="22437"/>
                  </a:lnTo>
                  <a:lnTo>
                    <a:pt x="1126090" y="24096"/>
                  </a:lnTo>
                  <a:lnTo>
                    <a:pt x="1127696" y="27388"/>
                  </a:lnTo>
                  <a:lnTo>
                    <a:pt x="1126090" y="30692"/>
                  </a:lnTo>
                  <a:lnTo>
                    <a:pt x="1124751" y="32338"/>
                  </a:lnTo>
                  <a:lnTo>
                    <a:pt x="1123144" y="33663"/>
                  </a:lnTo>
                  <a:lnTo>
                    <a:pt x="1156053" y="33663"/>
                  </a:lnTo>
                  <a:lnTo>
                    <a:pt x="1174416" y="27388"/>
                  </a:lnTo>
                  <a:lnTo>
                    <a:pt x="1155103" y="20791"/>
                  </a:lnTo>
                  <a:close/>
                </a:path>
              </a:pathLst>
            </a:custGeom>
            <a:solidFill>
              <a:srgbClr val="000000"/>
            </a:solidFill>
          </p:spPr>
          <p:txBody>
            <a:bodyPr wrap="square" lIns="0" tIns="0" rIns="0" bIns="0" rtlCol="0"/>
            <a:lstStyle/>
            <a:p/>
          </p:txBody>
        </p:sp>
        <p:sp>
          <p:nvSpPr>
            <p:cNvPr id="62" name="object 62" descr=""/>
            <p:cNvSpPr/>
            <p:nvPr/>
          </p:nvSpPr>
          <p:spPr>
            <a:xfrm>
              <a:off x="10312820" y="3220812"/>
              <a:ext cx="1174750" cy="55244"/>
            </a:xfrm>
            <a:custGeom>
              <a:avLst/>
              <a:gdLst/>
              <a:ahLst/>
              <a:cxnLst/>
              <a:rect l="l" t="t" r="r" b="b"/>
              <a:pathLst>
                <a:path w="1174750" h="55245">
                  <a:moveTo>
                    <a:pt x="7898" y="20791"/>
                  </a:moveTo>
                  <a:lnTo>
                    <a:pt x="1121404" y="20791"/>
                  </a:lnTo>
                  <a:lnTo>
                    <a:pt x="1123144" y="20791"/>
                  </a:lnTo>
                  <a:lnTo>
                    <a:pt x="1124751" y="22437"/>
                  </a:lnTo>
                  <a:lnTo>
                    <a:pt x="1126090" y="24096"/>
                  </a:lnTo>
                  <a:lnTo>
                    <a:pt x="1127696" y="27388"/>
                  </a:lnTo>
                  <a:lnTo>
                    <a:pt x="1126090" y="30692"/>
                  </a:lnTo>
                  <a:lnTo>
                    <a:pt x="1124751" y="32338"/>
                  </a:lnTo>
                  <a:lnTo>
                    <a:pt x="1123144" y="33663"/>
                  </a:lnTo>
                  <a:lnTo>
                    <a:pt x="1121404" y="33663"/>
                  </a:lnTo>
                  <a:lnTo>
                    <a:pt x="7898" y="33663"/>
                  </a:lnTo>
                  <a:lnTo>
                    <a:pt x="4551" y="33663"/>
                  </a:lnTo>
                  <a:lnTo>
                    <a:pt x="2945" y="32338"/>
                  </a:lnTo>
                  <a:lnTo>
                    <a:pt x="1338" y="30692"/>
                  </a:lnTo>
                  <a:lnTo>
                    <a:pt x="0" y="27388"/>
                  </a:lnTo>
                  <a:lnTo>
                    <a:pt x="1338" y="24096"/>
                  </a:lnTo>
                  <a:lnTo>
                    <a:pt x="2945" y="22437"/>
                  </a:lnTo>
                  <a:lnTo>
                    <a:pt x="4551" y="20791"/>
                  </a:lnTo>
                  <a:lnTo>
                    <a:pt x="7898" y="20791"/>
                  </a:lnTo>
                  <a:close/>
                </a:path>
                <a:path w="1174750" h="55245">
                  <a:moveTo>
                    <a:pt x="1121404" y="27388"/>
                  </a:moveTo>
                  <a:lnTo>
                    <a:pt x="1094229" y="0"/>
                  </a:lnTo>
                  <a:lnTo>
                    <a:pt x="1174416" y="27388"/>
                  </a:lnTo>
                  <a:lnTo>
                    <a:pt x="1094229" y="54789"/>
                  </a:lnTo>
                  <a:lnTo>
                    <a:pt x="1121404" y="27388"/>
                  </a:lnTo>
                  <a:close/>
                </a:path>
              </a:pathLst>
            </a:custGeom>
            <a:ln w="3175">
              <a:solidFill>
                <a:srgbClr val="000000"/>
              </a:solidFill>
            </a:ln>
          </p:spPr>
          <p:txBody>
            <a:bodyPr wrap="square" lIns="0" tIns="0" rIns="0" bIns="0" rtlCol="0"/>
            <a:lstStyle/>
            <a:p/>
          </p:txBody>
        </p:sp>
      </p:grpSp>
      <p:sp>
        <p:nvSpPr>
          <p:cNvPr id="63" name="object 63" descr=""/>
          <p:cNvSpPr txBox="1"/>
          <p:nvPr/>
        </p:nvSpPr>
        <p:spPr>
          <a:xfrm>
            <a:off x="10897738" y="3036971"/>
            <a:ext cx="591185" cy="170815"/>
          </a:xfrm>
          <a:prstGeom prst="rect">
            <a:avLst/>
          </a:prstGeom>
        </p:spPr>
        <p:txBody>
          <a:bodyPr wrap="square" lIns="0" tIns="12700" rIns="0" bIns="0" rtlCol="0" vert="horz">
            <a:spAutoFit/>
          </a:bodyPr>
          <a:lstStyle/>
          <a:p>
            <a:pPr marL="38100">
              <a:lnSpc>
                <a:spcPct val="100000"/>
              </a:lnSpc>
              <a:spcBef>
                <a:spcPts val="100"/>
              </a:spcBef>
            </a:pPr>
            <a:r>
              <a:rPr dirty="0" sz="950" spc="-10">
                <a:latin typeface="宋体"/>
                <a:cs typeface="宋体"/>
              </a:rPr>
              <a:t>〈</a:t>
            </a:r>
            <a:r>
              <a:rPr dirty="0" sz="950" b="1">
                <a:latin typeface="宋体"/>
                <a:cs typeface="宋体"/>
              </a:rPr>
              <a:t>28</a:t>
            </a:r>
            <a:r>
              <a:rPr dirty="0" sz="950" spc="-120">
                <a:latin typeface="宋体"/>
                <a:cs typeface="宋体"/>
              </a:rPr>
              <a:t>〉 </a:t>
            </a:r>
            <a:r>
              <a:rPr dirty="0" baseline="29239" sz="1425" spc="-75">
                <a:latin typeface="宋体"/>
                <a:cs typeface="宋体"/>
              </a:rPr>
              <a:t>④</a:t>
            </a:r>
            <a:endParaRPr baseline="29239" sz="1425">
              <a:latin typeface="宋体"/>
              <a:cs typeface="宋体"/>
            </a:endParaRPr>
          </a:p>
        </p:txBody>
      </p:sp>
      <p:sp>
        <p:nvSpPr>
          <p:cNvPr id="64" name="object 64" descr=""/>
          <p:cNvSpPr/>
          <p:nvPr/>
        </p:nvSpPr>
        <p:spPr>
          <a:xfrm>
            <a:off x="11020710" y="3204302"/>
            <a:ext cx="98425" cy="84455"/>
          </a:xfrm>
          <a:custGeom>
            <a:avLst/>
            <a:gdLst/>
            <a:ahLst/>
            <a:cxnLst/>
            <a:rect l="l" t="t" r="r" b="b"/>
            <a:pathLst>
              <a:path w="98425" h="84454">
                <a:moveTo>
                  <a:pt x="0" y="83850"/>
                </a:moveTo>
                <a:lnTo>
                  <a:pt x="98124" y="0"/>
                </a:lnTo>
              </a:path>
            </a:pathLst>
          </a:custGeom>
          <a:ln w="9613">
            <a:solidFill>
              <a:srgbClr val="000000"/>
            </a:solidFill>
          </a:ln>
        </p:spPr>
        <p:txBody>
          <a:bodyPr wrap="square" lIns="0" tIns="0" rIns="0" bIns="0" rtlCol="0"/>
          <a:lstStyle/>
          <a:p/>
        </p:txBody>
      </p:sp>
      <p:grpSp>
        <p:nvGrpSpPr>
          <p:cNvPr id="65" name="object 65" descr=""/>
          <p:cNvGrpSpPr/>
          <p:nvPr/>
        </p:nvGrpSpPr>
        <p:grpSpPr>
          <a:xfrm>
            <a:off x="8611912" y="956857"/>
            <a:ext cx="2860675" cy="2003425"/>
            <a:chOff x="8611912" y="956857"/>
            <a:chExt cx="2860675" cy="2003425"/>
          </a:xfrm>
        </p:grpSpPr>
        <p:sp>
          <p:nvSpPr>
            <p:cNvPr id="66" name="object 66" descr=""/>
            <p:cNvSpPr/>
            <p:nvPr/>
          </p:nvSpPr>
          <p:spPr>
            <a:xfrm>
              <a:off x="8616992" y="961937"/>
              <a:ext cx="2320290" cy="1951989"/>
            </a:xfrm>
            <a:custGeom>
              <a:avLst/>
              <a:gdLst/>
              <a:ahLst/>
              <a:cxnLst/>
              <a:rect l="l" t="t" r="r" b="b"/>
              <a:pathLst>
                <a:path w="2320290" h="1951989">
                  <a:moveTo>
                    <a:pt x="0" y="0"/>
                  </a:moveTo>
                  <a:lnTo>
                    <a:pt x="0" y="104361"/>
                  </a:lnTo>
                </a:path>
                <a:path w="2320290" h="1951989">
                  <a:moveTo>
                    <a:pt x="0" y="104361"/>
                  </a:moveTo>
                  <a:lnTo>
                    <a:pt x="2320184" y="104361"/>
                  </a:lnTo>
                </a:path>
                <a:path w="2320290" h="1951989">
                  <a:moveTo>
                    <a:pt x="2320184" y="104361"/>
                  </a:moveTo>
                  <a:lnTo>
                    <a:pt x="2320184" y="1951544"/>
                  </a:lnTo>
                </a:path>
              </a:pathLst>
            </a:custGeom>
            <a:ln w="9613">
              <a:solidFill>
                <a:srgbClr val="000000"/>
              </a:solidFill>
            </a:ln>
          </p:spPr>
          <p:txBody>
            <a:bodyPr wrap="square" lIns="0" tIns="0" rIns="0" bIns="0" rtlCol="0"/>
            <a:lstStyle/>
            <a:p/>
          </p:txBody>
        </p:sp>
        <p:sp>
          <p:nvSpPr>
            <p:cNvPr id="67" name="object 67" descr=""/>
            <p:cNvSpPr/>
            <p:nvPr/>
          </p:nvSpPr>
          <p:spPr>
            <a:xfrm>
              <a:off x="10931152" y="2889719"/>
              <a:ext cx="540385" cy="53340"/>
            </a:xfrm>
            <a:custGeom>
              <a:avLst/>
              <a:gdLst/>
              <a:ahLst/>
              <a:cxnLst/>
              <a:rect l="l" t="t" r="r" b="b"/>
              <a:pathLst>
                <a:path w="540384" h="53339">
                  <a:moveTo>
                    <a:pt x="459699" y="0"/>
                  </a:moveTo>
                  <a:lnTo>
                    <a:pt x="486874" y="25742"/>
                  </a:lnTo>
                  <a:lnTo>
                    <a:pt x="459699" y="53144"/>
                  </a:lnTo>
                  <a:lnTo>
                    <a:pt x="521523" y="32017"/>
                  </a:lnTo>
                  <a:lnTo>
                    <a:pt x="488481" y="32017"/>
                  </a:lnTo>
                  <a:lnTo>
                    <a:pt x="490221" y="30371"/>
                  </a:lnTo>
                  <a:lnTo>
                    <a:pt x="491827" y="29047"/>
                  </a:lnTo>
                  <a:lnTo>
                    <a:pt x="493434" y="25742"/>
                  </a:lnTo>
                  <a:lnTo>
                    <a:pt x="491827" y="24096"/>
                  </a:lnTo>
                  <a:lnTo>
                    <a:pt x="490221" y="20791"/>
                  </a:lnTo>
                  <a:lnTo>
                    <a:pt x="488481" y="19146"/>
                  </a:lnTo>
                  <a:lnTo>
                    <a:pt x="519339" y="19146"/>
                  </a:lnTo>
                  <a:lnTo>
                    <a:pt x="459699" y="0"/>
                  </a:lnTo>
                  <a:close/>
                </a:path>
                <a:path w="540384" h="53339">
                  <a:moveTo>
                    <a:pt x="479911" y="19146"/>
                  </a:moveTo>
                  <a:lnTo>
                    <a:pt x="5086" y="19146"/>
                  </a:lnTo>
                  <a:lnTo>
                    <a:pt x="3346" y="20791"/>
                  </a:lnTo>
                  <a:lnTo>
                    <a:pt x="1740" y="24096"/>
                  </a:lnTo>
                  <a:lnTo>
                    <a:pt x="0" y="25742"/>
                  </a:lnTo>
                  <a:lnTo>
                    <a:pt x="1740" y="29047"/>
                  </a:lnTo>
                  <a:lnTo>
                    <a:pt x="3346" y="30371"/>
                  </a:lnTo>
                  <a:lnTo>
                    <a:pt x="5086" y="32017"/>
                  </a:lnTo>
                  <a:lnTo>
                    <a:pt x="480651" y="32017"/>
                  </a:lnTo>
                  <a:lnTo>
                    <a:pt x="486874" y="25742"/>
                  </a:lnTo>
                  <a:lnTo>
                    <a:pt x="479911" y="19146"/>
                  </a:lnTo>
                  <a:close/>
                </a:path>
                <a:path w="540384" h="53339">
                  <a:moveTo>
                    <a:pt x="519339" y="19146"/>
                  </a:moveTo>
                  <a:lnTo>
                    <a:pt x="488481" y="19146"/>
                  </a:lnTo>
                  <a:lnTo>
                    <a:pt x="490221" y="20791"/>
                  </a:lnTo>
                  <a:lnTo>
                    <a:pt x="491827" y="24096"/>
                  </a:lnTo>
                  <a:lnTo>
                    <a:pt x="493434" y="25742"/>
                  </a:lnTo>
                  <a:lnTo>
                    <a:pt x="491827" y="29047"/>
                  </a:lnTo>
                  <a:lnTo>
                    <a:pt x="490221" y="30371"/>
                  </a:lnTo>
                  <a:lnTo>
                    <a:pt x="488481" y="32017"/>
                  </a:lnTo>
                  <a:lnTo>
                    <a:pt x="521523" y="32017"/>
                  </a:lnTo>
                  <a:lnTo>
                    <a:pt x="539886" y="25742"/>
                  </a:lnTo>
                  <a:lnTo>
                    <a:pt x="519339" y="19146"/>
                  </a:lnTo>
                  <a:close/>
                </a:path>
              </a:pathLst>
            </a:custGeom>
            <a:solidFill>
              <a:srgbClr val="000000"/>
            </a:solidFill>
          </p:spPr>
          <p:txBody>
            <a:bodyPr wrap="square" lIns="0" tIns="0" rIns="0" bIns="0" rtlCol="0"/>
            <a:lstStyle/>
            <a:p/>
          </p:txBody>
        </p:sp>
        <p:sp>
          <p:nvSpPr>
            <p:cNvPr id="68" name="object 68" descr=""/>
            <p:cNvSpPr/>
            <p:nvPr/>
          </p:nvSpPr>
          <p:spPr>
            <a:xfrm>
              <a:off x="10931152" y="2889719"/>
              <a:ext cx="540385" cy="53340"/>
            </a:xfrm>
            <a:custGeom>
              <a:avLst/>
              <a:gdLst/>
              <a:ahLst/>
              <a:cxnLst/>
              <a:rect l="l" t="t" r="r" b="b"/>
              <a:pathLst>
                <a:path w="540384" h="53339">
                  <a:moveTo>
                    <a:pt x="8032" y="19146"/>
                  </a:moveTo>
                  <a:lnTo>
                    <a:pt x="486874" y="19146"/>
                  </a:lnTo>
                  <a:lnTo>
                    <a:pt x="488481" y="19146"/>
                  </a:lnTo>
                  <a:lnTo>
                    <a:pt x="490221" y="20791"/>
                  </a:lnTo>
                  <a:lnTo>
                    <a:pt x="491827" y="24096"/>
                  </a:lnTo>
                  <a:lnTo>
                    <a:pt x="493434" y="25742"/>
                  </a:lnTo>
                  <a:lnTo>
                    <a:pt x="491827" y="29047"/>
                  </a:lnTo>
                  <a:lnTo>
                    <a:pt x="490221" y="30371"/>
                  </a:lnTo>
                  <a:lnTo>
                    <a:pt x="488481" y="32017"/>
                  </a:lnTo>
                  <a:lnTo>
                    <a:pt x="486874" y="32017"/>
                  </a:lnTo>
                  <a:lnTo>
                    <a:pt x="8032" y="32017"/>
                  </a:lnTo>
                  <a:lnTo>
                    <a:pt x="5086" y="32017"/>
                  </a:lnTo>
                  <a:lnTo>
                    <a:pt x="3346" y="30371"/>
                  </a:lnTo>
                  <a:lnTo>
                    <a:pt x="1740" y="29047"/>
                  </a:lnTo>
                  <a:lnTo>
                    <a:pt x="0" y="25742"/>
                  </a:lnTo>
                  <a:lnTo>
                    <a:pt x="1740" y="24096"/>
                  </a:lnTo>
                  <a:lnTo>
                    <a:pt x="3346" y="20791"/>
                  </a:lnTo>
                  <a:lnTo>
                    <a:pt x="5086" y="19146"/>
                  </a:lnTo>
                  <a:lnTo>
                    <a:pt x="8032" y="19146"/>
                  </a:lnTo>
                  <a:close/>
                </a:path>
                <a:path w="540384" h="53339">
                  <a:moveTo>
                    <a:pt x="486874" y="25742"/>
                  </a:moveTo>
                  <a:lnTo>
                    <a:pt x="459699" y="0"/>
                  </a:lnTo>
                  <a:lnTo>
                    <a:pt x="539886" y="25742"/>
                  </a:lnTo>
                  <a:lnTo>
                    <a:pt x="459699" y="53144"/>
                  </a:lnTo>
                  <a:lnTo>
                    <a:pt x="486874" y="25742"/>
                  </a:lnTo>
                  <a:close/>
                </a:path>
              </a:pathLst>
            </a:custGeom>
            <a:ln w="3175">
              <a:solidFill>
                <a:srgbClr val="000000"/>
              </a:solidFill>
            </a:ln>
          </p:spPr>
          <p:txBody>
            <a:bodyPr wrap="square" lIns="0" tIns="0" rIns="0" bIns="0" rtlCol="0"/>
            <a:lstStyle/>
            <a:p/>
          </p:txBody>
        </p:sp>
        <p:sp>
          <p:nvSpPr>
            <p:cNvPr id="69" name="object 69" descr=""/>
            <p:cNvSpPr/>
            <p:nvPr/>
          </p:nvSpPr>
          <p:spPr>
            <a:xfrm>
              <a:off x="11020710" y="2871563"/>
              <a:ext cx="98425" cy="83820"/>
            </a:xfrm>
            <a:custGeom>
              <a:avLst/>
              <a:gdLst/>
              <a:ahLst/>
              <a:cxnLst/>
              <a:rect l="l" t="t" r="r" b="b"/>
              <a:pathLst>
                <a:path w="98425" h="83819">
                  <a:moveTo>
                    <a:pt x="0" y="83515"/>
                  </a:moveTo>
                  <a:lnTo>
                    <a:pt x="98124" y="0"/>
                  </a:lnTo>
                </a:path>
              </a:pathLst>
            </a:custGeom>
            <a:ln w="9613">
              <a:solidFill>
                <a:srgbClr val="000000"/>
              </a:solidFill>
            </a:ln>
          </p:spPr>
          <p:txBody>
            <a:bodyPr wrap="square" lIns="0" tIns="0" rIns="0" bIns="0" rtlCol="0"/>
            <a:lstStyle/>
            <a:p/>
          </p:txBody>
        </p:sp>
      </p:grpSp>
      <p:sp>
        <p:nvSpPr>
          <p:cNvPr id="70" name="object 70" descr=""/>
          <p:cNvSpPr txBox="1"/>
          <p:nvPr/>
        </p:nvSpPr>
        <p:spPr>
          <a:xfrm>
            <a:off x="10923138" y="2705877"/>
            <a:ext cx="390525" cy="170815"/>
          </a:xfrm>
          <a:prstGeom prst="rect">
            <a:avLst/>
          </a:prstGeom>
        </p:spPr>
        <p:txBody>
          <a:bodyPr wrap="square" lIns="0" tIns="12700" rIns="0" bIns="0" rtlCol="0" vert="horz">
            <a:spAutoFit/>
          </a:bodyPr>
          <a:lstStyle/>
          <a:p>
            <a:pPr marL="12700">
              <a:lnSpc>
                <a:spcPct val="100000"/>
              </a:lnSpc>
              <a:spcBef>
                <a:spcPts val="100"/>
              </a:spcBef>
            </a:pPr>
            <a:r>
              <a:rPr dirty="0" sz="950" spc="-10">
                <a:latin typeface="宋体"/>
                <a:cs typeface="宋体"/>
              </a:rPr>
              <a:t>〈</a:t>
            </a:r>
            <a:r>
              <a:rPr dirty="0" sz="950" b="1">
                <a:latin typeface="宋体"/>
                <a:cs typeface="宋体"/>
              </a:rPr>
              <a:t>12</a:t>
            </a:r>
            <a:r>
              <a:rPr dirty="0" sz="950" spc="-50">
                <a:latin typeface="宋体"/>
                <a:cs typeface="宋体"/>
              </a:rPr>
              <a:t>〉</a:t>
            </a:r>
            <a:endParaRPr sz="950">
              <a:latin typeface="宋体"/>
              <a:cs typeface="宋体"/>
            </a:endParaRPr>
          </a:p>
        </p:txBody>
      </p:sp>
      <p:sp>
        <p:nvSpPr>
          <p:cNvPr id="71" name="object 71" descr=""/>
          <p:cNvSpPr txBox="1"/>
          <p:nvPr/>
        </p:nvSpPr>
        <p:spPr>
          <a:xfrm>
            <a:off x="11556196" y="2918132"/>
            <a:ext cx="509270" cy="310515"/>
          </a:xfrm>
          <a:prstGeom prst="rect">
            <a:avLst/>
          </a:prstGeom>
        </p:spPr>
        <p:txBody>
          <a:bodyPr wrap="square" lIns="0" tIns="21590" rIns="0" bIns="0" rtlCol="0" vert="horz">
            <a:spAutoFit/>
          </a:bodyPr>
          <a:lstStyle/>
          <a:p>
            <a:pPr marL="12700" marR="5080" indent="83185">
              <a:lnSpc>
                <a:spcPts val="1100"/>
              </a:lnSpc>
              <a:spcBef>
                <a:spcPts val="170"/>
              </a:spcBef>
            </a:pPr>
            <a:r>
              <a:rPr dirty="0" sz="950" b="1">
                <a:latin typeface="宋体"/>
                <a:cs typeface="宋体"/>
              </a:rPr>
              <a:t>40</a:t>
            </a:r>
            <a:r>
              <a:rPr dirty="0" sz="950" spc="-145" b="1">
                <a:latin typeface="宋体"/>
                <a:cs typeface="宋体"/>
              </a:rPr>
              <a:t> 位</a:t>
            </a:r>
            <a:r>
              <a:rPr dirty="0" sz="950" spc="-50" b="1">
                <a:latin typeface="宋体"/>
                <a:cs typeface="宋体"/>
              </a:rPr>
              <a:t> </a:t>
            </a:r>
            <a:r>
              <a:rPr dirty="0" sz="950" spc="-20" b="1">
                <a:solidFill>
                  <a:srgbClr val="0000FF"/>
                </a:solidFill>
                <a:latin typeface="宋体"/>
                <a:cs typeface="宋体"/>
              </a:rPr>
              <a:t>物理地址</a:t>
            </a:r>
            <a:endParaRPr sz="950">
              <a:latin typeface="宋体"/>
              <a:cs typeface="宋体"/>
            </a:endParaRPr>
          </a:p>
        </p:txBody>
      </p:sp>
      <p:grpSp>
        <p:nvGrpSpPr>
          <p:cNvPr id="72" name="object 72" descr=""/>
          <p:cNvGrpSpPr/>
          <p:nvPr/>
        </p:nvGrpSpPr>
        <p:grpSpPr>
          <a:xfrm>
            <a:off x="8511114" y="1578606"/>
            <a:ext cx="2319020" cy="1252855"/>
            <a:chOff x="8511114" y="1578606"/>
            <a:chExt cx="2319020" cy="1252855"/>
          </a:xfrm>
        </p:grpSpPr>
        <p:sp>
          <p:nvSpPr>
            <p:cNvPr id="73" name="object 73" descr=""/>
            <p:cNvSpPr/>
            <p:nvPr/>
          </p:nvSpPr>
          <p:spPr>
            <a:xfrm>
              <a:off x="8515922" y="1916844"/>
              <a:ext cx="2308860" cy="915035"/>
            </a:xfrm>
            <a:custGeom>
              <a:avLst/>
              <a:gdLst/>
              <a:ahLst/>
              <a:cxnLst/>
              <a:rect l="l" t="t" r="r" b="b"/>
              <a:pathLst>
                <a:path w="2308859" h="915035">
                  <a:moveTo>
                    <a:pt x="2308805" y="167112"/>
                  </a:moveTo>
                  <a:lnTo>
                    <a:pt x="2308805" y="290887"/>
                  </a:lnTo>
                </a:path>
                <a:path w="2308859" h="915035">
                  <a:moveTo>
                    <a:pt x="0" y="295837"/>
                  </a:moveTo>
                  <a:lnTo>
                    <a:pt x="0" y="459564"/>
                  </a:lnTo>
                </a:path>
                <a:path w="2308859" h="915035">
                  <a:moveTo>
                    <a:pt x="281120" y="294178"/>
                  </a:moveTo>
                  <a:lnTo>
                    <a:pt x="281120" y="459564"/>
                  </a:lnTo>
                </a:path>
                <a:path w="2308859" h="915035">
                  <a:moveTo>
                    <a:pt x="562375" y="294178"/>
                  </a:moveTo>
                  <a:lnTo>
                    <a:pt x="562375" y="459564"/>
                  </a:lnTo>
                </a:path>
                <a:path w="2308859" h="915035">
                  <a:moveTo>
                    <a:pt x="739080" y="294178"/>
                  </a:moveTo>
                  <a:lnTo>
                    <a:pt x="739080" y="459564"/>
                  </a:lnTo>
                </a:path>
                <a:path w="2308859" h="915035">
                  <a:moveTo>
                    <a:pt x="904540" y="295837"/>
                  </a:moveTo>
                  <a:lnTo>
                    <a:pt x="904540" y="459564"/>
                  </a:lnTo>
                </a:path>
                <a:path w="2308859" h="915035">
                  <a:moveTo>
                    <a:pt x="1627823" y="294178"/>
                  </a:moveTo>
                  <a:lnTo>
                    <a:pt x="1627823" y="459564"/>
                  </a:lnTo>
                </a:path>
                <a:path w="2308859" h="915035">
                  <a:moveTo>
                    <a:pt x="1128098" y="0"/>
                  </a:moveTo>
                  <a:lnTo>
                    <a:pt x="1128098" y="914446"/>
                  </a:lnTo>
                </a:path>
              </a:pathLst>
            </a:custGeom>
            <a:ln w="9613">
              <a:solidFill>
                <a:srgbClr val="000000"/>
              </a:solidFill>
            </a:ln>
          </p:spPr>
          <p:txBody>
            <a:bodyPr wrap="square" lIns="0" tIns="0" rIns="0" bIns="0" rtlCol="0"/>
            <a:lstStyle/>
            <a:p/>
          </p:txBody>
        </p:sp>
        <p:sp>
          <p:nvSpPr>
            <p:cNvPr id="74" name="object 74" descr=""/>
            <p:cNvSpPr/>
            <p:nvPr/>
          </p:nvSpPr>
          <p:spPr>
            <a:xfrm>
              <a:off x="10489525" y="1912295"/>
              <a:ext cx="54610" cy="693420"/>
            </a:xfrm>
            <a:custGeom>
              <a:avLst/>
              <a:gdLst/>
              <a:ahLst/>
              <a:cxnLst/>
              <a:rect l="l" t="t" r="r" b="b"/>
              <a:pathLst>
                <a:path w="54609" h="693419">
                  <a:moveTo>
                    <a:pt x="0" y="612333"/>
                  </a:moveTo>
                  <a:lnTo>
                    <a:pt x="27175" y="692865"/>
                  </a:lnTo>
                  <a:lnTo>
                    <a:pt x="43437" y="644672"/>
                  </a:lnTo>
                  <a:lnTo>
                    <a:pt x="23828" y="644672"/>
                  </a:lnTo>
                  <a:lnTo>
                    <a:pt x="22221" y="643026"/>
                  </a:lnTo>
                  <a:lnTo>
                    <a:pt x="20883" y="641380"/>
                  </a:lnTo>
                  <a:lnTo>
                    <a:pt x="20883" y="632115"/>
                  </a:lnTo>
                  <a:lnTo>
                    <a:pt x="0" y="612333"/>
                  </a:lnTo>
                  <a:close/>
                </a:path>
                <a:path w="54609" h="693419">
                  <a:moveTo>
                    <a:pt x="20883" y="632115"/>
                  </a:moveTo>
                  <a:lnTo>
                    <a:pt x="20883" y="641380"/>
                  </a:lnTo>
                  <a:lnTo>
                    <a:pt x="22221" y="643026"/>
                  </a:lnTo>
                  <a:lnTo>
                    <a:pt x="23828" y="644672"/>
                  </a:lnTo>
                  <a:lnTo>
                    <a:pt x="30521" y="644672"/>
                  </a:lnTo>
                  <a:lnTo>
                    <a:pt x="31860" y="643026"/>
                  </a:lnTo>
                  <a:lnTo>
                    <a:pt x="33466" y="641380"/>
                  </a:lnTo>
                  <a:lnTo>
                    <a:pt x="33466" y="638076"/>
                  </a:lnTo>
                  <a:lnTo>
                    <a:pt x="27175" y="638076"/>
                  </a:lnTo>
                  <a:lnTo>
                    <a:pt x="20883" y="632115"/>
                  </a:lnTo>
                  <a:close/>
                </a:path>
                <a:path w="54609" h="693419">
                  <a:moveTo>
                    <a:pt x="54350" y="612333"/>
                  </a:moveTo>
                  <a:lnTo>
                    <a:pt x="33466" y="632115"/>
                  </a:lnTo>
                  <a:lnTo>
                    <a:pt x="33466" y="641380"/>
                  </a:lnTo>
                  <a:lnTo>
                    <a:pt x="31860" y="643026"/>
                  </a:lnTo>
                  <a:lnTo>
                    <a:pt x="30521" y="644672"/>
                  </a:lnTo>
                  <a:lnTo>
                    <a:pt x="43437" y="644672"/>
                  </a:lnTo>
                  <a:lnTo>
                    <a:pt x="54350" y="612333"/>
                  </a:lnTo>
                  <a:close/>
                </a:path>
                <a:path w="54609" h="693419">
                  <a:moveTo>
                    <a:pt x="30521" y="0"/>
                  </a:moveTo>
                  <a:lnTo>
                    <a:pt x="23828" y="0"/>
                  </a:lnTo>
                  <a:lnTo>
                    <a:pt x="22221" y="1605"/>
                  </a:lnTo>
                  <a:lnTo>
                    <a:pt x="20883" y="4950"/>
                  </a:lnTo>
                  <a:lnTo>
                    <a:pt x="20883" y="632115"/>
                  </a:lnTo>
                  <a:lnTo>
                    <a:pt x="27175" y="638076"/>
                  </a:lnTo>
                  <a:lnTo>
                    <a:pt x="33466" y="632115"/>
                  </a:lnTo>
                  <a:lnTo>
                    <a:pt x="33466" y="4950"/>
                  </a:lnTo>
                  <a:lnTo>
                    <a:pt x="31860" y="1605"/>
                  </a:lnTo>
                  <a:lnTo>
                    <a:pt x="30521" y="0"/>
                  </a:lnTo>
                  <a:close/>
                </a:path>
                <a:path w="54609" h="693419">
                  <a:moveTo>
                    <a:pt x="33466" y="632115"/>
                  </a:moveTo>
                  <a:lnTo>
                    <a:pt x="27175" y="638076"/>
                  </a:lnTo>
                  <a:lnTo>
                    <a:pt x="33466" y="638076"/>
                  </a:lnTo>
                  <a:lnTo>
                    <a:pt x="33466" y="632115"/>
                  </a:lnTo>
                  <a:close/>
                </a:path>
              </a:pathLst>
            </a:custGeom>
            <a:solidFill>
              <a:srgbClr val="000000"/>
            </a:solidFill>
          </p:spPr>
          <p:txBody>
            <a:bodyPr wrap="square" lIns="0" tIns="0" rIns="0" bIns="0" rtlCol="0"/>
            <a:lstStyle/>
            <a:p/>
          </p:txBody>
        </p:sp>
        <p:sp>
          <p:nvSpPr>
            <p:cNvPr id="75" name="object 75" descr=""/>
            <p:cNvSpPr/>
            <p:nvPr/>
          </p:nvSpPr>
          <p:spPr>
            <a:xfrm>
              <a:off x="10489525" y="1912295"/>
              <a:ext cx="54610" cy="693420"/>
            </a:xfrm>
            <a:custGeom>
              <a:avLst/>
              <a:gdLst/>
              <a:ahLst/>
              <a:cxnLst/>
              <a:rect l="l" t="t" r="r" b="b"/>
              <a:pathLst>
                <a:path w="54609" h="693419">
                  <a:moveTo>
                    <a:pt x="33466" y="6556"/>
                  </a:moveTo>
                  <a:lnTo>
                    <a:pt x="33466" y="638076"/>
                  </a:lnTo>
                  <a:lnTo>
                    <a:pt x="33466" y="641380"/>
                  </a:lnTo>
                  <a:lnTo>
                    <a:pt x="31860" y="643026"/>
                  </a:lnTo>
                  <a:lnTo>
                    <a:pt x="30521" y="644672"/>
                  </a:lnTo>
                  <a:lnTo>
                    <a:pt x="27175" y="644672"/>
                  </a:lnTo>
                  <a:lnTo>
                    <a:pt x="23828" y="644672"/>
                  </a:lnTo>
                  <a:lnTo>
                    <a:pt x="22221" y="643026"/>
                  </a:lnTo>
                  <a:lnTo>
                    <a:pt x="20883" y="641380"/>
                  </a:lnTo>
                  <a:lnTo>
                    <a:pt x="20883" y="638076"/>
                  </a:lnTo>
                  <a:lnTo>
                    <a:pt x="20883" y="6556"/>
                  </a:lnTo>
                  <a:lnTo>
                    <a:pt x="20883" y="4950"/>
                  </a:lnTo>
                  <a:lnTo>
                    <a:pt x="22221" y="1605"/>
                  </a:lnTo>
                  <a:lnTo>
                    <a:pt x="23828" y="0"/>
                  </a:lnTo>
                  <a:lnTo>
                    <a:pt x="27175" y="0"/>
                  </a:lnTo>
                  <a:lnTo>
                    <a:pt x="30521" y="0"/>
                  </a:lnTo>
                  <a:lnTo>
                    <a:pt x="31860" y="1605"/>
                  </a:lnTo>
                  <a:lnTo>
                    <a:pt x="33466" y="4950"/>
                  </a:lnTo>
                  <a:lnTo>
                    <a:pt x="33466" y="6556"/>
                  </a:lnTo>
                  <a:close/>
                </a:path>
                <a:path w="54609" h="693419">
                  <a:moveTo>
                    <a:pt x="27175" y="638076"/>
                  </a:moveTo>
                  <a:lnTo>
                    <a:pt x="54350" y="612333"/>
                  </a:lnTo>
                  <a:lnTo>
                    <a:pt x="27175" y="692865"/>
                  </a:lnTo>
                  <a:lnTo>
                    <a:pt x="0" y="612333"/>
                  </a:lnTo>
                  <a:lnTo>
                    <a:pt x="27175" y="638076"/>
                  </a:lnTo>
                  <a:close/>
                </a:path>
              </a:pathLst>
            </a:custGeom>
            <a:ln w="3175">
              <a:solidFill>
                <a:srgbClr val="000000"/>
              </a:solidFill>
            </a:ln>
          </p:spPr>
          <p:txBody>
            <a:bodyPr wrap="square" lIns="0" tIns="0" rIns="0" bIns="0" rtlCol="0"/>
            <a:lstStyle/>
            <a:p/>
          </p:txBody>
        </p:sp>
        <p:sp>
          <p:nvSpPr>
            <p:cNvPr id="76" name="object 76" descr=""/>
            <p:cNvSpPr/>
            <p:nvPr/>
          </p:nvSpPr>
          <p:spPr>
            <a:xfrm>
              <a:off x="10588988" y="1746521"/>
              <a:ext cx="53340" cy="859155"/>
            </a:xfrm>
            <a:custGeom>
              <a:avLst/>
              <a:gdLst/>
              <a:ahLst/>
              <a:cxnLst/>
              <a:rect l="l" t="t" r="r" b="b"/>
              <a:pathLst>
                <a:path w="53340" h="859155">
                  <a:moveTo>
                    <a:pt x="0" y="778107"/>
                  </a:moveTo>
                  <a:lnTo>
                    <a:pt x="25836" y="858639"/>
                  </a:lnTo>
                  <a:lnTo>
                    <a:pt x="42179" y="810446"/>
                  </a:lnTo>
                  <a:lnTo>
                    <a:pt x="24229" y="810446"/>
                  </a:lnTo>
                  <a:lnTo>
                    <a:pt x="20883" y="808800"/>
                  </a:lnTo>
                  <a:lnTo>
                    <a:pt x="19276" y="807154"/>
                  </a:lnTo>
                  <a:lnTo>
                    <a:pt x="19276" y="797314"/>
                  </a:lnTo>
                  <a:lnTo>
                    <a:pt x="0" y="778107"/>
                  </a:lnTo>
                  <a:close/>
                </a:path>
                <a:path w="53340" h="859155">
                  <a:moveTo>
                    <a:pt x="19276" y="797314"/>
                  </a:moveTo>
                  <a:lnTo>
                    <a:pt x="19276" y="807154"/>
                  </a:lnTo>
                  <a:lnTo>
                    <a:pt x="20883" y="808800"/>
                  </a:lnTo>
                  <a:lnTo>
                    <a:pt x="24229" y="810446"/>
                  </a:lnTo>
                  <a:lnTo>
                    <a:pt x="28915" y="810446"/>
                  </a:lnTo>
                  <a:lnTo>
                    <a:pt x="32128" y="807154"/>
                  </a:lnTo>
                  <a:lnTo>
                    <a:pt x="33868" y="803850"/>
                  </a:lnTo>
                  <a:lnTo>
                    <a:pt x="25836" y="803850"/>
                  </a:lnTo>
                  <a:lnTo>
                    <a:pt x="19276" y="797314"/>
                  </a:lnTo>
                  <a:close/>
                </a:path>
                <a:path w="53340" h="859155">
                  <a:moveTo>
                    <a:pt x="53145" y="778107"/>
                  </a:moveTo>
                  <a:lnTo>
                    <a:pt x="33868" y="796278"/>
                  </a:lnTo>
                  <a:lnTo>
                    <a:pt x="33868" y="803850"/>
                  </a:lnTo>
                  <a:lnTo>
                    <a:pt x="32128" y="807154"/>
                  </a:lnTo>
                  <a:lnTo>
                    <a:pt x="28915" y="810446"/>
                  </a:lnTo>
                  <a:lnTo>
                    <a:pt x="42179" y="810446"/>
                  </a:lnTo>
                  <a:lnTo>
                    <a:pt x="53145" y="778107"/>
                  </a:lnTo>
                  <a:close/>
                </a:path>
                <a:path w="53340" h="859155">
                  <a:moveTo>
                    <a:pt x="28915" y="0"/>
                  </a:moveTo>
                  <a:lnTo>
                    <a:pt x="24229" y="0"/>
                  </a:lnTo>
                  <a:lnTo>
                    <a:pt x="20883" y="1739"/>
                  </a:lnTo>
                  <a:lnTo>
                    <a:pt x="19276" y="3344"/>
                  </a:lnTo>
                  <a:lnTo>
                    <a:pt x="19276" y="797314"/>
                  </a:lnTo>
                  <a:lnTo>
                    <a:pt x="25836" y="803850"/>
                  </a:lnTo>
                  <a:lnTo>
                    <a:pt x="33868" y="796278"/>
                  </a:lnTo>
                  <a:lnTo>
                    <a:pt x="33868" y="6689"/>
                  </a:lnTo>
                  <a:lnTo>
                    <a:pt x="32128" y="3344"/>
                  </a:lnTo>
                  <a:lnTo>
                    <a:pt x="30521" y="1739"/>
                  </a:lnTo>
                  <a:lnTo>
                    <a:pt x="28915" y="0"/>
                  </a:lnTo>
                  <a:close/>
                </a:path>
                <a:path w="53340" h="859155">
                  <a:moveTo>
                    <a:pt x="33868" y="796278"/>
                  </a:moveTo>
                  <a:lnTo>
                    <a:pt x="25836" y="803850"/>
                  </a:lnTo>
                  <a:lnTo>
                    <a:pt x="33868" y="803850"/>
                  </a:lnTo>
                  <a:lnTo>
                    <a:pt x="33868" y="796278"/>
                  </a:lnTo>
                  <a:close/>
                </a:path>
              </a:pathLst>
            </a:custGeom>
            <a:solidFill>
              <a:srgbClr val="000000"/>
            </a:solidFill>
          </p:spPr>
          <p:txBody>
            <a:bodyPr wrap="square" lIns="0" tIns="0" rIns="0" bIns="0" rtlCol="0"/>
            <a:lstStyle/>
            <a:p/>
          </p:txBody>
        </p:sp>
        <p:sp>
          <p:nvSpPr>
            <p:cNvPr id="77" name="object 77" descr=""/>
            <p:cNvSpPr/>
            <p:nvPr/>
          </p:nvSpPr>
          <p:spPr>
            <a:xfrm>
              <a:off x="10588988" y="1746521"/>
              <a:ext cx="53340" cy="859155"/>
            </a:xfrm>
            <a:custGeom>
              <a:avLst/>
              <a:gdLst/>
              <a:ahLst/>
              <a:cxnLst/>
              <a:rect l="l" t="t" r="r" b="b"/>
              <a:pathLst>
                <a:path w="53340" h="859155">
                  <a:moveTo>
                    <a:pt x="33868" y="6689"/>
                  </a:moveTo>
                  <a:lnTo>
                    <a:pt x="33868" y="803850"/>
                  </a:lnTo>
                  <a:lnTo>
                    <a:pt x="32128" y="807154"/>
                  </a:lnTo>
                  <a:lnTo>
                    <a:pt x="30521" y="808800"/>
                  </a:lnTo>
                  <a:lnTo>
                    <a:pt x="28915" y="810446"/>
                  </a:lnTo>
                  <a:lnTo>
                    <a:pt x="25836" y="810446"/>
                  </a:lnTo>
                  <a:lnTo>
                    <a:pt x="24229" y="810446"/>
                  </a:lnTo>
                  <a:lnTo>
                    <a:pt x="20883" y="808800"/>
                  </a:lnTo>
                  <a:lnTo>
                    <a:pt x="19276" y="807154"/>
                  </a:lnTo>
                  <a:lnTo>
                    <a:pt x="19276" y="803850"/>
                  </a:lnTo>
                  <a:lnTo>
                    <a:pt x="19276" y="6689"/>
                  </a:lnTo>
                  <a:lnTo>
                    <a:pt x="19276" y="3344"/>
                  </a:lnTo>
                  <a:lnTo>
                    <a:pt x="20883" y="1739"/>
                  </a:lnTo>
                  <a:lnTo>
                    <a:pt x="24229" y="0"/>
                  </a:lnTo>
                  <a:lnTo>
                    <a:pt x="25836" y="0"/>
                  </a:lnTo>
                  <a:lnTo>
                    <a:pt x="28915" y="0"/>
                  </a:lnTo>
                  <a:lnTo>
                    <a:pt x="30521" y="1739"/>
                  </a:lnTo>
                  <a:lnTo>
                    <a:pt x="32128" y="3344"/>
                  </a:lnTo>
                  <a:lnTo>
                    <a:pt x="33868" y="6689"/>
                  </a:lnTo>
                  <a:close/>
                </a:path>
                <a:path w="53340" h="859155">
                  <a:moveTo>
                    <a:pt x="25836" y="803850"/>
                  </a:moveTo>
                  <a:lnTo>
                    <a:pt x="53145" y="778107"/>
                  </a:lnTo>
                  <a:lnTo>
                    <a:pt x="25836" y="858639"/>
                  </a:lnTo>
                  <a:lnTo>
                    <a:pt x="0" y="778107"/>
                  </a:lnTo>
                  <a:lnTo>
                    <a:pt x="25836" y="803850"/>
                  </a:lnTo>
                  <a:close/>
                </a:path>
              </a:pathLst>
            </a:custGeom>
            <a:ln w="3175">
              <a:solidFill>
                <a:srgbClr val="000000"/>
              </a:solidFill>
            </a:ln>
          </p:spPr>
          <p:txBody>
            <a:bodyPr wrap="square" lIns="0" tIns="0" rIns="0" bIns="0" rtlCol="0"/>
            <a:lstStyle/>
            <a:p/>
          </p:txBody>
        </p:sp>
        <p:sp>
          <p:nvSpPr>
            <p:cNvPr id="78" name="object 78" descr=""/>
            <p:cNvSpPr/>
            <p:nvPr/>
          </p:nvSpPr>
          <p:spPr>
            <a:xfrm>
              <a:off x="10701436" y="1579543"/>
              <a:ext cx="53340" cy="1026160"/>
            </a:xfrm>
            <a:custGeom>
              <a:avLst/>
              <a:gdLst/>
              <a:ahLst/>
              <a:cxnLst/>
              <a:rect l="l" t="t" r="r" b="b"/>
              <a:pathLst>
                <a:path w="53340" h="1026160">
                  <a:moveTo>
                    <a:pt x="0" y="945085"/>
                  </a:moveTo>
                  <a:lnTo>
                    <a:pt x="25836" y="1025617"/>
                  </a:lnTo>
                  <a:lnTo>
                    <a:pt x="42098" y="977424"/>
                  </a:lnTo>
                  <a:lnTo>
                    <a:pt x="24229" y="977424"/>
                  </a:lnTo>
                  <a:lnTo>
                    <a:pt x="20883" y="975778"/>
                  </a:lnTo>
                  <a:lnTo>
                    <a:pt x="19276" y="974133"/>
                  </a:lnTo>
                  <a:lnTo>
                    <a:pt x="19276" y="964292"/>
                  </a:lnTo>
                  <a:lnTo>
                    <a:pt x="0" y="945085"/>
                  </a:lnTo>
                  <a:close/>
                </a:path>
                <a:path w="53340" h="1026160">
                  <a:moveTo>
                    <a:pt x="19276" y="964292"/>
                  </a:moveTo>
                  <a:lnTo>
                    <a:pt x="19276" y="974133"/>
                  </a:lnTo>
                  <a:lnTo>
                    <a:pt x="20883" y="975778"/>
                  </a:lnTo>
                  <a:lnTo>
                    <a:pt x="24229" y="977424"/>
                  </a:lnTo>
                  <a:lnTo>
                    <a:pt x="28781" y="977424"/>
                  </a:lnTo>
                  <a:lnTo>
                    <a:pt x="30521" y="975778"/>
                  </a:lnTo>
                  <a:lnTo>
                    <a:pt x="32128" y="974133"/>
                  </a:lnTo>
                  <a:lnTo>
                    <a:pt x="33868" y="970828"/>
                  </a:lnTo>
                  <a:lnTo>
                    <a:pt x="25836" y="970828"/>
                  </a:lnTo>
                  <a:lnTo>
                    <a:pt x="19276" y="964292"/>
                  </a:lnTo>
                  <a:close/>
                </a:path>
                <a:path w="53340" h="1026160">
                  <a:moveTo>
                    <a:pt x="53011" y="945085"/>
                  </a:moveTo>
                  <a:lnTo>
                    <a:pt x="33868" y="963219"/>
                  </a:lnTo>
                  <a:lnTo>
                    <a:pt x="33868" y="970828"/>
                  </a:lnTo>
                  <a:lnTo>
                    <a:pt x="32128" y="974133"/>
                  </a:lnTo>
                  <a:lnTo>
                    <a:pt x="30521" y="975778"/>
                  </a:lnTo>
                  <a:lnTo>
                    <a:pt x="28781" y="977424"/>
                  </a:lnTo>
                  <a:lnTo>
                    <a:pt x="42098" y="977424"/>
                  </a:lnTo>
                  <a:lnTo>
                    <a:pt x="53011" y="945085"/>
                  </a:lnTo>
                  <a:close/>
                </a:path>
                <a:path w="53340" h="1026160">
                  <a:moveTo>
                    <a:pt x="25836" y="0"/>
                  </a:moveTo>
                  <a:lnTo>
                    <a:pt x="24229" y="1605"/>
                  </a:lnTo>
                  <a:lnTo>
                    <a:pt x="20883" y="3344"/>
                  </a:lnTo>
                  <a:lnTo>
                    <a:pt x="19276" y="4950"/>
                  </a:lnTo>
                  <a:lnTo>
                    <a:pt x="19276" y="964292"/>
                  </a:lnTo>
                  <a:lnTo>
                    <a:pt x="25836" y="970828"/>
                  </a:lnTo>
                  <a:lnTo>
                    <a:pt x="33868" y="963219"/>
                  </a:lnTo>
                  <a:lnTo>
                    <a:pt x="33868" y="7894"/>
                  </a:lnTo>
                  <a:lnTo>
                    <a:pt x="32128" y="4950"/>
                  </a:lnTo>
                  <a:lnTo>
                    <a:pt x="28781" y="1605"/>
                  </a:lnTo>
                  <a:lnTo>
                    <a:pt x="25836" y="0"/>
                  </a:lnTo>
                  <a:close/>
                </a:path>
                <a:path w="53340" h="1026160">
                  <a:moveTo>
                    <a:pt x="33868" y="963219"/>
                  </a:moveTo>
                  <a:lnTo>
                    <a:pt x="25836" y="970828"/>
                  </a:lnTo>
                  <a:lnTo>
                    <a:pt x="33868" y="970828"/>
                  </a:lnTo>
                  <a:lnTo>
                    <a:pt x="33868" y="963219"/>
                  </a:lnTo>
                  <a:close/>
                </a:path>
              </a:pathLst>
            </a:custGeom>
            <a:solidFill>
              <a:srgbClr val="000000"/>
            </a:solidFill>
          </p:spPr>
          <p:txBody>
            <a:bodyPr wrap="square" lIns="0" tIns="0" rIns="0" bIns="0" rtlCol="0"/>
            <a:lstStyle/>
            <a:p/>
          </p:txBody>
        </p:sp>
        <p:sp>
          <p:nvSpPr>
            <p:cNvPr id="79" name="object 79" descr=""/>
            <p:cNvSpPr/>
            <p:nvPr/>
          </p:nvSpPr>
          <p:spPr>
            <a:xfrm>
              <a:off x="10701436" y="1579543"/>
              <a:ext cx="53340" cy="1026160"/>
            </a:xfrm>
            <a:custGeom>
              <a:avLst/>
              <a:gdLst/>
              <a:ahLst/>
              <a:cxnLst/>
              <a:rect l="l" t="t" r="r" b="b"/>
              <a:pathLst>
                <a:path w="53340" h="1026160">
                  <a:moveTo>
                    <a:pt x="33868" y="7894"/>
                  </a:moveTo>
                  <a:lnTo>
                    <a:pt x="33868" y="970828"/>
                  </a:lnTo>
                  <a:lnTo>
                    <a:pt x="32128" y="974132"/>
                  </a:lnTo>
                  <a:lnTo>
                    <a:pt x="30521" y="975778"/>
                  </a:lnTo>
                  <a:lnTo>
                    <a:pt x="28781" y="977424"/>
                  </a:lnTo>
                  <a:lnTo>
                    <a:pt x="25836" y="977424"/>
                  </a:lnTo>
                  <a:lnTo>
                    <a:pt x="24229" y="977424"/>
                  </a:lnTo>
                  <a:lnTo>
                    <a:pt x="20883" y="975778"/>
                  </a:lnTo>
                  <a:lnTo>
                    <a:pt x="19276" y="974132"/>
                  </a:lnTo>
                  <a:lnTo>
                    <a:pt x="19276" y="970828"/>
                  </a:lnTo>
                  <a:lnTo>
                    <a:pt x="19276" y="7893"/>
                  </a:lnTo>
                  <a:lnTo>
                    <a:pt x="19276" y="4950"/>
                  </a:lnTo>
                  <a:lnTo>
                    <a:pt x="20883" y="3344"/>
                  </a:lnTo>
                  <a:lnTo>
                    <a:pt x="24229" y="1605"/>
                  </a:lnTo>
                  <a:lnTo>
                    <a:pt x="25836" y="0"/>
                  </a:lnTo>
                  <a:lnTo>
                    <a:pt x="28781" y="1605"/>
                  </a:lnTo>
                  <a:lnTo>
                    <a:pt x="30521" y="3344"/>
                  </a:lnTo>
                  <a:lnTo>
                    <a:pt x="32128" y="4950"/>
                  </a:lnTo>
                  <a:lnTo>
                    <a:pt x="33868" y="7894"/>
                  </a:lnTo>
                  <a:close/>
                </a:path>
                <a:path w="53340" h="1026160">
                  <a:moveTo>
                    <a:pt x="25836" y="970828"/>
                  </a:moveTo>
                  <a:lnTo>
                    <a:pt x="53011" y="945085"/>
                  </a:lnTo>
                  <a:lnTo>
                    <a:pt x="25836" y="1025617"/>
                  </a:lnTo>
                  <a:lnTo>
                    <a:pt x="0" y="945085"/>
                  </a:lnTo>
                  <a:lnTo>
                    <a:pt x="25836" y="970828"/>
                  </a:lnTo>
                  <a:close/>
                </a:path>
              </a:pathLst>
            </a:custGeom>
            <a:ln w="3175">
              <a:solidFill>
                <a:srgbClr val="000000"/>
              </a:solidFill>
            </a:ln>
          </p:spPr>
          <p:txBody>
            <a:bodyPr wrap="square" lIns="0" tIns="0" rIns="0" bIns="0" rtlCol="0"/>
            <a:lstStyle/>
            <a:p/>
          </p:txBody>
        </p:sp>
      </p:grpSp>
      <p:sp>
        <p:nvSpPr>
          <p:cNvPr id="80" name="object 80" descr=""/>
          <p:cNvSpPr txBox="1"/>
          <p:nvPr/>
        </p:nvSpPr>
        <p:spPr>
          <a:xfrm>
            <a:off x="10919791" y="2414723"/>
            <a:ext cx="908685" cy="170815"/>
          </a:xfrm>
          <a:prstGeom prst="rect">
            <a:avLst/>
          </a:prstGeom>
        </p:spPr>
        <p:txBody>
          <a:bodyPr wrap="square" lIns="0" tIns="12700" rIns="0" bIns="0" rtlCol="0" vert="horz">
            <a:spAutoFit/>
          </a:bodyPr>
          <a:lstStyle/>
          <a:p>
            <a:pPr marL="12700">
              <a:lnSpc>
                <a:spcPct val="100000"/>
              </a:lnSpc>
              <a:spcBef>
                <a:spcPts val="100"/>
              </a:spcBef>
            </a:pPr>
            <a:r>
              <a:rPr dirty="0" sz="950" spc="-10">
                <a:latin typeface="宋体"/>
                <a:cs typeface="宋体"/>
              </a:rPr>
              <a:t>（</a:t>
            </a:r>
            <a:r>
              <a:rPr dirty="0" sz="950" spc="120" b="1">
                <a:latin typeface="宋体"/>
                <a:cs typeface="宋体"/>
              </a:rPr>
              <a:t>低</a:t>
            </a:r>
            <a:r>
              <a:rPr dirty="0" sz="950" b="1">
                <a:latin typeface="宋体"/>
                <a:cs typeface="宋体"/>
              </a:rPr>
              <a:t>12</a:t>
            </a:r>
            <a:r>
              <a:rPr dirty="0" sz="950" spc="-85" b="1">
                <a:latin typeface="宋体"/>
                <a:cs typeface="宋体"/>
              </a:rPr>
              <a:t> 位地址</a:t>
            </a:r>
            <a:r>
              <a:rPr dirty="0" sz="950" spc="-50">
                <a:latin typeface="宋体"/>
                <a:cs typeface="宋体"/>
              </a:rPr>
              <a:t>）</a:t>
            </a:r>
            <a:endParaRPr sz="950">
              <a:latin typeface="宋体"/>
              <a:cs typeface="宋体"/>
            </a:endParaRPr>
          </a:p>
        </p:txBody>
      </p:sp>
      <p:sp>
        <p:nvSpPr>
          <p:cNvPr id="81" name="object 81" descr=""/>
          <p:cNvSpPr txBox="1"/>
          <p:nvPr/>
        </p:nvSpPr>
        <p:spPr>
          <a:xfrm>
            <a:off x="10683784" y="3286191"/>
            <a:ext cx="908050" cy="170815"/>
          </a:xfrm>
          <a:prstGeom prst="rect">
            <a:avLst/>
          </a:prstGeom>
        </p:spPr>
        <p:txBody>
          <a:bodyPr wrap="square" lIns="0" tIns="12700" rIns="0" bIns="0" rtlCol="0" vert="horz">
            <a:spAutoFit/>
          </a:bodyPr>
          <a:lstStyle/>
          <a:p>
            <a:pPr marL="12700">
              <a:lnSpc>
                <a:spcPct val="100000"/>
              </a:lnSpc>
              <a:spcBef>
                <a:spcPts val="100"/>
              </a:spcBef>
            </a:pPr>
            <a:r>
              <a:rPr dirty="0" sz="950" spc="-10">
                <a:latin typeface="宋体"/>
                <a:cs typeface="宋体"/>
              </a:rPr>
              <a:t>（</a:t>
            </a:r>
            <a:r>
              <a:rPr dirty="0" sz="950" spc="120" b="1">
                <a:latin typeface="宋体"/>
                <a:cs typeface="宋体"/>
              </a:rPr>
              <a:t>高</a:t>
            </a:r>
            <a:r>
              <a:rPr dirty="0" sz="950" b="1">
                <a:latin typeface="宋体"/>
                <a:cs typeface="宋体"/>
              </a:rPr>
              <a:t>28</a:t>
            </a:r>
            <a:r>
              <a:rPr dirty="0" sz="950" spc="-85" b="1">
                <a:latin typeface="宋体"/>
                <a:cs typeface="宋体"/>
              </a:rPr>
              <a:t> 位地址</a:t>
            </a:r>
            <a:r>
              <a:rPr dirty="0" sz="950" spc="-50">
                <a:latin typeface="宋体"/>
                <a:cs typeface="宋体"/>
              </a:rPr>
              <a:t>）</a:t>
            </a:r>
            <a:endParaRPr sz="950">
              <a:latin typeface="宋体"/>
              <a:cs typeface="宋体"/>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02967"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486867" y="750570"/>
            <a:ext cx="11780520" cy="4768215"/>
          </a:xfrm>
          <a:prstGeom prst="rect">
            <a:avLst/>
          </a:prstGeom>
        </p:spPr>
        <p:txBody>
          <a:bodyPr wrap="square" lIns="0" tIns="13335" rIns="0" bIns="0" rtlCol="0" vert="horz">
            <a:spAutoFit/>
          </a:bodyPr>
          <a:lstStyle/>
          <a:p>
            <a:pPr marL="1163320">
              <a:lnSpc>
                <a:spcPct val="100000"/>
              </a:lnSpc>
              <a:spcBef>
                <a:spcPts val="105"/>
              </a:spcBef>
            </a:pPr>
            <a:r>
              <a:rPr dirty="0" sz="2600">
                <a:solidFill>
                  <a:srgbClr val="0000CC"/>
                </a:solidFill>
                <a:latin typeface="黑体"/>
                <a:cs typeface="黑体"/>
              </a:rPr>
              <a:t>7.7.2</a:t>
            </a:r>
            <a:r>
              <a:rPr dirty="0" sz="2600" spc="-15">
                <a:solidFill>
                  <a:srgbClr val="0000CC"/>
                </a:solidFill>
                <a:latin typeface="黑体"/>
                <a:cs typeface="黑体"/>
              </a:rPr>
              <a:t> 快速地址转换技术</a:t>
            </a:r>
            <a:endParaRPr sz="2600">
              <a:latin typeface="黑体"/>
              <a:cs typeface="黑体"/>
            </a:endParaRPr>
          </a:p>
          <a:p>
            <a:pPr marL="469265" indent="-456565">
              <a:lnSpc>
                <a:spcPct val="100000"/>
              </a:lnSpc>
              <a:spcBef>
                <a:spcPts val="3105"/>
              </a:spcBef>
              <a:buClr>
                <a:srgbClr val="40458B"/>
              </a:buClr>
              <a:buAutoNum type="arabicPeriod"/>
              <a:tabLst>
                <a:tab pos="469265" algn="l"/>
              </a:tabLst>
            </a:pPr>
            <a:r>
              <a:rPr dirty="0" sz="2400">
                <a:solidFill>
                  <a:srgbClr val="E14B04"/>
                </a:solidFill>
                <a:latin typeface="黑体"/>
                <a:cs typeface="黑体"/>
              </a:rPr>
              <a:t>地址变换缓冲器</a:t>
            </a:r>
            <a:r>
              <a:rPr dirty="0" sz="2400" spc="-25">
                <a:solidFill>
                  <a:srgbClr val="FF0000"/>
                </a:solidFill>
                <a:latin typeface="黑体"/>
                <a:cs typeface="黑体"/>
              </a:rPr>
              <a:t>TLB</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TLB</a:t>
            </a:r>
            <a:r>
              <a:rPr dirty="0" sz="2400" spc="-5">
                <a:solidFill>
                  <a:srgbClr val="40458B"/>
                </a:solidFill>
                <a:latin typeface="黑体"/>
                <a:cs typeface="黑体"/>
              </a:rPr>
              <a:t>是一个专用的高速缓冲器，用于存放近期经常使用的页表项；</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TLB</a:t>
            </a:r>
            <a:r>
              <a:rPr dirty="0" sz="2400" spc="-5">
                <a:solidFill>
                  <a:srgbClr val="40458B"/>
                </a:solidFill>
                <a:latin typeface="黑体"/>
                <a:cs typeface="黑体"/>
              </a:rPr>
              <a:t>中的内容是页表部分内容的一个</a:t>
            </a:r>
            <a:r>
              <a:rPr dirty="0" sz="2400">
                <a:solidFill>
                  <a:srgbClr val="FF5CFF"/>
                </a:solidFill>
                <a:latin typeface="黑体"/>
                <a:cs typeface="黑体"/>
              </a:rPr>
              <a:t>副本</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TLB</a:t>
            </a:r>
            <a:r>
              <a:rPr dirty="0" sz="2400" spc="-5">
                <a:solidFill>
                  <a:srgbClr val="40458B"/>
                </a:solidFill>
                <a:latin typeface="黑体"/>
                <a:cs typeface="黑体"/>
              </a:rPr>
              <a:t>也利用</a:t>
            </a:r>
            <a:r>
              <a:rPr dirty="0" sz="2400" spc="-10">
                <a:solidFill>
                  <a:srgbClr val="FF5CFF"/>
                </a:solidFill>
                <a:latin typeface="黑体"/>
                <a:cs typeface="黑体"/>
              </a:rPr>
              <a:t>了局部性原理</a:t>
            </a:r>
            <a:r>
              <a:rPr dirty="0" sz="2400" spc="-50">
                <a:solidFill>
                  <a:srgbClr val="40458B"/>
                </a:solidFill>
                <a:latin typeface="黑体"/>
                <a:cs typeface="黑体"/>
              </a:rPr>
              <a:t>。</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一般速度较快</a:t>
            </a:r>
            <a:endParaRPr sz="2400">
              <a:latin typeface="黑体"/>
              <a:cs typeface="黑体"/>
            </a:endParaRPr>
          </a:p>
          <a:p>
            <a:pPr marL="469265" indent="-456565">
              <a:lnSpc>
                <a:spcPct val="100000"/>
              </a:lnSpc>
              <a:spcBef>
                <a:spcPts val="1150"/>
              </a:spcBef>
              <a:buClr>
                <a:srgbClr val="40458B"/>
              </a:buClr>
              <a:buAutoNum type="arabicPeriod"/>
              <a:tabLst>
                <a:tab pos="469265" algn="l"/>
              </a:tabLst>
            </a:pPr>
            <a:r>
              <a:rPr dirty="0" sz="2400" spc="-10">
                <a:solidFill>
                  <a:srgbClr val="E14B04"/>
                </a:solidFill>
                <a:latin typeface="Tahoma"/>
                <a:cs typeface="Tahoma"/>
              </a:rPr>
              <a:t>TLB</a:t>
            </a:r>
            <a:r>
              <a:rPr dirty="0" sz="2400">
                <a:solidFill>
                  <a:srgbClr val="E14B04"/>
                </a:solidFill>
                <a:latin typeface="黑体"/>
                <a:cs typeface="黑体"/>
              </a:rPr>
              <a:t>中的项由两部分构成：</a:t>
            </a:r>
            <a:r>
              <a:rPr dirty="0" sz="2400" spc="-10">
                <a:solidFill>
                  <a:srgbClr val="D50092"/>
                </a:solidFill>
                <a:latin typeface="黑体"/>
                <a:cs typeface="黑体"/>
              </a:rPr>
              <a:t>标识和数据</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5">
                <a:solidFill>
                  <a:srgbClr val="40458B"/>
                </a:solidFill>
                <a:latin typeface="黑体"/>
                <a:cs typeface="黑体"/>
              </a:rPr>
              <a:t>标识中存放的是虚地址的一部分。</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数据部分中存放的则是物理页帧号、有效位、存储保护信息、使用位、修改位等</a:t>
            </a:r>
            <a:endParaRPr sz="2400">
              <a:latin typeface="黑体"/>
              <a:cs typeface="黑体"/>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164/170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59711"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1134567" y="963676"/>
            <a:ext cx="7073265" cy="3021965"/>
          </a:xfrm>
          <a:prstGeom prst="rect">
            <a:avLst/>
          </a:prstGeom>
        </p:spPr>
        <p:txBody>
          <a:bodyPr wrap="square" lIns="0" tIns="158750" rIns="0" bIns="0" rtlCol="0" vert="horz">
            <a:spAutoFit/>
          </a:bodyPr>
          <a:lstStyle/>
          <a:p>
            <a:pPr marL="469265" indent="-456565">
              <a:lnSpc>
                <a:spcPct val="100000"/>
              </a:lnSpc>
              <a:spcBef>
                <a:spcPts val="1250"/>
              </a:spcBef>
              <a:buClr>
                <a:srgbClr val="40458B"/>
              </a:buClr>
              <a:buAutoNum type="arabicPeriod" startAt="3"/>
              <a:tabLst>
                <a:tab pos="469265" algn="l"/>
              </a:tabLst>
            </a:pPr>
            <a:r>
              <a:rPr dirty="0" sz="2400">
                <a:solidFill>
                  <a:srgbClr val="E14B04"/>
                </a:solidFill>
                <a:latin typeface="Times New Roman"/>
                <a:cs typeface="Times New Roman"/>
              </a:rPr>
              <a:t>AMD</a:t>
            </a:r>
            <a:r>
              <a:rPr dirty="0" sz="2400" spc="-30">
                <a:solidFill>
                  <a:srgbClr val="E14B04"/>
                </a:solidFill>
                <a:latin typeface="Times New Roman"/>
                <a:cs typeface="Times New Roman"/>
              </a:rPr>
              <a:t> </a:t>
            </a:r>
            <a:r>
              <a:rPr dirty="0" sz="2400">
                <a:solidFill>
                  <a:srgbClr val="E14B04"/>
                </a:solidFill>
                <a:latin typeface="Times New Roman"/>
                <a:cs typeface="Times New Roman"/>
              </a:rPr>
              <a:t>Opteron</a:t>
            </a:r>
            <a:r>
              <a:rPr dirty="0" sz="2400">
                <a:solidFill>
                  <a:srgbClr val="E14B04"/>
                </a:solidFill>
                <a:latin typeface="黑体"/>
                <a:cs typeface="黑体"/>
              </a:rPr>
              <a:t>的数据</a:t>
            </a:r>
            <a:r>
              <a:rPr dirty="0" sz="2400" spc="-10">
                <a:solidFill>
                  <a:srgbClr val="E14B04"/>
                </a:solidFill>
                <a:latin typeface="Times New Roman"/>
                <a:cs typeface="Times New Roman"/>
              </a:rPr>
              <a:t>TLB</a:t>
            </a:r>
            <a:r>
              <a:rPr dirty="0" sz="2400" spc="-10">
                <a:solidFill>
                  <a:srgbClr val="E14B04"/>
                </a:solidFill>
                <a:latin typeface="黑体"/>
                <a:cs typeface="黑体"/>
              </a:rPr>
              <a:t>的组织结构</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包含</a:t>
            </a:r>
            <a:r>
              <a:rPr dirty="0" sz="2400">
                <a:solidFill>
                  <a:srgbClr val="40458B"/>
                </a:solidFill>
                <a:latin typeface="Times New Roman"/>
                <a:cs typeface="Times New Roman"/>
              </a:rPr>
              <a:t>40</a:t>
            </a:r>
            <a:r>
              <a:rPr dirty="0" sz="2400" spc="-25">
                <a:solidFill>
                  <a:srgbClr val="40458B"/>
                </a:solidFill>
                <a:latin typeface="黑体"/>
                <a:cs typeface="黑体"/>
              </a:rPr>
              <a:t>个项</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采用全相联映象</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Tahoma"/>
                <a:cs typeface="Tahoma"/>
              </a:rPr>
              <a:t>AMD</a:t>
            </a:r>
            <a:r>
              <a:rPr dirty="0" sz="2400" spc="75">
                <a:solidFill>
                  <a:srgbClr val="40458B"/>
                </a:solidFill>
                <a:latin typeface="Tahoma"/>
                <a:cs typeface="Tahoma"/>
              </a:rPr>
              <a:t> </a:t>
            </a:r>
            <a:r>
              <a:rPr dirty="0" sz="2400" spc="-10">
                <a:solidFill>
                  <a:srgbClr val="40458B"/>
                </a:solidFill>
                <a:latin typeface="Tahoma"/>
                <a:cs typeface="Tahoma"/>
              </a:rPr>
              <a:t>Opteron</a:t>
            </a:r>
            <a:r>
              <a:rPr dirty="0" sz="2400" spc="-20">
                <a:solidFill>
                  <a:srgbClr val="40458B"/>
                </a:solidFill>
                <a:latin typeface="黑体"/>
                <a:cs typeface="黑体"/>
              </a:rPr>
              <a:t>的地址转换过程</a:t>
            </a:r>
            <a:endParaRPr sz="2400">
              <a:latin typeface="黑体"/>
              <a:cs typeface="黑体"/>
            </a:endParaRPr>
          </a:p>
          <a:p>
            <a:pPr marL="469265" indent="-456565">
              <a:lnSpc>
                <a:spcPct val="100000"/>
              </a:lnSpc>
              <a:spcBef>
                <a:spcPts val="1155"/>
              </a:spcBef>
              <a:buClr>
                <a:srgbClr val="40458B"/>
              </a:buClr>
              <a:buFont typeface="Times New Roman"/>
              <a:buAutoNum type="arabicPeriod" startAt="3"/>
              <a:tabLst>
                <a:tab pos="469265" algn="l"/>
              </a:tabLst>
            </a:pPr>
            <a:r>
              <a:rPr dirty="0" sz="2400">
                <a:solidFill>
                  <a:srgbClr val="E14B04"/>
                </a:solidFill>
                <a:latin typeface="黑体"/>
                <a:cs typeface="黑体"/>
              </a:rPr>
              <a:t>一般</a:t>
            </a:r>
            <a:r>
              <a:rPr dirty="0" sz="2400" spc="-10">
                <a:solidFill>
                  <a:srgbClr val="E14B04"/>
                </a:solidFill>
                <a:latin typeface="Times New Roman"/>
                <a:cs typeface="Times New Roman"/>
              </a:rPr>
              <a:t>TLB</a:t>
            </a:r>
            <a:r>
              <a:rPr dirty="0" sz="2400">
                <a:solidFill>
                  <a:srgbClr val="E14B04"/>
                </a:solidFill>
                <a:latin typeface="黑体"/>
                <a:cs typeface="黑体"/>
              </a:rPr>
              <a:t>比</a:t>
            </a:r>
            <a:r>
              <a:rPr dirty="0" sz="2400">
                <a:solidFill>
                  <a:srgbClr val="E14B04"/>
                </a:solidFill>
                <a:latin typeface="Times New Roman"/>
                <a:cs typeface="Times New Roman"/>
              </a:rPr>
              <a:t>Cache</a:t>
            </a:r>
            <a:r>
              <a:rPr dirty="0" sz="2400" spc="-5">
                <a:solidFill>
                  <a:srgbClr val="E14B04"/>
                </a:solidFill>
                <a:latin typeface="黑体"/>
                <a:cs typeface="黑体"/>
              </a:rPr>
              <a:t>的标识存储器更小、更快。</a:t>
            </a:r>
            <a:endParaRPr sz="2400">
              <a:latin typeface="黑体"/>
              <a:cs typeface="黑体"/>
            </a:endParaRPr>
          </a:p>
          <a:p>
            <a:pPr marL="1270000">
              <a:lnSpc>
                <a:spcPct val="100000"/>
              </a:lnSpc>
              <a:spcBef>
                <a:spcPts val="1025"/>
              </a:spcBef>
            </a:pPr>
            <a:r>
              <a:rPr dirty="0" sz="2000" spc="-10" b="1">
                <a:solidFill>
                  <a:srgbClr val="00AFEF"/>
                </a:solidFill>
                <a:latin typeface="宋体"/>
                <a:cs typeface="宋体"/>
              </a:rPr>
              <a:t>保证</a:t>
            </a:r>
            <a:r>
              <a:rPr dirty="0" sz="2000" spc="-25" b="1">
                <a:solidFill>
                  <a:srgbClr val="00AFEF"/>
                </a:solidFill>
                <a:latin typeface="Times New Roman"/>
                <a:cs typeface="Times New Roman"/>
              </a:rPr>
              <a:t>TLB</a:t>
            </a:r>
            <a:r>
              <a:rPr dirty="0" sz="2000" spc="-10" b="1">
                <a:solidFill>
                  <a:srgbClr val="00AFEF"/>
                </a:solidFill>
                <a:latin typeface="宋体"/>
                <a:cs typeface="宋体"/>
              </a:rPr>
              <a:t>的读出操作不会使</a:t>
            </a:r>
            <a:r>
              <a:rPr dirty="0" sz="2000" spc="-10" b="1">
                <a:solidFill>
                  <a:srgbClr val="00AFEF"/>
                </a:solidFill>
                <a:latin typeface="Times New Roman"/>
                <a:cs typeface="Times New Roman"/>
              </a:rPr>
              <a:t>Cache</a:t>
            </a:r>
            <a:r>
              <a:rPr dirty="0" sz="2000" spc="-25" b="1">
                <a:solidFill>
                  <a:srgbClr val="00AFEF"/>
                </a:solidFill>
                <a:latin typeface="宋体"/>
                <a:cs typeface="宋体"/>
              </a:rPr>
              <a:t>的命中时间延长。</a:t>
            </a:r>
            <a:endParaRPr sz="2000">
              <a:latin typeface="宋体"/>
              <a:cs typeface="宋体"/>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34998" y="97028"/>
            <a:ext cx="2514600"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grpSp>
        <p:nvGrpSpPr>
          <p:cNvPr id="10" name="object 10" descr=""/>
          <p:cNvGrpSpPr/>
          <p:nvPr/>
        </p:nvGrpSpPr>
        <p:grpSpPr>
          <a:xfrm>
            <a:off x="4361500" y="2743992"/>
            <a:ext cx="3795395" cy="1474470"/>
            <a:chOff x="4361500" y="2743992"/>
            <a:chExt cx="3795395" cy="1474470"/>
          </a:xfrm>
        </p:grpSpPr>
        <p:sp>
          <p:nvSpPr>
            <p:cNvPr id="11" name="object 11" descr=""/>
            <p:cNvSpPr/>
            <p:nvPr/>
          </p:nvSpPr>
          <p:spPr>
            <a:xfrm>
              <a:off x="4369117" y="2751619"/>
              <a:ext cx="3780154" cy="1459230"/>
            </a:xfrm>
            <a:custGeom>
              <a:avLst/>
              <a:gdLst/>
              <a:ahLst/>
              <a:cxnLst/>
              <a:rect l="l" t="t" r="r" b="b"/>
              <a:pathLst>
                <a:path w="3780154" h="1459229">
                  <a:moveTo>
                    <a:pt x="3779824" y="761365"/>
                  </a:moveTo>
                  <a:lnTo>
                    <a:pt x="0" y="761365"/>
                  </a:lnTo>
                  <a:lnTo>
                    <a:pt x="0" y="1458874"/>
                  </a:lnTo>
                  <a:lnTo>
                    <a:pt x="3779824" y="1458874"/>
                  </a:lnTo>
                  <a:lnTo>
                    <a:pt x="3779824" y="761365"/>
                  </a:lnTo>
                  <a:close/>
                </a:path>
                <a:path w="3780154" h="1459229">
                  <a:moveTo>
                    <a:pt x="3779824" y="0"/>
                  </a:moveTo>
                  <a:lnTo>
                    <a:pt x="0" y="0"/>
                  </a:lnTo>
                  <a:lnTo>
                    <a:pt x="0" y="508228"/>
                  </a:lnTo>
                  <a:lnTo>
                    <a:pt x="3779824" y="508228"/>
                  </a:lnTo>
                  <a:lnTo>
                    <a:pt x="3779824" y="0"/>
                  </a:lnTo>
                  <a:close/>
                </a:path>
              </a:pathLst>
            </a:custGeom>
            <a:solidFill>
              <a:srgbClr val="FFDBB7"/>
            </a:solidFill>
          </p:spPr>
          <p:txBody>
            <a:bodyPr wrap="square" lIns="0" tIns="0" rIns="0" bIns="0" rtlCol="0"/>
            <a:lstStyle/>
            <a:p/>
          </p:txBody>
        </p:sp>
        <p:sp>
          <p:nvSpPr>
            <p:cNvPr id="12" name="object 12" descr=""/>
            <p:cNvSpPr/>
            <p:nvPr/>
          </p:nvSpPr>
          <p:spPr>
            <a:xfrm>
              <a:off x="4369120" y="2751612"/>
              <a:ext cx="3780154" cy="1459230"/>
            </a:xfrm>
            <a:custGeom>
              <a:avLst/>
              <a:gdLst/>
              <a:ahLst/>
              <a:cxnLst/>
              <a:rect l="l" t="t" r="r" b="b"/>
              <a:pathLst>
                <a:path w="3780154" h="1459229">
                  <a:moveTo>
                    <a:pt x="0" y="1458879"/>
                  </a:moveTo>
                  <a:lnTo>
                    <a:pt x="3779829" y="1458879"/>
                  </a:lnTo>
                  <a:lnTo>
                    <a:pt x="3779829" y="0"/>
                  </a:lnTo>
                  <a:lnTo>
                    <a:pt x="0" y="0"/>
                  </a:lnTo>
                  <a:lnTo>
                    <a:pt x="0" y="1458879"/>
                  </a:lnTo>
                  <a:close/>
                </a:path>
              </a:pathLst>
            </a:custGeom>
            <a:ln w="14683">
              <a:solidFill>
                <a:srgbClr val="000000"/>
              </a:solidFill>
            </a:ln>
          </p:spPr>
          <p:txBody>
            <a:bodyPr wrap="square" lIns="0" tIns="0" rIns="0" bIns="0" rtlCol="0"/>
            <a:lstStyle/>
            <a:p/>
          </p:txBody>
        </p:sp>
        <p:sp>
          <p:nvSpPr>
            <p:cNvPr id="13" name="object 13" descr=""/>
            <p:cNvSpPr/>
            <p:nvPr/>
          </p:nvSpPr>
          <p:spPr>
            <a:xfrm>
              <a:off x="4369120" y="3259837"/>
              <a:ext cx="3780154" cy="253365"/>
            </a:xfrm>
            <a:custGeom>
              <a:avLst/>
              <a:gdLst/>
              <a:ahLst/>
              <a:cxnLst/>
              <a:rect l="l" t="t" r="r" b="b"/>
              <a:pathLst>
                <a:path w="3780154" h="253364">
                  <a:moveTo>
                    <a:pt x="3779829" y="0"/>
                  </a:moveTo>
                  <a:lnTo>
                    <a:pt x="0" y="0"/>
                  </a:lnTo>
                  <a:lnTo>
                    <a:pt x="0" y="253141"/>
                  </a:lnTo>
                  <a:lnTo>
                    <a:pt x="3779829" y="253141"/>
                  </a:lnTo>
                  <a:lnTo>
                    <a:pt x="3779829" y="0"/>
                  </a:lnTo>
                  <a:close/>
                </a:path>
              </a:pathLst>
            </a:custGeom>
            <a:solidFill>
              <a:srgbClr val="C0C0C0"/>
            </a:solidFill>
          </p:spPr>
          <p:txBody>
            <a:bodyPr wrap="square" lIns="0" tIns="0" rIns="0" bIns="0" rtlCol="0"/>
            <a:lstStyle/>
            <a:p/>
          </p:txBody>
        </p:sp>
      </p:grpSp>
      <p:sp>
        <p:nvSpPr>
          <p:cNvPr id="14" name="object 14" descr=""/>
          <p:cNvSpPr txBox="1"/>
          <p:nvPr/>
        </p:nvSpPr>
        <p:spPr>
          <a:xfrm>
            <a:off x="2162060" y="1772923"/>
            <a:ext cx="764540" cy="247650"/>
          </a:xfrm>
          <a:prstGeom prst="rect">
            <a:avLst/>
          </a:prstGeom>
        </p:spPr>
        <p:txBody>
          <a:bodyPr wrap="square" lIns="0" tIns="13335" rIns="0" bIns="0" rtlCol="0" vert="horz">
            <a:spAutoFit/>
          </a:bodyPr>
          <a:lstStyle/>
          <a:p>
            <a:pPr marL="12700">
              <a:lnSpc>
                <a:spcPct val="100000"/>
              </a:lnSpc>
              <a:spcBef>
                <a:spcPts val="105"/>
              </a:spcBef>
            </a:pPr>
            <a:r>
              <a:rPr dirty="0" sz="1450" spc="-20">
                <a:solidFill>
                  <a:srgbClr val="0000FF"/>
                </a:solidFill>
                <a:latin typeface="宋体"/>
                <a:cs typeface="宋体"/>
              </a:rPr>
              <a:t>虚拟地址</a:t>
            </a:r>
            <a:endParaRPr sz="1450">
              <a:latin typeface="宋体"/>
              <a:cs typeface="宋体"/>
            </a:endParaRPr>
          </a:p>
        </p:txBody>
      </p:sp>
      <p:sp>
        <p:nvSpPr>
          <p:cNvPr id="15" name="object 15" descr=""/>
          <p:cNvSpPr txBox="1"/>
          <p:nvPr/>
        </p:nvSpPr>
        <p:spPr>
          <a:xfrm>
            <a:off x="971803" y="850772"/>
            <a:ext cx="5495290" cy="852805"/>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40458B"/>
                </a:solidFill>
                <a:latin typeface="Tahoma"/>
                <a:cs typeface="Tahoma"/>
              </a:rPr>
              <a:t>AMD</a:t>
            </a:r>
            <a:r>
              <a:rPr dirty="0" sz="2400" spc="45">
                <a:solidFill>
                  <a:srgbClr val="40458B"/>
                </a:solidFill>
                <a:latin typeface="Tahoma"/>
                <a:cs typeface="Tahoma"/>
              </a:rPr>
              <a:t> </a:t>
            </a:r>
            <a:r>
              <a:rPr dirty="0" sz="2400" spc="-10">
                <a:solidFill>
                  <a:srgbClr val="40458B"/>
                </a:solidFill>
                <a:latin typeface="Tahoma"/>
                <a:cs typeface="Tahoma"/>
              </a:rPr>
              <a:t>Opteron</a:t>
            </a:r>
            <a:r>
              <a:rPr dirty="0" sz="2400" spc="-5">
                <a:solidFill>
                  <a:srgbClr val="40458B"/>
                </a:solidFill>
                <a:latin typeface="黑体"/>
                <a:cs typeface="黑体"/>
              </a:rPr>
              <a:t>的虚地址到实地址转换过程</a:t>
            </a:r>
            <a:endParaRPr sz="2400">
              <a:latin typeface="黑体"/>
              <a:cs typeface="黑体"/>
            </a:endParaRPr>
          </a:p>
          <a:p>
            <a:pPr marL="2427605">
              <a:lnSpc>
                <a:spcPct val="100000"/>
              </a:lnSpc>
              <a:spcBef>
                <a:spcPts val="1889"/>
              </a:spcBef>
              <a:tabLst>
                <a:tab pos="3543935" algn="l"/>
              </a:tabLst>
            </a:pPr>
            <a:r>
              <a:rPr dirty="0" sz="1450" spc="-10">
                <a:latin typeface="宋体"/>
                <a:cs typeface="宋体"/>
              </a:rPr>
              <a:t>〈</a:t>
            </a:r>
            <a:r>
              <a:rPr dirty="0" sz="1450">
                <a:latin typeface="宋体"/>
                <a:cs typeface="宋体"/>
              </a:rPr>
              <a:t>36</a:t>
            </a:r>
            <a:r>
              <a:rPr dirty="0" sz="1450" spc="-50">
                <a:latin typeface="宋体"/>
                <a:cs typeface="宋体"/>
              </a:rPr>
              <a:t>〉</a:t>
            </a:r>
            <a:r>
              <a:rPr dirty="0" sz="1450">
                <a:latin typeface="宋体"/>
                <a:cs typeface="宋体"/>
              </a:rPr>
              <a:t>	</a:t>
            </a:r>
            <a:r>
              <a:rPr dirty="0" sz="1450" spc="-10">
                <a:latin typeface="宋体"/>
                <a:cs typeface="宋体"/>
              </a:rPr>
              <a:t>〈</a:t>
            </a:r>
            <a:r>
              <a:rPr dirty="0" sz="1450">
                <a:latin typeface="宋体"/>
                <a:cs typeface="宋体"/>
              </a:rPr>
              <a:t>12</a:t>
            </a:r>
            <a:r>
              <a:rPr dirty="0" sz="1450" spc="-50">
                <a:latin typeface="宋体"/>
                <a:cs typeface="宋体"/>
              </a:rPr>
              <a:t>〉</a:t>
            </a:r>
            <a:endParaRPr sz="1450">
              <a:latin typeface="宋体"/>
              <a:cs typeface="宋体"/>
            </a:endParaRPr>
          </a:p>
        </p:txBody>
      </p:sp>
      <p:sp>
        <p:nvSpPr>
          <p:cNvPr id="16" name="object 16" descr=""/>
          <p:cNvSpPr txBox="1"/>
          <p:nvPr/>
        </p:nvSpPr>
        <p:spPr>
          <a:xfrm>
            <a:off x="2994342" y="1737533"/>
            <a:ext cx="1374775" cy="316865"/>
          </a:xfrm>
          <a:prstGeom prst="rect">
            <a:avLst/>
          </a:prstGeom>
          <a:solidFill>
            <a:srgbClr val="CCFFFF"/>
          </a:solidFill>
          <a:ln w="14727">
            <a:solidFill>
              <a:srgbClr val="000000"/>
            </a:solidFill>
          </a:ln>
        </p:spPr>
        <p:txBody>
          <a:bodyPr wrap="square" lIns="0" tIns="51435" rIns="0" bIns="0" rtlCol="0" vert="horz">
            <a:spAutoFit/>
          </a:bodyPr>
          <a:lstStyle/>
          <a:p>
            <a:pPr marL="422275">
              <a:lnSpc>
                <a:spcPct val="100000"/>
              </a:lnSpc>
              <a:spcBef>
                <a:spcPts val="405"/>
              </a:spcBef>
            </a:pPr>
            <a:r>
              <a:rPr dirty="0" sz="1450" spc="-20">
                <a:solidFill>
                  <a:srgbClr val="993300"/>
                </a:solidFill>
                <a:latin typeface="宋体"/>
                <a:cs typeface="宋体"/>
              </a:rPr>
              <a:t>虚页号</a:t>
            </a:r>
            <a:endParaRPr sz="1450">
              <a:latin typeface="宋体"/>
              <a:cs typeface="宋体"/>
            </a:endParaRPr>
          </a:p>
        </p:txBody>
      </p:sp>
      <p:sp>
        <p:nvSpPr>
          <p:cNvPr id="17" name="object 17" descr=""/>
          <p:cNvSpPr txBox="1"/>
          <p:nvPr/>
        </p:nvSpPr>
        <p:spPr>
          <a:xfrm>
            <a:off x="4369101" y="1737533"/>
            <a:ext cx="859155" cy="316865"/>
          </a:xfrm>
          <a:prstGeom prst="rect">
            <a:avLst/>
          </a:prstGeom>
          <a:solidFill>
            <a:srgbClr val="FFFF99"/>
          </a:solidFill>
          <a:ln w="14683">
            <a:solidFill>
              <a:srgbClr val="000000"/>
            </a:solidFill>
          </a:ln>
        </p:spPr>
        <p:txBody>
          <a:bodyPr wrap="square" lIns="0" tIns="41910" rIns="0" bIns="0" rtlCol="0" vert="horz">
            <a:spAutoFit/>
          </a:bodyPr>
          <a:lstStyle/>
          <a:p>
            <a:pPr marL="63500">
              <a:lnSpc>
                <a:spcPct val="100000"/>
              </a:lnSpc>
              <a:spcBef>
                <a:spcPts val="330"/>
              </a:spcBef>
            </a:pPr>
            <a:r>
              <a:rPr dirty="0" sz="1450" spc="-20">
                <a:solidFill>
                  <a:srgbClr val="993300"/>
                </a:solidFill>
                <a:latin typeface="宋体"/>
                <a:cs typeface="宋体"/>
              </a:rPr>
              <a:t>页内位移</a:t>
            </a:r>
            <a:endParaRPr sz="1450">
              <a:latin typeface="宋体"/>
              <a:cs typeface="宋体"/>
            </a:endParaRPr>
          </a:p>
        </p:txBody>
      </p:sp>
      <p:grpSp>
        <p:nvGrpSpPr>
          <p:cNvPr id="18" name="object 18" descr=""/>
          <p:cNvGrpSpPr/>
          <p:nvPr/>
        </p:nvGrpSpPr>
        <p:grpSpPr>
          <a:xfrm>
            <a:off x="2986721" y="1729913"/>
            <a:ext cx="5170170" cy="2045970"/>
            <a:chOff x="2986721" y="1729913"/>
            <a:chExt cx="5170170" cy="2045970"/>
          </a:xfrm>
        </p:grpSpPr>
        <p:sp>
          <p:nvSpPr>
            <p:cNvPr id="19" name="object 19" descr=""/>
            <p:cNvSpPr/>
            <p:nvPr/>
          </p:nvSpPr>
          <p:spPr>
            <a:xfrm>
              <a:off x="2994341" y="1737533"/>
              <a:ext cx="5154930" cy="2030730"/>
            </a:xfrm>
            <a:custGeom>
              <a:avLst/>
              <a:gdLst/>
              <a:ahLst/>
              <a:cxnLst/>
              <a:rect l="l" t="t" r="r" b="b"/>
              <a:pathLst>
                <a:path w="5154930" h="2030729">
                  <a:moveTo>
                    <a:pt x="0" y="316687"/>
                  </a:moveTo>
                  <a:lnTo>
                    <a:pt x="2233870" y="316687"/>
                  </a:lnTo>
                  <a:lnTo>
                    <a:pt x="2233870" y="0"/>
                  </a:lnTo>
                  <a:lnTo>
                    <a:pt x="0" y="0"/>
                  </a:lnTo>
                  <a:lnTo>
                    <a:pt x="0" y="316687"/>
                  </a:lnTo>
                  <a:close/>
                </a:path>
                <a:path w="5154930" h="2030729">
                  <a:moveTo>
                    <a:pt x="1374779" y="2030732"/>
                  </a:moveTo>
                  <a:lnTo>
                    <a:pt x="5154608" y="2030732"/>
                  </a:lnTo>
                  <a:lnTo>
                    <a:pt x="5154608" y="1014098"/>
                  </a:lnTo>
                  <a:lnTo>
                    <a:pt x="1374778" y="1014098"/>
                  </a:lnTo>
                  <a:lnTo>
                    <a:pt x="1374779" y="2030732"/>
                  </a:lnTo>
                  <a:close/>
                </a:path>
              </a:pathLst>
            </a:custGeom>
            <a:ln w="14685">
              <a:solidFill>
                <a:srgbClr val="000000"/>
              </a:solidFill>
            </a:ln>
          </p:spPr>
          <p:txBody>
            <a:bodyPr wrap="square" lIns="0" tIns="0" rIns="0" bIns="0" rtlCol="0"/>
            <a:lstStyle/>
            <a:p/>
          </p:txBody>
        </p:sp>
        <p:sp>
          <p:nvSpPr>
            <p:cNvPr id="20" name="object 20" descr=""/>
            <p:cNvSpPr/>
            <p:nvPr/>
          </p:nvSpPr>
          <p:spPr>
            <a:xfrm>
              <a:off x="4369121" y="2999354"/>
              <a:ext cx="3780154" cy="15240"/>
            </a:xfrm>
            <a:custGeom>
              <a:avLst/>
              <a:gdLst/>
              <a:ahLst/>
              <a:cxnLst/>
              <a:rect l="l" t="t" r="r" b="b"/>
              <a:pathLst>
                <a:path w="3780154" h="15239">
                  <a:moveTo>
                    <a:pt x="0" y="14682"/>
                  </a:moveTo>
                  <a:lnTo>
                    <a:pt x="3779624" y="14682"/>
                  </a:lnTo>
                  <a:lnTo>
                    <a:pt x="3779624" y="0"/>
                  </a:lnTo>
                  <a:lnTo>
                    <a:pt x="0" y="0"/>
                  </a:lnTo>
                  <a:lnTo>
                    <a:pt x="0" y="14682"/>
                  </a:lnTo>
                  <a:close/>
                </a:path>
              </a:pathLst>
            </a:custGeom>
            <a:solidFill>
              <a:srgbClr val="000000"/>
            </a:solidFill>
          </p:spPr>
          <p:txBody>
            <a:bodyPr wrap="square" lIns="0" tIns="0" rIns="0" bIns="0" rtlCol="0"/>
            <a:lstStyle/>
            <a:p/>
          </p:txBody>
        </p:sp>
      </p:grpSp>
      <p:sp>
        <p:nvSpPr>
          <p:cNvPr id="21" name="object 21" descr=""/>
          <p:cNvSpPr txBox="1"/>
          <p:nvPr/>
        </p:nvSpPr>
        <p:spPr>
          <a:xfrm>
            <a:off x="4427379" y="2529384"/>
            <a:ext cx="118110" cy="247650"/>
          </a:xfrm>
          <a:prstGeom prst="rect">
            <a:avLst/>
          </a:prstGeom>
        </p:spPr>
        <p:txBody>
          <a:bodyPr wrap="square" lIns="0" tIns="13335" rIns="0" bIns="0" rtlCol="0" vert="horz">
            <a:spAutoFit/>
          </a:bodyPr>
          <a:lstStyle/>
          <a:p>
            <a:pPr marL="12700">
              <a:lnSpc>
                <a:spcPct val="100000"/>
              </a:lnSpc>
              <a:spcBef>
                <a:spcPts val="105"/>
              </a:spcBef>
            </a:pPr>
            <a:r>
              <a:rPr dirty="0" sz="1450" spc="-50">
                <a:latin typeface="宋体"/>
                <a:cs typeface="宋体"/>
              </a:rPr>
              <a:t>V</a:t>
            </a:r>
            <a:endParaRPr sz="1450">
              <a:latin typeface="宋体"/>
              <a:cs typeface="宋体"/>
            </a:endParaRPr>
          </a:p>
        </p:txBody>
      </p:sp>
      <p:sp>
        <p:nvSpPr>
          <p:cNvPr id="22" name="object 22" descr=""/>
          <p:cNvSpPr txBox="1"/>
          <p:nvPr/>
        </p:nvSpPr>
        <p:spPr>
          <a:xfrm>
            <a:off x="3730287" y="2313545"/>
            <a:ext cx="1005840" cy="247650"/>
          </a:xfrm>
          <a:prstGeom prst="rect">
            <a:avLst/>
          </a:prstGeom>
        </p:spPr>
        <p:txBody>
          <a:bodyPr wrap="square" lIns="0" tIns="13335" rIns="0" bIns="0" rtlCol="0" vert="horz">
            <a:spAutoFit/>
          </a:bodyPr>
          <a:lstStyle/>
          <a:p>
            <a:pPr marL="12700">
              <a:lnSpc>
                <a:spcPct val="100000"/>
              </a:lnSpc>
              <a:spcBef>
                <a:spcPts val="105"/>
              </a:spcBef>
              <a:tabLst>
                <a:tab pos="419734" algn="l"/>
              </a:tabLst>
            </a:pPr>
            <a:r>
              <a:rPr dirty="0" sz="1450" spc="-50">
                <a:latin typeface="宋体"/>
                <a:cs typeface="宋体"/>
              </a:rPr>
              <a:t>①</a:t>
            </a:r>
            <a:r>
              <a:rPr dirty="0" sz="1450">
                <a:latin typeface="宋体"/>
                <a:cs typeface="宋体"/>
              </a:rPr>
              <a:t>	</a:t>
            </a:r>
            <a:r>
              <a:rPr dirty="0" sz="1450" spc="-310">
                <a:latin typeface="宋体"/>
                <a:cs typeface="宋体"/>
              </a:rPr>
              <a:t>②〈</a:t>
            </a:r>
            <a:r>
              <a:rPr dirty="0" sz="1450">
                <a:latin typeface="宋体"/>
                <a:cs typeface="宋体"/>
              </a:rPr>
              <a:t>1</a:t>
            </a:r>
            <a:r>
              <a:rPr dirty="0" sz="1450" spc="-50">
                <a:latin typeface="宋体"/>
                <a:cs typeface="宋体"/>
              </a:rPr>
              <a:t>〉</a:t>
            </a:r>
            <a:endParaRPr sz="1450">
              <a:latin typeface="宋体"/>
              <a:cs typeface="宋体"/>
            </a:endParaRPr>
          </a:p>
        </p:txBody>
      </p:sp>
      <p:sp>
        <p:nvSpPr>
          <p:cNvPr id="23" name="object 23" descr=""/>
          <p:cNvSpPr txBox="1"/>
          <p:nvPr/>
        </p:nvSpPr>
        <p:spPr>
          <a:xfrm>
            <a:off x="6071904" y="4693258"/>
            <a:ext cx="210820" cy="247650"/>
          </a:xfrm>
          <a:prstGeom prst="rect">
            <a:avLst/>
          </a:prstGeom>
        </p:spPr>
        <p:txBody>
          <a:bodyPr wrap="square" lIns="0" tIns="13335" rIns="0" bIns="0" rtlCol="0" vert="horz">
            <a:spAutoFit/>
          </a:bodyPr>
          <a:lstStyle/>
          <a:p>
            <a:pPr marL="12700">
              <a:lnSpc>
                <a:spcPct val="100000"/>
              </a:lnSpc>
              <a:spcBef>
                <a:spcPts val="105"/>
              </a:spcBef>
            </a:pPr>
            <a:r>
              <a:rPr dirty="0" sz="1450" spc="-50">
                <a:latin typeface="宋体"/>
                <a:cs typeface="宋体"/>
              </a:rPr>
              <a:t>③</a:t>
            </a:r>
            <a:endParaRPr sz="1450">
              <a:latin typeface="宋体"/>
              <a:cs typeface="宋体"/>
            </a:endParaRPr>
          </a:p>
        </p:txBody>
      </p:sp>
      <p:grpSp>
        <p:nvGrpSpPr>
          <p:cNvPr id="24" name="object 24" descr=""/>
          <p:cNvGrpSpPr/>
          <p:nvPr/>
        </p:nvGrpSpPr>
        <p:grpSpPr>
          <a:xfrm>
            <a:off x="3670992" y="2046601"/>
            <a:ext cx="1393190" cy="2045970"/>
            <a:chOff x="3670992" y="2046601"/>
            <a:chExt cx="1393190" cy="2045970"/>
          </a:xfrm>
        </p:grpSpPr>
        <p:sp>
          <p:nvSpPr>
            <p:cNvPr id="25" name="object 25" descr=""/>
            <p:cNvSpPr/>
            <p:nvPr/>
          </p:nvSpPr>
          <p:spPr>
            <a:xfrm>
              <a:off x="3681700" y="2054221"/>
              <a:ext cx="0" cy="2030730"/>
            </a:xfrm>
            <a:custGeom>
              <a:avLst/>
              <a:gdLst/>
              <a:ahLst/>
              <a:cxnLst/>
              <a:rect l="l" t="t" r="r" b="b"/>
              <a:pathLst>
                <a:path w="0" h="2030729">
                  <a:moveTo>
                    <a:pt x="0" y="0"/>
                  </a:moveTo>
                  <a:lnTo>
                    <a:pt x="0" y="2030711"/>
                  </a:lnTo>
                </a:path>
              </a:pathLst>
            </a:custGeom>
            <a:ln w="14689">
              <a:solidFill>
                <a:srgbClr val="000000"/>
              </a:solidFill>
            </a:ln>
          </p:spPr>
          <p:txBody>
            <a:bodyPr wrap="square" lIns="0" tIns="0" rIns="0" bIns="0" rtlCol="0"/>
            <a:lstStyle/>
            <a:p/>
          </p:txBody>
        </p:sp>
        <p:sp>
          <p:nvSpPr>
            <p:cNvPr id="26" name="object 26" descr=""/>
            <p:cNvSpPr/>
            <p:nvPr/>
          </p:nvSpPr>
          <p:spPr>
            <a:xfrm>
              <a:off x="3672580" y="2840319"/>
              <a:ext cx="677545" cy="83820"/>
            </a:xfrm>
            <a:custGeom>
              <a:avLst/>
              <a:gdLst/>
              <a:ahLst/>
              <a:cxnLst/>
              <a:rect l="l" t="t" r="r" b="b"/>
              <a:pathLst>
                <a:path w="677545" h="83819">
                  <a:moveTo>
                    <a:pt x="554623" y="0"/>
                  </a:moveTo>
                  <a:lnTo>
                    <a:pt x="593681" y="41900"/>
                  </a:lnTo>
                  <a:lnTo>
                    <a:pt x="554623" y="83801"/>
                  </a:lnTo>
                  <a:lnTo>
                    <a:pt x="647991" y="51915"/>
                  </a:lnTo>
                  <a:lnTo>
                    <a:pt x="598793" y="51915"/>
                  </a:lnTo>
                  <a:lnTo>
                    <a:pt x="603701" y="47010"/>
                  </a:lnTo>
                  <a:lnTo>
                    <a:pt x="606359" y="41900"/>
                  </a:lnTo>
                  <a:lnTo>
                    <a:pt x="603701" y="36790"/>
                  </a:lnTo>
                  <a:lnTo>
                    <a:pt x="601247" y="34338"/>
                  </a:lnTo>
                  <a:lnTo>
                    <a:pt x="598793" y="32294"/>
                  </a:lnTo>
                  <a:lnTo>
                    <a:pt x="649188" y="32294"/>
                  </a:lnTo>
                  <a:lnTo>
                    <a:pt x="554623" y="0"/>
                  </a:lnTo>
                  <a:close/>
                </a:path>
                <a:path w="677545" h="83819">
                  <a:moveTo>
                    <a:pt x="584726" y="32294"/>
                  </a:moveTo>
                  <a:lnTo>
                    <a:pt x="7095" y="32294"/>
                  </a:lnTo>
                  <a:lnTo>
                    <a:pt x="4560" y="34338"/>
                  </a:lnTo>
                  <a:lnTo>
                    <a:pt x="2024" y="36790"/>
                  </a:lnTo>
                  <a:lnTo>
                    <a:pt x="0" y="41900"/>
                  </a:lnTo>
                  <a:lnTo>
                    <a:pt x="2024" y="47010"/>
                  </a:lnTo>
                  <a:lnTo>
                    <a:pt x="7095" y="51915"/>
                  </a:lnTo>
                  <a:lnTo>
                    <a:pt x="584345" y="51915"/>
                  </a:lnTo>
                  <a:lnTo>
                    <a:pt x="593681" y="41900"/>
                  </a:lnTo>
                  <a:lnTo>
                    <a:pt x="584726" y="32294"/>
                  </a:lnTo>
                  <a:close/>
                </a:path>
                <a:path w="677545" h="83819">
                  <a:moveTo>
                    <a:pt x="649188" y="32294"/>
                  </a:moveTo>
                  <a:lnTo>
                    <a:pt x="598793" y="32294"/>
                  </a:lnTo>
                  <a:lnTo>
                    <a:pt x="601247" y="34338"/>
                  </a:lnTo>
                  <a:lnTo>
                    <a:pt x="603701" y="36790"/>
                  </a:lnTo>
                  <a:lnTo>
                    <a:pt x="606359" y="41900"/>
                  </a:lnTo>
                  <a:lnTo>
                    <a:pt x="603701" y="47010"/>
                  </a:lnTo>
                  <a:lnTo>
                    <a:pt x="598793" y="51915"/>
                  </a:lnTo>
                  <a:lnTo>
                    <a:pt x="647991" y="51915"/>
                  </a:lnTo>
                  <a:lnTo>
                    <a:pt x="677318" y="41900"/>
                  </a:lnTo>
                  <a:lnTo>
                    <a:pt x="649188" y="32294"/>
                  </a:lnTo>
                  <a:close/>
                </a:path>
              </a:pathLst>
            </a:custGeom>
            <a:solidFill>
              <a:srgbClr val="000000"/>
            </a:solidFill>
          </p:spPr>
          <p:txBody>
            <a:bodyPr wrap="square" lIns="0" tIns="0" rIns="0" bIns="0" rtlCol="0"/>
            <a:lstStyle/>
            <a:p/>
          </p:txBody>
        </p:sp>
        <p:sp>
          <p:nvSpPr>
            <p:cNvPr id="27" name="object 27" descr=""/>
            <p:cNvSpPr/>
            <p:nvPr/>
          </p:nvSpPr>
          <p:spPr>
            <a:xfrm>
              <a:off x="3672580" y="2840319"/>
              <a:ext cx="677545" cy="83820"/>
            </a:xfrm>
            <a:custGeom>
              <a:avLst/>
              <a:gdLst/>
              <a:ahLst/>
              <a:cxnLst/>
              <a:rect l="l" t="t" r="r" b="b"/>
              <a:pathLst>
                <a:path w="677545" h="83819">
                  <a:moveTo>
                    <a:pt x="12146" y="32294"/>
                  </a:moveTo>
                  <a:lnTo>
                    <a:pt x="593681" y="32294"/>
                  </a:lnTo>
                  <a:lnTo>
                    <a:pt x="598793" y="32294"/>
                  </a:lnTo>
                  <a:lnTo>
                    <a:pt x="601247" y="34338"/>
                  </a:lnTo>
                  <a:lnTo>
                    <a:pt x="603701" y="36790"/>
                  </a:lnTo>
                  <a:lnTo>
                    <a:pt x="606359" y="41900"/>
                  </a:lnTo>
                  <a:lnTo>
                    <a:pt x="603701" y="47010"/>
                  </a:lnTo>
                  <a:lnTo>
                    <a:pt x="601247" y="49463"/>
                  </a:lnTo>
                  <a:lnTo>
                    <a:pt x="598793" y="51915"/>
                  </a:lnTo>
                  <a:lnTo>
                    <a:pt x="593681" y="51915"/>
                  </a:lnTo>
                  <a:lnTo>
                    <a:pt x="12146" y="51915"/>
                  </a:lnTo>
                  <a:lnTo>
                    <a:pt x="7095" y="51915"/>
                  </a:lnTo>
                  <a:lnTo>
                    <a:pt x="4560" y="49463"/>
                  </a:lnTo>
                  <a:lnTo>
                    <a:pt x="2024" y="47010"/>
                  </a:lnTo>
                  <a:lnTo>
                    <a:pt x="0" y="41900"/>
                  </a:lnTo>
                  <a:lnTo>
                    <a:pt x="2024" y="36790"/>
                  </a:lnTo>
                  <a:lnTo>
                    <a:pt x="4560" y="34338"/>
                  </a:lnTo>
                  <a:lnTo>
                    <a:pt x="7095" y="32294"/>
                  </a:lnTo>
                  <a:lnTo>
                    <a:pt x="12146" y="32294"/>
                  </a:lnTo>
                  <a:close/>
                </a:path>
                <a:path w="677545" h="83819">
                  <a:moveTo>
                    <a:pt x="593681" y="41900"/>
                  </a:moveTo>
                  <a:lnTo>
                    <a:pt x="554623" y="0"/>
                  </a:lnTo>
                  <a:lnTo>
                    <a:pt x="677318" y="41900"/>
                  </a:lnTo>
                  <a:lnTo>
                    <a:pt x="554623" y="83801"/>
                  </a:lnTo>
                  <a:lnTo>
                    <a:pt x="593681" y="41900"/>
                  </a:lnTo>
                  <a:close/>
                </a:path>
              </a:pathLst>
            </a:custGeom>
            <a:ln w="3175">
              <a:solidFill>
                <a:srgbClr val="000000"/>
              </a:solidFill>
            </a:ln>
          </p:spPr>
          <p:txBody>
            <a:bodyPr wrap="square" lIns="0" tIns="0" rIns="0" bIns="0" rtlCol="0"/>
            <a:lstStyle/>
            <a:p/>
          </p:txBody>
        </p:sp>
        <p:sp>
          <p:nvSpPr>
            <p:cNvPr id="28" name="object 28" descr=""/>
            <p:cNvSpPr/>
            <p:nvPr/>
          </p:nvSpPr>
          <p:spPr>
            <a:xfrm>
              <a:off x="4626371" y="2751612"/>
              <a:ext cx="430530" cy="1017269"/>
            </a:xfrm>
            <a:custGeom>
              <a:avLst/>
              <a:gdLst/>
              <a:ahLst/>
              <a:cxnLst/>
              <a:rect l="l" t="t" r="r" b="b"/>
              <a:pathLst>
                <a:path w="430529" h="1017270">
                  <a:moveTo>
                    <a:pt x="0" y="0"/>
                  </a:moveTo>
                  <a:lnTo>
                    <a:pt x="0" y="1016653"/>
                  </a:lnTo>
                </a:path>
                <a:path w="430529" h="1017270">
                  <a:moveTo>
                    <a:pt x="430046" y="0"/>
                  </a:moveTo>
                  <a:lnTo>
                    <a:pt x="430046" y="1016653"/>
                  </a:lnTo>
                </a:path>
              </a:pathLst>
            </a:custGeom>
            <a:ln w="14685">
              <a:solidFill>
                <a:srgbClr val="000000"/>
              </a:solidFill>
            </a:ln>
          </p:spPr>
          <p:txBody>
            <a:bodyPr wrap="square" lIns="0" tIns="0" rIns="0" bIns="0" rtlCol="0"/>
            <a:lstStyle/>
            <a:p/>
          </p:txBody>
        </p:sp>
      </p:grpSp>
      <p:sp>
        <p:nvSpPr>
          <p:cNvPr id="29" name="object 29" descr=""/>
          <p:cNvSpPr txBox="1"/>
          <p:nvPr/>
        </p:nvSpPr>
        <p:spPr>
          <a:xfrm>
            <a:off x="4911003" y="2295868"/>
            <a:ext cx="243204" cy="286385"/>
          </a:xfrm>
          <a:prstGeom prst="rect">
            <a:avLst/>
          </a:prstGeom>
        </p:spPr>
        <p:txBody>
          <a:bodyPr wrap="square" lIns="0" tIns="13970" rIns="0" bIns="0" rtlCol="0" vert="horz">
            <a:spAutoFit/>
          </a:bodyPr>
          <a:lstStyle/>
          <a:p>
            <a:pPr marL="12700">
              <a:lnSpc>
                <a:spcPct val="100000"/>
              </a:lnSpc>
              <a:spcBef>
                <a:spcPts val="110"/>
              </a:spcBef>
            </a:pPr>
            <a:r>
              <a:rPr dirty="0" sz="1700" spc="-50">
                <a:latin typeface="宋体"/>
                <a:cs typeface="宋体"/>
              </a:rPr>
              <a:t>…</a:t>
            </a:r>
            <a:endParaRPr sz="1700">
              <a:latin typeface="宋体"/>
              <a:cs typeface="宋体"/>
            </a:endParaRPr>
          </a:p>
        </p:txBody>
      </p:sp>
      <p:sp>
        <p:nvSpPr>
          <p:cNvPr id="30" name="object 30" descr=""/>
          <p:cNvSpPr txBox="1"/>
          <p:nvPr/>
        </p:nvSpPr>
        <p:spPr>
          <a:xfrm>
            <a:off x="4682585" y="2512215"/>
            <a:ext cx="737235" cy="247650"/>
          </a:xfrm>
          <a:prstGeom prst="rect">
            <a:avLst/>
          </a:prstGeom>
        </p:spPr>
        <p:txBody>
          <a:bodyPr wrap="square" lIns="0" tIns="13335" rIns="0" bIns="0" rtlCol="0" vert="horz">
            <a:spAutoFit/>
          </a:bodyPr>
          <a:lstStyle/>
          <a:p>
            <a:pPr marL="12700">
              <a:lnSpc>
                <a:spcPct val="100000"/>
              </a:lnSpc>
              <a:spcBef>
                <a:spcPts val="105"/>
              </a:spcBef>
              <a:tabLst>
                <a:tab pos="444500" algn="l"/>
              </a:tabLst>
            </a:pPr>
            <a:r>
              <a:rPr dirty="0" sz="1450" spc="-25">
                <a:latin typeface="宋体"/>
                <a:cs typeface="宋体"/>
              </a:rPr>
              <a:t>R/W</a:t>
            </a:r>
            <a:r>
              <a:rPr dirty="0" sz="1450">
                <a:latin typeface="宋体"/>
                <a:cs typeface="宋体"/>
              </a:rPr>
              <a:t>	</a:t>
            </a:r>
            <a:r>
              <a:rPr dirty="0" sz="1450" spc="-25">
                <a:latin typeface="宋体"/>
                <a:cs typeface="宋体"/>
              </a:rPr>
              <a:t>U/S</a:t>
            </a:r>
            <a:endParaRPr sz="1450">
              <a:latin typeface="宋体"/>
              <a:cs typeface="宋体"/>
            </a:endParaRPr>
          </a:p>
        </p:txBody>
      </p:sp>
      <p:sp>
        <p:nvSpPr>
          <p:cNvPr id="31" name="object 31" descr=""/>
          <p:cNvSpPr/>
          <p:nvPr/>
        </p:nvSpPr>
        <p:spPr>
          <a:xfrm>
            <a:off x="5486056" y="2751612"/>
            <a:ext cx="257810" cy="1017269"/>
          </a:xfrm>
          <a:custGeom>
            <a:avLst/>
            <a:gdLst/>
            <a:ahLst/>
            <a:cxnLst/>
            <a:rect l="l" t="t" r="r" b="b"/>
            <a:pathLst>
              <a:path w="257810" h="1017270">
                <a:moveTo>
                  <a:pt x="0" y="0"/>
                </a:moveTo>
                <a:lnTo>
                  <a:pt x="0" y="1016653"/>
                </a:lnTo>
              </a:path>
              <a:path w="257810" h="1017270">
                <a:moveTo>
                  <a:pt x="257250" y="0"/>
                </a:moveTo>
                <a:lnTo>
                  <a:pt x="257250" y="1016653"/>
                </a:lnTo>
              </a:path>
            </a:pathLst>
          </a:custGeom>
          <a:ln w="14685">
            <a:solidFill>
              <a:srgbClr val="000000"/>
            </a:solidFill>
          </a:ln>
        </p:spPr>
        <p:txBody>
          <a:bodyPr wrap="square" lIns="0" tIns="0" rIns="0" bIns="0" rtlCol="0"/>
          <a:lstStyle/>
          <a:p/>
        </p:txBody>
      </p:sp>
      <p:sp>
        <p:nvSpPr>
          <p:cNvPr id="32" name="object 32" descr=""/>
          <p:cNvSpPr txBox="1"/>
          <p:nvPr/>
        </p:nvSpPr>
        <p:spPr>
          <a:xfrm>
            <a:off x="5563946" y="2529384"/>
            <a:ext cx="370840" cy="247650"/>
          </a:xfrm>
          <a:prstGeom prst="rect">
            <a:avLst/>
          </a:prstGeom>
        </p:spPr>
        <p:txBody>
          <a:bodyPr wrap="square" lIns="0" tIns="13335" rIns="0" bIns="0" rtlCol="0" vert="horz">
            <a:spAutoFit/>
          </a:bodyPr>
          <a:lstStyle/>
          <a:p>
            <a:pPr marL="12700">
              <a:lnSpc>
                <a:spcPct val="100000"/>
              </a:lnSpc>
              <a:spcBef>
                <a:spcPts val="105"/>
              </a:spcBef>
              <a:tabLst>
                <a:tab pos="264795" algn="l"/>
              </a:tabLst>
            </a:pPr>
            <a:r>
              <a:rPr dirty="0" sz="1450" spc="-50">
                <a:latin typeface="宋体"/>
                <a:cs typeface="宋体"/>
              </a:rPr>
              <a:t>D</a:t>
            </a:r>
            <a:r>
              <a:rPr dirty="0" sz="1450">
                <a:latin typeface="宋体"/>
                <a:cs typeface="宋体"/>
              </a:rPr>
              <a:t>	</a:t>
            </a:r>
            <a:r>
              <a:rPr dirty="0" sz="1450" spc="-50">
                <a:latin typeface="宋体"/>
                <a:cs typeface="宋体"/>
              </a:rPr>
              <a:t>A</a:t>
            </a:r>
            <a:endParaRPr sz="1450">
              <a:latin typeface="宋体"/>
              <a:cs typeface="宋体"/>
            </a:endParaRPr>
          </a:p>
        </p:txBody>
      </p:sp>
      <p:sp>
        <p:nvSpPr>
          <p:cNvPr id="33" name="object 33" descr=""/>
          <p:cNvSpPr/>
          <p:nvPr/>
        </p:nvSpPr>
        <p:spPr>
          <a:xfrm>
            <a:off x="6001171" y="2751612"/>
            <a:ext cx="0" cy="1017269"/>
          </a:xfrm>
          <a:custGeom>
            <a:avLst/>
            <a:gdLst/>
            <a:ahLst/>
            <a:cxnLst/>
            <a:rect l="l" t="t" r="r" b="b"/>
            <a:pathLst>
              <a:path w="0" h="1017270">
                <a:moveTo>
                  <a:pt x="0" y="0"/>
                </a:moveTo>
                <a:lnTo>
                  <a:pt x="0" y="1016653"/>
                </a:lnTo>
              </a:path>
            </a:pathLst>
          </a:custGeom>
          <a:ln w="14689">
            <a:solidFill>
              <a:srgbClr val="000000"/>
            </a:solidFill>
          </a:ln>
        </p:spPr>
        <p:txBody>
          <a:bodyPr wrap="square" lIns="0" tIns="0" rIns="0" bIns="0" rtlCol="0"/>
          <a:lstStyle/>
          <a:p/>
        </p:txBody>
      </p:sp>
      <p:sp>
        <p:nvSpPr>
          <p:cNvPr id="34" name="object 34" descr=""/>
          <p:cNvSpPr txBox="1"/>
          <p:nvPr/>
        </p:nvSpPr>
        <p:spPr>
          <a:xfrm>
            <a:off x="5362316" y="2313545"/>
            <a:ext cx="1506855" cy="443865"/>
          </a:xfrm>
          <a:prstGeom prst="rect">
            <a:avLst/>
          </a:prstGeom>
        </p:spPr>
        <p:txBody>
          <a:bodyPr wrap="square" lIns="0" tIns="13335" rIns="0" bIns="0" rtlCol="0" vert="horz">
            <a:spAutoFit/>
          </a:bodyPr>
          <a:lstStyle/>
          <a:p>
            <a:pPr marL="12700">
              <a:lnSpc>
                <a:spcPts val="1645"/>
              </a:lnSpc>
              <a:spcBef>
                <a:spcPts val="105"/>
              </a:spcBef>
              <a:tabLst>
                <a:tab pos="935355" algn="l"/>
              </a:tabLst>
            </a:pPr>
            <a:r>
              <a:rPr dirty="0" sz="1450" spc="-10">
                <a:latin typeface="宋体"/>
                <a:cs typeface="宋体"/>
              </a:rPr>
              <a:t>〈</a:t>
            </a:r>
            <a:r>
              <a:rPr dirty="0" sz="1450" spc="-150">
                <a:latin typeface="宋体"/>
                <a:cs typeface="宋体"/>
              </a:rPr>
              <a:t>1</a:t>
            </a:r>
            <a:r>
              <a:rPr dirty="0" sz="1450" spc="-1285">
                <a:latin typeface="宋体"/>
                <a:cs typeface="宋体"/>
              </a:rPr>
              <a:t>〈</a:t>
            </a:r>
            <a:r>
              <a:rPr dirty="0" sz="1450" spc="-180">
                <a:latin typeface="宋体"/>
                <a:cs typeface="宋体"/>
              </a:rPr>
              <a:t>〉</a:t>
            </a:r>
            <a:r>
              <a:rPr dirty="0" sz="1450">
                <a:latin typeface="宋体"/>
                <a:cs typeface="宋体"/>
              </a:rPr>
              <a:t>1</a:t>
            </a:r>
            <a:r>
              <a:rPr dirty="0" sz="1450" spc="-50">
                <a:latin typeface="宋体"/>
                <a:cs typeface="宋体"/>
              </a:rPr>
              <a:t>〉</a:t>
            </a:r>
            <a:r>
              <a:rPr dirty="0" sz="1450">
                <a:latin typeface="宋体"/>
                <a:cs typeface="宋体"/>
              </a:rPr>
              <a:t>	</a:t>
            </a:r>
            <a:r>
              <a:rPr dirty="0" sz="1450" spc="-10">
                <a:latin typeface="宋体"/>
                <a:cs typeface="宋体"/>
              </a:rPr>
              <a:t>〈</a:t>
            </a:r>
            <a:r>
              <a:rPr dirty="0" sz="1450">
                <a:latin typeface="宋体"/>
                <a:cs typeface="宋体"/>
              </a:rPr>
              <a:t>36</a:t>
            </a:r>
            <a:r>
              <a:rPr dirty="0" sz="1450" spc="-50">
                <a:latin typeface="宋体"/>
                <a:cs typeface="宋体"/>
              </a:rPr>
              <a:t>〉</a:t>
            </a:r>
            <a:endParaRPr sz="1450">
              <a:latin typeface="宋体"/>
              <a:cs typeface="宋体"/>
            </a:endParaRPr>
          </a:p>
          <a:p>
            <a:pPr marL="1016635">
              <a:lnSpc>
                <a:spcPts val="1645"/>
              </a:lnSpc>
            </a:pPr>
            <a:r>
              <a:rPr dirty="0" sz="1450" spc="-25">
                <a:solidFill>
                  <a:srgbClr val="0000FF"/>
                </a:solidFill>
                <a:latin typeface="宋体"/>
                <a:cs typeface="宋体"/>
              </a:rPr>
              <a:t>标识</a:t>
            </a:r>
            <a:endParaRPr sz="1450">
              <a:latin typeface="宋体"/>
              <a:cs typeface="宋体"/>
            </a:endParaRPr>
          </a:p>
        </p:txBody>
      </p:sp>
      <p:sp>
        <p:nvSpPr>
          <p:cNvPr id="35" name="object 35" descr=""/>
          <p:cNvSpPr txBox="1"/>
          <p:nvPr/>
        </p:nvSpPr>
        <p:spPr>
          <a:xfrm>
            <a:off x="7230350" y="2313545"/>
            <a:ext cx="764540" cy="453390"/>
          </a:xfrm>
          <a:prstGeom prst="rect">
            <a:avLst/>
          </a:prstGeom>
        </p:spPr>
        <p:txBody>
          <a:bodyPr wrap="square" lIns="0" tIns="33019" rIns="0" bIns="0" rtlCol="0" vert="horz">
            <a:spAutoFit/>
          </a:bodyPr>
          <a:lstStyle/>
          <a:p>
            <a:pPr marL="12700" marR="5080" indent="66040">
              <a:lnSpc>
                <a:spcPts val="1620"/>
              </a:lnSpc>
              <a:spcBef>
                <a:spcPts val="259"/>
              </a:spcBef>
            </a:pPr>
            <a:r>
              <a:rPr dirty="0" sz="1450" spc="-10">
                <a:latin typeface="宋体"/>
                <a:cs typeface="宋体"/>
              </a:rPr>
              <a:t>〈</a:t>
            </a:r>
            <a:r>
              <a:rPr dirty="0" sz="1450">
                <a:latin typeface="宋体"/>
                <a:cs typeface="宋体"/>
              </a:rPr>
              <a:t>28</a:t>
            </a:r>
            <a:r>
              <a:rPr dirty="0" sz="1450" spc="-50">
                <a:latin typeface="宋体"/>
                <a:cs typeface="宋体"/>
              </a:rPr>
              <a:t>〉</a:t>
            </a:r>
            <a:r>
              <a:rPr dirty="0" sz="1450" spc="-20">
                <a:solidFill>
                  <a:srgbClr val="0000FF"/>
                </a:solidFill>
                <a:latin typeface="宋体"/>
                <a:cs typeface="宋体"/>
              </a:rPr>
              <a:t>物理地址</a:t>
            </a:r>
            <a:endParaRPr sz="1450">
              <a:latin typeface="宋体"/>
              <a:cs typeface="宋体"/>
            </a:endParaRPr>
          </a:p>
        </p:txBody>
      </p:sp>
      <p:sp>
        <p:nvSpPr>
          <p:cNvPr id="36" name="object 36" descr=""/>
          <p:cNvSpPr/>
          <p:nvPr/>
        </p:nvSpPr>
        <p:spPr>
          <a:xfrm>
            <a:off x="4369120" y="2751612"/>
            <a:ext cx="3780154" cy="1017269"/>
          </a:xfrm>
          <a:custGeom>
            <a:avLst/>
            <a:gdLst/>
            <a:ahLst/>
            <a:cxnLst/>
            <a:rect l="l" t="t" r="r" b="b"/>
            <a:pathLst>
              <a:path w="3780154" h="1017270">
                <a:moveTo>
                  <a:pt x="2748985" y="0"/>
                </a:moveTo>
                <a:lnTo>
                  <a:pt x="2748985" y="1016653"/>
                </a:lnTo>
              </a:path>
              <a:path w="3780154" h="1017270">
                <a:moveTo>
                  <a:pt x="0" y="508326"/>
                </a:moveTo>
                <a:lnTo>
                  <a:pt x="3779624" y="508326"/>
                </a:lnTo>
              </a:path>
              <a:path w="3780154" h="1017270">
                <a:moveTo>
                  <a:pt x="0" y="761366"/>
                </a:moveTo>
                <a:lnTo>
                  <a:pt x="3779624" y="761366"/>
                </a:lnTo>
              </a:path>
            </a:pathLst>
          </a:custGeom>
          <a:ln w="14685">
            <a:solidFill>
              <a:srgbClr val="000000"/>
            </a:solidFill>
          </a:ln>
        </p:spPr>
        <p:txBody>
          <a:bodyPr wrap="square" lIns="0" tIns="0" rIns="0" bIns="0" rtlCol="0"/>
          <a:lstStyle/>
          <a:p/>
        </p:txBody>
      </p:sp>
      <p:sp>
        <p:nvSpPr>
          <p:cNvPr id="37" name="object 37" descr=""/>
          <p:cNvSpPr txBox="1"/>
          <p:nvPr/>
        </p:nvSpPr>
        <p:spPr>
          <a:xfrm>
            <a:off x="4369120" y="3768266"/>
            <a:ext cx="1976120" cy="189230"/>
          </a:xfrm>
          <a:prstGeom prst="rect">
            <a:avLst/>
          </a:prstGeom>
          <a:solidFill>
            <a:srgbClr val="FFDBB7"/>
          </a:solidFill>
          <a:ln w="14689">
            <a:solidFill>
              <a:srgbClr val="000000"/>
            </a:solidFill>
          </a:ln>
        </p:spPr>
        <p:txBody>
          <a:bodyPr wrap="square" lIns="0" tIns="0" rIns="0" bIns="0" rtlCol="0" vert="horz">
            <a:spAutoFit/>
          </a:bodyPr>
          <a:lstStyle/>
          <a:p>
            <a:pPr algn="ctr">
              <a:lnSpc>
                <a:spcPts val="1490"/>
              </a:lnSpc>
            </a:pPr>
            <a:r>
              <a:rPr dirty="0" sz="1700" spc="-50">
                <a:latin typeface="宋体"/>
                <a:cs typeface="宋体"/>
              </a:rPr>
              <a:t>…</a:t>
            </a:r>
            <a:endParaRPr sz="1700">
              <a:latin typeface="宋体"/>
              <a:cs typeface="宋体"/>
            </a:endParaRPr>
          </a:p>
        </p:txBody>
      </p:sp>
      <p:sp>
        <p:nvSpPr>
          <p:cNvPr id="38" name="object 38" descr=""/>
          <p:cNvSpPr txBox="1"/>
          <p:nvPr/>
        </p:nvSpPr>
        <p:spPr>
          <a:xfrm>
            <a:off x="6352471" y="3715341"/>
            <a:ext cx="1165225" cy="286385"/>
          </a:xfrm>
          <a:prstGeom prst="rect">
            <a:avLst/>
          </a:prstGeom>
        </p:spPr>
        <p:txBody>
          <a:bodyPr wrap="square" lIns="0" tIns="13970" rIns="0" bIns="0" rtlCol="0" vert="horz">
            <a:spAutoFit/>
          </a:bodyPr>
          <a:lstStyle/>
          <a:p>
            <a:pPr algn="ctr" marR="17145">
              <a:lnSpc>
                <a:spcPct val="100000"/>
              </a:lnSpc>
              <a:spcBef>
                <a:spcPts val="110"/>
              </a:spcBef>
            </a:pPr>
            <a:r>
              <a:rPr dirty="0" sz="1700" spc="-50">
                <a:latin typeface="宋体"/>
                <a:cs typeface="宋体"/>
              </a:rPr>
              <a:t>…</a:t>
            </a:r>
            <a:endParaRPr sz="1700">
              <a:latin typeface="宋体"/>
              <a:cs typeface="宋体"/>
            </a:endParaRPr>
          </a:p>
        </p:txBody>
      </p:sp>
      <p:grpSp>
        <p:nvGrpSpPr>
          <p:cNvPr id="39" name="object 39" descr=""/>
          <p:cNvGrpSpPr/>
          <p:nvPr/>
        </p:nvGrpSpPr>
        <p:grpSpPr>
          <a:xfrm>
            <a:off x="3670992" y="3094428"/>
            <a:ext cx="4485640" cy="1123950"/>
            <a:chOff x="3670992" y="3094428"/>
            <a:chExt cx="4485640" cy="1123950"/>
          </a:xfrm>
        </p:grpSpPr>
        <p:sp>
          <p:nvSpPr>
            <p:cNvPr id="40" name="object 40" descr=""/>
            <p:cNvSpPr/>
            <p:nvPr/>
          </p:nvSpPr>
          <p:spPr>
            <a:xfrm>
              <a:off x="4369121" y="3957350"/>
              <a:ext cx="3780154" cy="253365"/>
            </a:xfrm>
            <a:custGeom>
              <a:avLst/>
              <a:gdLst/>
              <a:ahLst/>
              <a:cxnLst/>
              <a:rect l="l" t="t" r="r" b="b"/>
              <a:pathLst>
                <a:path w="3780154" h="253364">
                  <a:moveTo>
                    <a:pt x="0" y="253141"/>
                  </a:moveTo>
                  <a:lnTo>
                    <a:pt x="3779829" y="253141"/>
                  </a:lnTo>
                  <a:lnTo>
                    <a:pt x="3779829" y="0"/>
                  </a:lnTo>
                  <a:lnTo>
                    <a:pt x="0" y="0"/>
                  </a:lnTo>
                  <a:lnTo>
                    <a:pt x="0" y="253141"/>
                  </a:lnTo>
                  <a:close/>
                </a:path>
              </a:pathLst>
            </a:custGeom>
            <a:ln w="14682">
              <a:solidFill>
                <a:srgbClr val="000000"/>
              </a:solidFill>
            </a:ln>
          </p:spPr>
          <p:txBody>
            <a:bodyPr wrap="square" lIns="0" tIns="0" rIns="0" bIns="0" rtlCol="0"/>
            <a:lstStyle/>
            <a:p/>
          </p:txBody>
        </p:sp>
        <p:sp>
          <p:nvSpPr>
            <p:cNvPr id="41" name="object 41" descr=""/>
            <p:cNvSpPr/>
            <p:nvPr/>
          </p:nvSpPr>
          <p:spPr>
            <a:xfrm>
              <a:off x="3672580" y="3096015"/>
              <a:ext cx="677545" cy="81280"/>
            </a:xfrm>
            <a:custGeom>
              <a:avLst/>
              <a:gdLst/>
              <a:ahLst/>
              <a:cxnLst/>
              <a:rect l="l" t="t" r="r" b="b"/>
              <a:pathLst>
                <a:path w="677545" h="81280">
                  <a:moveTo>
                    <a:pt x="554623" y="0"/>
                  </a:moveTo>
                  <a:lnTo>
                    <a:pt x="593681" y="39447"/>
                  </a:lnTo>
                  <a:lnTo>
                    <a:pt x="554623" y="80735"/>
                  </a:lnTo>
                  <a:lnTo>
                    <a:pt x="649377" y="48850"/>
                  </a:lnTo>
                  <a:lnTo>
                    <a:pt x="598793" y="48850"/>
                  </a:lnTo>
                  <a:lnTo>
                    <a:pt x="603701" y="43944"/>
                  </a:lnTo>
                  <a:lnTo>
                    <a:pt x="606359" y="39447"/>
                  </a:lnTo>
                  <a:lnTo>
                    <a:pt x="603701" y="36790"/>
                  </a:lnTo>
                  <a:lnTo>
                    <a:pt x="601247" y="31885"/>
                  </a:lnTo>
                  <a:lnTo>
                    <a:pt x="598793" y="29228"/>
                  </a:lnTo>
                  <a:lnTo>
                    <a:pt x="645531" y="29228"/>
                  </a:lnTo>
                  <a:lnTo>
                    <a:pt x="554623" y="0"/>
                  </a:lnTo>
                  <a:close/>
                </a:path>
                <a:path w="677545" h="81280">
                  <a:moveTo>
                    <a:pt x="583562" y="29228"/>
                  </a:moveTo>
                  <a:lnTo>
                    <a:pt x="7095" y="29228"/>
                  </a:lnTo>
                  <a:lnTo>
                    <a:pt x="4560" y="31885"/>
                  </a:lnTo>
                  <a:lnTo>
                    <a:pt x="2024" y="36790"/>
                  </a:lnTo>
                  <a:lnTo>
                    <a:pt x="0" y="39447"/>
                  </a:lnTo>
                  <a:lnTo>
                    <a:pt x="2024" y="43944"/>
                  </a:lnTo>
                  <a:lnTo>
                    <a:pt x="7095" y="48850"/>
                  </a:lnTo>
                  <a:lnTo>
                    <a:pt x="584786" y="48850"/>
                  </a:lnTo>
                  <a:lnTo>
                    <a:pt x="593681" y="39447"/>
                  </a:lnTo>
                  <a:lnTo>
                    <a:pt x="583562" y="29228"/>
                  </a:lnTo>
                  <a:close/>
                </a:path>
                <a:path w="677545" h="81280">
                  <a:moveTo>
                    <a:pt x="645531" y="29228"/>
                  </a:moveTo>
                  <a:lnTo>
                    <a:pt x="598793" y="29228"/>
                  </a:lnTo>
                  <a:lnTo>
                    <a:pt x="601247" y="31885"/>
                  </a:lnTo>
                  <a:lnTo>
                    <a:pt x="603701" y="36790"/>
                  </a:lnTo>
                  <a:lnTo>
                    <a:pt x="606359" y="39447"/>
                  </a:lnTo>
                  <a:lnTo>
                    <a:pt x="603701" y="43944"/>
                  </a:lnTo>
                  <a:lnTo>
                    <a:pt x="598793" y="48850"/>
                  </a:lnTo>
                  <a:lnTo>
                    <a:pt x="649377" y="48850"/>
                  </a:lnTo>
                  <a:lnTo>
                    <a:pt x="677318" y="39447"/>
                  </a:lnTo>
                  <a:lnTo>
                    <a:pt x="645531" y="29228"/>
                  </a:lnTo>
                  <a:close/>
                </a:path>
              </a:pathLst>
            </a:custGeom>
            <a:solidFill>
              <a:srgbClr val="000000"/>
            </a:solidFill>
          </p:spPr>
          <p:txBody>
            <a:bodyPr wrap="square" lIns="0" tIns="0" rIns="0" bIns="0" rtlCol="0"/>
            <a:lstStyle/>
            <a:p/>
          </p:txBody>
        </p:sp>
        <p:sp>
          <p:nvSpPr>
            <p:cNvPr id="42" name="object 42" descr=""/>
            <p:cNvSpPr/>
            <p:nvPr/>
          </p:nvSpPr>
          <p:spPr>
            <a:xfrm>
              <a:off x="3672580" y="3096015"/>
              <a:ext cx="677545" cy="81280"/>
            </a:xfrm>
            <a:custGeom>
              <a:avLst/>
              <a:gdLst/>
              <a:ahLst/>
              <a:cxnLst/>
              <a:rect l="l" t="t" r="r" b="b"/>
              <a:pathLst>
                <a:path w="677545" h="81280">
                  <a:moveTo>
                    <a:pt x="12146" y="29228"/>
                  </a:moveTo>
                  <a:lnTo>
                    <a:pt x="593681" y="29228"/>
                  </a:lnTo>
                  <a:lnTo>
                    <a:pt x="598793" y="29228"/>
                  </a:lnTo>
                  <a:lnTo>
                    <a:pt x="601247" y="31885"/>
                  </a:lnTo>
                  <a:lnTo>
                    <a:pt x="603701" y="36790"/>
                  </a:lnTo>
                  <a:lnTo>
                    <a:pt x="606359" y="39447"/>
                  </a:lnTo>
                  <a:lnTo>
                    <a:pt x="603701" y="43944"/>
                  </a:lnTo>
                  <a:lnTo>
                    <a:pt x="601247" y="46397"/>
                  </a:lnTo>
                  <a:lnTo>
                    <a:pt x="598793" y="48850"/>
                  </a:lnTo>
                  <a:lnTo>
                    <a:pt x="593681" y="48850"/>
                  </a:lnTo>
                  <a:lnTo>
                    <a:pt x="12146" y="48850"/>
                  </a:lnTo>
                  <a:lnTo>
                    <a:pt x="7095" y="48850"/>
                  </a:lnTo>
                  <a:lnTo>
                    <a:pt x="4560" y="46397"/>
                  </a:lnTo>
                  <a:lnTo>
                    <a:pt x="2024" y="43944"/>
                  </a:lnTo>
                  <a:lnTo>
                    <a:pt x="0" y="39447"/>
                  </a:lnTo>
                  <a:lnTo>
                    <a:pt x="2024" y="36790"/>
                  </a:lnTo>
                  <a:lnTo>
                    <a:pt x="4560" y="31885"/>
                  </a:lnTo>
                  <a:lnTo>
                    <a:pt x="7095" y="29228"/>
                  </a:lnTo>
                  <a:lnTo>
                    <a:pt x="12146" y="29228"/>
                  </a:lnTo>
                  <a:close/>
                </a:path>
                <a:path w="677545" h="81280">
                  <a:moveTo>
                    <a:pt x="593681" y="39447"/>
                  </a:moveTo>
                  <a:lnTo>
                    <a:pt x="554623" y="0"/>
                  </a:lnTo>
                  <a:lnTo>
                    <a:pt x="677318" y="39447"/>
                  </a:lnTo>
                  <a:lnTo>
                    <a:pt x="554623" y="80735"/>
                  </a:lnTo>
                  <a:lnTo>
                    <a:pt x="593681" y="39447"/>
                  </a:lnTo>
                  <a:close/>
                </a:path>
              </a:pathLst>
            </a:custGeom>
            <a:ln w="3175">
              <a:solidFill>
                <a:srgbClr val="000000"/>
              </a:solidFill>
            </a:ln>
          </p:spPr>
          <p:txBody>
            <a:bodyPr wrap="square" lIns="0" tIns="0" rIns="0" bIns="0" rtlCol="0"/>
            <a:lstStyle/>
            <a:p/>
          </p:txBody>
        </p:sp>
        <p:sp>
          <p:nvSpPr>
            <p:cNvPr id="43" name="object 43" descr=""/>
            <p:cNvSpPr/>
            <p:nvPr/>
          </p:nvSpPr>
          <p:spPr>
            <a:xfrm>
              <a:off x="3672580" y="3348646"/>
              <a:ext cx="677545" cy="81280"/>
            </a:xfrm>
            <a:custGeom>
              <a:avLst/>
              <a:gdLst/>
              <a:ahLst/>
              <a:cxnLst/>
              <a:rect l="l" t="t" r="r" b="b"/>
              <a:pathLst>
                <a:path w="677545" h="81279">
                  <a:moveTo>
                    <a:pt x="554623" y="0"/>
                  </a:moveTo>
                  <a:lnTo>
                    <a:pt x="593681" y="41900"/>
                  </a:lnTo>
                  <a:lnTo>
                    <a:pt x="554623" y="81144"/>
                  </a:lnTo>
                  <a:lnTo>
                    <a:pt x="646005" y="51915"/>
                  </a:lnTo>
                  <a:lnTo>
                    <a:pt x="593681" y="51915"/>
                  </a:lnTo>
                  <a:lnTo>
                    <a:pt x="598793" y="49463"/>
                  </a:lnTo>
                  <a:lnTo>
                    <a:pt x="601247" y="49463"/>
                  </a:lnTo>
                  <a:lnTo>
                    <a:pt x="603701" y="44353"/>
                  </a:lnTo>
                  <a:lnTo>
                    <a:pt x="606359" y="41900"/>
                  </a:lnTo>
                  <a:lnTo>
                    <a:pt x="603701" y="36790"/>
                  </a:lnTo>
                  <a:lnTo>
                    <a:pt x="601247" y="34746"/>
                  </a:lnTo>
                  <a:lnTo>
                    <a:pt x="598793" y="32294"/>
                  </a:lnTo>
                  <a:lnTo>
                    <a:pt x="593681" y="29841"/>
                  </a:lnTo>
                  <a:lnTo>
                    <a:pt x="642005" y="29841"/>
                  </a:lnTo>
                  <a:lnTo>
                    <a:pt x="554623" y="0"/>
                  </a:lnTo>
                  <a:close/>
                </a:path>
                <a:path w="677545" h="81279">
                  <a:moveTo>
                    <a:pt x="582439" y="29841"/>
                  </a:moveTo>
                  <a:lnTo>
                    <a:pt x="12146" y="29841"/>
                  </a:lnTo>
                  <a:lnTo>
                    <a:pt x="7095" y="32294"/>
                  </a:lnTo>
                  <a:lnTo>
                    <a:pt x="4560" y="34746"/>
                  </a:lnTo>
                  <a:lnTo>
                    <a:pt x="2024" y="36790"/>
                  </a:lnTo>
                  <a:lnTo>
                    <a:pt x="0" y="41900"/>
                  </a:lnTo>
                  <a:lnTo>
                    <a:pt x="2024" y="44353"/>
                  </a:lnTo>
                  <a:lnTo>
                    <a:pt x="4560" y="49463"/>
                  </a:lnTo>
                  <a:lnTo>
                    <a:pt x="7095" y="49463"/>
                  </a:lnTo>
                  <a:lnTo>
                    <a:pt x="12146" y="51915"/>
                  </a:lnTo>
                  <a:lnTo>
                    <a:pt x="583713" y="51915"/>
                  </a:lnTo>
                  <a:lnTo>
                    <a:pt x="593681" y="41900"/>
                  </a:lnTo>
                  <a:lnTo>
                    <a:pt x="582439" y="29841"/>
                  </a:lnTo>
                  <a:close/>
                </a:path>
                <a:path w="677545" h="81279">
                  <a:moveTo>
                    <a:pt x="642005" y="29841"/>
                  </a:moveTo>
                  <a:lnTo>
                    <a:pt x="593681" y="29841"/>
                  </a:lnTo>
                  <a:lnTo>
                    <a:pt x="598793" y="32294"/>
                  </a:lnTo>
                  <a:lnTo>
                    <a:pt x="601247" y="34746"/>
                  </a:lnTo>
                  <a:lnTo>
                    <a:pt x="603701" y="36790"/>
                  </a:lnTo>
                  <a:lnTo>
                    <a:pt x="606359" y="41900"/>
                  </a:lnTo>
                  <a:lnTo>
                    <a:pt x="603701" y="44353"/>
                  </a:lnTo>
                  <a:lnTo>
                    <a:pt x="601247" y="49463"/>
                  </a:lnTo>
                  <a:lnTo>
                    <a:pt x="598793" y="49463"/>
                  </a:lnTo>
                  <a:lnTo>
                    <a:pt x="593681" y="51915"/>
                  </a:lnTo>
                  <a:lnTo>
                    <a:pt x="646005" y="51915"/>
                  </a:lnTo>
                  <a:lnTo>
                    <a:pt x="677318" y="41900"/>
                  </a:lnTo>
                  <a:lnTo>
                    <a:pt x="642005" y="29841"/>
                  </a:lnTo>
                  <a:close/>
                </a:path>
              </a:pathLst>
            </a:custGeom>
            <a:solidFill>
              <a:srgbClr val="000000"/>
            </a:solidFill>
          </p:spPr>
          <p:txBody>
            <a:bodyPr wrap="square" lIns="0" tIns="0" rIns="0" bIns="0" rtlCol="0"/>
            <a:lstStyle/>
            <a:p/>
          </p:txBody>
        </p:sp>
        <p:sp>
          <p:nvSpPr>
            <p:cNvPr id="44" name="object 44" descr=""/>
            <p:cNvSpPr/>
            <p:nvPr/>
          </p:nvSpPr>
          <p:spPr>
            <a:xfrm>
              <a:off x="3672580" y="3348646"/>
              <a:ext cx="677545" cy="81280"/>
            </a:xfrm>
            <a:custGeom>
              <a:avLst/>
              <a:gdLst/>
              <a:ahLst/>
              <a:cxnLst/>
              <a:rect l="l" t="t" r="r" b="b"/>
              <a:pathLst>
                <a:path w="677545" h="81279">
                  <a:moveTo>
                    <a:pt x="12146" y="29841"/>
                  </a:moveTo>
                  <a:lnTo>
                    <a:pt x="593681" y="29841"/>
                  </a:lnTo>
                  <a:lnTo>
                    <a:pt x="598793" y="32294"/>
                  </a:lnTo>
                  <a:lnTo>
                    <a:pt x="601247" y="34746"/>
                  </a:lnTo>
                  <a:lnTo>
                    <a:pt x="603701" y="36790"/>
                  </a:lnTo>
                  <a:lnTo>
                    <a:pt x="606359" y="41900"/>
                  </a:lnTo>
                  <a:lnTo>
                    <a:pt x="603701" y="44353"/>
                  </a:lnTo>
                  <a:lnTo>
                    <a:pt x="601247" y="49463"/>
                  </a:lnTo>
                  <a:lnTo>
                    <a:pt x="598793" y="49463"/>
                  </a:lnTo>
                  <a:lnTo>
                    <a:pt x="593681" y="51915"/>
                  </a:lnTo>
                  <a:lnTo>
                    <a:pt x="12146" y="51915"/>
                  </a:lnTo>
                  <a:lnTo>
                    <a:pt x="7095" y="49463"/>
                  </a:lnTo>
                  <a:lnTo>
                    <a:pt x="4560" y="49463"/>
                  </a:lnTo>
                  <a:lnTo>
                    <a:pt x="2024" y="44353"/>
                  </a:lnTo>
                  <a:lnTo>
                    <a:pt x="0" y="41900"/>
                  </a:lnTo>
                  <a:lnTo>
                    <a:pt x="2024" y="36790"/>
                  </a:lnTo>
                  <a:lnTo>
                    <a:pt x="4560" y="34746"/>
                  </a:lnTo>
                  <a:lnTo>
                    <a:pt x="7095" y="32294"/>
                  </a:lnTo>
                  <a:lnTo>
                    <a:pt x="12146" y="29841"/>
                  </a:lnTo>
                  <a:close/>
                </a:path>
                <a:path w="677545" h="81279">
                  <a:moveTo>
                    <a:pt x="593681" y="41900"/>
                  </a:moveTo>
                  <a:lnTo>
                    <a:pt x="554623" y="0"/>
                  </a:lnTo>
                  <a:lnTo>
                    <a:pt x="677318" y="41900"/>
                  </a:lnTo>
                  <a:lnTo>
                    <a:pt x="554623" y="81144"/>
                  </a:lnTo>
                  <a:lnTo>
                    <a:pt x="593681" y="41900"/>
                  </a:lnTo>
                  <a:close/>
                </a:path>
              </a:pathLst>
            </a:custGeom>
            <a:ln w="3175">
              <a:solidFill>
                <a:srgbClr val="000000"/>
              </a:solidFill>
            </a:ln>
          </p:spPr>
          <p:txBody>
            <a:bodyPr wrap="square" lIns="0" tIns="0" rIns="0" bIns="0" rtlCol="0"/>
            <a:lstStyle/>
            <a:p/>
          </p:txBody>
        </p:sp>
        <p:sp>
          <p:nvSpPr>
            <p:cNvPr id="45" name="object 45" descr=""/>
            <p:cNvSpPr/>
            <p:nvPr/>
          </p:nvSpPr>
          <p:spPr>
            <a:xfrm>
              <a:off x="3672580" y="3601889"/>
              <a:ext cx="677545" cy="83820"/>
            </a:xfrm>
            <a:custGeom>
              <a:avLst/>
              <a:gdLst/>
              <a:ahLst/>
              <a:cxnLst/>
              <a:rect l="l" t="t" r="r" b="b"/>
              <a:pathLst>
                <a:path w="677545" h="83820">
                  <a:moveTo>
                    <a:pt x="554623" y="0"/>
                  </a:moveTo>
                  <a:lnTo>
                    <a:pt x="593681" y="41696"/>
                  </a:lnTo>
                  <a:lnTo>
                    <a:pt x="554623" y="83596"/>
                  </a:lnTo>
                  <a:lnTo>
                    <a:pt x="649188" y="51302"/>
                  </a:lnTo>
                  <a:lnTo>
                    <a:pt x="598793" y="51302"/>
                  </a:lnTo>
                  <a:lnTo>
                    <a:pt x="601247" y="48850"/>
                  </a:lnTo>
                  <a:lnTo>
                    <a:pt x="603701" y="46806"/>
                  </a:lnTo>
                  <a:lnTo>
                    <a:pt x="606359" y="41696"/>
                  </a:lnTo>
                  <a:lnTo>
                    <a:pt x="603701" y="36790"/>
                  </a:lnTo>
                  <a:lnTo>
                    <a:pt x="601247" y="34133"/>
                  </a:lnTo>
                  <a:lnTo>
                    <a:pt x="598793" y="31681"/>
                  </a:lnTo>
                  <a:lnTo>
                    <a:pt x="647847" y="31681"/>
                  </a:lnTo>
                  <a:lnTo>
                    <a:pt x="554623" y="0"/>
                  </a:lnTo>
                  <a:close/>
                </a:path>
                <a:path w="677545" h="83820">
                  <a:moveTo>
                    <a:pt x="584299" y="31681"/>
                  </a:moveTo>
                  <a:lnTo>
                    <a:pt x="7095" y="31681"/>
                  </a:lnTo>
                  <a:lnTo>
                    <a:pt x="4560" y="34133"/>
                  </a:lnTo>
                  <a:lnTo>
                    <a:pt x="2024" y="36790"/>
                  </a:lnTo>
                  <a:lnTo>
                    <a:pt x="0" y="41696"/>
                  </a:lnTo>
                  <a:lnTo>
                    <a:pt x="2024" y="46806"/>
                  </a:lnTo>
                  <a:lnTo>
                    <a:pt x="4560" y="48850"/>
                  </a:lnTo>
                  <a:lnTo>
                    <a:pt x="7095" y="51302"/>
                  </a:lnTo>
                  <a:lnTo>
                    <a:pt x="584726" y="51302"/>
                  </a:lnTo>
                  <a:lnTo>
                    <a:pt x="593681" y="41696"/>
                  </a:lnTo>
                  <a:lnTo>
                    <a:pt x="584299" y="31681"/>
                  </a:lnTo>
                  <a:close/>
                </a:path>
                <a:path w="677545" h="83820">
                  <a:moveTo>
                    <a:pt x="647847" y="31681"/>
                  </a:moveTo>
                  <a:lnTo>
                    <a:pt x="598793" y="31681"/>
                  </a:lnTo>
                  <a:lnTo>
                    <a:pt x="601247" y="34133"/>
                  </a:lnTo>
                  <a:lnTo>
                    <a:pt x="603701" y="36790"/>
                  </a:lnTo>
                  <a:lnTo>
                    <a:pt x="606359" y="41696"/>
                  </a:lnTo>
                  <a:lnTo>
                    <a:pt x="603701" y="46806"/>
                  </a:lnTo>
                  <a:lnTo>
                    <a:pt x="601247" y="48850"/>
                  </a:lnTo>
                  <a:lnTo>
                    <a:pt x="598793" y="51302"/>
                  </a:lnTo>
                  <a:lnTo>
                    <a:pt x="649188" y="51302"/>
                  </a:lnTo>
                  <a:lnTo>
                    <a:pt x="677318" y="41696"/>
                  </a:lnTo>
                  <a:lnTo>
                    <a:pt x="647847" y="31681"/>
                  </a:lnTo>
                  <a:close/>
                </a:path>
              </a:pathLst>
            </a:custGeom>
            <a:solidFill>
              <a:srgbClr val="000000"/>
            </a:solidFill>
          </p:spPr>
          <p:txBody>
            <a:bodyPr wrap="square" lIns="0" tIns="0" rIns="0" bIns="0" rtlCol="0"/>
            <a:lstStyle/>
            <a:p/>
          </p:txBody>
        </p:sp>
        <p:sp>
          <p:nvSpPr>
            <p:cNvPr id="46" name="object 46" descr=""/>
            <p:cNvSpPr/>
            <p:nvPr/>
          </p:nvSpPr>
          <p:spPr>
            <a:xfrm>
              <a:off x="3672580" y="3601889"/>
              <a:ext cx="677545" cy="83820"/>
            </a:xfrm>
            <a:custGeom>
              <a:avLst/>
              <a:gdLst/>
              <a:ahLst/>
              <a:cxnLst/>
              <a:rect l="l" t="t" r="r" b="b"/>
              <a:pathLst>
                <a:path w="677545" h="83820">
                  <a:moveTo>
                    <a:pt x="12146" y="31681"/>
                  </a:moveTo>
                  <a:lnTo>
                    <a:pt x="593681" y="31681"/>
                  </a:lnTo>
                  <a:lnTo>
                    <a:pt x="598793" y="31681"/>
                  </a:lnTo>
                  <a:lnTo>
                    <a:pt x="601247" y="34133"/>
                  </a:lnTo>
                  <a:lnTo>
                    <a:pt x="603701" y="36790"/>
                  </a:lnTo>
                  <a:lnTo>
                    <a:pt x="606359" y="41696"/>
                  </a:lnTo>
                  <a:lnTo>
                    <a:pt x="603701" y="46806"/>
                  </a:lnTo>
                  <a:lnTo>
                    <a:pt x="601247" y="48850"/>
                  </a:lnTo>
                  <a:lnTo>
                    <a:pt x="598793" y="51302"/>
                  </a:lnTo>
                  <a:lnTo>
                    <a:pt x="593681" y="51302"/>
                  </a:lnTo>
                  <a:lnTo>
                    <a:pt x="12146" y="51302"/>
                  </a:lnTo>
                  <a:lnTo>
                    <a:pt x="7095" y="51302"/>
                  </a:lnTo>
                  <a:lnTo>
                    <a:pt x="4560" y="48850"/>
                  </a:lnTo>
                  <a:lnTo>
                    <a:pt x="2024" y="46806"/>
                  </a:lnTo>
                  <a:lnTo>
                    <a:pt x="0" y="41696"/>
                  </a:lnTo>
                  <a:lnTo>
                    <a:pt x="2024" y="36790"/>
                  </a:lnTo>
                  <a:lnTo>
                    <a:pt x="4560" y="34133"/>
                  </a:lnTo>
                  <a:lnTo>
                    <a:pt x="7095" y="31681"/>
                  </a:lnTo>
                  <a:lnTo>
                    <a:pt x="12146" y="31681"/>
                  </a:lnTo>
                  <a:close/>
                </a:path>
                <a:path w="677545" h="83820">
                  <a:moveTo>
                    <a:pt x="593681" y="41696"/>
                  </a:moveTo>
                  <a:lnTo>
                    <a:pt x="554623" y="0"/>
                  </a:lnTo>
                  <a:lnTo>
                    <a:pt x="677318" y="41696"/>
                  </a:lnTo>
                  <a:lnTo>
                    <a:pt x="554623" y="83596"/>
                  </a:lnTo>
                  <a:lnTo>
                    <a:pt x="593681" y="41696"/>
                  </a:lnTo>
                  <a:close/>
                </a:path>
              </a:pathLst>
            </a:custGeom>
            <a:ln w="3175">
              <a:solidFill>
                <a:srgbClr val="000000"/>
              </a:solidFill>
            </a:ln>
          </p:spPr>
          <p:txBody>
            <a:bodyPr wrap="square" lIns="0" tIns="0" rIns="0" bIns="0" rtlCol="0"/>
            <a:lstStyle/>
            <a:p/>
          </p:txBody>
        </p:sp>
        <p:sp>
          <p:nvSpPr>
            <p:cNvPr id="47" name="object 47" descr=""/>
            <p:cNvSpPr/>
            <p:nvPr/>
          </p:nvSpPr>
          <p:spPr>
            <a:xfrm>
              <a:off x="3672580" y="4046098"/>
              <a:ext cx="699770" cy="81280"/>
            </a:xfrm>
            <a:custGeom>
              <a:avLst/>
              <a:gdLst/>
              <a:ahLst/>
              <a:cxnLst/>
              <a:rect l="l" t="t" r="r" b="b"/>
              <a:pathLst>
                <a:path w="699770" h="81279">
                  <a:moveTo>
                    <a:pt x="576503" y="0"/>
                  </a:moveTo>
                  <a:lnTo>
                    <a:pt x="615970" y="41859"/>
                  </a:lnTo>
                  <a:lnTo>
                    <a:pt x="576503" y="81185"/>
                  </a:lnTo>
                  <a:lnTo>
                    <a:pt x="668064" y="51936"/>
                  </a:lnTo>
                  <a:lnTo>
                    <a:pt x="621082" y="51936"/>
                  </a:lnTo>
                  <a:lnTo>
                    <a:pt x="623127" y="49422"/>
                  </a:lnTo>
                  <a:lnTo>
                    <a:pt x="625581" y="44373"/>
                  </a:lnTo>
                  <a:lnTo>
                    <a:pt x="625581" y="36811"/>
                  </a:lnTo>
                  <a:lnTo>
                    <a:pt x="623127" y="34787"/>
                  </a:lnTo>
                  <a:lnTo>
                    <a:pt x="621082" y="32273"/>
                  </a:lnTo>
                  <a:lnTo>
                    <a:pt x="671416" y="32273"/>
                  </a:lnTo>
                  <a:lnTo>
                    <a:pt x="576503" y="0"/>
                  </a:lnTo>
                  <a:close/>
                </a:path>
                <a:path w="699770" h="81279">
                  <a:moveTo>
                    <a:pt x="606932" y="32273"/>
                  </a:moveTo>
                  <a:lnTo>
                    <a:pt x="7095" y="32273"/>
                  </a:lnTo>
                  <a:lnTo>
                    <a:pt x="4560" y="34787"/>
                  </a:lnTo>
                  <a:lnTo>
                    <a:pt x="2024" y="36811"/>
                  </a:lnTo>
                  <a:lnTo>
                    <a:pt x="0" y="41859"/>
                  </a:lnTo>
                  <a:lnTo>
                    <a:pt x="2024" y="44373"/>
                  </a:lnTo>
                  <a:lnTo>
                    <a:pt x="4560" y="49422"/>
                  </a:lnTo>
                  <a:lnTo>
                    <a:pt x="7095" y="51936"/>
                  </a:lnTo>
                  <a:lnTo>
                    <a:pt x="605857" y="51936"/>
                  </a:lnTo>
                  <a:lnTo>
                    <a:pt x="615970" y="41859"/>
                  </a:lnTo>
                  <a:lnTo>
                    <a:pt x="606932" y="32273"/>
                  </a:lnTo>
                  <a:close/>
                </a:path>
                <a:path w="699770" h="81279">
                  <a:moveTo>
                    <a:pt x="671416" y="32273"/>
                  </a:moveTo>
                  <a:lnTo>
                    <a:pt x="621082" y="32273"/>
                  </a:lnTo>
                  <a:lnTo>
                    <a:pt x="623127" y="34787"/>
                  </a:lnTo>
                  <a:lnTo>
                    <a:pt x="625581" y="36811"/>
                  </a:lnTo>
                  <a:lnTo>
                    <a:pt x="625581" y="44373"/>
                  </a:lnTo>
                  <a:lnTo>
                    <a:pt x="623127" y="49422"/>
                  </a:lnTo>
                  <a:lnTo>
                    <a:pt x="621082" y="51936"/>
                  </a:lnTo>
                  <a:lnTo>
                    <a:pt x="668064" y="51936"/>
                  </a:lnTo>
                  <a:lnTo>
                    <a:pt x="699607" y="41859"/>
                  </a:lnTo>
                  <a:lnTo>
                    <a:pt x="671416" y="32273"/>
                  </a:lnTo>
                  <a:close/>
                </a:path>
              </a:pathLst>
            </a:custGeom>
            <a:solidFill>
              <a:srgbClr val="000000"/>
            </a:solidFill>
          </p:spPr>
          <p:txBody>
            <a:bodyPr wrap="square" lIns="0" tIns="0" rIns="0" bIns="0" rtlCol="0"/>
            <a:lstStyle/>
            <a:p/>
          </p:txBody>
        </p:sp>
        <p:sp>
          <p:nvSpPr>
            <p:cNvPr id="48" name="object 48" descr=""/>
            <p:cNvSpPr/>
            <p:nvPr/>
          </p:nvSpPr>
          <p:spPr>
            <a:xfrm>
              <a:off x="3672580" y="4046098"/>
              <a:ext cx="699770" cy="81280"/>
            </a:xfrm>
            <a:custGeom>
              <a:avLst/>
              <a:gdLst/>
              <a:ahLst/>
              <a:cxnLst/>
              <a:rect l="l" t="t" r="r" b="b"/>
              <a:pathLst>
                <a:path w="699770" h="81279">
                  <a:moveTo>
                    <a:pt x="12146" y="32273"/>
                  </a:moveTo>
                  <a:lnTo>
                    <a:pt x="615970" y="32273"/>
                  </a:lnTo>
                  <a:lnTo>
                    <a:pt x="621082" y="32273"/>
                  </a:lnTo>
                  <a:lnTo>
                    <a:pt x="623127" y="34787"/>
                  </a:lnTo>
                  <a:lnTo>
                    <a:pt x="625581" y="36811"/>
                  </a:lnTo>
                  <a:lnTo>
                    <a:pt x="625581" y="41859"/>
                  </a:lnTo>
                  <a:lnTo>
                    <a:pt x="625581" y="44373"/>
                  </a:lnTo>
                  <a:lnTo>
                    <a:pt x="623127" y="49422"/>
                  </a:lnTo>
                  <a:lnTo>
                    <a:pt x="621082" y="51936"/>
                  </a:lnTo>
                  <a:lnTo>
                    <a:pt x="615970" y="51936"/>
                  </a:lnTo>
                  <a:lnTo>
                    <a:pt x="12146" y="51936"/>
                  </a:lnTo>
                  <a:lnTo>
                    <a:pt x="7095" y="51936"/>
                  </a:lnTo>
                  <a:lnTo>
                    <a:pt x="4560" y="49422"/>
                  </a:lnTo>
                  <a:lnTo>
                    <a:pt x="2024" y="44373"/>
                  </a:lnTo>
                  <a:lnTo>
                    <a:pt x="0" y="41859"/>
                  </a:lnTo>
                  <a:lnTo>
                    <a:pt x="2024" y="36811"/>
                  </a:lnTo>
                  <a:lnTo>
                    <a:pt x="4560" y="34787"/>
                  </a:lnTo>
                  <a:lnTo>
                    <a:pt x="7095" y="32273"/>
                  </a:lnTo>
                  <a:lnTo>
                    <a:pt x="12146" y="32273"/>
                  </a:lnTo>
                  <a:close/>
                </a:path>
                <a:path w="699770" h="81279">
                  <a:moveTo>
                    <a:pt x="615970" y="41859"/>
                  </a:moveTo>
                  <a:lnTo>
                    <a:pt x="576503" y="0"/>
                  </a:lnTo>
                  <a:lnTo>
                    <a:pt x="699607" y="41859"/>
                  </a:lnTo>
                  <a:lnTo>
                    <a:pt x="576503" y="81185"/>
                  </a:lnTo>
                  <a:lnTo>
                    <a:pt x="615970" y="41859"/>
                  </a:lnTo>
                  <a:close/>
                </a:path>
              </a:pathLst>
            </a:custGeom>
            <a:ln w="3175">
              <a:solidFill>
                <a:srgbClr val="000000"/>
              </a:solidFill>
            </a:ln>
          </p:spPr>
          <p:txBody>
            <a:bodyPr wrap="square" lIns="0" tIns="0" rIns="0" bIns="0" rtlCol="0"/>
            <a:lstStyle/>
            <a:p/>
          </p:txBody>
        </p:sp>
      </p:grpSp>
      <p:sp>
        <p:nvSpPr>
          <p:cNvPr id="49" name="object 49" descr=""/>
          <p:cNvSpPr txBox="1"/>
          <p:nvPr/>
        </p:nvSpPr>
        <p:spPr>
          <a:xfrm>
            <a:off x="6666179" y="4561456"/>
            <a:ext cx="1482725" cy="729615"/>
          </a:xfrm>
          <a:prstGeom prst="rect">
            <a:avLst/>
          </a:prstGeom>
          <a:solidFill>
            <a:srgbClr val="CCFFCC"/>
          </a:solidFill>
          <a:ln w="14683">
            <a:solidFill>
              <a:srgbClr val="000000"/>
            </a:solidFill>
          </a:ln>
        </p:spPr>
        <p:txBody>
          <a:bodyPr wrap="square" lIns="0" tIns="144780" rIns="0" bIns="0" rtlCol="0" vert="horz">
            <a:spAutoFit/>
          </a:bodyPr>
          <a:lstStyle/>
          <a:p>
            <a:pPr algn="ctr" marL="55244">
              <a:lnSpc>
                <a:spcPct val="100000"/>
              </a:lnSpc>
              <a:spcBef>
                <a:spcPts val="1140"/>
              </a:spcBef>
            </a:pPr>
            <a:r>
              <a:rPr dirty="0" sz="1450">
                <a:latin typeface="宋体"/>
                <a:cs typeface="宋体"/>
              </a:rPr>
              <a:t>40</a:t>
            </a:r>
            <a:r>
              <a:rPr dirty="0" sz="1450" spc="-245">
                <a:latin typeface="宋体"/>
                <a:cs typeface="宋体"/>
              </a:rPr>
              <a:t> 选 </a:t>
            </a:r>
            <a:r>
              <a:rPr dirty="0" sz="1450" spc="-50">
                <a:latin typeface="宋体"/>
                <a:cs typeface="宋体"/>
              </a:rPr>
              <a:t>1</a:t>
            </a:r>
            <a:endParaRPr sz="1450">
              <a:latin typeface="宋体"/>
              <a:cs typeface="宋体"/>
            </a:endParaRPr>
          </a:p>
          <a:p>
            <a:pPr algn="ctr" marL="39370">
              <a:lnSpc>
                <a:spcPct val="100000"/>
              </a:lnSpc>
              <a:spcBef>
                <a:spcPts val="250"/>
              </a:spcBef>
            </a:pPr>
            <a:r>
              <a:rPr dirty="0" sz="1450" spc="-20">
                <a:latin typeface="宋体"/>
                <a:cs typeface="宋体"/>
              </a:rPr>
              <a:t>多路选择器</a:t>
            </a:r>
            <a:endParaRPr sz="1450">
              <a:latin typeface="宋体"/>
              <a:cs typeface="宋体"/>
            </a:endParaRPr>
          </a:p>
        </p:txBody>
      </p:sp>
      <p:grpSp>
        <p:nvGrpSpPr>
          <p:cNvPr id="50" name="object 50" descr=""/>
          <p:cNvGrpSpPr/>
          <p:nvPr/>
        </p:nvGrpSpPr>
        <p:grpSpPr>
          <a:xfrm>
            <a:off x="6314501" y="3757481"/>
            <a:ext cx="1257935" cy="1194435"/>
            <a:chOff x="6314501" y="3757481"/>
            <a:chExt cx="1257935" cy="1194435"/>
          </a:xfrm>
        </p:grpSpPr>
        <p:sp>
          <p:nvSpPr>
            <p:cNvPr id="51" name="object 51" descr=""/>
            <p:cNvSpPr/>
            <p:nvPr/>
          </p:nvSpPr>
          <p:spPr>
            <a:xfrm>
              <a:off x="6316088" y="4869069"/>
              <a:ext cx="331470" cy="81280"/>
            </a:xfrm>
            <a:custGeom>
              <a:avLst/>
              <a:gdLst/>
              <a:ahLst/>
              <a:cxnLst/>
              <a:rect l="l" t="t" r="r" b="b"/>
              <a:pathLst>
                <a:path w="331470" h="81279">
                  <a:moveTo>
                    <a:pt x="208377" y="0"/>
                  </a:moveTo>
                  <a:lnTo>
                    <a:pt x="250298" y="39345"/>
                  </a:lnTo>
                  <a:lnTo>
                    <a:pt x="208377" y="81205"/>
                  </a:lnTo>
                  <a:lnTo>
                    <a:pt x="303132" y="48931"/>
                  </a:lnTo>
                  <a:lnTo>
                    <a:pt x="252752" y="48931"/>
                  </a:lnTo>
                  <a:lnTo>
                    <a:pt x="257455" y="46397"/>
                  </a:lnTo>
                  <a:lnTo>
                    <a:pt x="259909" y="43883"/>
                  </a:lnTo>
                  <a:lnTo>
                    <a:pt x="259909" y="36811"/>
                  </a:lnTo>
                  <a:lnTo>
                    <a:pt x="257455" y="31783"/>
                  </a:lnTo>
                  <a:lnTo>
                    <a:pt x="252752" y="29248"/>
                  </a:lnTo>
                  <a:lnTo>
                    <a:pt x="299738" y="29248"/>
                  </a:lnTo>
                  <a:lnTo>
                    <a:pt x="208377" y="0"/>
                  </a:lnTo>
                  <a:close/>
                </a:path>
                <a:path w="331470" h="81279">
                  <a:moveTo>
                    <a:pt x="239540" y="29248"/>
                  </a:moveTo>
                  <a:lnTo>
                    <a:pt x="4703" y="29248"/>
                  </a:lnTo>
                  <a:lnTo>
                    <a:pt x="2044" y="31783"/>
                  </a:lnTo>
                  <a:lnTo>
                    <a:pt x="0" y="36811"/>
                  </a:lnTo>
                  <a:lnTo>
                    <a:pt x="0" y="43883"/>
                  </a:lnTo>
                  <a:lnTo>
                    <a:pt x="2044" y="46397"/>
                  </a:lnTo>
                  <a:lnTo>
                    <a:pt x="4703" y="48931"/>
                  </a:lnTo>
                  <a:lnTo>
                    <a:pt x="240698" y="48931"/>
                  </a:lnTo>
                  <a:lnTo>
                    <a:pt x="250298" y="39345"/>
                  </a:lnTo>
                  <a:lnTo>
                    <a:pt x="239540" y="29248"/>
                  </a:lnTo>
                  <a:close/>
                </a:path>
                <a:path w="331470" h="81279">
                  <a:moveTo>
                    <a:pt x="299738" y="29248"/>
                  </a:moveTo>
                  <a:lnTo>
                    <a:pt x="252752" y="29248"/>
                  </a:lnTo>
                  <a:lnTo>
                    <a:pt x="257455" y="31783"/>
                  </a:lnTo>
                  <a:lnTo>
                    <a:pt x="259909" y="36811"/>
                  </a:lnTo>
                  <a:lnTo>
                    <a:pt x="259909" y="43883"/>
                  </a:lnTo>
                  <a:lnTo>
                    <a:pt x="257455" y="46397"/>
                  </a:lnTo>
                  <a:lnTo>
                    <a:pt x="252752" y="48931"/>
                  </a:lnTo>
                  <a:lnTo>
                    <a:pt x="303132" y="48931"/>
                  </a:lnTo>
                  <a:lnTo>
                    <a:pt x="331276" y="39345"/>
                  </a:lnTo>
                  <a:lnTo>
                    <a:pt x="299738" y="29248"/>
                  </a:lnTo>
                  <a:close/>
                </a:path>
              </a:pathLst>
            </a:custGeom>
            <a:solidFill>
              <a:srgbClr val="000000"/>
            </a:solidFill>
          </p:spPr>
          <p:txBody>
            <a:bodyPr wrap="square" lIns="0" tIns="0" rIns="0" bIns="0" rtlCol="0"/>
            <a:lstStyle/>
            <a:p/>
          </p:txBody>
        </p:sp>
        <p:sp>
          <p:nvSpPr>
            <p:cNvPr id="52" name="object 52" descr=""/>
            <p:cNvSpPr/>
            <p:nvPr/>
          </p:nvSpPr>
          <p:spPr>
            <a:xfrm>
              <a:off x="6316088" y="4869069"/>
              <a:ext cx="331470" cy="81280"/>
            </a:xfrm>
            <a:custGeom>
              <a:avLst/>
              <a:gdLst/>
              <a:ahLst/>
              <a:cxnLst/>
              <a:rect l="l" t="t" r="r" b="b"/>
              <a:pathLst>
                <a:path w="331470" h="81279">
                  <a:moveTo>
                    <a:pt x="9815" y="29248"/>
                  </a:moveTo>
                  <a:lnTo>
                    <a:pt x="250298" y="29248"/>
                  </a:lnTo>
                  <a:lnTo>
                    <a:pt x="252752" y="29248"/>
                  </a:lnTo>
                  <a:lnTo>
                    <a:pt x="257455" y="31783"/>
                  </a:lnTo>
                  <a:lnTo>
                    <a:pt x="259909" y="36811"/>
                  </a:lnTo>
                  <a:lnTo>
                    <a:pt x="259909" y="39345"/>
                  </a:lnTo>
                  <a:lnTo>
                    <a:pt x="259909" y="43883"/>
                  </a:lnTo>
                  <a:lnTo>
                    <a:pt x="257455" y="46397"/>
                  </a:lnTo>
                  <a:lnTo>
                    <a:pt x="252752" y="48931"/>
                  </a:lnTo>
                  <a:lnTo>
                    <a:pt x="250298" y="48931"/>
                  </a:lnTo>
                  <a:lnTo>
                    <a:pt x="9815" y="48931"/>
                  </a:lnTo>
                  <a:lnTo>
                    <a:pt x="4703" y="48931"/>
                  </a:lnTo>
                  <a:lnTo>
                    <a:pt x="2044" y="46397"/>
                  </a:lnTo>
                  <a:lnTo>
                    <a:pt x="0" y="43883"/>
                  </a:lnTo>
                  <a:lnTo>
                    <a:pt x="0" y="39345"/>
                  </a:lnTo>
                  <a:lnTo>
                    <a:pt x="0" y="36811"/>
                  </a:lnTo>
                  <a:lnTo>
                    <a:pt x="2044" y="31783"/>
                  </a:lnTo>
                  <a:lnTo>
                    <a:pt x="4703" y="29248"/>
                  </a:lnTo>
                  <a:lnTo>
                    <a:pt x="9815" y="29248"/>
                  </a:lnTo>
                  <a:close/>
                </a:path>
                <a:path w="331470" h="81279">
                  <a:moveTo>
                    <a:pt x="250298" y="39345"/>
                  </a:moveTo>
                  <a:lnTo>
                    <a:pt x="208377" y="0"/>
                  </a:lnTo>
                  <a:lnTo>
                    <a:pt x="331276" y="39345"/>
                  </a:lnTo>
                  <a:lnTo>
                    <a:pt x="208377" y="81205"/>
                  </a:lnTo>
                  <a:lnTo>
                    <a:pt x="250298" y="39345"/>
                  </a:lnTo>
                  <a:close/>
                </a:path>
              </a:pathLst>
            </a:custGeom>
            <a:ln w="3175">
              <a:solidFill>
                <a:srgbClr val="000000"/>
              </a:solidFill>
            </a:ln>
          </p:spPr>
          <p:txBody>
            <a:bodyPr wrap="square" lIns="0" tIns="0" rIns="0" bIns="0" rtlCol="0"/>
            <a:lstStyle/>
            <a:p/>
          </p:txBody>
        </p:sp>
        <p:sp>
          <p:nvSpPr>
            <p:cNvPr id="53" name="object 53" descr=""/>
            <p:cNvSpPr/>
            <p:nvPr/>
          </p:nvSpPr>
          <p:spPr>
            <a:xfrm>
              <a:off x="7486805" y="3759068"/>
              <a:ext cx="83820" cy="805815"/>
            </a:xfrm>
            <a:custGeom>
              <a:avLst/>
              <a:gdLst/>
              <a:ahLst/>
              <a:cxnLst/>
              <a:rect l="l" t="t" r="r" b="b"/>
              <a:pathLst>
                <a:path w="83820" h="805814">
                  <a:moveTo>
                    <a:pt x="0" y="682388"/>
                  </a:moveTo>
                  <a:lnTo>
                    <a:pt x="41511" y="805413"/>
                  </a:lnTo>
                  <a:lnTo>
                    <a:pt x="66721" y="731790"/>
                  </a:lnTo>
                  <a:lnTo>
                    <a:pt x="37013" y="731790"/>
                  </a:lnTo>
                  <a:lnTo>
                    <a:pt x="34354" y="729276"/>
                  </a:lnTo>
                  <a:lnTo>
                    <a:pt x="31900" y="726762"/>
                  </a:lnTo>
                  <a:lnTo>
                    <a:pt x="31900" y="712609"/>
                  </a:lnTo>
                  <a:lnTo>
                    <a:pt x="0" y="682388"/>
                  </a:lnTo>
                  <a:close/>
                </a:path>
                <a:path w="83820" h="805814">
                  <a:moveTo>
                    <a:pt x="31900" y="712609"/>
                  </a:moveTo>
                  <a:lnTo>
                    <a:pt x="31900" y="726762"/>
                  </a:lnTo>
                  <a:lnTo>
                    <a:pt x="34354" y="729276"/>
                  </a:lnTo>
                  <a:lnTo>
                    <a:pt x="37013" y="731790"/>
                  </a:lnTo>
                  <a:lnTo>
                    <a:pt x="43965" y="731790"/>
                  </a:lnTo>
                  <a:lnTo>
                    <a:pt x="49078" y="729276"/>
                  </a:lnTo>
                  <a:lnTo>
                    <a:pt x="51736" y="726762"/>
                  </a:lnTo>
                  <a:lnTo>
                    <a:pt x="51736" y="721713"/>
                  </a:lnTo>
                  <a:lnTo>
                    <a:pt x="41511" y="721713"/>
                  </a:lnTo>
                  <a:lnTo>
                    <a:pt x="31900" y="712609"/>
                  </a:lnTo>
                  <a:close/>
                </a:path>
                <a:path w="83820" h="805814">
                  <a:moveTo>
                    <a:pt x="83637" y="682388"/>
                  </a:moveTo>
                  <a:lnTo>
                    <a:pt x="51736" y="712168"/>
                  </a:lnTo>
                  <a:lnTo>
                    <a:pt x="51736" y="726762"/>
                  </a:lnTo>
                  <a:lnTo>
                    <a:pt x="49078" y="729276"/>
                  </a:lnTo>
                  <a:lnTo>
                    <a:pt x="43965" y="731790"/>
                  </a:lnTo>
                  <a:lnTo>
                    <a:pt x="66721" y="731790"/>
                  </a:lnTo>
                  <a:lnTo>
                    <a:pt x="83637" y="682388"/>
                  </a:lnTo>
                  <a:close/>
                </a:path>
                <a:path w="83820" h="805814">
                  <a:moveTo>
                    <a:pt x="41511" y="0"/>
                  </a:moveTo>
                  <a:lnTo>
                    <a:pt x="37013" y="2657"/>
                  </a:lnTo>
                  <a:lnTo>
                    <a:pt x="34354" y="4701"/>
                  </a:lnTo>
                  <a:lnTo>
                    <a:pt x="31900" y="7153"/>
                  </a:lnTo>
                  <a:lnTo>
                    <a:pt x="31900" y="712609"/>
                  </a:lnTo>
                  <a:lnTo>
                    <a:pt x="41511" y="721713"/>
                  </a:lnTo>
                  <a:lnTo>
                    <a:pt x="51736" y="712168"/>
                  </a:lnTo>
                  <a:lnTo>
                    <a:pt x="51736" y="7153"/>
                  </a:lnTo>
                  <a:lnTo>
                    <a:pt x="49078" y="4701"/>
                  </a:lnTo>
                  <a:lnTo>
                    <a:pt x="43965" y="2657"/>
                  </a:lnTo>
                  <a:lnTo>
                    <a:pt x="41511" y="0"/>
                  </a:lnTo>
                  <a:close/>
                </a:path>
                <a:path w="83820" h="805814">
                  <a:moveTo>
                    <a:pt x="51736" y="712168"/>
                  </a:moveTo>
                  <a:lnTo>
                    <a:pt x="41511" y="721713"/>
                  </a:lnTo>
                  <a:lnTo>
                    <a:pt x="51736" y="721713"/>
                  </a:lnTo>
                  <a:lnTo>
                    <a:pt x="51736" y="712168"/>
                  </a:lnTo>
                  <a:close/>
                </a:path>
              </a:pathLst>
            </a:custGeom>
            <a:solidFill>
              <a:srgbClr val="000000"/>
            </a:solidFill>
          </p:spPr>
          <p:txBody>
            <a:bodyPr wrap="square" lIns="0" tIns="0" rIns="0" bIns="0" rtlCol="0"/>
            <a:lstStyle/>
            <a:p/>
          </p:txBody>
        </p:sp>
        <p:sp>
          <p:nvSpPr>
            <p:cNvPr id="54" name="object 54" descr=""/>
            <p:cNvSpPr/>
            <p:nvPr/>
          </p:nvSpPr>
          <p:spPr>
            <a:xfrm>
              <a:off x="7486805" y="3759068"/>
              <a:ext cx="83820" cy="805815"/>
            </a:xfrm>
            <a:custGeom>
              <a:avLst/>
              <a:gdLst/>
              <a:ahLst/>
              <a:cxnLst/>
              <a:rect l="l" t="t" r="r" b="b"/>
              <a:pathLst>
                <a:path w="83820" h="805814">
                  <a:moveTo>
                    <a:pt x="51736" y="12263"/>
                  </a:moveTo>
                  <a:lnTo>
                    <a:pt x="51736" y="721713"/>
                  </a:lnTo>
                  <a:lnTo>
                    <a:pt x="51736" y="726762"/>
                  </a:lnTo>
                  <a:lnTo>
                    <a:pt x="49078" y="729276"/>
                  </a:lnTo>
                  <a:lnTo>
                    <a:pt x="43965" y="731790"/>
                  </a:lnTo>
                  <a:lnTo>
                    <a:pt x="41511" y="731790"/>
                  </a:lnTo>
                  <a:lnTo>
                    <a:pt x="37013" y="731790"/>
                  </a:lnTo>
                  <a:lnTo>
                    <a:pt x="34354" y="729276"/>
                  </a:lnTo>
                  <a:lnTo>
                    <a:pt x="31900" y="726762"/>
                  </a:lnTo>
                  <a:lnTo>
                    <a:pt x="31900" y="721713"/>
                  </a:lnTo>
                  <a:lnTo>
                    <a:pt x="31900" y="12263"/>
                  </a:lnTo>
                  <a:lnTo>
                    <a:pt x="31900" y="7153"/>
                  </a:lnTo>
                  <a:lnTo>
                    <a:pt x="34354" y="4701"/>
                  </a:lnTo>
                  <a:lnTo>
                    <a:pt x="37013" y="2657"/>
                  </a:lnTo>
                  <a:lnTo>
                    <a:pt x="41511" y="0"/>
                  </a:lnTo>
                  <a:lnTo>
                    <a:pt x="43965" y="2657"/>
                  </a:lnTo>
                  <a:lnTo>
                    <a:pt x="49078" y="4701"/>
                  </a:lnTo>
                  <a:lnTo>
                    <a:pt x="51736" y="7153"/>
                  </a:lnTo>
                  <a:lnTo>
                    <a:pt x="51736" y="12263"/>
                  </a:lnTo>
                  <a:close/>
                </a:path>
                <a:path w="83820" h="805814">
                  <a:moveTo>
                    <a:pt x="41511" y="721713"/>
                  </a:moveTo>
                  <a:lnTo>
                    <a:pt x="83637" y="682388"/>
                  </a:lnTo>
                  <a:lnTo>
                    <a:pt x="41511" y="805413"/>
                  </a:lnTo>
                  <a:lnTo>
                    <a:pt x="0" y="682388"/>
                  </a:lnTo>
                  <a:lnTo>
                    <a:pt x="41511" y="721713"/>
                  </a:lnTo>
                  <a:close/>
                </a:path>
              </a:pathLst>
            </a:custGeom>
            <a:ln w="3175">
              <a:solidFill>
                <a:srgbClr val="000000"/>
              </a:solidFill>
            </a:ln>
          </p:spPr>
          <p:txBody>
            <a:bodyPr wrap="square" lIns="0" tIns="0" rIns="0" bIns="0" rtlCol="0"/>
            <a:lstStyle/>
            <a:p/>
          </p:txBody>
        </p:sp>
        <p:sp>
          <p:nvSpPr>
            <p:cNvPr id="55" name="object 55" descr=""/>
            <p:cNvSpPr/>
            <p:nvPr/>
          </p:nvSpPr>
          <p:spPr>
            <a:xfrm>
              <a:off x="7143258" y="4203420"/>
              <a:ext cx="83820" cy="361315"/>
            </a:xfrm>
            <a:custGeom>
              <a:avLst/>
              <a:gdLst/>
              <a:ahLst/>
              <a:cxnLst/>
              <a:rect l="l" t="t" r="r" b="b"/>
              <a:pathLst>
                <a:path w="83820" h="361314">
                  <a:moveTo>
                    <a:pt x="0" y="238036"/>
                  </a:moveTo>
                  <a:lnTo>
                    <a:pt x="41716" y="361061"/>
                  </a:lnTo>
                  <a:lnTo>
                    <a:pt x="66558" y="287438"/>
                  </a:lnTo>
                  <a:lnTo>
                    <a:pt x="36604" y="287438"/>
                  </a:lnTo>
                  <a:lnTo>
                    <a:pt x="33945" y="284924"/>
                  </a:lnTo>
                  <a:lnTo>
                    <a:pt x="31900" y="282410"/>
                  </a:lnTo>
                  <a:lnTo>
                    <a:pt x="31900" y="268109"/>
                  </a:lnTo>
                  <a:lnTo>
                    <a:pt x="0" y="238036"/>
                  </a:lnTo>
                  <a:close/>
                </a:path>
                <a:path w="83820" h="361314">
                  <a:moveTo>
                    <a:pt x="31900" y="268109"/>
                  </a:moveTo>
                  <a:lnTo>
                    <a:pt x="31900" y="282410"/>
                  </a:lnTo>
                  <a:lnTo>
                    <a:pt x="33945" y="284924"/>
                  </a:lnTo>
                  <a:lnTo>
                    <a:pt x="36604" y="287438"/>
                  </a:lnTo>
                  <a:lnTo>
                    <a:pt x="44170" y="287438"/>
                  </a:lnTo>
                  <a:lnTo>
                    <a:pt x="48669" y="284924"/>
                  </a:lnTo>
                  <a:lnTo>
                    <a:pt x="51327" y="282410"/>
                  </a:lnTo>
                  <a:lnTo>
                    <a:pt x="51327" y="277362"/>
                  </a:lnTo>
                  <a:lnTo>
                    <a:pt x="41716" y="277362"/>
                  </a:lnTo>
                  <a:lnTo>
                    <a:pt x="31900" y="268109"/>
                  </a:lnTo>
                  <a:close/>
                </a:path>
                <a:path w="83820" h="361314">
                  <a:moveTo>
                    <a:pt x="83228" y="238036"/>
                  </a:moveTo>
                  <a:lnTo>
                    <a:pt x="51327" y="268257"/>
                  </a:lnTo>
                  <a:lnTo>
                    <a:pt x="51327" y="282410"/>
                  </a:lnTo>
                  <a:lnTo>
                    <a:pt x="48669" y="284924"/>
                  </a:lnTo>
                  <a:lnTo>
                    <a:pt x="44170" y="287438"/>
                  </a:lnTo>
                  <a:lnTo>
                    <a:pt x="66558" y="287438"/>
                  </a:lnTo>
                  <a:lnTo>
                    <a:pt x="83228" y="238036"/>
                  </a:lnTo>
                  <a:close/>
                </a:path>
                <a:path w="83820" h="361314">
                  <a:moveTo>
                    <a:pt x="48669" y="2534"/>
                  </a:moveTo>
                  <a:lnTo>
                    <a:pt x="33945" y="2534"/>
                  </a:lnTo>
                  <a:lnTo>
                    <a:pt x="31900" y="7562"/>
                  </a:lnTo>
                  <a:lnTo>
                    <a:pt x="31900" y="268109"/>
                  </a:lnTo>
                  <a:lnTo>
                    <a:pt x="41716" y="277362"/>
                  </a:lnTo>
                  <a:lnTo>
                    <a:pt x="51327" y="268257"/>
                  </a:lnTo>
                  <a:lnTo>
                    <a:pt x="51327" y="7562"/>
                  </a:lnTo>
                  <a:lnTo>
                    <a:pt x="48669" y="2534"/>
                  </a:lnTo>
                  <a:close/>
                </a:path>
                <a:path w="83820" h="361314">
                  <a:moveTo>
                    <a:pt x="51327" y="268257"/>
                  </a:moveTo>
                  <a:lnTo>
                    <a:pt x="41716" y="277362"/>
                  </a:lnTo>
                  <a:lnTo>
                    <a:pt x="51327" y="277362"/>
                  </a:lnTo>
                  <a:lnTo>
                    <a:pt x="51327" y="268257"/>
                  </a:lnTo>
                  <a:close/>
                </a:path>
                <a:path w="83820" h="361314">
                  <a:moveTo>
                    <a:pt x="41716" y="0"/>
                  </a:moveTo>
                  <a:lnTo>
                    <a:pt x="36604" y="2534"/>
                  </a:lnTo>
                  <a:lnTo>
                    <a:pt x="44170" y="2534"/>
                  </a:lnTo>
                  <a:lnTo>
                    <a:pt x="41716" y="0"/>
                  </a:lnTo>
                  <a:close/>
                </a:path>
              </a:pathLst>
            </a:custGeom>
            <a:solidFill>
              <a:srgbClr val="000000"/>
            </a:solidFill>
          </p:spPr>
          <p:txBody>
            <a:bodyPr wrap="square" lIns="0" tIns="0" rIns="0" bIns="0" rtlCol="0"/>
            <a:lstStyle/>
            <a:p/>
          </p:txBody>
        </p:sp>
        <p:sp>
          <p:nvSpPr>
            <p:cNvPr id="56" name="object 56" descr=""/>
            <p:cNvSpPr/>
            <p:nvPr/>
          </p:nvSpPr>
          <p:spPr>
            <a:xfrm>
              <a:off x="7143258" y="4203420"/>
              <a:ext cx="83820" cy="361315"/>
            </a:xfrm>
            <a:custGeom>
              <a:avLst/>
              <a:gdLst/>
              <a:ahLst/>
              <a:cxnLst/>
              <a:rect l="l" t="t" r="r" b="b"/>
              <a:pathLst>
                <a:path w="83820" h="361314">
                  <a:moveTo>
                    <a:pt x="51327" y="10097"/>
                  </a:moveTo>
                  <a:lnTo>
                    <a:pt x="51327" y="277362"/>
                  </a:lnTo>
                  <a:lnTo>
                    <a:pt x="51327" y="282410"/>
                  </a:lnTo>
                  <a:lnTo>
                    <a:pt x="48669" y="284924"/>
                  </a:lnTo>
                  <a:lnTo>
                    <a:pt x="44170" y="287438"/>
                  </a:lnTo>
                  <a:lnTo>
                    <a:pt x="41716" y="287438"/>
                  </a:lnTo>
                  <a:lnTo>
                    <a:pt x="36604" y="287438"/>
                  </a:lnTo>
                  <a:lnTo>
                    <a:pt x="33945" y="284924"/>
                  </a:lnTo>
                  <a:lnTo>
                    <a:pt x="31900" y="282410"/>
                  </a:lnTo>
                  <a:lnTo>
                    <a:pt x="31900" y="277362"/>
                  </a:lnTo>
                  <a:lnTo>
                    <a:pt x="31900" y="10097"/>
                  </a:lnTo>
                  <a:lnTo>
                    <a:pt x="31900" y="7562"/>
                  </a:lnTo>
                  <a:lnTo>
                    <a:pt x="33945" y="2534"/>
                  </a:lnTo>
                  <a:lnTo>
                    <a:pt x="36604" y="2534"/>
                  </a:lnTo>
                  <a:lnTo>
                    <a:pt x="41716" y="0"/>
                  </a:lnTo>
                  <a:lnTo>
                    <a:pt x="44170" y="2534"/>
                  </a:lnTo>
                  <a:lnTo>
                    <a:pt x="48669" y="2534"/>
                  </a:lnTo>
                  <a:lnTo>
                    <a:pt x="51327" y="7562"/>
                  </a:lnTo>
                  <a:lnTo>
                    <a:pt x="51327" y="10097"/>
                  </a:lnTo>
                  <a:close/>
                </a:path>
                <a:path w="83820" h="361314">
                  <a:moveTo>
                    <a:pt x="41716" y="277362"/>
                  </a:moveTo>
                  <a:lnTo>
                    <a:pt x="83228" y="238036"/>
                  </a:lnTo>
                  <a:lnTo>
                    <a:pt x="41716" y="361061"/>
                  </a:lnTo>
                  <a:lnTo>
                    <a:pt x="0" y="238036"/>
                  </a:lnTo>
                  <a:lnTo>
                    <a:pt x="41716" y="277362"/>
                  </a:lnTo>
                  <a:close/>
                </a:path>
              </a:pathLst>
            </a:custGeom>
            <a:ln w="3175">
              <a:solidFill>
                <a:srgbClr val="000000"/>
              </a:solidFill>
            </a:ln>
          </p:spPr>
          <p:txBody>
            <a:bodyPr wrap="square" lIns="0" tIns="0" rIns="0" bIns="0" rtlCol="0"/>
            <a:lstStyle/>
            <a:p/>
          </p:txBody>
        </p:sp>
      </p:grpSp>
      <p:sp>
        <p:nvSpPr>
          <p:cNvPr id="57" name="object 57" descr=""/>
          <p:cNvSpPr txBox="1"/>
          <p:nvPr/>
        </p:nvSpPr>
        <p:spPr>
          <a:xfrm>
            <a:off x="7230350" y="4167174"/>
            <a:ext cx="243204" cy="286385"/>
          </a:xfrm>
          <a:prstGeom prst="rect">
            <a:avLst/>
          </a:prstGeom>
        </p:spPr>
        <p:txBody>
          <a:bodyPr wrap="square" lIns="0" tIns="13970" rIns="0" bIns="0" rtlCol="0" vert="horz">
            <a:spAutoFit/>
          </a:bodyPr>
          <a:lstStyle/>
          <a:p>
            <a:pPr marL="12700">
              <a:lnSpc>
                <a:spcPct val="100000"/>
              </a:lnSpc>
              <a:spcBef>
                <a:spcPts val="110"/>
              </a:spcBef>
            </a:pPr>
            <a:r>
              <a:rPr dirty="0" sz="1700" spc="-50">
                <a:latin typeface="宋体"/>
                <a:cs typeface="宋体"/>
              </a:rPr>
              <a:t>…</a:t>
            </a:r>
            <a:endParaRPr sz="1700">
              <a:latin typeface="宋体"/>
              <a:cs typeface="宋体"/>
            </a:endParaRPr>
          </a:p>
        </p:txBody>
      </p:sp>
      <p:grpSp>
        <p:nvGrpSpPr>
          <p:cNvPr id="58" name="object 58" descr=""/>
          <p:cNvGrpSpPr/>
          <p:nvPr/>
        </p:nvGrpSpPr>
        <p:grpSpPr>
          <a:xfrm>
            <a:off x="7365181" y="5283031"/>
            <a:ext cx="1797685" cy="307340"/>
            <a:chOff x="7365181" y="5283031"/>
            <a:chExt cx="1797685" cy="307340"/>
          </a:xfrm>
        </p:grpSpPr>
        <p:sp>
          <p:nvSpPr>
            <p:cNvPr id="59" name="object 59" descr=""/>
            <p:cNvSpPr/>
            <p:nvPr/>
          </p:nvSpPr>
          <p:spPr>
            <a:xfrm>
              <a:off x="7375766" y="5290651"/>
              <a:ext cx="0" cy="253365"/>
            </a:xfrm>
            <a:custGeom>
              <a:avLst/>
              <a:gdLst/>
              <a:ahLst/>
              <a:cxnLst/>
              <a:rect l="l" t="t" r="r" b="b"/>
              <a:pathLst>
                <a:path w="0" h="253364">
                  <a:moveTo>
                    <a:pt x="0" y="0"/>
                  </a:moveTo>
                  <a:lnTo>
                    <a:pt x="0" y="253141"/>
                  </a:lnTo>
                </a:path>
              </a:pathLst>
            </a:custGeom>
            <a:ln w="14689">
              <a:solidFill>
                <a:srgbClr val="000000"/>
              </a:solidFill>
            </a:ln>
          </p:spPr>
          <p:txBody>
            <a:bodyPr wrap="square" lIns="0" tIns="0" rIns="0" bIns="0" rtlCol="0"/>
            <a:lstStyle/>
            <a:p/>
          </p:txBody>
        </p:sp>
        <p:sp>
          <p:nvSpPr>
            <p:cNvPr id="60" name="object 60" descr=""/>
            <p:cNvSpPr/>
            <p:nvPr/>
          </p:nvSpPr>
          <p:spPr>
            <a:xfrm>
              <a:off x="7366768" y="5504978"/>
              <a:ext cx="1794510" cy="83820"/>
            </a:xfrm>
            <a:custGeom>
              <a:avLst/>
              <a:gdLst/>
              <a:ahLst/>
              <a:cxnLst/>
              <a:rect l="l" t="t" r="r" b="b"/>
              <a:pathLst>
                <a:path w="1794509" h="83820">
                  <a:moveTo>
                    <a:pt x="1671517" y="0"/>
                  </a:moveTo>
                  <a:lnTo>
                    <a:pt x="1713029" y="41839"/>
                  </a:lnTo>
                  <a:lnTo>
                    <a:pt x="1671517" y="83699"/>
                  </a:lnTo>
                  <a:lnTo>
                    <a:pt x="1765957" y="51425"/>
                  </a:lnTo>
                  <a:lnTo>
                    <a:pt x="1715687" y="51425"/>
                  </a:lnTo>
                  <a:lnTo>
                    <a:pt x="1718141" y="49401"/>
                  </a:lnTo>
                  <a:lnTo>
                    <a:pt x="1720186" y="46887"/>
                  </a:lnTo>
                  <a:lnTo>
                    <a:pt x="1722640" y="41839"/>
                  </a:lnTo>
                  <a:lnTo>
                    <a:pt x="1720186" y="36811"/>
                  </a:lnTo>
                  <a:lnTo>
                    <a:pt x="1718141" y="34276"/>
                  </a:lnTo>
                  <a:lnTo>
                    <a:pt x="1715687" y="31762"/>
                  </a:lnTo>
                  <a:lnTo>
                    <a:pt x="1764507" y="31762"/>
                  </a:lnTo>
                  <a:lnTo>
                    <a:pt x="1671517" y="0"/>
                  </a:lnTo>
                  <a:close/>
                </a:path>
                <a:path w="1794509" h="83820">
                  <a:moveTo>
                    <a:pt x="1703031" y="31762"/>
                  </a:moveTo>
                  <a:lnTo>
                    <a:pt x="6952" y="31762"/>
                  </a:lnTo>
                  <a:lnTo>
                    <a:pt x="2044" y="36811"/>
                  </a:lnTo>
                  <a:lnTo>
                    <a:pt x="0" y="41839"/>
                  </a:lnTo>
                  <a:lnTo>
                    <a:pt x="2044" y="46887"/>
                  </a:lnTo>
                  <a:lnTo>
                    <a:pt x="4498" y="49401"/>
                  </a:lnTo>
                  <a:lnTo>
                    <a:pt x="6952" y="51425"/>
                  </a:lnTo>
                  <a:lnTo>
                    <a:pt x="1703522" y="51425"/>
                  </a:lnTo>
                  <a:lnTo>
                    <a:pt x="1713029" y="41839"/>
                  </a:lnTo>
                  <a:lnTo>
                    <a:pt x="1703031" y="31762"/>
                  </a:lnTo>
                  <a:close/>
                </a:path>
                <a:path w="1794509" h="83820">
                  <a:moveTo>
                    <a:pt x="1764507" y="31762"/>
                  </a:moveTo>
                  <a:lnTo>
                    <a:pt x="1715687" y="31762"/>
                  </a:lnTo>
                  <a:lnTo>
                    <a:pt x="1718141" y="34276"/>
                  </a:lnTo>
                  <a:lnTo>
                    <a:pt x="1720186" y="36811"/>
                  </a:lnTo>
                  <a:lnTo>
                    <a:pt x="1722640" y="41839"/>
                  </a:lnTo>
                  <a:lnTo>
                    <a:pt x="1720186" y="46887"/>
                  </a:lnTo>
                  <a:lnTo>
                    <a:pt x="1718141" y="49401"/>
                  </a:lnTo>
                  <a:lnTo>
                    <a:pt x="1715687" y="51425"/>
                  </a:lnTo>
                  <a:lnTo>
                    <a:pt x="1765957" y="51425"/>
                  </a:lnTo>
                  <a:lnTo>
                    <a:pt x="1794007" y="41839"/>
                  </a:lnTo>
                  <a:lnTo>
                    <a:pt x="1764507" y="31762"/>
                  </a:lnTo>
                  <a:close/>
                </a:path>
              </a:pathLst>
            </a:custGeom>
            <a:solidFill>
              <a:srgbClr val="000000"/>
            </a:solidFill>
          </p:spPr>
          <p:txBody>
            <a:bodyPr wrap="square" lIns="0" tIns="0" rIns="0" bIns="0" rtlCol="0"/>
            <a:lstStyle/>
            <a:p/>
          </p:txBody>
        </p:sp>
        <p:sp>
          <p:nvSpPr>
            <p:cNvPr id="61" name="object 61" descr=""/>
            <p:cNvSpPr/>
            <p:nvPr/>
          </p:nvSpPr>
          <p:spPr>
            <a:xfrm>
              <a:off x="7366768" y="5504978"/>
              <a:ext cx="1794510" cy="83820"/>
            </a:xfrm>
            <a:custGeom>
              <a:avLst/>
              <a:gdLst/>
              <a:ahLst/>
              <a:cxnLst/>
              <a:rect l="l" t="t" r="r" b="b"/>
              <a:pathLst>
                <a:path w="1794509" h="83820">
                  <a:moveTo>
                    <a:pt x="12065" y="31762"/>
                  </a:moveTo>
                  <a:lnTo>
                    <a:pt x="1713029" y="31762"/>
                  </a:lnTo>
                  <a:lnTo>
                    <a:pt x="1715687" y="31762"/>
                  </a:lnTo>
                  <a:lnTo>
                    <a:pt x="1718141" y="34276"/>
                  </a:lnTo>
                  <a:lnTo>
                    <a:pt x="1720186" y="36811"/>
                  </a:lnTo>
                  <a:lnTo>
                    <a:pt x="1722640" y="41839"/>
                  </a:lnTo>
                  <a:lnTo>
                    <a:pt x="1720186" y="46887"/>
                  </a:lnTo>
                  <a:lnTo>
                    <a:pt x="1718141" y="49401"/>
                  </a:lnTo>
                  <a:lnTo>
                    <a:pt x="1715687" y="51425"/>
                  </a:lnTo>
                  <a:lnTo>
                    <a:pt x="1713029" y="51425"/>
                  </a:lnTo>
                  <a:lnTo>
                    <a:pt x="12065" y="51425"/>
                  </a:lnTo>
                  <a:lnTo>
                    <a:pt x="6952" y="51425"/>
                  </a:lnTo>
                  <a:lnTo>
                    <a:pt x="4498" y="49401"/>
                  </a:lnTo>
                  <a:lnTo>
                    <a:pt x="2044" y="46887"/>
                  </a:lnTo>
                  <a:lnTo>
                    <a:pt x="0" y="41839"/>
                  </a:lnTo>
                  <a:lnTo>
                    <a:pt x="2044" y="36811"/>
                  </a:lnTo>
                  <a:lnTo>
                    <a:pt x="4498" y="34276"/>
                  </a:lnTo>
                  <a:lnTo>
                    <a:pt x="6952" y="31762"/>
                  </a:lnTo>
                  <a:lnTo>
                    <a:pt x="12065" y="31762"/>
                  </a:lnTo>
                  <a:close/>
                </a:path>
                <a:path w="1794509" h="83820">
                  <a:moveTo>
                    <a:pt x="1713029" y="41839"/>
                  </a:moveTo>
                  <a:lnTo>
                    <a:pt x="1671517" y="0"/>
                  </a:lnTo>
                  <a:lnTo>
                    <a:pt x="1794007" y="41839"/>
                  </a:lnTo>
                  <a:lnTo>
                    <a:pt x="1671517" y="83699"/>
                  </a:lnTo>
                  <a:lnTo>
                    <a:pt x="1713029" y="41839"/>
                  </a:lnTo>
                  <a:close/>
                </a:path>
              </a:pathLst>
            </a:custGeom>
            <a:ln w="3175">
              <a:solidFill>
                <a:srgbClr val="000000"/>
              </a:solidFill>
            </a:ln>
          </p:spPr>
          <p:txBody>
            <a:bodyPr wrap="square" lIns="0" tIns="0" rIns="0" bIns="0" rtlCol="0"/>
            <a:lstStyle/>
            <a:p/>
          </p:txBody>
        </p:sp>
      </p:grpSp>
      <p:sp>
        <p:nvSpPr>
          <p:cNvPr id="62" name="object 62" descr=""/>
          <p:cNvSpPr txBox="1"/>
          <p:nvPr/>
        </p:nvSpPr>
        <p:spPr>
          <a:xfrm>
            <a:off x="8280374" y="5230834"/>
            <a:ext cx="862330" cy="247650"/>
          </a:xfrm>
          <a:prstGeom prst="rect">
            <a:avLst/>
          </a:prstGeom>
        </p:spPr>
        <p:txBody>
          <a:bodyPr wrap="square" lIns="0" tIns="13335" rIns="0" bIns="0" rtlCol="0" vert="horz">
            <a:spAutoFit/>
          </a:bodyPr>
          <a:lstStyle/>
          <a:p>
            <a:pPr marL="38100">
              <a:lnSpc>
                <a:spcPct val="100000"/>
              </a:lnSpc>
              <a:spcBef>
                <a:spcPts val="105"/>
              </a:spcBef>
            </a:pPr>
            <a:r>
              <a:rPr dirty="0" sz="1450" spc="-10">
                <a:latin typeface="宋体"/>
                <a:cs typeface="宋体"/>
              </a:rPr>
              <a:t>〈</a:t>
            </a:r>
            <a:r>
              <a:rPr dirty="0" sz="1450">
                <a:latin typeface="宋体"/>
                <a:cs typeface="宋体"/>
              </a:rPr>
              <a:t>28</a:t>
            </a:r>
            <a:r>
              <a:rPr dirty="0" sz="1450" spc="-180">
                <a:latin typeface="宋体"/>
                <a:cs typeface="宋体"/>
              </a:rPr>
              <a:t>〉 </a:t>
            </a:r>
            <a:r>
              <a:rPr dirty="0" baseline="28735" sz="2175" spc="-75">
                <a:latin typeface="宋体"/>
                <a:cs typeface="宋体"/>
              </a:rPr>
              <a:t>④</a:t>
            </a:r>
            <a:endParaRPr baseline="28735" sz="2175">
              <a:latin typeface="宋体"/>
              <a:cs typeface="宋体"/>
            </a:endParaRPr>
          </a:p>
        </p:txBody>
      </p:sp>
      <p:sp>
        <p:nvSpPr>
          <p:cNvPr id="63" name="object 63" descr=""/>
          <p:cNvSpPr/>
          <p:nvPr/>
        </p:nvSpPr>
        <p:spPr>
          <a:xfrm>
            <a:off x="8448122" y="5479756"/>
            <a:ext cx="150495" cy="128270"/>
          </a:xfrm>
          <a:custGeom>
            <a:avLst/>
            <a:gdLst/>
            <a:ahLst/>
            <a:cxnLst/>
            <a:rect l="l" t="t" r="r" b="b"/>
            <a:pathLst>
              <a:path w="150495" h="128270">
                <a:moveTo>
                  <a:pt x="0" y="128093"/>
                </a:moveTo>
                <a:lnTo>
                  <a:pt x="149892" y="0"/>
                </a:lnTo>
              </a:path>
            </a:pathLst>
          </a:custGeom>
          <a:ln w="14685">
            <a:solidFill>
              <a:srgbClr val="000000"/>
            </a:solidFill>
          </a:ln>
        </p:spPr>
        <p:txBody>
          <a:bodyPr wrap="square" lIns="0" tIns="0" rIns="0" bIns="0" rtlCol="0"/>
          <a:lstStyle/>
          <a:p/>
        </p:txBody>
      </p:sp>
      <p:grpSp>
        <p:nvGrpSpPr>
          <p:cNvPr id="64" name="object 64" descr=""/>
          <p:cNvGrpSpPr/>
          <p:nvPr/>
        </p:nvGrpSpPr>
        <p:grpSpPr>
          <a:xfrm>
            <a:off x="4768644" y="2046601"/>
            <a:ext cx="4369435" cy="3060065"/>
            <a:chOff x="4768644" y="2046601"/>
            <a:chExt cx="4369435" cy="3060065"/>
          </a:xfrm>
        </p:grpSpPr>
        <p:sp>
          <p:nvSpPr>
            <p:cNvPr id="65" name="object 65" descr=""/>
            <p:cNvSpPr/>
            <p:nvPr/>
          </p:nvSpPr>
          <p:spPr>
            <a:xfrm>
              <a:off x="4776264" y="2054221"/>
              <a:ext cx="3544570" cy="2981325"/>
            </a:xfrm>
            <a:custGeom>
              <a:avLst/>
              <a:gdLst/>
              <a:ahLst/>
              <a:cxnLst/>
              <a:rect l="l" t="t" r="r" b="b"/>
              <a:pathLst>
                <a:path w="3544570" h="2981325">
                  <a:moveTo>
                    <a:pt x="0" y="0"/>
                  </a:moveTo>
                  <a:lnTo>
                    <a:pt x="0" y="159427"/>
                  </a:lnTo>
                </a:path>
                <a:path w="3544570" h="2981325">
                  <a:moveTo>
                    <a:pt x="0" y="159427"/>
                  </a:moveTo>
                  <a:lnTo>
                    <a:pt x="3544254" y="159427"/>
                  </a:lnTo>
                </a:path>
                <a:path w="3544570" h="2981325">
                  <a:moveTo>
                    <a:pt x="3544254" y="159427"/>
                  </a:moveTo>
                  <a:lnTo>
                    <a:pt x="3544254" y="2981264"/>
                  </a:lnTo>
                </a:path>
              </a:pathLst>
            </a:custGeom>
            <a:ln w="14685">
              <a:solidFill>
                <a:srgbClr val="000000"/>
              </a:solidFill>
            </a:ln>
          </p:spPr>
          <p:txBody>
            <a:bodyPr wrap="square" lIns="0" tIns="0" rIns="0" bIns="0" rtlCol="0"/>
            <a:lstStyle/>
            <a:p/>
          </p:txBody>
        </p:sp>
        <p:sp>
          <p:nvSpPr>
            <p:cNvPr id="66" name="object 66" descr=""/>
            <p:cNvSpPr/>
            <p:nvPr/>
          </p:nvSpPr>
          <p:spPr>
            <a:xfrm>
              <a:off x="8311317" y="4999186"/>
              <a:ext cx="824865" cy="81280"/>
            </a:xfrm>
            <a:custGeom>
              <a:avLst/>
              <a:gdLst/>
              <a:ahLst/>
              <a:cxnLst/>
              <a:rect l="l" t="t" r="r" b="b"/>
              <a:pathLst>
                <a:path w="824865" h="81279">
                  <a:moveTo>
                    <a:pt x="702225" y="0"/>
                  </a:moveTo>
                  <a:lnTo>
                    <a:pt x="743737" y="39325"/>
                  </a:lnTo>
                  <a:lnTo>
                    <a:pt x="702225" y="81185"/>
                  </a:lnTo>
                  <a:lnTo>
                    <a:pt x="796665" y="48911"/>
                  </a:lnTo>
                  <a:lnTo>
                    <a:pt x="746191" y="48911"/>
                  </a:lnTo>
                  <a:lnTo>
                    <a:pt x="748849" y="46397"/>
                  </a:lnTo>
                  <a:lnTo>
                    <a:pt x="751303" y="44373"/>
                  </a:lnTo>
                  <a:lnTo>
                    <a:pt x="753757" y="39325"/>
                  </a:lnTo>
                  <a:lnTo>
                    <a:pt x="751303" y="36811"/>
                  </a:lnTo>
                  <a:lnTo>
                    <a:pt x="748849" y="31762"/>
                  </a:lnTo>
                  <a:lnTo>
                    <a:pt x="746191" y="29248"/>
                  </a:lnTo>
                  <a:lnTo>
                    <a:pt x="793329" y="29248"/>
                  </a:lnTo>
                  <a:lnTo>
                    <a:pt x="702225" y="0"/>
                  </a:lnTo>
                  <a:close/>
                </a:path>
                <a:path w="824865" h="81279">
                  <a:moveTo>
                    <a:pt x="733100" y="29248"/>
                  </a:moveTo>
                  <a:lnTo>
                    <a:pt x="7770" y="29248"/>
                  </a:lnTo>
                  <a:lnTo>
                    <a:pt x="5112" y="31762"/>
                  </a:lnTo>
                  <a:lnTo>
                    <a:pt x="2658" y="36811"/>
                  </a:lnTo>
                  <a:lnTo>
                    <a:pt x="0" y="39325"/>
                  </a:lnTo>
                  <a:lnTo>
                    <a:pt x="2658" y="44373"/>
                  </a:lnTo>
                  <a:lnTo>
                    <a:pt x="5112" y="46397"/>
                  </a:lnTo>
                  <a:lnTo>
                    <a:pt x="7770" y="48911"/>
                  </a:lnTo>
                  <a:lnTo>
                    <a:pt x="734230" y="48911"/>
                  </a:lnTo>
                  <a:lnTo>
                    <a:pt x="743737" y="39325"/>
                  </a:lnTo>
                  <a:lnTo>
                    <a:pt x="733100" y="29248"/>
                  </a:lnTo>
                  <a:close/>
                </a:path>
                <a:path w="824865" h="81279">
                  <a:moveTo>
                    <a:pt x="793329" y="29248"/>
                  </a:moveTo>
                  <a:lnTo>
                    <a:pt x="746191" y="29248"/>
                  </a:lnTo>
                  <a:lnTo>
                    <a:pt x="748849" y="31762"/>
                  </a:lnTo>
                  <a:lnTo>
                    <a:pt x="751303" y="36811"/>
                  </a:lnTo>
                  <a:lnTo>
                    <a:pt x="753757" y="39325"/>
                  </a:lnTo>
                  <a:lnTo>
                    <a:pt x="751303" y="44373"/>
                  </a:lnTo>
                  <a:lnTo>
                    <a:pt x="748849" y="46397"/>
                  </a:lnTo>
                  <a:lnTo>
                    <a:pt x="746191" y="48911"/>
                  </a:lnTo>
                  <a:lnTo>
                    <a:pt x="796665" y="48911"/>
                  </a:lnTo>
                  <a:lnTo>
                    <a:pt x="824716" y="39325"/>
                  </a:lnTo>
                  <a:lnTo>
                    <a:pt x="793329" y="29248"/>
                  </a:lnTo>
                  <a:close/>
                </a:path>
              </a:pathLst>
            </a:custGeom>
            <a:solidFill>
              <a:srgbClr val="000000"/>
            </a:solidFill>
          </p:spPr>
          <p:txBody>
            <a:bodyPr wrap="square" lIns="0" tIns="0" rIns="0" bIns="0" rtlCol="0"/>
            <a:lstStyle/>
            <a:p/>
          </p:txBody>
        </p:sp>
        <p:sp>
          <p:nvSpPr>
            <p:cNvPr id="67" name="object 67" descr=""/>
            <p:cNvSpPr/>
            <p:nvPr/>
          </p:nvSpPr>
          <p:spPr>
            <a:xfrm>
              <a:off x="8311317" y="4999186"/>
              <a:ext cx="824865" cy="81280"/>
            </a:xfrm>
            <a:custGeom>
              <a:avLst/>
              <a:gdLst/>
              <a:ahLst/>
              <a:cxnLst/>
              <a:rect l="l" t="t" r="r" b="b"/>
              <a:pathLst>
                <a:path w="824865" h="81279">
                  <a:moveTo>
                    <a:pt x="12269" y="29248"/>
                  </a:moveTo>
                  <a:lnTo>
                    <a:pt x="743737" y="29248"/>
                  </a:lnTo>
                  <a:lnTo>
                    <a:pt x="746191" y="29248"/>
                  </a:lnTo>
                  <a:lnTo>
                    <a:pt x="748849" y="31762"/>
                  </a:lnTo>
                  <a:lnTo>
                    <a:pt x="751303" y="36811"/>
                  </a:lnTo>
                  <a:lnTo>
                    <a:pt x="753757" y="39325"/>
                  </a:lnTo>
                  <a:lnTo>
                    <a:pt x="751303" y="44373"/>
                  </a:lnTo>
                  <a:lnTo>
                    <a:pt x="748849" y="46397"/>
                  </a:lnTo>
                  <a:lnTo>
                    <a:pt x="746191" y="48911"/>
                  </a:lnTo>
                  <a:lnTo>
                    <a:pt x="743737" y="48911"/>
                  </a:lnTo>
                  <a:lnTo>
                    <a:pt x="12269" y="48911"/>
                  </a:lnTo>
                  <a:lnTo>
                    <a:pt x="7770" y="48911"/>
                  </a:lnTo>
                  <a:lnTo>
                    <a:pt x="5112" y="46397"/>
                  </a:lnTo>
                  <a:lnTo>
                    <a:pt x="2658" y="44373"/>
                  </a:lnTo>
                  <a:lnTo>
                    <a:pt x="0" y="39325"/>
                  </a:lnTo>
                  <a:lnTo>
                    <a:pt x="2658" y="36811"/>
                  </a:lnTo>
                  <a:lnTo>
                    <a:pt x="5112" y="31762"/>
                  </a:lnTo>
                  <a:lnTo>
                    <a:pt x="7770" y="29248"/>
                  </a:lnTo>
                  <a:lnTo>
                    <a:pt x="12269" y="29248"/>
                  </a:lnTo>
                  <a:close/>
                </a:path>
                <a:path w="824865" h="81279">
                  <a:moveTo>
                    <a:pt x="743737" y="39325"/>
                  </a:moveTo>
                  <a:lnTo>
                    <a:pt x="702225" y="0"/>
                  </a:lnTo>
                  <a:lnTo>
                    <a:pt x="824716" y="39325"/>
                  </a:lnTo>
                  <a:lnTo>
                    <a:pt x="702225" y="81185"/>
                  </a:lnTo>
                  <a:lnTo>
                    <a:pt x="743737" y="39325"/>
                  </a:lnTo>
                  <a:close/>
                </a:path>
              </a:pathLst>
            </a:custGeom>
            <a:ln w="3175">
              <a:solidFill>
                <a:srgbClr val="000000"/>
              </a:solidFill>
            </a:ln>
          </p:spPr>
          <p:txBody>
            <a:bodyPr wrap="square" lIns="0" tIns="0" rIns="0" bIns="0" rtlCol="0"/>
            <a:lstStyle/>
            <a:p/>
          </p:txBody>
        </p:sp>
        <p:sp>
          <p:nvSpPr>
            <p:cNvPr id="68" name="object 68" descr=""/>
            <p:cNvSpPr/>
            <p:nvPr/>
          </p:nvSpPr>
          <p:spPr>
            <a:xfrm>
              <a:off x="8448122" y="4971449"/>
              <a:ext cx="150495" cy="127635"/>
            </a:xfrm>
            <a:custGeom>
              <a:avLst/>
              <a:gdLst/>
              <a:ahLst/>
              <a:cxnLst/>
              <a:rect l="l" t="t" r="r" b="b"/>
              <a:pathLst>
                <a:path w="150495" h="127635">
                  <a:moveTo>
                    <a:pt x="0" y="127582"/>
                  </a:moveTo>
                  <a:lnTo>
                    <a:pt x="149892" y="0"/>
                  </a:lnTo>
                </a:path>
              </a:pathLst>
            </a:custGeom>
            <a:ln w="14685">
              <a:solidFill>
                <a:srgbClr val="000000"/>
              </a:solidFill>
            </a:ln>
          </p:spPr>
          <p:txBody>
            <a:bodyPr wrap="square" lIns="0" tIns="0" rIns="0" bIns="0" rtlCol="0"/>
            <a:lstStyle/>
            <a:p/>
          </p:txBody>
        </p:sp>
      </p:grpSp>
      <p:sp>
        <p:nvSpPr>
          <p:cNvPr id="69" name="object 69" descr=""/>
          <p:cNvSpPr txBox="1"/>
          <p:nvPr/>
        </p:nvSpPr>
        <p:spPr>
          <a:xfrm>
            <a:off x="8305774" y="4725042"/>
            <a:ext cx="583565" cy="247650"/>
          </a:xfrm>
          <a:prstGeom prst="rect">
            <a:avLst/>
          </a:prstGeom>
        </p:spPr>
        <p:txBody>
          <a:bodyPr wrap="square" lIns="0" tIns="13335" rIns="0" bIns="0" rtlCol="0" vert="horz">
            <a:spAutoFit/>
          </a:bodyPr>
          <a:lstStyle/>
          <a:p>
            <a:pPr marL="12700">
              <a:lnSpc>
                <a:spcPct val="100000"/>
              </a:lnSpc>
              <a:spcBef>
                <a:spcPts val="105"/>
              </a:spcBef>
            </a:pPr>
            <a:r>
              <a:rPr dirty="0" sz="1450" spc="-10">
                <a:latin typeface="宋体"/>
                <a:cs typeface="宋体"/>
              </a:rPr>
              <a:t>〈</a:t>
            </a:r>
            <a:r>
              <a:rPr dirty="0" sz="1450">
                <a:latin typeface="宋体"/>
                <a:cs typeface="宋体"/>
              </a:rPr>
              <a:t>12</a:t>
            </a:r>
            <a:r>
              <a:rPr dirty="0" sz="1450" spc="-50">
                <a:latin typeface="宋体"/>
                <a:cs typeface="宋体"/>
              </a:rPr>
              <a:t>〉</a:t>
            </a:r>
            <a:endParaRPr sz="1450">
              <a:latin typeface="宋体"/>
              <a:cs typeface="宋体"/>
            </a:endParaRPr>
          </a:p>
        </p:txBody>
      </p:sp>
      <p:sp>
        <p:nvSpPr>
          <p:cNvPr id="70" name="object 70" descr=""/>
          <p:cNvSpPr txBox="1"/>
          <p:nvPr/>
        </p:nvSpPr>
        <p:spPr>
          <a:xfrm>
            <a:off x="9272816" y="5049292"/>
            <a:ext cx="764540" cy="461009"/>
          </a:xfrm>
          <a:prstGeom prst="rect">
            <a:avLst/>
          </a:prstGeom>
        </p:spPr>
        <p:txBody>
          <a:bodyPr wrap="square" lIns="0" tIns="26670" rIns="0" bIns="0" rtlCol="0" vert="horz">
            <a:spAutoFit/>
          </a:bodyPr>
          <a:lstStyle/>
          <a:p>
            <a:pPr marL="12700" marR="5080" indent="127000">
              <a:lnSpc>
                <a:spcPts val="1680"/>
              </a:lnSpc>
              <a:spcBef>
                <a:spcPts val="210"/>
              </a:spcBef>
            </a:pPr>
            <a:r>
              <a:rPr dirty="0" sz="1450">
                <a:latin typeface="宋体"/>
                <a:cs typeface="宋体"/>
              </a:rPr>
              <a:t>40</a:t>
            </a:r>
            <a:r>
              <a:rPr dirty="0" sz="1450" spc="-200">
                <a:latin typeface="宋体"/>
                <a:cs typeface="宋体"/>
              </a:rPr>
              <a:t> 位</a:t>
            </a:r>
            <a:r>
              <a:rPr dirty="0" sz="1450" spc="-50">
                <a:latin typeface="宋体"/>
                <a:cs typeface="宋体"/>
              </a:rPr>
              <a:t> </a:t>
            </a:r>
            <a:r>
              <a:rPr dirty="0" sz="1450" spc="-20">
                <a:solidFill>
                  <a:srgbClr val="0000FF"/>
                </a:solidFill>
                <a:latin typeface="宋体"/>
                <a:cs typeface="宋体"/>
              </a:rPr>
              <a:t>物理地址</a:t>
            </a:r>
            <a:endParaRPr sz="1450">
              <a:latin typeface="宋体"/>
              <a:cs typeface="宋体"/>
            </a:endParaRPr>
          </a:p>
        </p:txBody>
      </p:sp>
      <p:grpSp>
        <p:nvGrpSpPr>
          <p:cNvPr id="71" name="object 71" descr=""/>
          <p:cNvGrpSpPr/>
          <p:nvPr/>
        </p:nvGrpSpPr>
        <p:grpSpPr>
          <a:xfrm>
            <a:off x="4614528" y="2996270"/>
            <a:ext cx="3542029" cy="1913889"/>
            <a:chOff x="4614528" y="2996270"/>
            <a:chExt cx="3542029" cy="1913889"/>
          </a:xfrm>
        </p:grpSpPr>
        <p:sp>
          <p:nvSpPr>
            <p:cNvPr id="72" name="object 72" descr=""/>
            <p:cNvSpPr/>
            <p:nvPr/>
          </p:nvSpPr>
          <p:spPr>
            <a:xfrm>
              <a:off x="4621873" y="3512978"/>
              <a:ext cx="3527425" cy="1397000"/>
            </a:xfrm>
            <a:custGeom>
              <a:avLst/>
              <a:gdLst/>
              <a:ahLst/>
              <a:cxnLst/>
              <a:rect l="l" t="t" r="r" b="b"/>
              <a:pathLst>
                <a:path w="3527425" h="1397000">
                  <a:moveTo>
                    <a:pt x="3526872" y="255287"/>
                  </a:moveTo>
                  <a:lnTo>
                    <a:pt x="3526872" y="444372"/>
                  </a:lnTo>
                </a:path>
                <a:path w="3527425" h="1397000">
                  <a:moveTo>
                    <a:pt x="0" y="451934"/>
                  </a:moveTo>
                  <a:lnTo>
                    <a:pt x="0" y="702051"/>
                  </a:lnTo>
                </a:path>
                <a:path w="3527425" h="1397000">
                  <a:moveTo>
                    <a:pt x="429433" y="449400"/>
                  </a:moveTo>
                  <a:lnTo>
                    <a:pt x="429433" y="702051"/>
                  </a:lnTo>
                </a:path>
                <a:path w="3527425" h="1397000">
                  <a:moveTo>
                    <a:pt x="859070" y="449400"/>
                  </a:moveTo>
                  <a:lnTo>
                    <a:pt x="859070" y="702051"/>
                  </a:lnTo>
                </a:path>
                <a:path w="3527425" h="1397000">
                  <a:moveTo>
                    <a:pt x="1129000" y="449400"/>
                  </a:moveTo>
                  <a:lnTo>
                    <a:pt x="1129000" y="702051"/>
                  </a:lnTo>
                </a:path>
                <a:path w="3527425" h="1397000">
                  <a:moveTo>
                    <a:pt x="1381752" y="451934"/>
                  </a:moveTo>
                  <a:lnTo>
                    <a:pt x="1381752" y="702051"/>
                  </a:lnTo>
                </a:path>
                <a:path w="3527425" h="1397000">
                  <a:moveTo>
                    <a:pt x="2486622" y="449400"/>
                  </a:moveTo>
                  <a:lnTo>
                    <a:pt x="2486622" y="702051"/>
                  </a:lnTo>
                </a:path>
                <a:path w="3527425" h="1397000">
                  <a:moveTo>
                    <a:pt x="1723253" y="0"/>
                  </a:moveTo>
                  <a:lnTo>
                    <a:pt x="1723253" y="1396948"/>
                  </a:lnTo>
                </a:path>
              </a:pathLst>
            </a:custGeom>
            <a:ln w="14685">
              <a:solidFill>
                <a:srgbClr val="000000"/>
              </a:solidFill>
            </a:ln>
          </p:spPr>
          <p:txBody>
            <a:bodyPr wrap="square" lIns="0" tIns="0" rIns="0" bIns="0" rtlCol="0"/>
            <a:lstStyle/>
            <a:p/>
          </p:txBody>
        </p:sp>
        <p:sp>
          <p:nvSpPr>
            <p:cNvPr id="73" name="object 73" descr=""/>
            <p:cNvSpPr/>
            <p:nvPr/>
          </p:nvSpPr>
          <p:spPr>
            <a:xfrm>
              <a:off x="7636697" y="3506029"/>
              <a:ext cx="83185" cy="1058545"/>
            </a:xfrm>
            <a:custGeom>
              <a:avLst/>
              <a:gdLst/>
              <a:ahLst/>
              <a:cxnLst/>
              <a:rect l="l" t="t" r="r" b="b"/>
              <a:pathLst>
                <a:path w="83184" h="1058545">
                  <a:moveTo>
                    <a:pt x="0" y="935427"/>
                  </a:moveTo>
                  <a:lnTo>
                    <a:pt x="41511" y="1058452"/>
                  </a:lnTo>
                  <a:lnTo>
                    <a:pt x="66354" y="984829"/>
                  </a:lnTo>
                  <a:lnTo>
                    <a:pt x="36399" y="984829"/>
                  </a:lnTo>
                  <a:lnTo>
                    <a:pt x="33945" y="982315"/>
                  </a:lnTo>
                  <a:lnTo>
                    <a:pt x="31900" y="979801"/>
                  </a:lnTo>
                  <a:lnTo>
                    <a:pt x="31900" y="965648"/>
                  </a:lnTo>
                  <a:lnTo>
                    <a:pt x="0" y="935427"/>
                  </a:lnTo>
                  <a:close/>
                </a:path>
                <a:path w="83184" h="1058545">
                  <a:moveTo>
                    <a:pt x="31900" y="965648"/>
                  </a:moveTo>
                  <a:lnTo>
                    <a:pt x="31900" y="979801"/>
                  </a:lnTo>
                  <a:lnTo>
                    <a:pt x="33945" y="982315"/>
                  </a:lnTo>
                  <a:lnTo>
                    <a:pt x="36399" y="984829"/>
                  </a:lnTo>
                  <a:lnTo>
                    <a:pt x="46624" y="984829"/>
                  </a:lnTo>
                  <a:lnTo>
                    <a:pt x="48669" y="982315"/>
                  </a:lnTo>
                  <a:lnTo>
                    <a:pt x="51122" y="979801"/>
                  </a:lnTo>
                  <a:lnTo>
                    <a:pt x="51122" y="974753"/>
                  </a:lnTo>
                  <a:lnTo>
                    <a:pt x="41511" y="974753"/>
                  </a:lnTo>
                  <a:lnTo>
                    <a:pt x="31900" y="965648"/>
                  </a:lnTo>
                  <a:close/>
                </a:path>
                <a:path w="83184" h="1058545">
                  <a:moveTo>
                    <a:pt x="83023" y="935427"/>
                  </a:moveTo>
                  <a:lnTo>
                    <a:pt x="51122" y="965648"/>
                  </a:lnTo>
                  <a:lnTo>
                    <a:pt x="51122" y="979801"/>
                  </a:lnTo>
                  <a:lnTo>
                    <a:pt x="48669" y="982315"/>
                  </a:lnTo>
                  <a:lnTo>
                    <a:pt x="46624" y="984829"/>
                  </a:lnTo>
                  <a:lnTo>
                    <a:pt x="66354" y="984829"/>
                  </a:lnTo>
                  <a:lnTo>
                    <a:pt x="83023" y="935427"/>
                  </a:lnTo>
                  <a:close/>
                </a:path>
                <a:path w="83184" h="1058545">
                  <a:moveTo>
                    <a:pt x="46624" y="0"/>
                  </a:moveTo>
                  <a:lnTo>
                    <a:pt x="36399" y="0"/>
                  </a:lnTo>
                  <a:lnTo>
                    <a:pt x="33945" y="2452"/>
                  </a:lnTo>
                  <a:lnTo>
                    <a:pt x="31900" y="7562"/>
                  </a:lnTo>
                  <a:lnTo>
                    <a:pt x="31900" y="965648"/>
                  </a:lnTo>
                  <a:lnTo>
                    <a:pt x="41511" y="974753"/>
                  </a:lnTo>
                  <a:lnTo>
                    <a:pt x="51122" y="965648"/>
                  </a:lnTo>
                  <a:lnTo>
                    <a:pt x="51122" y="7562"/>
                  </a:lnTo>
                  <a:lnTo>
                    <a:pt x="48669" y="2452"/>
                  </a:lnTo>
                  <a:lnTo>
                    <a:pt x="46624" y="0"/>
                  </a:lnTo>
                  <a:close/>
                </a:path>
                <a:path w="83184" h="1058545">
                  <a:moveTo>
                    <a:pt x="51122" y="965648"/>
                  </a:moveTo>
                  <a:lnTo>
                    <a:pt x="41511" y="974753"/>
                  </a:lnTo>
                  <a:lnTo>
                    <a:pt x="51122" y="974753"/>
                  </a:lnTo>
                  <a:lnTo>
                    <a:pt x="51122" y="965648"/>
                  </a:lnTo>
                  <a:close/>
                </a:path>
              </a:pathLst>
            </a:custGeom>
            <a:solidFill>
              <a:srgbClr val="000000"/>
            </a:solidFill>
          </p:spPr>
          <p:txBody>
            <a:bodyPr wrap="square" lIns="0" tIns="0" rIns="0" bIns="0" rtlCol="0"/>
            <a:lstStyle/>
            <a:p/>
          </p:txBody>
        </p:sp>
        <p:sp>
          <p:nvSpPr>
            <p:cNvPr id="74" name="object 74" descr=""/>
            <p:cNvSpPr/>
            <p:nvPr/>
          </p:nvSpPr>
          <p:spPr>
            <a:xfrm>
              <a:off x="7636698" y="3506029"/>
              <a:ext cx="83185" cy="1058545"/>
            </a:xfrm>
            <a:custGeom>
              <a:avLst/>
              <a:gdLst/>
              <a:ahLst/>
              <a:cxnLst/>
              <a:rect l="l" t="t" r="r" b="b"/>
              <a:pathLst>
                <a:path w="83184" h="1058545">
                  <a:moveTo>
                    <a:pt x="51122" y="10015"/>
                  </a:moveTo>
                  <a:lnTo>
                    <a:pt x="51122" y="974753"/>
                  </a:lnTo>
                  <a:lnTo>
                    <a:pt x="51122" y="979801"/>
                  </a:lnTo>
                  <a:lnTo>
                    <a:pt x="48669" y="982315"/>
                  </a:lnTo>
                  <a:lnTo>
                    <a:pt x="46624" y="984829"/>
                  </a:lnTo>
                  <a:lnTo>
                    <a:pt x="41511" y="984829"/>
                  </a:lnTo>
                  <a:lnTo>
                    <a:pt x="36399" y="984829"/>
                  </a:lnTo>
                  <a:lnTo>
                    <a:pt x="33945" y="982315"/>
                  </a:lnTo>
                  <a:lnTo>
                    <a:pt x="31900" y="979801"/>
                  </a:lnTo>
                  <a:lnTo>
                    <a:pt x="31900" y="974753"/>
                  </a:lnTo>
                  <a:lnTo>
                    <a:pt x="31900" y="10015"/>
                  </a:lnTo>
                  <a:lnTo>
                    <a:pt x="31900" y="7562"/>
                  </a:lnTo>
                  <a:lnTo>
                    <a:pt x="33945" y="2452"/>
                  </a:lnTo>
                  <a:lnTo>
                    <a:pt x="36399" y="0"/>
                  </a:lnTo>
                  <a:lnTo>
                    <a:pt x="41511" y="0"/>
                  </a:lnTo>
                  <a:lnTo>
                    <a:pt x="46624" y="0"/>
                  </a:lnTo>
                  <a:lnTo>
                    <a:pt x="48669" y="2452"/>
                  </a:lnTo>
                  <a:lnTo>
                    <a:pt x="51122" y="7562"/>
                  </a:lnTo>
                  <a:lnTo>
                    <a:pt x="51122" y="10015"/>
                  </a:lnTo>
                  <a:close/>
                </a:path>
                <a:path w="83184" h="1058545">
                  <a:moveTo>
                    <a:pt x="41511" y="974753"/>
                  </a:moveTo>
                  <a:lnTo>
                    <a:pt x="83023" y="935427"/>
                  </a:lnTo>
                  <a:lnTo>
                    <a:pt x="41511" y="1058452"/>
                  </a:lnTo>
                  <a:lnTo>
                    <a:pt x="0" y="935427"/>
                  </a:lnTo>
                  <a:lnTo>
                    <a:pt x="41511" y="974753"/>
                  </a:lnTo>
                  <a:close/>
                </a:path>
              </a:pathLst>
            </a:custGeom>
            <a:ln w="3175">
              <a:solidFill>
                <a:srgbClr val="000000"/>
              </a:solidFill>
            </a:ln>
          </p:spPr>
          <p:txBody>
            <a:bodyPr wrap="square" lIns="0" tIns="0" rIns="0" bIns="0" rtlCol="0"/>
            <a:lstStyle/>
            <a:p/>
          </p:txBody>
        </p:sp>
        <p:sp>
          <p:nvSpPr>
            <p:cNvPr id="75" name="object 75" descr=""/>
            <p:cNvSpPr/>
            <p:nvPr/>
          </p:nvSpPr>
          <p:spPr>
            <a:xfrm>
              <a:off x="7788635" y="3252785"/>
              <a:ext cx="81280" cy="1311910"/>
            </a:xfrm>
            <a:custGeom>
              <a:avLst/>
              <a:gdLst/>
              <a:ahLst/>
              <a:cxnLst/>
              <a:rect l="l" t="t" r="r" b="b"/>
              <a:pathLst>
                <a:path w="81279" h="1311910">
                  <a:moveTo>
                    <a:pt x="0" y="1188671"/>
                  </a:moveTo>
                  <a:lnTo>
                    <a:pt x="39466" y="1311696"/>
                  </a:lnTo>
                  <a:lnTo>
                    <a:pt x="64431" y="1238073"/>
                  </a:lnTo>
                  <a:lnTo>
                    <a:pt x="37013" y="1238073"/>
                  </a:lnTo>
                  <a:lnTo>
                    <a:pt x="31900" y="1235559"/>
                  </a:lnTo>
                  <a:lnTo>
                    <a:pt x="29446" y="1233045"/>
                  </a:lnTo>
                  <a:lnTo>
                    <a:pt x="29446" y="1218012"/>
                  </a:lnTo>
                  <a:lnTo>
                    <a:pt x="0" y="1188671"/>
                  </a:lnTo>
                  <a:close/>
                </a:path>
                <a:path w="81279" h="1311910">
                  <a:moveTo>
                    <a:pt x="29446" y="1218012"/>
                  </a:moveTo>
                  <a:lnTo>
                    <a:pt x="29446" y="1233045"/>
                  </a:lnTo>
                  <a:lnTo>
                    <a:pt x="31900" y="1235559"/>
                  </a:lnTo>
                  <a:lnTo>
                    <a:pt x="37013" y="1238073"/>
                  </a:lnTo>
                  <a:lnTo>
                    <a:pt x="44170" y="1238073"/>
                  </a:lnTo>
                  <a:lnTo>
                    <a:pt x="49078" y="1233045"/>
                  </a:lnTo>
                  <a:lnTo>
                    <a:pt x="51736" y="1227996"/>
                  </a:lnTo>
                  <a:lnTo>
                    <a:pt x="39466" y="1227996"/>
                  </a:lnTo>
                  <a:lnTo>
                    <a:pt x="29446" y="1218012"/>
                  </a:lnTo>
                  <a:close/>
                </a:path>
                <a:path w="81279" h="1311910">
                  <a:moveTo>
                    <a:pt x="81183" y="1188671"/>
                  </a:moveTo>
                  <a:lnTo>
                    <a:pt x="51736" y="1216430"/>
                  </a:lnTo>
                  <a:lnTo>
                    <a:pt x="51736" y="1227996"/>
                  </a:lnTo>
                  <a:lnTo>
                    <a:pt x="49078" y="1233045"/>
                  </a:lnTo>
                  <a:lnTo>
                    <a:pt x="44170" y="1238073"/>
                  </a:lnTo>
                  <a:lnTo>
                    <a:pt x="64431" y="1238073"/>
                  </a:lnTo>
                  <a:lnTo>
                    <a:pt x="81183" y="1188671"/>
                  </a:lnTo>
                  <a:close/>
                </a:path>
                <a:path w="81279" h="1311910">
                  <a:moveTo>
                    <a:pt x="44170" y="0"/>
                  </a:moveTo>
                  <a:lnTo>
                    <a:pt x="37012" y="0"/>
                  </a:lnTo>
                  <a:lnTo>
                    <a:pt x="31900" y="2657"/>
                  </a:lnTo>
                  <a:lnTo>
                    <a:pt x="29446" y="5109"/>
                  </a:lnTo>
                  <a:lnTo>
                    <a:pt x="29446" y="1218012"/>
                  </a:lnTo>
                  <a:lnTo>
                    <a:pt x="39466" y="1227996"/>
                  </a:lnTo>
                  <a:lnTo>
                    <a:pt x="51736" y="1216430"/>
                  </a:lnTo>
                  <a:lnTo>
                    <a:pt x="51736" y="10219"/>
                  </a:lnTo>
                  <a:lnTo>
                    <a:pt x="49078" y="5109"/>
                  </a:lnTo>
                  <a:lnTo>
                    <a:pt x="46624" y="2657"/>
                  </a:lnTo>
                  <a:lnTo>
                    <a:pt x="44170" y="0"/>
                  </a:lnTo>
                  <a:close/>
                </a:path>
                <a:path w="81279" h="1311910">
                  <a:moveTo>
                    <a:pt x="51736" y="1216430"/>
                  </a:moveTo>
                  <a:lnTo>
                    <a:pt x="39466" y="1227996"/>
                  </a:lnTo>
                  <a:lnTo>
                    <a:pt x="51736" y="1227996"/>
                  </a:lnTo>
                  <a:lnTo>
                    <a:pt x="51736" y="1216430"/>
                  </a:lnTo>
                  <a:close/>
                </a:path>
              </a:pathLst>
            </a:custGeom>
            <a:solidFill>
              <a:srgbClr val="000000"/>
            </a:solidFill>
          </p:spPr>
          <p:txBody>
            <a:bodyPr wrap="square" lIns="0" tIns="0" rIns="0" bIns="0" rtlCol="0"/>
            <a:lstStyle/>
            <a:p/>
          </p:txBody>
        </p:sp>
        <p:sp>
          <p:nvSpPr>
            <p:cNvPr id="76" name="object 76" descr=""/>
            <p:cNvSpPr/>
            <p:nvPr/>
          </p:nvSpPr>
          <p:spPr>
            <a:xfrm>
              <a:off x="7788635" y="3252785"/>
              <a:ext cx="81280" cy="1311910"/>
            </a:xfrm>
            <a:custGeom>
              <a:avLst/>
              <a:gdLst/>
              <a:ahLst/>
              <a:cxnLst/>
              <a:rect l="l" t="t" r="r" b="b"/>
              <a:pathLst>
                <a:path w="81279" h="1311910">
                  <a:moveTo>
                    <a:pt x="51736" y="10219"/>
                  </a:moveTo>
                  <a:lnTo>
                    <a:pt x="51736" y="1227996"/>
                  </a:lnTo>
                  <a:lnTo>
                    <a:pt x="49078" y="1233045"/>
                  </a:lnTo>
                  <a:lnTo>
                    <a:pt x="46624" y="1235559"/>
                  </a:lnTo>
                  <a:lnTo>
                    <a:pt x="44170" y="1238073"/>
                  </a:lnTo>
                  <a:lnTo>
                    <a:pt x="39466" y="1238073"/>
                  </a:lnTo>
                  <a:lnTo>
                    <a:pt x="37013" y="1238073"/>
                  </a:lnTo>
                  <a:lnTo>
                    <a:pt x="29446" y="10219"/>
                  </a:lnTo>
                  <a:lnTo>
                    <a:pt x="29446" y="5109"/>
                  </a:lnTo>
                  <a:lnTo>
                    <a:pt x="31900" y="2657"/>
                  </a:lnTo>
                  <a:lnTo>
                    <a:pt x="37012" y="0"/>
                  </a:lnTo>
                  <a:lnTo>
                    <a:pt x="39466" y="0"/>
                  </a:lnTo>
                  <a:lnTo>
                    <a:pt x="44170" y="0"/>
                  </a:lnTo>
                  <a:lnTo>
                    <a:pt x="46624" y="2657"/>
                  </a:lnTo>
                  <a:lnTo>
                    <a:pt x="49078" y="5109"/>
                  </a:lnTo>
                  <a:lnTo>
                    <a:pt x="51736" y="10219"/>
                  </a:lnTo>
                  <a:close/>
                </a:path>
                <a:path w="81279" h="1311910">
                  <a:moveTo>
                    <a:pt x="39466" y="1227996"/>
                  </a:moveTo>
                  <a:lnTo>
                    <a:pt x="81183" y="1188671"/>
                  </a:lnTo>
                  <a:lnTo>
                    <a:pt x="39466" y="1311696"/>
                  </a:lnTo>
                  <a:lnTo>
                    <a:pt x="0" y="1188671"/>
                  </a:lnTo>
                  <a:lnTo>
                    <a:pt x="39466" y="1227996"/>
                  </a:lnTo>
                  <a:close/>
                </a:path>
              </a:pathLst>
            </a:custGeom>
            <a:ln w="3175">
              <a:solidFill>
                <a:srgbClr val="000000"/>
              </a:solidFill>
            </a:ln>
          </p:spPr>
          <p:txBody>
            <a:bodyPr wrap="square" lIns="0" tIns="0" rIns="0" bIns="0" rtlCol="0"/>
            <a:lstStyle/>
            <a:p/>
          </p:txBody>
        </p:sp>
        <p:sp>
          <p:nvSpPr>
            <p:cNvPr id="77" name="object 77" descr=""/>
            <p:cNvSpPr/>
            <p:nvPr/>
          </p:nvSpPr>
          <p:spPr>
            <a:xfrm>
              <a:off x="7960408" y="2997702"/>
              <a:ext cx="81280" cy="1567180"/>
            </a:xfrm>
            <a:custGeom>
              <a:avLst/>
              <a:gdLst/>
              <a:ahLst/>
              <a:cxnLst/>
              <a:rect l="l" t="t" r="r" b="b"/>
              <a:pathLst>
                <a:path w="81279" h="1567179">
                  <a:moveTo>
                    <a:pt x="0" y="1443754"/>
                  </a:moveTo>
                  <a:lnTo>
                    <a:pt x="39466" y="1566779"/>
                  </a:lnTo>
                  <a:lnTo>
                    <a:pt x="64309" y="1493156"/>
                  </a:lnTo>
                  <a:lnTo>
                    <a:pt x="37013" y="1493156"/>
                  </a:lnTo>
                  <a:lnTo>
                    <a:pt x="31900" y="1490642"/>
                  </a:lnTo>
                  <a:lnTo>
                    <a:pt x="29446" y="1488128"/>
                  </a:lnTo>
                  <a:lnTo>
                    <a:pt x="29446" y="1473095"/>
                  </a:lnTo>
                  <a:lnTo>
                    <a:pt x="0" y="1443754"/>
                  </a:lnTo>
                  <a:close/>
                </a:path>
                <a:path w="81279" h="1567179">
                  <a:moveTo>
                    <a:pt x="29446" y="1473095"/>
                  </a:moveTo>
                  <a:lnTo>
                    <a:pt x="29446" y="1488128"/>
                  </a:lnTo>
                  <a:lnTo>
                    <a:pt x="31900" y="1490642"/>
                  </a:lnTo>
                  <a:lnTo>
                    <a:pt x="37013" y="1493156"/>
                  </a:lnTo>
                  <a:lnTo>
                    <a:pt x="43965" y="1493156"/>
                  </a:lnTo>
                  <a:lnTo>
                    <a:pt x="46624" y="1490642"/>
                  </a:lnTo>
                  <a:lnTo>
                    <a:pt x="49078" y="1488128"/>
                  </a:lnTo>
                  <a:lnTo>
                    <a:pt x="51736" y="1483080"/>
                  </a:lnTo>
                  <a:lnTo>
                    <a:pt x="39466" y="1483080"/>
                  </a:lnTo>
                  <a:lnTo>
                    <a:pt x="29446" y="1473095"/>
                  </a:lnTo>
                  <a:close/>
                </a:path>
                <a:path w="81279" h="1567179">
                  <a:moveTo>
                    <a:pt x="80978" y="1443754"/>
                  </a:moveTo>
                  <a:lnTo>
                    <a:pt x="51736" y="1471456"/>
                  </a:lnTo>
                  <a:lnTo>
                    <a:pt x="51736" y="1483080"/>
                  </a:lnTo>
                  <a:lnTo>
                    <a:pt x="49078" y="1488128"/>
                  </a:lnTo>
                  <a:lnTo>
                    <a:pt x="46624" y="1490642"/>
                  </a:lnTo>
                  <a:lnTo>
                    <a:pt x="43965" y="1493156"/>
                  </a:lnTo>
                  <a:lnTo>
                    <a:pt x="64309" y="1493156"/>
                  </a:lnTo>
                  <a:lnTo>
                    <a:pt x="80978" y="1443754"/>
                  </a:lnTo>
                  <a:close/>
                </a:path>
                <a:path w="81279" h="1567179">
                  <a:moveTo>
                    <a:pt x="39466" y="0"/>
                  </a:moveTo>
                  <a:lnTo>
                    <a:pt x="37012" y="2452"/>
                  </a:lnTo>
                  <a:lnTo>
                    <a:pt x="31900" y="5109"/>
                  </a:lnTo>
                  <a:lnTo>
                    <a:pt x="29446" y="7562"/>
                  </a:lnTo>
                  <a:lnTo>
                    <a:pt x="29446" y="1473095"/>
                  </a:lnTo>
                  <a:lnTo>
                    <a:pt x="39466" y="1483080"/>
                  </a:lnTo>
                  <a:lnTo>
                    <a:pt x="51736" y="1471456"/>
                  </a:lnTo>
                  <a:lnTo>
                    <a:pt x="51736" y="12059"/>
                  </a:lnTo>
                  <a:lnTo>
                    <a:pt x="49078" y="7562"/>
                  </a:lnTo>
                  <a:lnTo>
                    <a:pt x="43965" y="2452"/>
                  </a:lnTo>
                  <a:lnTo>
                    <a:pt x="39466" y="0"/>
                  </a:lnTo>
                  <a:close/>
                </a:path>
                <a:path w="81279" h="1567179">
                  <a:moveTo>
                    <a:pt x="51736" y="1471456"/>
                  </a:moveTo>
                  <a:lnTo>
                    <a:pt x="39466" y="1483080"/>
                  </a:lnTo>
                  <a:lnTo>
                    <a:pt x="51736" y="1483080"/>
                  </a:lnTo>
                  <a:lnTo>
                    <a:pt x="51736" y="1471456"/>
                  </a:lnTo>
                  <a:close/>
                </a:path>
              </a:pathLst>
            </a:custGeom>
            <a:solidFill>
              <a:srgbClr val="000000"/>
            </a:solidFill>
          </p:spPr>
          <p:txBody>
            <a:bodyPr wrap="square" lIns="0" tIns="0" rIns="0" bIns="0" rtlCol="0"/>
            <a:lstStyle/>
            <a:p/>
          </p:txBody>
        </p:sp>
        <p:sp>
          <p:nvSpPr>
            <p:cNvPr id="78" name="object 78" descr=""/>
            <p:cNvSpPr/>
            <p:nvPr/>
          </p:nvSpPr>
          <p:spPr>
            <a:xfrm>
              <a:off x="7960408" y="2997702"/>
              <a:ext cx="81280" cy="1567180"/>
            </a:xfrm>
            <a:custGeom>
              <a:avLst/>
              <a:gdLst/>
              <a:ahLst/>
              <a:cxnLst/>
              <a:rect l="l" t="t" r="r" b="b"/>
              <a:pathLst>
                <a:path w="81279" h="1567179">
                  <a:moveTo>
                    <a:pt x="51736" y="12059"/>
                  </a:moveTo>
                  <a:lnTo>
                    <a:pt x="51736" y="1483080"/>
                  </a:lnTo>
                  <a:lnTo>
                    <a:pt x="49078" y="1488128"/>
                  </a:lnTo>
                  <a:lnTo>
                    <a:pt x="46624" y="1490642"/>
                  </a:lnTo>
                  <a:lnTo>
                    <a:pt x="43965" y="1493156"/>
                  </a:lnTo>
                  <a:lnTo>
                    <a:pt x="39466" y="1493156"/>
                  </a:lnTo>
                  <a:lnTo>
                    <a:pt x="37013" y="1493156"/>
                  </a:lnTo>
                  <a:lnTo>
                    <a:pt x="31900" y="1490642"/>
                  </a:lnTo>
                  <a:lnTo>
                    <a:pt x="29446" y="1488128"/>
                  </a:lnTo>
                  <a:lnTo>
                    <a:pt x="29446" y="1483080"/>
                  </a:lnTo>
                  <a:lnTo>
                    <a:pt x="29446" y="12059"/>
                  </a:lnTo>
                  <a:lnTo>
                    <a:pt x="29446" y="7562"/>
                  </a:lnTo>
                  <a:lnTo>
                    <a:pt x="31900" y="5109"/>
                  </a:lnTo>
                  <a:lnTo>
                    <a:pt x="37012" y="2452"/>
                  </a:lnTo>
                  <a:lnTo>
                    <a:pt x="39466" y="0"/>
                  </a:lnTo>
                  <a:lnTo>
                    <a:pt x="43965" y="2452"/>
                  </a:lnTo>
                  <a:lnTo>
                    <a:pt x="46624" y="5109"/>
                  </a:lnTo>
                  <a:lnTo>
                    <a:pt x="49078" y="7562"/>
                  </a:lnTo>
                  <a:lnTo>
                    <a:pt x="51736" y="12059"/>
                  </a:lnTo>
                  <a:close/>
                </a:path>
                <a:path w="81279" h="1567179">
                  <a:moveTo>
                    <a:pt x="39466" y="1483080"/>
                  </a:moveTo>
                  <a:lnTo>
                    <a:pt x="80978" y="1443754"/>
                  </a:lnTo>
                  <a:lnTo>
                    <a:pt x="39466" y="1566779"/>
                  </a:lnTo>
                  <a:lnTo>
                    <a:pt x="0" y="1443754"/>
                  </a:lnTo>
                  <a:lnTo>
                    <a:pt x="39466" y="1483080"/>
                  </a:lnTo>
                  <a:close/>
                </a:path>
              </a:pathLst>
            </a:custGeom>
            <a:ln w="3175">
              <a:solidFill>
                <a:srgbClr val="000000"/>
              </a:solidFill>
            </a:ln>
          </p:spPr>
          <p:txBody>
            <a:bodyPr wrap="square" lIns="0" tIns="0" rIns="0" bIns="0" rtlCol="0"/>
            <a:lstStyle/>
            <a:p/>
          </p:txBody>
        </p:sp>
      </p:grpSp>
      <p:sp>
        <p:nvSpPr>
          <p:cNvPr id="79" name="object 79" descr=""/>
          <p:cNvSpPr txBox="1"/>
          <p:nvPr/>
        </p:nvSpPr>
        <p:spPr>
          <a:xfrm>
            <a:off x="8300661" y="4280261"/>
            <a:ext cx="1374140" cy="247650"/>
          </a:xfrm>
          <a:prstGeom prst="rect">
            <a:avLst/>
          </a:prstGeom>
        </p:spPr>
        <p:txBody>
          <a:bodyPr wrap="square" lIns="0" tIns="13335" rIns="0" bIns="0" rtlCol="0" vert="horz">
            <a:spAutoFit/>
          </a:bodyPr>
          <a:lstStyle/>
          <a:p>
            <a:pPr marL="12700">
              <a:lnSpc>
                <a:spcPct val="100000"/>
              </a:lnSpc>
              <a:spcBef>
                <a:spcPts val="105"/>
              </a:spcBef>
            </a:pPr>
            <a:r>
              <a:rPr dirty="0" sz="1450" spc="-10">
                <a:latin typeface="宋体"/>
                <a:cs typeface="宋体"/>
              </a:rPr>
              <a:t>（</a:t>
            </a:r>
            <a:r>
              <a:rPr dirty="0" sz="1450" spc="185">
                <a:latin typeface="宋体"/>
                <a:cs typeface="宋体"/>
              </a:rPr>
              <a:t>低</a:t>
            </a:r>
            <a:r>
              <a:rPr dirty="0" sz="1450">
                <a:latin typeface="宋体"/>
                <a:cs typeface="宋体"/>
              </a:rPr>
              <a:t>12</a:t>
            </a:r>
            <a:r>
              <a:rPr dirty="0" sz="1450" spc="-125">
                <a:latin typeface="宋体"/>
                <a:cs typeface="宋体"/>
              </a:rPr>
              <a:t> 位地址</a:t>
            </a:r>
            <a:r>
              <a:rPr dirty="0" sz="1450" spc="-50">
                <a:latin typeface="宋体"/>
                <a:cs typeface="宋体"/>
              </a:rPr>
              <a:t>）</a:t>
            </a:r>
            <a:endParaRPr sz="1450">
              <a:latin typeface="宋体"/>
              <a:cs typeface="宋体"/>
            </a:endParaRPr>
          </a:p>
        </p:txBody>
      </p:sp>
      <p:sp>
        <p:nvSpPr>
          <p:cNvPr id="80" name="object 80" descr=""/>
          <p:cNvSpPr txBox="1"/>
          <p:nvPr/>
        </p:nvSpPr>
        <p:spPr>
          <a:xfrm>
            <a:off x="7940142" y="5611554"/>
            <a:ext cx="1373505" cy="247650"/>
          </a:xfrm>
          <a:prstGeom prst="rect">
            <a:avLst/>
          </a:prstGeom>
        </p:spPr>
        <p:txBody>
          <a:bodyPr wrap="square" lIns="0" tIns="13335" rIns="0" bIns="0" rtlCol="0" vert="horz">
            <a:spAutoFit/>
          </a:bodyPr>
          <a:lstStyle/>
          <a:p>
            <a:pPr marL="12700">
              <a:lnSpc>
                <a:spcPct val="100000"/>
              </a:lnSpc>
              <a:spcBef>
                <a:spcPts val="105"/>
              </a:spcBef>
            </a:pPr>
            <a:r>
              <a:rPr dirty="0" sz="1450" spc="-10">
                <a:latin typeface="宋体"/>
                <a:cs typeface="宋体"/>
              </a:rPr>
              <a:t>（</a:t>
            </a:r>
            <a:r>
              <a:rPr dirty="0" sz="1450" spc="185">
                <a:latin typeface="宋体"/>
                <a:cs typeface="宋体"/>
              </a:rPr>
              <a:t>高</a:t>
            </a:r>
            <a:r>
              <a:rPr dirty="0" sz="1450">
                <a:latin typeface="宋体"/>
                <a:cs typeface="宋体"/>
              </a:rPr>
              <a:t>28</a:t>
            </a:r>
            <a:r>
              <a:rPr dirty="0" sz="1450" spc="-125">
                <a:latin typeface="宋体"/>
                <a:cs typeface="宋体"/>
              </a:rPr>
              <a:t> 位地址</a:t>
            </a:r>
            <a:r>
              <a:rPr dirty="0" sz="1450" spc="-50">
                <a:latin typeface="宋体"/>
                <a:cs typeface="宋体"/>
              </a:rPr>
              <a:t>）</a:t>
            </a:r>
            <a:endParaRPr sz="1450">
              <a:latin typeface="宋体"/>
              <a:cs typeface="宋体"/>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166/170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23135"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845616" y="766927"/>
            <a:ext cx="10561955" cy="3919220"/>
          </a:xfrm>
          <a:prstGeom prst="rect">
            <a:avLst/>
          </a:prstGeom>
        </p:spPr>
        <p:txBody>
          <a:bodyPr wrap="square" lIns="0" tIns="125095" rIns="0" bIns="0" rtlCol="0" vert="horz">
            <a:spAutoFit/>
          </a:bodyPr>
          <a:lstStyle/>
          <a:p>
            <a:pPr marL="301625">
              <a:lnSpc>
                <a:spcPct val="100000"/>
              </a:lnSpc>
              <a:spcBef>
                <a:spcPts val="985"/>
              </a:spcBef>
            </a:pPr>
            <a:r>
              <a:rPr dirty="0" sz="2600">
                <a:solidFill>
                  <a:srgbClr val="0000CC"/>
                </a:solidFill>
                <a:latin typeface="黑体"/>
                <a:cs typeface="黑体"/>
              </a:rPr>
              <a:t>7.7.3</a:t>
            </a:r>
            <a:r>
              <a:rPr dirty="0" sz="2600" spc="-15">
                <a:solidFill>
                  <a:srgbClr val="0000CC"/>
                </a:solidFill>
                <a:latin typeface="黑体"/>
                <a:cs typeface="黑体"/>
              </a:rPr>
              <a:t> 页式虚拟存储器实例：</a:t>
            </a:r>
            <a:endParaRPr sz="2600">
              <a:latin typeface="黑体"/>
              <a:cs typeface="黑体"/>
            </a:endParaRPr>
          </a:p>
          <a:p>
            <a:pPr marL="2778125">
              <a:lnSpc>
                <a:spcPct val="100000"/>
              </a:lnSpc>
              <a:spcBef>
                <a:spcPts val="890"/>
              </a:spcBef>
            </a:pPr>
            <a:r>
              <a:rPr dirty="0" sz="2600" spc="-10">
                <a:solidFill>
                  <a:srgbClr val="0000CC"/>
                </a:solidFill>
                <a:latin typeface="黑体"/>
                <a:cs typeface="黑体"/>
              </a:rPr>
              <a:t>64</a:t>
            </a:r>
            <a:r>
              <a:rPr dirty="0" sz="2600">
                <a:solidFill>
                  <a:srgbClr val="0000CC"/>
                </a:solidFill>
                <a:latin typeface="黑体"/>
                <a:cs typeface="黑体"/>
              </a:rPr>
              <a:t>位</a:t>
            </a:r>
            <a:r>
              <a:rPr dirty="0" sz="2600" spc="-10">
                <a:solidFill>
                  <a:srgbClr val="0000CC"/>
                </a:solidFill>
                <a:latin typeface="黑体"/>
                <a:cs typeface="黑体"/>
              </a:rPr>
              <a:t>Opteron</a:t>
            </a:r>
            <a:r>
              <a:rPr dirty="0" sz="2600" spc="-15">
                <a:solidFill>
                  <a:srgbClr val="0000CC"/>
                </a:solidFill>
                <a:latin typeface="黑体"/>
                <a:cs typeface="黑体"/>
              </a:rPr>
              <a:t>的存储管理</a:t>
            </a:r>
            <a:endParaRPr sz="2600">
              <a:latin typeface="黑体"/>
              <a:cs typeface="黑体"/>
            </a:endParaRPr>
          </a:p>
          <a:p>
            <a:pPr marL="469265" indent="-456565">
              <a:lnSpc>
                <a:spcPct val="100000"/>
              </a:lnSpc>
              <a:spcBef>
                <a:spcPts val="875"/>
              </a:spcBef>
              <a:buClr>
                <a:srgbClr val="40458B"/>
              </a:buClr>
              <a:buAutoNum type="arabicPeriod"/>
              <a:tabLst>
                <a:tab pos="469265" algn="l"/>
              </a:tabLst>
            </a:pPr>
            <a:r>
              <a:rPr dirty="0" sz="2400">
                <a:solidFill>
                  <a:srgbClr val="E14B04"/>
                </a:solidFill>
                <a:latin typeface="Times New Roman"/>
                <a:cs typeface="Times New Roman"/>
              </a:rPr>
              <a:t>Opteron</a:t>
            </a:r>
            <a:r>
              <a:rPr dirty="0" sz="2400" spc="-5">
                <a:solidFill>
                  <a:srgbClr val="E14B04"/>
                </a:solidFill>
                <a:latin typeface="黑体"/>
                <a:cs typeface="黑体"/>
              </a:rPr>
              <a:t>的页面大小：</a:t>
            </a:r>
            <a:r>
              <a:rPr dirty="0" sz="2400" spc="-20">
                <a:solidFill>
                  <a:srgbClr val="9933FF"/>
                </a:solidFill>
                <a:latin typeface="Times New Roman"/>
                <a:cs typeface="Times New Roman"/>
              </a:rPr>
              <a:t>4KB</a:t>
            </a:r>
            <a:r>
              <a:rPr dirty="0" sz="2400" spc="-20">
                <a:solidFill>
                  <a:srgbClr val="9933FF"/>
                </a:solidFill>
                <a:latin typeface="黑体"/>
                <a:cs typeface="黑体"/>
              </a:rPr>
              <a:t>，</a:t>
            </a:r>
            <a:r>
              <a:rPr dirty="0" sz="2400" spc="-20">
                <a:solidFill>
                  <a:srgbClr val="9933FF"/>
                </a:solidFill>
                <a:latin typeface="Times New Roman"/>
                <a:cs typeface="Times New Roman"/>
              </a:rPr>
              <a:t>2MB</a:t>
            </a:r>
            <a:r>
              <a:rPr dirty="0" sz="2400">
                <a:solidFill>
                  <a:srgbClr val="9933FF"/>
                </a:solidFill>
                <a:latin typeface="黑体"/>
                <a:cs typeface="黑体"/>
              </a:rPr>
              <a:t>和</a:t>
            </a:r>
            <a:r>
              <a:rPr dirty="0" sz="2400" spc="-25">
                <a:solidFill>
                  <a:srgbClr val="9933FF"/>
                </a:solidFill>
                <a:latin typeface="Times New Roman"/>
                <a:cs typeface="Times New Roman"/>
              </a:rPr>
              <a:t>4MB</a:t>
            </a:r>
            <a:r>
              <a:rPr dirty="0" sz="2400" spc="-50">
                <a:solidFill>
                  <a:srgbClr val="9933FF"/>
                </a:solidFill>
                <a:latin typeface="黑体"/>
                <a:cs typeface="黑体"/>
              </a:rPr>
              <a:t>。</a:t>
            </a:r>
            <a:endParaRPr sz="2400">
              <a:latin typeface="黑体"/>
              <a:cs typeface="黑体"/>
            </a:endParaRPr>
          </a:p>
          <a:p>
            <a:pPr marL="469265" indent="-456565">
              <a:lnSpc>
                <a:spcPct val="100000"/>
              </a:lnSpc>
              <a:spcBef>
                <a:spcPts val="1155"/>
              </a:spcBef>
              <a:buClr>
                <a:srgbClr val="40458B"/>
              </a:buClr>
              <a:buAutoNum type="arabicPeriod"/>
              <a:tabLst>
                <a:tab pos="469265" algn="l"/>
              </a:tabLst>
            </a:pPr>
            <a:r>
              <a:rPr dirty="0" sz="2400" spc="-25">
                <a:solidFill>
                  <a:srgbClr val="E14B04"/>
                </a:solidFill>
                <a:latin typeface="Times New Roman"/>
                <a:cs typeface="Times New Roman"/>
              </a:rPr>
              <a:t>AMD64</a:t>
            </a:r>
            <a:r>
              <a:rPr dirty="0" sz="2400" spc="-20">
                <a:solidFill>
                  <a:srgbClr val="E14B04"/>
                </a:solidFill>
                <a:latin typeface="黑体"/>
                <a:cs typeface="黑体"/>
              </a:rPr>
              <a:t>系统结构</a:t>
            </a:r>
            <a:endParaRPr sz="2400">
              <a:latin typeface="黑体"/>
              <a:cs typeface="黑体"/>
            </a:endParaRPr>
          </a:p>
          <a:p>
            <a:pPr marL="1524635">
              <a:lnSpc>
                <a:spcPct val="100000"/>
              </a:lnSpc>
              <a:spcBef>
                <a:spcPts val="1025"/>
              </a:spcBef>
              <a:tabLst>
                <a:tab pos="3629025" algn="l"/>
              </a:tabLst>
            </a:pPr>
            <a:r>
              <a:rPr dirty="0" sz="2000" spc="-10" b="1">
                <a:solidFill>
                  <a:srgbClr val="00AFEF"/>
                </a:solidFill>
                <a:latin typeface="宋体"/>
                <a:cs typeface="宋体"/>
              </a:rPr>
              <a:t>虚拟地址</a:t>
            </a:r>
            <a:r>
              <a:rPr dirty="0" sz="2000" spc="-20" b="1">
                <a:solidFill>
                  <a:srgbClr val="00AFEF"/>
                </a:solidFill>
                <a:latin typeface="宋体"/>
                <a:cs typeface="宋体"/>
              </a:rPr>
              <a:t>：</a:t>
            </a:r>
            <a:r>
              <a:rPr dirty="0" sz="2000" spc="-509" b="1">
                <a:solidFill>
                  <a:srgbClr val="00AFEF"/>
                </a:solidFill>
                <a:latin typeface="宋体"/>
                <a:cs typeface="宋体"/>
              </a:rPr>
              <a:t> </a:t>
            </a:r>
            <a:r>
              <a:rPr dirty="0" sz="2000" b="1">
                <a:solidFill>
                  <a:srgbClr val="9933FF"/>
                </a:solidFill>
                <a:latin typeface="Times New Roman"/>
                <a:cs typeface="Times New Roman"/>
              </a:rPr>
              <a:t>64</a:t>
            </a:r>
            <a:r>
              <a:rPr dirty="0" sz="2000" spc="-50" b="1">
                <a:solidFill>
                  <a:srgbClr val="00AFEF"/>
                </a:solidFill>
                <a:latin typeface="宋体"/>
                <a:cs typeface="宋体"/>
              </a:rPr>
              <a:t>位</a:t>
            </a:r>
            <a:r>
              <a:rPr dirty="0" sz="2000" b="1">
                <a:solidFill>
                  <a:srgbClr val="00AFEF"/>
                </a:solidFill>
                <a:latin typeface="宋体"/>
                <a:cs typeface="宋体"/>
              </a:rPr>
              <a:t>	</a:t>
            </a:r>
            <a:r>
              <a:rPr dirty="0" sz="2000" spc="-10" b="1">
                <a:solidFill>
                  <a:srgbClr val="00AFEF"/>
                </a:solidFill>
                <a:latin typeface="宋体"/>
                <a:cs typeface="宋体"/>
              </a:rPr>
              <a:t>物理地址：</a:t>
            </a:r>
            <a:r>
              <a:rPr dirty="0" sz="2000" spc="-10" b="1">
                <a:solidFill>
                  <a:srgbClr val="9933FF"/>
                </a:solidFill>
                <a:latin typeface="Times New Roman"/>
                <a:cs typeface="Times New Roman"/>
              </a:rPr>
              <a:t>52</a:t>
            </a:r>
            <a:r>
              <a:rPr dirty="0" sz="2000" spc="-50" b="1">
                <a:solidFill>
                  <a:srgbClr val="00AFEF"/>
                </a:solidFill>
                <a:latin typeface="宋体"/>
                <a:cs typeface="宋体"/>
              </a:rPr>
              <a:t>位</a:t>
            </a:r>
            <a:endParaRPr sz="2000">
              <a:latin typeface="宋体"/>
              <a:cs typeface="宋体"/>
            </a:endParaRPr>
          </a:p>
          <a:p>
            <a:pPr lvl="1" marL="1099185" indent="-457200">
              <a:lnSpc>
                <a:spcPct val="100000"/>
              </a:lnSpc>
              <a:spcBef>
                <a:spcPts val="1090"/>
              </a:spcBef>
              <a:buSzPct val="89583"/>
              <a:buFont typeface="Wingdings"/>
              <a:buChar char=""/>
              <a:tabLst>
                <a:tab pos="1099185" algn="l"/>
              </a:tabLst>
            </a:pPr>
            <a:r>
              <a:rPr dirty="0" sz="2400" spc="-5">
                <a:solidFill>
                  <a:srgbClr val="40458B"/>
                </a:solidFill>
                <a:latin typeface="黑体"/>
                <a:cs typeface="黑体"/>
              </a:rPr>
              <a:t>进行虚</a:t>
            </a:r>
            <a:r>
              <a:rPr dirty="0" sz="2400">
                <a:solidFill>
                  <a:srgbClr val="40458B"/>
                </a:solidFill>
                <a:latin typeface="Times New Roman"/>
                <a:cs typeface="Times New Roman"/>
              </a:rPr>
              <a:t>→</a:t>
            </a:r>
            <a:r>
              <a:rPr dirty="0" sz="2400">
                <a:solidFill>
                  <a:srgbClr val="40458B"/>
                </a:solidFill>
                <a:latin typeface="黑体"/>
                <a:cs typeface="黑体"/>
              </a:rPr>
              <a:t>实地址转换时，是把</a:t>
            </a:r>
            <a:r>
              <a:rPr dirty="0" sz="2400">
                <a:solidFill>
                  <a:srgbClr val="40458B"/>
                </a:solidFill>
                <a:latin typeface="Times New Roman"/>
                <a:cs typeface="Times New Roman"/>
              </a:rPr>
              <a:t>64</a:t>
            </a:r>
            <a:r>
              <a:rPr dirty="0" sz="2400">
                <a:solidFill>
                  <a:srgbClr val="40458B"/>
                </a:solidFill>
                <a:latin typeface="黑体"/>
                <a:cs typeface="黑体"/>
              </a:rPr>
              <a:t>位的虚拟地址映射到</a:t>
            </a:r>
            <a:r>
              <a:rPr dirty="0" sz="2400">
                <a:solidFill>
                  <a:srgbClr val="40458B"/>
                </a:solidFill>
                <a:latin typeface="Times New Roman"/>
                <a:cs typeface="Times New Roman"/>
              </a:rPr>
              <a:t>52</a:t>
            </a:r>
            <a:r>
              <a:rPr dirty="0" sz="2400" spc="-10">
                <a:solidFill>
                  <a:srgbClr val="40458B"/>
                </a:solidFill>
                <a:latin typeface="黑体"/>
                <a:cs typeface="黑体"/>
              </a:rPr>
              <a:t>位的物理地址。</a:t>
            </a:r>
            <a:endParaRPr sz="2400">
              <a:latin typeface="黑体"/>
              <a:cs typeface="黑体"/>
            </a:endParaRPr>
          </a:p>
          <a:p>
            <a:pPr lvl="1" marL="1099185" indent="-457200">
              <a:lnSpc>
                <a:spcPct val="100000"/>
              </a:lnSpc>
              <a:spcBef>
                <a:spcPts val="1150"/>
              </a:spcBef>
              <a:buClr>
                <a:srgbClr val="40458B"/>
              </a:buClr>
              <a:buSzPct val="89583"/>
              <a:buFont typeface="Wingdings"/>
              <a:buChar char=""/>
              <a:tabLst>
                <a:tab pos="1099185" algn="l"/>
              </a:tabLst>
            </a:pPr>
            <a:r>
              <a:rPr dirty="0" sz="2400" spc="-5">
                <a:solidFill>
                  <a:srgbClr val="D50092"/>
                </a:solidFill>
                <a:latin typeface="黑体"/>
                <a:cs typeface="黑体"/>
              </a:rPr>
              <a:t>要求：</a:t>
            </a:r>
            <a:r>
              <a:rPr dirty="0" sz="2400" spc="-10">
                <a:solidFill>
                  <a:srgbClr val="40458B"/>
                </a:solidFill>
                <a:latin typeface="Times New Roman"/>
                <a:cs typeface="Times New Roman"/>
              </a:rPr>
              <a:t>64</a:t>
            </a:r>
            <a:r>
              <a:rPr dirty="0" sz="2400" spc="-10">
                <a:solidFill>
                  <a:srgbClr val="40458B"/>
                </a:solidFill>
                <a:latin typeface="黑体"/>
                <a:cs typeface="黑体"/>
              </a:rPr>
              <a:t>位虚拟地址中的高</a:t>
            </a:r>
            <a:r>
              <a:rPr dirty="0" sz="2400" spc="-10">
                <a:solidFill>
                  <a:srgbClr val="40458B"/>
                </a:solidFill>
                <a:latin typeface="Times New Roman"/>
                <a:cs typeface="Times New Roman"/>
              </a:rPr>
              <a:t>16</a:t>
            </a:r>
            <a:r>
              <a:rPr dirty="0" sz="2400" spc="-10">
                <a:solidFill>
                  <a:srgbClr val="40458B"/>
                </a:solidFill>
                <a:latin typeface="黑体"/>
                <a:cs typeface="黑体"/>
              </a:rPr>
              <a:t>位是由低</a:t>
            </a:r>
            <a:r>
              <a:rPr dirty="0" sz="2400" spc="-10">
                <a:solidFill>
                  <a:srgbClr val="40458B"/>
                </a:solidFill>
                <a:latin typeface="Times New Roman"/>
                <a:cs typeface="Times New Roman"/>
              </a:rPr>
              <a:t>48</a:t>
            </a:r>
            <a:r>
              <a:rPr dirty="0" sz="2400" spc="-15">
                <a:solidFill>
                  <a:srgbClr val="40458B"/>
                </a:solidFill>
                <a:latin typeface="黑体"/>
                <a:cs typeface="黑体"/>
              </a:rPr>
              <a:t>位进行符号位扩展而来的</a:t>
            </a:r>
            <a:endParaRPr sz="2400">
              <a:latin typeface="黑体"/>
              <a:cs typeface="黑体"/>
            </a:endParaRPr>
          </a:p>
          <a:p>
            <a:pPr marL="1906905">
              <a:lnSpc>
                <a:spcPct val="100000"/>
              </a:lnSpc>
              <a:spcBef>
                <a:spcPts val="1025"/>
              </a:spcBef>
            </a:pPr>
            <a:r>
              <a:rPr dirty="0" sz="2000" spc="-20" b="1">
                <a:latin typeface="宋体"/>
                <a:cs typeface="宋体"/>
              </a:rPr>
              <a:t>规范格式</a:t>
            </a:r>
            <a:endParaRPr sz="2000">
              <a:latin typeface="宋体"/>
              <a:cs typeface="宋体"/>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167/170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543303"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918768" y="1130173"/>
            <a:ext cx="9017000" cy="4123690"/>
          </a:xfrm>
          <a:prstGeom prst="rect">
            <a:avLst/>
          </a:prstGeom>
        </p:spPr>
        <p:txBody>
          <a:bodyPr wrap="square" lIns="0" tIns="159385" rIns="0" bIns="0" rtlCol="0" vert="horz">
            <a:spAutoFit/>
          </a:bodyPr>
          <a:lstStyle/>
          <a:p>
            <a:pPr marL="469265" indent="-456565">
              <a:lnSpc>
                <a:spcPct val="100000"/>
              </a:lnSpc>
              <a:spcBef>
                <a:spcPts val="1255"/>
              </a:spcBef>
              <a:buClr>
                <a:srgbClr val="40458B"/>
              </a:buClr>
              <a:buFont typeface="Tahoma"/>
              <a:buAutoNum type="arabicPeriod" startAt="3"/>
              <a:tabLst>
                <a:tab pos="469265" algn="l"/>
              </a:tabLst>
            </a:pPr>
            <a:r>
              <a:rPr dirty="0" sz="2400" spc="-5">
                <a:solidFill>
                  <a:srgbClr val="E14B04"/>
                </a:solidFill>
                <a:latin typeface="黑体"/>
                <a:cs typeface="黑体"/>
              </a:rPr>
              <a:t>采用多级分层页表结构来映射地址空间，以便使页表大小合适。</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5">
                <a:solidFill>
                  <a:srgbClr val="40458B"/>
                </a:solidFill>
                <a:latin typeface="黑体"/>
                <a:cs typeface="黑体"/>
              </a:rPr>
              <a:t>分级的级数取决于虚拟地址空间的大小</a:t>
            </a:r>
            <a:endParaRPr sz="2400">
              <a:latin typeface="黑体"/>
              <a:cs typeface="黑体"/>
            </a:endParaRPr>
          </a:p>
          <a:p>
            <a:pPr lvl="1" marL="1193165" indent="-551180">
              <a:lnSpc>
                <a:spcPct val="100000"/>
              </a:lnSpc>
              <a:spcBef>
                <a:spcPts val="1150"/>
              </a:spcBef>
              <a:buSzPct val="89583"/>
              <a:buFont typeface="Wingdings"/>
              <a:buChar char=""/>
              <a:tabLst>
                <a:tab pos="1193165" algn="l"/>
              </a:tabLst>
            </a:pPr>
            <a:r>
              <a:rPr dirty="0" sz="2400">
                <a:solidFill>
                  <a:srgbClr val="40458B"/>
                </a:solidFill>
                <a:latin typeface="Times New Roman"/>
                <a:cs typeface="Times New Roman"/>
              </a:rPr>
              <a:t>Opteron</a:t>
            </a:r>
            <a:r>
              <a:rPr dirty="0" sz="2400">
                <a:solidFill>
                  <a:srgbClr val="40458B"/>
                </a:solidFill>
                <a:latin typeface="黑体"/>
                <a:cs typeface="黑体"/>
              </a:rPr>
              <a:t>的</a:t>
            </a:r>
            <a:r>
              <a:rPr dirty="0" sz="2400">
                <a:solidFill>
                  <a:srgbClr val="9933FF"/>
                </a:solidFill>
                <a:latin typeface="Times New Roman"/>
                <a:cs typeface="Times New Roman"/>
              </a:rPr>
              <a:t>48</a:t>
            </a:r>
            <a:r>
              <a:rPr dirty="0" sz="2400">
                <a:solidFill>
                  <a:srgbClr val="40458B"/>
                </a:solidFill>
                <a:latin typeface="黑体"/>
                <a:cs typeface="黑体"/>
              </a:rPr>
              <a:t>位虚拟地址的</a:t>
            </a:r>
            <a:r>
              <a:rPr dirty="0" sz="2400">
                <a:solidFill>
                  <a:srgbClr val="9933FF"/>
                </a:solidFill>
                <a:latin typeface="Times New Roman"/>
                <a:cs typeface="Times New Roman"/>
              </a:rPr>
              <a:t>4</a:t>
            </a:r>
            <a:r>
              <a:rPr dirty="0" sz="2400" spc="-20">
                <a:solidFill>
                  <a:srgbClr val="40458B"/>
                </a:solidFill>
                <a:latin typeface="黑体"/>
                <a:cs typeface="黑体"/>
              </a:rPr>
              <a:t>级转换</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0">
                <a:solidFill>
                  <a:srgbClr val="40458B"/>
                </a:solidFill>
                <a:latin typeface="黑体"/>
                <a:cs typeface="黑体"/>
              </a:rPr>
              <a:t>每个分级页表的偏移量分别来自</a:t>
            </a:r>
            <a:r>
              <a:rPr dirty="0" sz="2400" spc="-10">
                <a:solidFill>
                  <a:srgbClr val="9933FF"/>
                </a:solidFill>
                <a:latin typeface="Times New Roman"/>
                <a:cs typeface="Times New Roman"/>
              </a:rPr>
              <a:t>4</a:t>
            </a:r>
            <a:r>
              <a:rPr dirty="0" sz="2400" spc="-10">
                <a:solidFill>
                  <a:srgbClr val="40458B"/>
                </a:solidFill>
                <a:latin typeface="黑体"/>
                <a:cs typeface="黑体"/>
              </a:rPr>
              <a:t>个</a:t>
            </a:r>
            <a:r>
              <a:rPr dirty="0" sz="2400" spc="-10">
                <a:solidFill>
                  <a:srgbClr val="9933FF"/>
                </a:solidFill>
                <a:latin typeface="Times New Roman"/>
                <a:cs typeface="Times New Roman"/>
              </a:rPr>
              <a:t>9</a:t>
            </a:r>
            <a:r>
              <a:rPr dirty="0" sz="2400" spc="-20">
                <a:solidFill>
                  <a:srgbClr val="40458B"/>
                </a:solidFill>
                <a:latin typeface="黑体"/>
                <a:cs typeface="黑体"/>
              </a:rPr>
              <a:t>位的字段</a:t>
            </a:r>
            <a:endParaRPr sz="2400">
              <a:latin typeface="黑体"/>
              <a:cs typeface="黑体"/>
            </a:endParaRPr>
          </a:p>
          <a:p>
            <a:pPr marL="469265" marR="3575685" indent="-457200">
              <a:lnSpc>
                <a:spcPct val="140000"/>
              </a:lnSpc>
              <a:spcBef>
                <a:spcPts val="5"/>
              </a:spcBef>
              <a:buClr>
                <a:srgbClr val="40458B"/>
              </a:buClr>
              <a:buAutoNum type="arabicPeriod" startAt="3"/>
              <a:tabLst>
                <a:tab pos="641985" algn="l"/>
              </a:tabLst>
            </a:pPr>
            <a:r>
              <a:rPr dirty="0" sz="2400">
                <a:solidFill>
                  <a:srgbClr val="E14B04"/>
                </a:solidFill>
                <a:latin typeface="Times New Roman"/>
                <a:cs typeface="Times New Roman"/>
              </a:rPr>
              <a:t>Opteron</a:t>
            </a:r>
            <a:r>
              <a:rPr dirty="0" sz="2400">
                <a:solidFill>
                  <a:srgbClr val="E14B04"/>
                </a:solidFill>
                <a:latin typeface="黑体"/>
                <a:cs typeface="黑体"/>
              </a:rPr>
              <a:t>的每一级页表都采用</a:t>
            </a:r>
            <a:r>
              <a:rPr dirty="0" sz="2400">
                <a:solidFill>
                  <a:srgbClr val="9933FF"/>
                </a:solidFill>
                <a:latin typeface="Times New Roman"/>
                <a:cs typeface="Times New Roman"/>
              </a:rPr>
              <a:t>64</a:t>
            </a:r>
            <a:r>
              <a:rPr dirty="0" sz="2400" spc="-20">
                <a:solidFill>
                  <a:srgbClr val="E14B04"/>
                </a:solidFill>
                <a:latin typeface="黑体"/>
                <a:cs typeface="黑体"/>
              </a:rPr>
              <a:t>位的项</a:t>
            </a:r>
            <a:r>
              <a:rPr dirty="0" sz="2400" spc="-20">
                <a:solidFill>
                  <a:srgbClr val="E14B04"/>
                </a:solidFill>
                <a:latin typeface="黑体"/>
                <a:cs typeface="黑体"/>
              </a:rPr>
              <a:t>	</a:t>
            </a:r>
            <a:r>
              <a:rPr dirty="0" sz="2400" spc="-20">
                <a:solidFill>
                  <a:srgbClr val="40458B"/>
                </a:solidFill>
                <a:latin typeface="黑体"/>
                <a:cs typeface="黑体"/>
              </a:rPr>
              <a:t>其中：</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a:solidFill>
                  <a:srgbClr val="40458B"/>
                </a:solidFill>
                <a:latin typeface="黑体"/>
                <a:cs typeface="黑体"/>
              </a:rPr>
              <a:t>前</a:t>
            </a:r>
            <a:r>
              <a:rPr dirty="0" sz="2400">
                <a:solidFill>
                  <a:srgbClr val="9933FF"/>
                </a:solidFill>
                <a:latin typeface="Times New Roman"/>
                <a:cs typeface="Times New Roman"/>
              </a:rPr>
              <a:t>12</a:t>
            </a:r>
            <a:r>
              <a:rPr dirty="0" sz="2400" spc="-10">
                <a:solidFill>
                  <a:srgbClr val="40458B"/>
                </a:solidFill>
                <a:latin typeface="黑体"/>
                <a:cs typeface="黑体"/>
              </a:rPr>
              <a:t>位留给将来使用</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a:solidFill>
                  <a:srgbClr val="40458B"/>
                </a:solidFill>
                <a:latin typeface="黑体"/>
                <a:cs typeface="黑体"/>
              </a:rPr>
              <a:t>随后的</a:t>
            </a:r>
            <a:r>
              <a:rPr dirty="0" sz="2400">
                <a:solidFill>
                  <a:srgbClr val="9933FF"/>
                </a:solidFill>
                <a:latin typeface="Times New Roman"/>
                <a:cs typeface="Times New Roman"/>
              </a:rPr>
              <a:t>52</a:t>
            </a:r>
            <a:r>
              <a:rPr dirty="0" sz="2400" spc="-10">
                <a:solidFill>
                  <a:srgbClr val="40458B"/>
                </a:solidFill>
                <a:latin typeface="黑体"/>
                <a:cs typeface="黑体"/>
              </a:rPr>
              <a:t>位是物理页号</a:t>
            </a:r>
            <a:endParaRPr sz="2400">
              <a:latin typeface="黑体"/>
              <a:cs typeface="黑体"/>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168/170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grpSp>
        <p:nvGrpSpPr>
          <p:cNvPr id="9" name="object 9" descr=""/>
          <p:cNvGrpSpPr/>
          <p:nvPr/>
        </p:nvGrpSpPr>
        <p:grpSpPr>
          <a:xfrm>
            <a:off x="8431261" y="3771286"/>
            <a:ext cx="909955" cy="943610"/>
            <a:chOff x="8431261" y="3771286"/>
            <a:chExt cx="909955" cy="943610"/>
          </a:xfrm>
        </p:grpSpPr>
        <p:sp>
          <p:nvSpPr>
            <p:cNvPr id="10" name="object 10" descr=""/>
            <p:cNvSpPr/>
            <p:nvPr/>
          </p:nvSpPr>
          <p:spPr>
            <a:xfrm>
              <a:off x="8438465" y="3778491"/>
              <a:ext cx="895350" cy="90170"/>
            </a:xfrm>
            <a:custGeom>
              <a:avLst/>
              <a:gdLst/>
              <a:ahLst/>
              <a:cxnLst/>
              <a:rect l="l" t="t" r="r" b="b"/>
              <a:pathLst>
                <a:path w="895350" h="90170">
                  <a:moveTo>
                    <a:pt x="0" y="90061"/>
                  </a:moveTo>
                  <a:lnTo>
                    <a:pt x="895007" y="90061"/>
                  </a:lnTo>
                  <a:lnTo>
                    <a:pt x="895007" y="0"/>
                  </a:lnTo>
                  <a:lnTo>
                    <a:pt x="0" y="0"/>
                  </a:lnTo>
                  <a:lnTo>
                    <a:pt x="0" y="90061"/>
                  </a:lnTo>
                  <a:close/>
                </a:path>
              </a:pathLst>
            </a:custGeom>
            <a:solidFill>
              <a:srgbClr val="FFCCFF"/>
            </a:solidFill>
          </p:spPr>
          <p:txBody>
            <a:bodyPr wrap="square" lIns="0" tIns="0" rIns="0" bIns="0" rtlCol="0"/>
            <a:lstStyle/>
            <a:p/>
          </p:txBody>
        </p:sp>
        <p:sp>
          <p:nvSpPr>
            <p:cNvPr id="11" name="object 11" descr=""/>
            <p:cNvSpPr/>
            <p:nvPr/>
          </p:nvSpPr>
          <p:spPr>
            <a:xfrm>
              <a:off x="8438465" y="3778491"/>
              <a:ext cx="895350" cy="929005"/>
            </a:xfrm>
            <a:custGeom>
              <a:avLst/>
              <a:gdLst/>
              <a:ahLst/>
              <a:cxnLst/>
              <a:rect l="l" t="t" r="r" b="b"/>
              <a:pathLst>
                <a:path w="895350" h="929004">
                  <a:moveTo>
                    <a:pt x="0" y="928923"/>
                  </a:moveTo>
                  <a:lnTo>
                    <a:pt x="895007" y="928923"/>
                  </a:lnTo>
                  <a:lnTo>
                    <a:pt x="895007" y="0"/>
                  </a:lnTo>
                  <a:lnTo>
                    <a:pt x="0" y="0"/>
                  </a:lnTo>
                  <a:lnTo>
                    <a:pt x="0" y="928923"/>
                  </a:lnTo>
                  <a:close/>
                </a:path>
              </a:pathLst>
            </a:custGeom>
            <a:ln w="14408">
              <a:solidFill>
                <a:srgbClr val="000000"/>
              </a:solidFill>
            </a:ln>
          </p:spPr>
          <p:txBody>
            <a:bodyPr wrap="square" lIns="0" tIns="0" rIns="0" bIns="0" rtlCol="0"/>
            <a:lstStyle/>
            <a:p/>
          </p:txBody>
        </p:sp>
      </p:grpSp>
      <p:grpSp>
        <p:nvGrpSpPr>
          <p:cNvPr id="12" name="object 12" descr=""/>
          <p:cNvGrpSpPr/>
          <p:nvPr/>
        </p:nvGrpSpPr>
        <p:grpSpPr>
          <a:xfrm>
            <a:off x="3304289" y="1284114"/>
            <a:ext cx="5894705" cy="433705"/>
            <a:chOff x="3304289" y="1284114"/>
            <a:chExt cx="5894705" cy="433705"/>
          </a:xfrm>
        </p:grpSpPr>
        <p:sp>
          <p:nvSpPr>
            <p:cNvPr id="13" name="object 13" descr=""/>
            <p:cNvSpPr/>
            <p:nvPr/>
          </p:nvSpPr>
          <p:spPr>
            <a:xfrm>
              <a:off x="3311491" y="1291317"/>
              <a:ext cx="4801870" cy="419734"/>
            </a:xfrm>
            <a:custGeom>
              <a:avLst/>
              <a:gdLst/>
              <a:ahLst/>
              <a:cxnLst/>
              <a:rect l="l" t="t" r="r" b="b"/>
              <a:pathLst>
                <a:path w="4801870" h="419735">
                  <a:moveTo>
                    <a:pt x="0" y="419247"/>
                  </a:moveTo>
                  <a:lnTo>
                    <a:pt x="4801471" y="419247"/>
                  </a:lnTo>
                  <a:lnTo>
                    <a:pt x="4801471" y="0"/>
                  </a:lnTo>
                  <a:lnTo>
                    <a:pt x="0" y="0"/>
                  </a:lnTo>
                  <a:lnTo>
                    <a:pt x="0" y="419247"/>
                  </a:lnTo>
                  <a:close/>
                </a:path>
              </a:pathLst>
            </a:custGeom>
            <a:solidFill>
              <a:srgbClr val="CCFFFF"/>
            </a:solidFill>
          </p:spPr>
          <p:txBody>
            <a:bodyPr wrap="square" lIns="0" tIns="0" rIns="0" bIns="0" rtlCol="0"/>
            <a:lstStyle/>
            <a:p/>
          </p:txBody>
        </p:sp>
        <p:sp>
          <p:nvSpPr>
            <p:cNvPr id="14" name="object 14" descr=""/>
            <p:cNvSpPr/>
            <p:nvPr/>
          </p:nvSpPr>
          <p:spPr>
            <a:xfrm>
              <a:off x="3311491" y="1291317"/>
              <a:ext cx="5880100" cy="419734"/>
            </a:xfrm>
            <a:custGeom>
              <a:avLst/>
              <a:gdLst/>
              <a:ahLst/>
              <a:cxnLst/>
              <a:rect l="l" t="t" r="r" b="b"/>
              <a:pathLst>
                <a:path w="5880100" h="419735">
                  <a:moveTo>
                    <a:pt x="0" y="419247"/>
                  </a:moveTo>
                  <a:lnTo>
                    <a:pt x="5879582" y="419247"/>
                  </a:lnTo>
                  <a:lnTo>
                    <a:pt x="5879582" y="0"/>
                  </a:lnTo>
                  <a:lnTo>
                    <a:pt x="0" y="0"/>
                  </a:lnTo>
                  <a:lnTo>
                    <a:pt x="0" y="419247"/>
                  </a:lnTo>
                  <a:close/>
                </a:path>
              </a:pathLst>
            </a:custGeom>
            <a:ln w="14404">
              <a:solidFill>
                <a:srgbClr val="000000"/>
              </a:solidFill>
            </a:ln>
          </p:spPr>
          <p:txBody>
            <a:bodyPr wrap="square" lIns="0" tIns="0" rIns="0" bIns="0" rtlCol="0"/>
            <a:lstStyle/>
            <a:p/>
          </p:txBody>
        </p:sp>
        <p:sp>
          <p:nvSpPr>
            <p:cNvPr id="15" name="object 15" descr=""/>
            <p:cNvSpPr/>
            <p:nvPr/>
          </p:nvSpPr>
          <p:spPr>
            <a:xfrm>
              <a:off x="8112962" y="1291317"/>
              <a:ext cx="1078230" cy="419734"/>
            </a:xfrm>
            <a:custGeom>
              <a:avLst/>
              <a:gdLst/>
              <a:ahLst/>
              <a:cxnLst/>
              <a:rect l="l" t="t" r="r" b="b"/>
              <a:pathLst>
                <a:path w="1078229" h="419735">
                  <a:moveTo>
                    <a:pt x="1078207" y="0"/>
                  </a:moveTo>
                  <a:lnTo>
                    <a:pt x="0" y="0"/>
                  </a:lnTo>
                  <a:lnTo>
                    <a:pt x="0" y="419247"/>
                  </a:lnTo>
                  <a:lnTo>
                    <a:pt x="1078207" y="419247"/>
                  </a:lnTo>
                  <a:lnTo>
                    <a:pt x="1078207" y="0"/>
                  </a:lnTo>
                  <a:close/>
                </a:path>
              </a:pathLst>
            </a:custGeom>
            <a:solidFill>
              <a:srgbClr val="FFFF99"/>
            </a:solidFill>
          </p:spPr>
          <p:txBody>
            <a:bodyPr wrap="square" lIns="0" tIns="0" rIns="0" bIns="0" rtlCol="0"/>
            <a:lstStyle/>
            <a:p/>
          </p:txBody>
        </p:sp>
        <p:sp>
          <p:nvSpPr>
            <p:cNvPr id="16" name="object 16" descr=""/>
            <p:cNvSpPr/>
            <p:nvPr/>
          </p:nvSpPr>
          <p:spPr>
            <a:xfrm>
              <a:off x="8112962" y="1291317"/>
              <a:ext cx="1078230" cy="419734"/>
            </a:xfrm>
            <a:custGeom>
              <a:avLst/>
              <a:gdLst/>
              <a:ahLst/>
              <a:cxnLst/>
              <a:rect l="l" t="t" r="r" b="b"/>
              <a:pathLst>
                <a:path w="1078229" h="419735">
                  <a:moveTo>
                    <a:pt x="0" y="419247"/>
                  </a:moveTo>
                  <a:lnTo>
                    <a:pt x="1078207" y="419247"/>
                  </a:lnTo>
                  <a:lnTo>
                    <a:pt x="1078207" y="0"/>
                  </a:lnTo>
                  <a:lnTo>
                    <a:pt x="0" y="0"/>
                  </a:lnTo>
                  <a:lnTo>
                    <a:pt x="0" y="419247"/>
                  </a:lnTo>
                  <a:close/>
                </a:path>
              </a:pathLst>
            </a:custGeom>
            <a:ln w="14405">
              <a:solidFill>
                <a:srgbClr val="000000"/>
              </a:solidFill>
            </a:ln>
          </p:spPr>
          <p:txBody>
            <a:bodyPr wrap="square" lIns="0" tIns="0" rIns="0" bIns="0" rtlCol="0"/>
            <a:lstStyle/>
            <a:p/>
          </p:txBody>
        </p:sp>
      </p:grpSp>
      <p:sp>
        <p:nvSpPr>
          <p:cNvPr id="17" name="object 17" descr=""/>
          <p:cNvSpPr/>
          <p:nvPr/>
        </p:nvSpPr>
        <p:spPr>
          <a:xfrm>
            <a:off x="8763968" y="5246796"/>
            <a:ext cx="1078230" cy="359410"/>
          </a:xfrm>
          <a:custGeom>
            <a:avLst/>
            <a:gdLst/>
            <a:ahLst/>
            <a:cxnLst/>
            <a:rect l="l" t="t" r="r" b="b"/>
            <a:pathLst>
              <a:path w="1078229" h="359410">
                <a:moveTo>
                  <a:pt x="0" y="359413"/>
                </a:moveTo>
                <a:lnTo>
                  <a:pt x="1078207" y="359413"/>
                </a:lnTo>
                <a:lnTo>
                  <a:pt x="1078207" y="0"/>
                </a:lnTo>
                <a:lnTo>
                  <a:pt x="0" y="0"/>
                </a:lnTo>
                <a:lnTo>
                  <a:pt x="0" y="359413"/>
                </a:lnTo>
                <a:close/>
              </a:path>
            </a:pathLst>
          </a:custGeom>
          <a:ln w="14404">
            <a:solidFill>
              <a:srgbClr val="000000"/>
            </a:solidFill>
          </a:ln>
        </p:spPr>
        <p:txBody>
          <a:bodyPr wrap="square" lIns="0" tIns="0" rIns="0" bIns="0" rtlCol="0"/>
          <a:lstStyle/>
          <a:p/>
        </p:txBody>
      </p:sp>
      <p:grpSp>
        <p:nvGrpSpPr>
          <p:cNvPr id="18" name="object 18" descr=""/>
          <p:cNvGrpSpPr/>
          <p:nvPr/>
        </p:nvGrpSpPr>
        <p:grpSpPr>
          <a:xfrm>
            <a:off x="1880066" y="1943025"/>
            <a:ext cx="1459230" cy="584200"/>
            <a:chOff x="1880066" y="1943025"/>
            <a:chExt cx="1459230" cy="584200"/>
          </a:xfrm>
        </p:grpSpPr>
        <p:sp>
          <p:nvSpPr>
            <p:cNvPr id="19" name="object 19" descr=""/>
            <p:cNvSpPr/>
            <p:nvPr/>
          </p:nvSpPr>
          <p:spPr>
            <a:xfrm>
              <a:off x="1887369" y="1950328"/>
              <a:ext cx="1444625" cy="569595"/>
            </a:xfrm>
            <a:custGeom>
              <a:avLst/>
              <a:gdLst/>
              <a:ahLst/>
              <a:cxnLst/>
              <a:rect l="l" t="t" r="r" b="b"/>
              <a:pathLst>
                <a:path w="1444625" h="569594">
                  <a:moveTo>
                    <a:pt x="1444587" y="0"/>
                  </a:moveTo>
                  <a:lnTo>
                    <a:pt x="0" y="0"/>
                  </a:lnTo>
                  <a:lnTo>
                    <a:pt x="0" y="569510"/>
                  </a:lnTo>
                  <a:lnTo>
                    <a:pt x="1444587" y="569510"/>
                  </a:lnTo>
                  <a:lnTo>
                    <a:pt x="1444587" y="0"/>
                  </a:lnTo>
                  <a:close/>
                </a:path>
              </a:pathLst>
            </a:custGeom>
            <a:solidFill>
              <a:srgbClr val="CCFFCC"/>
            </a:solidFill>
          </p:spPr>
          <p:txBody>
            <a:bodyPr wrap="square" lIns="0" tIns="0" rIns="0" bIns="0" rtlCol="0"/>
            <a:lstStyle/>
            <a:p/>
          </p:txBody>
        </p:sp>
        <p:sp>
          <p:nvSpPr>
            <p:cNvPr id="20" name="object 20" descr=""/>
            <p:cNvSpPr/>
            <p:nvPr/>
          </p:nvSpPr>
          <p:spPr>
            <a:xfrm>
              <a:off x="1887369" y="1950328"/>
              <a:ext cx="1444625" cy="569595"/>
            </a:xfrm>
            <a:custGeom>
              <a:avLst/>
              <a:gdLst/>
              <a:ahLst/>
              <a:cxnLst/>
              <a:rect l="l" t="t" r="r" b="b"/>
              <a:pathLst>
                <a:path w="1444625" h="569594">
                  <a:moveTo>
                    <a:pt x="0" y="569510"/>
                  </a:moveTo>
                  <a:lnTo>
                    <a:pt x="1444587" y="569510"/>
                  </a:lnTo>
                  <a:lnTo>
                    <a:pt x="1444587" y="0"/>
                  </a:lnTo>
                  <a:lnTo>
                    <a:pt x="0" y="0"/>
                  </a:lnTo>
                  <a:lnTo>
                    <a:pt x="0" y="569510"/>
                  </a:lnTo>
                  <a:close/>
                </a:path>
              </a:pathLst>
            </a:custGeom>
            <a:ln w="14405">
              <a:solidFill>
                <a:srgbClr val="000000"/>
              </a:solidFill>
            </a:ln>
          </p:spPr>
          <p:txBody>
            <a:bodyPr wrap="square" lIns="0" tIns="0" rIns="0" bIns="0" rtlCol="0"/>
            <a:lstStyle/>
            <a:p/>
          </p:txBody>
        </p:sp>
      </p:grpSp>
      <p:sp>
        <p:nvSpPr>
          <p:cNvPr id="21" name="object 21" descr=""/>
          <p:cNvSpPr txBox="1"/>
          <p:nvPr/>
        </p:nvSpPr>
        <p:spPr>
          <a:xfrm>
            <a:off x="2211753" y="2016113"/>
            <a:ext cx="772160" cy="234950"/>
          </a:xfrm>
          <a:prstGeom prst="rect">
            <a:avLst/>
          </a:prstGeom>
        </p:spPr>
        <p:txBody>
          <a:bodyPr wrap="square" lIns="0" tIns="15240" rIns="0" bIns="0" rtlCol="0" vert="horz">
            <a:spAutoFit/>
          </a:bodyPr>
          <a:lstStyle/>
          <a:p>
            <a:pPr marL="12700">
              <a:lnSpc>
                <a:spcPct val="100000"/>
              </a:lnSpc>
              <a:spcBef>
                <a:spcPts val="120"/>
              </a:spcBef>
            </a:pPr>
            <a:r>
              <a:rPr dirty="0" sz="1350" spc="-70" b="1">
                <a:latin typeface="宋体"/>
                <a:cs typeface="宋体"/>
              </a:rPr>
              <a:t>页映象 </a:t>
            </a:r>
            <a:r>
              <a:rPr dirty="0" sz="1350" spc="-25" b="1">
                <a:latin typeface="宋体"/>
                <a:cs typeface="宋体"/>
              </a:rPr>
              <a:t>L4</a:t>
            </a:r>
            <a:endParaRPr sz="1350">
              <a:latin typeface="宋体"/>
              <a:cs typeface="宋体"/>
            </a:endParaRPr>
          </a:p>
        </p:txBody>
      </p:sp>
      <p:sp>
        <p:nvSpPr>
          <p:cNvPr id="22" name="object 22" descr=""/>
          <p:cNvSpPr txBox="1"/>
          <p:nvPr/>
        </p:nvSpPr>
        <p:spPr>
          <a:xfrm>
            <a:off x="1937436" y="2246201"/>
            <a:ext cx="1441450" cy="234950"/>
          </a:xfrm>
          <a:prstGeom prst="rect">
            <a:avLst/>
          </a:prstGeom>
        </p:spPr>
        <p:txBody>
          <a:bodyPr wrap="square" lIns="0" tIns="15240" rIns="0" bIns="0" rtlCol="0" vert="horz">
            <a:spAutoFit/>
          </a:bodyPr>
          <a:lstStyle/>
          <a:p>
            <a:pPr marL="12700">
              <a:lnSpc>
                <a:spcPct val="100000"/>
              </a:lnSpc>
              <a:spcBef>
                <a:spcPts val="120"/>
              </a:spcBef>
            </a:pPr>
            <a:r>
              <a:rPr dirty="0" sz="1350" spc="-114" b="1">
                <a:latin typeface="宋体"/>
                <a:cs typeface="宋体"/>
              </a:rPr>
              <a:t>基址寄存器</a:t>
            </a:r>
            <a:r>
              <a:rPr dirty="0" sz="1350" spc="-10" b="1">
                <a:latin typeface="宋体"/>
                <a:cs typeface="宋体"/>
              </a:rPr>
              <a:t>（CR3）</a:t>
            </a:r>
            <a:endParaRPr sz="1350">
              <a:latin typeface="宋体"/>
              <a:cs typeface="宋体"/>
            </a:endParaRPr>
          </a:p>
        </p:txBody>
      </p:sp>
      <p:sp>
        <p:nvSpPr>
          <p:cNvPr id="23" name="object 23" descr=""/>
          <p:cNvSpPr txBox="1"/>
          <p:nvPr/>
        </p:nvSpPr>
        <p:spPr>
          <a:xfrm>
            <a:off x="3297861" y="1055704"/>
            <a:ext cx="202565" cy="234950"/>
          </a:xfrm>
          <a:prstGeom prst="rect">
            <a:avLst/>
          </a:prstGeom>
        </p:spPr>
        <p:txBody>
          <a:bodyPr wrap="square" lIns="0" tIns="15240" rIns="0" bIns="0" rtlCol="0" vert="horz">
            <a:spAutoFit/>
          </a:bodyPr>
          <a:lstStyle/>
          <a:p>
            <a:pPr marL="12700">
              <a:lnSpc>
                <a:spcPct val="100000"/>
              </a:lnSpc>
              <a:spcBef>
                <a:spcPts val="120"/>
              </a:spcBef>
            </a:pPr>
            <a:r>
              <a:rPr dirty="0" sz="1350" spc="-25">
                <a:latin typeface="宋体"/>
                <a:cs typeface="宋体"/>
              </a:rPr>
              <a:t>63</a:t>
            </a:r>
            <a:endParaRPr sz="1350">
              <a:latin typeface="宋体"/>
              <a:cs typeface="宋体"/>
            </a:endParaRPr>
          </a:p>
        </p:txBody>
      </p:sp>
      <p:sp>
        <p:nvSpPr>
          <p:cNvPr id="24" name="object 24" descr=""/>
          <p:cNvSpPr txBox="1"/>
          <p:nvPr/>
        </p:nvSpPr>
        <p:spPr>
          <a:xfrm>
            <a:off x="3516380" y="1296823"/>
            <a:ext cx="772160" cy="414020"/>
          </a:xfrm>
          <a:prstGeom prst="rect">
            <a:avLst/>
          </a:prstGeom>
        </p:spPr>
        <p:txBody>
          <a:bodyPr wrap="square" lIns="0" tIns="15240" rIns="0" bIns="0" rtlCol="0" vert="horz">
            <a:spAutoFit/>
          </a:bodyPr>
          <a:lstStyle/>
          <a:p>
            <a:pPr marL="12700">
              <a:lnSpc>
                <a:spcPts val="1515"/>
              </a:lnSpc>
              <a:spcBef>
                <a:spcPts val="120"/>
              </a:spcBef>
            </a:pPr>
            <a:r>
              <a:rPr dirty="0" sz="1350" b="1">
                <a:latin typeface="宋体"/>
                <a:cs typeface="宋体"/>
              </a:rPr>
              <a:t>000…0</a:t>
            </a:r>
            <a:r>
              <a:rPr dirty="0" sz="1350" spc="-165" b="1">
                <a:latin typeface="宋体"/>
                <a:cs typeface="宋体"/>
              </a:rPr>
              <a:t> 或</a:t>
            </a:r>
            <a:endParaRPr sz="1350">
              <a:latin typeface="宋体"/>
              <a:cs typeface="宋体"/>
            </a:endParaRPr>
          </a:p>
          <a:p>
            <a:pPr marL="93980">
              <a:lnSpc>
                <a:spcPts val="1515"/>
              </a:lnSpc>
            </a:pPr>
            <a:r>
              <a:rPr dirty="0" sz="1350" spc="-10" b="1">
                <a:latin typeface="宋体"/>
                <a:cs typeface="宋体"/>
              </a:rPr>
              <a:t>111…1</a:t>
            </a:r>
            <a:endParaRPr sz="1350">
              <a:latin typeface="宋体"/>
              <a:cs typeface="宋体"/>
            </a:endParaRPr>
          </a:p>
        </p:txBody>
      </p:sp>
      <p:sp>
        <p:nvSpPr>
          <p:cNvPr id="25" name="object 25" descr=""/>
          <p:cNvSpPr/>
          <p:nvPr/>
        </p:nvSpPr>
        <p:spPr>
          <a:xfrm>
            <a:off x="4450519" y="1291220"/>
            <a:ext cx="0" cy="419734"/>
          </a:xfrm>
          <a:custGeom>
            <a:avLst/>
            <a:gdLst/>
            <a:ahLst/>
            <a:cxnLst/>
            <a:rect l="l" t="t" r="r" b="b"/>
            <a:pathLst>
              <a:path w="0" h="419735">
                <a:moveTo>
                  <a:pt x="0" y="0"/>
                </a:moveTo>
                <a:lnTo>
                  <a:pt x="0" y="419344"/>
                </a:lnTo>
              </a:path>
            </a:pathLst>
          </a:custGeom>
          <a:ln w="14413">
            <a:solidFill>
              <a:srgbClr val="000000"/>
            </a:solidFill>
          </a:ln>
        </p:spPr>
        <p:txBody>
          <a:bodyPr wrap="square" lIns="0" tIns="0" rIns="0" bIns="0" rtlCol="0"/>
          <a:lstStyle/>
          <a:p/>
        </p:txBody>
      </p:sp>
      <p:sp>
        <p:nvSpPr>
          <p:cNvPr id="26" name="object 26" descr=""/>
          <p:cNvSpPr/>
          <p:nvPr/>
        </p:nvSpPr>
        <p:spPr>
          <a:xfrm>
            <a:off x="5346088" y="1291220"/>
            <a:ext cx="0" cy="419734"/>
          </a:xfrm>
          <a:custGeom>
            <a:avLst/>
            <a:gdLst/>
            <a:ahLst/>
            <a:cxnLst/>
            <a:rect l="l" t="t" r="r" b="b"/>
            <a:pathLst>
              <a:path w="0" h="419735">
                <a:moveTo>
                  <a:pt x="0" y="0"/>
                </a:moveTo>
                <a:lnTo>
                  <a:pt x="0" y="419344"/>
                </a:lnTo>
              </a:path>
            </a:pathLst>
          </a:custGeom>
          <a:ln w="14413">
            <a:solidFill>
              <a:srgbClr val="000000"/>
            </a:solidFill>
          </a:ln>
        </p:spPr>
        <p:txBody>
          <a:bodyPr wrap="square" lIns="0" tIns="0" rIns="0" bIns="0" rtlCol="0"/>
          <a:lstStyle/>
          <a:p/>
        </p:txBody>
      </p:sp>
      <p:grpSp>
        <p:nvGrpSpPr>
          <p:cNvPr id="27" name="object 27" descr=""/>
          <p:cNvGrpSpPr/>
          <p:nvPr/>
        </p:nvGrpSpPr>
        <p:grpSpPr>
          <a:xfrm>
            <a:off x="4684046" y="2993129"/>
            <a:ext cx="663575" cy="436245"/>
            <a:chOff x="4684046" y="2993129"/>
            <a:chExt cx="663575" cy="436245"/>
          </a:xfrm>
        </p:grpSpPr>
        <p:pic>
          <p:nvPicPr>
            <p:cNvPr id="28" name="object 28" descr=""/>
            <p:cNvPicPr/>
            <p:nvPr/>
          </p:nvPicPr>
          <p:blipFill>
            <a:blip r:embed="rId3" cstate="print"/>
            <a:stretch>
              <a:fillRect/>
            </a:stretch>
          </p:blipFill>
          <p:spPr>
            <a:xfrm>
              <a:off x="4969619" y="2993129"/>
              <a:ext cx="246965" cy="223983"/>
            </a:xfrm>
            <a:prstGeom prst="rect">
              <a:avLst/>
            </a:prstGeom>
          </p:spPr>
        </p:pic>
        <p:sp>
          <p:nvSpPr>
            <p:cNvPr id="29" name="object 29" descr=""/>
            <p:cNvSpPr/>
            <p:nvPr/>
          </p:nvSpPr>
          <p:spPr>
            <a:xfrm>
              <a:off x="4685400" y="3050454"/>
              <a:ext cx="274320" cy="77470"/>
            </a:xfrm>
            <a:custGeom>
              <a:avLst/>
              <a:gdLst/>
              <a:ahLst/>
              <a:cxnLst/>
              <a:rect l="l" t="t" r="r" b="b"/>
              <a:pathLst>
                <a:path w="274320" h="77469">
                  <a:moveTo>
                    <a:pt x="157620" y="0"/>
                  </a:moveTo>
                  <a:lnTo>
                    <a:pt x="196734" y="38896"/>
                  </a:lnTo>
                  <a:lnTo>
                    <a:pt x="157620" y="77405"/>
                  </a:lnTo>
                  <a:lnTo>
                    <a:pt x="245778" y="48184"/>
                  </a:lnTo>
                  <a:lnTo>
                    <a:pt x="201769" y="48184"/>
                  </a:lnTo>
                  <a:lnTo>
                    <a:pt x="206416" y="43927"/>
                  </a:lnTo>
                  <a:lnTo>
                    <a:pt x="206416" y="33284"/>
                  </a:lnTo>
                  <a:lnTo>
                    <a:pt x="201769" y="29220"/>
                  </a:lnTo>
                  <a:lnTo>
                    <a:pt x="244901" y="29220"/>
                  </a:lnTo>
                  <a:lnTo>
                    <a:pt x="157620" y="0"/>
                  </a:lnTo>
                  <a:close/>
                </a:path>
                <a:path w="274320" h="77469">
                  <a:moveTo>
                    <a:pt x="187004" y="29220"/>
                  </a:moveTo>
                  <a:lnTo>
                    <a:pt x="4260" y="29220"/>
                  </a:lnTo>
                  <a:lnTo>
                    <a:pt x="0" y="33284"/>
                  </a:lnTo>
                  <a:lnTo>
                    <a:pt x="0" y="43927"/>
                  </a:lnTo>
                  <a:lnTo>
                    <a:pt x="4260" y="48184"/>
                  </a:lnTo>
                  <a:lnTo>
                    <a:pt x="187300" y="48184"/>
                  </a:lnTo>
                  <a:lnTo>
                    <a:pt x="196734" y="38896"/>
                  </a:lnTo>
                  <a:lnTo>
                    <a:pt x="187004" y="29220"/>
                  </a:lnTo>
                  <a:close/>
                </a:path>
                <a:path w="274320" h="77469">
                  <a:moveTo>
                    <a:pt x="244901" y="29220"/>
                  </a:moveTo>
                  <a:lnTo>
                    <a:pt x="201769" y="29220"/>
                  </a:lnTo>
                  <a:lnTo>
                    <a:pt x="206416" y="33284"/>
                  </a:lnTo>
                  <a:lnTo>
                    <a:pt x="206416" y="43927"/>
                  </a:lnTo>
                  <a:lnTo>
                    <a:pt x="201769" y="48184"/>
                  </a:lnTo>
                  <a:lnTo>
                    <a:pt x="245778" y="48184"/>
                  </a:lnTo>
                  <a:lnTo>
                    <a:pt x="273802" y="38896"/>
                  </a:lnTo>
                  <a:lnTo>
                    <a:pt x="244901" y="29220"/>
                  </a:lnTo>
                  <a:close/>
                </a:path>
              </a:pathLst>
            </a:custGeom>
            <a:solidFill>
              <a:srgbClr val="000000"/>
            </a:solidFill>
          </p:spPr>
          <p:txBody>
            <a:bodyPr wrap="square" lIns="0" tIns="0" rIns="0" bIns="0" rtlCol="0"/>
            <a:lstStyle/>
            <a:p/>
          </p:txBody>
        </p:sp>
        <p:pic>
          <p:nvPicPr>
            <p:cNvPr id="30" name="object 30" descr=""/>
            <p:cNvPicPr/>
            <p:nvPr/>
          </p:nvPicPr>
          <p:blipFill>
            <a:blip r:embed="rId4" cstate="print"/>
            <a:stretch>
              <a:fillRect/>
            </a:stretch>
          </p:blipFill>
          <p:spPr>
            <a:xfrm>
              <a:off x="4684046" y="3049099"/>
              <a:ext cx="276511" cy="80115"/>
            </a:xfrm>
            <a:prstGeom prst="rect">
              <a:avLst/>
            </a:prstGeom>
          </p:spPr>
        </p:pic>
        <p:sp>
          <p:nvSpPr>
            <p:cNvPr id="31" name="object 31" descr=""/>
            <p:cNvSpPr/>
            <p:nvPr/>
          </p:nvSpPr>
          <p:spPr>
            <a:xfrm>
              <a:off x="5081581" y="3208941"/>
              <a:ext cx="0" cy="180340"/>
            </a:xfrm>
            <a:custGeom>
              <a:avLst/>
              <a:gdLst/>
              <a:ahLst/>
              <a:cxnLst/>
              <a:rect l="l" t="t" r="r" b="b"/>
              <a:pathLst>
                <a:path w="0" h="180339">
                  <a:moveTo>
                    <a:pt x="0" y="0"/>
                  </a:moveTo>
                  <a:lnTo>
                    <a:pt x="0" y="179967"/>
                  </a:lnTo>
                </a:path>
              </a:pathLst>
            </a:custGeom>
            <a:ln w="14413">
              <a:solidFill>
                <a:srgbClr val="000000"/>
              </a:solidFill>
            </a:ln>
          </p:spPr>
          <p:txBody>
            <a:bodyPr wrap="square" lIns="0" tIns="0" rIns="0" bIns="0" rtlCol="0"/>
            <a:lstStyle/>
            <a:p/>
          </p:txBody>
        </p:sp>
        <p:sp>
          <p:nvSpPr>
            <p:cNvPr id="32" name="object 32" descr=""/>
            <p:cNvSpPr/>
            <p:nvPr/>
          </p:nvSpPr>
          <p:spPr>
            <a:xfrm>
              <a:off x="5071705" y="3350013"/>
              <a:ext cx="274955" cy="77470"/>
            </a:xfrm>
            <a:custGeom>
              <a:avLst/>
              <a:gdLst/>
              <a:ahLst/>
              <a:cxnLst/>
              <a:rect l="l" t="t" r="r" b="b"/>
              <a:pathLst>
                <a:path w="274954" h="77470">
                  <a:moveTo>
                    <a:pt x="158201" y="0"/>
                  </a:moveTo>
                  <a:lnTo>
                    <a:pt x="196734" y="38896"/>
                  </a:lnTo>
                  <a:lnTo>
                    <a:pt x="158201" y="77405"/>
                  </a:lnTo>
                  <a:lnTo>
                    <a:pt x="246359" y="48184"/>
                  </a:lnTo>
                  <a:lnTo>
                    <a:pt x="202350" y="48184"/>
                  </a:lnTo>
                  <a:lnTo>
                    <a:pt x="206416" y="43927"/>
                  </a:lnTo>
                  <a:lnTo>
                    <a:pt x="206416" y="33284"/>
                  </a:lnTo>
                  <a:lnTo>
                    <a:pt x="202350" y="29220"/>
                  </a:lnTo>
                  <a:lnTo>
                    <a:pt x="245482" y="29220"/>
                  </a:lnTo>
                  <a:lnTo>
                    <a:pt x="158201" y="0"/>
                  </a:lnTo>
                  <a:close/>
                </a:path>
                <a:path w="274954" h="77470">
                  <a:moveTo>
                    <a:pt x="187149" y="29220"/>
                  </a:moveTo>
                  <a:lnTo>
                    <a:pt x="4647" y="29220"/>
                  </a:lnTo>
                  <a:lnTo>
                    <a:pt x="0" y="33284"/>
                  </a:lnTo>
                  <a:lnTo>
                    <a:pt x="0" y="43927"/>
                  </a:lnTo>
                  <a:lnTo>
                    <a:pt x="4647" y="48184"/>
                  </a:lnTo>
                  <a:lnTo>
                    <a:pt x="187440" y="48184"/>
                  </a:lnTo>
                  <a:lnTo>
                    <a:pt x="196734" y="38896"/>
                  </a:lnTo>
                  <a:lnTo>
                    <a:pt x="187149" y="29220"/>
                  </a:lnTo>
                  <a:close/>
                </a:path>
                <a:path w="274954" h="77470">
                  <a:moveTo>
                    <a:pt x="245482" y="29220"/>
                  </a:moveTo>
                  <a:lnTo>
                    <a:pt x="202350" y="29220"/>
                  </a:lnTo>
                  <a:lnTo>
                    <a:pt x="206416" y="33284"/>
                  </a:lnTo>
                  <a:lnTo>
                    <a:pt x="206416" y="43927"/>
                  </a:lnTo>
                  <a:lnTo>
                    <a:pt x="202350" y="48184"/>
                  </a:lnTo>
                  <a:lnTo>
                    <a:pt x="246359" y="48184"/>
                  </a:lnTo>
                  <a:lnTo>
                    <a:pt x="274383" y="38896"/>
                  </a:lnTo>
                  <a:lnTo>
                    <a:pt x="245482" y="29220"/>
                  </a:lnTo>
                  <a:close/>
                </a:path>
              </a:pathLst>
            </a:custGeom>
            <a:solidFill>
              <a:srgbClr val="000000"/>
            </a:solidFill>
          </p:spPr>
          <p:txBody>
            <a:bodyPr wrap="square" lIns="0" tIns="0" rIns="0" bIns="0" rtlCol="0"/>
            <a:lstStyle/>
            <a:p/>
          </p:txBody>
        </p:sp>
        <p:pic>
          <p:nvPicPr>
            <p:cNvPr id="33" name="object 33" descr=""/>
            <p:cNvPicPr/>
            <p:nvPr/>
          </p:nvPicPr>
          <p:blipFill>
            <a:blip r:embed="rId5" cstate="print"/>
            <a:stretch>
              <a:fillRect/>
            </a:stretch>
          </p:blipFill>
          <p:spPr>
            <a:xfrm>
              <a:off x="5070351" y="3348658"/>
              <a:ext cx="277092" cy="80115"/>
            </a:xfrm>
            <a:prstGeom prst="rect">
              <a:avLst/>
            </a:prstGeom>
          </p:spPr>
        </p:pic>
      </p:grpSp>
      <p:pic>
        <p:nvPicPr>
          <p:cNvPr id="34" name="object 34" descr=""/>
          <p:cNvPicPr/>
          <p:nvPr/>
        </p:nvPicPr>
        <p:blipFill>
          <a:blip r:embed="rId6" cstate="print"/>
          <a:stretch>
            <a:fillRect/>
          </a:stretch>
        </p:blipFill>
        <p:spPr>
          <a:xfrm>
            <a:off x="6495670" y="3292688"/>
            <a:ext cx="246772" cy="223983"/>
          </a:xfrm>
          <a:prstGeom prst="rect">
            <a:avLst/>
          </a:prstGeom>
        </p:spPr>
      </p:pic>
      <p:grpSp>
        <p:nvGrpSpPr>
          <p:cNvPr id="35" name="object 35" descr=""/>
          <p:cNvGrpSpPr/>
          <p:nvPr/>
        </p:nvGrpSpPr>
        <p:grpSpPr>
          <a:xfrm>
            <a:off x="3320592" y="2124059"/>
            <a:ext cx="1021080" cy="1005840"/>
            <a:chOff x="3320592" y="2124059"/>
            <a:chExt cx="1021080" cy="1005840"/>
          </a:xfrm>
        </p:grpSpPr>
        <p:sp>
          <p:nvSpPr>
            <p:cNvPr id="36" name="object 36" descr=""/>
            <p:cNvSpPr/>
            <p:nvPr/>
          </p:nvSpPr>
          <p:spPr>
            <a:xfrm>
              <a:off x="3322179" y="2203444"/>
              <a:ext cx="762635" cy="78105"/>
            </a:xfrm>
            <a:custGeom>
              <a:avLst/>
              <a:gdLst/>
              <a:ahLst/>
              <a:cxnLst/>
              <a:rect l="l" t="t" r="r" b="b"/>
              <a:pathLst>
                <a:path w="762635" h="78105">
                  <a:moveTo>
                    <a:pt x="646184" y="0"/>
                  </a:moveTo>
                  <a:lnTo>
                    <a:pt x="684912" y="39089"/>
                  </a:lnTo>
                  <a:lnTo>
                    <a:pt x="646184" y="77598"/>
                  </a:lnTo>
                  <a:lnTo>
                    <a:pt x="734489" y="48378"/>
                  </a:lnTo>
                  <a:lnTo>
                    <a:pt x="690527" y="48378"/>
                  </a:lnTo>
                  <a:lnTo>
                    <a:pt x="694593" y="44121"/>
                  </a:lnTo>
                  <a:lnTo>
                    <a:pt x="694593" y="33477"/>
                  </a:lnTo>
                  <a:lnTo>
                    <a:pt x="690527" y="29220"/>
                  </a:lnTo>
                  <a:lnTo>
                    <a:pt x="733178" y="29220"/>
                  </a:lnTo>
                  <a:lnTo>
                    <a:pt x="646184" y="0"/>
                  </a:lnTo>
                  <a:close/>
                </a:path>
                <a:path w="762635" h="78105">
                  <a:moveTo>
                    <a:pt x="675134" y="29220"/>
                  </a:moveTo>
                  <a:lnTo>
                    <a:pt x="4647" y="29220"/>
                  </a:lnTo>
                  <a:lnTo>
                    <a:pt x="0" y="33477"/>
                  </a:lnTo>
                  <a:lnTo>
                    <a:pt x="0" y="44121"/>
                  </a:lnTo>
                  <a:lnTo>
                    <a:pt x="4647" y="48378"/>
                  </a:lnTo>
                  <a:lnTo>
                    <a:pt x="675570" y="48378"/>
                  </a:lnTo>
                  <a:lnTo>
                    <a:pt x="684912" y="39089"/>
                  </a:lnTo>
                  <a:lnTo>
                    <a:pt x="675134" y="29220"/>
                  </a:lnTo>
                  <a:close/>
                </a:path>
                <a:path w="762635" h="78105">
                  <a:moveTo>
                    <a:pt x="733178" y="29220"/>
                  </a:moveTo>
                  <a:lnTo>
                    <a:pt x="690527" y="29220"/>
                  </a:lnTo>
                  <a:lnTo>
                    <a:pt x="694593" y="33477"/>
                  </a:lnTo>
                  <a:lnTo>
                    <a:pt x="694593" y="44121"/>
                  </a:lnTo>
                  <a:lnTo>
                    <a:pt x="690527" y="48378"/>
                  </a:lnTo>
                  <a:lnTo>
                    <a:pt x="734489" y="48378"/>
                  </a:lnTo>
                  <a:lnTo>
                    <a:pt x="762560" y="39089"/>
                  </a:lnTo>
                  <a:lnTo>
                    <a:pt x="733178" y="29220"/>
                  </a:lnTo>
                  <a:close/>
                </a:path>
              </a:pathLst>
            </a:custGeom>
            <a:solidFill>
              <a:srgbClr val="000000"/>
            </a:solidFill>
          </p:spPr>
          <p:txBody>
            <a:bodyPr wrap="square" lIns="0" tIns="0" rIns="0" bIns="0" rtlCol="0"/>
            <a:lstStyle/>
            <a:p/>
          </p:txBody>
        </p:sp>
        <p:sp>
          <p:nvSpPr>
            <p:cNvPr id="37" name="object 37" descr=""/>
            <p:cNvSpPr/>
            <p:nvPr/>
          </p:nvSpPr>
          <p:spPr>
            <a:xfrm>
              <a:off x="3322179" y="2203444"/>
              <a:ext cx="762635" cy="78105"/>
            </a:xfrm>
            <a:custGeom>
              <a:avLst/>
              <a:gdLst/>
              <a:ahLst/>
              <a:cxnLst/>
              <a:rect l="l" t="t" r="r" b="b"/>
              <a:pathLst>
                <a:path w="762635" h="78105">
                  <a:moveTo>
                    <a:pt x="9759" y="29220"/>
                  </a:moveTo>
                  <a:lnTo>
                    <a:pt x="684912" y="29220"/>
                  </a:lnTo>
                  <a:lnTo>
                    <a:pt x="690527" y="29220"/>
                  </a:lnTo>
                  <a:lnTo>
                    <a:pt x="694593" y="33477"/>
                  </a:lnTo>
                  <a:lnTo>
                    <a:pt x="694593" y="39089"/>
                  </a:lnTo>
                  <a:lnTo>
                    <a:pt x="694593" y="44121"/>
                  </a:lnTo>
                  <a:lnTo>
                    <a:pt x="690527" y="48378"/>
                  </a:lnTo>
                  <a:lnTo>
                    <a:pt x="684912" y="48378"/>
                  </a:lnTo>
                  <a:lnTo>
                    <a:pt x="9759" y="48378"/>
                  </a:lnTo>
                  <a:lnTo>
                    <a:pt x="4647" y="48378"/>
                  </a:lnTo>
                  <a:lnTo>
                    <a:pt x="0" y="44121"/>
                  </a:lnTo>
                  <a:lnTo>
                    <a:pt x="0" y="39089"/>
                  </a:lnTo>
                  <a:lnTo>
                    <a:pt x="0" y="33477"/>
                  </a:lnTo>
                  <a:lnTo>
                    <a:pt x="4647" y="29220"/>
                  </a:lnTo>
                  <a:lnTo>
                    <a:pt x="9759" y="29220"/>
                  </a:lnTo>
                  <a:close/>
                </a:path>
                <a:path w="762635" h="78105">
                  <a:moveTo>
                    <a:pt x="684912" y="39089"/>
                  </a:moveTo>
                  <a:lnTo>
                    <a:pt x="646184" y="0"/>
                  </a:lnTo>
                  <a:lnTo>
                    <a:pt x="762560" y="39089"/>
                  </a:lnTo>
                  <a:lnTo>
                    <a:pt x="646184" y="77598"/>
                  </a:lnTo>
                  <a:lnTo>
                    <a:pt x="684912" y="39089"/>
                  </a:lnTo>
                  <a:close/>
                </a:path>
              </a:pathLst>
            </a:custGeom>
            <a:ln w="3175">
              <a:solidFill>
                <a:srgbClr val="000000"/>
              </a:solidFill>
            </a:ln>
          </p:spPr>
          <p:txBody>
            <a:bodyPr wrap="square" lIns="0" tIns="0" rIns="0" bIns="0" rtlCol="0"/>
            <a:lstStyle/>
            <a:p/>
          </p:txBody>
        </p:sp>
        <p:sp>
          <p:nvSpPr>
            <p:cNvPr id="38" name="object 38" descr=""/>
            <p:cNvSpPr/>
            <p:nvPr/>
          </p:nvSpPr>
          <p:spPr>
            <a:xfrm>
              <a:off x="3464464" y="3050454"/>
              <a:ext cx="335280" cy="77470"/>
            </a:xfrm>
            <a:custGeom>
              <a:avLst/>
              <a:gdLst/>
              <a:ahLst/>
              <a:cxnLst/>
              <a:rect l="l" t="t" r="r" b="b"/>
              <a:pathLst>
                <a:path w="335279" h="77469">
                  <a:moveTo>
                    <a:pt x="218983" y="0"/>
                  </a:moveTo>
                  <a:lnTo>
                    <a:pt x="258040" y="38896"/>
                  </a:lnTo>
                  <a:lnTo>
                    <a:pt x="218983" y="77405"/>
                  </a:lnTo>
                  <a:lnTo>
                    <a:pt x="307200" y="48184"/>
                  </a:lnTo>
                  <a:lnTo>
                    <a:pt x="263152" y="48184"/>
                  </a:lnTo>
                  <a:lnTo>
                    <a:pt x="267799" y="43927"/>
                  </a:lnTo>
                  <a:lnTo>
                    <a:pt x="267799" y="33284"/>
                  </a:lnTo>
                  <a:lnTo>
                    <a:pt x="263152" y="29220"/>
                  </a:lnTo>
                  <a:lnTo>
                    <a:pt x="306322" y="29220"/>
                  </a:lnTo>
                  <a:lnTo>
                    <a:pt x="218983" y="0"/>
                  </a:lnTo>
                  <a:close/>
                </a:path>
                <a:path w="335279" h="77469">
                  <a:moveTo>
                    <a:pt x="248324" y="29220"/>
                  </a:moveTo>
                  <a:lnTo>
                    <a:pt x="4647" y="29220"/>
                  </a:lnTo>
                  <a:lnTo>
                    <a:pt x="0" y="33284"/>
                  </a:lnTo>
                  <a:lnTo>
                    <a:pt x="0" y="43927"/>
                  </a:lnTo>
                  <a:lnTo>
                    <a:pt x="4647" y="48184"/>
                  </a:lnTo>
                  <a:lnTo>
                    <a:pt x="248619" y="48184"/>
                  </a:lnTo>
                  <a:lnTo>
                    <a:pt x="258040" y="38896"/>
                  </a:lnTo>
                  <a:lnTo>
                    <a:pt x="248324" y="29220"/>
                  </a:lnTo>
                  <a:close/>
                </a:path>
                <a:path w="335279" h="77469">
                  <a:moveTo>
                    <a:pt x="306322" y="29220"/>
                  </a:moveTo>
                  <a:lnTo>
                    <a:pt x="263152" y="29220"/>
                  </a:lnTo>
                  <a:lnTo>
                    <a:pt x="267799" y="33284"/>
                  </a:lnTo>
                  <a:lnTo>
                    <a:pt x="267799" y="43927"/>
                  </a:lnTo>
                  <a:lnTo>
                    <a:pt x="263152" y="48184"/>
                  </a:lnTo>
                  <a:lnTo>
                    <a:pt x="307200" y="48184"/>
                  </a:lnTo>
                  <a:lnTo>
                    <a:pt x="335243" y="38896"/>
                  </a:lnTo>
                  <a:lnTo>
                    <a:pt x="306322" y="29220"/>
                  </a:lnTo>
                  <a:close/>
                </a:path>
              </a:pathLst>
            </a:custGeom>
            <a:solidFill>
              <a:srgbClr val="000000"/>
            </a:solidFill>
          </p:spPr>
          <p:txBody>
            <a:bodyPr wrap="square" lIns="0" tIns="0" rIns="0" bIns="0" rtlCol="0"/>
            <a:lstStyle/>
            <a:p/>
          </p:txBody>
        </p:sp>
        <p:sp>
          <p:nvSpPr>
            <p:cNvPr id="39" name="object 39" descr=""/>
            <p:cNvSpPr/>
            <p:nvPr/>
          </p:nvSpPr>
          <p:spPr>
            <a:xfrm>
              <a:off x="3464463" y="3050453"/>
              <a:ext cx="335280" cy="77470"/>
            </a:xfrm>
            <a:custGeom>
              <a:avLst/>
              <a:gdLst/>
              <a:ahLst/>
              <a:cxnLst/>
              <a:rect l="l" t="t" r="r" b="b"/>
              <a:pathLst>
                <a:path w="335279" h="77469">
                  <a:moveTo>
                    <a:pt x="9759" y="29220"/>
                  </a:moveTo>
                  <a:lnTo>
                    <a:pt x="258040" y="29220"/>
                  </a:lnTo>
                  <a:lnTo>
                    <a:pt x="263152" y="29220"/>
                  </a:lnTo>
                  <a:lnTo>
                    <a:pt x="267799" y="33284"/>
                  </a:lnTo>
                  <a:lnTo>
                    <a:pt x="267799" y="38896"/>
                  </a:lnTo>
                  <a:lnTo>
                    <a:pt x="267799" y="43927"/>
                  </a:lnTo>
                  <a:lnTo>
                    <a:pt x="263152" y="48184"/>
                  </a:lnTo>
                  <a:lnTo>
                    <a:pt x="258040" y="48184"/>
                  </a:lnTo>
                  <a:lnTo>
                    <a:pt x="9759" y="48184"/>
                  </a:lnTo>
                  <a:lnTo>
                    <a:pt x="4647" y="48184"/>
                  </a:lnTo>
                  <a:lnTo>
                    <a:pt x="0" y="43927"/>
                  </a:lnTo>
                  <a:lnTo>
                    <a:pt x="0" y="38896"/>
                  </a:lnTo>
                  <a:lnTo>
                    <a:pt x="0" y="33284"/>
                  </a:lnTo>
                  <a:lnTo>
                    <a:pt x="4647" y="29220"/>
                  </a:lnTo>
                  <a:lnTo>
                    <a:pt x="9759" y="29220"/>
                  </a:lnTo>
                  <a:close/>
                </a:path>
                <a:path w="335279" h="77469">
                  <a:moveTo>
                    <a:pt x="258040" y="38896"/>
                  </a:moveTo>
                  <a:lnTo>
                    <a:pt x="218983" y="0"/>
                  </a:lnTo>
                  <a:lnTo>
                    <a:pt x="335243" y="38896"/>
                  </a:lnTo>
                  <a:lnTo>
                    <a:pt x="218983" y="77405"/>
                  </a:lnTo>
                  <a:lnTo>
                    <a:pt x="258040" y="38896"/>
                  </a:lnTo>
                  <a:close/>
                </a:path>
              </a:pathLst>
            </a:custGeom>
            <a:ln w="3175">
              <a:solidFill>
                <a:srgbClr val="000000"/>
              </a:solidFill>
            </a:ln>
          </p:spPr>
          <p:txBody>
            <a:bodyPr wrap="square" lIns="0" tIns="0" rIns="0" bIns="0" rtlCol="0"/>
            <a:lstStyle/>
            <a:p/>
          </p:txBody>
        </p:sp>
        <p:sp>
          <p:nvSpPr>
            <p:cNvPr id="40" name="object 40" descr=""/>
            <p:cNvSpPr/>
            <p:nvPr/>
          </p:nvSpPr>
          <p:spPr>
            <a:xfrm>
              <a:off x="3474223" y="2489651"/>
              <a:ext cx="0" cy="600075"/>
            </a:xfrm>
            <a:custGeom>
              <a:avLst/>
              <a:gdLst/>
              <a:ahLst/>
              <a:cxnLst/>
              <a:rect l="l" t="t" r="r" b="b"/>
              <a:pathLst>
                <a:path w="0" h="600075">
                  <a:moveTo>
                    <a:pt x="0" y="599699"/>
                  </a:moveTo>
                  <a:lnTo>
                    <a:pt x="0" y="0"/>
                  </a:lnTo>
                </a:path>
              </a:pathLst>
            </a:custGeom>
            <a:ln w="14413">
              <a:solidFill>
                <a:srgbClr val="000000"/>
              </a:solidFill>
            </a:ln>
          </p:spPr>
          <p:txBody>
            <a:bodyPr wrap="square" lIns="0" tIns="0" rIns="0" bIns="0" rtlCol="0"/>
            <a:lstStyle/>
            <a:p/>
          </p:txBody>
        </p:sp>
        <p:pic>
          <p:nvPicPr>
            <p:cNvPr id="41" name="object 41" descr=""/>
            <p:cNvPicPr/>
            <p:nvPr/>
          </p:nvPicPr>
          <p:blipFill>
            <a:blip r:embed="rId7" cstate="print"/>
            <a:stretch>
              <a:fillRect/>
            </a:stretch>
          </p:blipFill>
          <p:spPr>
            <a:xfrm>
              <a:off x="4094769" y="2124059"/>
              <a:ext cx="246772" cy="223983"/>
            </a:xfrm>
            <a:prstGeom prst="rect">
              <a:avLst/>
            </a:prstGeom>
          </p:spPr>
        </p:pic>
      </p:grpSp>
      <p:sp>
        <p:nvSpPr>
          <p:cNvPr id="42" name="object 42" descr=""/>
          <p:cNvSpPr txBox="1"/>
          <p:nvPr/>
        </p:nvSpPr>
        <p:spPr>
          <a:xfrm>
            <a:off x="6552912" y="3255166"/>
            <a:ext cx="140970" cy="271145"/>
          </a:xfrm>
          <a:prstGeom prst="rect">
            <a:avLst/>
          </a:prstGeom>
        </p:spPr>
        <p:txBody>
          <a:bodyPr wrap="square" lIns="0" tIns="13970" rIns="0" bIns="0" rtlCol="0" vert="horz">
            <a:spAutoFit/>
          </a:bodyPr>
          <a:lstStyle/>
          <a:p>
            <a:pPr marL="12700">
              <a:lnSpc>
                <a:spcPct val="100000"/>
              </a:lnSpc>
              <a:spcBef>
                <a:spcPts val="110"/>
              </a:spcBef>
            </a:pPr>
            <a:r>
              <a:rPr dirty="0" sz="1600" spc="-50">
                <a:latin typeface="Times New Roman"/>
                <a:cs typeface="Times New Roman"/>
              </a:rPr>
              <a:t>+</a:t>
            </a:r>
            <a:endParaRPr sz="1600">
              <a:latin typeface="Times New Roman"/>
              <a:cs typeface="Times New Roman"/>
            </a:endParaRPr>
          </a:p>
        </p:txBody>
      </p:sp>
      <p:grpSp>
        <p:nvGrpSpPr>
          <p:cNvPr id="43" name="object 43" descr=""/>
          <p:cNvGrpSpPr/>
          <p:nvPr/>
        </p:nvGrpSpPr>
        <p:grpSpPr>
          <a:xfrm>
            <a:off x="6230041" y="3356592"/>
            <a:ext cx="643255" cy="372110"/>
            <a:chOff x="6230041" y="3356592"/>
            <a:chExt cx="643255" cy="372110"/>
          </a:xfrm>
        </p:grpSpPr>
        <p:sp>
          <p:nvSpPr>
            <p:cNvPr id="44" name="object 44" descr=""/>
            <p:cNvSpPr/>
            <p:nvPr/>
          </p:nvSpPr>
          <p:spPr>
            <a:xfrm>
              <a:off x="6231395" y="3357947"/>
              <a:ext cx="274320" cy="77470"/>
            </a:xfrm>
            <a:custGeom>
              <a:avLst/>
              <a:gdLst/>
              <a:ahLst/>
              <a:cxnLst/>
              <a:rect l="l" t="t" r="r" b="b"/>
              <a:pathLst>
                <a:path w="274320" h="77470">
                  <a:moveTo>
                    <a:pt x="158007" y="0"/>
                  </a:moveTo>
                  <a:lnTo>
                    <a:pt x="197122" y="38315"/>
                  </a:lnTo>
                  <a:lnTo>
                    <a:pt x="158007" y="77405"/>
                  </a:lnTo>
                  <a:lnTo>
                    <a:pt x="244856" y="48184"/>
                  </a:lnTo>
                  <a:lnTo>
                    <a:pt x="202156" y="48184"/>
                  </a:lnTo>
                  <a:lnTo>
                    <a:pt x="206416" y="43927"/>
                  </a:lnTo>
                  <a:lnTo>
                    <a:pt x="206416" y="33284"/>
                  </a:lnTo>
                  <a:lnTo>
                    <a:pt x="202156" y="29220"/>
                  </a:lnTo>
                  <a:lnTo>
                    <a:pt x="246610" y="29220"/>
                  </a:lnTo>
                  <a:lnTo>
                    <a:pt x="158007" y="0"/>
                  </a:lnTo>
                  <a:close/>
                </a:path>
                <a:path w="274320" h="77470">
                  <a:moveTo>
                    <a:pt x="187837" y="29220"/>
                  </a:moveTo>
                  <a:lnTo>
                    <a:pt x="4647" y="29220"/>
                  </a:lnTo>
                  <a:lnTo>
                    <a:pt x="0" y="33284"/>
                  </a:lnTo>
                  <a:lnTo>
                    <a:pt x="0" y="43927"/>
                  </a:lnTo>
                  <a:lnTo>
                    <a:pt x="4647" y="48184"/>
                  </a:lnTo>
                  <a:lnTo>
                    <a:pt x="187246" y="48184"/>
                  </a:lnTo>
                  <a:lnTo>
                    <a:pt x="197122" y="38315"/>
                  </a:lnTo>
                  <a:lnTo>
                    <a:pt x="187837" y="29220"/>
                  </a:lnTo>
                  <a:close/>
                </a:path>
                <a:path w="274320" h="77470">
                  <a:moveTo>
                    <a:pt x="246610" y="29220"/>
                  </a:moveTo>
                  <a:lnTo>
                    <a:pt x="202156" y="29220"/>
                  </a:lnTo>
                  <a:lnTo>
                    <a:pt x="206416" y="33284"/>
                  </a:lnTo>
                  <a:lnTo>
                    <a:pt x="206416" y="43927"/>
                  </a:lnTo>
                  <a:lnTo>
                    <a:pt x="202156" y="48184"/>
                  </a:lnTo>
                  <a:lnTo>
                    <a:pt x="244856" y="48184"/>
                  </a:lnTo>
                  <a:lnTo>
                    <a:pt x="274189" y="38315"/>
                  </a:lnTo>
                  <a:lnTo>
                    <a:pt x="246610" y="29220"/>
                  </a:lnTo>
                  <a:close/>
                </a:path>
              </a:pathLst>
            </a:custGeom>
            <a:solidFill>
              <a:srgbClr val="000000"/>
            </a:solidFill>
          </p:spPr>
          <p:txBody>
            <a:bodyPr wrap="square" lIns="0" tIns="0" rIns="0" bIns="0" rtlCol="0"/>
            <a:lstStyle/>
            <a:p/>
          </p:txBody>
        </p:sp>
        <p:pic>
          <p:nvPicPr>
            <p:cNvPr id="45" name="object 45" descr=""/>
            <p:cNvPicPr/>
            <p:nvPr/>
          </p:nvPicPr>
          <p:blipFill>
            <a:blip r:embed="rId8" cstate="print"/>
            <a:stretch>
              <a:fillRect/>
            </a:stretch>
          </p:blipFill>
          <p:spPr>
            <a:xfrm>
              <a:off x="6230041" y="3356592"/>
              <a:ext cx="276898" cy="80115"/>
            </a:xfrm>
            <a:prstGeom prst="rect">
              <a:avLst/>
            </a:prstGeom>
          </p:spPr>
        </p:pic>
        <p:sp>
          <p:nvSpPr>
            <p:cNvPr id="46" name="object 46" descr=""/>
            <p:cNvSpPr/>
            <p:nvPr/>
          </p:nvSpPr>
          <p:spPr>
            <a:xfrm>
              <a:off x="6607437" y="3508500"/>
              <a:ext cx="0" cy="180340"/>
            </a:xfrm>
            <a:custGeom>
              <a:avLst/>
              <a:gdLst/>
              <a:ahLst/>
              <a:cxnLst/>
              <a:rect l="l" t="t" r="r" b="b"/>
              <a:pathLst>
                <a:path w="0" h="180339">
                  <a:moveTo>
                    <a:pt x="0" y="0"/>
                  </a:moveTo>
                  <a:lnTo>
                    <a:pt x="0" y="179967"/>
                  </a:lnTo>
                </a:path>
              </a:pathLst>
            </a:custGeom>
            <a:ln w="14413">
              <a:solidFill>
                <a:srgbClr val="000000"/>
              </a:solidFill>
            </a:ln>
          </p:spPr>
          <p:txBody>
            <a:bodyPr wrap="square" lIns="0" tIns="0" rIns="0" bIns="0" rtlCol="0"/>
            <a:lstStyle/>
            <a:p/>
          </p:txBody>
        </p:sp>
        <p:sp>
          <p:nvSpPr>
            <p:cNvPr id="47" name="object 47" descr=""/>
            <p:cNvSpPr/>
            <p:nvPr/>
          </p:nvSpPr>
          <p:spPr>
            <a:xfrm>
              <a:off x="6597756" y="3649572"/>
              <a:ext cx="274320" cy="77470"/>
            </a:xfrm>
            <a:custGeom>
              <a:avLst/>
              <a:gdLst/>
              <a:ahLst/>
              <a:cxnLst/>
              <a:rect l="l" t="t" r="r" b="b"/>
              <a:pathLst>
                <a:path w="274320" h="77470">
                  <a:moveTo>
                    <a:pt x="157620" y="0"/>
                  </a:moveTo>
                  <a:lnTo>
                    <a:pt x="196541" y="38896"/>
                  </a:lnTo>
                  <a:lnTo>
                    <a:pt x="157620" y="77405"/>
                  </a:lnTo>
                  <a:lnTo>
                    <a:pt x="244026" y="48765"/>
                  </a:lnTo>
                  <a:lnTo>
                    <a:pt x="201769" y="48765"/>
                  </a:lnTo>
                  <a:lnTo>
                    <a:pt x="206416" y="44121"/>
                  </a:lnTo>
                  <a:lnTo>
                    <a:pt x="206416" y="33477"/>
                  </a:lnTo>
                  <a:lnTo>
                    <a:pt x="201769" y="29220"/>
                  </a:lnTo>
                  <a:lnTo>
                    <a:pt x="244901" y="29220"/>
                  </a:lnTo>
                  <a:lnTo>
                    <a:pt x="157620" y="0"/>
                  </a:lnTo>
                  <a:close/>
                </a:path>
                <a:path w="274320" h="77470">
                  <a:moveTo>
                    <a:pt x="186859" y="29220"/>
                  </a:moveTo>
                  <a:lnTo>
                    <a:pt x="4066" y="29220"/>
                  </a:lnTo>
                  <a:lnTo>
                    <a:pt x="0" y="33477"/>
                  </a:lnTo>
                  <a:lnTo>
                    <a:pt x="0" y="44121"/>
                  </a:lnTo>
                  <a:lnTo>
                    <a:pt x="4066" y="48765"/>
                  </a:lnTo>
                  <a:lnTo>
                    <a:pt x="186566" y="48765"/>
                  </a:lnTo>
                  <a:lnTo>
                    <a:pt x="196541" y="38896"/>
                  </a:lnTo>
                  <a:lnTo>
                    <a:pt x="186859" y="29220"/>
                  </a:lnTo>
                  <a:close/>
                </a:path>
                <a:path w="274320" h="77470">
                  <a:moveTo>
                    <a:pt x="244901" y="29220"/>
                  </a:moveTo>
                  <a:lnTo>
                    <a:pt x="201769" y="29220"/>
                  </a:lnTo>
                  <a:lnTo>
                    <a:pt x="206416" y="33477"/>
                  </a:lnTo>
                  <a:lnTo>
                    <a:pt x="206416" y="44121"/>
                  </a:lnTo>
                  <a:lnTo>
                    <a:pt x="201769" y="48765"/>
                  </a:lnTo>
                  <a:lnTo>
                    <a:pt x="244026" y="48765"/>
                  </a:lnTo>
                  <a:lnTo>
                    <a:pt x="273802" y="38896"/>
                  </a:lnTo>
                  <a:lnTo>
                    <a:pt x="244901" y="29220"/>
                  </a:lnTo>
                  <a:close/>
                </a:path>
              </a:pathLst>
            </a:custGeom>
            <a:solidFill>
              <a:srgbClr val="000000"/>
            </a:solidFill>
          </p:spPr>
          <p:txBody>
            <a:bodyPr wrap="square" lIns="0" tIns="0" rIns="0" bIns="0" rtlCol="0"/>
            <a:lstStyle/>
            <a:p/>
          </p:txBody>
        </p:sp>
        <p:pic>
          <p:nvPicPr>
            <p:cNvPr id="48" name="object 48" descr=""/>
            <p:cNvPicPr/>
            <p:nvPr/>
          </p:nvPicPr>
          <p:blipFill>
            <a:blip r:embed="rId9" cstate="print"/>
            <a:stretch>
              <a:fillRect/>
            </a:stretch>
          </p:blipFill>
          <p:spPr>
            <a:xfrm>
              <a:off x="6596401" y="3648217"/>
              <a:ext cx="276511" cy="80115"/>
            </a:xfrm>
            <a:prstGeom prst="rect">
              <a:avLst/>
            </a:prstGeom>
          </p:spPr>
        </p:pic>
      </p:grpSp>
      <p:sp>
        <p:nvSpPr>
          <p:cNvPr id="49" name="object 49" descr=""/>
          <p:cNvSpPr txBox="1"/>
          <p:nvPr/>
        </p:nvSpPr>
        <p:spPr>
          <a:xfrm>
            <a:off x="8438465" y="3868552"/>
            <a:ext cx="895350" cy="269875"/>
          </a:xfrm>
          <a:prstGeom prst="rect">
            <a:avLst/>
          </a:prstGeom>
          <a:solidFill>
            <a:srgbClr val="DDDDDD"/>
          </a:solidFill>
          <a:ln w="14408">
            <a:solidFill>
              <a:srgbClr val="000000"/>
            </a:solidFill>
          </a:ln>
        </p:spPr>
        <p:txBody>
          <a:bodyPr wrap="square" lIns="0" tIns="34925" rIns="0" bIns="0" rtlCol="0" vert="horz">
            <a:spAutoFit/>
          </a:bodyPr>
          <a:lstStyle/>
          <a:p>
            <a:pPr marL="200660">
              <a:lnSpc>
                <a:spcPct val="100000"/>
              </a:lnSpc>
              <a:spcBef>
                <a:spcPts val="275"/>
              </a:spcBef>
            </a:pPr>
            <a:r>
              <a:rPr dirty="0" sz="1350" spc="-20" b="1">
                <a:latin typeface="宋体"/>
                <a:cs typeface="宋体"/>
              </a:rPr>
              <a:t>页表项</a:t>
            </a:r>
            <a:endParaRPr sz="1350">
              <a:latin typeface="宋体"/>
              <a:cs typeface="宋体"/>
            </a:endParaRPr>
          </a:p>
        </p:txBody>
      </p:sp>
      <p:sp>
        <p:nvSpPr>
          <p:cNvPr id="50" name="object 50" descr=""/>
          <p:cNvSpPr txBox="1"/>
          <p:nvPr/>
        </p:nvSpPr>
        <p:spPr>
          <a:xfrm>
            <a:off x="4151043" y="2085569"/>
            <a:ext cx="140970" cy="271145"/>
          </a:xfrm>
          <a:prstGeom prst="rect">
            <a:avLst/>
          </a:prstGeom>
        </p:spPr>
        <p:txBody>
          <a:bodyPr wrap="square" lIns="0" tIns="13970" rIns="0" bIns="0" rtlCol="0" vert="horz">
            <a:spAutoFit/>
          </a:bodyPr>
          <a:lstStyle/>
          <a:p>
            <a:pPr marL="12700">
              <a:lnSpc>
                <a:spcPct val="100000"/>
              </a:lnSpc>
              <a:spcBef>
                <a:spcPts val="110"/>
              </a:spcBef>
            </a:pPr>
            <a:r>
              <a:rPr dirty="0" sz="1600" spc="-50">
                <a:latin typeface="Times New Roman"/>
                <a:cs typeface="Times New Roman"/>
              </a:rPr>
              <a:t>+</a:t>
            </a:r>
            <a:endParaRPr sz="1600">
              <a:latin typeface="Times New Roman"/>
              <a:cs typeface="Times New Roman"/>
            </a:endParaRPr>
          </a:p>
        </p:txBody>
      </p:sp>
      <p:sp>
        <p:nvSpPr>
          <p:cNvPr id="51" name="object 51" descr=""/>
          <p:cNvSpPr/>
          <p:nvPr/>
        </p:nvSpPr>
        <p:spPr>
          <a:xfrm>
            <a:off x="6302073" y="1291220"/>
            <a:ext cx="0" cy="419734"/>
          </a:xfrm>
          <a:custGeom>
            <a:avLst/>
            <a:gdLst/>
            <a:ahLst/>
            <a:cxnLst/>
            <a:rect l="l" t="t" r="r" b="b"/>
            <a:pathLst>
              <a:path w="0" h="419735">
                <a:moveTo>
                  <a:pt x="0" y="0"/>
                </a:moveTo>
                <a:lnTo>
                  <a:pt x="0" y="419344"/>
                </a:lnTo>
              </a:path>
            </a:pathLst>
          </a:custGeom>
          <a:ln w="14413">
            <a:solidFill>
              <a:srgbClr val="000000"/>
            </a:solidFill>
          </a:ln>
        </p:spPr>
        <p:txBody>
          <a:bodyPr wrap="square" lIns="0" tIns="0" rIns="0" bIns="0" rtlCol="0"/>
          <a:lstStyle/>
          <a:p/>
        </p:txBody>
      </p:sp>
      <p:sp>
        <p:nvSpPr>
          <p:cNvPr id="52" name="object 52" descr=""/>
          <p:cNvSpPr txBox="1"/>
          <p:nvPr/>
        </p:nvSpPr>
        <p:spPr>
          <a:xfrm>
            <a:off x="4497459" y="1408674"/>
            <a:ext cx="2564765" cy="234950"/>
          </a:xfrm>
          <a:prstGeom prst="rect">
            <a:avLst/>
          </a:prstGeom>
        </p:spPr>
        <p:txBody>
          <a:bodyPr wrap="square" lIns="0" tIns="15240" rIns="0" bIns="0" rtlCol="0" vert="horz">
            <a:spAutoFit/>
          </a:bodyPr>
          <a:lstStyle/>
          <a:p>
            <a:pPr marL="12700">
              <a:lnSpc>
                <a:spcPct val="100000"/>
              </a:lnSpc>
              <a:spcBef>
                <a:spcPts val="120"/>
              </a:spcBef>
              <a:tabLst>
                <a:tab pos="890905" algn="l"/>
                <a:tab pos="2025650" algn="l"/>
              </a:tabLst>
            </a:pPr>
            <a:r>
              <a:rPr dirty="0" sz="1350" b="1">
                <a:latin typeface="宋体"/>
                <a:cs typeface="宋体"/>
              </a:rPr>
              <a:t>页映象</a:t>
            </a:r>
            <a:r>
              <a:rPr dirty="0" sz="1350" spc="-280" b="1">
                <a:latin typeface="宋体"/>
                <a:cs typeface="宋体"/>
              </a:rPr>
              <a:t> </a:t>
            </a:r>
            <a:r>
              <a:rPr dirty="0" sz="1350" spc="-25" b="1">
                <a:latin typeface="宋体"/>
                <a:cs typeface="宋体"/>
              </a:rPr>
              <a:t>L4</a:t>
            </a:r>
            <a:r>
              <a:rPr dirty="0" sz="1350" b="1">
                <a:latin typeface="宋体"/>
                <a:cs typeface="宋体"/>
              </a:rPr>
              <a:t>	页目录指</a:t>
            </a:r>
            <a:r>
              <a:rPr dirty="0" sz="1350" spc="-50" b="1">
                <a:latin typeface="宋体"/>
                <a:cs typeface="宋体"/>
              </a:rPr>
              <a:t>针</a:t>
            </a:r>
            <a:r>
              <a:rPr dirty="0" sz="1350" b="1">
                <a:latin typeface="宋体"/>
                <a:cs typeface="宋体"/>
              </a:rPr>
              <a:t>	页目</a:t>
            </a:r>
            <a:r>
              <a:rPr dirty="0" sz="1350" spc="-50" b="1">
                <a:latin typeface="宋体"/>
                <a:cs typeface="宋体"/>
              </a:rPr>
              <a:t>录</a:t>
            </a:r>
            <a:endParaRPr sz="1350">
              <a:latin typeface="宋体"/>
              <a:cs typeface="宋体"/>
            </a:endParaRPr>
          </a:p>
        </p:txBody>
      </p:sp>
      <p:sp>
        <p:nvSpPr>
          <p:cNvPr id="53" name="object 53" descr=""/>
          <p:cNvSpPr/>
          <p:nvPr/>
        </p:nvSpPr>
        <p:spPr>
          <a:xfrm>
            <a:off x="7217393" y="1291220"/>
            <a:ext cx="0" cy="419734"/>
          </a:xfrm>
          <a:custGeom>
            <a:avLst/>
            <a:gdLst/>
            <a:ahLst/>
            <a:cxnLst/>
            <a:rect l="l" t="t" r="r" b="b"/>
            <a:pathLst>
              <a:path w="0" h="419735">
                <a:moveTo>
                  <a:pt x="0" y="0"/>
                </a:moveTo>
                <a:lnTo>
                  <a:pt x="0" y="419344"/>
                </a:lnTo>
              </a:path>
            </a:pathLst>
          </a:custGeom>
          <a:ln w="14413">
            <a:solidFill>
              <a:srgbClr val="000000"/>
            </a:solidFill>
          </a:ln>
        </p:spPr>
        <p:txBody>
          <a:bodyPr wrap="square" lIns="0" tIns="0" rIns="0" bIns="0" rtlCol="0"/>
          <a:lstStyle/>
          <a:p/>
        </p:txBody>
      </p:sp>
      <p:sp>
        <p:nvSpPr>
          <p:cNvPr id="54" name="object 54" descr=""/>
          <p:cNvSpPr txBox="1"/>
          <p:nvPr/>
        </p:nvSpPr>
        <p:spPr>
          <a:xfrm>
            <a:off x="7468813" y="1408674"/>
            <a:ext cx="379095" cy="234950"/>
          </a:xfrm>
          <a:prstGeom prst="rect">
            <a:avLst/>
          </a:prstGeom>
        </p:spPr>
        <p:txBody>
          <a:bodyPr wrap="square" lIns="0" tIns="15240" rIns="0" bIns="0" rtlCol="0" vert="horz">
            <a:spAutoFit/>
          </a:bodyPr>
          <a:lstStyle/>
          <a:p>
            <a:pPr marL="12700">
              <a:lnSpc>
                <a:spcPct val="100000"/>
              </a:lnSpc>
              <a:spcBef>
                <a:spcPts val="120"/>
              </a:spcBef>
            </a:pPr>
            <a:r>
              <a:rPr dirty="0" sz="1350" spc="-25" b="1">
                <a:latin typeface="宋体"/>
                <a:cs typeface="宋体"/>
              </a:rPr>
              <a:t>页表</a:t>
            </a:r>
            <a:endParaRPr sz="1350">
              <a:latin typeface="宋体"/>
              <a:cs typeface="宋体"/>
            </a:endParaRPr>
          </a:p>
        </p:txBody>
      </p:sp>
      <p:sp>
        <p:nvSpPr>
          <p:cNvPr id="55" name="object 55" descr=""/>
          <p:cNvSpPr/>
          <p:nvPr/>
        </p:nvSpPr>
        <p:spPr>
          <a:xfrm>
            <a:off x="8112962" y="1291220"/>
            <a:ext cx="0" cy="419734"/>
          </a:xfrm>
          <a:custGeom>
            <a:avLst/>
            <a:gdLst/>
            <a:ahLst/>
            <a:cxnLst/>
            <a:rect l="l" t="t" r="r" b="b"/>
            <a:pathLst>
              <a:path w="0" h="419735">
                <a:moveTo>
                  <a:pt x="0" y="0"/>
                </a:moveTo>
                <a:lnTo>
                  <a:pt x="0" y="419344"/>
                </a:lnTo>
              </a:path>
            </a:pathLst>
          </a:custGeom>
          <a:ln w="14413">
            <a:solidFill>
              <a:srgbClr val="000000"/>
            </a:solidFill>
          </a:ln>
        </p:spPr>
        <p:txBody>
          <a:bodyPr wrap="square" lIns="0" tIns="0" rIns="0" bIns="0" rtlCol="0"/>
          <a:lstStyle/>
          <a:p/>
        </p:txBody>
      </p:sp>
      <p:sp>
        <p:nvSpPr>
          <p:cNvPr id="56" name="object 56" descr=""/>
          <p:cNvSpPr txBox="1"/>
          <p:nvPr/>
        </p:nvSpPr>
        <p:spPr>
          <a:xfrm>
            <a:off x="8282475" y="1401707"/>
            <a:ext cx="725170" cy="234950"/>
          </a:xfrm>
          <a:prstGeom prst="rect">
            <a:avLst/>
          </a:prstGeom>
        </p:spPr>
        <p:txBody>
          <a:bodyPr wrap="square" lIns="0" tIns="15240" rIns="0" bIns="0" rtlCol="0" vert="horz">
            <a:spAutoFit/>
          </a:bodyPr>
          <a:lstStyle/>
          <a:p>
            <a:pPr marL="12700">
              <a:lnSpc>
                <a:spcPct val="100000"/>
              </a:lnSpc>
              <a:spcBef>
                <a:spcPts val="120"/>
              </a:spcBef>
            </a:pPr>
            <a:r>
              <a:rPr dirty="0" sz="1350" spc="-15" b="1">
                <a:latin typeface="宋体"/>
                <a:cs typeface="宋体"/>
              </a:rPr>
              <a:t>页内位移</a:t>
            </a:r>
            <a:endParaRPr sz="1350">
              <a:latin typeface="宋体"/>
              <a:cs typeface="宋体"/>
            </a:endParaRPr>
          </a:p>
        </p:txBody>
      </p:sp>
      <p:sp>
        <p:nvSpPr>
          <p:cNvPr id="57" name="object 57" descr=""/>
          <p:cNvSpPr txBox="1"/>
          <p:nvPr/>
        </p:nvSpPr>
        <p:spPr>
          <a:xfrm>
            <a:off x="4213781" y="1055704"/>
            <a:ext cx="446405" cy="234950"/>
          </a:xfrm>
          <a:prstGeom prst="rect">
            <a:avLst/>
          </a:prstGeom>
        </p:spPr>
        <p:txBody>
          <a:bodyPr wrap="square" lIns="0" tIns="15240" rIns="0" bIns="0" rtlCol="0" vert="horz">
            <a:spAutoFit/>
          </a:bodyPr>
          <a:lstStyle/>
          <a:p>
            <a:pPr marL="12700">
              <a:lnSpc>
                <a:spcPct val="100000"/>
              </a:lnSpc>
              <a:spcBef>
                <a:spcPts val="120"/>
              </a:spcBef>
            </a:pPr>
            <a:r>
              <a:rPr dirty="0" sz="1350">
                <a:latin typeface="宋体"/>
                <a:cs typeface="宋体"/>
              </a:rPr>
              <a:t>48</a:t>
            </a:r>
            <a:r>
              <a:rPr dirty="0" sz="1350" spc="-120">
                <a:latin typeface="宋体"/>
                <a:cs typeface="宋体"/>
              </a:rPr>
              <a:t> </a:t>
            </a:r>
            <a:r>
              <a:rPr dirty="0" sz="1350" spc="-35">
                <a:latin typeface="宋体"/>
                <a:cs typeface="宋体"/>
              </a:rPr>
              <a:t>47</a:t>
            </a:r>
            <a:endParaRPr sz="1350">
              <a:latin typeface="宋体"/>
              <a:cs typeface="宋体"/>
            </a:endParaRPr>
          </a:p>
        </p:txBody>
      </p:sp>
      <p:sp>
        <p:nvSpPr>
          <p:cNvPr id="58" name="object 58" descr=""/>
          <p:cNvSpPr txBox="1"/>
          <p:nvPr/>
        </p:nvSpPr>
        <p:spPr>
          <a:xfrm>
            <a:off x="5148272" y="1055704"/>
            <a:ext cx="1362710" cy="234950"/>
          </a:xfrm>
          <a:prstGeom prst="rect">
            <a:avLst/>
          </a:prstGeom>
        </p:spPr>
        <p:txBody>
          <a:bodyPr wrap="square" lIns="0" tIns="15240" rIns="0" bIns="0" rtlCol="0" vert="horz">
            <a:spAutoFit/>
          </a:bodyPr>
          <a:lstStyle/>
          <a:p>
            <a:pPr marL="12700">
              <a:lnSpc>
                <a:spcPct val="100000"/>
              </a:lnSpc>
              <a:spcBef>
                <a:spcPts val="120"/>
              </a:spcBef>
              <a:tabLst>
                <a:tab pos="949325" algn="l"/>
              </a:tabLst>
            </a:pPr>
            <a:r>
              <a:rPr dirty="0" sz="1350">
                <a:latin typeface="宋体"/>
                <a:cs typeface="宋体"/>
              </a:rPr>
              <a:t>39</a:t>
            </a:r>
            <a:r>
              <a:rPr dirty="0" sz="1350" spc="-285">
                <a:latin typeface="宋体"/>
                <a:cs typeface="宋体"/>
              </a:rPr>
              <a:t> </a:t>
            </a:r>
            <a:r>
              <a:rPr dirty="0" sz="1350" spc="-25">
                <a:latin typeface="宋体"/>
                <a:cs typeface="宋体"/>
              </a:rPr>
              <a:t>38</a:t>
            </a:r>
            <a:r>
              <a:rPr dirty="0" sz="1350">
                <a:latin typeface="宋体"/>
                <a:cs typeface="宋体"/>
              </a:rPr>
              <a:t>	30</a:t>
            </a:r>
            <a:r>
              <a:rPr dirty="0" sz="1350" spc="-290">
                <a:latin typeface="宋体"/>
                <a:cs typeface="宋体"/>
              </a:rPr>
              <a:t> </a:t>
            </a:r>
            <a:r>
              <a:rPr dirty="0" sz="1350" spc="-25">
                <a:latin typeface="宋体"/>
                <a:cs typeface="宋体"/>
              </a:rPr>
              <a:t>29</a:t>
            </a:r>
            <a:endParaRPr sz="1350">
              <a:latin typeface="宋体"/>
              <a:cs typeface="宋体"/>
            </a:endParaRPr>
          </a:p>
        </p:txBody>
      </p:sp>
      <p:sp>
        <p:nvSpPr>
          <p:cNvPr id="59" name="object 59" descr=""/>
          <p:cNvSpPr txBox="1"/>
          <p:nvPr/>
        </p:nvSpPr>
        <p:spPr>
          <a:xfrm>
            <a:off x="6999244" y="1055704"/>
            <a:ext cx="427990" cy="234950"/>
          </a:xfrm>
          <a:prstGeom prst="rect">
            <a:avLst/>
          </a:prstGeom>
        </p:spPr>
        <p:txBody>
          <a:bodyPr wrap="square" lIns="0" tIns="15240" rIns="0" bIns="0" rtlCol="0" vert="horz">
            <a:spAutoFit/>
          </a:bodyPr>
          <a:lstStyle/>
          <a:p>
            <a:pPr marL="12700">
              <a:lnSpc>
                <a:spcPct val="100000"/>
              </a:lnSpc>
              <a:spcBef>
                <a:spcPts val="120"/>
              </a:spcBef>
            </a:pPr>
            <a:r>
              <a:rPr dirty="0" sz="1350">
                <a:latin typeface="宋体"/>
                <a:cs typeface="宋体"/>
              </a:rPr>
              <a:t>21</a:t>
            </a:r>
            <a:r>
              <a:rPr dirty="0" sz="1350" spc="-270">
                <a:latin typeface="宋体"/>
                <a:cs typeface="宋体"/>
              </a:rPr>
              <a:t> </a:t>
            </a:r>
            <a:r>
              <a:rPr dirty="0" sz="1350" spc="-35">
                <a:latin typeface="宋体"/>
                <a:cs typeface="宋体"/>
              </a:rPr>
              <a:t>20</a:t>
            </a:r>
            <a:endParaRPr sz="1350">
              <a:latin typeface="宋体"/>
              <a:cs typeface="宋体"/>
            </a:endParaRPr>
          </a:p>
        </p:txBody>
      </p:sp>
      <p:sp>
        <p:nvSpPr>
          <p:cNvPr id="60" name="object 60" descr=""/>
          <p:cNvSpPr txBox="1"/>
          <p:nvPr/>
        </p:nvSpPr>
        <p:spPr>
          <a:xfrm>
            <a:off x="7894233" y="1055704"/>
            <a:ext cx="427990" cy="234950"/>
          </a:xfrm>
          <a:prstGeom prst="rect">
            <a:avLst/>
          </a:prstGeom>
        </p:spPr>
        <p:txBody>
          <a:bodyPr wrap="square" lIns="0" tIns="15240" rIns="0" bIns="0" rtlCol="0" vert="horz">
            <a:spAutoFit/>
          </a:bodyPr>
          <a:lstStyle/>
          <a:p>
            <a:pPr marL="12700">
              <a:lnSpc>
                <a:spcPct val="100000"/>
              </a:lnSpc>
              <a:spcBef>
                <a:spcPts val="120"/>
              </a:spcBef>
            </a:pPr>
            <a:r>
              <a:rPr dirty="0" sz="1350">
                <a:latin typeface="宋体"/>
                <a:cs typeface="宋体"/>
              </a:rPr>
              <a:t>12</a:t>
            </a:r>
            <a:r>
              <a:rPr dirty="0" sz="1350" spc="-270">
                <a:latin typeface="宋体"/>
                <a:cs typeface="宋体"/>
              </a:rPr>
              <a:t> </a:t>
            </a:r>
            <a:r>
              <a:rPr dirty="0" sz="1350" spc="-35">
                <a:latin typeface="宋体"/>
                <a:cs typeface="宋体"/>
              </a:rPr>
              <a:t>11</a:t>
            </a:r>
            <a:endParaRPr sz="1350">
              <a:latin typeface="宋体"/>
              <a:cs typeface="宋体"/>
            </a:endParaRPr>
          </a:p>
        </p:txBody>
      </p:sp>
      <p:sp>
        <p:nvSpPr>
          <p:cNvPr id="61" name="object 61" descr=""/>
          <p:cNvSpPr txBox="1"/>
          <p:nvPr/>
        </p:nvSpPr>
        <p:spPr>
          <a:xfrm>
            <a:off x="9054310" y="1055704"/>
            <a:ext cx="113030" cy="234950"/>
          </a:xfrm>
          <a:prstGeom prst="rect">
            <a:avLst/>
          </a:prstGeom>
        </p:spPr>
        <p:txBody>
          <a:bodyPr wrap="square" lIns="0" tIns="15240" rIns="0" bIns="0" rtlCol="0" vert="horz">
            <a:spAutoFit/>
          </a:bodyPr>
          <a:lstStyle/>
          <a:p>
            <a:pPr marL="12700">
              <a:lnSpc>
                <a:spcPct val="100000"/>
              </a:lnSpc>
              <a:spcBef>
                <a:spcPts val="120"/>
              </a:spcBef>
            </a:pPr>
            <a:r>
              <a:rPr dirty="0" sz="1350" spc="-50">
                <a:latin typeface="宋体"/>
                <a:cs typeface="宋体"/>
              </a:rPr>
              <a:t>0</a:t>
            </a:r>
            <a:endParaRPr sz="1350">
              <a:latin typeface="宋体"/>
              <a:cs typeface="宋体"/>
            </a:endParaRPr>
          </a:p>
        </p:txBody>
      </p:sp>
      <p:graphicFrame>
        <p:nvGraphicFramePr>
          <p:cNvPr id="62" name="object 62" descr=""/>
          <p:cNvGraphicFramePr>
            <a:graphicFrameLocks noGrp="1"/>
          </p:cNvGraphicFramePr>
          <p:nvPr/>
        </p:nvGraphicFramePr>
        <p:xfrm>
          <a:off x="3792502" y="2812155"/>
          <a:ext cx="986155" cy="868680"/>
        </p:xfrm>
        <a:graphic>
          <a:graphicData uri="http://schemas.openxmlformats.org/drawingml/2006/table">
            <a:tbl>
              <a:tblPr firstRow="1" bandRow="1">
                <a:tableStyleId>{2D5ABB26-0587-4C30-8999-92F81FD0307C}</a:tableStyleId>
              </a:tblPr>
              <a:tblGrid>
                <a:gridCol w="894715"/>
              </a:tblGrid>
              <a:tr h="119380">
                <a:tc>
                  <a:txBody>
                    <a:bodyPr/>
                    <a:lstStyle/>
                    <a:p>
                      <a:pPr>
                        <a:lnSpc>
                          <a:spcPct val="100000"/>
                        </a:lnSpc>
                      </a:pPr>
                      <a:endParaRPr sz="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r>
              <a:tr h="269875">
                <a:tc>
                  <a:txBody>
                    <a:bodyPr/>
                    <a:lstStyle/>
                    <a:p>
                      <a:pPr algn="ctr" marL="6985">
                        <a:lnSpc>
                          <a:spcPct val="100000"/>
                        </a:lnSpc>
                        <a:spcBef>
                          <a:spcPts val="270"/>
                        </a:spcBef>
                      </a:pPr>
                      <a:r>
                        <a:rPr dirty="0" sz="1350" spc="-15" b="1">
                          <a:latin typeface="宋体"/>
                          <a:cs typeface="宋体"/>
                        </a:rPr>
                        <a:t>页映象项</a:t>
                      </a:r>
                      <a:endParaRPr sz="1350">
                        <a:latin typeface="宋体"/>
                        <a:cs typeface="宋体"/>
                      </a:endParaRPr>
                    </a:p>
                  </a:txBody>
                  <a:tcPr marL="0" marR="0" marB="0" marT="3429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DDDDD"/>
                    </a:solidFill>
                  </a:tcPr>
                </a:tc>
              </a:tr>
              <a:tr h="479425">
                <a:tc>
                  <a:txBody>
                    <a:bodyPr/>
                    <a:lstStyle/>
                    <a:p>
                      <a:pPr algn="ctr">
                        <a:lnSpc>
                          <a:spcPct val="100000"/>
                        </a:lnSpc>
                        <a:spcBef>
                          <a:spcPts val="1055"/>
                        </a:spcBef>
                      </a:pPr>
                      <a:r>
                        <a:rPr dirty="0" sz="1600" spc="-50">
                          <a:latin typeface="宋体"/>
                          <a:cs typeface="宋体"/>
                        </a:rPr>
                        <a:t>…</a:t>
                      </a:r>
                      <a:endParaRPr sz="1600">
                        <a:latin typeface="宋体"/>
                        <a:cs typeface="宋体"/>
                      </a:endParaRPr>
                    </a:p>
                  </a:txBody>
                  <a:tcPr marL="0" marR="0" marB="0" marT="13398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r>
            </a:tbl>
          </a:graphicData>
        </a:graphic>
      </p:graphicFrame>
      <p:graphicFrame>
        <p:nvGraphicFramePr>
          <p:cNvPr id="63" name="object 63" descr=""/>
          <p:cNvGraphicFramePr>
            <a:graphicFrameLocks noGrp="1"/>
          </p:cNvGraphicFramePr>
          <p:nvPr/>
        </p:nvGraphicFramePr>
        <p:xfrm>
          <a:off x="5338884" y="3052073"/>
          <a:ext cx="986155" cy="1077595"/>
        </p:xfrm>
        <a:graphic>
          <a:graphicData uri="http://schemas.openxmlformats.org/drawingml/2006/table">
            <a:tbl>
              <a:tblPr firstRow="1" bandRow="1">
                <a:tableStyleId>{2D5ABB26-0587-4C30-8999-92F81FD0307C}</a:tableStyleId>
              </a:tblPr>
              <a:tblGrid>
                <a:gridCol w="894715"/>
              </a:tblGrid>
              <a:tr h="119380">
                <a:tc>
                  <a:txBody>
                    <a:bodyPr/>
                    <a:lstStyle/>
                    <a:p>
                      <a:pPr>
                        <a:lnSpc>
                          <a:spcPct val="100000"/>
                        </a:lnSpc>
                      </a:pPr>
                      <a:endParaRPr sz="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r>
              <a:tr h="419100">
                <a:tc>
                  <a:txBody>
                    <a:bodyPr/>
                    <a:lstStyle/>
                    <a:p>
                      <a:pPr marL="177165" marR="179705" indent="4445">
                        <a:lnSpc>
                          <a:spcPts val="1480"/>
                        </a:lnSpc>
                        <a:spcBef>
                          <a:spcPts val="215"/>
                        </a:spcBef>
                      </a:pPr>
                      <a:r>
                        <a:rPr dirty="0" sz="1350" spc="-20" b="1">
                          <a:latin typeface="宋体"/>
                          <a:cs typeface="宋体"/>
                        </a:rPr>
                        <a:t>页目录指针项</a:t>
                      </a:r>
                      <a:endParaRPr sz="1350">
                        <a:latin typeface="宋体"/>
                        <a:cs typeface="宋体"/>
                      </a:endParaRPr>
                    </a:p>
                  </a:txBody>
                  <a:tcPr marL="0" marR="0" marB="0" marT="273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DDDDD"/>
                    </a:solidFill>
                  </a:tcPr>
                </a:tc>
              </a:tr>
              <a:tr h="539115">
                <a:tc>
                  <a:txBody>
                    <a:bodyPr/>
                    <a:lstStyle/>
                    <a:p>
                      <a:pPr algn="ctr">
                        <a:lnSpc>
                          <a:spcPct val="100000"/>
                        </a:lnSpc>
                        <a:spcBef>
                          <a:spcPts val="815"/>
                        </a:spcBef>
                      </a:pPr>
                      <a:r>
                        <a:rPr dirty="0" sz="1600" spc="-50">
                          <a:latin typeface="宋体"/>
                          <a:cs typeface="宋体"/>
                        </a:rPr>
                        <a:t>…</a:t>
                      </a:r>
                      <a:endParaRPr sz="1600">
                        <a:latin typeface="宋体"/>
                        <a:cs typeface="宋体"/>
                      </a:endParaRPr>
                    </a:p>
                  </a:txBody>
                  <a:tcPr marL="0" marR="0" marB="0" marT="10350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r>
            </a:tbl>
          </a:graphicData>
        </a:graphic>
      </p:graphicFrame>
      <p:grpSp>
        <p:nvGrpSpPr>
          <p:cNvPr id="64" name="object 64" descr=""/>
          <p:cNvGrpSpPr/>
          <p:nvPr/>
        </p:nvGrpSpPr>
        <p:grpSpPr>
          <a:xfrm>
            <a:off x="3474223" y="1710564"/>
            <a:ext cx="1431925" cy="786765"/>
            <a:chOff x="3474223" y="1710564"/>
            <a:chExt cx="1431925" cy="786765"/>
          </a:xfrm>
        </p:grpSpPr>
        <p:pic>
          <p:nvPicPr>
            <p:cNvPr id="65" name="object 65" descr=""/>
            <p:cNvPicPr/>
            <p:nvPr/>
          </p:nvPicPr>
          <p:blipFill>
            <a:blip r:embed="rId10" cstate="print"/>
            <a:stretch>
              <a:fillRect/>
            </a:stretch>
          </p:blipFill>
          <p:spPr>
            <a:xfrm>
              <a:off x="4166648" y="1879308"/>
              <a:ext cx="80358" cy="252343"/>
            </a:xfrm>
            <a:prstGeom prst="rect">
              <a:avLst/>
            </a:prstGeom>
          </p:spPr>
        </p:pic>
        <p:sp>
          <p:nvSpPr>
            <p:cNvPr id="66" name="object 66" descr=""/>
            <p:cNvSpPr/>
            <p:nvPr/>
          </p:nvSpPr>
          <p:spPr>
            <a:xfrm>
              <a:off x="3474223" y="1710564"/>
              <a:ext cx="1424305" cy="779145"/>
            </a:xfrm>
            <a:custGeom>
              <a:avLst/>
              <a:gdLst/>
              <a:ahLst/>
              <a:cxnLst/>
              <a:rect l="l" t="t" r="r" b="b"/>
              <a:pathLst>
                <a:path w="1424304" h="779144">
                  <a:moveTo>
                    <a:pt x="712369" y="179967"/>
                  </a:moveTo>
                  <a:lnTo>
                    <a:pt x="1424177" y="179967"/>
                  </a:lnTo>
                </a:path>
                <a:path w="1424304" h="779144">
                  <a:moveTo>
                    <a:pt x="1424177" y="0"/>
                  </a:moveTo>
                  <a:lnTo>
                    <a:pt x="1424177" y="179967"/>
                  </a:lnTo>
                </a:path>
                <a:path w="1424304" h="779144">
                  <a:moveTo>
                    <a:pt x="732314" y="629306"/>
                  </a:moveTo>
                  <a:lnTo>
                    <a:pt x="732314" y="779086"/>
                  </a:lnTo>
                </a:path>
                <a:path w="1424304" h="779144">
                  <a:moveTo>
                    <a:pt x="0" y="779086"/>
                  </a:moveTo>
                  <a:lnTo>
                    <a:pt x="732314" y="779086"/>
                  </a:lnTo>
                </a:path>
              </a:pathLst>
            </a:custGeom>
            <a:ln w="14408">
              <a:solidFill>
                <a:srgbClr val="000000"/>
              </a:solidFill>
            </a:ln>
          </p:spPr>
          <p:txBody>
            <a:bodyPr wrap="square" lIns="0" tIns="0" rIns="0" bIns="0" rtlCol="0"/>
            <a:lstStyle/>
            <a:p/>
          </p:txBody>
        </p:sp>
      </p:grpSp>
      <p:grpSp>
        <p:nvGrpSpPr>
          <p:cNvPr id="67" name="object 67" descr=""/>
          <p:cNvGrpSpPr/>
          <p:nvPr/>
        </p:nvGrpSpPr>
        <p:grpSpPr>
          <a:xfrm>
            <a:off x="5041498" y="1710564"/>
            <a:ext cx="779780" cy="1290320"/>
            <a:chOff x="5041498" y="1710564"/>
            <a:chExt cx="779780" cy="1290320"/>
          </a:xfrm>
        </p:grpSpPr>
        <p:sp>
          <p:nvSpPr>
            <p:cNvPr id="68" name="object 68" descr=""/>
            <p:cNvSpPr/>
            <p:nvPr/>
          </p:nvSpPr>
          <p:spPr>
            <a:xfrm>
              <a:off x="5042854" y="2120620"/>
              <a:ext cx="77470" cy="878840"/>
            </a:xfrm>
            <a:custGeom>
              <a:avLst/>
              <a:gdLst/>
              <a:ahLst/>
              <a:cxnLst/>
              <a:rect l="l" t="t" r="r" b="b"/>
              <a:pathLst>
                <a:path w="77470" h="878839">
                  <a:moveTo>
                    <a:pt x="0" y="762831"/>
                  </a:moveTo>
                  <a:lnTo>
                    <a:pt x="38727" y="878745"/>
                  </a:lnTo>
                  <a:lnTo>
                    <a:pt x="61242" y="811015"/>
                  </a:lnTo>
                  <a:lnTo>
                    <a:pt x="33499" y="811015"/>
                  </a:lnTo>
                  <a:lnTo>
                    <a:pt x="28851" y="806371"/>
                  </a:lnTo>
                  <a:lnTo>
                    <a:pt x="28851" y="791520"/>
                  </a:lnTo>
                  <a:lnTo>
                    <a:pt x="0" y="762831"/>
                  </a:lnTo>
                  <a:close/>
                </a:path>
                <a:path w="77470" h="878839">
                  <a:moveTo>
                    <a:pt x="28851" y="791520"/>
                  </a:moveTo>
                  <a:lnTo>
                    <a:pt x="28851" y="806371"/>
                  </a:lnTo>
                  <a:lnTo>
                    <a:pt x="33499" y="811015"/>
                  </a:lnTo>
                  <a:lnTo>
                    <a:pt x="43761" y="811015"/>
                  </a:lnTo>
                  <a:lnTo>
                    <a:pt x="48409" y="806371"/>
                  </a:lnTo>
                  <a:lnTo>
                    <a:pt x="48409" y="801340"/>
                  </a:lnTo>
                  <a:lnTo>
                    <a:pt x="38727" y="801340"/>
                  </a:lnTo>
                  <a:lnTo>
                    <a:pt x="28851" y="791520"/>
                  </a:lnTo>
                  <a:close/>
                </a:path>
                <a:path w="77470" h="878839">
                  <a:moveTo>
                    <a:pt x="77261" y="762831"/>
                  </a:moveTo>
                  <a:lnTo>
                    <a:pt x="48409" y="791664"/>
                  </a:lnTo>
                  <a:lnTo>
                    <a:pt x="48409" y="806371"/>
                  </a:lnTo>
                  <a:lnTo>
                    <a:pt x="43761" y="811015"/>
                  </a:lnTo>
                  <a:lnTo>
                    <a:pt x="61242" y="811015"/>
                  </a:lnTo>
                  <a:lnTo>
                    <a:pt x="77261" y="762831"/>
                  </a:lnTo>
                  <a:close/>
                </a:path>
                <a:path w="77470" h="878839">
                  <a:moveTo>
                    <a:pt x="43761" y="0"/>
                  </a:moveTo>
                  <a:lnTo>
                    <a:pt x="33499" y="0"/>
                  </a:lnTo>
                  <a:lnTo>
                    <a:pt x="28851" y="4063"/>
                  </a:lnTo>
                  <a:lnTo>
                    <a:pt x="28851" y="791520"/>
                  </a:lnTo>
                  <a:lnTo>
                    <a:pt x="38727" y="801340"/>
                  </a:lnTo>
                  <a:lnTo>
                    <a:pt x="48409" y="791664"/>
                  </a:lnTo>
                  <a:lnTo>
                    <a:pt x="48409" y="4063"/>
                  </a:lnTo>
                  <a:lnTo>
                    <a:pt x="43761" y="0"/>
                  </a:lnTo>
                  <a:close/>
                </a:path>
                <a:path w="77470" h="878839">
                  <a:moveTo>
                    <a:pt x="48409" y="791664"/>
                  </a:moveTo>
                  <a:lnTo>
                    <a:pt x="38727" y="801340"/>
                  </a:lnTo>
                  <a:lnTo>
                    <a:pt x="48409" y="801340"/>
                  </a:lnTo>
                  <a:lnTo>
                    <a:pt x="48409" y="791664"/>
                  </a:lnTo>
                  <a:close/>
                </a:path>
              </a:pathLst>
            </a:custGeom>
            <a:solidFill>
              <a:srgbClr val="000000"/>
            </a:solidFill>
          </p:spPr>
          <p:txBody>
            <a:bodyPr wrap="square" lIns="0" tIns="0" rIns="0" bIns="0" rtlCol="0"/>
            <a:lstStyle/>
            <a:p/>
          </p:txBody>
        </p:sp>
        <p:sp>
          <p:nvSpPr>
            <p:cNvPr id="69" name="object 69" descr=""/>
            <p:cNvSpPr/>
            <p:nvPr/>
          </p:nvSpPr>
          <p:spPr>
            <a:xfrm>
              <a:off x="5042854" y="2120620"/>
              <a:ext cx="77470" cy="878840"/>
            </a:xfrm>
            <a:custGeom>
              <a:avLst/>
              <a:gdLst/>
              <a:ahLst/>
              <a:cxnLst/>
              <a:rect l="l" t="t" r="r" b="b"/>
              <a:pathLst>
                <a:path w="77470" h="878839">
                  <a:moveTo>
                    <a:pt x="48409" y="9675"/>
                  </a:moveTo>
                  <a:lnTo>
                    <a:pt x="48409" y="801340"/>
                  </a:lnTo>
                  <a:lnTo>
                    <a:pt x="48409" y="806371"/>
                  </a:lnTo>
                  <a:lnTo>
                    <a:pt x="43761" y="811015"/>
                  </a:lnTo>
                  <a:lnTo>
                    <a:pt x="38727" y="811015"/>
                  </a:lnTo>
                  <a:lnTo>
                    <a:pt x="33499" y="811015"/>
                  </a:lnTo>
                  <a:lnTo>
                    <a:pt x="28851" y="806371"/>
                  </a:lnTo>
                  <a:lnTo>
                    <a:pt x="28851" y="801340"/>
                  </a:lnTo>
                  <a:lnTo>
                    <a:pt x="28851" y="9675"/>
                  </a:lnTo>
                  <a:lnTo>
                    <a:pt x="28851" y="4063"/>
                  </a:lnTo>
                  <a:lnTo>
                    <a:pt x="33499" y="0"/>
                  </a:lnTo>
                  <a:lnTo>
                    <a:pt x="38727" y="0"/>
                  </a:lnTo>
                  <a:lnTo>
                    <a:pt x="43761" y="0"/>
                  </a:lnTo>
                  <a:lnTo>
                    <a:pt x="48409" y="4063"/>
                  </a:lnTo>
                  <a:lnTo>
                    <a:pt x="48409" y="9675"/>
                  </a:lnTo>
                  <a:close/>
                </a:path>
                <a:path w="77470" h="878839">
                  <a:moveTo>
                    <a:pt x="38727" y="801340"/>
                  </a:moveTo>
                  <a:lnTo>
                    <a:pt x="77261" y="762831"/>
                  </a:lnTo>
                  <a:lnTo>
                    <a:pt x="38727" y="878745"/>
                  </a:lnTo>
                  <a:lnTo>
                    <a:pt x="0" y="762831"/>
                  </a:lnTo>
                  <a:lnTo>
                    <a:pt x="38727" y="801340"/>
                  </a:lnTo>
                  <a:close/>
                </a:path>
              </a:pathLst>
            </a:custGeom>
            <a:ln w="3175">
              <a:solidFill>
                <a:srgbClr val="000000"/>
              </a:solidFill>
            </a:ln>
          </p:spPr>
          <p:txBody>
            <a:bodyPr wrap="square" lIns="0" tIns="0" rIns="0" bIns="0" rtlCol="0"/>
            <a:lstStyle/>
            <a:p/>
          </p:txBody>
        </p:sp>
        <p:sp>
          <p:nvSpPr>
            <p:cNvPr id="70" name="object 70" descr=""/>
            <p:cNvSpPr/>
            <p:nvPr/>
          </p:nvSpPr>
          <p:spPr>
            <a:xfrm>
              <a:off x="5081581" y="1710564"/>
              <a:ext cx="732155" cy="419734"/>
            </a:xfrm>
            <a:custGeom>
              <a:avLst/>
              <a:gdLst/>
              <a:ahLst/>
              <a:cxnLst/>
              <a:rect l="l" t="t" r="r" b="b"/>
              <a:pathLst>
                <a:path w="732154" h="419735">
                  <a:moveTo>
                    <a:pt x="0" y="419731"/>
                  </a:moveTo>
                  <a:lnTo>
                    <a:pt x="732140" y="419731"/>
                  </a:lnTo>
                </a:path>
                <a:path w="732154" h="419735">
                  <a:moveTo>
                    <a:pt x="732140" y="419731"/>
                  </a:moveTo>
                  <a:lnTo>
                    <a:pt x="732140" y="0"/>
                  </a:lnTo>
                </a:path>
              </a:pathLst>
            </a:custGeom>
            <a:ln w="14408">
              <a:solidFill>
                <a:srgbClr val="000000"/>
              </a:solidFill>
            </a:ln>
          </p:spPr>
          <p:txBody>
            <a:bodyPr wrap="square" lIns="0" tIns="0" rIns="0" bIns="0" rtlCol="0"/>
            <a:lstStyle/>
            <a:p/>
          </p:txBody>
        </p:sp>
      </p:grpSp>
      <p:sp>
        <p:nvSpPr>
          <p:cNvPr id="71" name="object 71" descr=""/>
          <p:cNvSpPr txBox="1"/>
          <p:nvPr/>
        </p:nvSpPr>
        <p:spPr>
          <a:xfrm>
            <a:off x="3744213" y="2511026"/>
            <a:ext cx="2582545" cy="715645"/>
          </a:xfrm>
          <a:prstGeom prst="rect">
            <a:avLst/>
          </a:prstGeom>
        </p:spPr>
        <p:txBody>
          <a:bodyPr wrap="square" lIns="0" tIns="52069" rIns="0" bIns="0" rtlCol="0" vert="horz">
            <a:spAutoFit/>
          </a:bodyPr>
          <a:lstStyle/>
          <a:p>
            <a:pPr marL="12700">
              <a:lnSpc>
                <a:spcPct val="100000"/>
              </a:lnSpc>
              <a:spcBef>
                <a:spcPts val="409"/>
              </a:spcBef>
            </a:pPr>
            <a:r>
              <a:rPr dirty="0" sz="1350" spc="110" b="1">
                <a:latin typeface="宋体"/>
                <a:cs typeface="宋体"/>
              </a:rPr>
              <a:t>页映象</a:t>
            </a:r>
            <a:r>
              <a:rPr dirty="0" sz="1350" b="1">
                <a:latin typeface="宋体"/>
                <a:cs typeface="宋体"/>
              </a:rPr>
              <a:t>L4</a:t>
            </a:r>
            <a:r>
              <a:rPr dirty="0" sz="1350" spc="-160" b="1">
                <a:latin typeface="宋体"/>
                <a:cs typeface="宋体"/>
              </a:rPr>
              <a:t> 表</a:t>
            </a:r>
            <a:endParaRPr sz="1350">
              <a:latin typeface="宋体"/>
              <a:cs typeface="宋体"/>
            </a:endParaRPr>
          </a:p>
          <a:p>
            <a:pPr marL="1518920">
              <a:lnSpc>
                <a:spcPts val="1440"/>
              </a:lnSpc>
              <a:spcBef>
                <a:spcPts val="315"/>
              </a:spcBef>
            </a:pPr>
            <a:r>
              <a:rPr dirty="0" sz="1350" spc="-10" b="1">
                <a:latin typeface="宋体"/>
                <a:cs typeface="宋体"/>
              </a:rPr>
              <a:t>页目录指针表</a:t>
            </a:r>
            <a:endParaRPr sz="1350">
              <a:latin typeface="宋体"/>
              <a:cs typeface="宋体"/>
            </a:endParaRPr>
          </a:p>
          <a:p>
            <a:pPr algn="ctr" marL="124460">
              <a:lnSpc>
                <a:spcPts val="1739"/>
              </a:lnSpc>
            </a:pPr>
            <a:r>
              <a:rPr dirty="0" sz="1600" spc="-50">
                <a:latin typeface="Times New Roman"/>
                <a:cs typeface="Times New Roman"/>
              </a:rPr>
              <a:t>+</a:t>
            </a:r>
            <a:endParaRPr sz="1600">
              <a:latin typeface="Times New Roman"/>
              <a:cs typeface="Times New Roman"/>
            </a:endParaRPr>
          </a:p>
        </p:txBody>
      </p:sp>
      <p:sp>
        <p:nvSpPr>
          <p:cNvPr id="72" name="object 72" descr=""/>
          <p:cNvSpPr txBox="1"/>
          <p:nvPr/>
        </p:nvSpPr>
        <p:spPr>
          <a:xfrm>
            <a:off x="6980656" y="3183388"/>
            <a:ext cx="725170" cy="234950"/>
          </a:xfrm>
          <a:prstGeom prst="rect">
            <a:avLst/>
          </a:prstGeom>
        </p:spPr>
        <p:txBody>
          <a:bodyPr wrap="square" lIns="0" tIns="15240" rIns="0" bIns="0" rtlCol="0" vert="horz">
            <a:spAutoFit/>
          </a:bodyPr>
          <a:lstStyle/>
          <a:p>
            <a:pPr marL="12700">
              <a:lnSpc>
                <a:spcPct val="100000"/>
              </a:lnSpc>
              <a:spcBef>
                <a:spcPts val="120"/>
              </a:spcBef>
            </a:pPr>
            <a:r>
              <a:rPr dirty="0" sz="1350" spc="-15" b="1">
                <a:latin typeface="宋体"/>
                <a:cs typeface="宋体"/>
              </a:rPr>
              <a:t>页目录表</a:t>
            </a:r>
            <a:endParaRPr sz="1350">
              <a:latin typeface="宋体"/>
              <a:cs typeface="宋体"/>
            </a:endParaRPr>
          </a:p>
        </p:txBody>
      </p:sp>
      <p:grpSp>
        <p:nvGrpSpPr>
          <p:cNvPr id="73" name="object 73" descr=""/>
          <p:cNvGrpSpPr/>
          <p:nvPr/>
        </p:nvGrpSpPr>
        <p:grpSpPr>
          <a:xfrm>
            <a:off x="6566968" y="1710564"/>
            <a:ext cx="190500" cy="1590040"/>
            <a:chOff x="6566968" y="1710564"/>
            <a:chExt cx="190500" cy="1590040"/>
          </a:xfrm>
        </p:grpSpPr>
        <p:sp>
          <p:nvSpPr>
            <p:cNvPr id="74" name="object 74" descr=""/>
            <p:cNvSpPr/>
            <p:nvPr/>
          </p:nvSpPr>
          <p:spPr>
            <a:xfrm>
              <a:off x="6568323" y="2210411"/>
              <a:ext cx="78105" cy="1089025"/>
            </a:xfrm>
            <a:custGeom>
              <a:avLst/>
              <a:gdLst/>
              <a:ahLst/>
              <a:cxnLst/>
              <a:rect l="l" t="t" r="r" b="b"/>
              <a:pathLst>
                <a:path w="78104" h="1089025">
                  <a:moveTo>
                    <a:pt x="0" y="972599"/>
                  </a:moveTo>
                  <a:lnTo>
                    <a:pt x="39114" y="1088514"/>
                  </a:lnTo>
                  <a:lnTo>
                    <a:pt x="61630" y="1020784"/>
                  </a:lnTo>
                  <a:lnTo>
                    <a:pt x="33499" y="1020784"/>
                  </a:lnTo>
                  <a:lnTo>
                    <a:pt x="29432" y="1016721"/>
                  </a:lnTo>
                  <a:lnTo>
                    <a:pt x="29432" y="1001577"/>
                  </a:lnTo>
                  <a:lnTo>
                    <a:pt x="0" y="972599"/>
                  </a:lnTo>
                  <a:close/>
                </a:path>
                <a:path w="78104" h="1089025">
                  <a:moveTo>
                    <a:pt x="29432" y="1001577"/>
                  </a:moveTo>
                  <a:lnTo>
                    <a:pt x="29432" y="1016721"/>
                  </a:lnTo>
                  <a:lnTo>
                    <a:pt x="33499" y="1020784"/>
                  </a:lnTo>
                  <a:lnTo>
                    <a:pt x="44342" y="1020784"/>
                  </a:lnTo>
                  <a:lnTo>
                    <a:pt x="48990" y="1016721"/>
                  </a:lnTo>
                  <a:lnTo>
                    <a:pt x="48990" y="1011109"/>
                  </a:lnTo>
                  <a:lnTo>
                    <a:pt x="39114" y="1011109"/>
                  </a:lnTo>
                  <a:lnTo>
                    <a:pt x="29432" y="1001577"/>
                  </a:lnTo>
                  <a:close/>
                </a:path>
                <a:path w="78104" h="1089025">
                  <a:moveTo>
                    <a:pt x="77648" y="972599"/>
                  </a:moveTo>
                  <a:lnTo>
                    <a:pt x="48990" y="1001239"/>
                  </a:lnTo>
                  <a:lnTo>
                    <a:pt x="48990" y="1016721"/>
                  </a:lnTo>
                  <a:lnTo>
                    <a:pt x="44342" y="1020784"/>
                  </a:lnTo>
                  <a:lnTo>
                    <a:pt x="61630" y="1020784"/>
                  </a:lnTo>
                  <a:lnTo>
                    <a:pt x="77648" y="972599"/>
                  </a:lnTo>
                  <a:close/>
                </a:path>
                <a:path w="78104" h="1089025">
                  <a:moveTo>
                    <a:pt x="44342" y="0"/>
                  </a:moveTo>
                  <a:lnTo>
                    <a:pt x="33499" y="0"/>
                  </a:lnTo>
                  <a:lnTo>
                    <a:pt x="29432" y="4257"/>
                  </a:lnTo>
                  <a:lnTo>
                    <a:pt x="29432" y="1001577"/>
                  </a:lnTo>
                  <a:lnTo>
                    <a:pt x="39114" y="1011109"/>
                  </a:lnTo>
                  <a:lnTo>
                    <a:pt x="48990" y="1001239"/>
                  </a:lnTo>
                  <a:lnTo>
                    <a:pt x="48990" y="4257"/>
                  </a:lnTo>
                  <a:lnTo>
                    <a:pt x="44342" y="0"/>
                  </a:lnTo>
                  <a:close/>
                </a:path>
                <a:path w="78104" h="1089025">
                  <a:moveTo>
                    <a:pt x="48990" y="1001239"/>
                  </a:moveTo>
                  <a:lnTo>
                    <a:pt x="39114" y="1011109"/>
                  </a:lnTo>
                  <a:lnTo>
                    <a:pt x="48990" y="1011109"/>
                  </a:lnTo>
                  <a:lnTo>
                    <a:pt x="48990" y="1001239"/>
                  </a:lnTo>
                  <a:close/>
                </a:path>
              </a:pathLst>
            </a:custGeom>
            <a:solidFill>
              <a:srgbClr val="000000"/>
            </a:solidFill>
          </p:spPr>
          <p:txBody>
            <a:bodyPr wrap="square" lIns="0" tIns="0" rIns="0" bIns="0" rtlCol="0"/>
            <a:lstStyle/>
            <a:p/>
          </p:txBody>
        </p:sp>
        <p:sp>
          <p:nvSpPr>
            <p:cNvPr id="75" name="object 75" descr=""/>
            <p:cNvSpPr/>
            <p:nvPr/>
          </p:nvSpPr>
          <p:spPr>
            <a:xfrm>
              <a:off x="6568323" y="2210410"/>
              <a:ext cx="78105" cy="1089025"/>
            </a:xfrm>
            <a:custGeom>
              <a:avLst/>
              <a:gdLst/>
              <a:ahLst/>
              <a:cxnLst/>
              <a:rect l="l" t="t" r="r" b="b"/>
              <a:pathLst>
                <a:path w="78104" h="1089025">
                  <a:moveTo>
                    <a:pt x="48990" y="9869"/>
                  </a:moveTo>
                  <a:lnTo>
                    <a:pt x="48990" y="1011109"/>
                  </a:lnTo>
                  <a:lnTo>
                    <a:pt x="48990" y="1016721"/>
                  </a:lnTo>
                  <a:lnTo>
                    <a:pt x="44342" y="1020784"/>
                  </a:lnTo>
                  <a:lnTo>
                    <a:pt x="39114" y="1020784"/>
                  </a:lnTo>
                  <a:lnTo>
                    <a:pt x="33499" y="1020784"/>
                  </a:lnTo>
                  <a:lnTo>
                    <a:pt x="29432" y="1016721"/>
                  </a:lnTo>
                  <a:lnTo>
                    <a:pt x="29432" y="1011109"/>
                  </a:lnTo>
                  <a:lnTo>
                    <a:pt x="29432" y="9869"/>
                  </a:lnTo>
                  <a:lnTo>
                    <a:pt x="29432" y="4257"/>
                  </a:lnTo>
                  <a:lnTo>
                    <a:pt x="33499" y="0"/>
                  </a:lnTo>
                  <a:lnTo>
                    <a:pt x="39114" y="0"/>
                  </a:lnTo>
                  <a:lnTo>
                    <a:pt x="44342" y="0"/>
                  </a:lnTo>
                  <a:lnTo>
                    <a:pt x="48990" y="4257"/>
                  </a:lnTo>
                  <a:lnTo>
                    <a:pt x="48990" y="9869"/>
                  </a:lnTo>
                  <a:close/>
                </a:path>
                <a:path w="78104" h="1089025">
                  <a:moveTo>
                    <a:pt x="39114" y="1011109"/>
                  </a:moveTo>
                  <a:lnTo>
                    <a:pt x="77648" y="972599"/>
                  </a:lnTo>
                  <a:lnTo>
                    <a:pt x="39114" y="1088514"/>
                  </a:lnTo>
                  <a:lnTo>
                    <a:pt x="0" y="972599"/>
                  </a:lnTo>
                  <a:lnTo>
                    <a:pt x="39114" y="1011109"/>
                  </a:lnTo>
                  <a:close/>
                </a:path>
              </a:pathLst>
            </a:custGeom>
            <a:ln w="3175">
              <a:solidFill>
                <a:srgbClr val="000000"/>
              </a:solidFill>
            </a:ln>
          </p:spPr>
          <p:txBody>
            <a:bodyPr wrap="square" lIns="0" tIns="0" rIns="0" bIns="0" rtlCol="0"/>
            <a:lstStyle/>
            <a:p/>
          </p:txBody>
        </p:sp>
        <p:sp>
          <p:nvSpPr>
            <p:cNvPr id="76" name="object 76" descr=""/>
            <p:cNvSpPr/>
            <p:nvPr/>
          </p:nvSpPr>
          <p:spPr>
            <a:xfrm>
              <a:off x="6607437" y="1710564"/>
              <a:ext cx="142875" cy="509905"/>
            </a:xfrm>
            <a:custGeom>
              <a:avLst/>
              <a:gdLst/>
              <a:ahLst/>
              <a:cxnLst/>
              <a:rect l="l" t="t" r="r" b="b"/>
              <a:pathLst>
                <a:path w="142875" h="509905">
                  <a:moveTo>
                    <a:pt x="0" y="509715"/>
                  </a:moveTo>
                  <a:lnTo>
                    <a:pt x="142322" y="509715"/>
                  </a:lnTo>
                </a:path>
                <a:path w="142875" h="509905">
                  <a:moveTo>
                    <a:pt x="142322" y="0"/>
                  </a:moveTo>
                  <a:lnTo>
                    <a:pt x="142322" y="509715"/>
                  </a:lnTo>
                </a:path>
              </a:pathLst>
            </a:custGeom>
            <a:ln w="14408">
              <a:solidFill>
                <a:srgbClr val="000000"/>
              </a:solidFill>
            </a:ln>
          </p:spPr>
          <p:txBody>
            <a:bodyPr wrap="square" lIns="0" tIns="0" rIns="0" bIns="0" rtlCol="0"/>
            <a:lstStyle/>
            <a:p/>
          </p:txBody>
        </p:sp>
      </p:grpSp>
      <p:sp>
        <p:nvSpPr>
          <p:cNvPr id="77" name="object 77" descr=""/>
          <p:cNvSpPr txBox="1"/>
          <p:nvPr/>
        </p:nvSpPr>
        <p:spPr>
          <a:xfrm>
            <a:off x="8707894" y="3512748"/>
            <a:ext cx="379095" cy="234950"/>
          </a:xfrm>
          <a:prstGeom prst="rect">
            <a:avLst/>
          </a:prstGeom>
        </p:spPr>
        <p:txBody>
          <a:bodyPr wrap="square" lIns="0" tIns="15240" rIns="0" bIns="0" rtlCol="0" vert="horz">
            <a:spAutoFit/>
          </a:bodyPr>
          <a:lstStyle/>
          <a:p>
            <a:pPr marL="12700">
              <a:lnSpc>
                <a:spcPct val="100000"/>
              </a:lnSpc>
              <a:spcBef>
                <a:spcPts val="120"/>
              </a:spcBef>
            </a:pPr>
            <a:r>
              <a:rPr dirty="0" sz="1350" spc="-25" b="1">
                <a:latin typeface="宋体"/>
                <a:cs typeface="宋体"/>
              </a:rPr>
              <a:t>页表</a:t>
            </a:r>
            <a:endParaRPr sz="1350">
              <a:latin typeface="宋体"/>
              <a:cs typeface="宋体"/>
            </a:endParaRPr>
          </a:p>
        </p:txBody>
      </p:sp>
      <p:pic>
        <p:nvPicPr>
          <p:cNvPr id="78" name="object 78" descr=""/>
          <p:cNvPicPr/>
          <p:nvPr/>
        </p:nvPicPr>
        <p:blipFill>
          <a:blip r:embed="rId11" cstate="print"/>
          <a:stretch>
            <a:fillRect/>
          </a:stretch>
        </p:blipFill>
        <p:spPr>
          <a:xfrm>
            <a:off x="8041664" y="3592248"/>
            <a:ext cx="246772" cy="223983"/>
          </a:xfrm>
          <a:prstGeom prst="rect">
            <a:avLst/>
          </a:prstGeom>
        </p:spPr>
      </p:pic>
      <p:sp>
        <p:nvSpPr>
          <p:cNvPr id="79" name="object 79" descr=""/>
          <p:cNvSpPr txBox="1"/>
          <p:nvPr/>
        </p:nvSpPr>
        <p:spPr>
          <a:xfrm>
            <a:off x="8098907" y="3554338"/>
            <a:ext cx="140970" cy="271145"/>
          </a:xfrm>
          <a:prstGeom prst="rect">
            <a:avLst/>
          </a:prstGeom>
        </p:spPr>
        <p:txBody>
          <a:bodyPr wrap="square" lIns="0" tIns="13970" rIns="0" bIns="0" rtlCol="0" vert="horz">
            <a:spAutoFit/>
          </a:bodyPr>
          <a:lstStyle/>
          <a:p>
            <a:pPr marL="12700">
              <a:lnSpc>
                <a:spcPct val="100000"/>
              </a:lnSpc>
              <a:spcBef>
                <a:spcPts val="110"/>
              </a:spcBef>
            </a:pPr>
            <a:r>
              <a:rPr dirty="0" sz="1600" spc="-50">
                <a:latin typeface="Times New Roman"/>
                <a:cs typeface="Times New Roman"/>
              </a:rPr>
              <a:t>+</a:t>
            </a:r>
            <a:endParaRPr sz="1600">
              <a:latin typeface="Times New Roman"/>
              <a:cs typeface="Times New Roman"/>
            </a:endParaRPr>
          </a:p>
        </p:txBody>
      </p:sp>
      <p:graphicFrame>
        <p:nvGraphicFramePr>
          <p:cNvPr id="80" name="object 80" descr=""/>
          <p:cNvGraphicFramePr>
            <a:graphicFrameLocks noGrp="1"/>
          </p:cNvGraphicFramePr>
          <p:nvPr/>
        </p:nvGraphicFramePr>
        <p:xfrm>
          <a:off x="6884878" y="3441558"/>
          <a:ext cx="986155" cy="958214"/>
        </p:xfrm>
        <a:graphic>
          <a:graphicData uri="http://schemas.openxmlformats.org/drawingml/2006/table">
            <a:tbl>
              <a:tblPr firstRow="1" bandRow="1">
                <a:tableStyleId>{2D5ABB26-0587-4C30-8999-92F81FD0307C}</a:tableStyleId>
              </a:tblPr>
              <a:tblGrid>
                <a:gridCol w="894715"/>
              </a:tblGrid>
              <a:tr h="119380">
                <a:tc>
                  <a:txBody>
                    <a:bodyPr/>
                    <a:lstStyle/>
                    <a:p>
                      <a:pPr>
                        <a:lnSpc>
                          <a:spcPct val="100000"/>
                        </a:lnSpc>
                      </a:pPr>
                      <a:endParaRPr sz="600">
                        <a:latin typeface="Times New Roman"/>
                        <a:cs typeface="Times New Roman"/>
                      </a:endParaRPr>
                    </a:p>
                  </a:txBody>
                  <a:tcPr marL="0" marR="0" marB="0" marT="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r>
              <a:tr h="269875">
                <a:tc>
                  <a:txBody>
                    <a:bodyPr/>
                    <a:lstStyle/>
                    <a:p>
                      <a:pPr algn="ctr" marR="8255">
                        <a:lnSpc>
                          <a:spcPct val="100000"/>
                        </a:lnSpc>
                        <a:spcBef>
                          <a:spcPts val="285"/>
                        </a:spcBef>
                      </a:pPr>
                      <a:r>
                        <a:rPr dirty="0" sz="1350" spc="-15" b="1">
                          <a:latin typeface="宋体"/>
                          <a:cs typeface="宋体"/>
                        </a:rPr>
                        <a:t>页目录项</a:t>
                      </a:r>
                      <a:endParaRPr sz="1350">
                        <a:latin typeface="宋体"/>
                        <a:cs typeface="宋体"/>
                      </a:endParaRPr>
                    </a:p>
                  </a:txBody>
                  <a:tcPr marL="0" marR="0" marB="0" marT="3619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DDDDDD"/>
                    </a:solidFill>
                  </a:tcPr>
                </a:tc>
              </a:tr>
              <a:tr h="568960">
                <a:tc>
                  <a:txBody>
                    <a:bodyPr/>
                    <a:lstStyle/>
                    <a:p>
                      <a:pPr algn="ctr">
                        <a:lnSpc>
                          <a:spcPct val="100000"/>
                        </a:lnSpc>
                        <a:spcBef>
                          <a:spcPts val="1045"/>
                        </a:spcBef>
                      </a:pPr>
                      <a:r>
                        <a:rPr dirty="0" sz="1600" spc="-50">
                          <a:latin typeface="宋体"/>
                          <a:cs typeface="宋体"/>
                        </a:rPr>
                        <a:t>…</a:t>
                      </a:r>
                      <a:endParaRPr sz="1600">
                        <a:latin typeface="宋体"/>
                        <a:cs typeface="宋体"/>
                      </a:endParaRPr>
                    </a:p>
                  </a:txBody>
                  <a:tcPr marL="0" marR="0" marB="0" marT="132715">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CCFF"/>
                    </a:solidFill>
                  </a:tcPr>
                </a:tc>
              </a:tr>
            </a:tbl>
          </a:graphicData>
        </a:graphic>
      </p:graphicFrame>
      <p:grpSp>
        <p:nvGrpSpPr>
          <p:cNvPr id="81" name="object 81" descr=""/>
          <p:cNvGrpSpPr/>
          <p:nvPr/>
        </p:nvGrpSpPr>
        <p:grpSpPr>
          <a:xfrm>
            <a:off x="7776423" y="3656151"/>
            <a:ext cx="643255" cy="372110"/>
            <a:chOff x="7776423" y="3656151"/>
            <a:chExt cx="643255" cy="372110"/>
          </a:xfrm>
        </p:grpSpPr>
        <p:sp>
          <p:nvSpPr>
            <p:cNvPr id="82" name="object 82" descr=""/>
            <p:cNvSpPr/>
            <p:nvPr/>
          </p:nvSpPr>
          <p:spPr>
            <a:xfrm>
              <a:off x="7777777" y="3657506"/>
              <a:ext cx="274320" cy="77470"/>
            </a:xfrm>
            <a:custGeom>
              <a:avLst/>
              <a:gdLst/>
              <a:ahLst/>
              <a:cxnLst/>
              <a:rect l="l" t="t" r="r" b="b"/>
              <a:pathLst>
                <a:path w="274320" h="77470">
                  <a:moveTo>
                    <a:pt x="157620" y="0"/>
                  </a:moveTo>
                  <a:lnTo>
                    <a:pt x="196541" y="38509"/>
                  </a:lnTo>
                  <a:lnTo>
                    <a:pt x="157620" y="77405"/>
                  </a:lnTo>
                  <a:lnTo>
                    <a:pt x="243745" y="48571"/>
                  </a:lnTo>
                  <a:lnTo>
                    <a:pt x="201769" y="48571"/>
                  </a:lnTo>
                  <a:lnTo>
                    <a:pt x="206416" y="43927"/>
                  </a:lnTo>
                  <a:lnTo>
                    <a:pt x="206416" y="33284"/>
                  </a:lnTo>
                  <a:lnTo>
                    <a:pt x="201769" y="29220"/>
                  </a:lnTo>
                  <a:lnTo>
                    <a:pt x="245778" y="29220"/>
                  </a:lnTo>
                  <a:lnTo>
                    <a:pt x="157620" y="0"/>
                  </a:lnTo>
                  <a:close/>
                </a:path>
                <a:path w="274320" h="77470">
                  <a:moveTo>
                    <a:pt x="187153" y="29220"/>
                  </a:moveTo>
                  <a:lnTo>
                    <a:pt x="4066" y="29220"/>
                  </a:lnTo>
                  <a:lnTo>
                    <a:pt x="0" y="33284"/>
                  </a:lnTo>
                  <a:lnTo>
                    <a:pt x="0" y="43927"/>
                  </a:lnTo>
                  <a:lnTo>
                    <a:pt x="4066" y="48571"/>
                  </a:lnTo>
                  <a:lnTo>
                    <a:pt x="186472" y="48571"/>
                  </a:lnTo>
                  <a:lnTo>
                    <a:pt x="196541" y="38509"/>
                  </a:lnTo>
                  <a:lnTo>
                    <a:pt x="187153" y="29220"/>
                  </a:lnTo>
                  <a:close/>
                </a:path>
                <a:path w="274320" h="77470">
                  <a:moveTo>
                    <a:pt x="245778" y="29220"/>
                  </a:moveTo>
                  <a:lnTo>
                    <a:pt x="201769" y="29220"/>
                  </a:lnTo>
                  <a:lnTo>
                    <a:pt x="206416" y="33284"/>
                  </a:lnTo>
                  <a:lnTo>
                    <a:pt x="206416" y="43927"/>
                  </a:lnTo>
                  <a:lnTo>
                    <a:pt x="201769" y="48571"/>
                  </a:lnTo>
                  <a:lnTo>
                    <a:pt x="243745" y="48571"/>
                  </a:lnTo>
                  <a:lnTo>
                    <a:pt x="273802" y="38509"/>
                  </a:lnTo>
                  <a:lnTo>
                    <a:pt x="245778" y="29220"/>
                  </a:lnTo>
                  <a:close/>
                </a:path>
              </a:pathLst>
            </a:custGeom>
            <a:solidFill>
              <a:srgbClr val="000000"/>
            </a:solidFill>
          </p:spPr>
          <p:txBody>
            <a:bodyPr wrap="square" lIns="0" tIns="0" rIns="0" bIns="0" rtlCol="0"/>
            <a:lstStyle/>
            <a:p/>
          </p:txBody>
        </p:sp>
        <p:pic>
          <p:nvPicPr>
            <p:cNvPr id="83" name="object 83" descr=""/>
            <p:cNvPicPr/>
            <p:nvPr/>
          </p:nvPicPr>
          <p:blipFill>
            <a:blip r:embed="rId12" cstate="print"/>
            <a:stretch>
              <a:fillRect/>
            </a:stretch>
          </p:blipFill>
          <p:spPr>
            <a:xfrm>
              <a:off x="7776423" y="3656151"/>
              <a:ext cx="276511" cy="80115"/>
            </a:xfrm>
            <a:prstGeom prst="rect">
              <a:avLst/>
            </a:prstGeom>
          </p:spPr>
        </p:pic>
        <p:sp>
          <p:nvSpPr>
            <p:cNvPr id="84" name="object 84" descr=""/>
            <p:cNvSpPr/>
            <p:nvPr/>
          </p:nvSpPr>
          <p:spPr>
            <a:xfrm>
              <a:off x="8153432" y="3808253"/>
              <a:ext cx="0" cy="180340"/>
            </a:xfrm>
            <a:custGeom>
              <a:avLst/>
              <a:gdLst/>
              <a:ahLst/>
              <a:cxnLst/>
              <a:rect l="l" t="t" r="r" b="b"/>
              <a:pathLst>
                <a:path w="0" h="180339">
                  <a:moveTo>
                    <a:pt x="0" y="0"/>
                  </a:moveTo>
                  <a:lnTo>
                    <a:pt x="0" y="179774"/>
                  </a:lnTo>
                </a:path>
              </a:pathLst>
            </a:custGeom>
            <a:ln w="14413">
              <a:solidFill>
                <a:srgbClr val="000000"/>
              </a:solidFill>
            </a:ln>
          </p:spPr>
          <p:txBody>
            <a:bodyPr wrap="square" lIns="0" tIns="0" rIns="0" bIns="0" rtlCol="0"/>
            <a:lstStyle/>
            <a:p/>
          </p:txBody>
        </p:sp>
        <p:sp>
          <p:nvSpPr>
            <p:cNvPr id="85" name="object 85" descr=""/>
            <p:cNvSpPr/>
            <p:nvPr/>
          </p:nvSpPr>
          <p:spPr>
            <a:xfrm>
              <a:off x="8143557" y="3949712"/>
              <a:ext cx="274955" cy="76835"/>
            </a:xfrm>
            <a:custGeom>
              <a:avLst/>
              <a:gdLst/>
              <a:ahLst/>
              <a:cxnLst/>
              <a:rect l="l" t="t" r="r" b="b"/>
              <a:pathLst>
                <a:path w="274954" h="76835">
                  <a:moveTo>
                    <a:pt x="158201" y="0"/>
                  </a:moveTo>
                  <a:lnTo>
                    <a:pt x="197315" y="38315"/>
                  </a:lnTo>
                  <a:lnTo>
                    <a:pt x="158201" y="76824"/>
                  </a:lnTo>
                  <a:lnTo>
                    <a:pt x="244607" y="48184"/>
                  </a:lnTo>
                  <a:lnTo>
                    <a:pt x="202350" y="48184"/>
                  </a:lnTo>
                  <a:lnTo>
                    <a:pt x="206610" y="43927"/>
                  </a:lnTo>
                  <a:lnTo>
                    <a:pt x="206610" y="33284"/>
                  </a:lnTo>
                  <a:lnTo>
                    <a:pt x="202350" y="28640"/>
                  </a:lnTo>
                  <a:lnTo>
                    <a:pt x="245044" y="28640"/>
                  </a:lnTo>
                  <a:lnTo>
                    <a:pt x="158201" y="0"/>
                  </a:lnTo>
                  <a:close/>
                </a:path>
                <a:path w="274954" h="76835">
                  <a:moveTo>
                    <a:pt x="187438" y="28640"/>
                  </a:moveTo>
                  <a:lnTo>
                    <a:pt x="4647" y="28640"/>
                  </a:lnTo>
                  <a:lnTo>
                    <a:pt x="0" y="33284"/>
                  </a:lnTo>
                  <a:lnTo>
                    <a:pt x="0" y="43927"/>
                  </a:lnTo>
                  <a:lnTo>
                    <a:pt x="4647" y="48184"/>
                  </a:lnTo>
                  <a:lnTo>
                    <a:pt x="187291" y="48184"/>
                  </a:lnTo>
                  <a:lnTo>
                    <a:pt x="197315" y="38315"/>
                  </a:lnTo>
                  <a:lnTo>
                    <a:pt x="187438" y="28640"/>
                  </a:lnTo>
                  <a:close/>
                </a:path>
                <a:path w="274954" h="76835">
                  <a:moveTo>
                    <a:pt x="245044" y="28640"/>
                  </a:moveTo>
                  <a:lnTo>
                    <a:pt x="202350" y="28640"/>
                  </a:lnTo>
                  <a:lnTo>
                    <a:pt x="206610" y="33284"/>
                  </a:lnTo>
                  <a:lnTo>
                    <a:pt x="206610" y="43927"/>
                  </a:lnTo>
                  <a:lnTo>
                    <a:pt x="202350" y="48184"/>
                  </a:lnTo>
                  <a:lnTo>
                    <a:pt x="244607" y="48184"/>
                  </a:lnTo>
                  <a:lnTo>
                    <a:pt x="274383" y="38315"/>
                  </a:lnTo>
                  <a:lnTo>
                    <a:pt x="245044" y="28640"/>
                  </a:lnTo>
                  <a:close/>
                </a:path>
              </a:pathLst>
            </a:custGeom>
            <a:solidFill>
              <a:srgbClr val="000000"/>
            </a:solidFill>
          </p:spPr>
          <p:txBody>
            <a:bodyPr wrap="square" lIns="0" tIns="0" rIns="0" bIns="0" rtlCol="0"/>
            <a:lstStyle/>
            <a:p/>
          </p:txBody>
        </p:sp>
        <p:pic>
          <p:nvPicPr>
            <p:cNvPr id="86" name="object 86" descr=""/>
            <p:cNvPicPr/>
            <p:nvPr/>
          </p:nvPicPr>
          <p:blipFill>
            <a:blip r:embed="rId13" cstate="print"/>
            <a:stretch>
              <a:fillRect/>
            </a:stretch>
          </p:blipFill>
          <p:spPr>
            <a:xfrm>
              <a:off x="8142202" y="3948357"/>
              <a:ext cx="277092" cy="79534"/>
            </a:xfrm>
            <a:prstGeom prst="rect">
              <a:avLst/>
            </a:prstGeom>
          </p:spPr>
        </p:pic>
      </p:grpSp>
      <p:sp>
        <p:nvSpPr>
          <p:cNvPr id="87" name="object 87" descr=""/>
          <p:cNvSpPr txBox="1"/>
          <p:nvPr/>
        </p:nvSpPr>
        <p:spPr>
          <a:xfrm>
            <a:off x="8438465" y="4138000"/>
            <a:ext cx="895350" cy="569595"/>
          </a:xfrm>
          <a:prstGeom prst="rect">
            <a:avLst/>
          </a:prstGeom>
          <a:solidFill>
            <a:srgbClr val="FFCCFF"/>
          </a:solidFill>
          <a:ln w="14408">
            <a:solidFill>
              <a:srgbClr val="000000"/>
            </a:solidFill>
          </a:ln>
        </p:spPr>
        <p:txBody>
          <a:bodyPr wrap="square" lIns="0" tIns="132715" rIns="0" bIns="0" rtlCol="0" vert="horz">
            <a:spAutoFit/>
          </a:bodyPr>
          <a:lstStyle/>
          <a:p>
            <a:pPr algn="ctr" marL="71755">
              <a:lnSpc>
                <a:spcPct val="100000"/>
              </a:lnSpc>
              <a:spcBef>
                <a:spcPts val="1045"/>
              </a:spcBef>
            </a:pPr>
            <a:r>
              <a:rPr dirty="0" sz="1600" spc="-50">
                <a:latin typeface="宋体"/>
                <a:cs typeface="宋体"/>
              </a:rPr>
              <a:t>…</a:t>
            </a:r>
            <a:endParaRPr sz="1600">
              <a:latin typeface="宋体"/>
              <a:cs typeface="宋体"/>
            </a:endParaRPr>
          </a:p>
        </p:txBody>
      </p:sp>
      <p:grpSp>
        <p:nvGrpSpPr>
          <p:cNvPr id="88" name="object 88" descr=""/>
          <p:cNvGrpSpPr/>
          <p:nvPr/>
        </p:nvGrpSpPr>
        <p:grpSpPr>
          <a:xfrm>
            <a:off x="7658068" y="1710564"/>
            <a:ext cx="535940" cy="1889760"/>
            <a:chOff x="7658068" y="1710564"/>
            <a:chExt cx="535940" cy="1889760"/>
          </a:xfrm>
        </p:grpSpPr>
        <p:sp>
          <p:nvSpPr>
            <p:cNvPr id="89" name="object 89" descr=""/>
            <p:cNvSpPr/>
            <p:nvPr/>
          </p:nvSpPr>
          <p:spPr>
            <a:xfrm>
              <a:off x="8114899" y="2330195"/>
              <a:ext cx="78105" cy="1268730"/>
            </a:xfrm>
            <a:custGeom>
              <a:avLst/>
              <a:gdLst/>
              <a:ahLst/>
              <a:cxnLst/>
              <a:rect l="l" t="t" r="r" b="b"/>
              <a:pathLst>
                <a:path w="78104" h="1268729">
                  <a:moveTo>
                    <a:pt x="0" y="1152374"/>
                  </a:moveTo>
                  <a:lnTo>
                    <a:pt x="38533" y="1268288"/>
                  </a:lnTo>
                  <a:lnTo>
                    <a:pt x="61388" y="1200559"/>
                  </a:lnTo>
                  <a:lnTo>
                    <a:pt x="33305" y="1200559"/>
                  </a:lnTo>
                  <a:lnTo>
                    <a:pt x="28658" y="1196495"/>
                  </a:lnTo>
                  <a:lnTo>
                    <a:pt x="28658" y="1181014"/>
                  </a:lnTo>
                  <a:lnTo>
                    <a:pt x="0" y="1152374"/>
                  </a:lnTo>
                  <a:close/>
                </a:path>
                <a:path w="78104" h="1268729">
                  <a:moveTo>
                    <a:pt x="28658" y="1181014"/>
                  </a:moveTo>
                  <a:lnTo>
                    <a:pt x="28658" y="1196495"/>
                  </a:lnTo>
                  <a:lnTo>
                    <a:pt x="33305" y="1200559"/>
                  </a:lnTo>
                  <a:lnTo>
                    <a:pt x="44149" y="1200559"/>
                  </a:lnTo>
                  <a:lnTo>
                    <a:pt x="48215" y="1196495"/>
                  </a:lnTo>
                  <a:lnTo>
                    <a:pt x="48215" y="1190883"/>
                  </a:lnTo>
                  <a:lnTo>
                    <a:pt x="38533" y="1190883"/>
                  </a:lnTo>
                  <a:lnTo>
                    <a:pt x="28658" y="1181014"/>
                  </a:lnTo>
                  <a:close/>
                </a:path>
                <a:path w="78104" h="1268729">
                  <a:moveTo>
                    <a:pt x="77648" y="1152374"/>
                  </a:moveTo>
                  <a:lnTo>
                    <a:pt x="48215" y="1181351"/>
                  </a:lnTo>
                  <a:lnTo>
                    <a:pt x="48215" y="1196495"/>
                  </a:lnTo>
                  <a:lnTo>
                    <a:pt x="44149" y="1200559"/>
                  </a:lnTo>
                  <a:lnTo>
                    <a:pt x="61388" y="1200559"/>
                  </a:lnTo>
                  <a:lnTo>
                    <a:pt x="77648" y="1152374"/>
                  </a:lnTo>
                  <a:close/>
                </a:path>
                <a:path w="78104" h="1268729">
                  <a:moveTo>
                    <a:pt x="44149" y="0"/>
                  </a:moveTo>
                  <a:lnTo>
                    <a:pt x="33305" y="0"/>
                  </a:lnTo>
                  <a:lnTo>
                    <a:pt x="28658" y="4644"/>
                  </a:lnTo>
                  <a:lnTo>
                    <a:pt x="28658" y="1181014"/>
                  </a:lnTo>
                  <a:lnTo>
                    <a:pt x="38533" y="1190883"/>
                  </a:lnTo>
                  <a:lnTo>
                    <a:pt x="48215" y="1181351"/>
                  </a:lnTo>
                  <a:lnTo>
                    <a:pt x="48215" y="4644"/>
                  </a:lnTo>
                  <a:lnTo>
                    <a:pt x="44149" y="0"/>
                  </a:lnTo>
                  <a:close/>
                </a:path>
                <a:path w="78104" h="1268729">
                  <a:moveTo>
                    <a:pt x="48215" y="1181351"/>
                  </a:moveTo>
                  <a:lnTo>
                    <a:pt x="38533" y="1190883"/>
                  </a:lnTo>
                  <a:lnTo>
                    <a:pt x="48215" y="1190883"/>
                  </a:lnTo>
                  <a:lnTo>
                    <a:pt x="48215" y="1181351"/>
                  </a:lnTo>
                  <a:close/>
                </a:path>
              </a:pathLst>
            </a:custGeom>
            <a:solidFill>
              <a:srgbClr val="000000"/>
            </a:solidFill>
          </p:spPr>
          <p:txBody>
            <a:bodyPr wrap="square" lIns="0" tIns="0" rIns="0" bIns="0" rtlCol="0"/>
            <a:lstStyle/>
            <a:p/>
          </p:txBody>
        </p:sp>
        <p:sp>
          <p:nvSpPr>
            <p:cNvPr id="90" name="object 90" descr=""/>
            <p:cNvSpPr/>
            <p:nvPr/>
          </p:nvSpPr>
          <p:spPr>
            <a:xfrm>
              <a:off x="8114899" y="2330195"/>
              <a:ext cx="78105" cy="1268730"/>
            </a:xfrm>
            <a:custGeom>
              <a:avLst/>
              <a:gdLst/>
              <a:ahLst/>
              <a:cxnLst/>
              <a:rect l="l" t="t" r="r" b="b"/>
              <a:pathLst>
                <a:path w="78104" h="1268729">
                  <a:moveTo>
                    <a:pt x="48215" y="9675"/>
                  </a:moveTo>
                  <a:lnTo>
                    <a:pt x="48215" y="1190883"/>
                  </a:lnTo>
                  <a:lnTo>
                    <a:pt x="48215" y="1196495"/>
                  </a:lnTo>
                  <a:lnTo>
                    <a:pt x="44149" y="1200559"/>
                  </a:lnTo>
                  <a:lnTo>
                    <a:pt x="38533" y="1200559"/>
                  </a:lnTo>
                  <a:lnTo>
                    <a:pt x="33305" y="1200559"/>
                  </a:lnTo>
                  <a:lnTo>
                    <a:pt x="28658" y="1196495"/>
                  </a:lnTo>
                  <a:lnTo>
                    <a:pt x="28658" y="1190883"/>
                  </a:lnTo>
                  <a:lnTo>
                    <a:pt x="28658" y="9675"/>
                  </a:lnTo>
                  <a:lnTo>
                    <a:pt x="28658" y="4644"/>
                  </a:lnTo>
                  <a:lnTo>
                    <a:pt x="33305" y="0"/>
                  </a:lnTo>
                  <a:lnTo>
                    <a:pt x="38533" y="0"/>
                  </a:lnTo>
                  <a:lnTo>
                    <a:pt x="44149" y="0"/>
                  </a:lnTo>
                  <a:lnTo>
                    <a:pt x="48215" y="4644"/>
                  </a:lnTo>
                  <a:lnTo>
                    <a:pt x="48215" y="9675"/>
                  </a:lnTo>
                  <a:close/>
                </a:path>
                <a:path w="78104" h="1268729">
                  <a:moveTo>
                    <a:pt x="38533" y="1190883"/>
                  </a:moveTo>
                  <a:lnTo>
                    <a:pt x="77648" y="1152374"/>
                  </a:lnTo>
                  <a:lnTo>
                    <a:pt x="38533" y="1268288"/>
                  </a:lnTo>
                  <a:lnTo>
                    <a:pt x="0" y="1152374"/>
                  </a:lnTo>
                  <a:lnTo>
                    <a:pt x="38533" y="1190883"/>
                  </a:lnTo>
                  <a:close/>
                </a:path>
              </a:pathLst>
            </a:custGeom>
            <a:ln w="3175">
              <a:solidFill>
                <a:srgbClr val="000000"/>
              </a:solidFill>
            </a:ln>
          </p:spPr>
          <p:txBody>
            <a:bodyPr wrap="square" lIns="0" tIns="0" rIns="0" bIns="0" rtlCol="0"/>
            <a:lstStyle/>
            <a:p/>
          </p:txBody>
        </p:sp>
        <p:sp>
          <p:nvSpPr>
            <p:cNvPr id="91" name="object 91" descr=""/>
            <p:cNvSpPr/>
            <p:nvPr/>
          </p:nvSpPr>
          <p:spPr>
            <a:xfrm>
              <a:off x="7665274" y="1710564"/>
              <a:ext cx="488315" cy="629920"/>
            </a:xfrm>
            <a:custGeom>
              <a:avLst/>
              <a:gdLst/>
              <a:ahLst/>
              <a:cxnLst/>
              <a:rect l="l" t="t" r="r" b="b"/>
              <a:pathLst>
                <a:path w="488315" h="629919">
                  <a:moveTo>
                    <a:pt x="0" y="629306"/>
                  </a:moveTo>
                  <a:lnTo>
                    <a:pt x="488157" y="629306"/>
                  </a:lnTo>
                </a:path>
                <a:path w="488315" h="629919">
                  <a:moveTo>
                    <a:pt x="0" y="629306"/>
                  </a:moveTo>
                  <a:lnTo>
                    <a:pt x="0" y="0"/>
                  </a:lnTo>
                </a:path>
              </a:pathLst>
            </a:custGeom>
            <a:ln w="14408">
              <a:solidFill>
                <a:srgbClr val="000000"/>
              </a:solidFill>
            </a:ln>
          </p:spPr>
          <p:txBody>
            <a:bodyPr wrap="square" lIns="0" tIns="0" rIns="0" bIns="0" rtlCol="0"/>
            <a:lstStyle/>
            <a:p/>
          </p:txBody>
        </p:sp>
      </p:grpSp>
      <p:sp>
        <p:nvSpPr>
          <p:cNvPr id="92" name="object 92" descr=""/>
          <p:cNvSpPr txBox="1"/>
          <p:nvPr/>
        </p:nvSpPr>
        <p:spPr>
          <a:xfrm>
            <a:off x="8363802" y="4980995"/>
            <a:ext cx="725170" cy="234950"/>
          </a:xfrm>
          <a:prstGeom prst="rect">
            <a:avLst/>
          </a:prstGeom>
        </p:spPr>
        <p:txBody>
          <a:bodyPr wrap="square" lIns="0" tIns="15240" rIns="0" bIns="0" rtlCol="0" vert="horz">
            <a:spAutoFit/>
          </a:bodyPr>
          <a:lstStyle/>
          <a:p>
            <a:pPr marL="12700">
              <a:lnSpc>
                <a:spcPct val="100000"/>
              </a:lnSpc>
              <a:spcBef>
                <a:spcPts val="120"/>
              </a:spcBef>
            </a:pPr>
            <a:r>
              <a:rPr dirty="0" sz="1350" spc="-15" b="1">
                <a:solidFill>
                  <a:srgbClr val="0000FF"/>
                </a:solidFill>
                <a:latin typeface="宋体"/>
                <a:cs typeface="宋体"/>
              </a:rPr>
              <a:t>物理地址</a:t>
            </a:r>
            <a:endParaRPr sz="1350">
              <a:latin typeface="宋体"/>
              <a:cs typeface="宋体"/>
            </a:endParaRPr>
          </a:p>
        </p:txBody>
      </p:sp>
      <p:sp>
        <p:nvSpPr>
          <p:cNvPr id="93" name="object 93" descr=""/>
          <p:cNvSpPr txBox="1"/>
          <p:nvPr/>
        </p:nvSpPr>
        <p:spPr>
          <a:xfrm>
            <a:off x="7604279" y="5246796"/>
            <a:ext cx="1160145" cy="359410"/>
          </a:xfrm>
          <a:prstGeom prst="rect">
            <a:avLst/>
          </a:prstGeom>
          <a:solidFill>
            <a:srgbClr val="CCFFFF"/>
          </a:solidFill>
          <a:ln w="14525">
            <a:solidFill>
              <a:srgbClr val="000000"/>
            </a:solidFill>
          </a:ln>
        </p:spPr>
        <p:txBody>
          <a:bodyPr wrap="square" lIns="0" tIns="88265" rIns="0" bIns="0" rtlCol="0" vert="horz">
            <a:spAutoFit/>
          </a:bodyPr>
          <a:lstStyle/>
          <a:p>
            <a:pPr marL="200025">
              <a:lnSpc>
                <a:spcPct val="100000"/>
              </a:lnSpc>
              <a:spcBef>
                <a:spcPts val="695"/>
              </a:spcBef>
            </a:pPr>
            <a:r>
              <a:rPr dirty="0" sz="1350" spc="-15" b="1">
                <a:solidFill>
                  <a:srgbClr val="0000FF"/>
                </a:solidFill>
                <a:latin typeface="宋体"/>
                <a:cs typeface="宋体"/>
              </a:rPr>
              <a:t>物理页号</a:t>
            </a:r>
            <a:endParaRPr sz="1350">
              <a:latin typeface="宋体"/>
              <a:cs typeface="宋体"/>
            </a:endParaRPr>
          </a:p>
        </p:txBody>
      </p:sp>
      <p:sp>
        <p:nvSpPr>
          <p:cNvPr id="94" name="object 94" descr=""/>
          <p:cNvSpPr txBox="1"/>
          <p:nvPr/>
        </p:nvSpPr>
        <p:spPr>
          <a:xfrm>
            <a:off x="8763968" y="5246796"/>
            <a:ext cx="1078230" cy="359410"/>
          </a:xfrm>
          <a:prstGeom prst="rect">
            <a:avLst/>
          </a:prstGeom>
          <a:solidFill>
            <a:srgbClr val="FFFF99"/>
          </a:solidFill>
        </p:spPr>
        <p:txBody>
          <a:bodyPr wrap="square" lIns="0" tIns="88265" rIns="0" bIns="0" rtlCol="0" vert="horz">
            <a:spAutoFit/>
          </a:bodyPr>
          <a:lstStyle/>
          <a:p>
            <a:pPr marL="221615">
              <a:lnSpc>
                <a:spcPct val="100000"/>
              </a:lnSpc>
              <a:spcBef>
                <a:spcPts val="695"/>
              </a:spcBef>
            </a:pPr>
            <a:r>
              <a:rPr dirty="0" sz="1350" spc="-15" b="1">
                <a:solidFill>
                  <a:srgbClr val="0000FF"/>
                </a:solidFill>
                <a:latin typeface="宋体"/>
                <a:cs typeface="宋体"/>
              </a:rPr>
              <a:t>页内位移</a:t>
            </a:r>
            <a:endParaRPr sz="1350">
              <a:latin typeface="宋体"/>
              <a:cs typeface="宋体"/>
            </a:endParaRPr>
          </a:p>
        </p:txBody>
      </p:sp>
      <p:grpSp>
        <p:nvGrpSpPr>
          <p:cNvPr id="95" name="object 95" descr=""/>
          <p:cNvGrpSpPr/>
          <p:nvPr/>
        </p:nvGrpSpPr>
        <p:grpSpPr>
          <a:xfrm>
            <a:off x="7597077" y="1710564"/>
            <a:ext cx="2272665" cy="4227195"/>
            <a:chOff x="7597077" y="1710564"/>
            <a:chExt cx="2272665" cy="4227195"/>
          </a:xfrm>
        </p:grpSpPr>
        <p:sp>
          <p:nvSpPr>
            <p:cNvPr id="96" name="object 96" descr=""/>
            <p:cNvSpPr/>
            <p:nvPr/>
          </p:nvSpPr>
          <p:spPr>
            <a:xfrm>
              <a:off x="7604279" y="5246796"/>
              <a:ext cx="2258695" cy="359410"/>
            </a:xfrm>
            <a:custGeom>
              <a:avLst/>
              <a:gdLst/>
              <a:ahLst/>
              <a:cxnLst/>
              <a:rect l="l" t="t" r="r" b="b"/>
              <a:pathLst>
                <a:path w="2258695" h="359410">
                  <a:moveTo>
                    <a:pt x="0" y="359413"/>
                  </a:moveTo>
                  <a:lnTo>
                    <a:pt x="2258190" y="359413"/>
                  </a:lnTo>
                  <a:lnTo>
                    <a:pt x="2258190" y="0"/>
                  </a:lnTo>
                  <a:lnTo>
                    <a:pt x="0" y="0"/>
                  </a:lnTo>
                  <a:lnTo>
                    <a:pt x="0" y="359413"/>
                  </a:lnTo>
                  <a:close/>
                </a:path>
              </a:pathLst>
            </a:custGeom>
            <a:ln w="14404">
              <a:solidFill>
                <a:srgbClr val="000000"/>
              </a:solidFill>
            </a:ln>
          </p:spPr>
          <p:txBody>
            <a:bodyPr wrap="square" lIns="0" tIns="0" rIns="0" bIns="0" rtlCol="0"/>
            <a:lstStyle/>
            <a:p/>
          </p:txBody>
        </p:sp>
        <p:sp>
          <p:nvSpPr>
            <p:cNvPr id="97" name="object 97" descr=""/>
            <p:cNvSpPr/>
            <p:nvPr/>
          </p:nvSpPr>
          <p:spPr>
            <a:xfrm>
              <a:off x="8763969" y="5246776"/>
              <a:ext cx="0" cy="360045"/>
            </a:xfrm>
            <a:custGeom>
              <a:avLst/>
              <a:gdLst/>
              <a:ahLst/>
              <a:cxnLst/>
              <a:rect l="l" t="t" r="r" b="b"/>
              <a:pathLst>
                <a:path w="0" h="360045">
                  <a:moveTo>
                    <a:pt x="0" y="0"/>
                  </a:moveTo>
                  <a:lnTo>
                    <a:pt x="0" y="359432"/>
                  </a:lnTo>
                </a:path>
              </a:pathLst>
            </a:custGeom>
            <a:ln w="14413">
              <a:solidFill>
                <a:srgbClr val="000000"/>
              </a:solidFill>
            </a:ln>
          </p:spPr>
          <p:txBody>
            <a:bodyPr wrap="square" lIns="0" tIns="0" rIns="0" bIns="0" rtlCol="0"/>
            <a:lstStyle/>
            <a:p/>
          </p:txBody>
        </p:sp>
        <p:sp>
          <p:nvSpPr>
            <p:cNvPr id="98" name="object 98" descr=""/>
            <p:cNvSpPr/>
            <p:nvPr/>
          </p:nvSpPr>
          <p:spPr>
            <a:xfrm>
              <a:off x="8094373" y="4967594"/>
              <a:ext cx="78105" cy="279400"/>
            </a:xfrm>
            <a:custGeom>
              <a:avLst/>
              <a:gdLst/>
              <a:ahLst/>
              <a:cxnLst/>
              <a:rect l="l" t="t" r="r" b="b"/>
              <a:pathLst>
                <a:path w="78104" h="279400">
                  <a:moveTo>
                    <a:pt x="0" y="163248"/>
                  </a:moveTo>
                  <a:lnTo>
                    <a:pt x="38533" y="279182"/>
                  </a:lnTo>
                  <a:lnTo>
                    <a:pt x="61378" y="211471"/>
                  </a:lnTo>
                  <a:lnTo>
                    <a:pt x="33499" y="211471"/>
                  </a:lnTo>
                  <a:lnTo>
                    <a:pt x="29239" y="207311"/>
                  </a:lnTo>
                  <a:lnTo>
                    <a:pt x="29239" y="192454"/>
                  </a:lnTo>
                  <a:lnTo>
                    <a:pt x="0" y="163248"/>
                  </a:lnTo>
                  <a:close/>
                </a:path>
                <a:path w="78104" h="279400">
                  <a:moveTo>
                    <a:pt x="29239" y="192454"/>
                  </a:moveTo>
                  <a:lnTo>
                    <a:pt x="29239" y="207311"/>
                  </a:lnTo>
                  <a:lnTo>
                    <a:pt x="33499" y="211471"/>
                  </a:lnTo>
                  <a:lnTo>
                    <a:pt x="44149" y="211471"/>
                  </a:lnTo>
                  <a:lnTo>
                    <a:pt x="48796" y="207311"/>
                  </a:lnTo>
                  <a:lnTo>
                    <a:pt x="48796" y="201738"/>
                  </a:lnTo>
                  <a:lnTo>
                    <a:pt x="38533" y="201738"/>
                  </a:lnTo>
                  <a:lnTo>
                    <a:pt x="29239" y="192454"/>
                  </a:lnTo>
                  <a:close/>
                </a:path>
                <a:path w="78104" h="279400">
                  <a:moveTo>
                    <a:pt x="77648" y="163248"/>
                  </a:moveTo>
                  <a:lnTo>
                    <a:pt x="48796" y="191639"/>
                  </a:lnTo>
                  <a:lnTo>
                    <a:pt x="48796" y="207311"/>
                  </a:lnTo>
                  <a:lnTo>
                    <a:pt x="44149" y="211471"/>
                  </a:lnTo>
                  <a:lnTo>
                    <a:pt x="61378" y="211471"/>
                  </a:lnTo>
                  <a:lnTo>
                    <a:pt x="77648" y="163248"/>
                  </a:lnTo>
                  <a:close/>
                </a:path>
                <a:path w="78104" h="279400">
                  <a:moveTo>
                    <a:pt x="44149" y="0"/>
                  </a:moveTo>
                  <a:lnTo>
                    <a:pt x="33499" y="0"/>
                  </a:lnTo>
                  <a:lnTo>
                    <a:pt x="29239" y="4179"/>
                  </a:lnTo>
                  <a:lnTo>
                    <a:pt x="29239" y="192454"/>
                  </a:lnTo>
                  <a:lnTo>
                    <a:pt x="38533" y="201738"/>
                  </a:lnTo>
                  <a:lnTo>
                    <a:pt x="48796" y="191639"/>
                  </a:lnTo>
                  <a:lnTo>
                    <a:pt x="48796" y="4179"/>
                  </a:lnTo>
                  <a:lnTo>
                    <a:pt x="44149" y="0"/>
                  </a:lnTo>
                  <a:close/>
                </a:path>
                <a:path w="78104" h="279400">
                  <a:moveTo>
                    <a:pt x="48796" y="191639"/>
                  </a:moveTo>
                  <a:lnTo>
                    <a:pt x="38533" y="201738"/>
                  </a:lnTo>
                  <a:lnTo>
                    <a:pt x="48796" y="201738"/>
                  </a:lnTo>
                  <a:lnTo>
                    <a:pt x="48796" y="191639"/>
                  </a:lnTo>
                  <a:close/>
                </a:path>
              </a:pathLst>
            </a:custGeom>
            <a:solidFill>
              <a:srgbClr val="000000"/>
            </a:solidFill>
          </p:spPr>
          <p:txBody>
            <a:bodyPr wrap="square" lIns="0" tIns="0" rIns="0" bIns="0" rtlCol="0"/>
            <a:lstStyle/>
            <a:p/>
          </p:txBody>
        </p:sp>
        <p:pic>
          <p:nvPicPr>
            <p:cNvPr id="99" name="object 99" descr=""/>
            <p:cNvPicPr/>
            <p:nvPr/>
          </p:nvPicPr>
          <p:blipFill>
            <a:blip r:embed="rId14" cstate="print"/>
            <a:stretch>
              <a:fillRect/>
            </a:stretch>
          </p:blipFill>
          <p:spPr>
            <a:xfrm>
              <a:off x="8093018" y="4966238"/>
              <a:ext cx="80358" cy="281892"/>
            </a:xfrm>
            <a:prstGeom prst="rect">
              <a:avLst/>
            </a:prstGeom>
          </p:spPr>
        </p:pic>
        <p:sp>
          <p:nvSpPr>
            <p:cNvPr id="100" name="object 100" descr=""/>
            <p:cNvSpPr/>
            <p:nvPr/>
          </p:nvSpPr>
          <p:spPr>
            <a:xfrm>
              <a:off x="8132907" y="1710564"/>
              <a:ext cx="1485900" cy="3266440"/>
            </a:xfrm>
            <a:custGeom>
              <a:avLst/>
              <a:gdLst/>
              <a:ahLst/>
              <a:cxnLst/>
              <a:rect l="l" t="t" r="r" b="b"/>
              <a:pathLst>
                <a:path w="1485900" h="3266440">
                  <a:moveTo>
                    <a:pt x="0" y="3266298"/>
                  </a:moveTo>
                  <a:lnTo>
                    <a:pt x="1342869" y="3266298"/>
                  </a:lnTo>
                </a:path>
                <a:path w="1485900" h="3266440">
                  <a:moveTo>
                    <a:pt x="1200546" y="2277462"/>
                  </a:moveTo>
                  <a:lnTo>
                    <a:pt x="1342869" y="2277462"/>
                  </a:lnTo>
                </a:path>
                <a:path w="1485900" h="3266440">
                  <a:moveTo>
                    <a:pt x="1342869" y="2277462"/>
                  </a:moveTo>
                  <a:lnTo>
                    <a:pt x="1342869" y="3266298"/>
                  </a:lnTo>
                </a:path>
                <a:path w="1485900" h="3266440">
                  <a:moveTo>
                    <a:pt x="508683" y="0"/>
                  </a:moveTo>
                  <a:lnTo>
                    <a:pt x="508683" y="419731"/>
                  </a:lnTo>
                </a:path>
                <a:path w="1485900" h="3266440">
                  <a:moveTo>
                    <a:pt x="508683" y="419731"/>
                  </a:moveTo>
                  <a:lnTo>
                    <a:pt x="1485580" y="419731"/>
                  </a:lnTo>
                </a:path>
              </a:pathLst>
            </a:custGeom>
            <a:ln w="14408">
              <a:solidFill>
                <a:srgbClr val="000000"/>
              </a:solidFill>
            </a:ln>
          </p:spPr>
          <p:txBody>
            <a:bodyPr wrap="square" lIns="0" tIns="0" rIns="0" bIns="0" rtlCol="0"/>
            <a:lstStyle/>
            <a:p/>
          </p:txBody>
        </p:sp>
        <p:sp>
          <p:nvSpPr>
            <p:cNvPr id="101" name="object 101" descr=""/>
            <p:cNvSpPr/>
            <p:nvPr/>
          </p:nvSpPr>
          <p:spPr>
            <a:xfrm>
              <a:off x="9579373" y="2120620"/>
              <a:ext cx="78105" cy="3096895"/>
            </a:xfrm>
            <a:custGeom>
              <a:avLst/>
              <a:gdLst/>
              <a:ahLst/>
              <a:cxnLst/>
              <a:rect l="l" t="t" r="r" b="b"/>
              <a:pathLst>
                <a:path w="78104" h="3096895">
                  <a:moveTo>
                    <a:pt x="0" y="2980072"/>
                  </a:moveTo>
                  <a:lnTo>
                    <a:pt x="39114" y="3096490"/>
                  </a:lnTo>
                  <a:lnTo>
                    <a:pt x="61526" y="3028779"/>
                  </a:lnTo>
                  <a:lnTo>
                    <a:pt x="33499" y="3028779"/>
                  </a:lnTo>
                  <a:lnTo>
                    <a:pt x="29239" y="3024135"/>
                  </a:lnTo>
                  <a:lnTo>
                    <a:pt x="29239" y="3009239"/>
                  </a:lnTo>
                  <a:lnTo>
                    <a:pt x="0" y="2980072"/>
                  </a:lnTo>
                  <a:close/>
                </a:path>
                <a:path w="78104" h="3096895">
                  <a:moveTo>
                    <a:pt x="29286" y="3009239"/>
                  </a:moveTo>
                  <a:lnTo>
                    <a:pt x="29239" y="3024135"/>
                  </a:lnTo>
                  <a:lnTo>
                    <a:pt x="33499" y="3028779"/>
                  </a:lnTo>
                  <a:lnTo>
                    <a:pt x="44149" y="3028779"/>
                  </a:lnTo>
                  <a:lnTo>
                    <a:pt x="48796" y="3024135"/>
                  </a:lnTo>
                  <a:lnTo>
                    <a:pt x="48796" y="3019026"/>
                  </a:lnTo>
                  <a:lnTo>
                    <a:pt x="39114" y="3019026"/>
                  </a:lnTo>
                  <a:lnTo>
                    <a:pt x="29286" y="3009239"/>
                  </a:lnTo>
                  <a:close/>
                </a:path>
                <a:path w="78104" h="3096895">
                  <a:moveTo>
                    <a:pt x="77648" y="2980072"/>
                  </a:moveTo>
                  <a:lnTo>
                    <a:pt x="48796" y="3009239"/>
                  </a:lnTo>
                  <a:lnTo>
                    <a:pt x="48796" y="3024135"/>
                  </a:lnTo>
                  <a:lnTo>
                    <a:pt x="44149" y="3028779"/>
                  </a:lnTo>
                  <a:lnTo>
                    <a:pt x="61526" y="3028779"/>
                  </a:lnTo>
                  <a:lnTo>
                    <a:pt x="77648" y="2980072"/>
                  </a:lnTo>
                  <a:close/>
                </a:path>
                <a:path w="78104" h="3096895">
                  <a:moveTo>
                    <a:pt x="44149" y="0"/>
                  </a:moveTo>
                  <a:lnTo>
                    <a:pt x="33499" y="0"/>
                  </a:lnTo>
                  <a:lnTo>
                    <a:pt x="29239" y="4063"/>
                  </a:lnTo>
                  <a:lnTo>
                    <a:pt x="29286" y="3009239"/>
                  </a:lnTo>
                  <a:lnTo>
                    <a:pt x="39114" y="3019026"/>
                  </a:lnTo>
                  <a:lnTo>
                    <a:pt x="48796" y="3009239"/>
                  </a:lnTo>
                  <a:lnTo>
                    <a:pt x="48796" y="4063"/>
                  </a:lnTo>
                  <a:lnTo>
                    <a:pt x="44149" y="0"/>
                  </a:lnTo>
                  <a:close/>
                </a:path>
                <a:path w="78104" h="3096895">
                  <a:moveTo>
                    <a:pt x="48796" y="3009239"/>
                  </a:moveTo>
                  <a:lnTo>
                    <a:pt x="39114" y="3019026"/>
                  </a:lnTo>
                  <a:lnTo>
                    <a:pt x="48796" y="3019026"/>
                  </a:lnTo>
                  <a:lnTo>
                    <a:pt x="48796" y="3009239"/>
                  </a:lnTo>
                  <a:close/>
                </a:path>
              </a:pathLst>
            </a:custGeom>
            <a:solidFill>
              <a:srgbClr val="000000"/>
            </a:solidFill>
          </p:spPr>
          <p:txBody>
            <a:bodyPr wrap="square" lIns="0" tIns="0" rIns="0" bIns="0" rtlCol="0"/>
            <a:lstStyle/>
            <a:p/>
          </p:txBody>
        </p:sp>
        <p:sp>
          <p:nvSpPr>
            <p:cNvPr id="102" name="object 102" descr=""/>
            <p:cNvSpPr/>
            <p:nvPr/>
          </p:nvSpPr>
          <p:spPr>
            <a:xfrm>
              <a:off x="9579373" y="2120620"/>
              <a:ext cx="78105" cy="3096895"/>
            </a:xfrm>
            <a:custGeom>
              <a:avLst/>
              <a:gdLst/>
              <a:ahLst/>
              <a:cxnLst/>
              <a:rect l="l" t="t" r="r" b="b"/>
              <a:pathLst>
                <a:path w="78104" h="3096895">
                  <a:moveTo>
                    <a:pt x="48796" y="9675"/>
                  </a:moveTo>
                  <a:lnTo>
                    <a:pt x="48796" y="3019026"/>
                  </a:lnTo>
                  <a:lnTo>
                    <a:pt x="48796" y="3024135"/>
                  </a:lnTo>
                  <a:lnTo>
                    <a:pt x="44149" y="3028779"/>
                  </a:lnTo>
                  <a:lnTo>
                    <a:pt x="39114" y="3028779"/>
                  </a:lnTo>
                  <a:lnTo>
                    <a:pt x="33499" y="3028779"/>
                  </a:lnTo>
                  <a:lnTo>
                    <a:pt x="29239" y="3024135"/>
                  </a:lnTo>
                  <a:lnTo>
                    <a:pt x="29239" y="3019026"/>
                  </a:lnTo>
                  <a:lnTo>
                    <a:pt x="29239" y="9675"/>
                  </a:lnTo>
                  <a:lnTo>
                    <a:pt x="29239" y="4063"/>
                  </a:lnTo>
                  <a:lnTo>
                    <a:pt x="33499" y="0"/>
                  </a:lnTo>
                  <a:lnTo>
                    <a:pt x="39114" y="0"/>
                  </a:lnTo>
                  <a:lnTo>
                    <a:pt x="44149" y="0"/>
                  </a:lnTo>
                  <a:lnTo>
                    <a:pt x="48796" y="4063"/>
                  </a:lnTo>
                  <a:lnTo>
                    <a:pt x="48796" y="9675"/>
                  </a:lnTo>
                  <a:close/>
                </a:path>
                <a:path w="78104" h="3096895">
                  <a:moveTo>
                    <a:pt x="39114" y="3019026"/>
                  </a:moveTo>
                  <a:lnTo>
                    <a:pt x="77648" y="2980072"/>
                  </a:lnTo>
                  <a:lnTo>
                    <a:pt x="39114" y="3096490"/>
                  </a:lnTo>
                  <a:lnTo>
                    <a:pt x="0" y="2980072"/>
                  </a:lnTo>
                  <a:lnTo>
                    <a:pt x="39114" y="3019026"/>
                  </a:lnTo>
                  <a:close/>
                </a:path>
              </a:pathLst>
            </a:custGeom>
            <a:ln w="3175">
              <a:solidFill>
                <a:srgbClr val="000000"/>
              </a:solidFill>
            </a:ln>
          </p:spPr>
          <p:txBody>
            <a:bodyPr wrap="square" lIns="0" tIns="0" rIns="0" bIns="0" rtlCol="0"/>
            <a:lstStyle/>
            <a:p/>
          </p:txBody>
        </p:sp>
        <p:sp>
          <p:nvSpPr>
            <p:cNvPr id="103" name="object 103" descr=""/>
            <p:cNvSpPr/>
            <p:nvPr/>
          </p:nvSpPr>
          <p:spPr>
            <a:xfrm>
              <a:off x="7604279" y="5636358"/>
              <a:ext cx="2258695" cy="90170"/>
            </a:xfrm>
            <a:custGeom>
              <a:avLst/>
              <a:gdLst/>
              <a:ahLst/>
              <a:cxnLst/>
              <a:rect l="l" t="t" r="r" b="b"/>
              <a:pathLst>
                <a:path w="2258695" h="90170">
                  <a:moveTo>
                    <a:pt x="0" y="0"/>
                  </a:moveTo>
                  <a:lnTo>
                    <a:pt x="14788" y="17395"/>
                  </a:lnTo>
                  <a:lnTo>
                    <a:pt x="55138" y="31702"/>
                  </a:lnTo>
                  <a:lnTo>
                    <a:pt x="115020" y="41401"/>
                  </a:lnTo>
                  <a:lnTo>
                    <a:pt x="188408" y="44972"/>
                  </a:lnTo>
                  <a:lnTo>
                    <a:pt x="941073" y="44972"/>
                  </a:lnTo>
                  <a:lnTo>
                    <a:pt x="1014371" y="48481"/>
                  </a:lnTo>
                  <a:lnTo>
                    <a:pt x="1074053" y="58078"/>
                  </a:lnTo>
                  <a:lnTo>
                    <a:pt x="1114203" y="72370"/>
                  </a:lnTo>
                  <a:lnTo>
                    <a:pt x="1128901" y="89964"/>
                  </a:lnTo>
                  <a:lnTo>
                    <a:pt x="1143690" y="72370"/>
                  </a:lnTo>
                  <a:lnTo>
                    <a:pt x="1184039" y="58078"/>
                  </a:lnTo>
                  <a:lnTo>
                    <a:pt x="1243921" y="48481"/>
                  </a:lnTo>
                  <a:lnTo>
                    <a:pt x="1317309" y="44972"/>
                  </a:lnTo>
                  <a:lnTo>
                    <a:pt x="2069975" y="44972"/>
                  </a:lnTo>
                  <a:lnTo>
                    <a:pt x="2143333" y="41401"/>
                  </a:lnTo>
                  <a:lnTo>
                    <a:pt x="2203149" y="31702"/>
                  </a:lnTo>
                  <a:lnTo>
                    <a:pt x="2243431" y="17395"/>
                  </a:lnTo>
                  <a:lnTo>
                    <a:pt x="2258190" y="0"/>
                  </a:lnTo>
                </a:path>
              </a:pathLst>
            </a:custGeom>
            <a:ln w="14404">
              <a:solidFill>
                <a:srgbClr val="000000"/>
              </a:solidFill>
            </a:ln>
          </p:spPr>
          <p:txBody>
            <a:bodyPr wrap="square" lIns="0" tIns="0" rIns="0" bIns="0" rtlCol="0"/>
            <a:lstStyle/>
            <a:p/>
          </p:txBody>
        </p:sp>
        <p:pic>
          <p:nvPicPr>
            <p:cNvPr id="104" name="object 104" descr=""/>
            <p:cNvPicPr/>
            <p:nvPr/>
          </p:nvPicPr>
          <p:blipFill>
            <a:blip r:embed="rId15" cstate="print"/>
            <a:stretch>
              <a:fillRect/>
            </a:stretch>
          </p:blipFill>
          <p:spPr>
            <a:xfrm>
              <a:off x="8706265" y="5715233"/>
              <a:ext cx="80358" cy="222058"/>
            </a:xfrm>
            <a:prstGeom prst="rect">
              <a:avLst/>
            </a:prstGeom>
          </p:spPr>
        </p:pic>
      </p:grpSp>
      <p:sp>
        <p:nvSpPr>
          <p:cNvPr id="105" name="object 105" descr=""/>
          <p:cNvSpPr txBox="1"/>
          <p:nvPr/>
        </p:nvSpPr>
        <p:spPr>
          <a:xfrm>
            <a:off x="8382391" y="5939145"/>
            <a:ext cx="725170" cy="234950"/>
          </a:xfrm>
          <a:prstGeom prst="rect">
            <a:avLst/>
          </a:prstGeom>
        </p:spPr>
        <p:txBody>
          <a:bodyPr wrap="square" lIns="0" tIns="15240" rIns="0" bIns="0" rtlCol="0" vert="horz">
            <a:spAutoFit/>
          </a:bodyPr>
          <a:lstStyle/>
          <a:p>
            <a:pPr marL="12700">
              <a:lnSpc>
                <a:spcPct val="100000"/>
              </a:lnSpc>
              <a:spcBef>
                <a:spcPts val="120"/>
              </a:spcBef>
            </a:pPr>
            <a:r>
              <a:rPr dirty="0" sz="1350" spc="-15" b="1">
                <a:latin typeface="宋体"/>
                <a:cs typeface="宋体"/>
              </a:rPr>
              <a:t>主存储器</a:t>
            </a:r>
            <a:endParaRPr sz="1350">
              <a:latin typeface="宋体"/>
              <a:cs typeface="宋体"/>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169/170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761870" y="24129"/>
            <a:ext cx="2513965" cy="452120"/>
          </a:xfrm>
          <a:prstGeom prst="rect"/>
        </p:spPr>
        <p:txBody>
          <a:bodyPr wrap="square" lIns="0" tIns="12065" rIns="0" bIns="0" rtlCol="0" vert="horz">
            <a:spAutoFit/>
          </a:bodyPr>
          <a:lstStyle/>
          <a:p>
            <a:pPr marL="12700">
              <a:lnSpc>
                <a:spcPct val="100000"/>
              </a:lnSpc>
              <a:spcBef>
                <a:spcPts val="95"/>
              </a:spcBef>
              <a:tabLst>
                <a:tab pos="724535" algn="l"/>
              </a:tabLst>
            </a:pPr>
            <a:r>
              <a:rPr dirty="0" u="none" spc="-25"/>
              <a:t>7.7</a:t>
            </a:r>
            <a:r>
              <a:rPr dirty="0" u="none"/>
              <a:t>	</a:t>
            </a:r>
            <a:r>
              <a:rPr dirty="0" u="none" spc="-40"/>
              <a:t>虚拟存储器</a:t>
            </a:r>
          </a:p>
        </p:txBody>
      </p:sp>
      <p:sp>
        <p:nvSpPr>
          <p:cNvPr id="10" name="object 10" descr=""/>
          <p:cNvSpPr txBox="1"/>
          <p:nvPr/>
        </p:nvSpPr>
        <p:spPr>
          <a:xfrm>
            <a:off x="1622805" y="1139317"/>
            <a:ext cx="9490075" cy="3697604"/>
          </a:xfrm>
          <a:prstGeom prst="rect">
            <a:avLst/>
          </a:prstGeom>
        </p:spPr>
        <p:txBody>
          <a:bodyPr wrap="square" lIns="0" tIns="122555" rIns="0" bIns="0" rtlCol="0" vert="horz">
            <a:spAutoFit/>
          </a:bodyPr>
          <a:lstStyle/>
          <a:p>
            <a:pPr marL="283210" indent="-270510">
              <a:lnSpc>
                <a:spcPct val="100000"/>
              </a:lnSpc>
              <a:spcBef>
                <a:spcPts val="965"/>
              </a:spcBef>
              <a:buSzPct val="89583"/>
              <a:buFont typeface="Wingdings"/>
              <a:buChar char=""/>
              <a:tabLst>
                <a:tab pos="283210" algn="l"/>
              </a:tabLst>
            </a:pPr>
            <a:r>
              <a:rPr dirty="0" sz="2400">
                <a:solidFill>
                  <a:srgbClr val="40458B"/>
                </a:solidFill>
                <a:latin typeface="黑体"/>
                <a:cs typeface="黑体"/>
              </a:rPr>
              <a:t>最后的</a:t>
            </a:r>
            <a:r>
              <a:rPr dirty="0" sz="2400">
                <a:solidFill>
                  <a:srgbClr val="9933FF"/>
                </a:solidFill>
                <a:latin typeface="Times New Roman"/>
                <a:cs typeface="Times New Roman"/>
              </a:rPr>
              <a:t>12</a:t>
            </a:r>
            <a:r>
              <a:rPr dirty="0" sz="2400" spc="-5">
                <a:solidFill>
                  <a:srgbClr val="40458B"/>
                </a:solidFill>
                <a:latin typeface="黑体"/>
                <a:cs typeface="黑体"/>
              </a:rPr>
              <a:t>位包括保护和使用信息。</a:t>
            </a:r>
            <a:endParaRPr sz="2400">
              <a:latin typeface="黑体"/>
              <a:cs typeface="黑体"/>
            </a:endParaRPr>
          </a:p>
          <a:p>
            <a:pPr marL="927100">
              <a:lnSpc>
                <a:spcPct val="100000"/>
              </a:lnSpc>
              <a:spcBef>
                <a:spcPts val="870"/>
              </a:spcBef>
            </a:pPr>
            <a:r>
              <a:rPr dirty="0" sz="2400" spc="-5">
                <a:solidFill>
                  <a:srgbClr val="40458B"/>
                </a:solidFill>
                <a:latin typeface="黑体"/>
                <a:cs typeface="黑体"/>
              </a:rPr>
              <a:t>不同级的页表中有所不同，但大都包含以下基本字段：</a:t>
            </a:r>
            <a:endParaRPr sz="2400">
              <a:latin typeface="黑体"/>
              <a:cs typeface="黑体"/>
            </a:endParaRPr>
          </a:p>
          <a:p>
            <a:pPr lvl="1" marL="1097280" indent="-457200">
              <a:lnSpc>
                <a:spcPct val="100000"/>
              </a:lnSpc>
              <a:spcBef>
                <a:spcPts val="770"/>
              </a:spcBef>
              <a:buClr>
                <a:srgbClr val="4668F5"/>
              </a:buClr>
              <a:buSzPct val="60000"/>
              <a:buFont typeface="Wingdings"/>
              <a:buChar char=""/>
              <a:tabLst>
                <a:tab pos="1097280" algn="l"/>
              </a:tabLst>
            </a:pPr>
            <a:r>
              <a:rPr dirty="0" sz="2000" spc="-10" b="1">
                <a:solidFill>
                  <a:srgbClr val="D50092"/>
                </a:solidFill>
                <a:latin typeface="宋体"/>
                <a:cs typeface="宋体"/>
              </a:rPr>
              <a:t>存在位：</a:t>
            </a:r>
            <a:r>
              <a:rPr dirty="0" sz="2000" spc="-20" b="1">
                <a:solidFill>
                  <a:srgbClr val="00AFEF"/>
                </a:solidFill>
                <a:latin typeface="宋体"/>
                <a:cs typeface="宋体"/>
              </a:rPr>
              <a:t>说明该页面在存储器中。</a:t>
            </a:r>
            <a:endParaRPr sz="2000">
              <a:latin typeface="宋体"/>
              <a:cs typeface="宋体"/>
            </a:endParaRPr>
          </a:p>
          <a:p>
            <a:pPr lvl="1" marL="1097280" indent="-457200">
              <a:lnSpc>
                <a:spcPct val="100000"/>
              </a:lnSpc>
              <a:spcBef>
                <a:spcPts val="720"/>
              </a:spcBef>
              <a:buClr>
                <a:srgbClr val="4668F5"/>
              </a:buClr>
              <a:buSzPct val="60000"/>
              <a:buFont typeface="Wingdings"/>
              <a:buChar char=""/>
              <a:tabLst>
                <a:tab pos="1097280" algn="l"/>
              </a:tabLst>
            </a:pPr>
            <a:r>
              <a:rPr dirty="0" sz="2000" spc="-10" b="1">
                <a:solidFill>
                  <a:srgbClr val="D50092"/>
                </a:solidFill>
                <a:latin typeface="宋体"/>
                <a:cs typeface="宋体"/>
              </a:rPr>
              <a:t>读</a:t>
            </a:r>
            <a:r>
              <a:rPr dirty="0" sz="2000" b="1">
                <a:solidFill>
                  <a:srgbClr val="D50092"/>
                </a:solidFill>
                <a:latin typeface="Times New Roman"/>
                <a:cs typeface="Times New Roman"/>
              </a:rPr>
              <a:t>/</a:t>
            </a:r>
            <a:r>
              <a:rPr dirty="0" sz="2000" spc="-10" b="1">
                <a:solidFill>
                  <a:srgbClr val="D50092"/>
                </a:solidFill>
                <a:latin typeface="宋体"/>
                <a:cs typeface="宋体"/>
              </a:rPr>
              <a:t>写位：</a:t>
            </a:r>
            <a:r>
              <a:rPr dirty="0" sz="2000" spc="-25" b="1">
                <a:solidFill>
                  <a:srgbClr val="00AFEF"/>
                </a:solidFill>
                <a:latin typeface="宋体"/>
                <a:cs typeface="宋体"/>
              </a:rPr>
              <a:t>说明该页面是只读还是可读写。</a:t>
            </a:r>
            <a:endParaRPr sz="2000">
              <a:latin typeface="宋体"/>
              <a:cs typeface="宋体"/>
            </a:endParaRPr>
          </a:p>
          <a:p>
            <a:pPr lvl="1" marL="1097280" indent="-457200">
              <a:lnSpc>
                <a:spcPct val="100000"/>
              </a:lnSpc>
              <a:spcBef>
                <a:spcPts val="720"/>
              </a:spcBef>
              <a:buClr>
                <a:srgbClr val="4668F5"/>
              </a:buClr>
              <a:buSzPct val="60000"/>
              <a:buFont typeface="Wingdings"/>
              <a:buChar char=""/>
              <a:tabLst>
                <a:tab pos="1097280" algn="l"/>
              </a:tabLst>
            </a:pPr>
            <a:r>
              <a:rPr dirty="0" sz="2000" spc="-15" b="1">
                <a:solidFill>
                  <a:srgbClr val="D50092"/>
                </a:solidFill>
                <a:latin typeface="宋体"/>
                <a:cs typeface="宋体"/>
              </a:rPr>
              <a:t>用户</a:t>
            </a:r>
            <a:r>
              <a:rPr dirty="0" sz="2000" spc="-10" b="1">
                <a:solidFill>
                  <a:srgbClr val="D50092"/>
                </a:solidFill>
                <a:latin typeface="Times New Roman"/>
                <a:cs typeface="Times New Roman"/>
              </a:rPr>
              <a:t>/</a:t>
            </a:r>
            <a:r>
              <a:rPr dirty="0" sz="2000" spc="-15" b="1">
                <a:solidFill>
                  <a:srgbClr val="D50092"/>
                </a:solidFill>
                <a:latin typeface="宋体"/>
                <a:cs typeface="宋体"/>
              </a:rPr>
              <a:t>管理位：</a:t>
            </a:r>
            <a:r>
              <a:rPr dirty="0" sz="2000" spc="-20" b="1">
                <a:solidFill>
                  <a:srgbClr val="00AFEF"/>
                </a:solidFill>
                <a:latin typeface="宋体"/>
                <a:cs typeface="宋体"/>
              </a:rPr>
              <a:t>说明用户是否能访问此页或只能由上面的</a:t>
            </a:r>
            <a:r>
              <a:rPr dirty="0" sz="2000" spc="-10" b="1">
                <a:solidFill>
                  <a:srgbClr val="00AFEF"/>
                </a:solidFill>
                <a:latin typeface="Times New Roman"/>
                <a:cs typeface="Times New Roman"/>
              </a:rPr>
              <a:t>3</a:t>
            </a:r>
            <a:r>
              <a:rPr dirty="0" sz="2000" spc="-25" b="1">
                <a:solidFill>
                  <a:srgbClr val="00AFEF"/>
                </a:solidFill>
                <a:latin typeface="宋体"/>
                <a:cs typeface="宋体"/>
              </a:rPr>
              <a:t>个特权级所访问。</a:t>
            </a:r>
            <a:endParaRPr sz="2000">
              <a:latin typeface="宋体"/>
              <a:cs typeface="宋体"/>
            </a:endParaRPr>
          </a:p>
          <a:p>
            <a:pPr lvl="1" marL="1097280" indent="-457200">
              <a:lnSpc>
                <a:spcPct val="100000"/>
              </a:lnSpc>
              <a:spcBef>
                <a:spcPts val="720"/>
              </a:spcBef>
              <a:buClr>
                <a:srgbClr val="4668F5"/>
              </a:buClr>
              <a:buSzPct val="60000"/>
              <a:buFont typeface="Wingdings"/>
              <a:buChar char=""/>
              <a:tabLst>
                <a:tab pos="1097280" algn="l"/>
              </a:tabLst>
            </a:pPr>
            <a:r>
              <a:rPr dirty="0" sz="2000" spc="-10" b="1">
                <a:solidFill>
                  <a:srgbClr val="D50092"/>
                </a:solidFill>
                <a:latin typeface="宋体"/>
                <a:cs typeface="宋体"/>
              </a:rPr>
              <a:t>修改位：</a:t>
            </a:r>
            <a:r>
              <a:rPr dirty="0" sz="2000" spc="-20" b="1">
                <a:solidFill>
                  <a:srgbClr val="00AFEF"/>
                </a:solidFill>
                <a:latin typeface="宋体"/>
                <a:cs typeface="宋体"/>
              </a:rPr>
              <a:t>说明该页面已被修改过。</a:t>
            </a:r>
            <a:endParaRPr sz="2000">
              <a:latin typeface="宋体"/>
              <a:cs typeface="宋体"/>
            </a:endParaRPr>
          </a:p>
          <a:p>
            <a:pPr lvl="1" marL="1097280" indent="-457200">
              <a:lnSpc>
                <a:spcPct val="100000"/>
              </a:lnSpc>
              <a:spcBef>
                <a:spcPts val="720"/>
              </a:spcBef>
              <a:buClr>
                <a:srgbClr val="4668F5"/>
              </a:buClr>
              <a:buSzPct val="60000"/>
              <a:buFont typeface="Wingdings"/>
              <a:buChar char=""/>
              <a:tabLst>
                <a:tab pos="1097280" algn="l"/>
              </a:tabLst>
            </a:pPr>
            <a:r>
              <a:rPr dirty="0" sz="2000" spc="-10" b="1">
                <a:solidFill>
                  <a:srgbClr val="D50092"/>
                </a:solidFill>
                <a:latin typeface="宋体"/>
                <a:cs typeface="宋体"/>
              </a:rPr>
              <a:t>访问位：</a:t>
            </a:r>
            <a:r>
              <a:rPr dirty="0" sz="2000" spc="-15" b="1">
                <a:solidFill>
                  <a:srgbClr val="00AFEF"/>
                </a:solidFill>
                <a:latin typeface="宋体"/>
                <a:cs typeface="宋体"/>
              </a:rPr>
              <a:t>说明自上次该位被清</a:t>
            </a:r>
            <a:r>
              <a:rPr dirty="0" sz="2000" b="1">
                <a:solidFill>
                  <a:srgbClr val="00AFEF"/>
                </a:solidFill>
                <a:latin typeface="Times New Roman"/>
                <a:cs typeface="Times New Roman"/>
              </a:rPr>
              <a:t>0</a:t>
            </a:r>
            <a:r>
              <a:rPr dirty="0" sz="2000" spc="-25" b="1">
                <a:solidFill>
                  <a:srgbClr val="00AFEF"/>
                </a:solidFill>
                <a:latin typeface="宋体"/>
                <a:cs typeface="宋体"/>
              </a:rPr>
              <a:t>后到现在，该页面是否被读或写过。</a:t>
            </a:r>
            <a:endParaRPr sz="2000">
              <a:latin typeface="宋体"/>
              <a:cs typeface="宋体"/>
            </a:endParaRPr>
          </a:p>
          <a:p>
            <a:pPr lvl="1" marL="1097280" indent="-457200">
              <a:lnSpc>
                <a:spcPct val="100000"/>
              </a:lnSpc>
              <a:spcBef>
                <a:spcPts val="720"/>
              </a:spcBef>
              <a:buClr>
                <a:srgbClr val="4668F5"/>
              </a:buClr>
              <a:buSzPct val="60000"/>
              <a:buFont typeface="Wingdings"/>
              <a:buChar char=""/>
              <a:tabLst>
                <a:tab pos="1097280" algn="l"/>
              </a:tabLst>
            </a:pPr>
            <a:r>
              <a:rPr dirty="0" sz="2000" spc="-15" b="1">
                <a:solidFill>
                  <a:srgbClr val="D50092"/>
                </a:solidFill>
                <a:latin typeface="宋体"/>
                <a:cs typeface="宋体"/>
              </a:rPr>
              <a:t>页面大小：</a:t>
            </a:r>
            <a:r>
              <a:rPr dirty="0" sz="2000" spc="-20" b="1">
                <a:solidFill>
                  <a:srgbClr val="00AFEF"/>
                </a:solidFill>
                <a:latin typeface="宋体"/>
                <a:cs typeface="宋体"/>
              </a:rPr>
              <a:t>说明最后一级页面是</a:t>
            </a:r>
            <a:r>
              <a:rPr dirty="0" sz="2000" spc="-20" b="1">
                <a:solidFill>
                  <a:srgbClr val="00AFEF"/>
                </a:solidFill>
                <a:latin typeface="Times New Roman"/>
                <a:cs typeface="Times New Roman"/>
              </a:rPr>
              <a:t>4KB</a:t>
            </a:r>
            <a:r>
              <a:rPr dirty="0" sz="2000" spc="-15" b="1">
                <a:solidFill>
                  <a:srgbClr val="00AFEF"/>
                </a:solidFill>
                <a:latin typeface="宋体"/>
                <a:cs typeface="宋体"/>
              </a:rPr>
              <a:t>还是</a:t>
            </a:r>
            <a:r>
              <a:rPr dirty="0" sz="2000" spc="-10" b="1">
                <a:solidFill>
                  <a:srgbClr val="00AFEF"/>
                </a:solidFill>
                <a:latin typeface="Times New Roman"/>
                <a:cs typeface="Times New Roman"/>
              </a:rPr>
              <a:t>4MB</a:t>
            </a:r>
            <a:r>
              <a:rPr dirty="0" sz="2000" spc="-20" b="1">
                <a:solidFill>
                  <a:srgbClr val="00AFEF"/>
                </a:solidFill>
                <a:latin typeface="宋体"/>
                <a:cs typeface="宋体"/>
              </a:rPr>
              <a:t>；如果是</a:t>
            </a:r>
            <a:r>
              <a:rPr dirty="0" sz="2000" spc="-10" b="1">
                <a:solidFill>
                  <a:srgbClr val="00AFEF"/>
                </a:solidFill>
                <a:latin typeface="Times New Roman"/>
                <a:cs typeface="Times New Roman"/>
              </a:rPr>
              <a:t>4MB</a:t>
            </a:r>
            <a:r>
              <a:rPr dirty="0" sz="2000" spc="-15" b="1">
                <a:solidFill>
                  <a:srgbClr val="00AFEF"/>
                </a:solidFill>
                <a:latin typeface="宋体"/>
                <a:cs typeface="宋体"/>
              </a:rPr>
              <a:t>，则</a:t>
            </a:r>
            <a:r>
              <a:rPr dirty="0" sz="2000" spc="-10" b="1">
                <a:solidFill>
                  <a:srgbClr val="00AFEF"/>
                </a:solidFill>
                <a:latin typeface="Times New Roman"/>
                <a:cs typeface="Times New Roman"/>
              </a:rPr>
              <a:t>Opteron</a:t>
            </a:r>
            <a:r>
              <a:rPr dirty="0" sz="2000" spc="-50" b="1">
                <a:solidFill>
                  <a:srgbClr val="00AFEF"/>
                </a:solidFill>
                <a:latin typeface="宋体"/>
                <a:cs typeface="宋体"/>
              </a:rPr>
              <a:t>仅</a:t>
            </a:r>
            <a:endParaRPr sz="2000">
              <a:latin typeface="宋体"/>
              <a:cs typeface="宋体"/>
            </a:endParaRPr>
          </a:p>
          <a:p>
            <a:pPr marL="1097280">
              <a:lnSpc>
                <a:spcPct val="100000"/>
              </a:lnSpc>
              <a:spcBef>
                <a:spcPts val="245"/>
              </a:spcBef>
            </a:pPr>
            <a:r>
              <a:rPr dirty="0" sz="2000" spc="-15" b="1">
                <a:solidFill>
                  <a:srgbClr val="00AFEF"/>
                </a:solidFill>
                <a:latin typeface="宋体"/>
                <a:cs typeface="宋体"/>
              </a:rPr>
              <a:t>使用三级页表而非四级。</a:t>
            </a:r>
            <a:endParaRPr sz="2000">
              <a:latin typeface="宋体"/>
              <a:cs typeface="宋体"/>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170/170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977898"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993139" y="1159009"/>
            <a:ext cx="10135870" cy="3512185"/>
          </a:xfrm>
          <a:prstGeom prst="rect">
            <a:avLst/>
          </a:prstGeom>
        </p:spPr>
        <p:txBody>
          <a:bodyPr wrap="square" lIns="0" tIns="103505" rIns="0" bIns="0" rtlCol="0" vert="horz">
            <a:spAutoFit/>
          </a:bodyPr>
          <a:lstStyle/>
          <a:p>
            <a:pPr marL="1727200" indent="-457200">
              <a:lnSpc>
                <a:spcPct val="100000"/>
              </a:lnSpc>
              <a:spcBef>
                <a:spcPts val="815"/>
              </a:spcBef>
              <a:buClr>
                <a:srgbClr val="4668F5"/>
              </a:buClr>
              <a:buSzPct val="60000"/>
              <a:buFont typeface="Wingdings"/>
              <a:buChar char=""/>
              <a:tabLst>
                <a:tab pos="1727200" algn="l"/>
              </a:tabLst>
            </a:pPr>
            <a:r>
              <a:rPr dirty="0" sz="2000" spc="-10" b="1">
                <a:solidFill>
                  <a:srgbClr val="D50092"/>
                </a:solidFill>
                <a:latin typeface="宋体"/>
                <a:cs typeface="宋体"/>
              </a:rPr>
              <a:t>非执行位：</a:t>
            </a:r>
            <a:r>
              <a:rPr dirty="0" sz="2000" spc="-25" b="1">
                <a:solidFill>
                  <a:srgbClr val="00AFEF"/>
                </a:solidFill>
                <a:latin typeface="宋体"/>
                <a:cs typeface="宋体"/>
              </a:rPr>
              <a:t>在有些页面中用来阻止代码的执行。</a:t>
            </a:r>
            <a:endParaRPr sz="2000">
              <a:latin typeface="宋体"/>
              <a:cs typeface="宋体"/>
            </a:endParaRPr>
          </a:p>
          <a:p>
            <a:pPr marL="1727200" indent="-457200">
              <a:lnSpc>
                <a:spcPct val="100000"/>
              </a:lnSpc>
              <a:spcBef>
                <a:spcPts val="720"/>
              </a:spcBef>
              <a:buClr>
                <a:srgbClr val="4668F5"/>
              </a:buClr>
              <a:buSzPct val="60000"/>
              <a:buFont typeface="Wingdings"/>
              <a:buChar char=""/>
              <a:tabLst>
                <a:tab pos="1727200" algn="l"/>
              </a:tabLst>
            </a:pPr>
            <a:r>
              <a:rPr dirty="0" sz="2000" spc="-15" b="1">
                <a:solidFill>
                  <a:srgbClr val="D50092"/>
                </a:solidFill>
                <a:latin typeface="宋体"/>
                <a:cs typeface="宋体"/>
              </a:rPr>
              <a:t>页级</a:t>
            </a:r>
            <a:r>
              <a:rPr dirty="0" sz="2000" b="1">
                <a:solidFill>
                  <a:srgbClr val="D50092"/>
                </a:solidFill>
                <a:latin typeface="Times New Roman"/>
                <a:cs typeface="Times New Roman"/>
              </a:rPr>
              <a:t>Cache</a:t>
            </a:r>
            <a:r>
              <a:rPr dirty="0" sz="2000" spc="-15" b="1">
                <a:solidFill>
                  <a:srgbClr val="D50092"/>
                </a:solidFill>
                <a:latin typeface="宋体"/>
                <a:cs typeface="宋体"/>
              </a:rPr>
              <a:t>使能：</a:t>
            </a:r>
            <a:r>
              <a:rPr dirty="0" sz="2000" spc="-20" b="1">
                <a:solidFill>
                  <a:srgbClr val="00AFEF"/>
                </a:solidFill>
                <a:latin typeface="宋体"/>
                <a:cs typeface="宋体"/>
              </a:rPr>
              <a:t>说明该页面能否进入</a:t>
            </a:r>
            <a:r>
              <a:rPr dirty="0" sz="2000" spc="-10" b="1">
                <a:solidFill>
                  <a:srgbClr val="00AFEF"/>
                </a:solidFill>
                <a:latin typeface="Times New Roman"/>
                <a:cs typeface="Times New Roman"/>
              </a:rPr>
              <a:t>Cache</a:t>
            </a:r>
            <a:r>
              <a:rPr dirty="0" sz="2000" spc="-50" b="1">
                <a:solidFill>
                  <a:srgbClr val="00AFEF"/>
                </a:solidFill>
                <a:latin typeface="宋体"/>
                <a:cs typeface="宋体"/>
              </a:rPr>
              <a:t>。</a:t>
            </a:r>
            <a:endParaRPr sz="2000">
              <a:latin typeface="宋体"/>
              <a:cs typeface="宋体"/>
            </a:endParaRPr>
          </a:p>
          <a:p>
            <a:pPr marL="1727200" indent="-457200">
              <a:lnSpc>
                <a:spcPct val="100000"/>
              </a:lnSpc>
              <a:spcBef>
                <a:spcPts val="720"/>
              </a:spcBef>
              <a:buClr>
                <a:srgbClr val="4668F5"/>
              </a:buClr>
              <a:buSzPct val="60000"/>
              <a:buFont typeface="Wingdings"/>
              <a:buChar char=""/>
              <a:tabLst>
                <a:tab pos="1727200" algn="l"/>
              </a:tabLst>
            </a:pPr>
            <a:r>
              <a:rPr dirty="0" sz="2000" spc="-10" b="1">
                <a:solidFill>
                  <a:srgbClr val="D50092"/>
                </a:solidFill>
                <a:latin typeface="宋体"/>
                <a:cs typeface="宋体"/>
              </a:rPr>
              <a:t>页级写直达：</a:t>
            </a:r>
            <a:r>
              <a:rPr dirty="0" sz="2000" spc="-15" b="1">
                <a:solidFill>
                  <a:srgbClr val="00AFEF"/>
                </a:solidFill>
                <a:latin typeface="宋体"/>
                <a:cs typeface="宋体"/>
              </a:rPr>
              <a:t>说明该页是允许对数据</a:t>
            </a:r>
            <a:r>
              <a:rPr dirty="0" sz="2000" spc="-10" b="1">
                <a:solidFill>
                  <a:srgbClr val="00AFEF"/>
                </a:solidFill>
                <a:latin typeface="Times New Roman"/>
                <a:cs typeface="Times New Roman"/>
              </a:rPr>
              <a:t>Cache</a:t>
            </a:r>
            <a:r>
              <a:rPr dirty="0" sz="2000" spc="-25" b="1">
                <a:solidFill>
                  <a:srgbClr val="00AFEF"/>
                </a:solidFill>
                <a:latin typeface="宋体"/>
                <a:cs typeface="宋体"/>
              </a:rPr>
              <a:t>进行写回还是写直达。</a:t>
            </a:r>
            <a:endParaRPr sz="2000">
              <a:latin typeface="宋体"/>
              <a:cs typeface="宋体"/>
            </a:endParaRPr>
          </a:p>
          <a:p>
            <a:pPr marL="469900" marR="5080" indent="-457834">
              <a:lnSpc>
                <a:spcPct val="110000"/>
              </a:lnSpc>
              <a:spcBef>
                <a:spcPts val="525"/>
              </a:spcBef>
              <a:buClr>
                <a:srgbClr val="40458B"/>
              </a:buClr>
              <a:buAutoNum type="arabicPeriod" startAt="5"/>
              <a:tabLst>
                <a:tab pos="469900" algn="l"/>
              </a:tabLst>
            </a:pPr>
            <a:r>
              <a:rPr dirty="0" sz="2400">
                <a:solidFill>
                  <a:srgbClr val="E14B04"/>
                </a:solidFill>
                <a:latin typeface="Times New Roman"/>
                <a:cs typeface="Times New Roman"/>
              </a:rPr>
              <a:t>Opteron</a:t>
            </a:r>
            <a:r>
              <a:rPr dirty="0" sz="2400">
                <a:solidFill>
                  <a:srgbClr val="E14B04"/>
                </a:solidFill>
                <a:latin typeface="黑体"/>
                <a:cs typeface="黑体"/>
              </a:rPr>
              <a:t>通常在</a:t>
            </a:r>
            <a:r>
              <a:rPr dirty="0" sz="2400" spc="-10">
                <a:solidFill>
                  <a:srgbClr val="E14B04"/>
                </a:solidFill>
                <a:latin typeface="Times New Roman"/>
                <a:cs typeface="Times New Roman"/>
              </a:rPr>
              <a:t>TLB</a:t>
            </a:r>
            <a:r>
              <a:rPr dirty="0" sz="2400">
                <a:solidFill>
                  <a:srgbClr val="E14B04"/>
                </a:solidFill>
                <a:latin typeface="黑体"/>
                <a:cs typeface="黑体"/>
              </a:rPr>
              <a:t>不命中时要遍历所有四级页表，故有</a:t>
            </a:r>
            <a:r>
              <a:rPr dirty="0" sz="2400">
                <a:solidFill>
                  <a:srgbClr val="9933FF"/>
                </a:solidFill>
                <a:latin typeface="Times New Roman"/>
                <a:cs typeface="Times New Roman"/>
              </a:rPr>
              <a:t>3</a:t>
            </a:r>
            <a:r>
              <a:rPr dirty="0" sz="2400" spc="-10">
                <a:solidFill>
                  <a:srgbClr val="E14B04"/>
                </a:solidFill>
                <a:latin typeface="黑体"/>
                <a:cs typeface="黑体"/>
              </a:rPr>
              <a:t>个位置可以进行</a:t>
            </a:r>
            <a:r>
              <a:rPr dirty="0" sz="2400" spc="-20">
                <a:solidFill>
                  <a:srgbClr val="E14B04"/>
                </a:solidFill>
                <a:latin typeface="黑体"/>
                <a:cs typeface="黑体"/>
              </a:rPr>
              <a:t>保护限制的检查。</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a:solidFill>
                  <a:srgbClr val="40458B"/>
                </a:solidFill>
                <a:latin typeface="黑体"/>
                <a:cs typeface="黑体"/>
              </a:rPr>
              <a:t>仅遵从底层的</a:t>
            </a:r>
            <a:r>
              <a:rPr dirty="0" sz="2400" spc="-10">
                <a:solidFill>
                  <a:srgbClr val="40458B"/>
                </a:solidFill>
                <a:latin typeface="Times New Roman"/>
                <a:cs typeface="Times New Roman"/>
              </a:rPr>
              <a:t>PTE</a:t>
            </a:r>
            <a:r>
              <a:rPr dirty="0" sz="2400" spc="-10">
                <a:solidFill>
                  <a:srgbClr val="40458B"/>
                </a:solidFill>
                <a:latin typeface="黑体"/>
                <a:cs typeface="黑体"/>
              </a:rPr>
              <a:t>，而在其他级上只需确认有效位是有效的即可。</a:t>
            </a:r>
            <a:endParaRPr sz="2400">
              <a:latin typeface="黑体"/>
              <a:cs typeface="黑体"/>
            </a:endParaRPr>
          </a:p>
          <a:p>
            <a:pPr marL="469900" indent="-457200">
              <a:lnSpc>
                <a:spcPct val="100000"/>
              </a:lnSpc>
              <a:spcBef>
                <a:spcPts val="865"/>
              </a:spcBef>
              <a:buClr>
                <a:srgbClr val="40458B"/>
              </a:buClr>
              <a:buFont typeface="Tahoma"/>
              <a:buAutoNum type="arabicPeriod" startAt="5"/>
              <a:tabLst>
                <a:tab pos="469900" algn="l"/>
              </a:tabLst>
            </a:pPr>
            <a:r>
              <a:rPr dirty="0" sz="2400" spc="-5">
                <a:solidFill>
                  <a:srgbClr val="E14B04"/>
                </a:solidFill>
                <a:latin typeface="黑体"/>
                <a:cs typeface="黑体"/>
              </a:rPr>
              <a:t>在保护方面，如何避免用户进行非法的地址转换？</a:t>
            </a:r>
            <a:endParaRPr sz="2400">
              <a:latin typeface="黑体"/>
              <a:cs typeface="黑体"/>
            </a:endParaRPr>
          </a:p>
          <a:p>
            <a:pPr lvl="1" marL="1099185" indent="-457200">
              <a:lnSpc>
                <a:spcPct val="100000"/>
              </a:lnSpc>
              <a:spcBef>
                <a:spcPts val="865"/>
              </a:spcBef>
              <a:buSzPct val="89583"/>
              <a:buFont typeface="Wingdings"/>
              <a:buChar char=""/>
              <a:tabLst>
                <a:tab pos="1099185" algn="l"/>
              </a:tabLst>
            </a:pPr>
            <a:r>
              <a:rPr dirty="0" sz="2400" spc="-15">
                <a:solidFill>
                  <a:srgbClr val="40458B"/>
                </a:solidFill>
                <a:latin typeface="黑体"/>
                <a:cs typeface="黑体"/>
              </a:rPr>
              <a:t>页表本身已经被保护，用户程序无法对它们进行写操作。</a:t>
            </a:r>
            <a:endParaRPr sz="2400">
              <a:latin typeface="黑体"/>
              <a:cs typeface="黑体"/>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171/170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831339"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993139" y="1203325"/>
            <a:ext cx="10100945" cy="4855210"/>
          </a:xfrm>
          <a:prstGeom prst="rect">
            <a:avLst/>
          </a:prstGeom>
        </p:spPr>
        <p:txBody>
          <a:bodyPr wrap="square" lIns="0" tIns="12700" rIns="0" bIns="0" rtlCol="0" vert="horz">
            <a:spAutoFit/>
          </a:bodyPr>
          <a:lstStyle/>
          <a:p>
            <a:pPr marL="1099185" marR="153670" indent="-457200">
              <a:lnSpc>
                <a:spcPct val="120100"/>
              </a:lnSpc>
              <a:spcBef>
                <a:spcPts val="100"/>
              </a:spcBef>
              <a:buSzPct val="89583"/>
              <a:buFont typeface="Wingdings"/>
              <a:buChar char=""/>
              <a:tabLst>
                <a:tab pos="1099185" algn="l"/>
              </a:tabLst>
            </a:pPr>
            <a:r>
              <a:rPr dirty="0" sz="2400" spc="-5">
                <a:solidFill>
                  <a:srgbClr val="40458B"/>
                </a:solidFill>
                <a:latin typeface="黑体"/>
                <a:cs typeface="黑体"/>
              </a:rPr>
              <a:t>操作系统通过控制页表项来控制哪些物理地址可以被访问，哪些不</a:t>
            </a:r>
            <a:r>
              <a:rPr dirty="0" sz="2400" spc="-15">
                <a:solidFill>
                  <a:srgbClr val="40458B"/>
                </a:solidFill>
                <a:latin typeface="黑体"/>
                <a:cs typeface="黑体"/>
              </a:rPr>
              <a:t>能访问。</a:t>
            </a:r>
            <a:endParaRPr sz="2400">
              <a:latin typeface="黑体"/>
              <a:cs typeface="黑体"/>
            </a:endParaRPr>
          </a:p>
          <a:p>
            <a:pPr marL="1099185" marR="153670" indent="-457200">
              <a:lnSpc>
                <a:spcPct val="120000"/>
              </a:lnSpc>
              <a:spcBef>
                <a:spcPts val="575"/>
              </a:spcBef>
              <a:buSzPct val="89583"/>
              <a:buFont typeface="Wingdings"/>
              <a:buChar char=""/>
              <a:tabLst>
                <a:tab pos="1099185" algn="l"/>
              </a:tabLst>
            </a:pPr>
            <a:r>
              <a:rPr dirty="0" sz="2400" spc="-5">
                <a:solidFill>
                  <a:srgbClr val="40458B"/>
                </a:solidFill>
                <a:latin typeface="黑体"/>
                <a:cs typeface="黑体"/>
              </a:rPr>
              <a:t>多个进程共享存储器是通过使各自的地址空间中的一个页表项指向</a:t>
            </a:r>
            <a:r>
              <a:rPr dirty="0" sz="2400" spc="-15">
                <a:solidFill>
                  <a:srgbClr val="40458B"/>
                </a:solidFill>
                <a:latin typeface="黑体"/>
                <a:cs typeface="黑体"/>
              </a:rPr>
              <a:t>同一个物理页面来实现的。</a:t>
            </a:r>
            <a:endParaRPr sz="2400">
              <a:latin typeface="黑体"/>
              <a:cs typeface="黑体"/>
            </a:endParaRPr>
          </a:p>
          <a:p>
            <a:pPr marL="564515" indent="-551815">
              <a:lnSpc>
                <a:spcPct val="100000"/>
              </a:lnSpc>
              <a:spcBef>
                <a:spcPts val="1155"/>
              </a:spcBef>
              <a:buClr>
                <a:srgbClr val="40458B"/>
              </a:buClr>
              <a:buFont typeface="Tahoma"/>
              <a:buAutoNum type="arabicPeriod" startAt="7"/>
              <a:tabLst>
                <a:tab pos="564515" algn="l"/>
              </a:tabLst>
            </a:pPr>
            <a:r>
              <a:rPr dirty="0" sz="2400">
                <a:solidFill>
                  <a:srgbClr val="E14B04"/>
                </a:solidFill>
                <a:latin typeface="Times New Roman"/>
                <a:cs typeface="Times New Roman"/>
              </a:rPr>
              <a:t>Opteron</a:t>
            </a:r>
            <a:r>
              <a:rPr dirty="0" sz="2400">
                <a:solidFill>
                  <a:srgbClr val="E14B04"/>
                </a:solidFill>
                <a:latin typeface="黑体"/>
                <a:cs typeface="黑体"/>
              </a:rPr>
              <a:t>使用</a:t>
            </a:r>
            <a:r>
              <a:rPr dirty="0" sz="2400">
                <a:solidFill>
                  <a:srgbClr val="E14B04"/>
                </a:solidFill>
                <a:latin typeface="Times New Roman"/>
                <a:cs typeface="Times New Roman"/>
              </a:rPr>
              <a:t>4</a:t>
            </a:r>
            <a:r>
              <a:rPr dirty="0" sz="2400">
                <a:solidFill>
                  <a:srgbClr val="E14B04"/>
                </a:solidFill>
                <a:latin typeface="黑体"/>
                <a:cs typeface="黑体"/>
              </a:rPr>
              <a:t>个</a:t>
            </a:r>
            <a:r>
              <a:rPr dirty="0" sz="2400" spc="-10">
                <a:solidFill>
                  <a:srgbClr val="E14B04"/>
                </a:solidFill>
                <a:latin typeface="Times New Roman"/>
                <a:cs typeface="Times New Roman"/>
              </a:rPr>
              <a:t>TLB</a:t>
            </a:r>
            <a:r>
              <a:rPr dirty="0" sz="2400" spc="-10">
                <a:solidFill>
                  <a:srgbClr val="E14B04"/>
                </a:solidFill>
                <a:latin typeface="黑体"/>
                <a:cs typeface="黑体"/>
              </a:rPr>
              <a:t>以减少地址转换时间</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5">
                <a:solidFill>
                  <a:srgbClr val="40458B"/>
                </a:solidFill>
                <a:latin typeface="黑体"/>
                <a:cs typeface="黑体"/>
              </a:rPr>
              <a:t>两个用于访问指令，两个用于访问数据。</a:t>
            </a:r>
            <a:endParaRPr sz="2400">
              <a:latin typeface="黑体"/>
              <a:cs typeface="黑体"/>
            </a:endParaRPr>
          </a:p>
          <a:p>
            <a:pPr marL="469900" indent="-457200">
              <a:lnSpc>
                <a:spcPct val="100000"/>
              </a:lnSpc>
              <a:spcBef>
                <a:spcPts val="1155"/>
              </a:spcBef>
              <a:buClr>
                <a:srgbClr val="40458B"/>
              </a:buClr>
              <a:buFont typeface="Times New Roman"/>
              <a:buAutoNum type="arabicPeriod" startAt="7"/>
              <a:tabLst>
                <a:tab pos="469900" algn="l"/>
              </a:tabLst>
            </a:pPr>
            <a:r>
              <a:rPr dirty="0" sz="2400" spc="-10">
                <a:solidFill>
                  <a:srgbClr val="E14B04"/>
                </a:solidFill>
                <a:latin typeface="黑体"/>
                <a:cs typeface="黑体"/>
              </a:rPr>
              <a:t>和多级</a:t>
            </a:r>
            <a:r>
              <a:rPr dirty="0" sz="2400" spc="-10">
                <a:solidFill>
                  <a:srgbClr val="E14B04"/>
                </a:solidFill>
                <a:latin typeface="Times New Roman"/>
                <a:cs typeface="Times New Roman"/>
              </a:rPr>
              <a:t>Cache</a:t>
            </a:r>
            <a:r>
              <a:rPr dirty="0" sz="2400" spc="-10">
                <a:solidFill>
                  <a:srgbClr val="E14B04"/>
                </a:solidFill>
                <a:latin typeface="黑体"/>
                <a:cs typeface="黑体"/>
              </a:rPr>
              <a:t>类似，</a:t>
            </a:r>
            <a:r>
              <a:rPr dirty="0" sz="2400" spc="-10">
                <a:solidFill>
                  <a:srgbClr val="E14B04"/>
                </a:solidFill>
                <a:latin typeface="Times New Roman"/>
                <a:cs typeface="Times New Roman"/>
              </a:rPr>
              <a:t>Opteron</a:t>
            </a:r>
            <a:r>
              <a:rPr dirty="0" sz="2400" spc="-10">
                <a:solidFill>
                  <a:srgbClr val="E14B04"/>
                </a:solidFill>
                <a:latin typeface="黑体"/>
                <a:cs typeface="黑体"/>
              </a:rPr>
              <a:t>通过采用两个更大的第二级</a:t>
            </a:r>
            <a:r>
              <a:rPr dirty="0" sz="2400" spc="-10">
                <a:solidFill>
                  <a:srgbClr val="E14B04"/>
                </a:solidFill>
                <a:latin typeface="Times New Roman"/>
                <a:cs typeface="Times New Roman"/>
              </a:rPr>
              <a:t>TLB</a:t>
            </a:r>
            <a:r>
              <a:rPr dirty="0" sz="2400" spc="-10">
                <a:solidFill>
                  <a:srgbClr val="E14B04"/>
                </a:solidFill>
                <a:latin typeface="黑体"/>
                <a:cs typeface="黑体"/>
              </a:rPr>
              <a:t>来减少</a:t>
            </a:r>
            <a:r>
              <a:rPr dirty="0" sz="2400" spc="-10">
                <a:solidFill>
                  <a:srgbClr val="E14B04"/>
                </a:solidFill>
                <a:latin typeface="Times New Roman"/>
                <a:cs typeface="Times New Roman"/>
              </a:rPr>
              <a:t>TLB</a:t>
            </a:r>
            <a:r>
              <a:rPr dirty="0" sz="2400" spc="-50">
                <a:solidFill>
                  <a:srgbClr val="E14B04"/>
                </a:solidFill>
                <a:latin typeface="黑体"/>
                <a:cs typeface="黑体"/>
              </a:rPr>
              <a:t>不</a:t>
            </a:r>
            <a:endParaRPr sz="2400">
              <a:latin typeface="黑体"/>
              <a:cs typeface="黑体"/>
            </a:endParaRPr>
          </a:p>
          <a:p>
            <a:pPr marL="469900">
              <a:lnSpc>
                <a:spcPct val="100000"/>
              </a:lnSpc>
              <a:spcBef>
                <a:spcPts val="575"/>
              </a:spcBef>
            </a:pPr>
            <a:r>
              <a:rPr dirty="0" sz="2400" spc="-20">
                <a:solidFill>
                  <a:srgbClr val="E14B04"/>
                </a:solidFill>
                <a:latin typeface="黑体"/>
                <a:cs typeface="黑体"/>
              </a:rPr>
              <a:t>命中。</a:t>
            </a:r>
            <a:endParaRPr sz="2400">
              <a:latin typeface="黑体"/>
              <a:cs typeface="黑体"/>
            </a:endParaRPr>
          </a:p>
          <a:p>
            <a:pPr lvl="1" marL="1099185" indent="-457200">
              <a:lnSpc>
                <a:spcPct val="100000"/>
              </a:lnSpc>
              <a:spcBef>
                <a:spcPts val="1155"/>
              </a:spcBef>
              <a:buSzPct val="89583"/>
              <a:buFont typeface="Wingdings"/>
              <a:buChar char=""/>
              <a:tabLst>
                <a:tab pos="1099185" algn="l"/>
              </a:tabLst>
            </a:pPr>
            <a:r>
              <a:rPr dirty="0" sz="2400" spc="-10">
                <a:solidFill>
                  <a:srgbClr val="40458B"/>
                </a:solidFill>
                <a:latin typeface="黑体"/>
                <a:cs typeface="黑体"/>
              </a:rPr>
              <a:t>一个用于访问指令</a:t>
            </a:r>
            <a:endParaRPr sz="2400">
              <a:latin typeface="黑体"/>
              <a:cs typeface="黑体"/>
            </a:endParaRPr>
          </a:p>
          <a:p>
            <a:pPr lvl="1" marL="1099185" indent="-457200">
              <a:lnSpc>
                <a:spcPct val="100000"/>
              </a:lnSpc>
              <a:spcBef>
                <a:spcPts val="1150"/>
              </a:spcBef>
              <a:buSzPct val="89583"/>
              <a:buFont typeface="Wingdings"/>
              <a:buChar char=""/>
              <a:tabLst>
                <a:tab pos="1099185" algn="l"/>
              </a:tabLst>
            </a:pPr>
            <a:r>
              <a:rPr dirty="0" sz="2400" spc="-15">
                <a:solidFill>
                  <a:srgbClr val="40458B"/>
                </a:solidFill>
                <a:latin typeface="黑体"/>
                <a:cs typeface="黑体"/>
              </a:rPr>
              <a:t>另一个用于访问数据</a:t>
            </a:r>
            <a:endParaRPr sz="2400">
              <a:latin typeface="黑体"/>
              <a:cs typeface="黑体"/>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172/170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title"/>
          </p:nvPr>
        </p:nvSpPr>
        <p:spPr>
          <a:xfrm>
            <a:off x="1688973" y="97028"/>
            <a:ext cx="2513965" cy="452120"/>
          </a:xfrm>
          <a:prstGeom prst="rect"/>
        </p:spPr>
        <p:txBody>
          <a:bodyPr wrap="square" lIns="0" tIns="12065" rIns="0" bIns="0" rtlCol="0" vert="horz">
            <a:spAutoFit/>
          </a:bodyPr>
          <a:lstStyle/>
          <a:p>
            <a:pPr marL="12700">
              <a:lnSpc>
                <a:spcPct val="100000"/>
              </a:lnSpc>
              <a:spcBef>
                <a:spcPts val="95"/>
              </a:spcBef>
            </a:pPr>
            <a:r>
              <a:rPr dirty="0" u="none"/>
              <a:t>7.7</a:t>
            </a:r>
            <a:r>
              <a:rPr dirty="0" u="none" spc="-40"/>
              <a:t> 虚拟存储器</a:t>
            </a:r>
          </a:p>
        </p:txBody>
      </p:sp>
      <p:sp>
        <p:nvSpPr>
          <p:cNvPr id="10" name="object 10" descr=""/>
          <p:cNvSpPr txBox="1"/>
          <p:nvPr/>
        </p:nvSpPr>
        <p:spPr>
          <a:xfrm>
            <a:off x="2700908" y="1276858"/>
            <a:ext cx="6934834" cy="391160"/>
          </a:xfrm>
          <a:prstGeom prst="rect">
            <a:avLst/>
          </a:prstGeom>
        </p:spPr>
        <p:txBody>
          <a:bodyPr wrap="square" lIns="0" tIns="12700" rIns="0" bIns="0" rtlCol="0" vert="horz">
            <a:spAutoFit/>
          </a:bodyPr>
          <a:lstStyle/>
          <a:p>
            <a:pPr marL="469265" indent="-456565">
              <a:lnSpc>
                <a:spcPct val="100000"/>
              </a:lnSpc>
              <a:spcBef>
                <a:spcPts val="100"/>
              </a:spcBef>
              <a:buFont typeface="Wingdings"/>
              <a:buChar char=""/>
              <a:tabLst>
                <a:tab pos="469265" algn="l"/>
              </a:tabLst>
            </a:pPr>
            <a:r>
              <a:rPr dirty="0" sz="2400">
                <a:solidFill>
                  <a:srgbClr val="40458B"/>
                </a:solidFill>
                <a:latin typeface="Times New Roman"/>
                <a:cs typeface="Times New Roman"/>
              </a:rPr>
              <a:t>Opteron</a:t>
            </a:r>
            <a:r>
              <a:rPr dirty="0" sz="2400">
                <a:solidFill>
                  <a:srgbClr val="40458B"/>
                </a:solidFill>
                <a:latin typeface="黑体"/>
                <a:cs typeface="黑体"/>
              </a:rPr>
              <a:t>中第一级和第二级指令、数据</a:t>
            </a:r>
            <a:r>
              <a:rPr dirty="0" sz="2400" spc="-10">
                <a:solidFill>
                  <a:srgbClr val="40458B"/>
                </a:solidFill>
                <a:latin typeface="Times New Roman"/>
                <a:cs typeface="Times New Roman"/>
              </a:rPr>
              <a:t>TLB</a:t>
            </a:r>
            <a:r>
              <a:rPr dirty="0" sz="2400" spc="-20">
                <a:solidFill>
                  <a:srgbClr val="40458B"/>
                </a:solidFill>
                <a:latin typeface="黑体"/>
                <a:cs typeface="黑体"/>
              </a:rPr>
              <a:t>的参数</a:t>
            </a:r>
            <a:endParaRPr sz="2400">
              <a:latin typeface="黑体"/>
              <a:cs typeface="黑体"/>
            </a:endParaRPr>
          </a:p>
        </p:txBody>
      </p:sp>
      <p:graphicFrame>
        <p:nvGraphicFramePr>
          <p:cNvPr id="11" name="object 11" descr=""/>
          <p:cNvGraphicFramePr>
            <a:graphicFrameLocks noGrp="1"/>
          </p:cNvGraphicFramePr>
          <p:nvPr/>
        </p:nvGraphicFramePr>
        <p:xfrm>
          <a:off x="3138487" y="1976501"/>
          <a:ext cx="6854825" cy="4180840"/>
        </p:xfrm>
        <a:graphic>
          <a:graphicData uri="http://schemas.openxmlformats.org/drawingml/2006/table">
            <a:tbl>
              <a:tblPr firstRow="1" bandRow="1">
                <a:tableStyleId>{2D5ABB26-0587-4C30-8999-92F81FD0307C}</a:tableStyleId>
              </a:tblPr>
              <a:tblGrid>
                <a:gridCol w="1727200"/>
                <a:gridCol w="5041900"/>
              </a:tblGrid>
              <a:tr h="436245">
                <a:tc>
                  <a:txBody>
                    <a:bodyPr/>
                    <a:lstStyle/>
                    <a:p>
                      <a:pPr marL="91440">
                        <a:lnSpc>
                          <a:spcPct val="100000"/>
                        </a:lnSpc>
                        <a:spcBef>
                          <a:spcPts val="325"/>
                        </a:spcBef>
                      </a:pPr>
                      <a:r>
                        <a:rPr dirty="0" sz="1800" spc="-30" b="1">
                          <a:solidFill>
                            <a:srgbClr val="E14B04"/>
                          </a:solidFill>
                          <a:latin typeface="宋体"/>
                          <a:cs typeface="宋体"/>
                        </a:rPr>
                        <a:t>参数</a:t>
                      </a:r>
                      <a:endParaRPr sz="1800">
                        <a:latin typeface="宋体"/>
                        <a:cs typeface="宋体"/>
                      </a:endParaRPr>
                    </a:p>
                  </a:txBody>
                  <a:tcPr marL="0" marR="0" marB="0" marT="41275">
                    <a:lnL w="9525">
                      <a:solidFill>
                        <a:srgbClr val="000000"/>
                      </a:solidFill>
                      <a:prstDash val="solid"/>
                    </a:lnL>
                    <a:lnR w="9525">
                      <a:solidFill>
                        <a:srgbClr val="000000"/>
                      </a:solidFill>
                      <a:prstDash val="solid"/>
                    </a:lnR>
                    <a:lnT w="28575">
                      <a:solidFill>
                        <a:srgbClr val="808080"/>
                      </a:solidFill>
                      <a:prstDash val="solid"/>
                    </a:lnT>
                    <a:lnB w="12700">
                      <a:solidFill>
                        <a:srgbClr val="808080"/>
                      </a:solidFill>
                      <a:prstDash val="solid"/>
                    </a:lnB>
                  </a:tcPr>
                </a:tc>
                <a:tc>
                  <a:txBody>
                    <a:bodyPr/>
                    <a:lstStyle/>
                    <a:p>
                      <a:pPr marL="91440">
                        <a:lnSpc>
                          <a:spcPct val="100000"/>
                        </a:lnSpc>
                        <a:spcBef>
                          <a:spcPts val="325"/>
                        </a:spcBef>
                      </a:pPr>
                      <a:r>
                        <a:rPr dirty="0" sz="1800" spc="-30" b="1">
                          <a:solidFill>
                            <a:srgbClr val="E14B04"/>
                          </a:solidFill>
                          <a:latin typeface="宋体"/>
                          <a:cs typeface="宋体"/>
                        </a:rPr>
                        <a:t>描述</a:t>
                      </a:r>
                      <a:endParaRPr sz="1800">
                        <a:latin typeface="宋体"/>
                        <a:cs typeface="宋体"/>
                      </a:endParaRPr>
                    </a:p>
                  </a:txBody>
                  <a:tcPr marL="0" marR="0" marB="0" marT="41275">
                    <a:lnL w="9525">
                      <a:solidFill>
                        <a:srgbClr val="000000"/>
                      </a:solidFill>
                      <a:prstDash val="solid"/>
                    </a:lnL>
                    <a:lnR w="9525">
                      <a:solidFill>
                        <a:srgbClr val="000000"/>
                      </a:solidFill>
                      <a:prstDash val="solid"/>
                    </a:lnR>
                    <a:lnT w="28575">
                      <a:solidFill>
                        <a:srgbClr val="808080"/>
                      </a:solidFill>
                      <a:prstDash val="solid"/>
                    </a:lnT>
                    <a:lnB w="12700">
                      <a:solidFill>
                        <a:srgbClr val="808080"/>
                      </a:solidFill>
                      <a:prstDash val="solid"/>
                    </a:lnB>
                  </a:tcPr>
                </a:tc>
              </a:tr>
              <a:tr h="436245">
                <a:tc>
                  <a:txBody>
                    <a:bodyPr/>
                    <a:lstStyle/>
                    <a:p>
                      <a:pPr marL="91440">
                        <a:lnSpc>
                          <a:spcPct val="100000"/>
                        </a:lnSpc>
                        <a:spcBef>
                          <a:spcPts val="325"/>
                        </a:spcBef>
                      </a:pPr>
                      <a:r>
                        <a:rPr dirty="0" sz="1800" spc="-35" b="1">
                          <a:solidFill>
                            <a:srgbClr val="D50092"/>
                          </a:solidFill>
                          <a:latin typeface="宋体"/>
                          <a:cs typeface="宋体"/>
                        </a:rPr>
                        <a:t>块大小</a:t>
                      </a:r>
                      <a:endParaRPr sz="1800">
                        <a:latin typeface="宋体"/>
                        <a:cs typeface="宋体"/>
                      </a:endParaRPr>
                    </a:p>
                  </a:txBody>
                  <a:tcPr marL="0" marR="0" marB="0" marT="41275">
                    <a:lnL w="9525">
                      <a:solidFill>
                        <a:srgbClr val="000000"/>
                      </a:solidFill>
                      <a:prstDash val="solid"/>
                    </a:lnL>
                    <a:lnR w="9525">
                      <a:solidFill>
                        <a:srgbClr val="000000"/>
                      </a:solidFill>
                      <a:prstDash val="solid"/>
                    </a:lnR>
                    <a:lnT w="12700">
                      <a:solidFill>
                        <a:srgbClr val="808080"/>
                      </a:solidFill>
                      <a:prstDash val="solid"/>
                    </a:lnT>
                    <a:lnB w="9525">
                      <a:solidFill>
                        <a:srgbClr val="000000"/>
                      </a:solidFill>
                      <a:prstDash val="solid"/>
                    </a:lnB>
                  </a:tcPr>
                </a:tc>
                <a:tc>
                  <a:txBody>
                    <a:bodyPr/>
                    <a:lstStyle/>
                    <a:p>
                      <a:pPr marL="91440">
                        <a:lnSpc>
                          <a:spcPct val="100000"/>
                        </a:lnSpc>
                        <a:spcBef>
                          <a:spcPts val="325"/>
                        </a:spcBef>
                      </a:pPr>
                      <a:r>
                        <a:rPr dirty="0" sz="1800" spc="-10" b="1">
                          <a:solidFill>
                            <a:srgbClr val="40458B"/>
                          </a:solidFill>
                          <a:latin typeface="Times New Roman"/>
                          <a:cs typeface="Times New Roman"/>
                        </a:rPr>
                        <a:t>1</a:t>
                      </a:r>
                      <a:r>
                        <a:rPr dirty="0" sz="1800" spc="-210" b="1">
                          <a:solidFill>
                            <a:srgbClr val="40458B"/>
                          </a:solidFill>
                          <a:latin typeface="宋体"/>
                          <a:cs typeface="宋体"/>
                        </a:rPr>
                        <a:t>个 </a:t>
                      </a:r>
                      <a:r>
                        <a:rPr dirty="0" sz="1800" spc="-10" b="1">
                          <a:solidFill>
                            <a:srgbClr val="40458B"/>
                          </a:solidFill>
                          <a:latin typeface="Times New Roman"/>
                          <a:cs typeface="Times New Roman"/>
                        </a:rPr>
                        <a:t>PTE</a:t>
                      </a:r>
                      <a:r>
                        <a:rPr dirty="0" sz="1800" spc="-10" b="1">
                          <a:solidFill>
                            <a:srgbClr val="40458B"/>
                          </a:solidFill>
                          <a:latin typeface="宋体"/>
                          <a:cs typeface="宋体"/>
                        </a:rPr>
                        <a:t>（</a:t>
                      </a:r>
                      <a:r>
                        <a:rPr dirty="0" sz="1800" spc="-10" b="1">
                          <a:solidFill>
                            <a:srgbClr val="40458B"/>
                          </a:solidFill>
                          <a:latin typeface="Times New Roman"/>
                          <a:cs typeface="Times New Roman"/>
                        </a:rPr>
                        <a:t>8</a:t>
                      </a:r>
                      <a:r>
                        <a:rPr dirty="0" sz="1800" spc="-20" b="1">
                          <a:solidFill>
                            <a:srgbClr val="40458B"/>
                          </a:solidFill>
                          <a:latin typeface="宋体"/>
                          <a:cs typeface="宋体"/>
                        </a:rPr>
                        <a:t>字节</a:t>
                      </a:r>
                      <a:r>
                        <a:rPr dirty="0" sz="1800" spc="-50" b="1">
                          <a:solidFill>
                            <a:srgbClr val="40458B"/>
                          </a:solidFill>
                          <a:latin typeface="宋体"/>
                          <a:cs typeface="宋体"/>
                        </a:rPr>
                        <a:t>）</a:t>
                      </a:r>
                      <a:endParaRPr sz="1800">
                        <a:latin typeface="宋体"/>
                        <a:cs typeface="宋体"/>
                      </a:endParaRPr>
                    </a:p>
                  </a:txBody>
                  <a:tcPr marL="0" marR="0" marB="0" marT="41275">
                    <a:lnL w="9525">
                      <a:solidFill>
                        <a:srgbClr val="000000"/>
                      </a:solidFill>
                      <a:prstDash val="solid"/>
                    </a:lnL>
                    <a:lnR w="9525">
                      <a:solidFill>
                        <a:srgbClr val="000000"/>
                      </a:solidFill>
                      <a:prstDash val="solid"/>
                    </a:lnR>
                    <a:lnT w="12700">
                      <a:solidFill>
                        <a:srgbClr val="808080"/>
                      </a:solidFill>
                      <a:prstDash val="solid"/>
                    </a:lnT>
                    <a:lnB w="9525">
                      <a:solidFill>
                        <a:srgbClr val="000000"/>
                      </a:solidFill>
                      <a:prstDash val="solid"/>
                    </a:lnB>
                  </a:tcPr>
                </a:tc>
              </a:tr>
              <a:tr h="434975">
                <a:tc>
                  <a:txBody>
                    <a:bodyPr/>
                    <a:lstStyle/>
                    <a:p>
                      <a:pPr marL="91440">
                        <a:lnSpc>
                          <a:spcPct val="100000"/>
                        </a:lnSpc>
                        <a:spcBef>
                          <a:spcPts val="330"/>
                        </a:spcBef>
                      </a:pPr>
                      <a:r>
                        <a:rPr dirty="0" sz="1800" spc="-10" b="1">
                          <a:solidFill>
                            <a:srgbClr val="D50092"/>
                          </a:solidFill>
                          <a:latin typeface="Times New Roman"/>
                          <a:cs typeface="Times New Roman"/>
                        </a:rPr>
                        <a:t>L1</a:t>
                      </a:r>
                      <a:r>
                        <a:rPr dirty="0" sz="1800" spc="-20" b="1">
                          <a:solidFill>
                            <a:srgbClr val="D50092"/>
                          </a:solidFill>
                          <a:latin typeface="宋体"/>
                          <a:cs typeface="宋体"/>
                        </a:rPr>
                        <a:t>命中时间</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1440">
                        <a:lnSpc>
                          <a:spcPct val="100000"/>
                        </a:lnSpc>
                        <a:spcBef>
                          <a:spcPts val="330"/>
                        </a:spcBef>
                      </a:pPr>
                      <a:r>
                        <a:rPr dirty="0" sz="1800" b="1">
                          <a:solidFill>
                            <a:srgbClr val="40458B"/>
                          </a:solidFill>
                          <a:latin typeface="Times New Roman"/>
                          <a:cs typeface="Times New Roman"/>
                        </a:rPr>
                        <a:t>1</a:t>
                      </a:r>
                      <a:r>
                        <a:rPr dirty="0" sz="1800" spc="-20" b="1">
                          <a:solidFill>
                            <a:srgbClr val="40458B"/>
                          </a:solidFill>
                          <a:latin typeface="宋体"/>
                          <a:cs typeface="宋体"/>
                        </a:rPr>
                        <a:t>个时钟周期</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36245">
                <a:tc>
                  <a:txBody>
                    <a:bodyPr/>
                    <a:lstStyle/>
                    <a:p>
                      <a:pPr marL="91440">
                        <a:lnSpc>
                          <a:spcPct val="100000"/>
                        </a:lnSpc>
                        <a:spcBef>
                          <a:spcPts val="330"/>
                        </a:spcBef>
                      </a:pPr>
                      <a:r>
                        <a:rPr dirty="0" sz="1800" spc="-10" b="1">
                          <a:solidFill>
                            <a:srgbClr val="D50092"/>
                          </a:solidFill>
                          <a:latin typeface="Times New Roman"/>
                          <a:cs typeface="Times New Roman"/>
                        </a:rPr>
                        <a:t>L2</a:t>
                      </a:r>
                      <a:r>
                        <a:rPr dirty="0" sz="1800" spc="-30" b="1">
                          <a:solidFill>
                            <a:srgbClr val="D50092"/>
                          </a:solidFill>
                          <a:latin typeface="宋体"/>
                          <a:cs typeface="宋体"/>
                        </a:rPr>
                        <a:t>命中时间</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1440">
                        <a:lnSpc>
                          <a:spcPct val="100000"/>
                        </a:lnSpc>
                        <a:spcBef>
                          <a:spcPts val="330"/>
                        </a:spcBef>
                      </a:pPr>
                      <a:r>
                        <a:rPr dirty="0" sz="1800" spc="-10" b="1">
                          <a:solidFill>
                            <a:srgbClr val="40458B"/>
                          </a:solidFill>
                          <a:latin typeface="Times New Roman"/>
                          <a:cs typeface="Times New Roman"/>
                        </a:rPr>
                        <a:t>7</a:t>
                      </a:r>
                      <a:r>
                        <a:rPr dirty="0" sz="1800" spc="-30" b="1">
                          <a:solidFill>
                            <a:srgbClr val="40458B"/>
                          </a:solidFill>
                          <a:latin typeface="宋体"/>
                          <a:cs typeface="宋体"/>
                        </a:rPr>
                        <a:t>个时钟周期</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693420">
                <a:tc>
                  <a:txBody>
                    <a:bodyPr/>
                    <a:lstStyle/>
                    <a:p>
                      <a:pPr marL="91440">
                        <a:lnSpc>
                          <a:spcPct val="100000"/>
                        </a:lnSpc>
                        <a:spcBef>
                          <a:spcPts val="330"/>
                        </a:spcBef>
                      </a:pPr>
                      <a:r>
                        <a:rPr dirty="0" sz="1800" b="1">
                          <a:solidFill>
                            <a:srgbClr val="D50092"/>
                          </a:solidFill>
                          <a:latin typeface="Times New Roman"/>
                          <a:cs typeface="Times New Roman"/>
                        </a:rPr>
                        <a:t>L1</a:t>
                      </a:r>
                      <a:r>
                        <a:rPr dirty="0" sz="1800" spc="-10" b="1">
                          <a:solidFill>
                            <a:srgbClr val="D50092"/>
                          </a:solidFill>
                          <a:latin typeface="Times New Roman"/>
                          <a:cs typeface="Times New Roman"/>
                        </a:rPr>
                        <a:t> TLB</a:t>
                      </a:r>
                      <a:r>
                        <a:rPr dirty="0" sz="1800" spc="-30" b="1">
                          <a:solidFill>
                            <a:srgbClr val="D50092"/>
                          </a:solidFill>
                          <a:latin typeface="宋体"/>
                          <a:cs typeface="宋体"/>
                        </a:rPr>
                        <a:t>大小</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1440">
                        <a:lnSpc>
                          <a:spcPct val="100000"/>
                        </a:lnSpc>
                        <a:spcBef>
                          <a:spcPts val="330"/>
                        </a:spcBef>
                      </a:pPr>
                      <a:r>
                        <a:rPr dirty="0" sz="1800" spc="-10" b="1">
                          <a:solidFill>
                            <a:srgbClr val="40458B"/>
                          </a:solidFill>
                          <a:latin typeface="宋体"/>
                          <a:cs typeface="宋体"/>
                        </a:rPr>
                        <a:t>指令和数据</a:t>
                      </a:r>
                      <a:r>
                        <a:rPr dirty="0" sz="1800" spc="-10" b="1">
                          <a:solidFill>
                            <a:srgbClr val="40458B"/>
                          </a:solidFill>
                          <a:latin typeface="Times New Roman"/>
                          <a:cs typeface="Times New Roman"/>
                        </a:rPr>
                        <a:t>TLB</a:t>
                      </a:r>
                      <a:r>
                        <a:rPr dirty="0" sz="1800" spc="-10" b="1">
                          <a:solidFill>
                            <a:srgbClr val="40458B"/>
                          </a:solidFill>
                          <a:latin typeface="宋体"/>
                          <a:cs typeface="宋体"/>
                        </a:rPr>
                        <a:t>都是</a:t>
                      </a:r>
                      <a:r>
                        <a:rPr dirty="0" sz="1800" b="1">
                          <a:solidFill>
                            <a:srgbClr val="40458B"/>
                          </a:solidFill>
                          <a:latin typeface="Times New Roman"/>
                          <a:cs typeface="Times New Roman"/>
                        </a:rPr>
                        <a:t>40</a:t>
                      </a:r>
                      <a:r>
                        <a:rPr dirty="0" sz="1800" spc="-10" b="1">
                          <a:solidFill>
                            <a:srgbClr val="40458B"/>
                          </a:solidFill>
                          <a:latin typeface="宋体"/>
                          <a:cs typeface="宋体"/>
                        </a:rPr>
                        <a:t>个</a:t>
                      </a:r>
                      <a:r>
                        <a:rPr dirty="0" sz="1800" spc="-10" b="1">
                          <a:solidFill>
                            <a:srgbClr val="40458B"/>
                          </a:solidFill>
                          <a:latin typeface="Times New Roman"/>
                          <a:cs typeface="Times New Roman"/>
                        </a:rPr>
                        <a:t>PTE</a:t>
                      </a:r>
                      <a:r>
                        <a:rPr dirty="0" sz="1800" spc="-10" b="1">
                          <a:solidFill>
                            <a:srgbClr val="40458B"/>
                          </a:solidFill>
                          <a:latin typeface="宋体"/>
                          <a:cs typeface="宋体"/>
                        </a:rPr>
                        <a:t>，其中</a:t>
                      </a:r>
                      <a:r>
                        <a:rPr dirty="0" sz="1800" b="1">
                          <a:solidFill>
                            <a:srgbClr val="40458B"/>
                          </a:solidFill>
                          <a:latin typeface="Times New Roman"/>
                          <a:cs typeface="Times New Roman"/>
                        </a:rPr>
                        <a:t>32</a:t>
                      </a:r>
                      <a:r>
                        <a:rPr dirty="0" sz="1800" spc="-25" b="1">
                          <a:solidFill>
                            <a:srgbClr val="40458B"/>
                          </a:solidFill>
                          <a:latin typeface="宋体"/>
                          <a:cs typeface="宋体"/>
                        </a:rPr>
                        <a:t>个用于</a:t>
                      </a:r>
                      <a:endParaRPr sz="1800">
                        <a:latin typeface="宋体"/>
                        <a:cs typeface="宋体"/>
                      </a:endParaRPr>
                    </a:p>
                    <a:p>
                      <a:pPr marL="91440">
                        <a:lnSpc>
                          <a:spcPct val="100000"/>
                        </a:lnSpc>
                      </a:pPr>
                      <a:r>
                        <a:rPr dirty="0" sz="1800" b="1">
                          <a:solidFill>
                            <a:srgbClr val="40458B"/>
                          </a:solidFill>
                          <a:latin typeface="Times New Roman"/>
                          <a:cs typeface="Times New Roman"/>
                        </a:rPr>
                        <a:t>4KB</a:t>
                      </a:r>
                      <a:r>
                        <a:rPr dirty="0" sz="1800" spc="-10" b="1">
                          <a:solidFill>
                            <a:srgbClr val="40458B"/>
                          </a:solidFill>
                          <a:latin typeface="宋体"/>
                          <a:cs typeface="宋体"/>
                        </a:rPr>
                        <a:t>大小的页面，</a:t>
                      </a:r>
                      <a:r>
                        <a:rPr dirty="0" sz="1800" spc="-10" b="1">
                          <a:solidFill>
                            <a:srgbClr val="40458B"/>
                          </a:solidFill>
                          <a:latin typeface="Times New Roman"/>
                          <a:cs typeface="Times New Roman"/>
                        </a:rPr>
                        <a:t>8</a:t>
                      </a:r>
                      <a:r>
                        <a:rPr dirty="0" sz="1800" spc="-10" b="1">
                          <a:solidFill>
                            <a:srgbClr val="40458B"/>
                          </a:solidFill>
                          <a:latin typeface="宋体"/>
                          <a:cs typeface="宋体"/>
                        </a:rPr>
                        <a:t>个用于</a:t>
                      </a:r>
                      <a:r>
                        <a:rPr dirty="0" sz="1800" spc="-20" b="1">
                          <a:solidFill>
                            <a:srgbClr val="40458B"/>
                          </a:solidFill>
                          <a:latin typeface="Times New Roman"/>
                          <a:cs typeface="Times New Roman"/>
                        </a:rPr>
                        <a:t>2MB</a:t>
                      </a:r>
                      <a:r>
                        <a:rPr dirty="0" sz="1800" spc="-10" b="1">
                          <a:solidFill>
                            <a:srgbClr val="40458B"/>
                          </a:solidFill>
                          <a:latin typeface="宋体"/>
                          <a:cs typeface="宋体"/>
                        </a:rPr>
                        <a:t>或</a:t>
                      </a:r>
                      <a:r>
                        <a:rPr dirty="0" sz="1800" spc="-20" b="1">
                          <a:solidFill>
                            <a:srgbClr val="40458B"/>
                          </a:solidFill>
                          <a:latin typeface="Times New Roman"/>
                          <a:cs typeface="Times New Roman"/>
                        </a:rPr>
                        <a:t>4MB</a:t>
                      </a:r>
                      <a:r>
                        <a:rPr dirty="0" sz="1800" spc="-25" b="1">
                          <a:solidFill>
                            <a:srgbClr val="40458B"/>
                          </a:solidFill>
                          <a:latin typeface="宋体"/>
                          <a:cs typeface="宋体"/>
                        </a:rPr>
                        <a:t>页面。</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36245">
                <a:tc>
                  <a:txBody>
                    <a:bodyPr/>
                    <a:lstStyle/>
                    <a:p>
                      <a:pPr marL="91440">
                        <a:lnSpc>
                          <a:spcPct val="100000"/>
                        </a:lnSpc>
                        <a:spcBef>
                          <a:spcPts val="330"/>
                        </a:spcBef>
                      </a:pPr>
                      <a:r>
                        <a:rPr dirty="0" sz="1800" b="1">
                          <a:solidFill>
                            <a:srgbClr val="D50092"/>
                          </a:solidFill>
                          <a:latin typeface="Times New Roman"/>
                          <a:cs typeface="Times New Roman"/>
                        </a:rPr>
                        <a:t>L2</a:t>
                      </a:r>
                      <a:r>
                        <a:rPr dirty="0" sz="1800" spc="-10" b="1">
                          <a:solidFill>
                            <a:srgbClr val="D50092"/>
                          </a:solidFill>
                          <a:latin typeface="Times New Roman"/>
                          <a:cs typeface="Times New Roman"/>
                        </a:rPr>
                        <a:t> TLB</a:t>
                      </a:r>
                      <a:r>
                        <a:rPr dirty="0" sz="1800" spc="-30" b="1">
                          <a:solidFill>
                            <a:srgbClr val="D50092"/>
                          </a:solidFill>
                          <a:latin typeface="宋体"/>
                          <a:cs typeface="宋体"/>
                        </a:rPr>
                        <a:t>大小</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1440">
                        <a:lnSpc>
                          <a:spcPct val="100000"/>
                        </a:lnSpc>
                        <a:spcBef>
                          <a:spcPts val="330"/>
                        </a:spcBef>
                      </a:pPr>
                      <a:r>
                        <a:rPr dirty="0" sz="1800" spc="-10" b="1">
                          <a:solidFill>
                            <a:srgbClr val="40458B"/>
                          </a:solidFill>
                          <a:latin typeface="宋体"/>
                          <a:cs typeface="宋体"/>
                        </a:rPr>
                        <a:t>指令和数据</a:t>
                      </a:r>
                      <a:r>
                        <a:rPr dirty="0" sz="1800" spc="-10" b="1">
                          <a:solidFill>
                            <a:srgbClr val="40458B"/>
                          </a:solidFill>
                          <a:latin typeface="Times New Roman"/>
                          <a:cs typeface="Times New Roman"/>
                        </a:rPr>
                        <a:t>TLB</a:t>
                      </a:r>
                      <a:r>
                        <a:rPr dirty="0" sz="1800" spc="-10" b="1">
                          <a:solidFill>
                            <a:srgbClr val="40458B"/>
                          </a:solidFill>
                          <a:latin typeface="宋体"/>
                          <a:cs typeface="宋体"/>
                        </a:rPr>
                        <a:t>都是</a:t>
                      </a:r>
                      <a:r>
                        <a:rPr dirty="0" sz="1800" b="1">
                          <a:solidFill>
                            <a:srgbClr val="40458B"/>
                          </a:solidFill>
                          <a:latin typeface="Times New Roman"/>
                          <a:cs typeface="Times New Roman"/>
                        </a:rPr>
                        <a:t>512</a:t>
                      </a:r>
                      <a:r>
                        <a:rPr dirty="0" sz="1800" spc="-10" b="1">
                          <a:solidFill>
                            <a:srgbClr val="40458B"/>
                          </a:solidFill>
                          <a:latin typeface="宋体"/>
                          <a:cs typeface="宋体"/>
                        </a:rPr>
                        <a:t>个</a:t>
                      </a:r>
                      <a:r>
                        <a:rPr dirty="0" sz="1800" spc="-10" b="1">
                          <a:solidFill>
                            <a:srgbClr val="40458B"/>
                          </a:solidFill>
                          <a:latin typeface="Times New Roman"/>
                          <a:cs typeface="Times New Roman"/>
                        </a:rPr>
                        <a:t>PTE</a:t>
                      </a:r>
                      <a:r>
                        <a:rPr dirty="0" sz="1800" spc="-10" b="1">
                          <a:solidFill>
                            <a:srgbClr val="40458B"/>
                          </a:solidFill>
                          <a:latin typeface="宋体"/>
                          <a:cs typeface="宋体"/>
                        </a:rPr>
                        <a:t>，用于</a:t>
                      </a:r>
                      <a:r>
                        <a:rPr dirty="0" sz="1800" b="1">
                          <a:solidFill>
                            <a:srgbClr val="40458B"/>
                          </a:solidFill>
                          <a:latin typeface="Times New Roman"/>
                          <a:cs typeface="Times New Roman"/>
                        </a:rPr>
                        <a:t>4KB</a:t>
                      </a:r>
                      <a:r>
                        <a:rPr dirty="0" sz="1800" spc="-30" b="1">
                          <a:solidFill>
                            <a:srgbClr val="40458B"/>
                          </a:solidFill>
                          <a:latin typeface="宋体"/>
                          <a:cs typeface="宋体"/>
                        </a:rPr>
                        <a:t>页面</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34975">
                <a:tc>
                  <a:txBody>
                    <a:bodyPr/>
                    <a:lstStyle/>
                    <a:p>
                      <a:pPr marL="91440">
                        <a:lnSpc>
                          <a:spcPct val="100000"/>
                        </a:lnSpc>
                        <a:spcBef>
                          <a:spcPts val="330"/>
                        </a:spcBef>
                      </a:pPr>
                      <a:r>
                        <a:rPr dirty="0" sz="1800" spc="-25" b="1">
                          <a:solidFill>
                            <a:srgbClr val="D50092"/>
                          </a:solidFill>
                          <a:latin typeface="宋体"/>
                          <a:cs typeface="宋体"/>
                        </a:rPr>
                        <a:t>块选择</a:t>
                      </a:r>
                      <a:endParaRPr sz="1800">
                        <a:latin typeface="宋体"/>
                        <a:cs typeface="宋体"/>
                      </a:endParaRPr>
                    </a:p>
                  </a:txBody>
                  <a:tcPr marL="0" marR="0" marB="0" marT="4191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1440">
                        <a:lnSpc>
                          <a:spcPct val="100000"/>
                        </a:lnSpc>
                        <a:spcBef>
                          <a:spcPts val="305"/>
                        </a:spcBef>
                      </a:pPr>
                      <a:r>
                        <a:rPr dirty="0" sz="1800" spc="-25" b="1">
                          <a:solidFill>
                            <a:srgbClr val="40458B"/>
                          </a:solidFill>
                          <a:latin typeface="Times New Roman"/>
                          <a:cs typeface="Times New Roman"/>
                        </a:rPr>
                        <a:t>LRU</a:t>
                      </a:r>
                      <a:endParaRPr sz="1800">
                        <a:latin typeface="Times New Roman"/>
                        <a:cs typeface="Times New Roman"/>
                      </a:endParaRPr>
                    </a:p>
                  </a:txBody>
                  <a:tcPr marL="0" marR="0" marB="0" marT="3873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36245">
                <a:tc>
                  <a:txBody>
                    <a:bodyPr/>
                    <a:lstStyle/>
                    <a:p>
                      <a:pPr marL="91440">
                        <a:lnSpc>
                          <a:spcPct val="100000"/>
                        </a:lnSpc>
                        <a:spcBef>
                          <a:spcPts val="334"/>
                        </a:spcBef>
                      </a:pPr>
                      <a:r>
                        <a:rPr dirty="0" sz="1800" spc="-10" b="1">
                          <a:solidFill>
                            <a:srgbClr val="D50092"/>
                          </a:solidFill>
                          <a:latin typeface="Times New Roman"/>
                          <a:cs typeface="Times New Roman"/>
                        </a:rPr>
                        <a:t>L1</a:t>
                      </a:r>
                      <a:r>
                        <a:rPr dirty="0" sz="1800" spc="-20" b="1">
                          <a:solidFill>
                            <a:srgbClr val="D50092"/>
                          </a:solidFill>
                          <a:latin typeface="宋体"/>
                          <a:cs typeface="宋体"/>
                        </a:rPr>
                        <a:t>映象规则</a:t>
                      </a:r>
                      <a:endParaRPr sz="1800">
                        <a:latin typeface="宋体"/>
                        <a:cs typeface="宋体"/>
                      </a:endParaRPr>
                    </a:p>
                  </a:txBody>
                  <a:tcPr marL="0" marR="0" marB="0" marT="42544">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91440">
                        <a:lnSpc>
                          <a:spcPct val="100000"/>
                        </a:lnSpc>
                        <a:spcBef>
                          <a:spcPts val="334"/>
                        </a:spcBef>
                      </a:pPr>
                      <a:r>
                        <a:rPr dirty="0" sz="1800" spc="-25" b="1">
                          <a:solidFill>
                            <a:srgbClr val="40458B"/>
                          </a:solidFill>
                          <a:latin typeface="宋体"/>
                          <a:cs typeface="宋体"/>
                        </a:rPr>
                        <a:t>全相联</a:t>
                      </a:r>
                      <a:endParaRPr sz="1800">
                        <a:latin typeface="宋体"/>
                        <a:cs typeface="宋体"/>
                      </a:endParaRPr>
                    </a:p>
                  </a:txBody>
                  <a:tcPr marL="0" marR="0" marB="0" marT="42544">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36245">
                <a:tc>
                  <a:txBody>
                    <a:bodyPr/>
                    <a:lstStyle/>
                    <a:p>
                      <a:pPr marL="91440">
                        <a:lnSpc>
                          <a:spcPct val="100000"/>
                        </a:lnSpc>
                        <a:spcBef>
                          <a:spcPts val="334"/>
                        </a:spcBef>
                      </a:pPr>
                      <a:r>
                        <a:rPr dirty="0" sz="1800" spc="-10" b="1">
                          <a:solidFill>
                            <a:srgbClr val="D50092"/>
                          </a:solidFill>
                          <a:latin typeface="Times New Roman"/>
                          <a:cs typeface="Times New Roman"/>
                        </a:rPr>
                        <a:t>L2</a:t>
                      </a:r>
                      <a:r>
                        <a:rPr dirty="0" sz="1800" spc="-20" b="1">
                          <a:solidFill>
                            <a:srgbClr val="D50092"/>
                          </a:solidFill>
                          <a:latin typeface="宋体"/>
                          <a:cs typeface="宋体"/>
                        </a:rPr>
                        <a:t>映象规则</a:t>
                      </a:r>
                      <a:endParaRPr sz="1800">
                        <a:latin typeface="宋体"/>
                        <a:cs typeface="宋体"/>
                      </a:endParaRPr>
                    </a:p>
                  </a:txBody>
                  <a:tcPr marL="0" marR="0" marB="0" marT="42544">
                    <a:lnL w="9525">
                      <a:solidFill>
                        <a:srgbClr val="000000"/>
                      </a:solidFill>
                      <a:prstDash val="solid"/>
                    </a:lnL>
                    <a:lnR w="9525">
                      <a:solidFill>
                        <a:srgbClr val="000000"/>
                      </a:solidFill>
                      <a:prstDash val="solid"/>
                    </a:lnR>
                    <a:lnT w="9525">
                      <a:solidFill>
                        <a:srgbClr val="000000"/>
                      </a:solidFill>
                      <a:prstDash val="solid"/>
                    </a:lnT>
                    <a:lnB w="28575">
                      <a:solidFill>
                        <a:srgbClr val="808080"/>
                      </a:solidFill>
                      <a:prstDash val="solid"/>
                    </a:lnB>
                  </a:tcPr>
                </a:tc>
                <a:tc>
                  <a:txBody>
                    <a:bodyPr/>
                    <a:lstStyle/>
                    <a:p>
                      <a:pPr marL="91440">
                        <a:lnSpc>
                          <a:spcPct val="100000"/>
                        </a:lnSpc>
                        <a:spcBef>
                          <a:spcPts val="334"/>
                        </a:spcBef>
                      </a:pPr>
                      <a:r>
                        <a:rPr dirty="0" sz="1800" b="1">
                          <a:solidFill>
                            <a:srgbClr val="40458B"/>
                          </a:solidFill>
                          <a:latin typeface="Times New Roman"/>
                          <a:cs typeface="Times New Roman"/>
                        </a:rPr>
                        <a:t>4</a:t>
                      </a:r>
                      <a:r>
                        <a:rPr dirty="0" sz="1800" spc="-25" b="1">
                          <a:solidFill>
                            <a:srgbClr val="40458B"/>
                          </a:solidFill>
                          <a:latin typeface="宋体"/>
                          <a:cs typeface="宋体"/>
                        </a:rPr>
                        <a:t>路组相联</a:t>
                      </a:r>
                      <a:endParaRPr sz="1800">
                        <a:latin typeface="宋体"/>
                        <a:cs typeface="宋体"/>
                      </a:endParaRPr>
                    </a:p>
                  </a:txBody>
                  <a:tcPr marL="0" marR="0" marB="0" marT="42544">
                    <a:lnL w="9525">
                      <a:solidFill>
                        <a:srgbClr val="000000"/>
                      </a:solidFill>
                      <a:prstDash val="solid"/>
                    </a:lnL>
                    <a:lnR w="9525">
                      <a:solidFill>
                        <a:srgbClr val="000000"/>
                      </a:solidFill>
                      <a:prstDash val="solid"/>
                    </a:lnR>
                    <a:lnT w="9525">
                      <a:solidFill>
                        <a:srgbClr val="000000"/>
                      </a:solidFill>
                      <a:prstDash val="solid"/>
                    </a:lnT>
                    <a:lnB w="28575">
                      <a:solidFill>
                        <a:srgbClr val="808080"/>
                      </a:solidFill>
                      <a:prstDash val="solid"/>
                    </a:lnB>
                  </a:tcPr>
                </a:tc>
              </a:tr>
            </a:tbl>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173/170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descr=""/>
          <p:cNvSpPr txBox="1"/>
          <p:nvPr/>
        </p:nvSpPr>
        <p:spPr>
          <a:xfrm>
            <a:off x="774293" y="1182018"/>
            <a:ext cx="11214735" cy="3544570"/>
          </a:xfrm>
          <a:prstGeom prst="rect">
            <a:avLst/>
          </a:prstGeom>
        </p:spPr>
        <p:txBody>
          <a:bodyPr wrap="square" lIns="0" tIns="129540" rIns="0" bIns="0" rtlCol="0" vert="horz">
            <a:spAutoFit/>
          </a:bodyPr>
          <a:lstStyle/>
          <a:p>
            <a:pPr marL="1099185" indent="-457200">
              <a:lnSpc>
                <a:spcPct val="100000"/>
              </a:lnSpc>
              <a:spcBef>
                <a:spcPts val="1020"/>
              </a:spcBef>
              <a:buSzPct val="89583"/>
              <a:buFont typeface="Wingdings"/>
              <a:buChar char=""/>
              <a:tabLst>
                <a:tab pos="1099185" algn="l"/>
              </a:tabLst>
            </a:pPr>
            <a:r>
              <a:rPr dirty="0" sz="2400" spc="-10">
                <a:solidFill>
                  <a:srgbClr val="40458B"/>
                </a:solidFill>
                <a:latin typeface="黑体"/>
                <a:cs typeface="黑体"/>
              </a:rPr>
              <a:t>一个乱序执行处理器</a:t>
            </a:r>
            <a:endParaRPr sz="2400">
              <a:latin typeface="黑体"/>
              <a:cs typeface="黑体"/>
            </a:endParaRPr>
          </a:p>
          <a:p>
            <a:pPr lvl="1" marL="1727200" marR="437515" indent="-457200">
              <a:lnSpc>
                <a:spcPct val="110000"/>
              </a:lnSpc>
              <a:spcBef>
                <a:spcPts val="530"/>
              </a:spcBef>
              <a:buClr>
                <a:srgbClr val="4668F5"/>
              </a:buClr>
              <a:buSzPct val="60000"/>
              <a:buFont typeface="Wingdings"/>
              <a:buChar char=""/>
              <a:tabLst>
                <a:tab pos="1727200" algn="l"/>
              </a:tabLst>
            </a:pPr>
            <a:r>
              <a:rPr dirty="0" sz="2000" spc="-10" b="1">
                <a:solidFill>
                  <a:srgbClr val="00AFEF"/>
                </a:solidFill>
                <a:latin typeface="宋体"/>
                <a:cs typeface="宋体"/>
              </a:rPr>
              <a:t>每个时钟周期最多可以取出</a:t>
            </a:r>
            <a:r>
              <a:rPr dirty="0" sz="2000" spc="-10" b="1">
                <a:solidFill>
                  <a:srgbClr val="9933FF"/>
                </a:solidFill>
                <a:latin typeface="Times New Roman"/>
                <a:cs typeface="Times New Roman"/>
              </a:rPr>
              <a:t>3</a:t>
            </a:r>
            <a:r>
              <a:rPr dirty="0" sz="2000" spc="-10" b="1">
                <a:solidFill>
                  <a:srgbClr val="00AFEF"/>
                </a:solidFill>
                <a:latin typeface="宋体"/>
                <a:cs typeface="宋体"/>
              </a:rPr>
              <a:t>条</a:t>
            </a:r>
            <a:r>
              <a:rPr dirty="0" sz="2000" spc="-10" b="1">
                <a:solidFill>
                  <a:srgbClr val="00AFEF"/>
                </a:solidFill>
                <a:latin typeface="Times New Roman"/>
                <a:cs typeface="Times New Roman"/>
              </a:rPr>
              <a:t>80x86</a:t>
            </a:r>
            <a:r>
              <a:rPr dirty="0" sz="2000" spc="-20" b="1">
                <a:solidFill>
                  <a:srgbClr val="00AFEF"/>
                </a:solidFill>
                <a:latin typeface="宋体"/>
                <a:cs typeface="宋体"/>
              </a:rPr>
              <a:t>指令，并将之转换成类</a:t>
            </a:r>
            <a:r>
              <a:rPr dirty="0" sz="2000" spc="-10" b="1">
                <a:solidFill>
                  <a:srgbClr val="00AFEF"/>
                </a:solidFill>
                <a:latin typeface="Times New Roman"/>
                <a:cs typeface="Times New Roman"/>
              </a:rPr>
              <a:t>RISC</a:t>
            </a:r>
            <a:r>
              <a:rPr dirty="0" sz="2000" spc="-20" b="1">
                <a:solidFill>
                  <a:srgbClr val="00AFEF"/>
                </a:solidFill>
                <a:latin typeface="宋体"/>
                <a:cs typeface="宋体"/>
              </a:rPr>
              <a:t>操作，然后以每</a:t>
            </a:r>
            <a:r>
              <a:rPr dirty="0" sz="2000" spc="-10" b="1">
                <a:solidFill>
                  <a:srgbClr val="00AFEF"/>
                </a:solidFill>
                <a:latin typeface="宋体"/>
                <a:cs typeface="宋体"/>
              </a:rPr>
              <a:t>个时钟周期</a:t>
            </a:r>
            <a:r>
              <a:rPr dirty="0" sz="2000" b="1">
                <a:solidFill>
                  <a:srgbClr val="9933FF"/>
                </a:solidFill>
                <a:latin typeface="Times New Roman"/>
                <a:cs typeface="Times New Roman"/>
              </a:rPr>
              <a:t>3</a:t>
            </a:r>
            <a:r>
              <a:rPr dirty="0" sz="2000" spc="-20" b="1">
                <a:solidFill>
                  <a:srgbClr val="00AFEF"/>
                </a:solidFill>
                <a:latin typeface="宋体"/>
                <a:cs typeface="宋体"/>
              </a:rPr>
              <a:t>个操作的速率流出。</a:t>
            </a:r>
            <a:endParaRPr sz="2000">
              <a:latin typeface="宋体"/>
              <a:cs typeface="宋体"/>
            </a:endParaRPr>
          </a:p>
          <a:p>
            <a:pPr marL="1099185" indent="-457200">
              <a:lnSpc>
                <a:spcPct val="100000"/>
              </a:lnSpc>
              <a:spcBef>
                <a:spcPts val="815"/>
              </a:spcBef>
              <a:buSzPct val="89583"/>
              <a:buFont typeface="Wingdings"/>
              <a:buChar char=""/>
              <a:tabLst>
                <a:tab pos="1099185" algn="l"/>
              </a:tabLst>
            </a:pPr>
            <a:r>
              <a:rPr dirty="0" sz="2400">
                <a:solidFill>
                  <a:srgbClr val="40458B"/>
                </a:solidFill>
                <a:latin typeface="黑体"/>
                <a:cs typeface="黑体"/>
              </a:rPr>
              <a:t>有</a:t>
            </a:r>
            <a:r>
              <a:rPr dirty="0" sz="2400">
                <a:solidFill>
                  <a:srgbClr val="9933FF"/>
                </a:solidFill>
                <a:latin typeface="Times New Roman"/>
                <a:cs typeface="Times New Roman"/>
              </a:rPr>
              <a:t>11</a:t>
            </a:r>
            <a:r>
              <a:rPr dirty="0" sz="2400" spc="-10">
                <a:solidFill>
                  <a:srgbClr val="40458B"/>
                </a:solidFill>
                <a:latin typeface="黑体"/>
                <a:cs typeface="黑体"/>
              </a:rPr>
              <a:t>个并行的执行部件</a:t>
            </a:r>
            <a:endParaRPr sz="2400">
              <a:latin typeface="黑体"/>
              <a:cs typeface="黑体"/>
            </a:endParaRPr>
          </a:p>
          <a:p>
            <a:pPr marL="1099185" indent="-457200">
              <a:lnSpc>
                <a:spcPct val="100000"/>
              </a:lnSpc>
              <a:spcBef>
                <a:spcPts val="865"/>
              </a:spcBef>
              <a:buSzPct val="89583"/>
              <a:buFont typeface="Wingdings"/>
              <a:buChar char=""/>
              <a:tabLst>
                <a:tab pos="1099185" algn="l"/>
              </a:tabLst>
            </a:pPr>
            <a:r>
              <a:rPr dirty="0" sz="2400">
                <a:solidFill>
                  <a:srgbClr val="40458B"/>
                </a:solidFill>
                <a:latin typeface="黑体"/>
                <a:cs typeface="黑体"/>
              </a:rPr>
              <a:t>在</a:t>
            </a:r>
            <a:r>
              <a:rPr dirty="0" sz="2400">
                <a:solidFill>
                  <a:srgbClr val="40458B"/>
                </a:solidFill>
                <a:latin typeface="Times New Roman"/>
                <a:cs typeface="Times New Roman"/>
              </a:rPr>
              <a:t>2006</a:t>
            </a:r>
            <a:r>
              <a:rPr dirty="0" sz="2400" spc="-5">
                <a:solidFill>
                  <a:srgbClr val="40458B"/>
                </a:solidFill>
                <a:latin typeface="黑体"/>
                <a:cs typeface="黑体"/>
              </a:rPr>
              <a:t>年，其</a:t>
            </a:r>
            <a:r>
              <a:rPr dirty="0" sz="2400">
                <a:solidFill>
                  <a:srgbClr val="9933FF"/>
                </a:solidFill>
                <a:latin typeface="Times New Roman"/>
                <a:cs typeface="Times New Roman"/>
              </a:rPr>
              <a:t>12</a:t>
            </a:r>
            <a:r>
              <a:rPr dirty="0" sz="2400">
                <a:solidFill>
                  <a:srgbClr val="40458B"/>
                </a:solidFill>
                <a:latin typeface="黑体"/>
                <a:cs typeface="黑体"/>
              </a:rPr>
              <a:t>级定点流水线使得该处理器的最高时钟频率达到了</a:t>
            </a:r>
            <a:r>
              <a:rPr dirty="0" sz="2400" spc="-20">
                <a:solidFill>
                  <a:srgbClr val="9933FF"/>
                </a:solidFill>
                <a:latin typeface="Times New Roman"/>
                <a:cs typeface="Times New Roman"/>
              </a:rPr>
              <a:t>2.8GHz</a:t>
            </a:r>
            <a:r>
              <a:rPr dirty="0" sz="2400" spc="-50">
                <a:solidFill>
                  <a:srgbClr val="40458B"/>
                </a:solidFill>
                <a:latin typeface="黑体"/>
                <a:cs typeface="黑体"/>
              </a:rPr>
              <a:t>。</a:t>
            </a:r>
            <a:endParaRPr sz="2400">
              <a:latin typeface="黑体"/>
              <a:cs typeface="黑体"/>
            </a:endParaRPr>
          </a:p>
          <a:p>
            <a:pPr marL="1099185" indent="-457200">
              <a:lnSpc>
                <a:spcPct val="100000"/>
              </a:lnSpc>
              <a:spcBef>
                <a:spcPts val="865"/>
              </a:spcBef>
              <a:buSzPct val="89583"/>
              <a:buFont typeface="Wingdings"/>
              <a:buChar char=""/>
              <a:tabLst>
                <a:tab pos="1099185" algn="l"/>
                <a:tab pos="3461385" algn="l"/>
              </a:tabLst>
            </a:pPr>
            <a:r>
              <a:rPr dirty="0" sz="2400" spc="-10">
                <a:solidFill>
                  <a:srgbClr val="40458B"/>
                </a:solidFill>
                <a:latin typeface="黑体"/>
                <a:cs typeface="黑体"/>
              </a:rPr>
              <a:t>虚地址：</a:t>
            </a:r>
            <a:r>
              <a:rPr dirty="0" sz="2400" spc="-10">
                <a:solidFill>
                  <a:srgbClr val="9933FF"/>
                </a:solidFill>
                <a:latin typeface="Times New Roman"/>
                <a:cs typeface="Times New Roman"/>
              </a:rPr>
              <a:t>48</a:t>
            </a:r>
            <a:r>
              <a:rPr dirty="0" sz="2400" spc="-50">
                <a:solidFill>
                  <a:srgbClr val="40458B"/>
                </a:solidFill>
                <a:latin typeface="黑体"/>
                <a:cs typeface="黑体"/>
              </a:rPr>
              <a:t>位</a:t>
            </a:r>
            <a:r>
              <a:rPr dirty="0" sz="2400">
                <a:solidFill>
                  <a:srgbClr val="40458B"/>
                </a:solidFill>
                <a:latin typeface="黑体"/>
                <a:cs typeface="黑体"/>
              </a:rPr>
              <a:t>	</a:t>
            </a:r>
            <a:r>
              <a:rPr dirty="0" sz="2400" spc="-10">
                <a:solidFill>
                  <a:srgbClr val="40458B"/>
                </a:solidFill>
                <a:latin typeface="黑体"/>
                <a:cs typeface="黑体"/>
              </a:rPr>
              <a:t>物理地址：</a:t>
            </a:r>
            <a:r>
              <a:rPr dirty="0" sz="2400" spc="-10">
                <a:solidFill>
                  <a:srgbClr val="9933FF"/>
                </a:solidFill>
                <a:latin typeface="Times New Roman"/>
                <a:cs typeface="Times New Roman"/>
              </a:rPr>
              <a:t>40</a:t>
            </a:r>
            <a:r>
              <a:rPr dirty="0" sz="2400" spc="-50">
                <a:solidFill>
                  <a:srgbClr val="40458B"/>
                </a:solidFill>
                <a:latin typeface="黑体"/>
                <a:cs typeface="黑体"/>
              </a:rPr>
              <a:t>位</a:t>
            </a:r>
            <a:endParaRPr sz="2400">
              <a:latin typeface="黑体"/>
              <a:cs typeface="黑体"/>
            </a:endParaRPr>
          </a:p>
          <a:p>
            <a:pPr marL="469900" marR="254635" indent="-457200">
              <a:lnSpc>
                <a:spcPct val="110000"/>
              </a:lnSpc>
              <a:spcBef>
                <a:spcPts val="575"/>
              </a:spcBef>
              <a:tabLst>
                <a:tab pos="469265" algn="l"/>
              </a:tabLst>
            </a:pPr>
            <a:r>
              <a:rPr dirty="0" sz="2400" spc="-25">
                <a:solidFill>
                  <a:srgbClr val="40458B"/>
                </a:solidFill>
                <a:latin typeface="Times New Roman"/>
                <a:cs typeface="Times New Roman"/>
              </a:rPr>
              <a:t>1.</a:t>
            </a:r>
            <a:r>
              <a:rPr dirty="0" sz="2400">
                <a:solidFill>
                  <a:srgbClr val="40458B"/>
                </a:solidFill>
                <a:latin typeface="Times New Roman"/>
                <a:cs typeface="Times New Roman"/>
              </a:rPr>
              <a:t>	</a:t>
            </a:r>
            <a:r>
              <a:rPr dirty="0" sz="2400">
                <a:solidFill>
                  <a:srgbClr val="E14B04"/>
                </a:solidFill>
                <a:latin typeface="黑体"/>
                <a:cs typeface="黑体"/>
              </a:rPr>
              <a:t>通过两级</a:t>
            </a:r>
            <a:r>
              <a:rPr dirty="0" sz="2400" spc="-10">
                <a:solidFill>
                  <a:srgbClr val="E14B04"/>
                </a:solidFill>
                <a:latin typeface="Times New Roman"/>
                <a:cs typeface="Times New Roman"/>
              </a:rPr>
              <a:t>TLB</a:t>
            </a:r>
            <a:r>
              <a:rPr dirty="0" sz="2400" spc="-5">
                <a:solidFill>
                  <a:srgbClr val="E14B04"/>
                </a:solidFill>
                <a:latin typeface="黑体"/>
                <a:cs typeface="黑体"/>
              </a:rPr>
              <a:t>实现的从虚拟地址到物理地址的转换以及对两级数据</a:t>
            </a:r>
            <a:r>
              <a:rPr dirty="0" sz="2400">
                <a:solidFill>
                  <a:srgbClr val="E14B04"/>
                </a:solidFill>
                <a:latin typeface="Times New Roman"/>
                <a:cs typeface="Times New Roman"/>
              </a:rPr>
              <a:t>Cache</a:t>
            </a:r>
            <a:r>
              <a:rPr dirty="0" sz="2400" spc="-20">
                <a:solidFill>
                  <a:srgbClr val="E14B04"/>
                </a:solidFill>
                <a:latin typeface="黑体"/>
                <a:cs typeface="黑体"/>
              </a:rPr>
              <a:t>的访问</a:t>
            </a:r>
            <a:r>
              <a:rPr dirty="0" sz="2400" spc="-25">
                <a:solidFill>
                  <a:srgbClr val="E14B04"/>
                </a:solidFill>
                <a:latin typeface="黑体"/>
                <a:cs typeface="黑体"/>
              </a:rPr>
              <a:t>情况</a:t>
            </a:r>
            <a:endParaRPr sz="2400">
              <a:latin typeface="黑体"/>
              <a:cs typeface="黑体"/>
            </a:endParaRPr>
          </a:p>
        </p:txBody>
      </p:sp>
      <p:sp>
        <p:nvSpPr>
          <p:cNvPr id="10" name="object 10"/>
          <p:cNvSpPr txBox="1">
            <a:spLocks noGrp="1"/>
          </p:cNvSpPr>
          <p:nvPr>
            <p:ph type="title"/>
          </p:nvPr>
        </p:nvSpPr>
        <p:spPr>
          <a:xfrm>
            <a:off x="1746250" y="100965"/>
            <a:ext cx="6607175" cy="452120"/>
          </a:xfrm>
          <a:prstGeom prst="rect"/>
        </p:spPr>
        <p:txBody>
          <a:bodyPr wrap="square" lIns="0" tIns="12065" rIns="0" bIns="0" rtlCol="0" vert="horz">
            <a:spAutoFit/>
          </a:bodyPr>
          <a:lstStyle/>
          <a:p>
            <a:pPr marL="12700">
              <a:lnSpc>
                <a:spcPct val="100000"/>
              </a:lnSpc>
              <a:spcBef>
                <a:spcPts val="95"/>
              </a:spcBef>
            </a:pPr>
            <a:r>
              <a:rPr dirty="0" u="none">
                <a:solidFill>
                  <a:srgbClr val="647AD3"/>
                </a:solidFill>
              </a:rPr>
              <a:t>7.8</a:t>
            </a:r>
            <a:r>
              <a:rPr dirty="0" u="none" spc="-20">
                <a:solidFill>
                  <a:srgbClr val="647AD3"/>
                </a:solidFill>
              </a:rPr>
              <a:t> 实例：</a:t>
            </a:r>
            <a:r>
              <a:rPr dirty="0" u="none">
                <a:solidFill>
                  <a:srgbClr val="647AD3"/>
                </a:solidFill>
              </a:rPr>
              <a:t>AMD</a:t>
            </a:r>
            <a:r>
              <a:rPr dirty="0" u="none" spc="-45">
                <a:solidFill>
                  <a:srgbClr val="647AD3"/>
                </a:solidFill>
              </a:rPr>
              <a:t> </a:t>
            </a:r>
            <a:r>
              <a:rPr dirty="0" u="none" spc="-10">
                <a:solidFill>
                  <a:srgbClr val="647AD3"/>
                </a:solidFill>
              </a:rPr>
              <a:t>Opteron</a:t>
            </a:r>
            <a:r>
              <a:rPr dirty="0" u="none" spc="-40">
                <a:solidFill>
                  <a:srgbClr val="647AD3"/>
                </a:solidFill>
              </a:rPr>
              <a:t>的存储器层次结构</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6292299" y="6034997"/>
            <a:ext cx="345440" cy="291465"/>
            <a:chOff x="6292299" y="6034997"/>
            <a:chExt cx="345440" cy="291465"/>
          </a:xfrm>
        </p:grpSpPr>
        <p:sp>
          <p:nvSpPr>
            <p:cNvPr id="3" name="object 3" descr=""/>
            <p:cNvSpPr/>
            <p:nvPr/>
          </p:nvSpPr>
          <p:spPr>
            <a:xfrm>
              <a:off x="6298174" y="6040872"/>
              <a:ext cx="334010" cy="279400"/>
            </a:xfrm>
            <a:custGeom>
              <a:avLst/>
              <a:gdLst/>
              <a:ahLst/>
              <a:cxnLst/>
              <a:rect l="l" t="t" r="r" b="b"/>
              <a:pathLst>
                <a:path w="334009" h="279400">
                  <a:moveTo>
                    <a:pt x="184402" y="0"/>
                  </a:moveTo>
                  <a:lnTo>
                    <a:pt x="164931" y="0"/>
                  </a:lnTo>
                  <a:lnTo>
                    <a:pt x="149060" y="0"/>
                  </a:lnTo>
                  <a:lnTo>
                    <a:pt x="133352" y="4022"/>
                  </a:lnTo>
                  <a:lnTo>
                    <a:pt x="117481" y="4022"/>
                  </a:lnTo>
                  <a:lnTo>
                    <a:pt x="102100" y="12101"/>
                  </a:lnTo>
                  <a:lnTo>
                    <a:pt x="86229" y="15732"/>
                  </a:lnTo>
                  <a:lnTo>
                    <a:pt x="70521" y="23794"/>
                  </a:lnTo>
                  <a:lnTo>
                    <a:pt x="46959" y="39526"/>
                  </a:lnTo>
                  <a:lnTo>
                    <a:pt x="35178" y="51235"/>
                  </a:lnTo>
                  <a:lnTo>
                    <a:pt x="27488" y="62928"/>
                  </a:lnTo>
                  <a:lnTo>
                    <a:pt x="19307" y="71007"/>
                  </a:lnTo>
                  <a:lnTo>
                    <a:pt x="11617" y="86739"/>
                  </a:lnTo>
                  <a:lnTo>
                    <a:pt x="3599" y="98448"/>
                  </a:lnTo>
                  <a:lnTo>
                    <a:pt x="0" y="110141"/>
                  </a:lnTo>
                  <a:lnTo>
                    <a:pt x="0" y="169047"/>
                  </a:lnTo>
                  <a:lnTo>
                    <a:pt x="3599" y="180749"/>
                  </a:lnTo>
                  <a:lnTo>
                    <a:pt x="19307" y="204555"/>
                  </a:lnTo>
                  <a:lnTo>
                    <a:pt x="27488" y="216256"/>
                  </a:lnTo>
                  <a:lnTo>
                    <a:pt x="35178" y="227956"/>
                  </a:lnTo>
                  <a:lnTo>
                    <a:pt x="70521" y="255392"/>
                  </a:lnTo>
                  <a:lnTo>
                    <a:pt x="149060" y="279198"/>
                  </a:lnTo>
                  <a:lnTo>
                    <a:pt x="184402" y="279198"/>
                  </a:lnTo>
                  <a:lnTo>
                    <a:pt x="215981" y="271128"/>
                  </a:lnTo>
                  <a:lnTo>
                    <a:pt x="231689" y="267497"/>
                  </a:lnTo>
                  <a:lnTo>
                    <a:pt x="247233" y="263463"/>
                  </a:lnTo>
                  <a:lnTo>
                    <a:pt x="258851" y="255392"/>
                  </a:lnTo>
                  <a:lnTo>
                    <a:pt x="274722" y="247727"/>
                  </a:lnTo>
                  <a:lnTo>
                    <a:pt x="286503" y="239657"/>
                  </a:lnTo>
                  <a:lnTo>
                    <a:pt x="294520" y="227956"/>
                  </a:lnTo>
                  <a:lnTo>
                    <a:pt x="306301" y="216256"/>
                  </a:lnTo>
                  <a:lnTo>
                    <a:pt x="321682" y="192854"/>
                  </a:lnTo>
                  <a:lnTo>
                    <a:pt x="329863" y="169047"/>
                  </a:lnTo>
                  <a:lnTo>
                    <a:pt x="333462" y="153315"/>
                  </a:lnTo>
                  <a:lnTo>
                    <a:pt x="333462" y="125873"/>
                  </a:lnTo>
                  <a:lnTo>
                    <a:pt x="321682" y="86739"/>
                  </a:lnTo>
                  <a:lnTo>
                    <a:pt x="294520" y="51235"/>
                  </a:lnTo>
                  <a:lnTo>
                    <a:pt x="286503" y="39526"/>
                  </a:lnTo>
                  <a:lnTo>
                    <a:pt x="274722" y="31464"/>
                  </a:lnTo>
                  <a:lnTo>
                    <a:pt x="258850" y="23794"/>
                  </a:lnTo>
                  <a:lnTo>
                    <a:pt x="247233" y="15732"/>
                  </a:lnTo>
                  <a:lnTo>
                    <a:pt x="231689" y="12101"/>
                  </a:lnTo>
                  <a:lnTo>
                    <a:pt x="215981" y="4022"/>
                  </a:lnTo>
                  <a:lnTo>
                    <a:pt x="200110" y="4022"/>
                  </a:lnTo>
                  <a:lnTo>
                    <a:pt x="184402" y="0"/>
                  </a:lnTo>
                  <a:close/>
                </a:path>
              </a:pathLst>
            </a:custGeom>
            <a:solidFill>
              <a:srgbClr val="CCFFCC"/>
            </a:solidFill>
          </p:spPr>
          <p:txBody>
            <a:bodyPr wrap="square" lIns="0" tIns="0" rIns="0" bIns="0" rtlCol="0"/>
            <a:lstStyle/>
            <a:p/>
          </p:txBody>
        </p:sp>
        <p:sp>
          <p:nvSpPr>
            <p:cNvPr id="4" name="object 4" descr=""/>
            <p:cNvSpPr/>
            <p:nvPr/>
          </p:nvSpPr>
          <p:spPr>
            <a:xfrm>
              <a:off x="6298174" y="6040872"/>
              <a:ext cx="334010" cy="279400"/>
            </a:xfrm>
            <a:custGeom>
              <a:avLst/>
              <a:gdLst/>
              <a:ahLst/>
              <a:cxnLst/>
              <a:rect l="l" t="t" r="r" b="b"/>
              <a:pathLst>
                <a:path w="334009" h="279400">
                  <a:moveTo>
                    <a:pt x="164931" y="0"/>
                  </a:moveTo>
                  <a:lnTo>
                    <a:pt x="149060" y="0"/>
                  </a:lnTo>
                  <a:lnTo>
                    <a:pt x="133352" y="4022"/>
                  </a:lnTo>
                  <a:lnTo>
                    <a:pt x="117481" y="4022"/>
                  </a:lnTo>
                  <a:lnTo>
                    <a:pt x="102100" y="12101"/>
                  </a:lnTo>
                  <a:lnTo>
                    <a:pt x="86229" y="15732"/>
                  </a:lnTo>
                  <a:lnTo>
                    <a:pt x="70521" y="23794"/>
                  </a:lnTo>
                  <a:lnTo>
                    <a:pt x="58740" y="31464"/>
                  </a:lnTo>
                  <a:lnTo>
                    <a:pt x="46959" y="39526"/>
                  </a:lnTo>
                  <a:lnTo>
                    <a:pt x="35178" y="51235"/>
                  </a:lnTo>
                  <a:lnTo>
                    <a:pt x="27488" y="62928"/>
                  </a:lnTo>
                  <a:lnTo>
                    <a:pt x="19307" y="71007"/>
                  </a:lnTo>
                  <a:lnTo>
                    <a:pt x="11617" y="86739"/>
                  </a:lnTo>
                  <a:lnTo>
                    <a:pt x="3599" y="98448"/>
                  </a:lnTo>
                  <a:lnTo>
                    <a:pt x="0" y="110141"/>
                  </a:lnTo>
                  <a:lnTo>
                    <a:pt x="0" y="125873"/>
                  </a:lnTo>
                  <a:lnTo>
                    <a:pt x="0" y="137582"/>
                  </a:lnTo>
                  <a:lnTo>
                    <a:pt x="0" y="153315"/>
                  </a:lnTo>
                  <a:lnTo>
                    <a:pt x="0" y="169047"/>
                  </a:lnTo>
                  <a:lnTo>
                    <a:pt x="3599" y="180749"/>
                  </a:lnTo>
                  <a:lnTo>
                    <a:pt x="11617" y="192854"/>
                  </a:lnTo>
                  <a:lnTo>
                    <a:pt x="19307" y="204555"/>
                  </a:lnTo>
                  <a:lnTo>
                    <a:pt x="27488" y="216256"/>
                  </a:lnTo>
                  <a:lnTo>
                    <a:pt x="35178" y="227956"/>
                  </a:lnTo>
                  <a:lnTo>
                    <a:pt x="46959" y="239657"/>
                  </a:lnTo>
                  <a:lnTo>
                    <a:pt x="86229" y="263463"/>
                  </a:lnTo>
                  <a:lnTo>
                    <a:pt x="117481" y="271128"/>
                  </a:lnTo>
                  <a:lnTo>
                    <a:pt x="133352" y="275162"/>
                  </a:lnTo>
                  <a:lnTo>
                    <a:pt x="149060" y="279198"/>
                  </a:lnTo>
                  <a:lnTo>
                    <a:pt x="164931" y="279198"/>
                  </a:lnTo>
                  <a:lnTo>
                    <a:pt x="184402" y="279198"/>
                  </a:lnTo>
                  <a:lnTo>
                    <a:pt x="200110" y="275162"/>
                  </a:lnTo>
                  <a:lnTo>
                    <a:pt x="215981" y="271128"/>
                  </a:lnTo>
                  <a:lnTo>
                    <a:pt x="231689" y="267497"/>
                  </a:lnTo>
                  <a:lnTo>
                    <a:pt x="247233" y="263463"/>
                  </a:lnTo>
                  <a:lnTo>
                    <a:pt x="258851" y="255392"/>
                  </a:lnTo>
                  <a:lnTo>
                    <a:pt x="274722" y="247727"/>
                  </a:lnTo>
                  <a:lnTo>
                    <a:pt x="286503" y="239657"/>
                  </a:lnTo>
                  <a:lnTo>
                    <a:pt x="294520" y="227956"/>
                  </a:lnTo>
                  <a:lnTo>
                    <a:pt x="306301" y="216256"/>
                  </a:lnTo>
                  <a:lnTo>
                    <a:pt x="313991" y="204555"/>
                  </a:lnTo>
                  <a:lnTo>
                    <a:pt x="321682" y="192854"/>
                  </a:lnTo>
                  <a:lnTo>
                    <a:pt x="325772" y="180749"/>
                  </a:lnTo>
                  <a:lnTo>
                    <a:pt x="329863" y="169047"/>
                  </a:lnTo>
                  <a:lnTo>
                    <a:pt x="333462" y="153315"/>
                  </a:lnTo>
                  <a:lnTo>
                    <a:pt x="333462" y="137582"/>
                  </a:lnTo>
                  <a:lnTo>
                    <a:pt x="333462" y="125873"/>
                  </a:lnTo>
                  <a:lnTo>
                    <a:pt x="329863" y="110141"/>
                  </a:lnTo>
                  <a:lnTo>
                    <a:pt x="325772" y="98448"/>
                  </a:lnTo>
                  <a:lnTo>
                    <a:pt x="321682" y="86739"/>
                  </a:lnTo>
                  <a:lnTo>
                    <a:pt x="313991" y="71007"/>
                  </a:lnTo>
                  <a:lnTo>
                    <a:pt x="306301" y="62928"/>
                  </a:lnTo>
                  <a:lnTo>
                    <a:pt x="294520" y="51235"/>
                  </a:lnTo>
                  <a:lnTo>
                    <a:pt x="286503" y="39526"/>
                  </a:lnTo>
                  <a:lnTo>
                    <a:pt x="274722" y="31464"/>
                  </a:lnTo>
                  <a:lnTo>
                    <a:pt x="258850" y="23794"/>
                  </a:lnTo>
                  <a:lnTo>
                    <a:pt x="247233" y="15732"/>
                  </a:lnTo>
                  <a:lnTo>
                    <a:pt x="231689" y="12101"/>
                  </a:lnTo>
                  <a:lnTo>
                    <a:pt x="215981" y="4022"/>
                  </a:lnTo>
                  <a:lnTo>
                    <a:pt x="200110" y="4022"/>
                  </a:lnTo>
                  <a:lnTo>
                    <a:pt x="184402" y="0"/>
                  </a:lnTo>
                  <a:lnTo>
                    <a:pt x="164931" y="0"/>
                  </a:lnTo>
                </a:path>
              </a:pathLst>
            </a:custGeom>
            <a:ln w="11750">
              <a:solidFill>
                <a:srgbClr val="000000"/>
              </a:solidFill>
            </a:ln>
          </p:spPr>
          <p:txBody>
            <a:bodyPr wrap="square" lIns="0" tIns="0" rIns="0" bIns="0" rtlCol="0"/>
            <a:lstStyle/>
            <a:p/>
          </p:txBody>
        </p:sp>
      </p:grpSp>
      <p:grpSp>
        <p:nvGrpSpPr>
          <p:cNvPr id="5" name="object 5" descr=""/>
          <p:cNvGrpSpPr/>
          <p:nvPr/>
        </p:nvGrpSpPr>
        <p:grpSpPr>
          <a:xfrm>
            <a:off x="7168007" y="3525044"/>
            <a:ext cx="345440" cy="290830"/>
            <a:chOff x="7168007" y="3525044"/>
            <a:chExt cx="345440" cy="290830"/>
          </a:xfrm>
        </p:grpSpPr>
        <p:sp>
          <p:nvSpPr>
            <p:cNvPr id="6" name="object 6" descr=""/>
            <p:cNvSpPr/>
            <p:nvPr/>
          </p:nvSpPr>
          <p:spPr>
            <a:xfrm>
              <a:off x="7173882" y="3530919"/>
              <a:ext cx="334010" cy="278765"/>
            </a:xfrm>
            <a:custGeom>
              <a:avLst/>
              <a:gdLst/>
              <a:ahLst/>
              <a:cxnLst/>
              <a:rect l="l" t="t" r="r" b="b"/>
              <a:pathLst>
                <a:path w="334009" h="278764">
                  <a:moveTo>
                    <a:pt x="200274" y="0"/>
                  </a:moveTo>
                  <a:lnTo>
                    <a:pt x="165095" y="0"/>
                  </a:lnTo>
                  <a:lnTo>
                    <a:pt x="133352" y="0"/>
                  </a:lnTo>
                  <a:lnTo>
                    <a:pt x="102264" y="7522"/>
                  </a:lnTo>
                  <a:lnTo>
                    <a:pt x="86392" y="15699"/>
                  </a:lnTo>
                  <a:lnTo>
                    <a:pt x="74611" y="23385"/>
                  </a:lnTo>
                  <a:lnTo>
                    <a:pt x="58904" y="31398"/>
                  </a:lnTo>
                  <a:lnTo>
                    <a:pt x="35342" y="47098"/>
                  </a:lnTo>
                  <a:lnTo>
                    <a:pt x="27652" y="58873"/>
                  </a:lnTo>
                  <a:lnTo>
                    <a:pt x="19471" y="70484"/>
                  </a:lnTo>
                  <a:lnTo>
                    <a:pt x="11780" y="82258"/>
                  </a:lnTo>
                  <a:lnTo>
                    <a:pt x="7853" y="94360"/>
                  </a:lnTo>
                  <a:lnTo>
                    <a:pt x="3763" y="110059"/>
                  </a:lnTo>
                  <a:lnTo>
                    <a:pt x="0" y="121834"/>
                  </a:lnTo>
                  <a:lnTo>
                    <a:pt x="0" y="153233"/>
                  </a:lnTo>
                  <a:lnTo>
                    <a:pt x="3763" y="165007"/>
                  </a:lnTo>
                  <a:lnTo>
                    <a:pt x="7853" y="180707"/>
                  </a:lnTo>
                  <a:lnTo>
                    <a:pt x="11780" y="192318"/>
                  </a:lnTo>
                  <a:lnTo>
                    <a:pt x="19471" y="204093"/>
                  </a:lnTo>
                  <a:lnTo>
                    <a:pt x="27652" y="215867"/>
                  </a:lnTo>
                  <a:lnTo>
                    <a:pt x="35342" y="227969"/>
                  </a:lnTo>
                  <a:lnTo>
                    <a:pt x="47123" y="235492"/>
                  </a:lnTo>
                  <a:lnTo>
                    <a:pt x="58904" y="243668"/>
                  </a:lnTo>
                  <a:lnTo>
                    <a:pt x="74611" y="251355"/>
                  </a:lnTo>
                  <a:lnTo>
                    <a:pt x="86392" y="259368"/>
                  </a:lnTo>
                  <a:lnTo>
                    <a:pt x="102264" y="267054"/>
                  </a:lnTo>
                  <a:lnTo>
                    <a:pt x="117644" y="271142"/>
                  </a:lnTo>
                  <a:lnTo>
                    <a:pt x="133352" y="274740"/>
                  </a:lnTo>
                  <a:lnTo>
                    <a:pt x="149223" y="274740"/>
                  </a:lnTo>
                  <a:lnTo>
                    <a:pt x="165095" y="278665"/>
                  </a:lnTo>
                  <a:lnTo>
                    <a:pt x="184566" y="274740"/>
                  </a:lnTo>
                  <a:lnTo>
                    <a:pt x="200274" y="274740"/>
                  </a:lnTo>
                  <a:lnTo>
                    <a:pt x="216145" y="271142"/>
                  </a:lnTo>
                  <a:lnTo>
                    <a:pt x="231526" y="267054"/>
                  </a:lnTo>
                  <a:lnTo>
                    <a:pt x="247233" y="259368"/>
                  </a:lnTo>
                  <a:lnTo>
                    <a:pt x="259014" y="251355"/>
                  </a:lnTo>
                  <a:lnTo>
                    <a:pt x="274886" y="243668"/>
                  </a:lnTo>
                  <a:lnTo>
                    <a:pt x="286666" y="235492"/>
                  </a:lnTo>
                  <a:lnTo>
                    <a:pt x="298447" y="227969"/>
                  </a:lnTo>
                  <a:lnTo>
                    <a:pt x="321845" y="192318"/>
                  </a:lnTo>
                  <a:lnTo>
                    <a:pt x="325936" y="180707"/>
                  </a:lnTo>
                  <a:lnTo>
                    <a:pt x="330026" y="165007"/>
                  </a:lnTo>
                  <a:lnTo>
                    <a:pt x="333626" y="153233"/>
                  </a:lnTo>
                  <a:lnTo>
                    <a:pt x="333626" y="121834"/>
                  </a:lnTo>
                  <a:lnTo>
                    <a:pt x="330026" y="110059"/>
                  </a:lnTo>
                  <a:lnTo>
                    <a:pt x="325936" y="94360"/>
                  </a:lnTo>
                  <a:lnTo>
                    <a:pt x="321845" y="82258"/>
                  </a:lnTo>
                  <a:lnTo>
                    <a:pt x="298447" y="47098"/>
                  </a:lnTo>
                  <a:lnTo>
                    <a:pt x="274886" y="31398"/>
                  </a:lnTo>
                  <a:lnTo>
                    <a:pt x="259014" y="23385"/>
                  </a:lnTo>
                  <a:lnTo>
                    <a:pt x="247233" y="15699"/>
                  </a:lnTo>
                  <a:lnTo>
                    <a:pt x="231526" y="7522"/>
                  </a:lnTo>
                  <a:lnTo>
                    <a:pt x="200274" y="0"/>
                  </a:lnTo>
                  <a:close/>
                </a:path>
              </a:pathLst>
            </a:custGeom>
            <a:solidFill>
              <a:srgbClr val="CCFFCC"/>
            </a:solidFill>
          </p:spPr>
          <p:txBody>
            <a:bodyPr wrap="square" lIns="0" tIns="0" rIns="0" bIns="0" rtlCol="0"/>
            <a:lstStyle/>
            <a:p/>
          </p:txBody>
        </p:sp>
        <p:sp>
          <p:nvSpPr>
            <p:cNvPr id="7" name="object 7" descr=""/>
            <p:cNvSpPr/>
            <p:nvPr/>
          </p:nvSpPr>
          <p:spPr>
            <a:xfrm>
              <a:off x="7173882" y="3530919"/>
              <a:ext cx="334010" cy="278765"/>
            </a:xfrm>
            <a:custGeom>
              <a:avLst/>
              <a:gdLst/>
              <a:ahLst/>
              <a:cxnLst/>
              <a:rect l="l" t="t" r="r" b="b"/>
              <a:pathLst>
                <a:path w="334009" h="278764">
                  <a:moveTo>
                    <a:pt x="165095" y="0"/>
                  </a:moveTo>
                  <a:lnTo>
                    <a:pt x="149223" y="0"/>
                  </a:lnTo>
                  <a:lnTo>
                    <a:pt x="133352" y="0"/>
                  </a:lnTo>
                  <a:lnTo>
                    <a:pt x="117644" y="3924"/>
                  </a:lnTo>
                  <a:lnTo>
                    <a:pt x="102264" y="7522"/>
                  </a:lnTo>
                  <a:lnTo>
                    <a:pt x="86392" y="15699"/>
                  </a:lnTo>
                  <a:lnTo>
                    <a:pt x="74611" y="23385"/>
                  </a:lnTo>
                  <a:lnTo>
                    <a:pt x="58904" y="31398"/>
                  </a:lnTo>
                  <a:lnTo>
                    <a:pt x="47123" y="39085"/>
                  </a:lnTo>
                  <a:lnTo>
                    <a:pt x="35342" y="47098"/>
                  </a:lnTo>
                  <a:lnTo>
                    <a:pt x="27652" y="58873"/>
                  </a:lnTo>
                  <a:lnTo>
                    <a:pt x="19471" y="70484"/>
                  </a:lnTo>
                  <a:lnTo>
                    <a:pt x="11780" y="82258"/>
                  </a:lnTo>
                  <a:lnTo>
                    <a:pt x="7853" y="94360"/>
                  </a:lnTo>
                  <a:lnTo>
                    <a:pt x="3763" y="110059"/>
                  </a:lnTo>
                  <a:lnTo>
                    <a:pt x="0" y="121834"/>
                  </a:lnTo>
                  <a:lnTo>
                    <a:pt x="0" y="137533"/>
                  </a:lnTo>
                  <a:lnTo>
                    <a:pt x="0" y="153233"/>
                  </a:lnTo>
                  <a:lnTo>
                    <a:pt x="3763" y="165007"/>
                  </a:lnTo>
                  <a:lnTo>
                    <a:pt x="7853" y="180707"/>
                  </a:lnTo>
                  <a:lnTo>
                    <a:pt x="11780" y="192318"/>
                  </a:lnTo>
                  <a:lnTo>
                    <a:pt x="19471" y="204093"/>
                  </a:lnTo>
                  <a:lnTo>
                    <a:pt x="27652" y="215867"/>
                  </a:lnTo>
                  <a:lnTo>
                    <a:pt x="35342" y="227969"/>
                  </a:lnTo>
                  <a:lnTo>
                    <a:pt x="47123" y="235492"/>
                  </a:lnTo>
                  <a:lnTo>
                    <a:pt x="58904" y="243668"/>
                  </a:lnTo>
                  <a:lnTo>
                    <a:pt x="74611" y="251355"/>
                  </a:lnTo>
                  <a:lnTo>
                    <a:pt x="86392" y="259368"/>
                  </a:lnTo>
                  <a:lnTo>
                    <a:pt x="102264" y="267054"/>
                  </a:lnTo>
                  <a:lnTo>
                    <a:pt x="117644" y="271142"/>
                  </a:lnTo>
                  <a:lnTo>
                    <a:pt x="133352" y="274740"/>
                  </a:lnTo>
                  <a:lnTo>
                    <a:pt x="149223" y="274740"/>
                  </a:lnTo>
                  <a:lnTo>
                    <a:pt x="165095" y="278665"/>
                  </a:lnTo>
                  <a:lnTo>
                    <a:pt x="184566" y="274740"/>
                  </a:lnTo>
                  <a:lnTo>
                    <a:pt x="200274" y="274740"/>
                  </a:lnTo>
                  <a:lnTo>
                    <a:pt x="216145" y="271142"/>
                  </a:lnTo>
                  <a:lnTo>
                    <a:pt x="231526" y="267054"/>
                  </a:lnTo>
                  <a:lnTo>
                    <a:pt x="247233" y="259368"/>
                  </a:lnTo>
                  <a:lnTo>
                    <a:pt x="259014" y="251355"/>
                  </a:lnTo>
                  <a:lnTo>
                    <a:pt x="274886" y="243668"/>
                  </a:lnTo>
                  <a:lnTo>
                    <a:pt x="286666" y="235492"/>
                  </a:lnTo>
                  <a:lnTo>
                    <a:pt x="298447" y="227969"/>
                  </a:lnTo>
                  <a:lnTo>
                    <a:pt x="306465" y="215867"/>
                  </a:lnTo>
                  <a:lnTo>
                    <a:pt x="314155" y="204093"/>
                  </a:lnTo>
                  <a:lnTo>
                    <a:pt x="321845" y="192318"/>
                  </a:lnTo>
                  <a:lnTo>
                    <a:pt x="325936" y="180707"/>
                  </a:lnTo>
                  <a:lnTo>
                    <a:pt x="330026" y="165007"/>
                  </a:lnTo>
                  <a:lnTo>
                    <a:pt x="333626" y="153233"/>
                  </a:lnTo>
                  <a:lnTo>
                    <a:pt x="333626" y="137533"/>
                  </a:lnTo>
                  <a:lnTo>
                    <a:pt x="333626" y="121834"/>
                  </a:lnTo>
                  <a:lnTo>
                    <a:pt x="330026" y="110059"/>
                  </a:lnTo>
                  <a:lnTo>
                    <a:pt x="325936" y="94360"/>
                  </a:lnTo>
                  <a:lnTo>
                    <a:pt x="306465" y="58873"/>
                  </a:lnTo>
                  <a:lnTo>
                    <a:pt x="274886" y="31398"/>
                  </a:lnTo>
                  <a:lnTo>
                    <a:pt x="259014" y="23385"/>
                  </a:lnTo>
                  <a:lnTo>
                    <a:pt x="247233" y="15699"/>
                  </a:lnTo>
                  <a:lnTo>
                    <a:pt x="231526" y="7522"/>
                  </a:lnTo>
                  <a:lnTo>
                    <a:pt x="216145" y="3924"/>
                  </a:lnTo>
                  <a:lnTo>
                    <a:pt x="200274" y="0"/>
                  </a:lnTo>
                  <a:lnTo>
                    <a:pt x="184566" y="0"/>
                  </a:lnTo>
                  <a:lnTo>
                    <a:pt x="165095" y="0"/>
                  </a:lnTo>
                </a:path>
              </a:pathLst>
            </a:custGeom>
            <a:ln w="11750">
              <a:solidFill>
                <a:srgbClr val="000000"/>
              </a:solidFill>
            </a:ln>
          </p:spPr>
          <p:txBody>
            <a:bodyPr wrap="square" lIns="0" tIns="0" rIns="0" bIns="0" rtlCol="0"/>
            <a:lstStyle/>
            <a:p/>
          </p:txBody>
        </p:sp>
      </p:grpSp>
      <p:grpSp>
        <p:nvGrpSpPr>
          <p:cNvPr id="8" name="object 8" descr=""/>
          <p:cNvGrpSpPr/>
          <p:nvPr/>
        </p:nvGrpSpPr>
        <p:grpSpPr>
          <a:xfrm>
            <a:off x="2973639" y="3725049"/>
            <a:ext cx="345440" cy="291465"/>
            <a:chOff x="2973639" y="3725049"/>
            <a:chExt cx="345440" cy="291465"/>
          </a:xfrm>
        </p:grpSpPr>
        <p:sp>
          <p:nvSpPr>
            <p:cNvPr id="9" name="object 9" descr=""/>
            <p:cNvSpPr/>
            <p:nvPr/>
          </p:nvSpPr>
          <p:spPr>
            <a:xfrm>
              <a:off x="2979514" y="3730924"/>
              <a:ext cx="334010" cy="279400"/>
            </a:xfrm>
            <a:custGeom>
              <a:avLst/>
              <a:gdLst/>
              <a:ahLst/>
              <a:cxnLst/>
              <a:rect l="l" t="t" r="r" b="b"/>
              <a:pathLst>
                <a:path w="334010" h="279400">
                  <a:moveTo>
                    <a:pt x="200225" y="0"/>
                  </a:moveTo>
                  <a:lnTo>
                    <a:pt x="164964" y="0"/>
                  </a:lnTo>
                  <a:lnTo>
                    <a:pt x="133352" y="0"/>
                  </a:lnTo>
                  <a:lnTo>
                    <a:pt x="101740" y="8176"/>
                  </a:lnTo>
                  <a:lnTo>
                    <a:pt x="35260" y="47261"/>
                  </a:lnTo>
                  <a:lnTo>
                    <a:pt x="11764" y="82749"/>
                  </a:lnTo>
                  <a:lnTo>
                    <a:pt x="0" y="110223"/>
                  </a:lnTo>
                  <a:lnTo>
                    <a:pt x="0" y="165007"/>
                  </a:lnTo>
                  <a:lnTo>
                    <a:pt x="3648" y="180870"/>
                  </a:lnTo>
                  <a:lnTo>
                    <a:pt x="27161" y="216358"/>
                  </a:lnTo>
                  <a:lnTo>
                    <a:pt x="35260" y="227969"/>
                  </a:lnTo>
                  <a:lnTo>
                    <a:pt x="47025" y="236146"/>
                  </a:lnTo>
                  <a:lnTo>
                    <a:pt x="58773" y="247757"/>
                  </a:lnTo>
                  <a:lnTo>
                    <a:pt x="70521" y="255443"/>
                  </a:lnTo>
                  <a:lnTo>
                    <a:pt x="86327" y="259531"/>
                  </a:lnTo>
                  <a:lnTo>
                    <a:pt x="101740" y="267545"/>
                  </a:lnTo>
                  <a:lnTo>
                    <a:pt x="117546" y="271142"/>
                  </a:lnTo>
                  <a:lnTo>
                    <a:pt x="133352" y="275231"/>
                  </a:lnTo>
                  <a:lnTo>
                    <a:pt x="149158" y="275231"/>
                  </a:lnTo>
                  <a:lnTo>
                    <a:pt x="164964" y="279319"/>
                  </a:lnTo>
                  <a:lnTo>
                    <a:pt x="184419" y="275231"/>
                  </a:lnTo>
                  <a:lnTo>
                    <a:pt x="200225" y="275231"/>
                  </a:lnTo>
                  <a:lnTo>
                    <a:pt x="215621" y="271142"/>
                  </a:lnTo>
                  <a:lnTo>
                    <a:pt x="231427" y="267545"/>
                  </a:lnTo>
                  <a:lnTo>
                    <a:pt x="247233" y="259531"/>
                  </a:lnTo>
                  <a:lnTo>
                    <a:pt x="258981" y="255443"/>
                  </a:lnTo>
                  <a:lnTo>
                    <a:pt x="274804" y="247757"/>
                  </a:lnTo>
                  <a:lnTo>
                    <a:pt x="286552" y="236146"/>
                  </a:lnTo>
                  <a:lnTo>
                    <a:pt x="294242" y="227969"/>
                  </a:lnTo>
                  <a:lnTo>
                    <a:pt x="306007" y="216358"/>
                  </a:lnTo>
                  <a:lnTo>
                    <a:pt x="321812" y="192972"/>
                  </a:lnTo>
                  <a:lnTo>
                    <a:pt x="325870" y="180870"/>
                  </a:lnTo>
                  <a:lnTo>
                    <a:pt x="329519" y="165007"/>
                  </a:lnTo>
                  <a:lnTo>
                    <a:pt x="333561" y="153396"/>
                  </a:lnTo>
                  <a:lnTo>
                    <a:pt x="333561" y="121834"/>
                  </a:lnTo>
                  <a:lnTo>
                    <a:pt x="329519" y="110223"/>
                  </a:lnTo>
                  <a:lnTo>
                    <a:pt x="325870" y="98448"/>
                  </a:lnTo>
                  <a:lnTo>
                    <a:pt x="306007" y="59363"/>
                  </a:lnTo>
                  <a:lnTo>
                    <a:pt x="274804" y="31562"/>
                  </a:lnTo>
                  <a:lnTo>
                    <a:pt x="258981" y="23876"/>
                  </a:lnTo>
                  <a:lnTo>
                    <a:pt x="247233" y="15863"/>
                  </a:lnTo>
                  <a:lnTo>
                    <a:pt x="231427" y="8176"/>
                  </a:lnTo>
                  <a:lnTo>
                    <a:pt x="200225" y="0"/>
                  </a:lnTo>
                  <a:close/>
                </a:path>
              </a:pathLst>
            </a:custGeom>
            <a:solidFill>
              <a:srgbClr val="CCFFCC"/>
            </a:solidFill>
          </p:spPr>
          <p:txBody>
            <a:bodyPr wrap="square" lIns="0" tIns="0" rIns="0" bIns="0" rtlCol="0"/>
            <a:lstStyle/>
            <a:p/>
          </p:txBody>
        </p:sp>
        <p:sp>
          <p:nvSpPr>
            <p:cNvPr id="10" name="object 10" descr=""/>
            <p:cNvSpPr/>
            <p:nvPr/>
          </p:nvSpPr>
          <p:spPr>
            <a:xfrm>
              <a:off x="2979514" y="3730924"/>
              <a:ext cx="334010" cy="279400"/>
            </a:xfrm>
            <a:custGeom>
              <a:avLst/>
              <a:gdLst/>
              <a:ahLst/>
              <a:cxnLst/>
              <a:rect l="l" t="t" r="r" b="b"/>
              <a:pathLst>
                <a:path w="334010" h="279400">
                  <a:moveTo>
                    <a:pt x="164964" y="0"/>
                  </a:moveTo>
                  <a:lnTo>
                    <a:pt x="149158" y="0"/>
                  </a:lnTo>
                  <a:lnTo>
                    <a:pt x="133352" y="0"/>
                  </a:lnTo>
                  <a:lnTo>
                    <a:pt x="117546" y="4088"/>
                  </a:lnTo>
                  <a:lnTo>
                    <a:pt x="70521" y="23876"/>
                  </a:lnTo>
                  <a:lnTo>
                    <a:pt x="47025" y="39575"/>
                  </a:lnTo>
                  <a:lnTo>
                    <a:pt x="35260" y="47261"/>
                  </a:lnTo>
                  <a:lnTo>
                    <a:pt x="27161" y="59363"/>
                  </a:lnTo>
                  <a:lnTo>
                    <a:pt x="19454" y="71138"/>
                  </a:lnTo>
                  <a:lnTo>
                    <a:pt x="11764" y="82749"/>
                  </a:lnTo>
                  <a:lnTo>
                    <a:pt x="3648" y="98448"/>
                  </a:lnTo>
                  <a:lnTo>
                    <a:pt x="0" y="110223"/>
                  </a:lnTo>
                  <a:lnTo>
                    <a:pt x="0" y="121834"/>
                  </a:lnTo>
                  <a:lnTo>
                    <a:pt x="0" y="137697"/>
                  </a:lnTo>
                  <a:lnTo>
                    <a:pt x="0" y="153396"/>
                  </a:lnTo>
                  <a:lnTo>
                    <a:pt x="0" y="165007"/>
                  </a:lnTo>
                  <a:lnTo>
                    <a:pt x="3648" y="180870"/>
                  </a:lnTo>
                  <a:lnTo>
                    <a:pt x="11764" y="192972"/>
                  </a:lnTo>
                  <a:lnTo>
                    <a:pt x="19454" y="204583"/>
                  </a:lnTo>
                  <a:lnTo>
                    <a:pt x="27161" y="216358"/>
                  </a:lnTo>
                  <a:lnTo>
                    <a:pt x="35260" y="227969"/>
                  </a:lnTo>
                  <a:lnTo>
                    <a:pt x="47025" y="236146"/>
                  </a:lnTo>
                  <a:lnTo>
                    <a:pt x="58773" y="247757"/>
                  </a:lnTo>
                  <a:lnTo>
                    <a:pt x="70521" y="255443"/>
                  </a:lnTo>
                  <a:lnTo>
                    <a:pt x="86327" y="259531"/>
                  </a:lnTo>
                  <a:lnTo>
                    <a:pt x="101740" y="267545"/>
                  </a:lnTo>
                  <a:lnTo>
                    <a:pt x="117546" y="271142"/>
                  </a:lnTo>
                  <a:lnTo>
                    <a:pt x="133352" y="275231"/>
                  </a:lnTo>
                  <a:lnTo>
                    <a:pt x="149158" y="275231"/>
                  </a:lnTo>
                  <a:lnTo>
                    <a:pt x="164964" y="279319"/>
                  </a:lnTo>
                  <a:lnTo>
                    <a:pt x="184419" y="275231"/>
                  </a:lnTo>
                  <a:lnTo>
                    <a:pt x="200225" y="275231"/>
                  </a:lnTo>
                  <a:lnTo>
                    <a:pt x="215621" y="271142"/>
                  </a:lnTo>
                  <a:lnTo>
                    <a:pt x="231427" y="267545"/>
                  </a:lnTo>
                  <a:lnTo>
                    <a:pt x="247233" y="259531"/>
                  </a:lnTo>
                  <a:lnTo>
                    <a:pt x="258981" y="255443"/>
                  </a:lnTo>
                  <a:lnTo>
                    <a:pt x="274804" y="247757"/>
                  </a:lnTo>
                  <a:lnTo>
                    <a:pt x="286552" y="236146"/>
                  </a:lnTo>
                  <a:lnTo>
                    <a:pt x="294242" y="227969"/>
                  </a:lnTo>
                  <a:lnTo>
                    <a:pt x="306007" y="216358"/>
                  </a:lnTo>
                  <a:lnTo>
                    <a:pt x="314106" y="204583"/>
                  </a:lnTo>
                  <a:lnTo>
                    <a:pt x="321812" y="192972"/>
                  </a:lnTo>
                  <a:lnTo>
                    <a:pt x="325870" y="180870"/>
                  </a:lnTo>
                  <a:lnTo>
                    <a:pt x="329519" y="165007"/>
                  </a:lnTo>
                  <a:lnTo>
                    <a:pt x="333561" y="153396"/>
                  </a:lnTo>
                  <a:lnTo>
                    <a:pt x="333561" y="137697"/>
                  </a:lnTo>
                  <a:lnTo>
                    <a:pt x="333561" y="121834"/>
                  </a:lnTo>
                  <a:lnTo>
                    <a:pt x="329519" y="110223"/>
                  </a:lnTo>
                  <a:lnTo>
                    <a:pt x="325870" y="98448"/>
                  </a:lnTo>
                  <a:lnTo>
                    <a:pt x="306007" y="59363"/>
                  </a:lnTo>
                  <a:lnTo>
                    <a:pt x="274804" y="31562"/>
                  </a:lnTo>
                  <a:lnTo>
                    <a:pt x="258981" y="23876"/>
                  </a:lnTo>
                  <a:lnTo>
                    <a:pt x="247233" y="15863"/>
                  </a:lnTo>
                  <a:lnTo>
                    <a:pt x="231427" y="8176"/>
                  </a:lnTo>
                  <a:lnTo>
                    <a:pt x="215621" y="4088"/>
                  </a:lnTo>
                  <a:lnTo>
                    <a:pt x="200225" y="0"/>
                  </a:lnTo>
                  <a:lnTo>
                    <a:pt x="184419" y="0"/>
                  </a:lnTo>
                  <a:lnTo>
                    <a:pt x="164964" y="0"/>
                  </a:lnTo>
                </a:path>
              </a:pathLst>
            </a:custGeom>
            <a:ln w="11750">
              <a:solidFill>
                <a:srgbClr val="000000"/>
              </a:solidFill>
            </a:ln>
          </p:spPr>
          <p:txBody>
            <a:bodyPr wrap="square" lIns="0" tIns="0" rIns="0" bIns="0" rtlCol="0"/>
            <a:lstStyle/>
            <a:p/>
          </p:txBody>
        </p:sp>
      </p:grpSp>
      <p:grpSp>
        <p:nvGrpSpPr>
          <p:cNvPr id="11" name="object 11" descr=""/>
          <p:cNvGrpSpPr/>
          <p:nvPr/>
        </p:nvGrpSpPr>
        <p:grpSpPr>
          <a:xfrm>
            <a:off x="3071732" y="1556823"/>
            <a:ext cx="2694305" cy="314960"/>
            <a:chOff x="3071732" y="1556823"/>
            <a:chExt cx="2694305" cy="314960"/>
          </a:xfrm>
        </p:grpSpPr>
        <p:sp>
          <p:nvSpPr>
            <p:cNvPr id="12" name="object 12" descr=""/>
            <p:cNvSpPr/>
            <p:nvPr/>
          </p:nvSpPr>
          <p:spPr>
            <a:xfrm>
              <a:off x="3077606" y="1562697"/>
              <a:ext cx="2682875" cy="302895"/>
            </a:xfrm>
            <a:custGeom>
              <a:avLst/>
              <a:gdLst/>
              <a:ahLst/>
              <a:cxnLst/>
              <a:rect l="l" t="t" r="r" b="b"/>
              <a:pathLst>
                <a:path w="2682875" h="302894">
                  <a:moveTo>
                    <a:pt x="2682265" y="0"/>
                  </a:moveTo>
                  <a:lnTo>
                    <a:pt x="0" y="0"/>
                  </a:lnTo>
                  <a:lnTo>
                    <a:pt x="0" y="302607"/>
                  </a:lnTo>
                  <a:lnTo>
                    <a:pt x="2682265" y="302607"/>
                  </a:lnTo>
                  <a:lnTo>
                    <a:pt x="2682265" y="0"/>
                  </a:lnTo>
                  <a:close/>
                </a:path>
              </a:pathLst>
            </a:custGeom>
            <a:solidFill>
              <a:srgbClr val="FFCCFF"/>
            </a:solidFill>
          </p:spPr>
          <p:txBody>
            <a:bodyPr wrap="square" lIns="0" tIns="0" rIns="0" bIns="0" rtlCol="0"/>
            <a:lstStyle/>
            <a:p/>
          </p:txBody>
        </p:sp>
        <p:sp>
          <p:nvSpPr>
            <p:cNvPr id="13" name="object 13" descr=""/>
            <p:cNvSpPr/>
            <p:nvPr/>
          </p:nvSpPr>
          <p:spPr>
            <a:xfrm>
              <a:off x="3077606" y="1562697"/>
              <a:ext cx="2682875" cy="302895"/>
            </a:xfrm>
            <a:custGeom>
              <a:avLst/>
              <a:gdLst/>
              <a:ahLst/>
              <a:cxnLst/>
              <a:rect l="l" t="t" r="r" b="b"/>
              <a:pathLst>
                <a:path w="2682875" h="302894">
                  <a:moveTo>
                    <a:pt x="0" y="302607"/>
                  </a:moveTo>
                  <a:lnTo>
                    <a:pt x="2682265" y="302607"/>
                  </a:lnTo>
                  <a:lnTo>
                    <a:pt x="2682265" y="0"/>
                  </a:lnTo>
                  <a:lnTo>
                    <a:pt x="0" y="0"/>
                  </a:lnTo>
                  <a:lnTo>
                    <a:pt x="0" y="302607"/>
                  </a:lnTo>
                  <a:close/>
                </a:path>
              </a:pathLst>
            </a:custGeom>
            <a:ln w="11747">
              <a:solidFill>
                <a:srgbClr val="000000"/>
              </a:solidFill>
            </a:ln>
          </p:spPr>
          <p:txBody>
            <a:bodyPr wrap="square" lIns="0" tIns="0" rIns="0" bIns="0" rtlCol="0"/>
            <a:lstStyle/>
            <a:p/>
          </p:txBody>
        </p:sp>
      </p:grpSp>
      <p:sp>
        <p:nvSpPr>
          <p:cNvPr id="14" name="object 14" descr=""/>
          <p:cNvSpPr/>
          <p:nvPr/>
        </p:nvSpPr>
        <p:spPr>
          <a:xfrm>
            <a:off x="2633797" y="1055898"/>
            <a:ext cx="5086350" cy="302895"/>
          </a:xfrm>
          <a:custGeom>
            <a:avLst/>
            <a:gdLst/>
            <a:ahLst/>
            <a:cxnLst/>
            <a:rect l="l" t="t" r="r" b="b"/>
            <a:pathLst>
              <a:path w="5086350" h="302894">
                <a:moveTo>
                  <a:pt x="5086045" y="0"/>
                </a:moveTo>
                <a:lnTo>
                  <a:pt x="0" y="0"/>
                </a:lnTo>
                <a:lnTo>
                  <a:pt x="0" y="302607"/>
                </a:lnTo>
                <a:lnTo>
                  <a:pt x="5086045" y="302607"/>
                </a:lnTo>
                <a:lnTo>
                  <a:pt x="5086045" y="0"/>
                </a:lnTo>
                <a:close/>
              </a:path>
            </a:pathLst>
          </a:custGeom>
          <a:solidFill>
            <a:srgbClr val="FFCCCC"/>
          </a:solidFill>
        </p:spPr>
        <p:txBody>
          <a:bodyPr wrap="square" lIns="0" tIns="0" rIns="0" bIns="0" rtlCol="0"/>
          <a:lstStyle/>
          <a:p/>
        </p:txBody>
      </p:sp>
      <p:sp>
        <p:nvSpPr>
          <p:cNvPr id="15" name="object 15" descr=""/>
          <p:cNvSpPr/>
          <p:nvPr/>
        </p:nvSpPr>
        <p:spPr>
          <a:xfrm>
            <a:off x="2633798" y="2081106"/>
            <a:ext cx="2879090" cy="302895"/>
          </a:xfrm>
          <a:custGeom>
            <a:avLst/>
            <a:gdLst/>
            <a:ahLst/>
            <a:cxnLst/>
            <a:rect l="l" t="t" r="r" b="b"/>
            <a:pathLst>
              <a:path w="2879090" h="302894">
                <a:moveTo>
                  <a:pt x="2878776" y="0"/>
                </a:moveTo>
                <a:lnTo>
                  <a:pt x="0" y="0"/>
                </a:lnTo>
                <a:lnTo>
                  <a:pt x="0" y="302607"/>
                </a:lnTo>
                <a:lnTo>
                  <a:pt x="2878776" y="302607"/>
                </a:lnTo>
                <a:lnTo>
                  <a:pt x="2878776" y="0"/>
                </a:lnTo>
                <a:close/>
              </a:path>
            </a:pathLst>
          </a:custGeom>
          <a:solidFill>
            <a:srgbClr val="D4D4FF"/>
          </a:solidFill>
        </p:spPr>
        <p:txBody>
          <a:bodyPr wrap="square" lIns="0" tIns="0" rIns="0" bIns="0" rtlCol="0"/>
          <a:lstStyle/>
          <a:p/>
        </p:txBody>
      </p:sp>
      <p:sp>
        <p:nvSpPr>
          <p:cNvPr id="16" name="object 16" descr=""/>
          <p:cNvSpPr/>
          <p:nvPr/>
        </p:nvSpPr>
        <p:spPr>
          <a:xfrm>
            <a:off x="4353846" y="4505235"/>
            <a:ext cx="3966845" cy="306705"/>
          </a:xfrm>
          <a:custGeom>
            <a:avLst/>
            <a:gdLst/>
            <a:ahLst/>
            <a:cxnLst/>
            <a:rect l="l" t="t" r="r" b="b"/>
            <a:pathLst>
              <a:path w="3966845" h="306704">
                <a:moveTo>
                  <a:pt x="3966703" y="0"/>
                </a:moveTo>
                <a:lnTo>
                  <a:pt x="0" y="0"/>
                </a:lnTo>
                <a:lnTo>
                  <a:pt x="0" y="306237"/>
                </a:lnTo>
                <a:lnTo>
                  <a:pt x="3966703" y="306237"/>
                </a:lnTo>
                <a:lnTo>
                  <a:pt x="3966703" y="0"/>
                </a:lnTo>
                <a:close/>
              </a:path>
            </a:pathLst>
          </a:custGeom>
          <a:solidFill>
            <a:srgbClr val="D4D4FF"/>
          </a:solidFill>
        </p:spPr>
        <p:txBody>
          <a:bodyPr wrap="square" lIns="0" tIns="0" rIns="0" bIns="0" rtlCol="0"/>
          <a:lstStyle/>
          <a:p/>
        </p:txBody>
      </p:sp>
      <p:sp>
        <p:nvSpPr>
          <p:cNvPr id="17" name="object 17" descr=""/>
          <p:cNvSpPr/>
          <p:nvPr/>
        </p:nvSpPr>
        <p:spPr>
          <a:xfrm>
            <a:off x="6895069" y="5114080"/>
            <a:ext cx="2957195" cy="813435"/>
          </a:xfrm>
          <a:custGeom>
            <a:avLst/>
            <a:gdLst/>
            <a:ahLst/>
            <a:cxnLst/>
            <a:rect l="l" t="t" r="r" b="b"/>
            <a:pathLst>
              <a:path w="2957195" h="813435">
                <a:moveTo>
                  <a:pt x="2956988" y="0"/>
                </a:moveTo>
                <a:lnTo>
                  <a:pt x="0" y="0"/>
                </a:lnTo>
                <a:lnTo>
                  <a:pt x="0" y="813003"/>
                </a:lnTo>
                <a:lnTo>
                  <a:pt x="2956988" y="813003"/>
                </a:lnTo>
                <a:lnTo>
                  <a:pt x="2956988" y="0"/>
                </a:lnTo>
                <a:close/>
              </a:path>
            </a:pathLst>
          </a:custGeom>
          <a:solidFill>
            <a:srgbClr val="CCFFFF"/>
          </a:solidFill>
        </p:spPr>
        <p:txBody>
          <a:bodyPr wrap="square" lIns="0" tIns="0" rIns="0" bIns="0" rtlCol="0"/>
          <a:lstStyle/>
          <a:p/>
        </p:txBody>
      </p:sp>
      <p:grpSp>
        <p:nvGrpSpPr>
          <p:cNvPr id="18" name="object 18" descr=""/>
          <p:cNvGrpSpPr/>
          <p:nvPr/>
        </p:nvGrpSpPr>
        <p:grpSpPr>
          <a:xfrm>
            <a:off x="3032255" y="2998350"/>
            <a:ext cx="2553335" cy="495934"/>
            <a:chOff x="3032255" y="2998350"/>
            <a:chExt cx="2553335" cy="495934"/>
          </a:xfrm>
        </p:grpSpPr>
        <p:sp>
          <p:nvSpPr>
            <p:cNvPr id="19" name="object 19" descr=""/>
            <p:cNvSpPr/>
            <p:nvPr/>
          </p:nvSpPr>
          <p:spPr>
            <a:xfrm>
              <a:off x="3038287" y="3004382"/>
              <a:ext cx="2541270" cy="483870"/>
            </a:xfrm>
            <a:custGeom>
              <a:avLst/>
              <a:gdLst/>
              <a:ahLst/>
              <a:cxnLst/>
              <a:rect l="l" t="t" r="r" b="b"/>
              <a:pathLst>
                <a:path w="2541270" h="483870">
                  <a:moveTo>
                    <a:pt x="2540895" y="0"/>
                  </a:moveTo>
                  <a:lnTo>
                    <a:pt x="0" y="0"/>
                  </a:lnTo>
                  <a:lnTo>
                    <a:pt x="0" y="483363"/>
                  </a:lnTo>
                  <a:lnTo>
                    <a:pt x="2540895" y="483363"/>
                  </a:lnTo>
                  <a:lnTo>
                    <a:pt x="2540895" y="0"/>
                  </a:lnTo>
                  <a:close/>
                </a:path>
              </a:pathLst>
            </a:custGeom>
            <a:solidFill>
              <a:srgbClr val="CCFFFF"/>
            </a:solidFill>
          </p:spPr>
          <p:txBody>
            <a:bodyPr wrap="square" lIns="0" tIns="0" rIns="0" bIns="0" rtlCol="0"/>
            <a:lstStyle/>
            <a:p/>
          </p:txBody>
        </p:sp>
        <p:sp>
          <p:nvSpPr>
            <p:cNvPr id="20" name="object 20" descr=""/>
            <p:cNvSpPr/>
            <p:nvPr/>
          </p:nvSpPr>
          <p:spPr>
            <a:xfrm>
              <a:off x="3038287" y="3004382"/>
              <a:ext cx="2541270" cy="483870"/>
            </a:xfrm>
            <a:custGeom>
              <a:avLst/>
              <a:gdLst/>
              <a:ahLst/>
              <a:cxnLst/>
              <a:rect l="l" t="t" r="r" b="b"/>
              <a:pathLst>
                <a:path w="2541270" h="483870">
                  <a:moveTo>
                    <a:pt x="0" y="483363"/>
                  </a:moveTo>
                  <a:lnTo>
                    <a:pt x="2540895" y="483363"/>
                  </a:lnTo>
                  <a:lnTo>
                    <a:pt x="2540895" y="0"/>
                  </a:lnTo>
                  <a:lnTo>
                    <a:pt x="0" y="0"/>
                  </a:lnTo>
                  <a:lnTo>
                    <a:pt x="0" y="483363"/>
                  </a:lnTo>
                  <a:close/>
                </a:path>
              </a:pathLst>
            </a:custGeom>
            <a:ln w="11747">
              <a:solidFill>
                <a:srgbClr val="000000"/>
              </a:solidFill>
            </a:ln>
          </p:spPr>
          <p:txBody>
            <a:bodyPr wrap="square" lIns="0" tIns="0" rIns="0" bIns="0" rtlCol="0"/>
            <a:lstStyle/>
            <a:p/>
          </p:txBody>
        </p:sp>
      </p:grpSp>
      <p:sp>
        <p:nvSpPr>
          <p:cNvPr id="21" name="object 21" descr=""/>
          <p:cNvSpPr txBox="1"/>
          <p:nvPr/>
        </p:nvSpPr>
        <p:spPr>
          <a:xfrm>
            <a:off x="2633797" y="572501"/>
            <a:ext cx="5086350" cy="279400"/>
          </a:xfrm>
          <a:prstGeom prst="rect">
            <a:avLst/>
          </a:prstGeom>
          <a:solidFill>
            <a:srgbClr val="FFFFCC"/>
          </a:solidFill>
          <a:ln w="11747">
            <a:solidFill>
              <a:srgbClr val="000000"/>
            </a:solidFill>
          </a:ln>
        </p:spPr>
        <p:txBody>
          <a:bodyPr wrap="square" lIns="0" tIns="50165" rIns="0" bIns="0" rtlCol="0" vert="horz">
            <a:spAutoFit/>
          </a:bodyPr>
          <a:lstStyle/>
          <a:p>
            <a:pPr algn="ctr" marR="31750">
              <a:lnSpc>
                <a:spcPct val="100000"/>
              </a:lnSpc>
              <a:spcBef>
                <a:spcPts val="395"/>
              </a:spcBef>
            </a:pPr>
            <a:r>
              <a:rPr dirty="0" sz="1150" spc="-5" b="1">
                <a:solidFill>
                  <a:srgbClr val="0000FF"/>
                </a:solidFill>
                <a:latin typeface="宋体"/>
                <a:cs typeface="宋体"/>
              </a:rPr>
              <a:t>虚拟地址</a:t>
            </a:r>
            <a:r>
              <a:rPr dirty="0" sz="1150" spc="-20" b="1">
                <a:solidFill>
                  <a:srgbClr val="0000FF"/>
                </a:solidFill>
                <a:latin typeface="宋体"/>
                <a:cs typeface="宋体"/>
              </a:rPr>
              <a:t>&lt;48&gt;</a:t>
            </a:r>
            <a:endParaRPr sz="1150">
              <a:latin typeface="宋体"/>
              <a:cs typeface="宋体"/>
            </a:endParaRPr>
          </a:p>
        </p:txBody>
      </p:sp>
      <p:pic>
        <p:nvPicPr>
          <p:cNvPr id="22" name="object 22" descr=""/>
          <p:cNvPicPr/>
          <p:nvPr/>
        </p:nvPicPr>
        <p:blipFill>
          <a:blip r:embed="rId2" cstate="print"/>
          <a:stretch>
            <a:fillRect/>
          </a:stretch>
        </p:blipFill>
        <p:spPr>
          <a:xfrm>
            <a:off x="5143753" y="844120"/>
            <a:ext cx="70973" cy="216322"/>
          </a:xfrm>
          <a:prstGeom prst="rect">
            <a:avLst/>
          </a:prstGeom>
        </p:spPr>
      </p:pic>
      <p:sp>
        <p:nvSpPr>
          <p:cNvPr id="23" name="object 23" descr=""/>
          <p:cNvSpPr txBox="1"/>
          <p:nvPr/>
        </p:nvSpPr>
        <p:spPr>
          <a:xfrm>
            <a:off x="2633797" y="1055898"/>
            <a:ext cx="2820035" cy="302895"/>
          </a:xfrm>
          <a:prstGeom prst="rect">
            <a:avLst/>
          </a:prstGeom>
          <a:solidFill>
            <a:srgbClr val="FFCCCC"/>
          </a:solidFill>
          <a:ln w="11753">
            <a:solidFill>
              <a:srgbClr val="000000"/>
            </a:solidFill>
          </a:ln>
        </p:spPr>
        <p:txBody>
          <a:bodyPr wrap="square" lIns="0" tIns="73660" rIns="0" bIns="0" rtlCol="0" vert="horz">
            <a:spAutoFit/>
          </a:bodyPr>
          <a:lstStyle/>
          <a:p>
            <a:pPr marL="918210">
              <a:lnSpc>
                <a:spcPct val="100000"/>
              </a:lnSpc>
              <a:spcBef>
                <a:spcPts val="580"/>
              </a:spcBef>
            </a:pPr>
            <a:r>
              <a:rPr dirty="0" sz="1150" spc="-5" b="1">
                <a:latin typeface="宋体"/>
                <a:cs typeface="宋体"/>
              </a:rPr>
              <a:t>虚页号&lt;</a:t>
            </a:r>
            <a:r>
              <a:rPr dirty="0" sz="1150" spc="-20" b="1">
                <a:latin typeface="宋体"/>
                <a:cs typeface="宋体"/>
              </a:rPr>
              <a:t>36&gt;</a:t>
            </a:r>
            <a:endParaRPr sz="1150">
              <a:latin typeface="宋体"/>
              <a:cs typeface="宋体"/>
            </a:endParaRPr>
          </a:p>
        </p:txBody>
      </p:sp>
      <p:sp>
        <p:nvSpPr>
          <p:cNvPr id="24" name="object 24" descr=""/>
          <p:cNvSpPr txBox="1"/>
          <p:nvPr/>
        </p:nvSpPr>
        <p:spPr>
          <a:xfrm>
            <a:off x="5453390" y="1055898"/>
            <a:ext cx="2266950" cy="302895"/>
          </a:xfrm>
          <a:prstGeom prst="rect">
            <a:avLst/>
          </a:prstGeom>
          <a:solidFill>
            <a:srgbClr val="FFCCCC"/>
          </a:solidFill>
          <a:ln w="11747">
            <a:solidFill>
              <a:srgbClr val="000000"/>
            </a:solidFill>
          </a:ln>
        </p:spPr>
        <p:txBody>
          <a:bodyPr wrap="square" lIns="0" tIns="73660" rIns="0" bIns="0" rtlCol="0" vert="horz">
            <a:spAutoFit/>
          </a:bodyPr>
          <a:lstStyle/>
          <a:p>
            <a:pPr marL="738505">
              <a:lnSpc>
                <a:spcPct val="100000"/>
              </a:lnSpc>
              <a:spcBef>
                <a:spcPts val="580"/>
              </a:spcBef>
            </a:pPr>
            <a:r>
              <a:rPr dirty="0" sz="1150" spc="-10" b="1">
                <a:latin typeface="宋体"/>
                <a:cs typeface="宋体"/>
              </a:rPr>
              <a:t>页内位移</a:t>
            </a:r>
            <a:r>
              <a:rPr dirty="0" sz="1150" spc="-20" b="1">
                <a:latin typeface="宋体"/>
                <a:cs typeface="宋体"/>
              </a:rPr>
              <a:t>&lt;12&gt;</a:t>
            </a:r>
            <a:endParaRPr sz="1150">
              <a:latin typeface="宋体"/>
              <a:cs typeface="宋体"/>
            </a:endParaRPr>
          </a:p>
        </p:txBody>
      </p:sp>
      <p:pic>
        <p:nvPicPr>
          <p:cNvPr id="25" name="object 25" descr=""/>
          <p:cNvPicPr/>
          <p:nvPr/>
        </p:nvPicPr>
        <p:blipFill>
          <a:blip r:embed="rId3" cstate="print"/>
          <a:stretch>
            <a:fillRect/>
          </a:stretch>
        </p:blipFill>
        <p:spPr>
          <a:xfrm>
            <a:off x="3926303" y="1350919"/>
            <a:ext cx="66867" cy="216158"/>
          </a:xfrm>
          <a:prstGeom prst="rect">
            <a:avLst/>
          </a:prstGeom>
        </p:spPr>
      </p:pic>
      <p:grpSp>
        <p:nvGrpSpPr>
          <p:cNvPr id="26" name="object 26" descr=""/>
          <p:cNvGrpSpPr/>
          <p:nvPr/>
        </p:nvGrpSpPr>
        <p:grpSpPr>
          <a:xfrm>
            <a:off x="5891266" y="1350919"/>
            <a:ext cx="2384425" cy="520700"/>
            <a:chOff x="5891266" y="1350919"/>
            <a:chExt cx="2384425" cy="520700"/>
          </a:xfrm>
        </p:grpSpPr>
        <p:pic>
          <p:nvPicPr>
            <p:cNvPr id="27" name="object 27" descr=""/>
            <p:cNvPicPr/>
            <p:nvPr/>
          </p:nvPicPr>
          <p:blipFill>
            <a:blip r:embed="rId4" cstate="print"/>
            <a:stretch>
              <a:fillRect/>
            </a:stretch>
          </p:blipFill>
          <p:spPr>
            <a:xfrm>
              <a:off x="6589032" y="1350919"/>
              <a:ext cx="66883" cy="216158"/>
            </a:xfrm>
            <a:prstGeom prst="rect">
              <a:avLst/>
            </a:prstGeom>
          </p:spPr>
        </p:pic>
        <p:sp>
          <p:nvSpPr>
            <p:cNvPr id="28" name="object 28" descr=""/>
            <p:cNvSpPr/>
            <p:nvPr/>
          </p:nvSpPr>
          <p:spPr>
            <a:xfrm>
              <a:off x="5897298" y="1562697"/>
              <a:ext cx="2372360" cy="302895"/>
            </a:xfrm>
            <a:custGeom>
              <a:avLst/>
              <a:gdLst/>
              <a:ahLst/>
              <a:cxnLst/>
              <a:rect l="l" t="t" r="r" b="b"/>
              <a:pathLst>
                <a:path w="2372359" h="302894">
                  <a:moveTo>
                    <a:pt x="2372200" y="0"/>
                  </a:moveTo>
                  <a:lnTo>
                    <a:pt x="0" y="0"/>
                  </a:lnTo>
                  <a:lnTo>
                    <a:pt x="0" y="302607"/>
                  </a:lnTo>
                  <a:lnTo>
                    <a:pt x="2372200" y="302607"/>
                  </a:lnTo>
                  <a:lnTo>
                    <a:pt x="2372200" y="0"/>
                  </a:lnTo>
                  <a:close/>
                </a:path>
              </a:pathLst>
            </a:custGeom>
            <a:solidFill>
              <a:srgbClr val="FFCCFF"/>
            </a:solidFill>
          </p:spPr>
          <p:txBody>
            <a:bodyPr wrap="square" lIns="0" tIns="0" rIns="0" bIns="0" rtlCol="0"/>
            <a:lstStyle/>
            <a:p/>
          </p:txBody>
        </p:sp>
        <p:sp>
          <p:nvSpPr>
            <p:cNvPr id="29" name="object 29" descr=""/>
            <p:cNvSpPr/>
            <p:nvPr/>
          </p:nvSpPr>
          <p:spPr>
            <a:xfrm>
              <a:off x="5897298" y="1562697"/>
              <a:ext cx="2372360" cy="302895"/>
            </a:xfrm>
            <a:custGeom>
              <a:avLst/>
              <a:gdLst/>
              <a:ahLst/>
              <a:cxnLst/>
              <a:rect l="l" t="t" r="r" b="b"/>
              <a:pathLst>
                <a:path w="2372359" h="302894">
                  <a:moveTo>
                    <a:pt x="0" y="302607"/>
                  </a:moveTo>
                  <a:lnTo>
                    <a:pt x="2372200" y="302607"/>
                  </a:lnTo>
                  <a:lnTo>
                    <a:pt x="2372200" y="0"/>
                  </a:lnTo>
                  <a:lnTo>
                    <a:pt x="0" y="0"/>
                  </a:lnTo>
                  <a:lnTo>
                    <a:pt x="0" y="302607"/>
                  </a:lnTo>
                  <a:close/>
                </a:path>
              </a:pathLst>
            </a:custGeom>
            <a:ln w="11747">
              <a:solidFill>
                <a:srgbClr val="000000"/>
              </a:solidFill>
            </a:ln>
          </p:spPr>
          <p:txBody>
            <a:bodyPr wrap="square" lIns="0" tIns="0" rIns="0" bIns="0" rtlCol="0"/>
            <a:lstStyle/>
            <a:p/>
          </p:txBody>
        </p:sp>
      </p:grpSp>
      <p:sp>
        <p:nvSpPr>
          <p:cNvPr id="30" name="object 30" descr=""/>
          <p:cNvSpPr txBox="1"/>
          <p:nvPr/>
        </p:nvSpPr>
        <p:spPr>
          <a:xfrm>
            <a:off x="3057947" y="1562697"/>
            <a:ext cx="1669414" cy="302895"/>
          </a:xfrm>
          <a:prstGeom prst="rect">
            <a:avLst/>
          </a:prstGeom>
          <a:solidFill>
            <a:srgbClr val="FFCCFF"/>
          </a:solidFill>
          <a:ln w="11753">
            <a:solidFill>
              <a:srgbClr val="000000"/>
            </a:solidFill>
          </a:ln>
        </p:spPr>
        <p:txBody>
          <a:bodyPr wrap="square" lIns="0" tIns="69850" rIns="0" bIns="0" rtlCol="0" vert="horz">
            <a:spAutoFit/>
          </a:bodyPr>
          <a:lstStyle/>
          <a:p>
            <a:pPr marL="459105">
              <a:lnSpc>
                <a:spcPct val="100000"/>
              </a:lnSpc>
              <a:spcBef>
                <a:spcPts val="550"/>
              </a:spcBef>
            </a:pPr>
            <a:r>
              <a:rPr dirty="0" sz="1150" b="1">
                <a:latin typeface="宋体"/>
                <a:cs typeface="宋体"/>
              </a:rPr>
              <a:t>TLB</a:t>
            </a:r>
            <a:r>
              <a:rPr dirty="0" sz="1150" spc="-90" b="1">
                <a:latin typeface="宋体"/>
                <a:cs typeface="宋体"/>
              </a:rPr>
              <a:t> 标识</a:t>
            </a:r>
            <a:r>
              <a:rPr dirty="0" sz="1150" spc="-20" b="1">
                <a:latin typeface="宋体"/>
                <a:cs typeface="宋体"/>
              </a:rPr>
              <a:t>&lt;36&gt;</a:t>
            </a:r>
            <a:endParaRPr sz="1150">
              <a:latin typeface="宋体"/>
              <a:cs typeface="宋体"/>
            </a:endParaRPr>
          </a:p>
        </p:txBody>
      </p:sp>
      <p:sp>
        <p:nvSpPr>
          <p:cNvPr id="31" name="object 31" descr=""/>
          <p:cNvSpPr txBox="1"/>
          <p:nvPr/>
        </p:nvSpPr>
        <p:spPr>
          <a:xfrm>
            <a:off x="4727233" y="1562697"/>
            <a:ext cx="1033144" cy="302895"/>
          </a:xfrm>
          <a:prstGeom prst="rect">
            <a:avLst/>
          </a:prstGeom>
          <a:solidFill>
            <a:srgbClr val="FFCCFF"/>
          </a:solidFill>
          <a:ln w="11747">
            <a:solidFill>
              <a:srgbClr val="000000"/>
            </a:solidFill>
          </a:ln>
        </p:spPr>
        <p:txBody>
          <a:bodyPr wrap="square" lIns="0" tIns="69850" rIns="0" bIns="0" rtlCol="0" vert="horz">
            <a:spAutoFit/>
          </a:bodyPr>
          <a:lstStyle/>
          <a:p>
            <a:pPr marL="85725">
              <a:lnSpc>
                <a:spcPct val="100000"/>
              </a:lnSpc>
              <a:spcBef>
                <a:spcPts val="550"/>
              </a:spcBef>
            </a:pPr>
            <a:r>
              <a:rPr dirty="0" sz="1150" b="1">
                <a:latin typeface="宋体"/>
                <a:cs typeface="宋体"/>
              </a:rPr>
              <a:t>TLB</a:t>
            </a:r>
            <a:r>
              <a:rPr dirty="0" sz="1150" spc="-85" b="1">
                <a:latin typeface="宋体"/>
                <a:cs typeface="宋体"/>
              </a:rPr>
              <a:t> 数据</a:t>
            </a:r>
            <a:r>
              <a:rPr dirty="0" sz="1150" spc="-20" b="1">
                <a:latin typeface="宋体"/>
                <a:cs typeface="宋体"/>
              </a:rPr>
              <a:t>&lt;28&gt;</a:t>
            </a:r>
            <a:endParaRPr sz="1150">
              <a:latin typeface="宋体"/>
              <a:cs typeface="宋体"/>
            </a:endParaRPr>
          </a:p>
        </p:txBody>
      </p:sp>
      <p:sp>
        <p:nvSpPr>
          <p:cNvPr id="32" name="object 32" descr=""/>
          <p:cNvSpPr txBox="1"/>
          <p:nvPr/>
        </p:nvSpPr>
        <p:spPr>
          <a:xfrm>
            <a:off x="5897298" y="1562697"/>
            <a:ext cx="1304290" cy="302895"/>
          </a:xfrm>
          <a:prstGeom prst="rect">
            <a:avLst/>
          </a:prstGeom>
          <a:solidFill>
            <a:srgbClr val="FFCCFF"/>
          </a:solidFill>
          <a:ln w="11753">
            <a:solidFill>
              <a:srgbClr val="000000"/>
            </a:solidFill>
          </a:ln>
        </p:spPr>
        <p:txBody>
          <a:bodyPr wrap="square" lIns="0" tIns="66040" rIns="0" bIns="0" rtlCol="0" vert="horz">
            <a:spAutoFit/>
          </a:bodyPr>
          <a:lstStyle/>
          <a:p>
            <a:pPr marL="78105">
              <a:lnSpc>
                <a:spcPct val="100000"/>
              </a:lnSpc>
              <a:spcBef>
                <a:spcPts val="520"/>
              </a:spcBef>
            </a:pPr>
            <a:r>
              <a:rPr dirty="0" sz="1150" b="1">
                <a:latin typeface="宋体"/>
                <a:cs typeface="宋体"/>
              </a:rPr>
              <a:t>L1</a:t>
            </a:r>
            <a:r>
              <a:rPr dirty="0" sz="1150" spc="55" b="1">
                <a:latin typeface="宋体"/>
                <a:cs typeface="宋体"/>
              </a:rPr>
              <a:t> </a:t>
            </a:r>
            <a:r>
              <a:rPr dirty="0" sz="1150" b="1">
                <a:latin typeface="宋体"/>
                <a:cs typeface="宋体"/>
              </a:rPr>
              <a:t>Cache</a:t>
            </a:r>
            <a:r>
              <a:rPr dirty="0" sz="1150" spc="-95" b="1">
                <a:latin typeface="宋体"/>
                <a:cs typeface="宋体"/>
              </a:rPr>
              <a:t> 索引</a:t>
            </a:r>
            <a:r>
              <a:rPr dirty="0" sz="1150" spc="-25" b="1">
                <a:latin typeface="宋体"/>
                <a:cs typeface="宋体"/>
              </a:rPr>
              <a:t>&lt;9&gt;</a:t>
            </a:r>
            <a:endParaRPr sz="1150">
              <a:latin typeface="宋体"/>
              <a:cs typeface="宋体"/>
            </a:endParaRPr>
          </a:p>
        </p:txBody>
      </p:sp>
      <p:sp>
        <p:nvSpPr>
          <p:cNvPr id="33" name="object 33" descr=""/>
          <p:cNvSpPr txBox="1"/>
          <p:nvPr/>
        </p:nvSpPr>
        <p:spPr>
          <a:xfrm>
            <a:off x="7201534" y="1562697"/>
            <a:ext cx="1068070" cy="302895"/>
          </a:xfrm>
          <a:prstGeom prst="rect">
            <a:avLst/>
          </a:prstGeom>
          <a:solidFill>
            <a:srgbClr val="FFCCFF"/>
          </a:solidFill>
          <a:ln w="11747">
            <a:solidFill>
              <a:srgbClr val="000000"/>
            </a:solidFill>
          </a:ln>
        </p:spPr>
        <p:txBody>
          <a:bodyPr wrap="square" lIns="0" tIns="69850" rIns="0" bIns="0" rtlCol="0" vert="horz">
            <a:spAutoFit/>
          </a:bodyPr>
          <a:lstStyle/>
          <a:p>
            <a:pPr marL="113664">
              <a:lnSpc>
                <a:spcPct val="100000"/>
              </a:lnSpc>
              <a:spcBef>
                <a:spcPts val="550"/>
              </a:spcBef>
            </a:pPr>
            <a:r>
              <a:rPr dirty="0" sz="1150" spc="-5" b="1">
                <a:latin typeface="宋体"/>
                <a:cs typeface="宋体"/>
              </a:rPr>
              <a:t>块内位移</a:t>
            </a:r>
            <a:r>
              <a:rPr dirty="0" sz="1150" spc="-25" b="1">
                <a:latin typeface="宋体"/>
                <a:cs typeface="宋体"/>
              </a:rPr>
              <a:t>&lt;6&gt;</a:t>
            </a:r>
            <a:endParaRPr sz="1150">
              <a:latin typeface="宋体"/>
              <a:cs typeface="宋体"/>
            </a:endParaRPr>
          </a:p>
        </p:txBody>
      </p:sp>
      <p:sp>
        <p:nvSpPr>
          <p:cNvPr id="34" name="object 34" descr=""/>
          <p:cNvSpPr txBox="1"/>
          <p:nvPr/>
        </p:nvSpPr>
        <p:spPr>
          <a:xfrm>
            <a:off x="3057947" y="3004382"/>
            <a:ext cx="1355090" cy="483870"/>
          </a:xfrm>
          <a:prstGeom prst="rect">
            <a:avLst/>
          </a:prstGeom>
          <a:solidFill>
            <a:srgbClr val="CCFFFF"/>
          </a:solidFill>
          <a:ln w="11753">
            <a:solidFill>
              <a:srgbClr val="000000"/>
            </a:solidFill>
          </a:ln>
        </p:spPr>
        <p:txBody>
          <a:bodyPr wrap="square" lIns="0" tIns="147955" rIns="0" bIns="0" rtlCol="0" vert="horz">
            <a:spAutoFit/>
          </a:bodyPr>
          <a:lstStyle/>
          <a:p>
            <a:pPr marL="156845">
              <a:lnSpc>
                <a:spcPct val="100000"/>
              </a:lnSpc>
              <a:spcBef>
                <a:spcPts val="1165"/>
              </a:spcBef>
            </a:pPr>
            <a:r>
              <a:rPr dirty="0" sz="1150" b="1">
                <a:latin typeface="宋体"/>
                <a:cs typeface="宋体"/>
              </a:rPr>
              <a:t>L2</a:t>
            </a:r>
            <a:r>
              <a:rPr dirty="0" sz="1150" spc="15" b="1">
                <a:latin typeface="宋体"/>
                <a:cs typeface="宋体"/>
              </a:rPr>
              <a:t> </a:t>
            </a:r>
            <a:r>
              <a:rPr dirty="0" sz="1150" b="1">
                <a:latin typeface="宋体"/>
                <a:cs typeface="宋体"/>
              </a:rPr>
              <a:t>TLB</a:t>
            </a:r>
            <a:r>
              <a:rPr dirty="0" sz="1150" spc="-80" b="1">
                <a:latin typeface="宋体"/>
                <a:cs typeface="宋体"/>
              </a:rPr>
              <a:t> 标识&lt;</a:t>
            </a:r>
            <a:r>
              <a:rPr dirty="0" sz="1150" spc="-20" b="1">
                <a:latin typeface="宋体"/>
                <a:cs typeface="宋体"/>
              </a:rPr>
              <a:t>29&gt;</a:t>
            </a:r>
            <a:endParaRPr sz="1150">
              <a:latin typeface="宋体"/>
              <a:cs typeface="宋体"/>
            </a:endParaRPr>
          </a:p>
        </p:txBody>
      </p:sp>
      <p:sp>
        <p:nvSpPr>
          <p:cNvPr id="35" name="object 35" descr=""/>
          <p:cNvSpPr txBox="1"/>
          <p:nvPr/>
        </p:nvSpPr>
        <p:spPr>
          <a:xfrm>
            <a:off x="4412587" y="3004382"/>
            <a:ext cx="1167130" cy="483870"/>
          </a:xfrm>
          <a:prstGeom prst="rect">
            <a:avLst/>
          </a:prstGeom>
          <a:solidFill>
            <a:srgbClr val="CCFFFF"/>
          </a:solidFill>
          <a:ln w="11747">
            <a:solidFill>
              <a:srgbClr val="000000"/>
            </a:solidFill>
          </a:ln>
        </p:spPr>
        <p:txBody>
          <a:bodyPr wrap="square" lIns="0" tIns="160655" rIns="0" bIns="0" rtlCol="0" vert="horz">
            <a:spAutoFit/>
          </a:bodyPr>
          <a:lstStyle/>
          <a:p>
            <a:pPr marL="59055">
              <a:lnSpc>
                <a:spcPct val="100000"/>
              </a:lnSpc>
              <a:spcBef>
                <a:spcPts val="1265"/>
              </a:spcBef>
            </a:pPr>
            <a:r>
              <a:rPr dirty="0" sz="1150" b="1">
                <a:latin typeface="宋体"/>
                <a:cs typeface="宋体"/>
              </a:rPr>
              <a:t>L2</a:t>
            </a:r>
            <a:r>
              <a:rPr dirty="0" sz="1150" spc="-175" b="1">
                <a:latin typeface="宋体"/>
                <a:cs typeface="宋体"/>
              </a:rPr>
              <a:t> </a:t>
            </a:r>
            <a:r>
              <a:rPr dirty="0" sz="1150" b="1">
                <a:latin typeface="宋体"/>
                <a:cs typeface="宋体"/>
              </a:rPr>
              <a:t>TLB</a:t>
            </a:r>
            <a:r>
              <a:rPr dirty="0" sz="1150" spc="-80" b="1">
                <a:latin typeface="宋体"/>
                <a:cs typeface="宋体"/>
              </a:rPr>
              <a:t> 数据&lt;</a:t>
            </a:r>
            <a:r>
              <a:rPr dirty="0" sz="1150" spc="-20" b="1">
                <a:latin typeface="宋体"/>
                <a:cs typeface="宋体"/>
              </a:rPr>
              <a:t>28&gt;</a:t>
            </a:r>
            <a:endParaRPr sz="1150">
              <a:latin typeface="宋体"/>
              <a:cs typeface="宋体"/>
            </a:endParaRPr>
          </a:p>
        </p:txBody>
      </p:sp>
      <p:pic>
        <p:nvPicPr>
          <p:cNvPr id="36" name="object 36" descr=""/>
          <p:cNvPicPr/>
          <p:nvPr/>
        </p:nvPicPr>
        <p:blipFill>
          <a:blip r:embed="rId5" cstate="print"/>
          <a:stretch>
            <a:fillRect/>
          </a:stretch>
        </p:blipFill>
        <p:spPr>
          <a:xfrm>
            <a:off x="3710272" y="1857554"/>
            <a:ext cx="70924" cy="216322"/>
          </a:xfrm>
          <a:prstGeom prst="rect">
            <a:avLst/>
          </a:prstGeom>
        </p:spPr>
      </p:pic>
      <p:grpSp>
        <p:nvGrpSpPr>
          <p:cNvPr id="37" name="object 37" descr=""/>
          <p:cNvGrpSpPr/>
          <p:nvPr/>
        </p:nvGrpSpPr>
        <p:grpSpPr>
          <a:xfrm>
            <a:off x="2698286" y="2593549"/>
            <a:ext cx="2105660" cy="1281430"/>
            <a:chOff x="2698286" y="2593549"/>
            <a:chExt cx="2105660" cy="1281430"/>
          </a:xfrm>
        </p:grpSpPr>
        <p:sp>
          <p:nvSpPr>
            <p:cNvPr id="38" name="object 38" descr=""/>
            <p:cNvSpPr/>
            <p:nvPr/>
          </p:nvSpPr>
          <p:spPr>
            <a:xfrm>
              <a:off x="2704319" y="2599581"/>
              <a:ext cx="2093595" cy="1269365"/>
            </a:xfrm>
            <a:custGeom>
              <a:avLst/>
              <a:gdLst/>
              <a:ahLst/>
              <a:cxnLst/>
              <a:rect l="l" t="t" r="r" b="b"/>
              <a:pathLst>
                <a:path w="2093595" h="1269364">
                  <a:moveTo>
                    <a:pt x="0" y="0"/>
                  </a:moveTo>
                  <a:lnTo>
                    <a:pt x="769662" y="0"/>
                  </a:lnTo>
                </a:path>
                <a:path w="2093595" h="1269364">
                  <a:moveTo>
                    <a:pt x="0" y="0"/>
                  </a:moveTo>
                  <a:lnTo>
                    <a:pt x="0" y="1269040"/>
                  </a:lnTo>
                </a:path>
                <a:path w="2093595" h="1269364">
                  <a:moveTo>
                    <a:pt x="113896" y="102537"/>
                  </a:moveTo>
                  <a:lnTo>
                    <a:pt x="2093435" y="102537"/>
                  </a:lnTo>
                </a:path>
                <a:path w="2093595" h="1269364">
                  <a:moveTo>
                    <a:pt x="117937" y="102537"/>
                  </a:moveTo>
                  <a:lnTo>
                    <a:pt x="117937" y="660195"/>
                  </a:lnTo>
                </a:path>
              </a:pathLst>
            </a:custGeom>
            <a:ln w="11750">
              <a:solidFill>
                <a:srgbClr val="000000"/>
              </a:solidFill>
            </a:ln>
          </p:spPr>
          <p:txBody>
            <a:bodyPr wrap="square" lIns="0" tIns="0" rIns="0" bIns="0" rtlCol="0"/>
            <a:lstStyle/>
            <a:p/>
          </p:txBody>
        </p:sp>
        <p:pic>
          <p:nvPicPr>
            <p:cNvPr id="39" name="object 39" descr=""/>
            <p:cNvPicPr/>
            <p:nvPr/>
          </p:nvPicPr>
          <p:blipFill>
            <a:blip r:embed="rId6" cstate="print"/>
            <a:stretch>
              <a:fillRect/>
            </a:stretch>
          </p:blipFill>
          <p:spPr>
            <a:xfrm>
              <a:off x="2822669" y="3228641"/>
              <a:ext cx="220082" cy="67012"/>
            </a:xfrm>
            <a:prstGeom prst="rect">
              <a:avLst/>
            </a:prstGeom>
          </p:spPr>
        </p:pic>
      </p:grpSp>
      <p:sp>
        <p:nvSpPr>
          <p:cNvPr id="40" name="object 40" descr=""/>
          <p:cNvSpPr txBox="1"/>
          <p:nvPr/>
        </p:nvSpPr>
        <p:spPr>
          <a:xfrm>
            <a:off x="3013839" y="3764914"/>
            <a:ext cx="323850" cy="205740"/>
          </a:xfrm>
          <a:prstGeom prst="rect">
            <a:avLst/>
          </a:prstGeom>
        </p:spPr>
        <p:txBody>
          <a:bodyPr wrap="square" lIns="0" tIns="16510" rIns="0" bIns="0" rtlCol="0" vert="horz">
            <a:spAutoFit/>
          </a:bodyPr>
          <a:lstStyle/>
          <a:p>
            <a:pPr marL="12700">
              <a:lnSpc>
                <a:spcPct val="100000"/>
              </a:lnSpc>
              <a:spcBef>
                <a:spcPts val="130"/>
              </a:spcBef>
            </a:pPr>
            <a:r>
              <a:rPr dirty="0" sz="1150" spc="-25">
                <a:latin typeface="宋体"/>
                <a:cs typeface="宋体"/>
              </a:rPr>
              <a:t>＝？</a:t>
            </a:r>
            <a:endParaRPr sz="1150">
              <a:latin typeface="宋体"/>
              <a:cs typeface="宋体"/>
            </a:endParaRPr>
          </a:p>
        </p:txBody>
      </p:sp>
      <p:grpSp>
        <p:nvGrpSpPr>
          <p:cNvPr id="41" name="object 41" descr=""/>
          <p:cNvGrpSpPr/>
          <p:nvPr/>
        </p:nvGrpSpPr>
        <p:grpSpPr>
          <a:xfrm>
            <a:off x="2692972" y="2468084"/>
            <a:ext cx="7244080" cy="1437005"/>
            <a:chOff x="2692972" y="2468084"/>
            <a:chExt cx="7244080" cy="1437005"/>
          </a:xfrm>
        </p:grpSpPr>
        <p:sp>
          <p:nvSpPr>
            <p:cNvPr id="42" name="object 42" descr=""/>
            <p:cNvSpPr/>
            <p:nvPr/>
          </p:nvSpPr>
          <p:spPr>
            <a:xfrm>
              <a:off x="3819700" y="3487746"/>
              <a:ext cx="0" cy="381000"/>
            </a:xfrm>
            <a:custGeom>
              <a:avLst/>
              <a:gdLst/>
              <a:ahLst/>
              <a:cxnLst/>
              <a:rect l="l" t="t" r="r" b="b"/>
              <a:pathLst>
                <a:path w="0" h="381000">
                  <a:moveTo>
                    <a:pt x="0" y="0"/>
                  </a:moveTo>
                  <a:lnTo>
                    <a:pt x="0" y="380875"/>
                  </a:lnTo>
                </a:path>
              </a:pathLst>
            </a:custGeom>
            <a:ln w="11753">
              <a:solidFill>
                <a:srgbClr val="000000"/>
              </a:solidFill>
            </a:ln>
          </p:spPr>
          <p:txBody>
            <a:bodyPr wrap="square" lIns="0" tIns="0" rIns="0" bIns="0" rtlCol="0"/>
            <a:lstStyle/>
            <a:p/>
          </p:txBody>
        </p:sp>
        <p:sp>
          <p:nvSpPr>
            <p:cNvPr id="43" name="object 43" descr=""/>
            <p:cNvSpPr/>
            <p:nvPr/>
          </p:nvSpPr>
          <p:spPr>
            <a:xfrm>
              <a:off x="3307807" y="3839512"/>
              <a:ext cx="522605" cy="63500"/>
            </a:xfrm>
            <a:custGeom>
              <a:avLst/>
              <a:gdLst/>
              <a:ahLst/>
              <a:cxnLst/>
              <a:rect l="l" t="t" r="r" b="b"/>
              <a:pathLst>
                <a:path w="522604" h="63500">
                  <a:moveTo>
                    <a:pt x="98091" y="0"/>
                  </a:moveTo>
                  <a:lnTo>
                    <a:pt x="0" y="31398"/>
                  </a:lnTo>
                  <a:lnTo>
                    <a:pt x="98091" y="62961"/>
                  </a:lnTo>
                  <a:lnTo>
                    <a:pt x="71965" y="39575"/>
                  </a:lnTo>
                  <a:lnTo>
                    <a:pt x="62831" y="39575"/>
                  </a:lnTo>
                  <a:lnTo>
                    <a:pt x="58773" y="35487"/>
                  </a:lnTo>
                  <a:lnTo>
                    <a:pt x="54715" y="35487"/>
                  </a:lnTo>
                  <a:lnTo>
                    <a:pt x="54715" y="27801"/>
                  </a:lnTo>
                  <a:lnTo>
                    <a:pt x="58773" y="27801"/>
                  </a:lnTo>
                  <a:lnTo>
                    <a:pt x="62831" y="23876"/>
                  </a:lnTo>
                  <a:lnTo>
                    <a:pt x="71278" y="23876"/>
                  </a:lnTo>
                  <a:lnTo>
                    <a:pt x="98091" y="0"/>
                  </a:lnTo>
                  <a:close/>
                </a:path>
                <a:path w="522604" h="63500">
                  <a:moveTo>
                    <a:pt x="71278" y="23876"/>
                  </a:moveTo>
                  <a:lnTo>
                    <a:pt x="62831" y="23876"/>
                  </a:lnTo>
                  <a:lnTo>
                    <a:pt x="58773" y="27801"/>
                  </a:lnTo>
                  <a:lnTo>
                    <a:pt x="54715" y="27801"/>
                  </a:lnTo>
                  <a:lnTo>
                    <a:pt x="54715" y="35487"/>
                  </a:lnTo>
                  <a:lnTo>
                    <a:pt x="58773" y="35487"/>
                  </a:lnTo>
                  <a:lnTo>
                    <a:pt x="62831" y="39575"/>
                  </a:lnTo>
                  <a:lnTo>
                    <a:pt x="71965" y="39575"/>
                  </a:lnTo>
                  <a:lnTo>
                    <a:pt x="62831" y="31398"/>
                  </a:lnTo>
                  <a:lnTo>
                    <a:pt x="71278" y="23876"/>
                  </a:lnTo>
                  <a:close/>
                </a:path>
                <a:path w="522604" h="63500">
                  <a:moveTo>
                    <a:pt x="518372" y="23876"/>
                  </a:moveTo>
                  <a:lnTo>
                    <a:pt x="71278" y="23876"/>
                  </a:lnTo>
                  <a:lnTo>
                    <a:pt x="62831" y="31398"/>
                  </a:lnTo>
                  <a:lnTo>
                    <a:pt x="71965" y="39575"/>
                  </a:lnTo>
                  <a:lnTo>
                    <a:pt x="518372" y="39575"/>
                  </a:lnTo>
                  <a:lnTo>
                    <a:pt x="518372" y="35487"/>
                  </a:lnTo>
                  <a:lnTo>
                    <a:pt x="522430" y="35487"/>
                  </a:lnTo>
                  <a:lnTo>
                    <a:pt x="522430" y="27801"/>
                  </a:lnTo>
                  <a:lnTo>
                    <a:pt x="518372" y="27801"/>
                  </a:lnTo>
                  <a:lnTo>
                    <a:pt x="518372" y="23876"/>
                  </a:lnTo>
                  <a:close/>
                </a:path>
              </a:pathLst>
            </a:custGeom>
            <a:solidFill>
              <a:srgbClr val="000000"/>
            </a:solidFill>
          </p:spPr>
          <p:txBody>
            <a:bodyPr wrap="square" lIns="0" tIns="0" rIns="0" bIns="0" rtlCol="0"/>
            <a:lstStyle/>
            <a:p/>
          </p:txBody>
        </p:sp>
        <p:sp>
          <p:nvSpPr>
            <p:cNvPr id="44" name="object 44" descr=""/>
            <p:cNvSpPr/>
            <p:nvPr/>
          </p:nvSpPr>
          <p:spPr>
            <a:xfrm>
              <a:off x="3307807" y="3839512"/>
              <a:ext cx="522605" cy="63500"/>
            </a:xfrm>
            <a:custGeom>
              <a:avLst/>
              <a:gdLst/>
              <a:ahLst/>
              <a:cxnLst/>
              <a:rect l="l" t="t" r="r" b="b"/>
              <a:pathLst>
                <a:path w="522604" h="63500">
                  <a:moveTo>
                    <a:pt x="514331" y="39575"/>
                  </a:moveTo>
                  <a:lnTo>
                    <a:pt x="62831" y="39575"/>
                  </a:lnTo>
                  <a:lnTo>
                    <a:pt x="58773" y="35487"/>
                  </a:lnTo>
                  <a:lnTo>
                    <a:pt x="54715" y="35487"/>
                  </a:lnTo>
                  <a:lnTo>
                    <a:pt x="54715" y="31398"/>
                  </a:lnTo>
                  <a:lnTo>
                    <a:pt x="54715" y="27801"/>
                  </a:lnTo>
                  <a:lnTo>
                    <a:pt x="58773" y="27801"/>
                  </a:lnTo>
                  <a:lnTo>
                    <a:pt x="62831" y="23876"/>
                  </a:lnTo>
                  <a:lnTo>
                    <a:pt x="514331" y="23876"/>
                  </a:lnTo>
                  <a:lnTo>
                    <a:pt x="518372" y="23876"/>
                  </a:lnTo>
                  <a:lnTo>
                    <a:pt x="518372" y="27801"/>
                  </a:lnTo>
                  <a:lnTo>
                    <a:pt x="522430" y="27801"/>
                  </a:lnTo>
                  <a:lnTo>
                    <a:pt x="522430" y="31398"/>
                  </a:lnTo>
                  <a:lnTo>
                    <a:pt x="522430" y="35487"/>
                  </a:lnTo>
                  <a:lnTo>
                    <a:pt x="518372" y="35487"/>
                  </a:lnTo>
                  <a:lnTo>
                    <a:pt x="518372" y="39575"/>
                  </a:lnTo>
                  <a:lnTo>
                    <a:pt x="514331" y="39575"/>
                  </a:lnTo>
                  <a:close/>
                </a:path>
                <a:path w="522604" h="63500">
                  <a:moveTo>
                    <a:pt x="62831" y="31398"/>
                  </a:moveTo>
                  <a:lnTo>
                    <a:pt x="98091" y="62961"/>
                  </a:lnTo>
                  <a:lnTo>
                    <a:pt x="0" y="31398"/>
                  </a:lnTo>
                  <a:lnTo>
                    <a:pt x="98091" y="0"/>
                  </a:lnTo>
                  <a:lnTo>
                    <a:pt x="62831" y="31398"/>
                  </a:lnTo>
                  <a:close/>
                </a:path>
              </a:pathLst>
            </a:custGeom>
            <a:ln w="4051">
              <a:solidFill>
                <a:srgbClr val="000000"/>
              </a:solidFill>
            </a:ln>
          </p:spPr>
          <p:txBody>
            <a:bodyPr wrap="square" lIns="0" tIns="0" rIns="0" bIns="0" rtlCol="0"/>
            <a:lstStyle/>
            <a:p/>
          </p:txBody>
        </p:sp>
        <p:sp>
          <p:nvSpPr>
            <p:cNvPr id="45" name="object 45" descr=""/>
            <p:cNvSpPr/>
            <p:nvPr/>
          </p:nvSpPr>
          <p:spPr>
            <a:xfrm>
              <a:off x="2694997" y="3839512"/>
              <a:ext cx="287020" cy="63500"/>
            </a:xfrm>
            <a:custGeom>
              <a:avLst/>
              <a:gdLst/>
              <a:ahLst/>
              <a:cxnLst/>
              <a:rect l="l" t="t" r="r" b="b"/>
              <a:pathLst>
                <a:path w="287019" h="63500">
                  <a:moveTo>
                    <a:pt x="188470" y="0"/>
                  </a:moveTo>
                  <a:lnTo>
                    <a:pt x="220082" y="31398"/>
                  </a:lnTo>
                  <a:lnTo>
                    <a:pt x="188470" y="62961"/>
                  </a:lnTo>
                  <a:lnTo>
                    <a:pt x="261440" y="39575"/>
                  </a:lnTo>
                  <a:lnTo>
                    <a:pt x="223731" y="39575"/>
                  </a:lnTo>
                  <a:lnTo>
                    <a:pt x="223731" y="35487"/>
                  </a:lnTo>
                  <a:lnTo>
                    <a:pt x="227772" y="35487"/>
                  </a:lnTo>
                  <a:lnTo>
                    <a:pt x="227772" y="27801"/>
                  </a:lnTo>
                  <a:lnTo>
                    <a:pt x="223731" y="27801"/>
                  </a:lnTo>
                  <a:lnTo>
                    <a:pt x="223731" y="23876"/>
                  </a:lnTo>
                  <a:lnTo>
                    <a:pt x="263359" y="23876"/>
                  </a:lnTo>
                  <a:lnTo>
                    <a:pt x="188470" y="0"/>
                  </a:lnTo>
                  <a:close/>
                </a:path>
                <a:path w="287019" h="63500">
                  <a:moveTo>
                    <a:pt x="212508" y="23876"/>
                  </a:moveTo>
                  <a:lnTo>
                    <a:pt x="8105" y="23876"/>
                  </a:lnTo>
                  <a:lnTo>
                    <a:pt x="4052" y="27801"/>
                  </a:lnTo>
                  <a:lnTo>
                    <a:pt x="0" y="31398"/>
                  </a:lnTo>
                  <a:lnTo>
                    <a:pt x="8105" y="39575"/>
                  </a:lnTo>
                  <a:lnTo>
                    <a:pt x="211892" y="39575"/>
                  </a:lnTo>
                  <a:lnTo>
                    <a:pt x="220082" y="31398"/>
                  </a:lnTo>
                  <a:lnTo>
                    <a:pt x="212508" y="23876"/>
                  </a:lnTo>
                  <a:close/>
                </a:path>
                <a:path w="287019" h="63500">
                  <a:moveTo>
                    <a:pt x="263359" y="23876"/>
                  </a:moveTo>
                  <a:lnTo>
                    <a:pt x="223731" y="23876"/>
                  </a:lnTo>
                  <a:lnTo>
                    <a:pt x="223731" y="27801"/>
                  </a:lnTo>
                  <a:lnTo>
                    <a:pt x="227772" y="27801"/>
                  </a:lnTo>
                  <a:lnTo>
                    <a:pt x="227772" y="35487"/>
                  </a:lnTo>
                  <a:lnTo>
                    <a:pt x="223731" y="35487"/>
                  </a:lnTo>
                  <a:lnTo>
                    <a:pt x="223731" y="39575"/>
                  </a:lnTo>
                  <a:lnTo>
                    <a:pt x="261440" y="39575"/>
                  </a:lnTo>
                  <a:lnTo>
                    <a:pt x="286954" y="31398"/>
                  </a:lnTo>
                  <a:lnTo>
                    <a:pt x="263359" y="23876"/>
                  </a:lnTo>
                  <a:close/>
                </a:path>
              </a:pathLst>
            </a:custGeom>
            <a:solidFill>
              <a:srgbClr val="000000"/>
            </a:solidFill>
          </p:spPr>
          <p:txBody>
            <a:bodyPr wrap="square" lIns="0" tIns="0" rIns="0" bIns="0" rtlCol="0"/>
            <a:lstStyle/>
            <a:p/>
          </p:txBody>
        </p:sp>
        <p:pic>
          <p:nvPicPr>
            <p:cNvPr id="46" name="object 46" descr=""/>
            <p:cNvPicPr/>
            <p:nvPr/>
          </p:nvPicPr>
          <p:blipFill>
            <a:blip r:embed="rId7" cstate="print"/>
            <a:stretch>
              <a:fillRect/>
            </a:stretch>
          </p:blipFill>
          <p:spPr>
            <a:xfrm>
              <a:off x="2692972" y="3837487"/>
              <a:ext cx="291005" cy="67012"/>
            </a:xfrm>
            <a:prstGeom prst="rect">
              <a:avLst/>
            </a:prstGeom>
          </p:spPr>
        </p:pic>
        <p:sp>
          <p:nvSpPr>
            <p:cNvPr id="47" name="object 47" descr=""/>
            <p:cNvSpPr/>
            <p:nvPr/>
          </p:nvSpPr>
          <p:spPr>
            <a:xfrm>
              <a:off x="7060001" y="2474116"/>
              <a:ext cx="2870835" cy="483234"/>
            </a:xfrm>
            <a:custGeom>
              <a:avLst/>
              <a:gdLst/>
              <a:ahLst/>
              <a:cxnLst/>
              <a:rect l="l" t="t" r="r" b="b"/>
              <a:pathLst>
                <a:path w="2870834" h="483235">
                  <a:moveTo>
                    <a:pt x="2870759" y="0"/>
                  </a:moveTo>
                  <a:lnTo>
                    <a:pt x="0" y="0"/>
                  </a:lnTo>
                  <a:lnTo>
                    <a:pt x="0" y="482954"/>
                  </a:lnTo>
                  <a:lnTo>
                    <a:pt x="2870759" y="482954"/>
                  </a:lnTo>
                  <a:lnTo>
                    <a:pt x="2870759" y="0"/>
                  </a:lnTo>
                  <a:close/>
                </a:path>
              </a:pathLst>
            </a:custGeom>
            <a:solidFill>
              <a:srgbClr val="CCFFFF"/>
            </a:solidFill>
          </p:spPr>
          <p:txBody>
            <a:bodyPr wrap="square" lIns="0" tIns="0" rIns="0" bIns="0" rtlCol="0"/>
            <a:lstStyle/>
            <a:p/>
          </p:txBody>
        </p:sp>
        <p:sp>
          <p:nvSpPr>
            <p:cNvPr id="48" name="object 48" descr=""/>
            <p:cNvSpPr/>
            <p:nvPr/>
          </p:nvSpPr>
          <p:spPr>
            <a:xfrm>
              <a:off x="7060001" y="2474116"/>
              <a:ext cx="2870835" cy="483234"/>
            </a:xfrm>
            <a:custGeom>
              <a:avLst/>
              <a:gdLst/>
              <a:ahLst/>
              <a:cxnLst/>
              <a:rect l="l" t="t" r="r" b="b"/>
              <a:pathLst>
                <a:path w="2870834" h="483235">
                  <a:moveTo>
                    <a:pt x="0" y="482954"/>
                  </a:moveTo>
                  <a:lnTo>
                    <a:pt x="2870759" y="482954"/>
                  </a:lnTo>
                  <a:lnTo>
                    <a:pt x="2870759" y="0"/>
                  </a:lnTo>
                  <a:lnTo>
                    <a:pt x="0" y="0"/>
                  </a:lnTo>
                  <a:lnTo>
                    <a:pt x="0" y="482954"/>
                  </a:lnTo>
                  <a:close/>
                </a:path>
              </a:pathLst>
            </a:custGeom>
            <a:ln w="11747">
              <a:solidFill>
                <a:srgbClr val="000000"/>
              </a:solidFill>
            </a:ln>
          </p:spPr>
          <p:txBody>
            <a:bodyPr wrap="square" lIns="0" tIns="0" rIns="0" bIns="0" rtlCol="0"/>
            <a:lstStyle/>
            <a:p/>
          </p:txBody>
        </p:sp>
      </p:grpSp>
      <p:sp>
        <p:nvSpPr>
          <p:cNvPr id="49" name="object 49" descr=""/>
          <p:cNvSpPr txBox="1"/>
          <p:nvPr/>
        </p:nvSpPr>
        <p:spPr>
          <a:xfrm>
            <a:off x="7106205" y="2617871"/>
            <a:ext cx="1251585" cy="205740"/>
          </a:xfrm>
          <a:prstGeom prst="rect">
            <a:avLst/>
          </a:prstGeom>
        </p:spPr>
        <p:txBody>
          <a:bodyPr wrap="square" lIns="0" tIns="16510" rIns="0" bIns="0" rtlCol="0" vert="horz">
            <a:spAutoFit/>
          </a:bodyPr>
          <a:lstStyle/>
          <a:p>
            <a:pPr marL="12700">
              <a:lnSpc>
                <a:spcPct val="100000"/>
              </a:lnSpc>
              <a:spcBef>
                <a:spcPts val="130"/>
              </a:spcBef>
            </a:pPr>
            <a:r>
              <a:rPr dirty="0" sz="1150" b="1">
                <a:latin typeface="宋体"/>
                <a:cs typeface="宋体"/>
              </a:rPr>
              <a:t>L1</a:t>
            </a:r>
            <a:r>
              <a:rPr dirty="0" sz="1150" spc="55" b="1">
                <a:latin typeface="宋体"/>
                <a:cs typeface="宋体"/>
              </a:rPr>
              <a:t> </a:t>
            </a:r>
            <a:r>
              <a:rPr dirty="0" sz="1150" b="1">
                <a:latin typeface="宋体"/>
                <a:cs typeface="宋体"/>
              </a:rPr>
              <a:t>Cache</a:t>
            </a:r>
            <a:r>
              <a:rPr dirty="0" sz="1150" spc="-80" b="1">
                <a:latin typeface="宋体"/>
                <a:cs typeface="宋体"/>
              </a:rPr>
              <a:t> 标识&lt;</a:t>
            </a:r>
            <a:r>
              <a:rPr dirty="0" sz="1150" spc="-20" b="1">
                <a:latin typeface="宋体"/>
                <a:cs typeface="宋体"/>
              </a:rPr>
              <a:t>25&gt;</a:t>
            </a:r>
            <a:endParaRPr sz="1150">
              <a:latin typeface="宋体"/>
              <a:cs typeface="宋体"/>
            </a:endParaRPr>
          </a:p>
        </p:txBody>
      </p:sp>
      <p:sp>
        <p:nvSpPr>
          <p:cNvPr id="50" name="object 50" descr=""/>
          <p:cNvSpPr txBox="1"/>
          <p:nvPr/>
        </p:nvSpPr>
        <p:spPr>
          <a:xfrm>
            <a:off x="8434431" y="2474116"/>
            <a:ext cx="1496695" cy="483234"/>
          </a:xfrm>
          <a:prstGeom prst="rect">
            <a:avLst/>
          </a:prstGeom>
          <a:solidFill>
            <a:srgbClr val="CCFFFF"/>
          </a:solidFill>
          <a:ln w="11747">
            <a:solidFill>
              <a:srgbClr val="000000"/>
            </a:solidFill>
          </a:ln>
        </p:spPr>
        <p:txBody>
          <a:bodyPr wrap="square" lIns="0" tIns="0" rIns="0" bIns="0" rtlCol="0" vert="horz">
            <a:spAutoFit/>
          </a:bodyPr>
          <a:lstStyle/>
          <a:p>
            <a:pPr>
              <a:lnSpc>
                <a:spcPct val="100000"/>
              </a:lnSpc>
            </a:pPr>
            <a:endParaRPr sz="1150">
              <a:latin typeface="Times New Roman"/>
              <a:cs typeface="Times New Roman"/>
            </a:endParaRPr>
          </a:p>
          <a:p>
            <a:pPr marL="345440">
              <a:lnSpc>
                <a:spcPct val="100000"/>
              </a:lnSpc>
            </a:pPr>
            <a:r>
              <a:rPr dirty="0" sz="1150" b="1">
                <a:latin typeface="宋体"/>
                <a:cs typeface="宋体"/>
              </a:rPr>
              <a:t>L1</a:t>
            </a:r>
            <a:r>
              <a:rPr dirty="0" sz="1150" spc="-90" b="1">
                <a:latin typeface="宋体"/>
                <a:cs typeface="宋体"/>
              </a:rPr>
              <a:t> 数据</a:t>
            </a:r>
            <a:r>
              <a:rPr dirty="0" sz="1150" spc="-10" b="1">
                <a:latin typeface="宋体"/>
                <a:cs typeface="宋体"/>
              </a:rPr>
              <a:t>&lt;512&gt;</a:t>
            </a:r>
            <a:endParaRPr sz="1150">
              <a:latin typeface="宋体"/>
              <a:cs typeface="宋体"/>
            </a:endParaRPr>
          </a:p>
        </p:txBody>
      </p:sp>
      <p:grpSp>
        <p:nvGrpSpPr>
          <p:cNvPr id="51" name="object 51" descr=""/>
          <p:cNvGrpSpPr/>
          <p:nvPr/>
        </p:nvGrpSpPr>
        <p:grpSpPr>
          <a:xfrm>
            <a:off x="6404106" y="1859271"/>
            <a:ext cx="633095" cy="882650"/>
            <a:chOff x="6404106" y="1859271"/>
            <a:chExt cx="633095" cy="882650"/>
          </a:xfrm>
        </p:grpSpPr>
        <p:sp>
          <p:nvSpPr>
            <p:cNvPr id="52" name="object 52" descr=""/>
            <p:cNvSpPr/>
            <p:nvPr/>
          </p:nvSpPr>
          <p:spPr>
            <a:xfrm>
              <a:off x="6415655" y="1865304"/>
              <a:ext cx="0" cy="840740"/>
            </a:xfrm>
            <a:custGeom>
              <a:avLst/>
              <a:gdLst/>
              <a:ahLst/>
              <a:cxnLst/>
              <a:rect l="l" t="t" r="r" b="b"/>
              <a:pathLst>
                <a:path w="0" h="840739">
                  <a:moveTo>
                    <a:pt x="0" y="0"/>
                  </a:moveTo>
                  <a:lnTo>
                    <a:pt x="0" y="840412"/>
                  </a:lnTo>
                </a:path>
              </a:pathLst>
            </a:custGeom>
            <a:ln w="11753">
              <a:solidFill>
                <a:srgbClr val="000000"/>
              </a:solidFill>
            </a:ln>
          </p:spPr>
          <p:txBody>
            <a:bodyPr wrap="square" lIns="0" tIns="0" rIns="0" bIns="0" rtlCol="0"/>
            <a:lstStyle/>
            <a:p/>
          </p:txBody>
        </p:sp>
        <p:sp>
          <p:nvSpPr>
            <p:cNvPr id="53" name="object 53" descr=""/>
            <p:cNvSpPr/>
            <p:nvPr/>
          </p:nvSpPr>
          <p:spPr>
            <a:xfrm>
              <a:off x="6406328" y="2673009"/>
              <a:ext cx="628650" cy="66675"/>
            </a:xfrm>
            <a:custGeom>
              <a:avLst/>
              <a:gdLst/>
              <a:ahLst/>
              <a:cxnLst/>
              <a:rect l="l" t="t" r="r" b="b"/>
              <a:pathLst>
                <a:path w="628650" h="66675">
                  <a:moveTo>
                    <a:pt x="530464" y="0"/>
                  </a:moveTo>
                  <a:lnTo>
                    <a:pt x="561716" y="35160"/>
                  </a:lnTo>
                  <a:lnTo>
                    <a:pt x="530464" y="66559"/>
                  </a:lnTo>
                  <a:lnTo>
                    <a:pt x="603583" y="43173"/>
                  </a:lnTo>
                  <a:lnTo>
                    <a:pt x="561716" y="43173"/>
                  </a:lnTo>
                  <a:lnTo>
                    <a:pt x="565807" y="39248"/>
                  </a:lnTo>
                  <a:lnTo>
                    <a:pt x="569897" y="39248"/>
                  </a:lnTo>
                  <a:lnTo>
                    <a:pt x="569897" y="27474"/>
                  </a:lnTo>
                  <a:lnTo>
                    <a:pt x="565807" y="27474"/>
                  </a:lnTo>
                  <a:lnTo>
                    <a:pt x="561716" y="23385"/>
                  </a:lnTo>
                  <a:lnTo>
                    <a:pt x="595761" y="23385"/>
                  </a:lnTo>
                  <a:lnTo>
                    <a:pt x="530464" y="0"/>
                  </a:lnTo>
                  <a:close/>
                </a:path>
                <a:path w="628650" h="66675">
                  <a:moveTo>
                    <a:pt x="551250" y="23385"/>
                  </a:moveTo>
                  <a:lnTo>
                    <a:pt x="11780" y="23385"/>
                  </a:lnTo>
                  <a:lnTo>
                    <a:pt x="8017" y="27474"/>
                  </a:lnTo>
                  <a:lnTo>
                    <a:pt x="4090" y="27474"/>
                  </a:lnTo>
                  <a:lnTo>
                    <a:pt x="4090" y="31562"/>
                  </a:lnTo>
                  <a:lnTo>
                    <a:pt x="0" y="35160"/>
                  </a:lnTo>
                  <a:lnTo>
                    <a:pt x="4090" y="35160"/>
                  </a:lnTo>
                  <a:lnTo>
                    <a:pt x="4090" y="39248"/>
                  </a:lnTo>
                  <a:lnTo>
                    <a:pt x="8017" y="39248"/>
                  </a:lnTo>
                  <a:lnTo>
                    <a:pt x="11780" y="43173"/>
                  </a:lnTo>
                  <a:lnTo>
                    <a:pt x="553740" y="43173"/>
                  </a:lnTo>
                  <a:lnTo>
                    <a:pt x="561716" y="35160"/>
                  </a:lnTo>
                  <a:lnTo>
                    <a:pt x="551250" y="23385"/>
                  </a:lnTo>
                  <a:close/>
                </a:path>
                <a:path w="628650" h="66675">
                  <a:moveTo>
                    <a:pt x="595761" y="23385"/>
                  </a:moveTo>
                  <a:lnTo>
                    <a:pt x="561716" y="23385"/>
                  </a:lnTo>
                  <a:lnTo>
                    <a:pt x="565807" y="27474"/>
                  </a:lnTo>
                  <a:lnTo>
                    <a:pt x="569897" y="27474"/>
                  </a:lnTo>
                  <a:lnTo>
                    <a:pt x="569897" y="39248"/>
                  </a:lnTo>
                  <a:lnTo>
                    <a:pt x="565807" y="39248"/>
                  </a:lnTo>
                  <a:lnTo>
                    <a:pt x="561716" y="43173"/>
                  </a:lnTo>
                  <a:lnTo>
                    <a:pt x="603583" y="43173"/>
                  </a:lnTo>
                  <a:lnTo>
                    <a:pt x="628638" y="35160"/>
                  </a:lnTo>
                  <a:lnTo>
                    <a:pt x="595761" y="23385"/>
                  </a:lnTo>
                  <a:close/>
                </a:path>
              </a:pathLst>
            </a:custGeom>
            <a:solidFill>
              <a:srgbClr val="000000"/>
            </a:solidFill>
          </p:spPr>
          <p:txBody>
            <a:bodyPr wrap="square" lIns="0" tIns="0" rIns="0" bIns="0" rtlCol="0"/>
            <a:lstStyle/>
            <a:p/>
          </p:txBody>
        </p:sp>
        <p:sp>
          <p:nvSpPr>
            <p:cNvPr id="54" name="object 54" descr=""/>
            <p:cNvSpPr/>
            <p:nvPr/>
          </p:nvSpPr>
          <p:spPr>
            <a:xfrm>
              <a:off x="6406328" y="2673009"/>
              <a:ext cx="628650" cy="66675"/>
            </a:xfrm>
            <a:custGeom>
              <a:avLst/>
              <a:gdLst/>
              <a:ahLst/>
              <a:cxnLst/>
              <a:rect l="l" t="t" r="r" b="b"/>
              <a:pathLst>
                <a:path w="628650" h="66675">
                  <a:moveTo>
                    <a:pt x="11780" y="23385"/>
                  </a:moveTo>
                  <a:lnTo>
                    <a:pt x="561716" y="23385"/>
                  </a:lnTo>
                  <a:lnTo>
                    <a:pt x="565807" y="27474"/>
                  </a:lnTo>
                  <a:lnTo>
                    <a:pt x="569897" y="27474"/>
                  </a:lnTo>
                  <a:lnTo>
                    <a:pt x="569897" y="31562"/>
                  </a:lnTo>
                  <a:lnTo>
                    <a:pt x="569897" y="35160"/>
                  </a:lnTo>
                  <a:lnTo>
                    <a:pt x="569897" y="39248"/>
                  </a:lnTo>
                  <a:lnTo>
                    <a:pt x="565807" y="39248"/>
                  </a:lnTo>
                  <a:lnTo>
                    <a:pt x="561716" y="43173"/>
                  </a:lnTo>
                  <a:lnTo>
                    <a:pt x="11780" y="43173"/>
                  </a:lnTo>
                  <a:lnTo>
                    <a:pt x="8017" y="39248"/>
                  </a:lnTo>
                  <a:lnTo>
                    <a:pt x="4090" y="39248"/>
                  </a:lnTo>
                  <a:lnTo>
                    <a:pt x="4090" y="35160"/>
                  </a:lnTo>
                  <a:lnTo>
                    <a:pt x="0" y="35160"/>
                  </a:lnTo>
                  <a:lnTo>
                    <a:pt x="4090" y="31562"/>
                  </a:lnTo>
                  <a:lnTo>
                    <a:pt x="4090" y="27474"/>
                  </a:lnTo>
                  <a:lnTo>
                    <a:pt x="8017" y="27474"/>
                  </a:lnTo>
                  <a:lnTo>
                    <a:pt x="11780" y="23385"/>
                  </a:lnTo>
                  <a:close/>
                </a:path>
                <a:path w="628650" h="66675">
                  <a:moveTo>
                    <a:pt x="561716" y="35160"/>
                  </a:moveTo>
                  <a:lnTo>
                    <a:pt x="530464" y="0"/>
                  </a:lnTo>
                  <a:lnTo>
                    <a:pt x="628638" y="35160"/>
                  </a:lnTo>
                  <a:lnTo>
                    <a:pt x="530464" y="66559"/>
                  </a:lnTo>
                  <a:lnTo>
                    <a:pt x="561716" y="35160"/>
                  </a:lnTo>
                  <a:close/>
                </a:path>
              </a:pathLst>
            </a:custGeom>
            <a:ln w="4051">
              <a:solidFill>
                <a:srgbClr val="000000"/>
              </a:solidFill>
            </a:ln>
          </p:spPr>
          <p:txBody>
            <a:bodyPr wrap="square" lIns="0" tIns="0" rIns="0" bIns="0" rtlCol="0"/>
            <a:lstStyle/>
            <a:p/>
          </p:txBody>
        </p:sp>
      </p:grpSp>
      <p:sp>
        <p:nvSpPr>
          <p:cNvPr id="55" name="object 55" descr=""/>
          <p:cNvSpPr txBox="1"/>
          <p:nvPr/>
        </p:nvSpPr>
        <p:spPr>
          <a:xfrm>
            <a:off x="7208305" y="3564745"/>
            <a:ext cx="323850" cy="205740"/>
          </a:xfrm>
          <a:prstGeom prst="rect">
            <a:avLst/>
          </a:prstGeom>
        </p:spPr>
        <p:txBody>
          <a:bodyPr wrap="square" lIns="0" tIns="16510" rIns="0" bIns="0" rtlCol="0" vert="horz">
            <a:spAutoFit/>
          </a:bodyPr>
          <a:lstStyle/>
          <a:p>
            <a:pPr marL="12700">
              <a:lnSpc>
                <a:spcPct val="100000"/>
              </a:lnSpc>
              <a:spcBef>
                <a:spcPts val="130"/>
              </a:spcBef>
            </a:pPr>
            <a:r>
              <a:rPr dirty="0" sz="1150" spc="-25">
                <a:latin typeface="宋体"/>
                <a:cs typeface="宋体"/>
              </a:rPr>
              <a:t>＝？</a:t>
            </a:r>
            <a:endParaRPr sz="1150">
              <a:latin typeface="宋体"/>
              <a:cs typeface="宋体"/>
            </a:endParaRPr>
          </a:p>
        </p:txBody>
      </p:sp>
      <p:grpSp>
        <p:nvGrpSpPr>
          <p:cNvPr id="56" name="object 56" descr=""/>
          <p:cNvGrpSpPr/>
          <p:nvPr/>
        </p:nvGrpSpPr>
        <p:grpSpPr>
          <a:xfrm>
            <a:off x="5100197" y="2951039"/>
            <a:ext cx="4839335" cy="753745"/>
            <a:chOff x="5100197" y="2951039"/>
            <a:chExt cx="4839335" cy="753745"/>
          </a:xfrm>
        </p:grpSpPr>
        <p:pic>
          <p:nvPicPr>
            <p:cNvPr id="57" name="object 57" descr=""/>
            <p:cNvPicPr/>
            <p:nvPr/>
          </p:nvPicPr>
          <p:blipFill>
            <a:blip r:embed="rId8" cstate="print"/>
            <a:stretch>
              <a:fillRect/>
            </a:stretch>
          </p:blipFill>
          <p:spPr>
            <a:xfrm>
              <a:off x="7515955" y="3637318"/>
              <a:ext cx="255375" cy="67012"/>
            </a:xfrm>
            <a:prstGeom prst="rect">
              <a:avLst/>
            </a:prstGeom>
          </p:spPr>
        </p:pic>
        <p:sp>
          <p:nvSpPr>
            <p:cNvPr id="58" name="object 58" descr=""/>
            <p:cNvSpPr/>
            <p:nvPr/>
          </p:nvSpPr>
          <p:spPr>
            <a:xfrm>
              <a:off x="5108146" y="3491671"/>
              <a:ext cx="0" cy="177165"/>
            </a:xfrm>
            <a:custGeom>
              <a:avLst/>
              <a:gdLst/>
              <a:ahLst/>
              <a:cxnLst/>
              <a:rect l="l" t="t" r="r" b="b"/>
              <a:pathLst>
                <a:path w="0" h="177164">
                  <a:moveTo>
                    <a:pt x="0" y="0"/>
                  </a:moveTo>
                  <a:lnTo>
                    <a:pt x="0" y="176782"/>
                  </a:lnTo>
                </a:path>
              </a:pathLst>
            </a:custGeom>
            <a:ln w="11753">
              <a:solidFill>
                <a:srgbClr val="000000"/>
              </a:solidFill>
            </a:ln>
          </p:spPr>
          <p:txBody>
            <a:bodyPr wrap="square" lIns="0" tIns="0" rIns="0" bIns="0" rtlCol="0"/>
            <a:lstStyle/>
            <a:p/>
          </p:txBody>
        </p:sp>
        <p:sp>
          <p:nvSpPr>
            <p:cNvPr id="59" name="object 59" descr=""/>
            <p:cNvSpPr/>
            <p:nvPr/>
          </p:nvSpPr>
          <p:spPr>
            <a:xfrm>
              <a:off x="5102420" y="3639344"/>
              <a:ext cx="2070100" cy="63500"/>
            </a:xfrm>
            <a:custGeom>
              <a:avLst/>
              <a:gdLst/>
              <a:ahLst/>
              <a:cxnLst/>
              <a:rect l="l" t="t" r="r" b="b"/>
              <a:pathLst>
                <a:path w="2070100" h="63500">
                  <a:moveTo>
                    <a:pt x="1971816" y="0"/>
                  </a:moveTo>
                  <a:lnTo>
                    <a:pt x="2003068" y="31562"/>
                  </a:lnTo>
                  <a:lnTo>
                    <a:pt x="1971816" y="62961"/>
                  </a:lnTo>
                  <a:lnTo>
                    <a:pt x="2045957" y="39248"/>
                  </a:lnTo>
                  <a:lnTo>
                    <a:pt x="2007158" y="39248"/>
                  </a:lnTo>
                  <a:lnTo>
                    <a:pt x="2011085" y="35160"/>
                  </a:lnTo>
                  <a:lnTo>
                    <a:pt x="2011085" y="23385"/>
                  </a:lnTo>
                  <a:lnTo>
                    <a:pt x="2044556" y="23385"/>
                  </a:lnTo>
                  <a:lnTo>
                    <a:pt x="1971816" y="0"/>
                  </a:lnTo>
                  <a:close/>
                </a:path>
                <a:path w="2070100" h="63500">
                  <a:moveTo>
                    <a:pt x="1994971" y="23385"/>
                  </a:moveTo>
                  <a:lnTo>
                    <a:pt x="0" y="23385"/>
                  </a:lnTo>
                  <a:lnTo>
                    <a:pt x="0" y="31562"/>
                  </a:lnTo>
                  <a:lnTo>
                    <a:pt x="4090" y="35160"/>
                  </a:lnTo>
                  <a:lnTo>
                    <a:pt x="2007158" y="39248"/>
                  </a:lnTo>
                  <a:lnTo>
                    <a:pt x="1995418" y="39248"/>
                  </a:lnTo>
                  <a:lnTo>
                    <a:pt x="2003068" y="31562"/>
                  </a:lnTo>
                  <a:lnTo>
                    <a:pt x="1994971" y="23385"/>
                  </a:lnTo>
                  <a:close/>
                </a:path>
                <a:path w="2070100" h="63500">
                  <a:moveTo>
                    <a:pt x="2044556" y="23385"/>
                  </a:moveTo>
                  <a:lnTo>
                    <a:pt x="2011085" y="23385"/>
                  </a:lnTo>
                  <a:lnTo>
                    <a:pt x="2011085" y="35160"/>
                  </a:lnTo>
                  <a:lnTo>
                    <a:pt x="2007158" y="39248"/>
                  </a:lnTo>
                  <a:lnTo>
                    <a:pt x="2045957" y="39248"/>
                  </a:lnTo>
                  <a:lnTo>
                    <a:pt x="2069989" y="31562"/>
                  </a:lnTo>
                  <a:lnTo>
                    <a:pt x="2044556" y="23385"/>
                  </a:lnTo>
                  <a:close/>
                </a:path>
                <a:path w="2070100" h="63500">
                  <a:moveTo>
                    <a:pt x="8181" y="19460"/>
                  </a:moveTo>
                  <a:lnTo>
                    <a:pt x="4090" y="19460"/>
                  </a:lnTo>
                  <a:lnTo>
                    <a:pt x="4090" y="23385"/>
                  </a:lnTo>
                  <a:lnTo>
                    <a:pt x="2003068" y="23385"/>
                  </a:lnTo>
                  <a:lnTo>
                    <a:pt x="8181" y="19460"/>
                  </a:lnTo>
                  <a:close/>
                </a:path>
              </a:pathLst>
            </a:custGeom>
            <a:solidFill>
              <a:srgbClr val="000000"/>
            </a:solidFill>
          </p:spPr>
          <p:txBody>
            <a:bodyPr wrap="square" lIns="0" tIns="0" rIns="0" bIns="0" rtlCol="0"/>
            <a:lstStyle/>
            <a:p/>
          </p:txBody>
        </p:sp>
        <p:sp>
          <p:nvSpPr>
            <p:cNvPr id="60" name="object 60" descr=""/>
            <p:cNvSpPr/>
            <p:nvPr/>
          </p:nvSpPr>
          <p:spPr>
            <a:xfrm>
              <a:off x="5102420" y="3639344"/>
              <a:ext cx="2070100" cy="63500"/>
            </a:xfrm>
            <a:custGeom>
              <a:avLst/>
              <a:gdLst/>
              <a:ahLst/>
              <a:cxnLst/>
              <a:rect l="l" t="t" r="r" b="b"/>
              <a:pathLst>
                <a:path w="2070100" h="63500">
                  <a:moveTo>
                    <a:pt x="8181" y="19460"/>
                  </a:moveTo>
                  <a:lnTo>
                    <a:pt x="2003068" y="23385"/>
                  </a:lnTo>
                  <a:lnTo>
                    <a:pt x="2007158" y="23385"/>
                  </a:lnTo>
                  <a:lnTo>
                    <a:pt x="2011085" y="23385"/>
                  </a:lnTo>
                  <a:lnTo>
                    <a:pt x="2011085" y="27474"/>
                  </a:lnTo>
                  <a:lnTo>
                    <a:pt x="2011085" y="31562"/>
                  </a:lnTo>
                  <a:lnTo>
                    <a:pt x="2011085" y="35160"/>
                  </a:lnTo>
                  <a:lnTo>
                    <a:pt x="2007158" y="39248"/>
                  </a:lnTo>
                  <a:lnTo>
                    <a:pt x="2003068" y="39248"/>
                  </a:lnTo>
                  <a:lnTo>
                    <a:pt x="8181" y="35160"/>
                  </a:lnTo>
                  <a:lnTo>
                    <a:pt x="4090" y="35160"/>
                  </a:lnTo>
                  <a:lnTo>
                    <a:pt x="0" y="31562"/>
                  </a:lnTo>
                  <a:lnTo>
                    <a:pt x="0" y="27474"/>
                  </a:lnTo>
                  <a:lnTo>
                    <a:pt x="0" y="23385"/>
                  </a:lnTo>
                  <a:lnTo>
                    <a:pt x="4090" y="23385"/>
                  </a:lnTo>
                  <a:lnTo>
                    <a:pt x="4090" y="19460"/>
                  </a:lnTo>
                  <a:lnTo>
                    <a:pt x="8181" y="19460"/>
                  </a:lnTo>
                  <a:close/>
                </a:path>
                <a:path w="2070100" h="63500">
                  <a:moveTo>
                    <a:pt x="2003068" y="31562"/>
                  </a:moveTo>
                  <a:lnTo>
                    <a:pt x="1971816" y="0"/>
                  </a:lnTo>
                  <a:lnTo>
                    <a:pt x="2069989" y="31562"/>
                  </a:lnTo>
                  <a:lnTo>
                    <a:pt x="1971816" y="62961"/>
                  </a:lnTo>
                  <a:lnTo>
                    <a:pt x="2003068" y="31562"/>
                  </a:lnTo>
                  <a:close/>
                </a:path>
              </a:pathLst>
            </a:custGeom>
            <a:ln w="4051">
              <a:solidFill>
                <a:srgbClr val="000000"/>
              </a:solidFill>
            </a:ln>
          </p:spPr>
          <p:txBody>
            <a:bodyPr wrap="square" lIns="0" tIns="0" rIns="0" bIns="0" rtlCol="0"/>
            <a:lstStyle/>
            <a:p/>
          </p:txBody>
        </p:sp>
        <p:sp>
          <p:nvSpPr>
            <p:cNvPr id="61" name="object 61" descr=""/>
            <p:cNvSpPr/>
            <p:nvPr/>
          </p:nvSpPr>
          <p:spPr>
            <a:xfrm>
              <a:off x="7755233" y="2957071"/>
              <a:ext cx="1461135" cy="711835"/>
            </a:xfrm>
            <a:custGeom>
              <a:avLst/>
              <a:gdLst/>
              <a:ahLst/>
              <a:cxnLst/>
              <a:rect l="l" t="t" r="r" b="b"/>
              <a:pathLst>
                <a:path w="1461134" h="711835">
                  <a:moveTo>
                    <a:pt x="0" y="711382"/>
                  </a:moveTo>
                  <a:lnTo>
                    <a:pt x="0" y="0"/>
                  </a:lnTo>
                </a:path>
                <a:path w="1461134" h="711835">
                  <a:moveTo>
                    <a:pt x="1460986" y="0"/>
                  </a:moveTo>
                  <a:lnTo>
                    <a:pt x="1460986" y="432226"/>
                  </a:lnTo>
                </a:path>
              </a:pathLst>
            </a:custGeom>
            <a:ln w="11750">
              <a:solidFill>
                <a:srgbClr val="000000"/>
              </a:solidFill>
            </a:ln>
          </p:spPr>
          <p:txBody>
            <a:bodyPr wrap="square" lIns="0" tIns="0" rIns="0" bIns="0" rtlCol="0"/>
            <a:lstStyle/>
            <a:p/>
          </p:txBody>
        </p:sp>
        <p:sp>
          <p:nvSpPr>
            <p:cNvPr id="62" name="object 62" descr=""/>
            <p:cNvSpPr/>
            <p:nvPr/>
          </p:nvSpPr>
          <p:spPr>
            <a:xfrm>
              <a:off x="9210657" y="3360515"/>
              <a:ext cx="727075" cy="62865"/>
            </a:xfrm>
            <a:custGeom>
              <a:avLst/>
              <a:gdLst/>
              <a:ahLst/>
              <a:cxnLst/>
              <a:rect l="l" t="t" r="r" b="b"/>
              <a:pathLst>
                <a:path w="727075" h="62864">
                  <a:moveTo>
                    <a:pt x="628474" y="0"/>
                  </a:moveTo>
                  <a:lnTo>
                    <a:pt x="663817" y="31071"/>
                  </a:lnTo>
                  <a:lnTo>
                    <a:pt x="628474" y="62634"/>
                  </a:lnTo>
                  <a:lnTo>
                    <a:pt x="701214" y="39248"/>
                  </a:lnTo>
                  <a:lnTo>
                    <a:pt x="667907" y="39248"/>
                  </a:lnTo>
                  <a:lnTo>
                    <a:pt x="667907" y="35160"/>
                  </a:lnTo>
                  <a:lnTo>
                    <a:pt x="671507" y="35160"/>
                  </a:lnTo>
                  <a:lnTo>
                    <a:pt x="671507" y="27474"/>
                  </a:lnTo>
                  <a:lnTo>
                    <a:pt x="667907" y="23549"/>
                  </a:lnTo>
                  <a:lnTo>
                    <a:pt x="702879" y="23549"/>
                  </a:lnTo>
                  <a:lnTo>
                    <a:pt x="628474" y="0"/>
                  </a:lnTo>
                  <a:close/>
                </a:path>
                <a:path w="727075" h="62864">
                  <a:moveTo>
                    <a:pt x="655260" y="23549"/>
                  </a:moveTo>
                  <a:lnTo>
                    <a:pt x="3926" y="23549"/>
                  </a:lnTo>
                  <a:lnTo>
                    <a:pt x="0" y="27474"/>
                  </a:lnTo>
                  <a:lnTo>
                    <a:pt x="0" y="35160"/>
                  </a:lnTo>
                  <a:lnTo>
                    <a:pt x="3926" y="35160"/>
                  </a:lnTo>
                  <a:lnTo>
                    <a:pt x="3926" y="39248"/>
                  </a:lnTo>
                  <a:lnTo>
                    <a:pt x="654660" y="39248"/>
                  </a:lnTo>
                  <a:lnTo>
                    <a:pt x="663817" y="31071"/>
                  </a:lnTo>
                  <a:lnTo>
                    <a:pt x="655260" y="23549"/>
                  </a:lnTo>
                  <a:close/>
                </a:path>
                <a:path w="727075" h="62864">
                  <a:moveTo>
                    <a:pt x="702879" y="23549"/>
                  </a:moveTo>
                  <a:lnTo>
                    <a:pt x="667907" y="23549"/>
                  </a:lnTo>
                  <a:lnTo>
                    <a:pt x="671507" y="27474"/>
                  </a:lnTo>
                  <a:lnTo>
                    <a:pt x="671507" y="35160"/>
                  </a:lnTo>
                  <a:lnTo>
                    <a:pt x="667907" y="35160"/>
                  </a:lnTo>
                  <a:lnTo>
                    <a:pt x="667907" y="39248"/>
                  </a:lnTo>
                  <a:lnTo>
                    <a:pt x="701214" y="39248"/>
                  </a:lnTo>
                  <a:lnTo>
                    <a:pt x="726648" y="31071"/>
                  </a:lnTo>
                  <a:lnTo>
                    <a:pt x="702879" y="23549"/>
                  </a:lnTo>
                  <a:close/>
                </a:path>
              </a:pathLst>
            </a:custGeom>
            <a:solidFill>
              <a:srgbClr val="000000"/>
            </a:solidFill>
          </p:spPr>
          <p:txBody>
            <a:bodyPr wrap="square" lIns="0" tIns="0" rIns="0" bIns="0" rtlCol="0"/>
            <a:lstStyle/>
            <a:p/>
          </p:txBody>
        </p:sp>
        <p:sp>
          <p:nvSpPr>
            <p:cNvPr id="63" name="object 63" descr=""/>
            <p:cNvSpPr/>
            <p:nvPr/>
          </p:nvSpPr>
          <p:spPr>
            <a:xfrm>
              <a:off x="9210657" y="3360515"/>
              <a:ext cx="727075" cy="62865"/>
            </a:xfrm>
            <a:custGeom>
              <a:avLst/>
              <a:gdLst/>
              <a:ahLst/>
              <a:cxnLst/>
              <a:rect l="l" t="t" r="r" b="b"/>
              <a:pathLst>
                <a:path w="727075" h="62864">
                  <a:moveTo>
                    <a:pt x="8017" y="23549"/>
                  </a:moveTo>
                  <a:lnTo>
                    <a:pt x="663817" y="23549"/>
                  </a:lnTo>
                  <a:lnTo>
                    <a:pt x="667907" y="23549"/>
                  </a:lnTo>
                  <a:lnTo>
                    <a:pt x="671507" y="27474"/>
                  </a:lnTo>
                  <a:lnTo>
                    <a:pt x="671507" y="31071"/>
                  </a:lnTo>
                  <a:lnTo>
                    <a:pt x="671507" y="35160"/>
                  </a:lnTo>
                  <a:lnTo>
                    <a:pt x="667907" y="35160"/>
                  </a:lnTo>
                  <a:lnTo>
                    <a:pt x="667907" y="39248"/>
                  </a:lnTo>
                  <a:lnTo>
                    <a:pt x="663817" y="39248"/>
                  </a:lnTo>
                  <a:lnTo>
                    <a:pt x="8017" y="39248"/>
                  </a:lnTo>
                  <a:lnTo>
                    <a:pt x="3926" y="39248"/>
                  </a:lnTo>
                  <a:lnTo>
                    <a:pt x="3926" y="35160"/>
                  </a:lnTo>
                  <a:lnTo>
                    <a:pt x="0" y="35160"/>
                  </a:lnTo>
                  <a:lnTo>
                    <a:pt x="0" y="31071"/>
                  </a:lnTo>
                  <a:lnTo>
                    <a:pt x="0" y="27474"/>
                  </a:lnTo>
                  <a:lnTo>
                    <a:pt x="3926" y="23549"/>
                  </a:lnTo>
                  <a:lnTo>
                    <a:pt x="8017" y="23549"/>
                  </a:lnTo>
                  <a:close/>
                </a:path>
                <a:path w="727075" h="62864">
                  <a:moveTo>
                    <a:pt x="663817" y="31071"/>
                  </a:moveTo>
                  <a:lnTo>
                    <a:pt x="628474" y="0"/>
                  </a:lnTo>
                  <a:lnTo>
                    <a:pt x="726648" y="31071"/>
                  </a:lnTo>
                  <a:lnTo>
                    <a:pt x="628474" y="62634"/>
                  </a:lnTo>
                  <a:lnTo>
                    <a:pt x="663817" y="31071"/>
                  </a:lnTo>
                  <a:close/>
                </a:path>
              </a:pathLst>
            </a:custGeom>
            <a:ln w="4051">
              <a:solidFill>
                <a:srgbClr val="000000"/>
              </a:solidFill>
            </a:ln>
          </p:spPr>
          <p:txBody>
            <a:bodyPr wrap="square" lIns="0" tIns="0" rIns="0" bIns="0" rtlCol="0"/>
            <a:lstStyle/>
            <a:p/>
          </p:txBody>
        </p:sp>
      </p:grpSp>
      <p:sp>
        <p:nvSpPr>
          <p:cNvPr id="64" name="object 64" descr=""/>
          <p:cNvSpPr txBox="1"/>
          <p:nvPr/>
        </p:nvSpPr>
        <p:spPr>
          <a:xfrm>
            <a:off x="9360434" y="3387963"/>
            <a:ext cx="434340" cy="205740"/>
          </a:xfrm>
          <a:prstGeom prst="rect">
            <a:avLst/>
          </a:prstGeom>
        </p:spPr>
        <p:txBody>
          <a:bodyPr wrap="square" lIns="0" tIns="16510" rIns="0" bIns="0" rtlCol="0" vert="horz">
            <a:spAutoFit/>
          </a:bodyPr>
          <a:lstStyle/>
          <a:p>
            <a:pPr marL="12700">
              <a:lnSpc>
                <a:spcPct val="100000"/>
              </a:lnSpc>
              <a:spcBef>
                <a:spcPts val="130"/>
              </a:spcBef>
            </a:pPr>
            <a:r>
              <a:rPr dirty="0" sz="1150" spc="-145" b="1">
                <a:latin typeface="宋体"/>
                <a:cs typeface="宋体"/>
              </a:rPr>
              <a:t>至 </a:t>
            </a:r>
            <a:r>
              <a:rPr dirty="0" sz="1150" spc="-25" b="1">
                <a:latin typeface="宋体"/>
                <a:cs typeface="宋体"/>
              </a:rPr>
              <a:t>CPU</a:t>
            </a:r>
            <a:endParaRPr sz="1150">
              <a:latin typeface="宋体"/>
              <a:cs typeface="宋体"/>
            </a:endParaRPr>
          </a:p>
        </p:txBody>
      </p:sp>
      <p:sp>
        <p:nvSpPr>
          <p:cNvPr id="65" name="object 65" descr=""/>
          <p:cNvSpPr txBox="1"/>
          <p:nvPr/>
        </p:nvSpPr>
        <p:spPr>
          <a:xfrm>
            <a:off x="4558211" y="3998486"/>
            <a:ext cx="3369945" cy="302260"/>
          </a:xfrm>
          <a:prstGeom prst="rect">
            <a:avLst/>
          </a:prstGeom>
          <a:solidFill>
            <a:srgbClr val="FFFFCC"/>
          </a:solidFill>
          <a:ln w="11747">
            <a:solidFill>
              <a:srgbClr val="000000"/>
            </a:solidFill>
          </a:ln>
        </p:spPr>
        <p:txBody>
          <a:bodyPr wrap="square" lIns="0" tIns="81280" rIns="0" bIns="0" rtlCol="0" vert="horz">
            <a:spAutoFit/>
          </a:bodyPr>
          <a:lstStyle/>
          <a:p>
            <a:pPr algn="ctr">
              <a:lnSpc>
                <a:spcPct val="100000"/>
              </a:lnSpc>
              <a:spcBef>
                <a:spcPts val="640"/>
              </a:spcBef>
            </a:pPr>
            <a:r>
              <a:rPr dirty="0" sz="1150" spc="-5" b="1">
                <a:solidFill>
                  <a:srgbClr val="0000FF"/>
                </a:solidFill>
                <a:latin typeface="宋体"/>
                <a:cs typeface="宋体"/>
              </a:rPr>
              <a:t>物理地址</a:t>
            </a:r>
            <a:r>
              <a:rPr dirty="0" sz="1150" spc="-20" b="1">
                <a:solidFill>
                  <a:srgbClr val="0000FF"/>
                </a:solidFill>
                <a:latin typeface="宋体"/>
                <a:cs typeface="宋体"/>
              </a:rPr>
              <a:t>&lt;40&gt;</a:t>
            </a:r>
            <a:endParaRPr sz="1150">
              <a:latin typeface="宋体"/>
              <a:cs typeface="宋体"/>
            </a:endParaRPr>
          </a:p>
        </p:txBody>
      </p:sp>
      <p:grpSp>
        <p:nvGrpSpPr>
          <p:cNvPr id="66" name="object 66" descr=""/>
          <p:cNvGrpSpPr/>
          <p:nvPr/>
        </p:nvGrpSpPr>
        <p:grpSpPr>
          <a:xfrm>
            <a:off x="6105822" y="1857357"/>
            <a:ext cx="3853179" cy="2146300"/>
            <a:chOff x="6105822" y="1857357"/>
            <a:chExt cx="3853179" cy="2146300"/>
          </a:xfrm>
        </p:grpSpPr>
        <p:sp>
          <p:nvSpPr>
            <p:cNvPr id="67" name="object 67" descr=""/>
            <p:cNvSpPr/>
            <p:nvPr/>
          </p:nvSpPr>
          <p:spPr>
            <a:xfrm>
              <a:off x="6108044" y="1859580"/>
              <a:ext cx="67310" cy="2141855"/>
            </a:xfrm>
            <a:custGeom>
              <a:avLst/>
              <a:gdLst/>
              <a:ahLst/>
              <a:cxnLst/>
              <a:rect l="l" t="t" r="r" b="b"/>
              <a:pathLst>
                <a:path w="67310" h="2141854">
                  <a:moveTo>
                    <a:pt x="0" y="2042893"/>
                  </a:moveTo>
                  <a:lnTo>
                    <a:pt x="35178" y="2141342"/>
                  </a:lnTo>
                  <a:lnTo>
                    <a:pt x="54161" y="2082469"/>
                  </a:lnTo>
                  <a:lnTo>
                    <a:pt x="27488" y="2082469"/>
                  </a:lnTo>
                  <a:lnTo>
                    <a:pt x="27488" y="2078380"/>
                  </a:lnTo>
                  <a:lnTo>
                    <a:pt x="23561" y="2074292"/>
                  </a:lnTo>
                  <a:lnTo>
                    <a:pt x="23561" y="2063923"/>
                  </a:lnTo>
                  <a:lnTo>
                    <a:pt x="0" y="2042893"/>
                  </a:lnTo>
                  <a:close/>
                </a:path>
                <a:path w="67310" h="2141854">
                  <a:moveTo>
                    <a:pt x="23561" y="2063923"/>
                  </a:moveTo>
                  <a:lnTo>
                    <a:pt x="23561" y="2074292"/>
                  </a:lnTo>
                  <a:lnTo>
                    <a:pt x="27488" y="2078380"/>
                  </a:lnTo>
                  <a:lnTo>
                    <a:pt x="27488" y="2082469"/>
                  </a:lnTo>
                  <a:lnTo>
                    <a:pt x="39269" y="2082469"/>
                  </a:lnTo>
                  <a:lnTo>
                    <a:pt x="39269" y="2078380"/>
                  </a:lnTo>
                  <a:lnTo>
                    <a:pt x="43359" y="2074292"/>
                  </a:lnTo>
                  <a:lnTo>
                    <a:pt x="35178" y="2074292"/>
                  </a:lnTo>
                  <a:lnTo>
                    <a:pt x="23561" y="2063923"/>
                  </a:lnTo>
                  <a:close/>
                </a:path>
                <a:path w="67310" h="2141854">
                  <a:moveTo>
                    <a:pt x="66921" y="2042893"/>
                  </a:moveTo>
                  <a:lnTo>
                    <a:pt x="43359" y="2066200"/>
                  </a:lnTo>
                  <a:lnTo>
                    <a:pt x="43359" y="2074292"/>
                  </a:lnTo>
                  <a:lnTo>
                    <a:pt x="39269" y="2078380"/>
                  </a:lnTo>
                  <a:lnTo>
                    <a:pt x="39269" y="2082469"/>
                  </a:lnTo>
                  <a:lnTo>
                    <a:pt x="54161" y="2082469"/>
                  </a:lnTo>
                  <a:lnTo>
                    <a:pt x="66921" y="2042893"/>
                  </a:lnTo>
                  <a:close/>
                </a:path>
                <a:path w="67310" h="2141854">
                  <a:moveTo>
                    <a:pt x="43359" y="8176"/>
                  </a:moveTo>
                  <a:lnTo>
                    <a:pt x="23561" y="8176"/>
                  </a:lnTo>
                  <a:lnTo>
                    <a:pt x="23561" y="2063923"/>
                  </a:lnTo>
                  <a:lnTo>
                    <a:pt x="35178" y="2074292"/>
                  </a:lnTo>
                  <a:lnTo>
                    <a:pt x="43359" y="2066200"/>
                  </a:lnTo>
                  <a:lnTo>
                    <a:pt x="43359" y="8176"/>
                  </a:lnTo>
                  <a:close/>
                </a:path>
                <a:path w="67310" h="2141854">
                  <a:moveTo>
                    <a:pt x="43359" y="2066200"/>
                  </a:moveTo>
                  <a:lnTo>
                    <a:pt x="35178" y="2074292"/>
                  </a:lnTo>
                  <a:lnTo>
                    <a:pt x="43359" y="2074292"/>
                  </a:lnTo>
                  <a:lnTo>
                    <a:pt x="43359" y="2066200"/>
                  </a:lnTo>
                  <a:close/>
                </a:path>
                <a:path w="67310" h="2141854">
                  <a:moveTo>
                    <a:pt x="35178" y="0"/>
                  </a:moveTo>
                  <a:lnTo>
                    <a:pt x="31251" y="0"/>
                  </a:lnTo>
                  <a:lnTo>
                    <a:pt x="27488" y="4088"/>
                  </a:lnTo>
                  <a:lnTo>
                    <a:pt x="27488" y="8176"/>
                  </a:lnTo>
                  <a:lnTo>
                    <a:pt x="39269" y="8176"/>
                  </a:lnTo>
                  <a:lnTo>
                    <a:pt x="39269" y="4088"/>
                  </a:lnTo>
                  <a:lnTo>
                    <a:pt x="35178" y="0"/>
                  </a:lnTo>
                  <a:close/>
                </a:path>
              </a:pathLst>
            </a:custGeom>
            <a:solidFill>
              <a:srgbClr val="000000"/>
            </a:solidFill>
          </p:spPr>
          <p:txBody>
            <a:bodyPr wrap="square" lIns="0" tIns="0" rIns="0" bIns="0" rtlCol="0"/>
            <a:lstStyle/>
            <a:p/>
          </p:txBody>
        </p:sp>
        <p:sp>
          <p:nvSpPr>
            <p:cNvPr id="68" name="object 68" descr=""/>
            <p:cNvSpPr/>
            <p:nvPr/>
          </p:nvSpPr>
          <p:spPr>
            <a:xfrm>
              <a:off x="6108044" y="1859580"/>
              <a:ext cx="67310" cy="2141855"/>
            </a:xfrm>
            <a:custGeom>
              <a:avLst/>
              <a:gdLst/>
              <a:ahLst/>
              <a:cxnLst/>
              <a:rect l="l" t="t" r="r" b="b"/>
              <a:pathLst>
                <a:path w="67310" h="2141854">
                  <a:moveTo>
                    <a:pt x="43359" y="8176"/>
                  </a:moveTo>
                  <a:lnTo>
                    <a:pt x="43359" y="2074292"/>
                  </a:lnTo>
                  <a:lnTo>
                    <a:pt x="39269" y="2078380"/>
                  </a:lnTo>
                  <a:lnTo>
                    <a:pt x="39269" y="2082469"/>
                  </a:lnTo>
                  <a:lnTo>
                    <a:pt x="35178" y="2082469"/>
                  </a:lnTo>
                  <a:lnTo>
                    <a:pt x="31251" y="2082469"/>
                  </a:lnTo>
                  <a:lnTo>
                    <a:pt x="27488" y="2082469"/>
                  </a:lnTo>
                  <a:lnTo>
                    <a:pt x="27488" y="2078380"/>
                  </a:lnTo>
                  <a:lnTo>
                    <a:pt x="23561" y="2074292"/>
                  </a:lnTo>
                  <a:lnTo>
                    <a:pt x="23561" y="8176"/>
                  </a:lnTo>
                  <a:lnTo>
                    <a:pt x="27488" y="8176"/>
                  </a:lnTo>
                  <a:lnTo>
                    <a:pt x="27488" y="4088"/>
                  </a:lnTo>
                  <a:lnTo>
                    <a:pt x="31251" y="0"/>
                  </a:lnTo>
                  <a:lnTo>
                    <a:pt x="35178" y="0"/>
                  </a:lnTo>
                  <a:lnTo>
                    <a:pt x="39269" y="4088"/>
                  </a:lnTo>
                  <a:lnTo>
                    <a:pt x="39269" y="8176"/>
                  </a:lnTo>
                  <a:lnTo>
                    <a:pt x="43359" y="8176"/>
                  </a:lnTo>
                  <a:close/>
                </a:path>
                <a:path w="67310" h="2141854">
                  <a:moveTo>
                    <a:pt x="35178" y="2074292"/>
                  </a:moveTo>
                  <a:lnTo>
                    <a:pt x="66921" y="2042893"/>
                  </a:lnTo>
                  <a:lnTo>
                    <a:pt x="35178" y="2141342"/>
                  </a:lnTo>
                  <a:lnTo>
                    <a:pt x="0" y="2042893"/>
                  </a:lnTo>
                  <a:lnTo>
                    <a:pt x="35178" y="2074292"/>
                  </a:lnTo>
                  <a:close/>
                </a:path>
              </a:pathLst>
            </a:custGeom>
            <a:ln w="4051">
              <a:solidFill>
                <a:srgbClr val="000000"/>
              </a:solidFill>
            </a:ln>
          </p:spPr>
          <p:txBody>
            <a:bodyPr wrap="square" lIns="0" tIns="0" rIns="0" bIns="0" rtlCol="0"/>
            <a:lstStyle/>
            <a:p/>
          </p:txBody>
        </p:sp>
        <p:sp>
          <p:nvSpPr>
            <p:cNvPr id="69" name="object 69" descr=""/>
            <p:cNvSpPr/>
            <p:nvPr/>
          </p:nvSpPr>
          <p:spPr>
            <a:xfrm>
              <a:off x="6795423" y="2075938"/>
              <a:ext cx="66675" cy="1925320"/>
            </a:xfrm>
            <a:custGeom>
              <a:avLst/>
              <a:gdLst/>
              <a:ahLst/>
              <a:cxnLst/>
              <a:rect l="l" t="t" r="r" b="b"/>
              <a:pathLst>
                <a:path w="66675" h="1925320">
                  <a:moveTo>
                    <a:pt x="0" y="1826535"/>
                  </a:moveTo>
                  <a:lnTo>
                    <a:pt x="35178" y="1924984"/>
                  </a:lnTo>
                  <a:lnTo>
                    <a:pt x="53867" y="1866111"/>
                  </a:lnTo>
                  <a:lnTo>
                    <a:pt x="27488" y="1866111"/>
                  </a:lnTo>
                  <a:lnTo>
                    <a:pt x="27488" y="1862022"/>
                  </a:lnTo>
                  <a:lnTo>
                    <a:pt x="23561" y="1857934"/>
                  </a:lnTo>
                  <a:lnTo>
                    <a:pt x="23561" y="1847565"/>
                  </a:lnTo>
                  <a:lnTo>
                    <a:pt x="0" y="1826535"/>
                  </a:lnTo>
                  <a:close/>
                </a:path>
                <a:path w="66675" h="1925320">
                  <a:moveTo>
                    <a:pt x="23561" y="1847565"/>
                  </a:moveTo>
                  <a:lnTo>
                    <a:pt x="23561" y="1857934"/>
                  </a:lnTo>
                  <a:lnTo>
                    <a:pt x="27488" y="1862022"/>
                  </a:lnTo>
                  <a:lnTo>
                    <a:pt x="27488" y="1866111"/>
                  </a:lnTo>
                  <a:lnTo>
                    <a:pt x="39269" y="1866111"/>
                  </a:lnTo>
                  <a:lnTo>
                    <a:pt x="39269" y="1862022"/>
                  </a:lnTo>
                  <a:lnTo>
                    <a:pt x="42869" y="1857934"/>
                  </a:lnTo>
                  <a:lnTo>
                    <a:pt x="35178" y="1857934"/>
                  </a:lnTo>
                  <a:lnTo>
                    <a:pt x="23561" y="1847565"/>
                  </a:lnTo>
                  <a:close/>
                </a:path>
                <a:path w="66675" h="1925320">
                  <a:moveTo>
                    <a:pt x="66430" y="1826535"/>
                  </a:moveTo>
                  <a:lnTo>
                    <a:pt x="42869" y="1850207"/>
                  </a:lnTo>
                  <a:lnTo>
                    <a:pt x="42869" y="1857934"/>
                  </a:lnTo>
                  <a:lnTo>
                    <a:pt x="39269" y="1862022"/>
                  </a:lnTo>
                  <a:lnTo>
                    <a:pt x="39269" y="1866111"/>
                  </a:lnTo>
                  <a:lnTo>
                    <a:pt x="53867" y="1866111"/>
                  </a:lnTo>
                  <a:lnTo>
                    <a:pt x="66430" y="1826535"/>
                  </a:lnTo>
                  <a:close/>
                </a:path>
                <a:path w="66675" h="1925320">
                  <a:moveTo>
                    <a:pt x="35178" y="0"/>
                  </a:moveTo>
                  <a:lnTo>
                    <a:pt x="31251" y="0"/>
                  </a:lnTo>
                  <a:lnTo>
                    <a:pt x="27488" y="3597"/>
                  </a:lnTo>
                  <a:lnTo>
                    <a:pt x="23561" y="7686"/>
                  </a:lnTo>
                  <a:lnTo>
                    <a:pt x="23561" y="1847565"/>
                  </a:lnTo>
                  <a:lnTo>
                    <a:pt x="35178" y="1857934"/>
                  </a:lnTo>
                  <a:lnTo>
                    <a:pt x="42869" y="1850207"/>
                  </a:lnTo>
                  <a:lnTo>
                    <a:pt x="42869" y="7686"/>
                  </a:lnTo>
                  <a:lnTo>
                    <a:pt x="39269" y="3597"/>
                  </a:lnTo>
                  <a:lnTo>
                    <a:pt x="35178" y="0"/>
                  </a:lnTo>
                  <a:close/>
                </a:path>
                <a:path w="66675" h="1925320">
                  <a:moveTo>
                    <a:pt x="42869" y="1850207"/>
                  </a:moveTo>
                  <a:lnTo>
                    <a:pt x="35178" y="1857934"/>
                  </a:lnTo>
                  <a:lnTo>
                    <a:pt x="42869" y="1857934"/>
                  </a:lnTo>
                  <a:lnTo>
                    <a:pt x="42869" y="1850207"/>
                  </a:lnTo>
                  <a:close/>
                </a:path>
              </a:pathLst>
            </a:custGeom>
            <a:solidFill>
              <a:srgbClr val="000000"/>
            </a:solidFill>
          </p:spPr>
          <p:txBody>
            <a:bodyPr wrap="square" lIns="0" tIns="0" rIns="0" bIns="0" rtlCol="0"/>
            <a:lstStyle/>
            <a:p/>
          </p:txBody>
        </p:sp>
        <p:sp>
          <p:nvSpPr>
            <p:cNvPr id="70" name="object 70" descr=""/>
            <p:cNvSpPr/>
            <p:nvPr/>
          </p:nvSpPr>
          <p:spPr>
            <a:xfrm>
              <a:off x="6795423" y="2075938"/>
              <a:ext cx="66675" cy="1925320"/>
            </a:xfrm>
            <a:custGeom>
              <a:avLst/>
              <a:gdLst/>
              <a:ahLst/>
              <a:cxnLst/>
              <a:rect l="l" t="t" r="r" b="b"/>
              <a:pathLst>
                <a:path w="66675" h="1925320">
                  <a:moveTo>
                    <a:pt x="42869" y="7686"/>
                  </a:moveTo>
                  <a:lnTo>
                    <a:pt x="42869" y="1857934"/>
                  </a:lnTo>
                  <a:lnTo>
                    <a:pt x="39269" y="1862022"/>
                  </a:lnTo>
                  <a:lnTo>
                    <a:pt x="39269" y="1866111"/>
                  </a:lnTo>
                  <a:lnTo>
                    <a:pt x="35178" y="1866111"/>
                  </a:lnTo>
                  <a:lnTo>
                    <a:pt x="31251" y="1866111"/>
                  </a:lnTo>
                  <a:lnTo>
                    <a:pt x="27488" y="1866111"/>
                  </a:lnTo>
                  <a:lnTo>
                    <a:pt x="27488" y="1862022"/>
                  </a:lnTo>
                  <a:lnTo>
                    <a:pt x="23561" y="1857934"/>
                  </a:lnTo>
                  <a:lnTo>
                    <a:pt x="23561" y="7686"/>
                  </a:lnTo>
                  <a:lnTo>
                    <a:pt x="27488" y="3597"/>
                  </a:lnTo>
                  <a:lnTo>
                    <a:pt x="31251" y="0"/>
                  </a:lnTo>
                  <a:lnTo>
                    <a:pt x="35178" y="0"/>
                  </a:lnTo>
                  <a:lnTo>
                    <a:pt x="39269" y="3597"/>
                  </a:lnTo>
                  <a:lnTo>
                    <a:pt x="42869" y="7686"/>
                  </a:lnTo>
                  <a:close/>
                </a:path>
                <a:path w="66675" h="1925320">
                  <a:moveTo>
                    <a:pt x="35178" y="1857934"/>
                  </a:moveTo>
                  <a:lnTo>
                    <a:pt x="66430" y="1826535"/>
                  </a:lnTo>
                  <a:lnTo>
                    <a:pt x="35178" y="1924984"/>
                  </a:lnTo>
                  <a:lnTo>
                    <a:pt x="0" y="1826535"/>
                  </a:lnTo>
                  <a:lnTo>
                    <a:pt x="35178" y="1857934"/>
                  </a:lnTo>
                  <a:close/>
                </a:path>
              </a:pathLst>
            </a:custGeom>
            <a:ln w="4051">
              <a:solidFill>
                <a:srgbClr val="000000"/>
              </a:solidFill>
            </a:ln>
          </p:spPr>
          <p:txBody>
            <a:bodyPr wrap="square" lIns="0" tIns="0" rIns="0" bIns="0" rtlCol="0"/>
            <a:lstStyle/>
            <a:p/>
          </p:txBody>
        </p:sp>
        <p:sp>
          <p:nvSpPr>
            <p:cNvPr id="71" name="object 71" descr=""/>
            <p:cNvSpPr/>
            <p:nvPr/>
          </p:nvSpPr>
          <p:spPr>
            <a:xfrm>
              <a:off x="8010485" y="1865304"/>
              <a:ext cx="0" cy="204470"/>
            </a:xfrm>
            <a:custGeom>
              <a:avLst/>
              <a:gdLst/>
              <a:ahLst/>
              <a:cxnLst/>
              <a:rect l="l" t="t" r="r" b="b"/>
              <a:pathLst>
                <a:path w="0" h="204469">
                  <a:moveTo>
                    <a:pt x="0" y="0"/>
                  </a:moveTo>
                  <a:lnTo>
                    <a:pt x="0" y="204093"/>
                  </a:lnTo>
                </a:path>
              </a:pathLst>
            </a:custGeom>
            <a:ln w="11753">
              <a:solidFill>
                <a:srgbClr val="000000"/>
              </a:solidFill>
            </a:ln>
          </p:spPr>
          <p:txBody>
            <a:bodyPr wrap="square" lIns="0" tIns="0" rIns="0" bIns="0" rtlCol="0"/>
            <a:lstStyle/>
            <a:p/>
          </p:txBody>
        </p:sp>
        <p:sp>
          <p:nvSpPr>
            <p:cNvPr id="72" name="object 72" descr=""/>
            <p:cNvSpPr/>
            <p:nvPr/>
          </p:nvSpPr>
          <p:spPr>
            <a:xfrm>
              <a:off x="8001158" y="2040451"/>
              <a:ext cx="1955800" cy="63500"/>
            </a:xfrm>
            <a:custGeom>
              <a:avLst/>
              <a:gdLst/>
              <a:ahLst/>
              <a:cxnLst/>
              <a:rect l="l" t="t" r="r" b="b"/>
              <a:pathLst>
                <a:path w="1955800" h="63500">
                  <a:moveTo>
                    <a:pt x="1857444" y="0"/>
                  </a:moveTo>
                  <a:lnTo>
                    <a:pt x="1889186" y="31398"/>
                  </a:lnTo>
                  <a:lnTo>
                    <a:pt x="1857444" y="62961"/>
                  </a:lnTo>
                  <a:lnTo>
                    <a:pt x="1931710" y="39085"/>
                  </a:lnTo>
                  <a:lnTo>
                    <a:pt x="1896877" y="39085"/>
                  </a:lnTo>
                  <a:lnTo>
                    <a:pt x="1896877" y="27474"/>
                  </a:lnTo>
                  <a:lnTo>
                    <a:pt x="1892786" y="23712"/>
                  </a:lnTo>
                  <a:lnTo>
                    <a:pt x="1931585" y="23712"/>
                  </a:lnTo>
                  <a:lnTo>
                    <a:pt x="1857444" y="0"/>
                  </a:lnTo>
                  <a:close/>
                </a:path>
                <a:path w="1955800" h="63500">
                  <a:moveTo>
                    <a:pt x="1881416" y="23712"/>
                  </a:moveTo>
                  <a:lnTo>
                    <a:pt x="3599" y="23712"/>
                  </a:lnTo>
                  <a:lnTo>
                    <a:pt x="3599" y="27474"/>
                  </a:lnTo>
                  <a:lnTo>
                    <a:pt x="0" y="27474"/>
                  </a:lnTo>
                  <a:lnTo>
                    <a:pt x="0" y="35487"/>
                  </a:lnTo>
                  <a:lnTo>
                    <a:pt x="3599" y="39085"/>
                  </a:lnTo>
                  <a:lnTo>
                    <a:pt x="1881456" y="39085"/>
                  </a:lnTo>
                  <a:lnTo>
                    <a:pt x="1889186" y="31398"/>
                  </a:lnTo>
                  <a:lnTo>
                    <a:pt x="1881416" y="23712"/>
                  </a:lnTo>
                  <a:close/>
                </a:path>
                <a:path w="1955800" h="63500">
                  <a:moveTo>
                    <a:pt x="1931585" y="23712"/>
                  </a:moveTo>
                  <a:lnTo>
                    <a:pt x="1892786" y="23712"/>
                  </a:lnTo>
                  <a:lnTo>
                    <a:pt x="1896877" y="27474"/>
                  </a:lnTo>
                  <a:lnTo>
                    <a:pt x="1896877" y="39085"/>
                  </a:lnTo>
                  <a:lnTo>
                    <a:pt x="1931710" y="39085"/>
                  </a:lnTo>
                  <a:lnTo>
                    <a:pt x="1955617" y="31398"/>
                  </a:lnTo>
                  <a:lnTo>
                    <a:pt x="1931585" y="23712"/>
                  </a:lnTo>
                  <a:close/>
                </a:path>
              </a:pathLst>
            </a:custGeom>
            <a:solidFill>
              <a:srgbClr val="000000"/>
            </a:solidFill>
          </p:spPr>
          <p:txBody>
            <a:bodyPr wrap="square" lIns="0" tIns="0" rIns="0" bIns="0" rtlCol="0"/>
            <a:lstStyle/>
            <a:p/>
          </p:txBody>
        </p:sp>
        <p:sp>
          <p:nvSpPr>
            <p:cNvPr id="73" name="object 73" descr=""/>
            <p:cNvSpPr/>
            <p:nvPr/>
          </p:nvSpPr>
          <p:spPr>
            <a:xfrm>
              <a:off x="8001158" y="2040451"/>
              <a:ext cx="1955800" cy="63500"/>
            </a:xfrm>
            <a:custGeom>
              <a:avLst/>
              <a:gdLst/>
              <a:ahLst/>
              <a:cxnLst/>
              <a:rect l="l" t="t" r="r" b="b"/>
              <a:pathLst>
                <a:path w="1955800" h="63500">
                  <a:moveTo>
                    <a:pt x="7690" y="23712"/>
                  </a:moveTo>
                  <a:lnTo>
                    <a:pt x="1889186" y="23712"/>
                  </a:lnTo>
                  <a:lnTo>
                    <a:pt x="1892786" y="23712"/>
                  </a:lnTo>
                  <a:lnTo>
                    <a:pt x="1896877" y="27474"/>
                  </a:lnTo>
                  <a:lnTo>
                    <a:pt x="1896877" y="31398"/>
                  </a:lnTo>
                  <a:lnTo>
                    <a:pt x="1896877" y="35487"/>
                  </a:lnTo>
                  <a:lnTo>
                    <a:pt x="1896877" y="39085"/>
                  </a:lnTo>
                  <a:lnTo>
                    <a:pt x="1892786" y="39085"/>
                  </a:lnTo>
                  <a:lnTo>
                    <a:pt x="1889186" y="39085"/>
                  </a:lnTo>
                  <a:lnTo>
                    <a:pt x="7690" y="39085"/>
                  </a:lnTo>
                  <a:lnTo>
                    <a:pt x="3599" y="39085"/>
                  </a:lnTo>
                  <a:lnTo>
                    <a:pt x="0" y="35487"/>
                  </a:lnTo>
                  <a:lnTo>
                    <a:pt x="0" y="31398"/>
                  </a:lnTo>
                  <a:lnTo>
                    <a:pt x="0" y="27474"/>
                  </a:lnTo>
                  <a:lnTo>
                    <a:pt x="3599" y="27474"/>
                  </a:lnTo>
                  <a:lnTo>
                    <a:pt x="3599" y="23712"/>
                  </a:lnTo>
                  <a:lnTo>
                    <a:pt x="7690" y="23712"/>
                  </a:lnTo>
                  <a:close/>
                </a:path>
                <a:path w="1955800" h="63500">
                  <a:moveTo>
                    <a:pt x="1889186" y="31398"/>
                  </a:moveTo>
                  <a:lnTo>
                    <a:pt x="1857444" y="0"/>
                  </a:lnTo>
                  <a:lnTo>
                    <a:pt x="1955617" y="31398"/>
                  </a:lnTo>
                  <a:lnTo>
                    <a:pt x="1857444" y="62961"/>
                  </a:lnTo>
                  <a:lnTo>
                    <a:pt x="1889186" y="31398"/>
                  </a:lnTo>
                  <a:close/>
                </a:path>
              </a:pathLst>
            </a:custGeom>
            <a:ln w="4051">
              <a:solidFill>
                <a:srgbClr val="000000"/>
              </a:solidFill>
            </a:ln>
          </p:spPr>
          <p:txBody>
            <a:bodyPr wrap="square" lIns="0" tIns="0" rIns="0" bIns="0" rtlCol="0"/>
            <a:lstStyle/>
            <a:p/>
          </p:txBody>
        </p:sp>
      </p:grpSp>
      <p:sp>
        <p:nvSpPr>
          <p:cNvPr id="74" name="object 74" descr=""/>
          <p:cNvSpPr txBox="1"/>
          <p:nvPr/>
        </p:nvSpPr>
        <p:spPr>
          <a:xfrm>
            <a:off x="9407884" y="1839930"/>
            <a:ext cx="433705" cy="205740"/>
          </a:xfrm>
          <a:prstGeom prst="rect">
            <a:avLst/>
          </a:prstGeom>
        </p:spPr>
        <p:txBody>
          <a:bodyPr wrap="square" lIns="0" tIns="16510" rIns="0" bIns="0" rtlCol="0" vert="horz">
            <a:spAutoFit/>
          </a:bodyPr>
          <a:lstStyle/>
          <a:p>
            <a:pPr marL="12700">
              <a:lnSpc>
                <a:spcPct val="100000"/>
              </a:lnSpc>
              <a:spcBef>
                <a:spcPts val="130"/>
              </a:spcBef>
            </a:pPr>
            <a:r>
              <a:rPr dirty="0" sz="1150" spc="-145" b="1">
                <a:latin typeface="宋体"/>
                <a:cs typeface="宋体"/>
              </a:rPr>
              <a:t>至 </a:t>
            </a:r>
            <a:r>
              <a:rPr dirty="0" sz="1150" spc="-25" b="1">
                <a:latin typeface="宋体"/>
                <a:cs typeface="宋体"/>
              </a:rPr>
              <a:t>CPU</a:t>
            </a:r>
            <a:endParaRPr sz="1150">
              <a:latin typeface="宋体"/>
              <a:cs typeface="宋体"/>
            </a:endParaRPr>
          </a:p>
        </p:txBody>
      </p:sp>
      <p:sp>
        <p:nvSpPr>
          <p:cNvPr id="75" name="object 75" descr=""/>
          <p:cNvSpPr txBox="1"/>
          <p:nvPr/>
        </p:nvSpPr>
        <p:spPr>
          <a:xfrm>
            <a:off x="4353846" y="4505235"/>
            <a:ext cx="1579245" cy="306705"/>
          </a:xfrm>
          <a:prstGeom prst="rect">
            <a:avLst/>
          </a:prstGeom>
          <a:solidFill>
            <a:srgbClr val="D4D4FF"/>
          </a:solidFill>
          <a:ln w="11753">
            <a:solidFill>
              <a:srgbClr val="000000"/>
            </a:solidFill>
          </a:ln>
        </p:spPr>
        <p:txBody>
          <a:bodyPr wrap="square" lIns="0" tIns="65405" rIns="0" bIns="0" rtlCol="0" vert="horz">
            <a:spAutoFit/>
          </a:bodyPr>
          <a:lstStyle/>
          <a:p>
            <a:pPr marL="101600">
              <a:lnSpc>
                <a:spcPct val="100000"/>
              </a:lnSpc>
              <a:spcBef>
                <a:spcPts val="515"/>
              </a:spcBef>
            </a:pPr>
            <a:r>
              <a:rPr dirty="0" sz="1150" b="1">
                <a:latin typeface="宋体"/>
                <a:cs typeface="宋体"/>
              </a:rPr>
              <a:t>L2</a:t>
            </a:r>
            <a:r>
              <a:rPr dirty="0" sz="1150" spc="-45" b="1">
                <a:latin typeface="宋体"/>
                <a:cs typeface="宋体"/>
              </a:rPr>
              <a:t> 标识比较地址</a:t>
            </a:r>
            <a:r>
              <a:rPr dirty="0" sz="1150" spc="-20" b="1">
                <a:latin typeface="宋体"/>
                <a:cs typeface="宋体"/>
              </a:rPr>
              <a:t>&lt;24&gt;</a:t>
            </a:r>
            <a:endParaRPr sz="1150">
              <a:latin typeface="宋体"/>
              <a:cs typeface="宋体"/>
            </a:endParaRPr>
          </a:p>
        </p:txBody>
      </p:sp>
      <p:sp>
        <p:nvSpPr>
          <p:cNvPr id="76" name="object 76" descr=""/>
          <p:cNvSpPr txBox="1"/>
          <p:nvPr/>
        </p:nvSpPr>
        <p:spPr>
          <a:xfrm>
            <a:off x="5932968" y="4505235"/>
            <a:ext cx="1390650" cy="306705"/>
          </a:xfrm>
          <a:prstGeom prst="rect">
            <a:avLst/>
          </a:prstGeom>
          <a:solidFill>
            <a:srgbClr val="D4D4FF"/>
          </a:solidFill>
          <a:ln w="11753">
            <a:solidFill>
              <a:srgbClr val="000000"/>
            </a:solidFill>
          </a:ln>
        </p:spPr>
        <p:txBody>
          <a:bodyPr wrap="square" lIns="0" tIns="69850" rIns="0" bIns="0" rtlCol="0" vert="horz">
            <a:spAutoFit/>
          </a:bodyPr>
          <a:lstStyle/>
          <a:p>
            <a:pPr marL="101600">
              <a:lnSpc>
                <a:spcPct val="100000"/>
              </a:lnSpc>
              <a:spcBef>
                <a:spcPts val="550"/>
              </a:spcBef>
            </a:pPr>
            <a:r>
              <a:rPr dirty="0" sz="1150" b="1">
                <a:latin typeface="宋体"/>
                <a:cs typeface="宋体"/>
              </a:rPr>
              <a:t>L2</a:t>
            </a:r>
            <a:r>
              <a:rPr dirty="0" sz="1150" spc="55" b="1">
                <a:latin typeface="宋体"/>
                <a:cs typeface="宋体"/>
              </a:rPr>
              <a:t> </a:t>
            </a:r>
            <a:r>
              <a:rPr dirty="0" sz="1150" b="1">
                <a:latin typeface="宋体"/>
                <a:cs typeface="宋体"/>
              </a:rPr>
              <a:t>Cache</a:t>
            </a:r>
            <a:r>
              <a:rPr dirty="0" sz="1150" spc="-80" b="1">
                <a:latin typeface="宋体"/>
                <a:cs typeface="宋体"/>
              </a:rPr>
              <a:t> 索引&lt;</a:t>
            </a:r>
            <a:r>
              <a:rPr dirty="0" sz="1150" spc="-20" b="1">
                <a:latin typeface="宋体"/>
                <a:cs typeface="宋体"/>
              </a:rPr>
              <a:t>10&gt;</a:t>
            </a:r>
            <a:endParaRPr sz="1150">
              <a:latin typeface="宋体"/>
              <a:cs typeface="宋体"/>
            </a:endParaRPr>
          </a:p>
        </p:txBody>
      </p:sp>
      <p:sp>
        <p:nvSpPr>
          <p:cNvPr id="77" name="object 77" descr=""/>
          <p:cNvSpPr txBox="1"/>
          <p:nvPr/>
        </p:nvSpPr>
        <p:spPr>
          <a:xfrm>
            <a:off x="7323106" y="4505235"/>
            <a:ext cx="997585" cy="306705"/>
          </a:xfrm>
          <a:prstGeom prst="rect">
            <a:avLst/>
          </a:prstGeom>
          <a:solidFill>
            <a:srgbClr val="D4D4FF"/>
          </a:solidFill>
          <a:ln w="11747">
            <a:solidFill>
              <a:srgbClr val="000000"/>
            </a:solidFill>
          </a:ln>
        </p:spPr>
        <p:txBody>
          <a:bodyPr wrap="square" lIns="0" tIns="69850" rIns="0" bIns="0" rtlCol="0" vert="horz">
            <a:spAutoFit/>
          </a:bodyPr>
          <a:lstStyle/>
          <a:p>
            <a:pPr marL="101600">
              <a:lnSpc>
                <a:spcPct val="100000"/>
              </a:lnSpc>
              <a:spcBef>
                <a:spcPts val="550"/>
              </a:spcBef>
            </a:pPr>
            <a:r>
              <a:rPr dirty="0" sz="1150" spc="-5" b="1">
                <a:latin typeface="宋体"/>
                <a:cs typeface="宋体"/>
              </a:rPr>
              <a:t>块内位移</a:t>
            </a:r>
            <a:r>
              <a:rPr dirty="0" sz="1150" spc="-25" b="1">
                <a:latin typeface="宋体"/>
                <a:cs typeface="宋体"/>
              </a:rPr>
              <a:t>&lt;6&gt;</a:t>
            </a:r>
            <a:endParaRPr sz="1150">
              <a:latin typeface="宋体"/>
              <a:cs typeface="宋体"/>
            </a:endParaRPr>
          </a:p>
        </p:txBody>
      </p:sp>
      <p:pic>
        <p:nvPicPr>
          <p:cNvPr id="78" name="object 78" descr=""/>
          <p:cNvPicPr/>
          <p:nvPr/>
        </p:nvPicPr>
        <p:blipFill>
          <a:blip r:embed="rId9" cstate="print"/>
          <a:stretch>
            <a:fillRect/>
          </a:stretch>
        </p:blipFill>
        <p:spPr>
          <a:xfrm>
            <a:off x="5143754" y="4293425"/>
            <a:ext cx="70973" cy="216322"/>
          </a:xfrm>
          <a:prstGeom prst="rect">
            <a:avLst/>
          </a:prstGeom>
        </p:spPr>
      </p:pic>
      <p:pic>
        <p:nvPicPr>
          <p:cNvPr id="79" name="object 79" descr=""/>
          <p:cNvPicPr/>
          <p:nvPr/>
        </p:nvPicPr>
        <p:blipFill>
          <a:blip r:embed="rId10" cstate="print"/>
          <a:stretch>
            <a:fillRect/>
          </a:stretch>
        </p:blipFill>
        <p:spPr>
          <a:xfrm>
            <a:off x="6589032" y="4293425"/>
            <a:ext cx="66883" cy="216322"/>
          </a:xfrm>
          <a:prstGeom prst="rect">
            <a:avLst/>
          </a:prstGeom>
        </p:spPr>
      </p:pic>
      <p:pic>
        <p:nvPicPr>
          <p:cNvPr id="80" name="object 80" descr=""/>
          <p:cNvPicPr/>
          <p:nvPr/>
        </p:nvPicPr>
        <p:blipFill>
          <a:blip r:embed="rId11" cstate="print"/>
          <a:stretch>
            <a:fillRect/>
          </a:stretch>
        </p:blipFill>
        <p:spPr>
          <a:xfrm>
            <a:off x="7653397" y="4293425"/>
            <a:ext cx="70973" cy="216322"/>
          </a:xfrm>
          <a:prstGeom prst="rect">
            <a:avLst/>
          </a:prstGeom>
        </p:spPr>
      </p:pic>
      <p:grpSp>
        <p:nvGrpSpPr>
          <p:cNvPr id="81" name="object 81" descr=""/>
          <p:cNvGrpSpPr/>
          <p:nvPr/>
        </p:nvGrpSpPr>
        <p:grpSpPr>
          <a:xfrm>
            <a:off x="7814403" y="4811473"/>
            <a:ext cx="2093595" cy="189865"/>
            <a:chOff x="7814403" y="4811473"/>
            <a:chExt cx="2093595" cy="189865"/>
          </a:xfrm>
        </p:grpSpPr>
        <p:sp>
          <p:nvSpPr>
            <p:cNvPr id="82" name="object 82" descr=""/>
            <p:cNvSpPr/>
            <p:nvPr/>
          </p:nvSpPr>
          <p:spPr>
            <a:xfrm>
              <a:off x="7821992" y="4811473"/>
              <a:ext cx="0" cy="149860"/>
            </a:xfrm>
            <a:custGeom>
              <a:avLst/>
              <a:gdLst/>
              <a:ahLst/>
              <a:cxnLst/>
              <a:rect l="l" t="t" r="r" b="b"/>
              <a:pathLst>
                <a:path w="0" h="149860">
                  <a:moveTo>
                    <a:pt x="0" y="0"/>
                  </a:moveTo>
                  <a:lnTo>
                    <a:pt x="0" y="149292"/>
                  </a:lnTo>
                </a:path>
              </a:pathLst>
            </a:custGeom>
            <a:ln w="11753">
              <a:solidFill>
                <a:srgbClr val="000000"/>
              </a:solidFill>
            </a:ln>
          </p:spPr>
          <p:txBody>
            <a:bodyPr wrap="square" lIns="0" tIns="0" rIns="0" bIns="0" rtlCol="0"/>
            <a:lstStyle/>
            <a:p/>
          </p:txBody>
        </p:sp>
        <p:sp>
          <p:nvSpPr>
            <p:cNvPr id="83" name="object 83" descr=""/>
            <p:cNvSpPr/>
            <p:nvPr/>
          </p:nvSpPr>
          <p:spPr>
            <a:xfrm>
              <a:off x="7816429" y="4931721"/>
              <a:ext cx="2089785" cy="67310"/>
            </a:xfrm>
            <a:custGeom>
              <a:avLst/>
              <a:gdLst/>
              <a:ahLst/>
              <a:cxnLst/>
              <a:rect l="l" t="t" r="r" b="b"/>
              <a:pathLst>
                <a:path w="2089784" h="67310">
                  <a:moveTo>
                    <a:pt x="1991123" y="0"/>
                  </a:moveTo>
                  <a:lnTo>
                    <a:pt x="2022702" y="31464"/>
                  </a:lnTo>
                  <a:lnTo>
                    <a:pt x="1991123" y="66968"/>
                  </a:lnTo>
                  <a:lnTo>
                    <a:pt x="2068088" y="39134"/>
                  </a:lnTo>
                  <a:lnTo>
                    <a:pt x="2026466" y="39134"/>
                  </a:lnTo>
                  <a:lnTo>
                    <a:pt x="2030393" y="35503"/>
                  </a:lnTo>
                  <a:lnTo>
                    <a:pt x="2030393" y="27425"/>
                  </a:lnTo>
                  <a:lnTo>
                    <a:pt x="2026466" y="27425"/>
                  </a:lnTo>
                  <a:lnTo>
                    <a:pt x="2026466" y="23385"/>
                  </a:lnTo>
                  <a:lnTo>
                    <a:pt x="2064090" y="23385"/>
                  </a:lnTo>
                  <a:lnTo>
                    <a:pt x="1991123" y="0"/>
                  </a:lnTo>
                  <a:close/>
                </a:path>
                <a:path w="2089784" h="67310">
                  <a:moveTo>
                    <a:pt x="2014594" y="23385"/>
                  </a:moveTo>
                  <a:lnTo>
                    <a:pt x="3926" y="23385"/>
                  </a:lnTo>
                  <a:lnTo>
                    <a:pt x="3926" y="27425"/>
                  </a:lnTo>
                  <a:lnTo>
                    <a:pt x="0" y="27425"/>
                  </a:lnTo>
                  <a:lnTo>
                    <a:pt x="0" y="35503"/>
                  </a:lnTo>
                  <a:lnTo>
                    <a:pt x="3926" y="39134"/>
                  </a:lnTo>
                  <a:lnTo>
                    <a:pt x="2015880" y="39134"/>
                  </a:lnTo>
                  <a:lnTo>
                    <a:pt x="2022702" y="31464"/>
                  </a:lnTo>
                  <a:lnTo>
                    <a:pt x="2014594" y="23385"/>
                  </a:lnTo>
                  <a:close/>
                </a:path>
                <a:path w="2089784" h="67310">
                  <a:moveTo>
                    <a:pt x="2064090" y="23385"/>
                  </a:moveTo>
                  <a:lnTo>
                    <a:pt x="2026466" y="23385"/>
                  </a:lnTo>
                  <a:lnTo>
                    <a:pt x="2026466" y="27425"/>
                  </a:lnTo>
                  <a:lnTo>
                    <a:pt x="2030393" y="27425"/>
                  </a:lnTo>
                  <a:lnTo>
                    <a:pt x="2030393" y="35503"/>
                  </a:lnTo>
                  <a:lnTo>
                    <a:pt x="2026466" y="39134"/>
                  </a:lnTo>
                  <a:lnTo>
                    <a:pt x="2068088" y="39134"/>
                  </a:lnTo>
                  <a:lnTo>
                    <a:pt x="2089297" y="31464"/>
                  </a:lnTo>
                  <a:lnTo>
                    <a:pt x="2064090" y="23385"/>
                  </a:lnTo>
                  <a:close/>
                </a:path>
              </a:pathLst>
            </a:custGeom>
            <a:solidFill>
              <a:srgbClr val="000000"/>
            </a:solidFill>
          </p:spPr>
          <p:txBody>
            <a:bodyPr wrap="square" lIns="0" tIns="0" rIns="0" bIns="0" rtlCol="0"/>
            <a:lstStyle/>
            <a:p/>
          </p:txBody>
        </p:sp>
        <p:sp>
          <p:nvSpPr>
            <p:cNvPr id="84" name="object 84" descr=""/>
            <p:cNvSpPr/>
            <p:nvPr/>
          </p:nvSpPr>
          <p:spPr>
            <a:xfrm>
              <a:off x="7816429" y="4931721"/>
              <a:ext cx="2089785" cy="67310"/>
            </a:xfrm>
            <a:custGeom>
              <a:avLst/>
              <a:gdLst/>
              <a:ahLst/>
              <a:cxnLst/>
              <a:rect l="l" t="t" r="r" b="b"/>
              <a:pathLst>
                <a:path w="2089784" h="67310">
                  <a:moveTo>
                    <a:pt x="8017" y="23385"/>
                  </a:moveTo>
                  <a:lnTo>
                    <a:pt x="2022702" y="23385"/>
                  </a:lnTo>
                  <a:lnTo>
                    <a:pt x="2026466" y="23385"/>
                  </a:lnTo>
                  <a:lnTo>
                    <a:pt x="2026466" y="27425"/>
                  </a:lnTo>
                  <a:lnTo>
                    <a:pt x="2030393" y="27425"/>
                  </a:lnTo>
                  <a:lnTo>
                    <a:pt x="2030393" y="31464"/>
                  </a:lnTo>
                  <a:lnTo>
                    <a:pt x="2030393" y="35503"/>
                  </a:lnTo>
                  <a:lnTo>
                    <a:pt x="2026466" y="39134"/>
                  </a:lnTo>
                  <a:lnTo>
                    <a:pt x="2022702" y="39134"/>
                  </a:lnTo>
                  <a:lnTo>
                    <a:pt x="8017" y="39134"/>
                  </a:lnTo>
                  <a:lnTo>
                    <a:pt x="3926" y="39134"/>
                  </a:lnTo>
                  <a:lnTo>
                    <a:pt x="0" y="35503"/>
                  </a:lnTo>
                  <a:lnTo>
                    <a:pt x="0" y="31464"/>
                  </a:lnTo>
                  <a:lnTo>
                    <a:pt x="0" y="27425"/>
                  </a:lnTo>
                  <a:lnTo>
                    <a:pt x="3926" y="27425"/>
                  </a:lnTo>
                  <a:lnTo>
                    <a:pt x="3926" y="23385"/>
                  </a:lnTo>
                  <a:lnTo>
                    <a:pt x="8017" y="23385"/>
                  </a:lnTo>
                  <a:close/>
                </a:path>
                <a:path w="2089784" h="67310">
                  <a:moveTo>
                    <a:pt x="2022702" y="31464"/>
                  </a:moveTo>
                  <a:lnTo>
                    <a:pt x="1991123" y="0"/>
                  </a:lnTo>
                  <a:lnTo>
                    <a:pt x="2089297" y="31464"/>
                  </a:lnTo>
                  <a:lnTo>
                    <a:pt x="1991123" y="66968"/>
                  </a:lnTo>
                  <a:lnTo>
                    <a:pt x="2022702" y="31464"/>
                  </a:lnTo>
                  <a:close/>
                </a:path>
              </a:pathLst>
            </a:custGeom>
            <a:ln w="4051">
              <a:solidFill>
                <a:srgbClr val="000000"/>
              </a:solidFill>
            </a:ln>
          </p:spPr>
          <p:txBody>
            <a:bodyPr wrap="square" lIns="0" tIns="0" rIns="0" bIns="0" rtlCol="0"/>
            <a:lstStyle/>
            <a:p/>
          </p:txBody>
        </p:sp>
      </p:grpSp>
      <p:sp>
        <p:nvSpPr>
          <p:cNvPr id="85" name="object 85" descr=""/>
          <p:cNvSpPr txBox="1"/>
          <p:nvPr/>
        </p:nvSpPr>
        <p:spPr>
          <a:xfrm>
            <a:off x="9356834" y="4731200"/>
            <a:ext cx="433705" cy="205740"/>
          </a:xfrm>
          <a:prstGeom prst="rect">
            <a:avLst/>
          </a:prstGeom>
        </p:spPr>
        <p:txBody>
          <a:bodyPr wrap="square" lIns="0" tIns="16510" rIns="0" bIns="0" rtlCol="0" vert="horz">
            <a:spAutoFit/>
          </a:bodyPr>
          <a:lstStyle/>
          <a:p>
            <a:pPr marL="12700">
              <a:lnSpc>
                <a:spcPct val="100000"/>
              </a:lnSpc>
              <a:spcBef>
                <a:spcPts val="130"/>
              </a:spcBef>
            </a:pPr>
            <a:r>
              <a:rPr dirty="0" sz="1150" spc="-145" b="1">
                <a:latin typeface="宋体"/>
                <a:cs typeface="宋体"/>
              </a:rPr>
              <a:t>至 </a:t>
            </a:r>
            <a:r>
              <a:rPr dirty="0" sz="1150" spc="-25" b="1">
                <a:latin typeface="宋体"/>
                <a:cs typeface="宋体"/>
              </a:rPr>
              <a:t>CPU</a:t>
            </a:r>
            <a:endParaRPr sz="1150">
              <a:latin typeface="宋体"/>
              <a:cs typeface="宋体"/>
            </a:endParaRPr>
          </a:p>
        </p:txBody>
      </p:sp>
      <p:sp>
        <p:nvSpPr>
          <p:cNvPr id="86" name="object 86" descr=""/>
          <p:cNvSpPr txBox="1"/>
          <p:nvPr/>
        </p:nvSpPr>
        <p:spPr>
          <a:xfrm>
            <a:off x="6895069" y="5114080"/>
            <a:ext cx="1359535" cy="813435"/>
          </a:xfrm>
          <a:prstGeom prst="rect">
            <a:avLst/>
          </a:prstGeom>
          <a:solidFill>
            <a:srgbClr val="CCFFFF"/>
          </a:solidFill>
          <a:ln w="11753">
            <a:solidFill>
              <a:srgbClr val="000000"/>
            </a:solidFill>
          </a:ln>
        </p:spPr>
        <p:txBody>
          <a:bodyPr wrap="square" lIns="0" tIns="161290" rIns="0" bIns="0" rtlCol="0" vert="horz">
            <a:spAutoFit/>
          </a:bodyPr>
          <a:lstStyle/>
          <a:p>
            <a:pPr>
              <a:lnSpc>
                <a:spcPct val="100000"/>
              </a:lnSpc>
              <a:spcBef>
                <a:spcPts val="1270"/>
              </a:spcBef>
            </a:pPr>
            <a:endParaRPr sz="1150">
              <a:latin typeface="Times New Roman"/>
              <a:cs typeface="Times New Roman"/>
            </a:endParaRPr>
          </a:p>
          <a:p>
            <a:pPr marL="50800">
              <a:lnSpc>
                <a:spcPct val="100000"/>
              </a:lnSpc>
            </a:pPr>
            <a:r>
              <a:rPr dirty="0" sz="1150" b="1">
                <a:latin typeface="宋体"/>
                <a:cs typeface="宋体"/>
              </a:rPr>
              <a:t>L2</a:t>
            </a:r>
            <a:r>
              <a:rPr dirty="0" sz="1150" spc="55" b="1">
                <a:latin typeface="宋体"/>
                <a:cs typeface="宋体"/>
              </a:rPr>
              <a:t> </a:t>
            </a:r>
            <a:r>
              <a:rPr dirty="0" sz="1150" b="1">
                <a:latin typeface="宋体"/>
                <a:cs typeface="宋体"/>
              </a:rPr>
              <a:t>Cache</a:t>
            </a:r>
            <a:r>
              <a:rPr dirty="0" sz="1150" spc="-80" b="1">
                <a:latin typeface="宋体"/>
                <a:cs typeface="宋体"/>
              </a:rPr>
              <a:t> 标识&lt;</a:t>
            </a:r>
            <a:r>
              <a:rPr dirty="0" sz="1150" spc="-20" b="1">
                <a:latin typeface="宋体"/>
                <a:cs typeface="宋体"/>
              </a:rPr>
              <a:t>24&gt;</a:t>
            </a:r>
            <a:endParaRPr sz="1150">
              <a:latin typeface="宋体"/>
              <a:cs typeface="宋体"/>
            </a:endParaRPr>
          </a:p>
        </p:txBody>
      </p:sp>
      <p:sp>
        <p:nvSpPr>
          <p:cNvPr id="87" name="object 87" descr=""/>
          <p:cNvSpPr txBox="1"/>
          <p:nvPr/>
        </p:nvSpPr>
        <p:spPr>
          <a:xfrm>
            <a:off x="8254119" y="5114080"/>
            <a:ext cx="1598295" cy="813435"/>
          </a:xfrm>
          <a:prstGeom prst="rect">
            <a:avLst/>
          </a:prstGeom>
          <a:solidFill>
            <a:srgbClr val="CCFFFF"/>
          </a:solidFill>
          <a:ln w="11747">
            <a:solidFill>
              <a:srgbClr val="000000"/>
            </a:solidFill>
          </a:ln>
        </p:spPr>
        <p:txBody>
          <a:bodyPr wrap="square" lIns="0" tIns="156845" rIns="0" bIns="0" rtlCol="0" vert="horz">
            <a:spAutoFit/>
          </a:bodyPr>
          <a:lstStyle/>
          <a:p>
            <a:pPr>
              <a:lnSpc>
                <a:spcPct val="100000"/>
              </a:lnSpc>
              <a:spcBef>
                <a:spcPts val="1235"/>
              </a:spcBef>
            </a:pPr>
            <a:endParaRPr sz="1150">
              <a:latin typeface="Times New Roman"/>
              <a:cs typeface="Times New Roman"/>
            </a:endParaRPr>
          </a:p>
          <a:p>
            <a:pPr marL="376555">
              <a:lnSpc>
                <a:spcPct val="100000"/>
              </a:lnSpc>
            </a:pPr>
            <a:r>
              <a:rPr dirty="0" sz="1150" b="1">
                <a:latin typeface="宋体"/>
                <a:cs typeface="宋体"/>
              </a:rPr>
              <a:t>L2</a:t>
            </a:r>
            <a:r>
              <a:rPr dirty="0" sz="1150" spc="-90" b="1">
                <a:latin typeface="宋体"/>
                <a:cs typeface="宋体"/>
              </a:rPr>
              <a:t> 数据</a:t>
            </a:r>
            <a:r>
              <a:rPr dirty="0" sz="1150" spc="-10" b="1">
                <a:latin typeface="宋体"/>
                <a:cs typeface="宋体"/>
              </a:rPr>
              <a:t>&lt;512&gt;</a:t>
            </a:r>
            <a:endParaRPr sz="1150">
              <a:latin typeface="宋体"/>
              <a:cs typeface="宋体"/>
            </a:endParaRPr>
          </a:p>
        </p:txBody>
      </p:sp>
      <p:grpSp>
        <p:nvGrpSpPr>
          <p:cNvPr id="88" name="object 88" descr=""/>
          <p:cNvGrpSpPr/>
          <p:nvPr/>
        </p:nvGrpSpPr>
        <p:grpSpPr>
          <a:xfrm>
            <a:off x="6471225" y="4811473"/>
            <a:ext cx="424815" cy="747395"/>
            <a:chOff x="6471225" y="4811473"/>
            <a:chExt cx="424815" cy="747395"/>
          </a:xfrm>
        </p:grpSpPr>
        <p:sp>
          <p:nvSpPr>
            <p:cNvPr id="89" name="object 89" descr=""/>
            <p:cNvSpPr/>
            <p:nvPr/>
          </p:nvSpPr>
          <p:spPr>
            <a:xfrm>
              <a:off x="6482577" y="4811473"/>
              <a:ext cx="0" cy="707390"/>
            </a:xfrm>
            <a:custGeom>
              <a:avLst/>
              <a:gdLst/>
              <a:ahLst/>
              <a:cxnLst/>
              <a:rect l="l" t="t" r="r" b="b"/>
              <a:pathLst>
                <a:path w="0" h="707389">
                  <a:moveTo>
                    <a:pt x="0" y="0"/>
                  </a:moveTo>
                  <a:lnTo>
                    <a:pt x="0" y="707293"/>
                  </a:lnTo>
                </a:path>
              </a:pathLst>
            </a:custGeom>
            <a:ln w="11753">
              <a:solidFill>
                <a:srgbClr val="000000"/>
              </a:solidFill>
            </a:ln>
          </p:spPr>
          <p:txBody>
            <a:bodyPr wrap="square" lIns="0" tIns="0" rIns="0" bIns="0" rtlCol="0"/>
            <a:lstStyle/>
            <a:p/>
          </p:txBody>
        </p:sp>
        <p:sp>
          <p:nvSpPr>
            <p:cNvPr id="90" name="object 90" descr=""/>
            <p:cNvSpPr/>
            <p:nvPr/>
          </p:nvSpPr>
          <p:spPr>
            <a:xfrm>
              <a:off x="6473250" y="5489723"/>
              <a:ext cx="420370" cy="66675"/>
            </a:xfrm>
            <a:custGeom>
              <a:avLst/>
              <a:gdLst/>
              <a:ahLst/>
              <a:cxnLst/>
              <a:rect l="l" t="t" r="r" b="b"/>
              <a:pathLst>
                <a:path w="420370" h="66675">
                  <a:moveTo>
                    <a:pt x="322172" y="0"/>
                  </a:moveTo>
                  <a:lnTo>
                    <a:pt x="357351" y="31464"/>
                  </a:lnTo>
                  <a:lnTo>
                    <a:pt x="322172" y="66575"/>
                  </a:lnTo>
                  <a:lnTo>
                    <a:pt x="398773" y="39134"/>
                  </a:lnTo>
                  <a:lnTo>
                    <a:pt x="361442" y="39134"/>
                  </a:lnTo>
                  <a:lnTo>
                    <a:pt x="365042" y="35094"/>
                  </a:lnTo>
                  <a:lnTo>
                    <a:pt x="365042" y="31464"/>
                  </a:lnTo>
                  <a:lnTo>
                    <a:pt x="361442" y="27425"/>
                  </a:lnTo>
                  <a:lnTo>
                    <a:pt x="361442" y="23402"/>
                  </a:lnTo>
                  <a:lnTo>
                    <a:pt x="395069" y="23402"/>
                  </a:lnTo>
                  <a:lnTo>
                    <a:pt x="322172" y="0"/>
                  </a:lnTo>
                  <a:close/>
                </a:path>
                <a:path w="420370" h="66675">
                  <a:moveTo>
                    <a:pt x="348337" y="23402"/>
                  </a:moveTo>
                  <a:lnTo>
                    <a:pt x="8017" y="23402"/>
                  </a:lnTo>
                  <a:lnTo>
                    <a:pt x="3926" y="27425"/>
                  </a:lnTo>
                  <a:lnTo>
                    <a:pt x="3926" y="31464"/>
                  </a:lnTo>
                  <a:lnTo>
                    <a:pt x="0" y="31464"/>
                  </a:lnTo>
                  <a:lnTo>
                    <a:pt x="3926" y="35094"/>
                  </a:lnTo>
                  <a:lnTo>
                    <a:pt x="3926" y="39134"/>
                  </a:lnTo>
                  <a:lnTo>
                    <a:pt x="349667" y="39134"/>
                  </a:lnTo>
                  <a:lnTo>
                    <a:pt x="357351" y="31464"/>
                  </a:lnTo>
                  <a:lnTo>
                    <a:pt x="348337" y="23402"/>
                  </a:lnTo>
                  <a:close/>
                </a:path>
                <a:path w="420370" h="66675">
                  <a:moveTo>
                    <a:pt x="395069" y="23402"/>
                  </a:moveTo>
                  <a:lnTo>
                    <a:pt x="361442" y="23402"/>
                  </a:lnTo>
                  <a:lnTo>
                    <a:pt x="361442" y="27425"/>
                  </a:lnTo>
                  <a:lnTo>
                    <a:pt x="365042" y="31464"/>
                  </a:lnTo>
                  <a:lnTo>
                    <a:pt x="365042" y="35094"/>
                  </a:lnTo>
                  <a:lnTo>
                    <a:pt x="361442" y="39134"/>
                  </a:lnTo>
                  <a:lnTo>
                    <a:pt x="398773" y="39134"/>
                  </a:lnTo>
                  <a:lnTo>
                    <a:pt x="420182" y="31464"/>
                  </a:lnTo>
                  <a:lnTo>
                    <a:pt x="395069" y="23402"/>
                  </a:lnTo>
                  <a:close/>
                </a:path>
              </a:pathLst>
            </a:custGeom>
            <a:solidFill>
              <a:srgbClr val="000000"/>
            </a:solidFill>
          </p:spPr>
          <p:txBody>
            <a:bodyPr wrap="square" lIns="0" tIns="0" rIns="0" bIns="0" rtlCol="0"/>
            <a:lstStyle/>
            <a:p/>
          </p:txBody>
        </p:sp>
        <p:sp>
          <p:nvSpPr>
            <p:cNvPr id="91" name="object 91" descr=""/>
            <p:cNvSpPr/>
            <p:nvPr/>
          </p:nvSpPr>
          <p:spPr>
            <a:xfrm>
              <a:off x="6473250" y="5489723"/>
              <a:ext cx="420370" cy="66675"/>
            </a:xfrm>
            <a:custGeom>
              <a:avLst/>
              <a:gdLst/>
              <a:ahLst/>
              <a:cxnLst/>
              <a:rect l="l" t="t" r="r" b="b"/>
              <a:pathLst>
                <a:path w="420370" h="66675">
                  <a:moveTo>
                    <a:pt x="8017" y="23402"/>
                  </a:moveTo>
                  <a:lnTo>
                    <a:pt x="357351" y="23402"/>
                  </a:lnTo>
                  <a:lnTo>
                    <a:pt x="361442" y="23402"/>
                  </a:lnTo>
                  <a:lnTo>
                    <a:pt x="361442" y="27425"/>
                  </a:lnTo>
                  <a:lnTo>
                    <a:pt x="365042" y="31464"/>
                  </a:lnTo>
                  <a:lnTo>
                    <a:pt x="365042" y="35094"/>
                  </a:lnTo>
                  <a:lnTo>
                    <a:pt x="361442" y="39134"/>
                  </a:lnTo>
                  <a:lnTo>
                    <a:pt x="357351" y="39134"/>
                  </a:lnTo>
                  <a:lnTo>
                    <a:pt x="8017" y="39134"/>
                  </a:lnTo>
                  <a:lnTo>
                    <a:pt x="3926" y="39134"/>
                  </a:lnTo>
                  <a:lnTo>
                    <a:pt x="3926" y="35094"/>
                  </a:lnTo>
                  <a:lnTo>
                    <a:pt x="0" y="31464"/>
                  </a:lnTo>
                  <a:lnTo>
                    <a:pt x="3926" y="31464"/>
                  </a:lnTo>
                  <a:lnTo>
                    <a:pt x="3926" y="27425"/>
                  </a:lnTo>
                  <a:lnTo>
                    <a:pt x="8017" y="23402"/>
                  </a:lnTo>
                  <a:close/>
                </a:path>
                <a:path w="420370" h="66675">
                  <a:moveTo>
                    <a:pt x="357351" y="31464"/>
                  </a:moveTo>
                  <a:lnTo>
                    <a:pt x="322172" y="0"/>
                  </a:lnTo>
                  <a:lnTo>
                    <a:pt x="420182" y="31464"/>
                  </a:lnTo>
                  <a:lnTo>
                    <a:pt x="322172" y="66575"/>
                  </a:lnTo>
                  <a:lnTo>
                    <a:pt x="357351" y="31464"/>
                  </a:lnTo>
                  <a:close/>
                </a:path>
              </a:pathLst>
            </a:custGeom>
            <a:ln w="4051">
              <a:solidFill>
                <a:srgbClr val="000000"/>
              </a:solidFill>
            </a:ln>
          </p:spPr>
          <p:txBody>
            <a:bodyPr wrap="square" lIns="0" tIns="0" rIns="0" bIns="0" rtlCol="0"/>
            <a:lstStyle/>
            <a:p/>
          </p:txBody>
        </p:sp>
      </p:grpSp>
      <p:sp>
        <p:nvSpPr>
          <p:cNvPr id="92" name="object 92" descr=""/>
          <p:cNvSpPr txBox="1"/>
          <p:nvPr/>
        </p:nvSpPr>
        <p:spPr>
          <a:xfrm>
            <a:off x="6332434" y="6078811"/>
            <a:ext cx="323850" cy="205740"/>
          </a:xfrm>
          <a:prstGeom prst="rect">
            <a:avLst/>
          </a:prstGeom>
        </p:spPr>
        <p:txBody>
          <a:bodyPr wrap="square" lIns="0" tIns="16510" rIns="0" bIns="0" rtlCol="0" vert="horz">
            <a:spAutoFit/>
          </a:bodyPr>
          <a:lstStyle/>
          <a:p>
            <a:pPr marL="12700">
              <a:lnSpc>
                <a:spcPct val="100000"/>
              </a:lnSpc>
              <a:spcBef>
                <a:spcPts val="130"/>
              </a:spcBef>
            </a:pPr>
            <a:r>
              <a:rPr dirty="0" sz="1150" spc="-25">
                <a:latin typeface="宋体"/>
                <a:cs typeface="宋体"/>
              </a:rPr>
              <a:t>＝？</a:t>
            </a:r>
            <a:endParaRPr sz="1150">
              <a:latin typeface="宋体"/>
              <a:cs typeface="宋体"/>
            </a:endParaRPr>
          </a:p>
        </p:txBody>
      </p:sp>
      <p:grpSp>
        <p:nvGrpSpPr>
          <p:cNvPr id="93" name="object 93" descr=""/>
          <p:cNvGrpSpPr/>
          <p:nvPr/>
        </p:nvGrpSpPr>
        <p:grpSpPr>
          <a:xfrm>
            <a:off x="5167316" y="4811473"/>
            <a:ext cx="1131570" cy="1407160"/>
            <a:chOff x="5167316" y="4811473"/>
            <a:chExt cx="1131570" cy="1407160"/>
          </a:xfrm>
        </p:grpSpPr>
        <p:sp>
          <p:nvSpPr>
            <p:cNvPr id="94" name="object 94" descr=""/>
            <p:cNvSpPr/>
            <p:nvPr/>
          </p:nvSpPr>
          <p:spPr>
            <a:xfrm>
              <a:off x="5178668" y="4811473"/>
              <a:ext cx="0" cy="1367155"/>
            </a:xfrm>
            <a:custGeom>
              <a:avLst/>
              <a:gdLst/>
              <a:ahLst/>
              <a:cxnLst/>
              <a:rect l="l" t="t" r="r" b="b"/>
              <a:pathLst>
                <a:path w="0" h="1367154">
                  <a:moveTo>
                    <a:pt x="0" y="0"/>
                  </a:moveTo>
                  <a:lnTo>
                    <a:pt x="0" y="1366982"/>
                  </a:lnTo>
                </a:path>
              </a:pathLst>
            </a:custGeom>
            <a:ln w="11753">
              <a:solidFill>
                <a:srgbClr val="000000"/>
              </a:solidFill>
            </a:ln>
          </p:spPr>
          <p:txBody>
            <a:bodyPr wrap="square" lIns="0" tIns="0" rIns="0" bIns="0" rtlCol="0"/>
            <a:lstStyle/>
            <a:p/>
          </p:txBody>
        </p:sp>
        <p:sp>
          <p:nvSpPr>
            <p:cNvPr id="95" name="object 95" descr=""/>
            <p:cNvSpPr/>
            <p:nvPr/>
          </p:nvSpPr>
          <p:spPr>
            <a:xfrm>
              <a:off x="5169341" y="6149395"/>
              <a:ext cx="1127760" cy="67310"/>
            </a:xfrm>
            <a:custGeom>
              <a:avLst/>
              <a:gdLst/>
              <a:ahLst/>
              <a:cxnLst/>
              <a:rect l="l" t="t" r="r" b="b"/>
              <a:pathLst>
                <a:path w="1127760" h="67310">
                  <a:moveTo>
                    <a:pt x="1029022" y="0"/>
                  </a:moveTo>
                  <a:lnTo>
                    <a:pt x="1060274" y="31480"/>
                  </a:lnTo>
                  <a:lnTo>
                    <a:pt x="1029022" y="66982"/>
                  </a:lnTo>
                  <a:lnTo>
                    <a:pt x="1104901" y="39543"/>
                  </a:lnTo>
                  <a:lnTo>
                    <a:pt x="1068455" y="39543"/>
                  </a:lnTo>
                  <a:lnTo>
                    <a:pt x="1068455" y="27850"/>
                  </a:lnTo>
                  <a:lnTo>
                    <a:pt x="1064365" y="23810"/>
                  </a:lnTo>
                  <a:lnTo>
                    <a:pt x="1103277" y="23810"/>
                  </a:lnTo>
                  <a:lnTo>
                    <a:pt x="1029022" y="0"/>
                  </a:lnTo>
                  <a:close/>
                </a:path>
                <a:path w="1127760" h="67310">
                  <a:moveTo>
                    <a:pt x="1052660" y="23810"/>
                  </a:moveTo>
                  <a:lnTo>
                    <a:pt x="7690" y="23810"/>
                  </a:lnTo>
                  <a:lnTo>
                    <a:pt x="4090" y="27850"/>
                  </a:lnTo>
                  <a:lnTo>
                    <a:pt x="0" y="31480"/>
                  </a:lnTo>
                  <a:lnTo>
                    <a:pt x="4090" y="35520"/>
                  </a:lnTo>
                  <a:lnTo>
                    <a:pt x="4090" y="39543"/>
                  </a:lnTo>
                  <a:lnTo>
                    <a:pt x="1053177" y="39543"/>
                  </a:lnTo>
                  <a:lnTo>
                    <a:pt x="1060274" y="31480"/>
                  </a:lnTo>
                  <a:lnTo>
                    <a:pt x="1052660" y="23810"/>
                  </a:lnTo>
                  <a:close/>
                </a:path>
                <a:path w="1127760" h="67310">
                  <a:moveTo>
                    <a:pt x="1103277" y="23810"/>
                  </a:moveTo>
                  <a:lnTo>
                    <a:pt x="1064365" y="23810"/>
                  </a:lnTo>
                  <a:lnTo>
                    <a:pt x="1068455" y="27850"/>
                  </a:lnTo>
                  <a:lnTo>
                    <a:pt x="1068455" y="39543"/>
                  </a:lnTo>
                  <a:lnTo>
                    <a:pt x="1104901" y="39543"/>
                  </a:lnTo>
                  <a:lnTo>
                    <a:pt x="1127196" y="31480"/>
                  </a:lnTo>
                  <a:lnTo>
                    <a:pt x="1103277" y="23810"/>
                  </a:lnTo>
                  <a:close/>
                </a:path>
              </a:pathLst>
            </a:custGeom>
            <a:solidFill>
              <a:srgbClr val="000000"/>
            </a:solidFill>
          </p:spPr>
          <p:txBody>
            <a:bodyPr wrap="square" lIns="0" tIns="0" rIns="0" bIns="0" rtlCol="0"/>
            <a:lstStyle/>
            <a:p/>
          </p:txBody>
        </p:sp>
        <p:sp>
          <p:nvSpPr>
            <p:cNvPr id="96" name="object 96" descr=""/>
            <p:cNvSpPr/>
            <p:nvPr/>
          </p:nvSpPr>
          <p:spPr>
            <a:xfrm>
              <a:off x="5169341" y="6149395"/>
              <a:ext cx="1127760" cy="67310"/>
            </a:xfrm>
            <a:custGeom>
              <a:avLst/>
              <a:gdLst/>
              <a:ahLst/>
              <a:cxnLst/>
              <a:rect l="l" t="t" r="r" b="b"/>
              <a:pathLst>
                <a:path w="1127760" h="67310">
                  <a:moveTo>
                    <a:pt x="11780" y="23810"/>
                  </a:moveTo>
                  <a:lnTo>
                    <a:pt x="1060274" y="23810"/>
                  </a:lnTo>
                  <a:lnTo>
                    <a:pt x="1064365" y="23810"/>
                  </a:lnTo>
                  <a:lnTo>
                    <a:pt x="1068455" y="27850"/>
                  </a:lnTo>
                  <a:lnTo>
                    <a:pt x="1068455" y="31480"/>
                  </a:lnTo>
                  <a:lnTo>
                    <a:pt x="1068455" y="35520"/>
                  </a:lnTo>
                  <a:lnTo>
                    <a:pt x="1068455" y="39543"/>
                  </a:lnTo>
                  <a:lnTo>
                    <a:pt x="1064365" y="39543"/>
                  </a:lnTo>
                  <a:lnTo>
                    <a:pt x="1060274" y="39543"/>
                  </a:lnTo>
                  <a:lnTo>
                    <a:pt x="11780" y="39543"/>
                  </a:lnTo>
                  <a:lnTo>
                    <a:pt x="7690" y="39543"/>
                  </a:lnTo>
                  <a:lnTo>
                    <a:pt x="4090" y="39543"/>
                  </a:lnTo>
                  <a:lnTo>
                    <a:pt x="4090" y="35520"/>
                  </a:lnTo>
                  <a:lnTo>
                    <a:pt x="0" y="31480"/>
                  </a:lnTo>
                  <a:lnTo>
                    <a:pt x="4090" y="27850"/>
                  </a:lnTo>
                  <a:lnTo>
                    <a:pt x="7690" y="23810"/>
                  </a:lnTo>
                  <a:lnTo>
                    <a:pt x="11780" y="23810"/>
                  </a:lnTo>
                  <a:close/>
                </a:path>
                <a:path w="1127760" h="67310">
                  <a:moveTo>
                    <a:pt x="1060274" y="31480"/>
                  </a:moveTo>
                  <a:lnTo>
                    <a:pt x="1029022" y="0"/>
                  </a:lnTo>
                  <a:lnTo>
                    <a:pt x="1127196" y="31480"/>
                  </a:lnTo>
                  <a:lnTo>
                    <a:pt x="1029022" y="66982"/>
                  </a:lnTo>
                  <a:lnTo>
                    <a:pt x="1060274" y="31480"/>
                  </a:lnTo>
                  <a:close/>
                </a:path>
              </a:pathLst>
            </a:custGeom>
            <a:ln w="4051">
              <a:solidFill>
                <a:srgbClr val="000000"/>
              </a:solidFill>
            </a:ln>
          </p:spPr>
          <p:txBody>
            <a:bodyPr wrap="square" lIns="0" tIns="0" rIns="0" bIns="0" rtlCol="0"/>
            <a:lstStyle/>
            <a:p/>
          </p:txBody>
        </p:sp>
      </p:grpSp>
      <p:grpSp>
        <p:nvGrpSpPr>
          <p:cNvPr id="97" name="object 97" descr=""/>
          <p:cNvGrpSpPr/>
          <p:nvPr/>
        </p:nvGrpSpPr>
        <p:grpSpPr>
          <a:xfrm>
            <a:off x="6636156" y="5927084"/>
            <a:ext cx="958850" cy="291465"/>
            <a:chOff x="6636156" y="5927084"/>
            <a:chExt cx="958850" cy="291465"/>
          </a:xfrm>
        </p:grpSpPr>
        <p:sp>
          <p:nvSpPr>
            <p:cNvPr id="98" name="object 98" descr=""/>
            <p:cNvSpPr/>
            <p:nvPr/>
          </p:nvSpPr>
          <p:spPr>
            <a:xfrm>
              <a:off x="7582448" y="5927084"/>
              <a:ext cx="0" cy="251460"/>
            </a:xfrm>
            <a:custGeom>
              <a:avLst/>
              <a:gdLst/>
              <a:ahLst/>
              <a:cxnLst/>
              <a:rect l="l" t="t" r="r" b="b"/>
              <a:pathLst>
                <a:path w="0" h="251460">
                  <a:moveTo>
                    <a:pt x="0" y="0"/>
                  </a:moveTo>
                  <a:lnTo>
                    <a:pt x="0" y="251371"/>
                  </a:lnTo>
                </a:path>
              </a:pathLst>
            </a:custGeom>
            <a:ln w="11753">
              <a:solidFill>
                <a:srgbClr val="000000"/>
              </a:solidFill>
            </a:ln>
          </p:spPr>
          <p:txBody>
            <a:bodyPr wrap="square" lIns="0" tIns="0" rIns="0" bIns="0" rtlCol="0"/>
            <a:lstStyle/>
            <a:p/>
          </p:txBody>
        </p:sp>
        <p:sp>
          <p:nvSpPr>
            <p:cNvPr id="99" name="object 99" descr=""/>
            <p:cNvSpPr/>
            <p:nvPr/>
          </p:nvSpPr>
          <p:spPr>
            <a:xfrm>
              <a:off x="6638181" y="6149395"/>
              <a:ext cx="954405" cy="67310"/>
            </a:xfrm>
            <a:custGeom>
              <a:avLst/>
              <a:gdLst/>
              <a:ahLst/>
              <a:cxnLst/>
              <a:rect l="l" t="t" r="r" b="b"/>
              <a:pathLst>
                <a:path w="954404" h="67310">
                  <a:moveTo>
                    <a:pt x="98009" y="0"/>
                  </a:moveTo>
                  <a:lnTo>
                    <a:pt x="0" y="31480"/>
                  </a:lnTo>
                  <a:lnTo>
                    <a:pt x="98009" y="66982"/>
                  </a:lnTo>
                  <a:lnTo>
                    <a:pt x="73981" y="39543"/>
                  </a:lnTo>
                  <a:lnTo>
                    <a:pt x="62831" y="39543"/>
                  </a:lnTo>
                  <a:lnTo>
                    <a:pt x="59067" y="35520"/>
                  </a:lnTo>
                  <a:lnTo>
                    <a:pt x="59067" y="27850"/>
                  </a:lnTo>
                  <a:lnTo>
                    <a:pt x="62831" y="27850"/>
                  </a:lnTo>
                  <a:lnTo>
                    <a:pt x="62831" y="23810"/>
                  </a:lnTo>
                  <a:lnTo>
                    <a:pt x="74495" y="23810"/>
                  </a:lnTo>
                  <a:lnTo>
                    <a:pt x="98009" y="0"/>
                  </a:lnTo>
                  <a:close/>
                </a:path>
                <a:path w="954404" h="67310">
                  <a:moveTo>
                    <a:pt x="74495" y="23810"/>
                  </a:moveTo>
                  <a:lnTo>
                    <a:pt x="62831" y="23810"/>
                  </a:lnTo>
                  <a:lnTo>
                    <a:pt x="62831" y="27850"/>
                  </a:lnTo>
                  <a:lnTo>
                    <a:pt x="59067" y="27850"/>
                  </a:lnTo>
                  <a:lnTo>
                    <a:pt x="59067" y="35520"/>
                  </a:lnTo>
                  <a:lnTo>
                    <a:pt x="62831" y="39543"/>
                  </a:lnTo>
                  <a:lnTo>
                    <a:pt x="73981" y="39543"/>
                  </a:lnTo>
                  <a:lnTo>
                    <a:pt x="66921" y="31480"/>
                  </a:lnTo>
                  <a:lnTo>
                    <a:pt x="74495" y="23810"/>
                  </a:lnTo>
                  <a:close/>
                </a:path>
                <a:path w="954404" h="67310">
                  <a:moveTo>
                    <a:pt x="950320" y="23810"/>
                  </a:moveTo>
                  <a:lnTo>
                    <a:pt x="74495" y="23810"/>
                  </a:lnTo>
                  <a:lnTo>
                    <a:pt x="66921" y="31480"/>
                  </a:lnTo>
                  <a:lnTo>
                    <a:pt x="73981" y="39543"/>
                  </a:lnTo>
                  <a:lnTo>
                    <a:pt x="954410" y="39543"/>
                  </a:lnTo>
                  <a:lnTo>
                    <a:pt x="954410" y="27850"/>
                  </a:lnTo>
                  <a:lnTo>
                    <a:pt x="950320" y="23810"/>
                  </a:lnTo>
                  <a:close/>
                </a:path>
              </a:pathLst>
            </a:custGeom>
            <a:solidFill>
              <a:srgbClr val="000000"/>
            </a:solidFill>
          </p:spPr>
          <p:txBody>
            <a:bodyPr wrap="square" lIns="0" tIns="0" rIns="0" bIns="0" rtlCol="0"/>
            <a:lstStyle/>
            <a:p/>
          </p:txBody>
        </p:sp>
        <p:sp>
          <p:nvSpPr>
            <p:cNvPr id="100" name="object 100" descr=""/>
            <p:cNvSpPr/>
            <p:nvPr/>
          </p:nvSpPr>
          <p:spPr>
            <a:xfrm>
              <a:off x="6638181" y="6149395"/>
              <a:ext cx="954405" cy="67310"/>
            </a:xfrm>
            <a:custGeom>
              <a:avLst/>
              <a:gdLst/>
              <a:ahLst/>
              <a:cxnLst/>
              <a:rect l="l" t="t" r="r" b="b"/>
              <a:pathLst>
                <a:path w="954404" h="67310">
                  <a:moveTo>
                    <a:pt x="946720" y="39543"/>
                  </a:moveTo>
                  <a:lnTo>
                    <a:pt x="66921" y="39543"/>
                  </a:lnTo>
                  <a:lnTo>
                    <a:pt x="62831" y="39543"/>
                  </a:lnTo>
                  <a:lnTo>
                    <a:pt x="59067" y="35520"/>
                  </a:lnTo>
                  <a:lnTo>
                    <a:pt x="59067" y="31480"/>
                  </a:lnTo>
                  <a:lnTo>
                    <a:pt x="59067" y="27850"/>
                  </a:lnTo>
                  <a:lnTo>
                    <a:pt x="62831" y="27850"/>
                  </a:lnTo>
                  <a:lnTo>
                    <a:pt x="62831" y="23810"/>
                  </a:lnTo>
                  <a:lnTo>
                    <a:pt x="66921" y="23810"/>
                  </a:lnTo>
                  <a:lnTo>
                    <a:pt x="946720" y="23810"/>
                  </a:lnTo>
                  <a:lnTo>
                    <a:pt x="950320" y="23810"/>
                  </a:lnTo>
                  <a:lnTo>
                    <a:pt x="954410" y="27850"/>
                  </a:lnTo>
                  <a:lnTo>
                    <a:pt x="954410" y="31480"/>
                  </a:lnTo>
                  <a:lnTo>
                    <a:pt x="954410" y="35520"/>
                  </a:lnTo>
                  <a:lnTo>
                    <a:pt x="954410" y="39543"/>
                  </a:lnTo>
                  <a:lnTo>
                    <a:pt x="950320" y="39543"/>
                  </a:lnTo>
                  <a:lnTo>
                    <a:pt x="946720" y="39543"/>
                  </a:lnTo>
                  <a:close/>
                </a:path>
                <a:path w="954404" h="67310">
                  <a:moveTo>
                    <a:pt x="66921" y="31480"/>
                  </a:moveTo>
                  <a:lnTo>
                    <a:pt x="98009" y="66982"/>
                  </a:lnTo>
                  <a:lnTo>
                    <a:pt x="0" y="31480"/>
                  </a:lnTo>
                  <a:lnTo>
                    <a:pt x="98009" y="0"/>
                  </a:lnTo>
                  <a:lnTo>
                    <a:pt x="66921" y="31480"/>
                  </a:lnTo>
                  <a:close/>
                </a:path>
              </a:pathLst>
            </a:custGeom>
            <a:ln w="4051">
              <a:solidFill>
                <a:srgbClr val="000000"/>
              </a:solidFill>
            </a:ln>
          </p:spPr>
          <p:txBody>
            <a:bodyPr wrap="square" lIns="0" tIns="0" rIns="0" bIns="0" rtlCol="0"/>
            <a:lstStyle/>
            <a:p/>
          </p:txBody>
        </p:sp>
      </p:grpSp>
      <p:grpSp>
        <p:nvGrpSpPr>
          <p:cNvPr id="101" name="object 101" descr=""/>
          <p:cNvGrpSpPr/>
          <p:nvPr/>
        </p:nvGrpSpPr>
        <p:grpSpPr>
          <a:xfrm>
            <a:off x="9051718" y="5927084"/>
            <a:ext cx="871855" cy="264160"/>
            <a:chOff x="9051718" y="5927084"/>
            <a:chExt cx="871855" cy="264160"/>
          </a:xfrm>
        </p:grpSpPr>
        <p:sp>
          <p:nvSpPr>
            <p:cNvPr id="102" name="object 102" descr=""/>
            <p:cNvSpPr/>
            <p:nvPr/>
          </p:nvSpPr>
          <p:spPr>
            <a:xfrm>
              <a:off x="9058979" y="5927084"/>
              <a:ext cx="0" cy="227965"/>
            </a:xfrm>
            <a:custGeom>
              <a:avLst/>
              <a:gdLst/>
              <a:ahLst/>
              <a:cxnLst/>
              <a:rect l="l" t="t" r="r" b="b"/>
              <a:pathLst>
                <a:path w="0" h="227964">
                  <a:moveTo>
                    <a:pt x="0" y="0"/>
                  </a:moveTo>
                  <a:lnTo>
                    <a:pt x="0" y="227969"/>
                  </a:lnTo>
                </a:path>
              </a:pathLst>
            </a:custGeom>
            <a:ln w="11753">
              <a:solidFill>
                <a:srgbClr val="000000"/>
              </a:solidFill>
            </a:ln>
          </p:spPr>
          <p:txBody>
            <a:bodyPr wrap="square" lIns="0" tIns="0" rIns="0" bIns="0" rtlCol="0"/>
            <a:lstStyle/>
            <a:p/>
          </p:txBody>
        </p:sp>
        <p:sp>
          <p:nvSpPr>
            <p:cNvPr id="103" name="object 103" descr=""/>
            <p:cNvSpPr/>
            <p:nvPr/>
          </p:nvSpPr>
          <p:spPr>
            <a:xfrm>
              <a:off x="9053743" y="6125993"/>
              <a:ext cx="868044" cy="63500"/>
            </a:xfrm>
            <a:custGeom>
              <a:avLst/>
              <a:gdLst/>
              <a:ahLst/>
              <a:cxnLst/>
              <a:rect l="l" t="t" r="r" b="b"/>
              <a:pathLst>
                <a:path w="868045" h="63500">
                  <a:moveTo>
                    <a:pt x="769680" y="0"/>
                  </a:moveTo>
                  <a:lnTo>
                    <a:pt x="800932" y="31480"/>
                  </a:lnTo>
                  <a:lnTo>
                    <a:pt x="769680" y="62945"/>
                  </a:lnTo>
                  <a:lnTo>
                    <a:pt x="843799" y="39150"/>
                  </a:lnTo>
                  <a:lnTo>
                    <a:pt x="804859" y="39150"/>
                  </a:lnTo>
                  <a:lnTo>
                    <a:pt x="808950" y="35520"/>
                  </a:lnTo>
                  <a:lnTo>
                    <a:pt x="808950" y="23402"/>
                  </a:lnTo>
                  <a:lnTo>
                    <a:pt x="842539" y="23402"/>
                  </a:lnTo>
                  <a:lnTo>
                    <a:pt x="769680" y="0"/>
                  </a:lnTo>
                  <a:close/>
                </a:path>
                <a:path w="868045" h="63500">
                  <a:moveTo>
                    <a:pt x="792912" y="23402"/>
                  </a:moveTo>
                  <a:lnTo>
                    <a:pt x="3599" y="23402"/>
                  </a:lnTo>
                  <a:lnTo>
                    <a:pt x="0" y="27441"/>
                  </a:lnTo>
                  <a:lnTo>
                    <a:pt x="0" y="35520"/>
                  </a:lnTo>
                  <a:lnTo>
                    <a:pt x="3599" y="35520"/>
                  </a:lnTo>
                  <a:lnTo>
                    <a:pt x="3599" y="39150"/>
                  </a:lnTo>
                  <a:lnTo>
                    <a:pt x="793314" y="39150"/>
                  </a:lnTo>
                  <a:lnTo>
                    <a:pt x="800932" y="31480"/>
                  </a:lnTo>
                  <a:lnTo>
                    <a:pt x="792912" y="23402"/>
                  </a:lnTo>
                  <a:close/>
                </a:path>
                <a:path w="868045" h="63500">
                  <a:moveTo>
                    <a:pt x="842539" y="23402"/>
                  </a:moveTo>
                  <a:lnTo>
                    <a:pt x="808950" y="23402"/>
                  </a:lnTo>
                  <a:lnTo>
                    <a:pt x="808950" y="35520"/>
                  </a:lnTo>
                  <a:lnTo>
                    <a:pt x="804859" y="39150"/>
                  </a:lnTo>
                  <a:lnTo>
                    <a:pt x="843799" y="39150"/>
                  </a:lnTo>
                  <a:lnTo>
                    <a:pt x="867690" y="31480"/>
                  </a:lnTo>
                  <a:lnTo>
                    <a:pt x="842539" y="23402"/>
                  </a:lnTo>
                  <a:close/>
                </a:path>
              </a:pathLst>
            </a:custGeom>
            <a:solidFill>
              <a:srgbClr val="000000"/>
            </a:solidFill>
          </p:spPr>
          <p:txBody>
            <a:bodyPr wrap="square" lIns="0" tIns="0" rIns="0" bIns="0" rtlCol="0"/>
            <a:lstStyle/>
            <a:p/>
          </p:txBody>
        </p:sp>
        <p:sp>
          <p:nvSpPr>
            <p:cNvPr id="104" name="object 104" descr=""/>
            <p:cNvSpPr/>
            <p:nvPr/>
          </p:nvSpPr>
          <p:spPr>
            <a:xfrm>
              <a:off x="9053743" y="6125993"/>
              <a:ext cx="868044" cy="63500"/>
            </a:xfrm>
            <a:custGeom>
              <a:avLst/>
              <a:gdLst/>
              <a:ahLst/>
              <a:cxnLst/>
              <a:rect l="l" t="t" r="r" b="b"/>
              <a:pathLst>
                <a:path w="868045" h="63500">
                  <a:moveTo>
                    <a:pt x="7690" y="23402"/>
                  </a:moveTo>
                  <a:lnTo>
                    <a:pt x="800932" y="23402"/>
                  </a:lnTo>
                  <a:lnTo>
                    <a:pt x="804859" y="23402"/>
                  </a:lnTo>
                  <a:lnTo>
                    <a:pt x="808950" y="23402"/>
                  </a:lnTo>
                  <a:lnTo>
                    <a:pt x="808950" y="27441"/>
                  </a:lnTo>
                  <a:lnTo>
                    <a:pt x="808950" y="31480"/>
                  </a:lnTo>
                  <a:lnTo>
                    <a:pt x="808950" y="35520"/>
                  </a:lnTo>
                  <a:lnTo>
                    <a:pt x="804859" y="39150"/>
                  </a:lnTo>
                  <a:lnTo>
                    <a:pt x="800932" y="39150"/>
                  </a:lnTo>
                  <a:lnTo>
                    <a:pt x="7690" y="39150"/>
                  </a:lnTo>
                  <a:lnTo>
                    <a:pt x="3599" y="39150"/>
                  </a:lnTo>
                  <a:lnTo>
                    <a:pt x="3599" y="35520"/>
                  </a:lnTo>
                  <a:lnTo>
                    <a:pt x="0" y="35520"/>
                  </a:lnTo>
                  <a:lnTo>
                    <a:pt x="0" y="31480"/>
                  </a:lnTo>
                  <a:lnTo>
                    <a:pt x="0" y="27441"/>
                  </a:lnTo>
                  <a:lnTo>
                    <a:pt x="3599" y="23402"/>
                  </a:lnTo>
                  <a:lnTo>
                    <a:pt x="7690" y="23402"/>
                  </a:lnTo>
                  <a:close/>
                </a:path>
                <a:path w="868045" h="63500">
                  <a:moveTo>
                    <a:pt x="800932" y="31480"/>
                  </a:moveTo>
                  <a:lnTo>
                    <a:pt x="769680" y="0"/>
                  </a:lnTo>
                  <a:lnTo>
                    <a:pt x="867690" y="31480"/>
                  </a:lnTo>
                  <a:lnTo>
                    <a:pt x="769680" y="62945"/>
                  </a:lnTo>
                  <a:lnTo>
                    <a:pt x="800932" y="31480"/>
                  </a:lnTo>
                  <a:close/>
                </a:path>
              </a:pathLst>
            </a:custGeom>
            <a:ln w="4051">
              <a:solidFill>
                <a:srgbClr val="000000"/>
              </a:solidFill>
            </a:ln>
          </p:spPr>
          <p:txBody>
            <a:bodyPr wrap="square" lIns="0" tIns="0" rIns="0" bIns="0" rtlCol="0"/>
            <a:lstStyle/>
            <a:p/>
          </p:txBody>
        </p:sp>
      </p:grpSp>
      <p:sp>
        <p:nvSpPr>
          <p:cNvPr id="105" name="object 105" descr=""/>
          <p:cNvSpPr txBox="1"/>
          <p:nvPr/>
        </p:nvSpPr>
        <p:spPr>
          <a:xfrm>
            <a:off x="8653584" y="6180890"/>
            <a:ext cx="1250950" cy="205740"/>
          </a:xfrm>
          <a:prstGeom prst="rect">
            <a:avLst/>
          </a:prstGeom>
        </p:spPr>
        <p:txBody>
          <a:bodyPr wrap="square" lIns="0" tIns="16510" rIns="0" bIns="0" rtlCol="0" vert="horz">
            <a:spAutoFit/>
          </a:bodyPr>
          <a:lstStyle/>
          <a:p>
            <a:pPr marL="12700">
              <a:lnSpc>
                <a:spcPct val="100000"/>
              </a:lnSpc>
              <a:spcBef>
                <a:spcPts val="130"/>
              </a:spcBef>
            </a:pPr>
            <a:r>
              <a:rPr dirty="0" sz="1150" spc="-150" b="1">
                <a:latin typeface="宋体"/>
                <a:cs typeface="宋体"/>
              </a:rPr>
              <a:t>至 </a:t>
            </a:r>
            <a:r>
              <a:rPr dirty="0" sz="1150" b="1">
                <a:latin typeface="宋体"/>
                <a:cs typeface="宋体"/>
              </a:rPr>
              <a:t>L1</a:t>
            </a:r>
            <a:r>
              <a:rPr dirty="0" sz="1150" spc="45" b="1">
                <a:latin typeface="宋体"/>
                <a:cs typeface="宋体"/>
              </a:rPr>
              <a:t> </a:t>
            </a:r>
            <a:r>
              <a:rPr dirty="0" sz="1150" b="1">
                <a:latin typeface="宋体"/>
                <a:cs typeface="宋体"/>
              </a:rPr>
              <a:t>Cache</a:t>
            </a:r>
            <a:r>
              <a:rPr dirty="0" sz="1150" spc="-190" b="1">
                <a:latin typeface="宋体"/>
                <a:cs typeface="宋体"/>
              </a:rPr>
              <a:t> 或 </a:t>
            </a:r>
            <a:r>
              <a:rPr dirty="0" sz="1150" spc="-25" b="1">
                <a:latin typeface="宋体"/>
                <a:cs typeface="宋体"/>
              </a:rPr>
              <a:t>CPU</a:t>
            </a:r>
            <a:endParaRPr sz="1150">
              <a:latin typeface="宋体"/>
              <a:cs typeface="宋体"/>
            </a:endParaRPr>
          </a:p>
        </p:txBody>
      </p:sp>
      <p:sp>
        <p:nvSpPr>
          <p:cNvPr id="106" name="object 106" descr=""/>
          <p:cNvSpPr txBox="1"/>
          <p:nvPr/>
        </p:nvSpPr>
        <p:spPr>
          <a:xfrm>
            <a:off x="2633798" y="2081106"/>
            <a:ext cx="1736089" cy="302895"/>
          </a:xfrm>
          <a:prstGeom prst="rect">
            <a:avLst/>
          </a:prstGeom>
          <a:solidFill>
            <a:srgbClr val="D4D4FF"/>
          </a:solidFill>
          <a:ln w="11753">
            <a:solidFill>
              <a:srgbClr val="000000"/>
            </a:solidFill>
          </a:ln>
        </p:spPr>
        <p:txBody>
          <a:bodyPr wrap="square" lIns="0" tIns="69850" rIns="0" bIns="0" rtlCol="0" vert="horz">
            <a:spAutoFit/>
          </a:bodyPr>
          <a:lstStyle/>
          <a:p>
            <a:pPr marL="38735">
              <a:lnSpc>
                <a:spcPct val="100000"/>
              </a:lnSpc>
              <a:spcBef>
                <a:spcPts val="550"/>
              </a:spcBef>
            </a:pPr>
            <a:r>
              <a:rPr dirty="0" sz="1150" b="1">
                <a:latin typeface="宋体"/>
                <a:cs typeface="宋体"/>
              </a:rPr>
              <a:t>L2</a:t>
            </a:r>
            <a:r>
              <a:rPr dirty="0" sz="1150" spc="75" b="1">
                <a:latin typeface="宋体"/>
                <a:cs typeface="宋体"/>
              </a:rPr>
              <a:t> </a:t>
            </a:r>
            <a:r>
              <a:rPr dirty="0" sz="1150" b="1">
                <a:latin typeface="宋体"/>
                <a:cs typeface="宋体"/>
              </a:rPr>
              <a:t>TLB</a:t>
            </a:r>
            <a:r>
              <a:rPr dirty="0" sz="1150" spc="-45" b="1">
                <a:latin typeface="宋体"/>
                <a:cs typeface="宋体"/>
              </a:rPr>
              <a:t> 标识比较地址&lt;</a:t>
            </a:r>
            <a:r>
              <a:rPr dirty="0" sz="1150" spc="-20" b="1">
                <a:latin typeface="宋体"/>
                <a:cs typeface="宋体"/>
              </a:rPr>
              <a:t>29&gt;</a:t>
            </a:r>
            <a:endParaRPr sz="1150">
              <a:latin typeface="宋体"/>
              <a:cs typeface="宋体"/>
            </a:endParaRPr>
          </a:p>
        </p:txBody>
      </p:sp>
      <p:sp>
        <p:nvSpPr>
          <p:cNvPr id="107" name="object 107" descr=""/>
          <p:cNvSpPr txBox="1"/>
          <p:nvPr/>
        </p:nvSpPr>
        <p:spPr>
          <a:xfrm>
            <a:off x="4369718" y="2081106"/>
            <a:ext cx="1143000" cy="302895"/>
          </a:xfrm>
          <a:prstGeom prst="rect">
            <a:avLst/>
          </a:prstGeom>
          <a:solidFill>
            <a:srgbClr val="D4D4FF"/>
          </a:solidFill>
          <a:ln w="11747">
            <a:solidFill>
              <a:srgbClr val="000000"/>
            </a:solidFill>
          </a:ln>
        </p:spPr>
        <p:txBody>
          <a:bodyPr wrap="square" lIns="0" tIns="69850" rIns="0" bIns="0" rtlCol="0" vert="horz">
            <a:spAutoFit/>
          </a:bodyPr>
          <a:lstStyle/>
          <a:p>
            <a:pPr marL="70485">
              <a:lnSpc>
                <a:spcPct val="100000"/>
              </a:lnSpc>
              <a:spcBef>
                <a:spcPts val="550"/>
              </a:spcBef>
            </a:pPr>
            <a:r>
              <a:rPr dirty="0" sz="1150" b="1">
                <a:latin typeface="宋体"/>
                <a:cs typeface="宋体"/>
              </a:rPr>
              <a:t>L2</a:t>
            </a:r>
            <a:r>
              <a:rPr dirty="0" sz="1150" spc="50" b="1">
                <a:latin typeface="宋体"/>
                <a:cs typeface="宋体"/>
              </a:rPr>
              <a:t> </a:t>
            </a:r>
            <a:r>
              <a:rPr dirty="0" sz="1150" b="1">
                <a:latin typeface="宋体"/>
                <a:cs typeface="宋体"/>
              </a:rPr>
              <a:t>TLB</a:t>
            </a:r>
            <a:r>
              <a:rPr dirty="0" sz="1150" spc="-100" b="1">
                <a:latin typeface="宋体"/>
                <a:cs typeface="宋体"/>
              </a:rPr>
              <a:t> 索引</a:t>
            </a:r>
            <a:r>
              <a:rPr dirty="0" sz="1150" spc="-25" b="1">
                <a:latin typeface="宋体"/>
                <a:cs typeface="宋体"/>
              </a:rPr>
              <a:t>&lt;7&gt;</a:t>
            </a:r>
            <a:endParaRPr sz="1150">
              <a:latin typeface="宋体"/>
              <a:cs typeface="宋体"/>
            </a:endParaRPr>
          </a:p>
        </p:txBody>
      </p:sp>
      <p:grpSp>
        <p:nvGrpSpPr>
          <p:cNvPr id="108" name="object 108" descr=""/>
          <p:cNvGrpSpPr/>
          <p:nvPr/>
        </p:nvGrpSpPr>
        <p:grpSpPr>
          <a:xfrm>
            <a:off x="3476204" y="1853956"/>
            <a:ext cx="4116070" cy="2141220"/>
            <a:chOff x="3476204" y="1853956"/>
            <a:chExt cx="4116070" cy="2141220"/>
          </a:xfrm>
        </p:grpSpPr>
        <p:sp>
          <p:nvSpPr>
            <p:cNvPr id="109" name="object 109" descr=""/>
            <p:cNvSpPr/>
            <p:nvPr/>
          </p:nvSpPr>
          <p:spPr>
            <a:xfrm>
              <a:off x="3482081" y="2375700"/>
              <a:ext cx="1331595" cy="327025"/>
            </a:xfrm>
            <a:custGeom>
              <a:avLst/>
              <a:gdLst/>
              <a:ahLst/>
              <a:cxnLst/>
              <a:rect l="l" t="t" r="r" b="b"/>
              <a:pathLst>
                <a:path w="1331595" h="327025">
                  <a:moveTo>
                    <a:pt x="0" y="8013"/>
                  </a:moveTo>
                  <a:lnTo>
                    <a:pt x="0" y="220283"/>
                  </a:lnTo>
                </a:path>
                <a:path w="1331595" h="327025">
                  <a:moveTo>
                    <a:pt x="1331380" y="0"/>
                  </a:moveTo>
                  <a:lnTo>
                    <a:pt x="1331380" y="326418"/>
                  </a:lnTo>
                </a:path>
              </a:pathLst>
            </a:custGeom>
            <a:ln w="11750">
              <a:solidFill>
                <a:srgbClr val="000000"/>
              </a:solidFill>
            </a:ln>
          </p:spPr>
          <p:txBody>
            <a:bodyPr wrap="square" lIns="0" tIns="0" rIns="0" bIns="0" rtlCol="0"/>
            <a:lstStyle/>
            <a:p/>
          </p:txBody>
        </p:sp>
        <p:sp>
          <p:nvSpPr>
            <p:cNvPr id="110" name="object 110" descr=""/>
            <p:cNvSpPr/>
            <p:nvPr/>
          </p:nvSpPr>
          <p:spPr>
            <a:xfrm>
              <a:off x="5624867" y="1855982"/>
              <a:ext cx="67310" cy="2136775"/>
            </a:xfrm>
            <a:custGeom>
              <a:avLst/>
              <a:gdLst/>
              <a:ahLst/>
              <a:cxnLst/>
              <a:rect l="l" t="t" r="r" b="b"/>
              <a:pathLst>
                <a:path w="67310" h="2136775">
                  <a:moveTo>
                    <a:pt x="0" y="2038805"/>
                  </a:moveTo>
                  <a:lnTo>
                    <a:pt x="31579" y="2136763"/>
                  </a:lnTo>
                  <a:lnTo>
                    <a:pt x="51345" y="2081978"/>
                  </a:lnTo>
                  <a:lnTo>
                    <a:pt x="31579" y="2081978"/>
                  </a:lnTo>
                  <a:lnTo>
                    <a:pt x="27652" y="2077890"/>
                  </a:lnTo>
                  <a:lnTo>
                    <a:pt x="23561" y="2073965"/>
                  </a:lnTo>
                  <a:lnTo>
                    <a:pt x="23561" y="2065038"/>
                  </a:lnTo>
                  <a:lnTo>
                    <a:pt x="0" y="2038805"/>
                  </a:lnTo>
                  <a:close/>
                </a:path>
                <a:path w="67310" h="2136775">
                  <a:moveTo>
                    <a:pt x="23561" y="2065038"/>
                  </a:moveTo>
                  <a:lnTo>
                    <a:pt x="23561" y="2073965"/>
                  </a:lnTo>
                  <a:lnTo>
                    <a:pt x="27652" y="2077890"/>
                  </a:lnTo>
                  <a:lnTo>
                    <a:pt x="31579" y="2081978"/>
                  </a:lnTo>
                  <a:lnTo>
                    <a:pt x="35342" y="2077890"/>
                  </a:lnTo>
                  <a:lnTo>
                    <a:pt x="39269" y="2077890"/>
                  </a:lnTo>
                  <a:lnTo>
                    <a:pt x="39269" y="2073965"/>
                  </a:lnTo>
                  <a:lnTo>
                    <a:pt x="31579" y="2073965"/>
                  </a:lnTo>
                  <a:lnTo>
                    <a:pt x="23561" y="2065038"/>
                  </a:lnTo>
                  <a:close/>
                </a:path>
                <a:path w="67310" h="2136775">
                  <a:moveTo>
                    <a:pt x="66921" y="2038805"/>
                  </a:moveTo>
                  <a:lnTo>
                    <a:pt x="39269" y="2066314"/>
                  </a:lnTo>
                  <a:lnTo>
                    <a:pt x="39269" y="2077890"/>
                  </a:lnTo>
                  <a:lnTo>
                    <a:pt x="35342" y="2077890"/>
                  </a:lnTo>
                  <a:lnTo>
                    <a:pt x="31579" y="2081978"/>
                  </a:lnTo>
                  <a:lnTo>
                    <a:pt x="51345" y="2081978"/>
                  </a:lnTo>
                  <a:lnTo>
                    <a:pt x="66921" y="2038805"/>
                  </a:lnTo>
                  <a:close/>
                </a:path>
                <a:path w="67310" h="2136775">
                  <a:moveTo>
                    <a:pt x="39269" y="0"/>
                  </a:moveTo>
                  <a:lnTo>
                    <a:pt x="27652" y="0"/>
                  </a:lnTo>
                  <a:lnTo>
                    <a:pt x="23561" y="3597"/>
                  </a:lnTo>
                  <a:lnTo>
                    <a:pt x="23561" y="2065038"/>
                  </a:lnTo>
                  <a:lnTo>
                    <a:pt x="31579" y="2073965"/>
                  </a:lnTo>
                  <a:lnTo>
                    <a:pt x="39269" y="2066314"/>
                  </a:lnTo>
                  <a:lnTo>
                    <a:pt x="39269" y="0"/>
                  </a:lnTo>
                  <a:close/>
                </a:path>
                <a:path w="67310" h="2136775">
                  <a:moveTo>
                    <a:pt x="39269" y="2066314"/>
                  </a:moveTo>
                  <a:lnTo>
                    <a:pt x="31579" y="2073965"/>
                  </a:lnTo>
                  <a:lnTo>
                    <a:pt x="39269" y="2073965"/>
                  </a:lnTo>
                  <a:lnTo>
                    <a:pt x="39269" y="2066314"/>
                  </a:lnTo>
                  <a:close/>
                </a:path>
              </a:pathLst>
            </a:custGeom>
            <a:solidFill>
              <a:srgbClr val="000000"/>
            </a:solidFill>
          </p:spPr>
          <p:txBody>
            <a:bodyPr wrap="square" lIns="0" tIns="0" rIns="0" bIns="0" rtlCol="0"/>
            <a:lstStyle/>
            <a:p/>
          </p:txBody>
        </p:sp>
        <p:sp>
          <p:nvSpPr>
            <p:cNvPr id="111" name="object 111" descr=""/>
            <p:cNvSpPr/>
            <p:nvPr/>
          </p:nvSpPr>
          <p:spPr>
            <a:xfrm>
              <a:off x="5624867" y="1855982"/>
              <a:ext cx="67310" cy="2136775"/>
            </a:xfrm>
            <a:custGeom>
              <a:avLst/>
              <a:gdLst/>
              <a:ahLst/>
              <a:cxnLst/>
              <a:rect l="l" t="t" r="r" b="b"/>
              <a:pathLst>
                <a:path w="67310" h="2136775">
                  <a:moveTo>
                    <a:pt x="39269" y="7686"/>
                  </a:moveTo>
                  <a:lnTo>
                    <a:pt x="39269" y="2073965"/>
                  </a:lnTo>
                  <a:lnTo>
                    <a:pt x="39269" y="2077890"/>
                  </a:lnTo>
                  <a:lnTo>
                    <a:pt x="35342" y="2077890"/>
                  </a:lnTo>
                  <a:lnTo>
                    <a:pt x="31579" y="2081978"/>
                  </a:lnTo>
                  <a:lnTo>
                    <a:pt x="27652" y="2077890"/>
                  </a:lnTo>
                  <a:lnTo>
                    <a:pt x="23561" y="2073965"/>
                  </a:lnTo>
                  <a:lnTo>
                    <a:pt x="23561" y="7686"/>
                  </a:lnTo>
                  <a:lnTo>
                    <a:pt x="23561" y="3597"/>
                  </a:lnTo>
                  <a:lnTo>
                    <a:pt x="27652" y="0"/>
                  </a:lnTo>
                  <a:lnTo>
                    <a:pt x="31579" y="0"/>
                  </a:lnTo>
                  <a:lnTo>
                    <a:pt x="35342" y="0"/>
                  </a:lnTo>
                  <a:lnTo>
                    <a:pt x="39269" y="0"/>
                  </a:lnTo>
                  <a:lnTo>
                    <a:pt x="39269" y="3597"/>
                  </a:lnTo>
                  <a:lnTo>
                    <a:pt x="39269" y="7686"/>
                  </a:lnTo>
                  <a:close/>
                </a:path>
                <a:path w="67310" h="2136775">
                  <a:moveTo>
                    <a:pt x="31579" y="2073965"/>
                  </a:moveTo>
                  <a:lnTo>
                    <a:pt x="66921" y="2038805"/>
                  </a:lnTo>
                  <a:lnTo>
                    <a:pt x="31579" y="2136763"/>
                  </a:lnTo>
                  <a:lnTo>
                    <a:pt x="0" y="2038805"/>
                  </a:lnTo>
                  <a:lnTo>
                    <a:pt x="31579" y="2073965"/>
                  </a:lnTo>
                  <a:close/>
                </a:path>
              </a:pathLst>
            </a:custGeom>
            <a:ln w="4051">
              <a:solidFill>
                <a:srgbClr val="000000"/>
              </a:solidFill>
            </a:ln>
          </p:spPr>
          <p:txBody>
            <a:bodyPr wrap="square" lIns="0" tIns="0" rIns="0" bIns="0" rtlCol="0"/>
            <a:lstStyle/>
            <a:p/>
          </p:txBody>
        </p:sp>
        <p:sp>
          <p:nvSpPr>
            <p:cNvPr id="112" name="object 112" descr=""/>
            <p:cNvSpPr/>
            <p:nvPr/>
          </p:nvSpPr>
          <p:spPr>
            <a:xfrm>
              <a:off x="6820457" y="1861215"/>
              <a:ext cx="765810" cy="215900"/>
            </a:xfrm>
            <a:custGeom>
              <a:avLst/>
              <a:gdLst/>
              <a:ahLst/>
              <a:cxnLst/>
              <a:rect l="l" t="t" r="r" b="b"/>
              <a:pathLst>
                <a:path w="765809" h="215900">
                  <a:moveTo>
                    <a:pt x="0" y="215867"/>
                  </a:moveTo>
                  <a:lnTo>
                    <a:pt x="753973" y="215867"/>
                  </a:lnTo>
                </a:path>
                <a:path w="765809" h="215900">
                  <a:moveTo>
                    <a:pt x="765753" y="0"/>
                  </a:moveTo>
                  <a:lnTo>
                    <a:pt x="765753" y="208181"/>
                  </a:lnTo>
                </a:path>
              </a:pathLst>
            </a:custGeom>
            <a:ln w="11750">
              <a:solidFill>
                <a:srgbClr val="000000"/>
              </a:solidFill>
            </a:ln>
          </p:spPr>
          <p:txBody>
            <a:bodyPr wrap="square" lIns="0" tIns="0" rIns="0" bIns="0" rtlCol="0"/>
            <a:lstStyle/>
            <a:p/>
          </p:txBody>
        </p:sp>
      </p:gr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769617" y="6560367"/>
            <a:ext cx="9719310" cy="209550"/>
          </a:xfrm>
          <a:prstGeom prst="rect">
            <a:avLst/>
          </a:prstGeom>
        </p:spPr>
        <p:txBody>
          <a:bodyPr wrap="square" lIns="0" tIns="0" rIns="0" bIns="0" rtlCol="0" vert="horz">
            <a:spAutoFit/>
          </a:bodyPr>
          <a:lstStyle/>
          <a:p>
            <a:pPr>
              <a:lnSpc>
                <a:spcPts val="1650"/>
              </a:lnSpc>
              <a:tabLst>
                <a:tab pos="8993505" algn="l"/>
              </a:tabLst>
            </a:pPr>
            <a:r>
              <a:rPr dirty="0" sz="1600" spc="-50">
                <a:solidFill>
                  <a:srgbClr val="40458B"/>
                </a:solidFill>
                <a:latin typeface="黑体"/>
                <a:cs typeface="黑体"/>
                <a:hlinkClick r:id="rId2" action="ppaction://hlinksldjump"/>
              </a:rPr>
              <a:t>▲</a:t>
            </a:r>
            <a:r>
              <a:rPr dirty="0" sz="1600">
                <a:solidFill>
                  <a:srgbClr val="40458B"/>
                </a:solidFill>
                <a:latin typeface="黑体"/>
                <a:cs typeface="黑体"/>
              </a:rPr>
              <a:t>	</a:t>
            </a:r>
            <a:r>
              <a:rPr dirty="0" baseline="1736" sz="2400" spc="-15" b="1">
                <a:solidFill>
                  <a:srgbClr val="40458B"/>
                </a:solidFill>
                <a:latin typeface="宋体"/>
                <a:cs typeface="宋体"/>
              </a:rPr>
              <a:t>175/170</a:t>
            </a:r>
            <a:endParaRPr baseline="1736" sz="2400">
              <a:latin typeface="宋体"/>
              <a:cs typeface="宋体"/>
            </a:endParaRPr>
          </a:p>
        </p:txBody>
      </p:sp>
      <p:sp>
        <p:nvSpPr>
          <p:cNvPr id="3" name="object 3" descr=""/>
          <p:cNvSpPr/>
          <p:nvPr/>
        </p:nvSpPr>
        <p:spPr>
          <a:xfrm>
            <a:off x="1555750" y="549275"/>
            <a:ext cx="10636250" cy="0"/>
          </a:xfrm>
          <a:custGeom>
            <a:avLst/>
            <a:gdLst/>
            <a:ahLst/>
            <a:cxnLst/>
            <a:rect l="l" t="t" r="r" b="b"/>
            <a:pathLst>
              <a:path w="10636250" h="0">
                <a:moveTo>
                  <a:pt x="0" y="0"/>
                </a:moveTo>
                <a:lnTo>
                  <a:pt x="10636250" y="0"/>
                </a:lnTo>
              </a:path>
            </a:pathLst>
          </a:custGeom>
          <a:ln w="38100">
            <a:solidFill>
              <a:srgbClr val="2C44A3"/>
            </a:solidFill>
          </a:ln>
        </p:spPr>
        <p:txBody>
          <a:bodyPr wrap="square" lIns="0" tIns="0" rIns="0" bIns="0" rtlCol="0"/>
          <a:lstStyle/>
          <a:p/>
        </p:txBody>
      </p:sp>
      <p:grpSp>
        <p:nvGrpSpPr>
          <p:cNvPr id="4" name="object 4" descr=""/>
          <p:cNvGrpSpPr/>
          <p:nvPr/>
        </p:nvGrpSpPr>
        <p:grpSpPr>
          <a:xfrm>
            <a:off x="119062" y="188976"/>
            <a:ext cx="1437005" cy="274955"/>
            <a:chOff x="119062" y="188976"/>
            <a:chExt cx="1437005" cy="274955"/>
          </a:xfrm>
        </p:grpSpPr>
        <p:sp>
          <p:nvSpPr>
            <p:cNvPr id="5" name="object 5" descr=""/>
            <p:cNvSpPr/>
            <p:nvPr/>
          </p:nvSpPr>
          <p:spPr>
            <a:xfrm>
              <a:off x="119062" y="188976"/>
              <a:ext cx="499745" cy="274955"/>
            </a:xfrm>
            <a:custGeom>
              <a:avLst/>
              <a:gdLst/>
              <a:ahLst/>
              <a:cxnLst/>
              <a:rect l="l" t="t" r="r" b="b"/>
              <a:pathLst>
                <a:path w="499745" h="274955">
                  <a:moveTo>
                    <a:pt x="119837" y="0"/>
                  </a:moveTo>
                  <a:lnTo>
                    <a:pt x="4993" y="41528"/>
                  </a:lnTo>
                  <a:lnTo>
                    <a:pt x="264655" y="135508"/>
                  </a:lnTo>
                  <a:lnTo>
                    <a:pt x="0" y="231266"/>
                  </a:lnTo>
                  <a:lnTo>
                    <a:pt x="119837" y="274574"/>
                  </a:lnTo>
                  <a:lnTo>
                    <a:pt x="499338" y="137287"/>
                  </a:lnTo>
                  <a:lnTo>
                    <a:pt x="119837" y="0"/>
                  </a:lnTo>
                  <a:close/>
                </a:path>
              </a:pathLst>
            </a:custGeom>
            <a:solidFill>
              <a:srgbClr val="005DA1"/>
            </a:solidFill>
          </p:spPr>
          <p:txBody>
            <a:bodyPr wrap="square" lIns="0" tIns="0" rIns="0" bIns="0" rtlCol="0"/>
            <a:lstStyle/>
            <a:p/>
          </p:txBody>
        </p:sp>
        <p:sp>
          <p:nvSpPr>
            <p:cNvPr id="6" name="object 6" descr=""/>
            <p:cNvSpPr/>
            <p:nvPr/>
          </p:nvSpPr>
          <p:spPr>
            <a:xfrm>
              <a:off x="585546" y="188976"/>
              <a:ext cx="497205" cy="274955"/>
            </a:xfrm>
            <a:custGeom>
              <a:avLst/>
              <a:gdLst/>
              <a:ahLst/>
              <a:cxnLst/>
              <a:rect l="l" t="t" r="r" b="b"/>
              <a:pathLst>
                <a:path w="497205" h="274955">
                  <a:moveTo>
                    <a:pt x="119621" y="0"/>
                  </a:moveTo>
                  <a:lnTo>
                    <a:pt x="4991" y="41528"/>
                  </a:lnTo>
                  <a:lnTo>
                    <a:pt x="264147" y="135508"/>
                  </a:lnTo>
                  <a:lnTo>
                    <a:pt x="0" y="231266"/>
                  </a:lnTo>
                  <a:lnTo>
                    <a:pt x="119621" y="274574"/>
                  </a:lnTo>
                  <a:lnTo>
                    <a:pt x="497141" y="137287"/>
                  </a:lnTo>
                  <a:lnTo>
                    <a:pt x="119621" y="0"/>
                  </a:lnTo>
                  <a:close/>
                </a:path>
              </a:pathLst>
            </a:custGeom>
            <a:solidFill>
              <a:srgbClr val="3992DB"/>
            </a:solidFill>
          </p:spPr>
          <p:txBody>
            <a:bodyPr wrap="square" lIns="0" tIns="0" rIns="0" bIns="0" rtlCol="0"/>
            <a:lstStyle/>
            <a:p/>
          </p:txBody>
        </p:sp>
        <p:sp>
          <p:nvSpPr>
            <p:cNvPr id="7" name="object 7" descr=""/>
            <p:cNvSpPr/>
            <p:nvPr/>
          </p:nvSpPr>
          <p:spPr>
            <a:xfrm>
              <a:off x="1058608" y="188976"/>
              <a:ext cx="497205" cy="274955"/>
            </a:xfrm>
            <a:custGeom>
              <a:avLst/>
              <a:gdLst/>
              <a:ahLst/>
              <a:cxnLst/>
              <a:rect l="l" t="t" r="r" b="b"/>
              <a:pathLst>
                <a:path w="497205" h="274955">
                  <a:moveTo>
                    <a:pt x="118363" y="0"/>
                  </a:moveTo>
                  <a:lnTo>
                    <a:pt x="4978" y="41528"/>
                  </a:lnTo>
                  <a:lnTo>
                    <a:pt x="264096" y="135508"/>
                  </a:lnTo>
                  <a:lnTo>
                    <a:pt x="0" y="231266"/>
                  </a:lnTo>
                  <a:lnTo>
                    <a:pt x="118363" y="274574"/>
                  </a:lnTo>
                  <a:lnTo>
                    <a:pt x="497141" y="137287"/>
                  </a:lnTo>
                  <a:lnTo>
                    <a:pt x="118363" y="0"/>
                  </a:lnTo>
                  <a:close/>
                </a:path>
              </a:pathLst>
            </a:custGeom>
            <a:solidFill>
              <a:srgbClr val="F79500"/>
            </a:solidFill>
          </p:spPr>
          <p:txBody>
            <a:bodyPr wrap="square" lIns="0" tIns="0" rIns="0" bIns="0" rtlCol="0"/>
            <a:lstStyle/>
            <a:p/>
          </p:txBody>
        </p:sp>
      </p:grpSp>
      <p:sp>
        <p:nvSpPr>
          <p:cNvPr id="8" name="object 8" descr=""/>
          <p:cNvSpPr/>
          <p:nvPr/>
        </p:nvSpPr>
        <p:spPr>
          <a:xfrm>
            <a:off x="0" y="6526212"/>
            <a:ext cx="12192000" cy="333375"/>
          </a:xfrm>
          <a:custGeom>
            <a:avLst/>
            <a:gdLst/>
            <a:ahLst/>
            <a:cxnLst/>
            <a:rect l="l" t="t" r="r" b="b"/>
            <a:pathLst>
              <a:path w="12192000" h="333375">
                <a:moveTo>
                  <a:pt x="12192000" y="0"/>
                </a:moveTo>
                <a:lnTo>
                  <a:pt x="0" y="0"/>
                </a:lnTo>
                <a:lnTo>
                  <a:pt x="0" y="333375"/>
                </a:lnTo>
                <a:lnTo>
                  <a:pt x="12192000" y="333375"/>
                </a:lnTo>
                <a:lnTo>
                  <a:pt x="12192000" y="0"/>
                </a:lnTo>
                <a:close/>
              </a:path>
            </a:pathLst>
          </a:custGeom>
          <a:solidFill>
            <a:srgbClr val="044775"/>
          </a:solidFill>
        </p:spPr>
        <p:txBody>
          <a:bodyPr wrap="square" lIns="0" tIns="0" rIns="0" bIns="0" rtlCol="0"/>
          <a:lstStyle/>
          <a:p/>
        </p:txBody>
      </p:sp>
      <p:sp>
        <p:nvSpPr>
          <p:cNvPr id="9" name="object 9"/>
          <p:cNvSpPr txBox="1">
            <a:spLocks noGrp="1"/>
          </p:cNvSpPr>
          <p:nvPr>
            <p:ph type="ctrTitle"/>
          </p:nvPr>
        </p:nvSpPr>
        <p:spPr>
          <a:prstGeom prst="rect"/>
        </p:spPr>
        <p:txBody>
          <a:bodyPr wrap="square" lIns="0" tIns="12700" rIns="0" bIns="0" rtlCol="0" vert="horz">
            <a:spAutoFit/>
          </a:bodyPr>
          <a:lstStyle/>
          <a:p>
            <a:pPr marL="12700">
              <a:lnSpc>
                <a:spcPct val="100000"/>
              </a:lnSpc>
              <a:spcBef>
                <a:spcPts val="100"/>
              </a:spcBef>
            </a:pPr>
            <a:r>
              <a:rPr dirty="0" u="none" sz="2000"/>
              <a:t>7.8 实例：AMD</a:t>
            </a:r>
            <a:r>
              <a:rPr dirty="0" u="none" sz="2000" spc="-10"/>
              <a:t> </a:t>
            </a:r>
            <a:r>
              <a:rPr dirty="0" u="none" sz="2000"/>
              <a:t>Opteron</a:t>
            </a:r>
            <a:r>
              <a:rPr dirty="0" u="none" sz="2000" spc="-20"/>
              <a:t>的存储器层次结构</a:t>
            </a:r>
            <a:endParaRPr sz="2000"/>
          </a:p>
        </p:txBody>
      </p:sp>
      <p:sp>
        <p:nvSpPr>
          <p:cNvPr id="10" name="object 10" descr=""/>
          <p:cNvSpPr txBox="1"/>
          <p:nvPr/>
        </p:nvSpPr>
        <p:spPr>
          <a:xfrm>
            <a:off x="1494789" y="822401"/>
            <a:ext cx="4711065" cy="391795"/>
          </a:xfrm>
          <a:prstGeom prst="rect">
            <a:avLst/>
          </a:prstGeom>
        </p:spPr>
        <p:txBody>
          <a:bodyPr wrap="square" lIns="0" tIns="12700" rIns="0" bIns="0" rtlCol="0" vert="horz">
            <a:spAutoFit/>
          </a:bodyPr>
          <a:lstStyle/>
          <a:p>
            <a:pPr marL="12700">
              <a:lnSpc>
                <a:spcPct val="100000"/>
              </a:lnSpc>
              <a:spcBef>
                <a:spcPts val="100"/>
              </a:spcBef>
              <a:tabLst>
                <a:tab pos="469900" algn="l"/>
              </a:tabLst>
            </a:pPr>
            <a:r>
              <a:rPr dirty="0" sz="2400" spc="-25">
                <a:solidFill>
                  <a:srgbClr val="40458B"/>
                </a:solidFill>
                <a:latin typeface="Times New Roman"/>
                <a:cs typeface="Times New Roman"/>
              </a:rPr>
              <a:t>2.</a:t>
            </a:r>
            <a:r>
              <a:rPr dirty="0" sz="2400">
                <a:solidFill>
                  <a:srgbClr val="40458B"/>
                </a:solidFill>
                <a:latin typeface="Times New Roman"/>
                <a:cs typeface="Times New Roman"/>
              </a:rPr>
              <a:t>	</a:t>
            </a:r>
            <a:r>
              <a:rPr dirty="0" sz="2400">
                <a:solidFill>
                  <a:srgbClr val="E14B04"/>
                </a:solidFill>
                <a:latin typeface="Times New Roman"/>
                <a:cs typeface="Times New Roman"/>
              </a:rPr>
              <a:t>AMD</a:t>
            </a:r>
            <a:r>
              <a:rPr dirty="0" sz="2400" spc="15">
                <a:solidFill>
                  <a:srgbClr val="E14B04"/>
                </a:solidFill>
                <a:latin typeface="Times New Roman"/>
                <a:cs typeface="Times New Roman"/>
              </a:rPr>
              <a:t> </a:t>
            </a:r>
            <a:r>
              <a:rPr dirty="0" sz="2400" spc="-10">
                <a:solidFill>
                  <a:srgbClr val="E14B04"/>
                </a:solidFill>
                <a:latin typeface="Times New Roman"/>
                <a:cs typeface="Times New Roman"/>
              </a:rPr>
              <a:t>Opteron</a:t>
            </a:r>
            <a:r>
              <a:rPr dirty="0" sz="2400" spc="-20">
                <a:solidFill>
                  <a:srgbClr val="E14B04"/>
                </a:solidFill>
                <a:latin typeface="黑体"/>
                <a:cs typeface="黑体"/>
              </a:rPr>
              <a:t>存储器层次结构图</a:t>
            </a:r>
            <a:endParaRPr sz="2400">
              <a:latin typeface="黑体"/>
              <a:cs typeface="黑体"/>
            </a:endParaRPr>
          </a:p>
        </p:txBody>
      </p:sp>
      <p:pic>
        <p:nvPicPr>
          <p:cNvPr id="11" name="object 11" descr=""/>
          <p:cNvPicPr/>
          <p:nvPr/>
        </p:nvPicPr>
        <p:blipFill>
          <a:blip r:embed="rId3" cstate="print"/>
          <a:stretch>
            <a:fillRect/>
          </a:stretch>
        </p:blipFill>
        <p:spPr>
          <a:xfrm>
            <a:off x="6243573" y="0"/>
            <a:ext cx="5948299" cy="6559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yyan</dc:creator>
  <dc:title>没有幻灯片标题</dc:title>
  <dcterms:created xsi:type="dcterms:W3CDTF">2025-12-28T08:54:32Z</dcterms:created>
  <dcterms:modified xsi:type="dcterms:W3CDTF">2025-12-28T08:54:32Z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2024-12-23T00:00:00Z</vt:filetime>
  </property>
  <property fmtid="{D5CDD505-2E9C-101B-9397-08002B2CF9AE}" pid="3" name="Creator">
    <vt:lpwstr>Microsoft® PowerPoint® 2021</vt:lpwstr>
  </property>
  <property fmtid="{D5CDD505-2E9C-101B-9397-08002B2CF9AE}" pid="4" name="LastSaved">
    <vt:filetime>2025-12-28T00:00:00Z</vt:filetime>
  </property>
  <property fmtid="{D5CDD505-2E9C-101B-9397-08002B2CF9AE}" pid="5" name="Producer">
    <vt:lpwstr>Microsoft® PowerPoint® 2021</vt:lpwstr>
  </property>
</Properties>
</file>